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2"/>
  </p:notesMasterIdLst>
  <p:handoutMasterIdLst>
    <p:handoutMasterId r:id="rId23"/>
  </p:handoutMasterIdLst>
  <p:sldIdLst>
    <p:sldId id="299" r:id="rId5"/>
    <p:sldId id="300" r:id="rId6"/>
    <p:sldId id="795" r:id="rId7"/>
    <p:sldId id="794" r:id="rId8"/>
    <p:sldId id="301" r:id="rId9"/>
    <p:sldId id="796" r:id="rId10"/>
    <p:sldId id="302" r:id="rId11"/>
    <p:sldId id="797" r:id="rId12"/>
    <p:sldId id="303" r:id="rId13"/>
    <p:sldId id="304" r:id="rId14"/>
    <p:sldId id="305" r:id="rId15"/>
    <p:sldId id="798" r:id="rId16"/>
    <p:sldId id="799" r:id="rId17"/>
    <p:sldId id="800" r:id="rId18"/>
    <p:sldId id="802" r:id="rId19"/>
    <p:sldId id="801" r:id="rId20"/>
    <p:sldId id="318" r:id="rId21"/>
  </p:sldIdLst>
  <p:sldSz cx="9144000" cy="5715000" type="screen16x10"/>
  <p:notesSz cx="6669088" cy="9926638"/>
  <p:custDataLst>
    <p:tags r:id="rId24"/>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0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5" name="Autor" initials="A" lastIdx="0" clrIdx="1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5" autoAdjust="0"/>
    <p:restoredTop sz="93783" autoAdjust="0"/>
  </p:normalViewPr>
  <p:slideViewPr>
    <p:cSldViewPr snapToGrid="0" showGuides="1">
      <p:cViewPr varScale="1">
        <p:scale>
          <a:sx n="105" d="100"/>
          <a:sy n="105" d="100"/>
        </p:scale>
        <p:origin x="68" y="1668"/>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70" d="100"/>
          <a:sy n="70" d="100"/>
        </p:scale>
        <p:origin x="3086" y="67"/>
      </p:cViewPr>
      <p:guideLst>
        <p:guide orient="horz" pos="3127"/>
        <p:guide pos="210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1"/>
            <a:ext cx="2889938" cy="496332"/>
          </a:xfrm>
          <a:prstGeom prst="rect">
            <a:avLst/>
          </a:prstGeom>
        </p:spPr>
        <p:txBody>
          <a:bodyPr vert="horz" lIns="91432" tIns="45716" rIns="91432" bIns="45716"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777607" y="1"/>
            <a:ext cx="2889938" cy="496332"/>
          </a:xfrm>
          <a:prstGeom prst="rect">
            <a:avLst/>
          </a:prstGeom>
        </p:spPr>
        <p:txBody>
          <a:bodyPr vert="horz" lIns="91432" tIns="45716" rIns="91432" bIns="45716"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08/10/2025</a:t>
            </a:fld>
            <a:endParaRPr lang="en-GB" dirty="0"/>
          </a:p>
        </p:txBody>
      </p:sp>
      <p:sp>
        <p:nvSpPr>
          <p:cNvPr id="4" name="Folienbildplatzhalter 3"/>
          <p:cNvSpPr>
            <a:spLocks noGrp="1" noRot="1" noChangeAspect="1"/>
          </p:cNvSpPr>
          <p:nvPr>
            <p:ph type="sldImg" idx="2"/>
          </p:nvPr>
        </p:nvSpPr>
        <p:spPr>
          <a:xfrm>
            <a:off x="357188" y="744538"/>
            <a:ext cx="5954712" cy="3722687"/>
          </a:xfrm>
          <a:prstGeom prst="rect">
            <a:avLst/>
          </a:prstGeom>
          <a:noFill/>
          <a:ln w="12700">
            <a:solidFill>
              <a:prstClr val="black"/>
            </a:solidFill>
          </a:ln>
        </p:spPr>
        <p:txBody>
          <a:bodyPr vert="horz" lIns="91432" tIns="45716" rIns="91432" bIns="45716" rtlCol="0" anchor="ctr"/>
          <a:lstStyle/>
          <a:p>
            <a:endParaRPr lang="de-AT"/>
          </a:p>
        </p:txBody>
      </p:sp>
      <p:sp>
        <p:nvSpPr>
          <p:cNvPr id="5" name="Notizenplatzhalter 4"/>
          <p:cNvSpPr>
            <a:spLocks noGrp="1"/>
          </p:cNvSpPr>
          <p:nvPr>
            <p:ph type="body" sz="quarter" idx="3"/>
          </p:nvPr>
        </p:nvSpPr>
        <p:spPr>
          <a:xfrm>
            <a:off x="666909" y="4715154"/>
            <a:ext cx="5335270" cy="4466987"/>
          </a:xfrm>
          <a:prstGeom prst="rect">
            <a:avLst/>
          </a:prstGeom>
        </p:spPr>
        <p:txBody>
          <a:bodyPr vert="horz" lIns="91432" tIns="45716" rIns="91432" bIns="45716"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9428584"/>
            <a:ext cx="2889938" cy="496332"/>
          </a:xfrm>
          <a:prstGeom prst="rect">
            <a:avLst/>
          </a:prstGeom>
        </p:spPr>
        <p:txBody>
          <a:bodyPr vert="horz" lIns="91432" tIns="45716" rIns="91432" bIns="45716"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777607" y="9428584"/>
            <a:ext cx="2889938" cy="496332"/>
          </a:xfrm>
          <a:prstGeom prst="rect">
            <a:avLst/>
          </a:prstGeom>
        </p:spPr>
        <p:txBody>
          <a:bodyPr vert="horz" lIns="91432" tIns="45716" rIns="91432" bIns="45716"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10"/>
          </p:nvPr>
        </p:nvSpPr>
        <p:spPr/>
        <p:txBody>
          <a:bodyPr/>
          <a:lstStyle/>
          <a:p>
            <a:fld id="{219CC2FD-B32F-4992-A15B-F95E2E35C81B}" type="slidenum">
              <a:rPr lang="en-GB" smtClean="0"/>
              <a:pPr/>
              <a:t>1</a:t>
            </a:fld>
            <a:endParaRPr lang="en-GB" dirty="0"/>
          </a:p>
        </p:txBody>
      </p:sp>
    </p:spTree>
    <p:extLst>
      <p:ext uri="{BB962C8B-B14F-4D97-AF65-F5344CB8AC3E}">
        <p14:creationId xmlns:p14="http://schemas.microsoft.com/office/powerpoint/2010/main" val="23575954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2</a:t>
            </a:fld>
            <a:endParaRPr lang="en-GB" dirty="0"/>
          </a:p>
        </p:txBody>
      </p:sp>
    </p:spTree>
    <p:extLst>
      <p:ext uri="{BB962C8B-B14F-4D97-AF65-F5344CB8AC3E}">
        <p14:creationId xmlns:p14="http://schemas.microsoft.com/office/powerpoint/2010/main" val="1444307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10"/>
          </p:nvPr>
        </p:nvSpPr>
        <p:spPr/>
        <p:txBody>
          <a:bodyPr/>
          <a:lstStyle/>
          <a:p>
            <a:pPr>
              <a:defRPr/>
            </a:pPr>
            <a:fld id="{8F335E7E-8C1E-4A6B-86FC-4151573B8E4F}" type="slidenum">
              <a:rPr lang="en-US" smtClean="0"/>
              <a:pPr>
                <a:defRPr/>
              </a:pPr>
              <a:t>3</a:t>
            </a:fld>
            <a:endParaRPr lang="en-US" dirty="0"/>
          </a:p>
        </p:txBody>
      </p:sp>
    </p:spTree>
    <p:extLst>
      <p:ext uri="{BB962C8B-B14F-4D97-AF65-F5344CB8AC3E}">
        <p14:creationId xmlns:p14="http://schemas.microsoft.com/office/powerpoint/2010/main" val="255671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10"/>
          </p:nvPr>
        </p:nvSpPr>
        <p:spPr/>
        <p:txBody>
          <a:bodyPr/>
          <a:lstStyle/>
          <a:p>
            <a:pPr>
              <a:defRPr/>
            </a:pPr>
            <a:fld id="{8F335E7E-8C1E-4A6B-86FC-4151573B8E4F}" type="slidenum">
              <a:rPr lang="en-US" smtClean="0"/>
              <a:pPr>
                <a:defRPr/>
              </a:pPr>
              <a:t>4</a:t>
            </a:fld>
            <a:endParaRPr lang="en-US" dirty="0"/>
          </a:p>
        </p:txBody>
      </p:sp>
    </p:spTree>
    <p:extLst>
      <p:ext uri="{BB962C8B-B14F-4D97-AF65-F5344CB8AC3E}">
        <p14:creationId xmlns:p14="http://schemas.microsoft.com/office/powerpoint/2010/main" val="6677157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5</a:t>
            </a:fld>
            <a:endParaRPr lang="en-GB" dirty="0"/>
          </a:p>
        </p:txBody>
      </p:sp>
    </p:spTree>
    <p:extLst>
      <p:ext uri="{BB962C8B-B14F-4D97-AF65-F5344CB8AC3E}">
        <p14:creationId xmlns:p14="http://schemas.microsoft.com/office/powerpoint/2010/main" val="1675641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6</a:t>
            </a:fld>
            <a:endParaRPr lang="en-GB" dirty="0"/>
          </a:p>
        </p:txBody>
      </p:sp>
    </p:spTree>
    <p:extLst>
      <p:ext uri="{BB962C8B-B14F-4D97-AF65-F5344CB8AC3E}">
        <p14:creationId xmlns:p14="http://schemas.microsoft.com/office/powerpoint/2010/main" val="254866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7</a:t>
            </a:fld>
            <a:endParaRPr lang="en-GB" dirty="0"/>
          </a:p>
        </p:txBody>
      </p:sp>
    </p:spTree>
    <p:extLst>
      <p:ext uri="{BB962C8B-B14F-4D97-AF65-F5344CB8AC3E}">
        <p14:creationId xmlns:p14="http://schemas.microsoft.com/office/powerpoint/2010/main" val="3842915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8</a:t>
            </a:fld>
            <a:endParaRPr lang="en-GB" dirty="0"/>
          </a:p>
        </p:txBody>
      </p:sp>
    </p:spTree>
    <p:extLst>
      <p:ext uri="{BB962C8B-B14F-4D97-AF65-F5344CB8AC3E}">
        <p14:creationId xmlns:p14="http://schemas.microsoft.com/office/powerpoint/2010/main" val="3425410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9</a:t>
            </a:fld>
            <a:endParaRPr lang="en-GB" dirty="0"/>
          </a:p>
        </p:txBody>
      </p:sp>
    </p:spTree>
    <p:extLst>
      <p:ext uri="{BB962C8B-B14F-4D97-AF65-F5344CB8AC3E}">
        <p14:creationId xmlns:p14="http://schemas.microsoft.com/office/powerpoint/2010/main" val="3146913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10</a:t>
            </a:fld>
            <a:endParaRPr lang="en-GB" dirty="0"/>
          </a:p>
        </p:txBody>
      </p:sp>
    </p:spTree>
    <p:extLst>
      <p:ext uri="{BB962C8B-B14F-4D97-AF65-F5344CB8AC3E}">
        <p14:creationId xmlns:p14="http://schemas.microsoft.com/office/powerpoint/2010/main" val="923162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11</a:t>
            </a:fld>
            <a:endParaRPr lang="en-GB" dirty="0"/>
          </a:p>
        </p:txBody>
      </p:sp>
    </p:spTree>
    <p:extLst>
      <p:ext uri="{BB962C8B-B14F-4D97-AF65-F5344CB8AC3E}">
        <p14:creationId xmlns:p14="http://schemas.microsoft.com/office/powerpoint/2010/main" val="340196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12</a:t>
            </a:fld>
            <a:endParaRPr lang="en-GB" dirty="0"/>
          </a:p>
        </p:txBody>
      </p:sp>
    </p:spTree>
    <p:extLst>
      <p:ext uri="{BB962C8B-B14F-4D97-AF65-F5344CB8AC3E}">
        <p14:creationId xmlns:p14="http://schemas.microsoft.com/office/powerpoint/2010/main" val="12645965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13</a:t>
            </a:fld>
            <a:endParaRPr lang="en-GB" dirty="0"/>
          </a:p>
        </p:txBody>
      </p:sp>
    </p:spTree>
    <p:extLst>
      <p:ext uri="{BB962C8B-B14F-4D97-AF65-F5344CB8AC3E}">
        <p14:creationId xmlns:p14="http://schemas.microsoft.com/office/powerpoint/2010/main" val="2011014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14</a:t>
            </a:fld>
            <a:endParaRPr lang="en-GB" dirty="0"/>
          </a:p>
        </p:txBody>
      </p:sp>
    </p:spTree>
    <p:extLst>
      <p:ext uri="{BB962C8B-B14F-4D97-AF65-F5344CB8AC3E}">
        <p14:creationId xmlns:p14="http://schemas.microsoft.com/office/powerpoint/2010/main" val="1541565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15</a:t>
            </a:fld>
            <a:endParaRPr lang="en-GB" dirty="0"/>
          </a:p>
        </p:txBody>
      </p:sp>
    </p:spTree>
    <p:extLst>
      <p:ext uri="{BB962C8B-B14F-4D97-AF65-F5344CB8AC3E}">
        <p14:creationId xmlns:p14="http://schemas.microsoft.com/office/powerpoint/2010/main" val="21304093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16</a:t>
            </a:fld>
            <a:endParaRPr lang="en-GB" dirty="0"/>
          </a:p>
        </p:txBody>
      </p:sp>
    </p:spTree>
    <p:extLst>
      <p:ext uri="{BB962C8B-B14F-4D97-AF65-F5344CB8AC3E}">
        <p14:creationId xmlns:p14="http://schemas.microsoft.com/office/powerpoint/2010/main" val="1545503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AT"/>
          </a:p>
        </p:txBody>
      </p:sp>
      <p:sp>
        <p:nvSpPr>
          <p:cNvPr id="4" name="Foliennummernplatzhalter 3"/>
          <p:cNvSpPr>
            <a:spLocks noGrp="1"/>
          </p:cNvSpPr>
          <p:nvPr>
            <p:ph type="sldNum" sz="quarter" idx="5"/>
          </p:nvPr>
        </p:nvSpPr>
        <p:spPr/>
        <p:txBody>
          <a:bodyPr/>
          <a:lstStyle/>
          <a:p>
            <a:fld id="{219CC2FD-B32F-4992-A15B-F95E2E35C81B}" type="slidenum">
              <a:rPr lang="en-GB" smtClean="0"/>
              <a:pPr/>
              <a:t>17</a:t>
            </a:fld>
            <a:endParaRPr lang="en-GB" dirty="0"/>
          </a:p>
        </p:txBody>
      </p:sp>
    </p:spTree>
    <p:extLst>
      <p:ext uri="{BB962C8B-B14F-4D97-AF65-F5344CB8AC3E}">
        <p14:creationId xmlns:p14="http://schemas.microsoft.com/office/powerpoint/2010/main" val="30524703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8" name="Fußzeilenplatzhalter 7"/>
          <p:cNvSpPr>
            <a:spLocks noGrp="1"/>
          </p:cNvSpPr>
          <p:nvPr>
            <p:ph type="ftr" sz="quarter" idx="11"/>
          </p:nvPr>
        </p:nvSpPr>
        <p:spPr>
          <a:xfrm>
            <a:off x="2197447" y="5412059"/>
            <a:ext cx="4288788" cy="258085"/>
          </a:xfrm>
        </p:spPr>
        <p:txBody>
          <a:bodyPr/>
          <a:lstStyle>
            <a:lvl1pPr>
              <a:defRPr/>
            </a:lvl1pPr>
          </a:lstStyle>
          <a:p>
            <a:r>
              <a:rPr lang="en-GB" dirty="0"/>
              <a:t>DECISION MAKING IN International marketing – arne.floh@wu.ac.at</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Titelmasterformat durch Klicken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
        <p:nvSpPr>
          <p:cNvPr id="19" name="Fußzeilenplatzhalter 7">
            <a:extLst>
              <a:ext uri="{FF2B5EF4-FFF2-40B4-BE49-F238E27FC236}">
                <a16:creationId xmlns:a16="http://schemas.microsoft.com/office/drawing/2014/main" id="{F959F09D-410A-4C50-85BD-B603EF24DA36}"/>
              </a:ext>
            </a:extLst>
          </p:cNvPr>
          <p:cNvSpPr>
            <a:spLocks noGrp="1"/>
          </p:cNvSpPr>
          <p:nvPr>
            <p:ph type="ftr" sz="quarter" idx="12"/>
          </p:nvPr>
        </p:nvSpPr>
        <p:spPr>
          <a:xfrm>
            <a:off x="2200859" y="5186867"/>
            <a:ext cx="4288788" cy="258085"/>
          </a:xfrm>
        </p:spPr>
        <p:txBody>
          <a:bodyPr/>
          <a:lstStyle>
            <a:lvl1pPr>
              <a:defRPr/>
            </a:lvl1pPr>
          </a:lstStyle>
          <a:p>
            <a:r>
              <a:rPr lang="en-GB" dirty="0"/>
              <a:t>DECISION MAKING IN International marketing – arne.floh@wu.ac.at</a:t>
            </a:r>
          </a:p>
        </p:txBody>
      </p:sp>
      <p:sp>
        <p:nvSpPr>
          <p:cNvPr id="20" name="Foliennummernplatzhalter 8">
            <a:extLst>
              <a:ext uri="{FF2B5EF4-FFF2-40B4-BE49-F238E27FC236}">
                <a16:creationId xmlns:a16="http://schemas.microsoft.com/office/drawing/2014/main" id="{AAFDF4C6-0371-450A-81E1-9B5F772D34FA}"/>
              </a:ext>
            </a:extLst>
          </p:cNvPr>
          <p:cNvSpPr>
            <a:spLocks noGrp="1"/>
          </p:cNvSpPr>
          <p:nvPr>
            <p:ph type="sldNum" sz="quarter" idx="13"/>
          </p:nvPr>
        </p:nvSpPr>
        <p:spPr>
          <a:xfrm>
            <a:off x="465819" y="5186867"/>
            <a:ext cx="892150" cy="258085"/>
          </a:xfrm>
        </p:spPr>
        <p:txBody>
          <a:bodyPr/>
          <a:lstStyle/>
          <a:p>
            <a:r>
              <a:rPr lang="en-GB" dirty="0"/>
              <a:t>Page </a:t>
            </a:r>
            <a:fld id="{BE3DC40E-DBBE-4E2D-9EEC-FBF0DA0E9179}" type="slidenum">
              <a:rPr lang="en-GB" smtClean="0"/>
              <a:t>‹Nr.›</a:t>
            </a:fld>
            <a:endParaRPr lang="en-GB" dirty="0"/>
          </a:p>
        </p:txBody>
      </p:sp>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
        <p:nvSpPr>
          <p:cNvPr id="11" name="Fußzeilenplatzhalter 7">
            <a:extLst>
              <a:ext uri="{FF2B5EF4-FFF2-40B4-BE49-F238E27FC236}">
                <a16:creationId xmlns:a16="http://schemas.microsoft.com/office/drawing/2014/main" id="{0F3239BF-C734-4AE2-A848-1987649B1307}"/>
              </a:ext>
            </a:extLst>
          </p:cNvPr>
          <p:cNvSpPr>
            <a:spLocks noGrp="1"/>
          </p:cNvSpPr>
          <p:nvPr>
            <p:ph type="ftr" sz="quarter" idx="12"/>
          </p:nvPr>
        </p:nvSpPr>
        <p:spPr>
          <a:xfrm>
            <a:off x="2129208" y="5189456"/>
            <a:ext cx="4288788" cy="258085"/>
          </a:xfrm>
        </p:spPr>
        <p:txBody>
          <a:bodyPr/>
          <a:lstStyle>
            <a:lvl1pPr>
              <a:defRPr/>
            </a:lvl1pPr>
          </a:lstStyle>
          <a:p>
            <a:r>
              <a:rPr lang="en-GB" dirty="0"/>
              <a:t>DECISION MAKING IN International marketing – arne.floh@wu.ac.at</a:t>
            </a:r>
          </a:p>
        </p:txBody>
      </p:sp>
      <p:sp>
        <p:nvSpPr>
          <p:cNvPr id="16" name="Foliennummernplatzhalter 8">
            <a:extLst>
              <a:ext uri="{FF2B5EF4-FFF2-40B4-BE49-F238E27FC236}">
                <a16:creationId xmlns:a16="http://schemas.microsoft.com/office/drawing/2014/main" id="{004E9E31-99F2-49B4-B4F3-23698612F78E}"/>
              </a:ext>
            </a:extLst>
          </p:cNvPr>
          <p:cNvSpPr>
            <a:spLocks noGrp="1"/>
          </p:cNvSpPr>
          <p:nvPr>
            <p:ph type="sldNum" sz="quarter" idx="13"/>
          </p:nvPr>
        </p:nvSpPr>
        <p:spPr>
          <a:xfrm>
            <a:off x="394168" y="5189456"/>
            <a:ext cx="892150" cy="258085"/>
          </a:xfrm>
        </p:spPr>
        <p:txBody>
          <a:bodyPr/>
          <a:lstStyle/>
          <a:p>
            <a:r>
              <a:rPr lang="en-GB" dirty="0"/>
              <a:t>Page </a:t>
            </a:r>
            <a:fld id="{BE3DC40E-DBBE-4E2D-9EEC-FBF0DA0E9179}" type="slidenum">
              <a:rPr lang="en-GB" smtClean="0"/>
              <a:t>‹Nr.›</a:t>
            </a:fld>
            <a:endParaRPr lang="en-GB" dirty="0"/>
          </a:p>
        </p:txBody>
      </p:sp>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
        <p:nvSpPr>
          <p:cNvPr id="15" name="Fußzeilenplatzhalter 7">
            <a:extLst>
              <a:ext uri="{FF2B5EF4-FFF2-40B4-BE49-F238E27FC236}">
                <a16:creationId xmlns:a16="http://schemas.microsoft.com/office/drawing/2014/main" id="{2F556D45-E60D-4428-A131-E4F195045695}"/>
              </a:ext>
            </a:extLst>
          </p:cNvPr>
          <p:cNvSpPr>
            <a:spLocks noGrp="1"/>
          </p:cNvSpPr>
          <p:nvPr>
            <p:ph type="ftr" sz="quarter" idx="12"/>
          </p:nvPr>
        </p:nvSpPr>
        <p:spPr>
          <a:xfrm>
            <a:off x="2197447" y="5412059"/>
            <a:ext cx="4288788" cy="258085"/>
          </a:xfrm>
        </p:spPr>
        <p:txBody>
          <a:bodyPr/>
          <a:lstStyle>
            <a:lvl1pPr>
              <a:defRPr/>
            </a:lvl1pPr>
          </a:lstStyle>
          <a:p>
            <a:r>
              <a:rPr lang="en-GB" dirty="0"/>
              <a:t>DECISION MAKING IN International marketing – arne.floh@wu.ac.at</a:t>
            </a:r>
          </a:p>
        </p:txBody>
      </p:sp>
      <p:sp>
        <p:nvSpPr>
          <p:cNvPr id="16" name="Foliennummernplatzhalter 8">
            <a:extLst>
              <a:ext uri="{FF2B5EF4-FFF2-40B4-BE49-F238E27FC236}">
                <a16:creationId xmlns:a16="http://schemas.microsoft.com/office/drawing/2014/main" id="{A9898F41-FDE4-41D2-B59F-28A719F7A946}"/>
              </a:ext>
            </a:extLst>
          </p:cNvPr>
          <p:cNvSpPr>
            <a:spLocks noGrp="1"/>
          </p:cNvSpPr>
          <p:nvPr>
            <p:ph type="sldNum" sz="quarter" idx="13"/>
          </p:nvPr>
        </p:nvSpPr>
        <p:spPr>
          <a:xfrm>
            <a:off x="462407" y="5412059"/>
            <a:ext cx="892150" cy="258085"/>
          </a:xfrm>
        </p:spPr>
        <p:txBody>
          <a:bodyPr/>
          <a:lstStyle/>
          <a:p>
            <a:r>
              <a:rPr lang="en-GB" dirty="0"/>
              <a:t>Page </a:t>
            </a:r>
            <a:fld id="{BE3DC40E-DBBE-4E2D-9EEC-FBF0DA0E9179}" type="slidenum">
              <a:rPr lang="en-GB" smtClean="0"/>
              <a:t>‹Nr.›</a:t>
            </a:fld>
            <a:endParaRPr lang="en-GB" dirty="0"/>
          </a:p>
        </p:txBody>
      </p:sp>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
        <p:nvSpPr>
          <p:cNvPr id="16" name="Fußzeilenplatzhalter 7">
            <a:extLst>
              <a:ext uri="{FF2B5EF4-FFF2-40B4-BE49-F238E27FC236}">
                <a16:creationId xmlns:a16="http://schemas.microsoft.com/office/drawing/2014/main" id="{D26CAEAF-CC5C-4599-9FA6-356F6B04BBEE}"/>
              </a:ext>
            </a:extLst>
          </p:cNvPr>
          <p:cNvSpPr>
            <a:spLocks noGrp="1"/>
          </p:cNvSpPr>
          <p:nvPr>
            <p:ph type="ftr" sz="quarter" idx="12"/>
          </p:nvPr>
        </p:nvSpPr>
        <p:spPr>
          <a:xfrm>
            <a:off x="2197447" y="5412059"/>
            <a:ext cx="4288788" cy="258085"/>
          </a:xfrm>
        </p:spPr>
        <p:txBody>
          <a:bodyPr/>
          <a:lstStyle>
            <a:lvl1pPr>
              <a:defRPr/>
            </a:lvl1pPr>
          </a:lstStyle>
          <a:p>
            <a:r>
              <a:rPr lang="en-GB" dirty="0"/>
              <a:t>DECISION MAKING IN International marketing – arne.floh@wu.ac.at</a:t>
            </a:r>
          </a:p>
        </p:txBody>
      </p:sp>
      <p:sp>
        <p:nvSpPr>
          <p:cNvPr id="18" name="Foliennummernplatzhalter 8">
            <a:extLst>
              <a:ext uri="{FF2B5EF4-FFF2-40B4-BE49-F238E27FC236}">
                <a16:creationId xmlns:a16="http://schemas.microsoft.com/office/drawing/2014/main" id="{11979E2D-4879-4974-A0AD-74389ED92814}"/>
              </a:ext>
            </a:extLst>
          </p:cNvPr>
          <p:cNvSpPr>
            <a:spLocks noGrp="1"/>
          </p:cNvSpPr>
          <p:nvPr>
            <p:ph type="sldNum" sz="quarter" idx="13"/>
          </p:nvPr>
        </p:nvSpPr>
        <p:spPr>
          <a:xfrm>
            <a:off x="462407" y="5412059"/>
            <a:ext cx="892150" cy="258085"/>
          </a:xfrm>
        </p:spPr>
        <p:txBody>
          <a:bodyPr/>
          <a:lstStyle/>
          <a:p>
            <a:r>
              <a:rPr lang="en-GB" dirty="0"/>
              <a:t>Page </a:t>
            </a:r>
            <a:fld id="{BE3DC40E-DBBE-4E2D-9EEC-FBF0DA0E9179}" type="slidenum">
              <a:rPr lang="en-GB" smtClean="0"/>
              <a:t>‹Nr.›</a:t>
            </a:fld>
            <a:endParaRPr lang="en-GB" dirty="0"/>
          </a:p>
        </p:txBody>
      </p:sp>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Titelmasterformat durch Klicken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08/10/2025</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Titelmasterformat durch Klicken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08/10/2025</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Titelmasterformat durch Klicken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08/10/2025</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UniOfSurrey - Standard Slide">
    <p:spTree>
      <p:nvGrpSpPr>
        <p:cNvPr id="1" name=""/>
        <p:cNvGrpSpPr/>
        <p:nvPr/>
      </p:nvGrpSpPr>
      <p:grpSpPr>
        <a:xfrm>
          <a:off x="0" y="0"/>
          <a:ext cx="0" cy="0"/>
          <a:chOff x="0" y="0"/>
          <a:chExt cx="0" cy="0"/>
        </a:xfrm>
      </p:grpSpPr>
      <p:sp>
        <p:nvSpPr>
          <p:cNvPr id="16" name="Rectangle 15"/>
          <p:cNvSpPr/>
          <p:nvPr userDrawn="1"/>
        </p:nvSpPr>
        <p:spPr>
          <a:xfrm>
            <a:off x="0" y="0"/>
            <a:ext cx="9144000" cy="727665"/>
          </a:xfrm>
          <a:prstGeom prst="rect">
            <a:avLst/>
          </a:prstGeom>
          <a:solidFill>
            <a:srgbClr val="008A85"/>
          </a:solidFill>
          <a:ln>
            <a:solidFill>
              <a:srgbClr val="008A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500" dirty="0">
              <a:ln>
                <a:noFill/>
              </a:ln>
              <a:effectLst/>
            </a:endParaRPr>
          </a:p>
        </p:txBody>
      </p:sp>
      <p:sp>
        <p:nvSpPr>
          <p:cNvPr id="3" name="Content Placeholder 2"/>
          <p:cNvSpPr>
            <a:spLocks noGrp="1"/>
          </p:cNvSpPr>
          <p:nvPr>
            <p:ph idx="1"/>
          </p:nvPr>
        </p:nvSpPr>
        <p:spPr>
          <a:xfrm>
            <a:off x="457200" y="1333500"/>
            <a:ext cx="8321443" cy="3771636"/>
          </a:xfrm>
          <a:prstGeom prst="rect">
            <a:avLst/>
          </a:prstGeom>
        </p:spPr>
        <p:txBody>
          <a:bodyPr>
            <a:normAutofit/>
          </a:bodyPr>
          <a:lstStyle>
            <a:lvl1pPr>
              <a:defRPr sz="1500">
                <a:solidFill>
                  <a:schemeClr val="tx1">
                    <a:lumMod val="50000"/>
                  </a:schemeClr>
                </a:solidFill>
                <a:latin typeface="Georgia" panose="02040502050405020303" pitchFamily="18" charset="0"/>
                <a:cs typeface="Arial"/>
              </a:defRPr>
            </a:lvl1pPr>
            <a:lvl2pPr>
              <a:defRPr sz="1500">
                <a:solidFill>
                  <a:srgbClr val="008A85"/>
                </a:solidFill>
                <a:latin typeface="Georgia" panose="02040502050405020303" pitchFamily="18" charset="0"/>
                <a:cs typeface="Arial"/>
              </a:defRPr>
            </a:lvl2pPr>
            <a:lvl3pPr>
              <a:defRPr sz="1500">
                <a:solidFill>
                  <a:srgbClr val="556169"/>
                </a:solidFill>
                <a:latin typeface="Georgia" panose="02040502050405020303" pitchFamily="18" charset="0"/>
                <a:cs typeface="Arial"/>
              </a:defRPr>
            </a:lvl3pPr>
            <a:lvl4pPr>
              <a:defRPr sz="1333">
                <a:solidFill>
                  <a:srgbClr val="008A85"/>
                </a:solidFill>
                <a:latin typeface="Georgia" panose="02040502050405020303" pitchFamily="18" charset="0"/>
                <a:cs typeface="Arial"/>
              </a:defRPr>
            </a:lvl4pPr>
            <a:lvl5pPr>
              <a:defRPr sz="1333">
                <a:solidFill>
                  <a:srgbClr val="556169"/>
                </a:solidFill>
                <a:latin typeface="Georgia" panose="02040502050405020303" pitchFamily="18" charset="0"/>
                <a:cs typeface="Aria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0" name="Text Placeholder 9"/>
          <p:cNvSpPr>
            <a:spLocks noGrp="1"/>
          </p:cNvSpPr>
          <p:nvPr>
            <p:ph type="body" sz="quarter" idx="13" hasCustomPrompt="1"/>
          </p:nvPr>
        </p:nvSpPr>
        <p:spPr>
          <a:xfrm>
            <a:off x="457200" y="780521"/>
            <a:ext cx="8321442" cy="320146"/>
          </a:xfrm>
          <a:prstGeom prst="rect">
            <a:avLst/>
          </a:prstGeom>
        </p:spPr>
        <p:txBody>
          <a:bodyPr>
            <a:normAutofit/>
          </a:bodyPr>
          <a:lstStyle>
            <a:lvl1pPr marL="0" indent="0">
              <a:buNone/>
              <a:defRPr sz="1500" baseline="0">
                <a:solidFill>
                  <a:srgbClr val="4A4A49"/>
                </a:solidFill>
                <a:latin typeface="Georgia"/>
                <a:cs typeface="Georgia"/>
              </a:defRPr>
            </a:lvl1pPr>
          </a:lstStyle>
          <a:p>
            <a:pPr lvl="0"/>
            <a:r>
              <a:rPr lang="en-US" dirty="0"/>
              <a:t>Sub line / Content Title goes here</a:t>
            </a:r>
          </a:p>
        </p:txBody>
      </p:sp>
      <p:cxnSp>
        <p:nvCxnSpPr>
          <p:cNvPr id="12" name="Straight Connector 11"/>
          <p:cNvCxnSpPr/>
          <p:nvPr userDrawn="1"/>
        </p:nvCxnSpPr>
        <p:spPr>
          <a:xfrm>
            <a:off x="0" y="731668"/>
            <a:ext cx="9180000" cy="0"/>
          </a:xfrm>
          <a:prstGeom prst="line">
            <a:avLst/>
          </a:prstGeom>
          <a:ln w="6350" cmpd="sng">
            <a:solidFill>
              <a:srgbClr val="008A85"/>
            </a:solidFill>
          </a:ln>
        </p:spPr>
        <p:style>
          <a:lnRef idx="1">
            <a:schemeClr val="accent1"/>
          </a:lnRef>
          <a:fillRef idx="0">
            <a:schemeClr val="accent1"/>
          </a:fillRef>
          <a:effectRef idx="0">
            <a:schemeClr val="accent1"/>
          </a:effectRef>
          <a:fontRef idx="minor">
            <a:schemeClr val="tx1"/>
          </a:fontRef>
        </p:style>
      </p:cxnSp>
      <p:sp>
        <p:nvSpPr>
          <p:cNvPr id="13" name="Title 1"/>
          <p:cNvSpPr>
            <a:spLocks noGrp="1"/>
          </p:cNvSpPr>
          <p:nvPr>
            <p:ph type="title" hasCustomPrompt="1"/>
          </p:nvPr>
        </p:nvSpPr>
        <p:spPr>
          <a:xfrm>
            <a:off x="457201" y="352793"/>
            <a:ext cx="4507927" cy="344390"/>
          </a:xfrm>
        </p:spPr>
        <p:txBody>
          <a:bodyPr>
            <a:noAutofit/>
          </a:bodyPr>
          <a:lstStyle>
            <a:lvl1pPr>
              <a:defRPr sz="2000">
                <a:solidFill>
                  <a:schemeClr val="bg1"/>
                </a:solidFill>
              </a:defRPr>
            </a:lvl1pPr>
          </a:lstStyle>
          <a:p>
            <a:r>
              <a:rPr lang="en-GB" dirty="0"/>
              <a:t>Headline title goes here</a:t>
            </a:r>
            <a:endParaRPr lang="en-US" dirty="0"/>
          </a:p>
        </p:txBody>
      </p:sp>
      <p:pic>
        <p:nvPicPr>
          <p:cNvPr id="11" name="Picture 10"/>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7763311" y="53082"/>
            <a:ext cx="1302631" cy="585490"/>
          </a:xfrm>
          <a:prstGeom prst="rect">
            <a:avLst/>
          </a:prstGeom>
        </p:spPr>
      </p:pic>
    </p:spTree>
    <p:extLst>
      <p:ext uri="{BB962C8B-B14F-4D97-AF65-F5344CB8AC3E}">
        <p14:creationId xmlns:p14="http://schemas.microsoft.com/office/powerpoint/2010/main" val="263999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el und Inhalt">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1182790789"/>
              </p:ext>
            </p:extLst>
          </p:nvPr>
        </p:nvGraphicFramePr>
        <p:xfrm>
          <a:off x="1589" y="1324"/>
          <a:ext cx="1587" cy="1323"/>
        </p:xfrm>
        <a:graphic>
          <a:graphicData uri="http://schemas.openxmlformats.org/presentationml/2006/ole">
            <mc:AlternateContent xmlns:mc="http://schemas.openxmlformats.org/markup-compatibility/2006">
              <mc:Choice xmlns:v="urn:schemas-microsoft-com:vml" Requires="v">
                <p:oleObj name="think-cell Folie" r:id="rId3" imgW="235" imgH="235" progId="TCLayout.ActiveDocument.1">
                  <p:embed/>
                </p:oleObj>
              </mc:Choice>
              <mc:Fallback>
                <p:oleObj name="think-cell Folie" r:id="rId3" imgW="235" imgH="235" progId="TCLayout.ActiveDocument.1">
                  <p:embed/>
                  <p:pic>
                    <p:nvPicPr>
                      <p:cNvPr id="2" name="Objekt 1" hidden="1"/>
                      <p:cNvPicPr/>
                      <p:nvPr/>
                    </p:nvPicPr>
                    <p:blipFill>
                      <a:blip r:embed="rId4"/>
                      <a:stretch>
                        <a:fillRect/>
                      </a:stretch>
                    </p:blipFill>
                    <p:spPr>
                      <a:xfrm>
                        <a:off x="1589" y="1324"/>
                        <a:ext cx="1587" cy="1323"/>
                      </a:xfrm>
                      <a:prstGeom prst="rect">
                        <a:avLst/>
                      </a:prstGeom>
                    </p:spPr>
                  </p:pic>
                </p:oleObj>
              </mc:Fallback>
            </mc:AlternateContent>
          </a:graphicData>
        </a:graphic>
      </p:graphicFrame>
      <p:sp>
        <p:nvSpPr>
          <p:cNvPr id="3" name="Inhaltsplatzhalter 2"/>
          <p:cNvSpPr>
            <a:spLocks noGrp="1"/>
          </p:cNvSpPr>
          <p:nvPr>
            <p:ph idx="1" hasCustomPrompt="1"/>
          </p:nvPr>
        </p:nvSpPr>
        <p:spPr>
          <a:xfrm>
            <a:off x="395288" y="1057010"/>
            <a:ext cx="8424862" cy="3901281"/>
          </a:xfrm>
        </p:spPr>
        <p:txBody>
          <a:bodyPr/>
          <a:lstStyle>
            <a:lvl1pPr>
              <a:defRPr sz="1333" b="0">
                <a:solidFill>
                  <a:schemeClr val="tx1"/>
                </a:solidFill>
              </a:defRPr>
            </a:lvl1pPr>
            <a:lvl2pPr>
              <a:defRPr sz="1333"/>
            </a:lvl2pPr>
            <a:lvl3pPr>
              <a:defRPr sz="1333"/>
            </a:lvl3pPr>
          </a:lstStyle>
          <a:p>
            <a:pPr lvl="0"/>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p:txBody>
      </p:sp>
      <p:sp>
        <p:nvSpPr>
          <p:cNvPr id="4" name="Rectangle 14"/>
          <p:cNvSpPr>
            <a:spLocks noGrp="1" noChangeArrowheads="1"/>
          </p:cNvSpPr>
          <p:nvPr>
            <p:ph type="sldNum" sz="quarter" idx="10"/>
          </p:nvPr>
        </p:nvSpPr>
        <p:spPr>
          <a:ln/>
        </p:spPr>
        <p:txBody>
          <a:bodyPr/>
          <a:lstStyle>
            <a:lvl1pPr>
              <a:defRPr/>
            </a:lvl1pPr>
          </a:lstStyle>
          <a:p>
            <a:pPr>
              <a:defRPr/>
            </a:pPr>
            <a:fld id="{CAA44501-30D4-4910-9B68-5231643A423F}" type="slidenum">
              <a:rPr lang="en-US"/>
              <a:pPr>
                <a:defRPr/>
              </a:pPr>
              <a:t>‹Nr.›</a:t>
            </a:fld>
            <a:endParaRPr lang="en-US" dirty="0"/>
          </a:p>
        </p:txBody>
      </p:sp>
      <p:sp>
        <p:nvSpPr>
          <p:cNvPr id="11" name="Inhaltsplatzhalter 10"/>
          <p:cNvSpPr>
            <a:spLocks noGrp="1"/>
          </p:cNvSpPr>
          <p:nvPr>
            <p:ph sz="quarter" idx="11"/>
          </p:nvPr>
        </p:nvSpPr>
        <p:spPr>
          <a:xfrm>
            <a:off x="395288" y="185209"/>
            <a:ext cx="8424862" cy="691886"/>
          </a:xfrm>
        </p:spPr>
        <p:txBody>
          <a:bodyPr/>
          <a:lstStyle>
            <a:lvl1pPr marL="0">
              <a:spcBef>
                <a:spcPts val="0"/>
              </a:spcBef>
              <a:defRPr sz="1667" b="1">
                <a:solidFill>
                  <a:srgbClr val="336699"/>
                </a:solidFill>
              </a:defRPr>
            </a:lvl1pPr>
          </a:lstStyle>
          <a:p>
            <a:pPr lvl="0"/>
            <a:r>
              <a:rPr lang="en-US" dirty="0" err="1"/>
              <a:t>Textmasterformat</a:t>
            </a:r>
            <a:r>
              <a:rPr lang="en-US" dirty="0"/>
              <a:t> </a:t>
            </a:r>
            <a:r>
              <a:rPr lang="en-US" dirty="0" err="1"/>
              <a:t>bearbeiten</a:t>
            </a:r>
            <a:endParaRPr lang="en-US" dirty="0"/>
          </a:p>
        </p:txBody>
      </p:sp>
      <p:sp>
        <p:nvSpPr>
          <p:cNvPr id="6" name="Textplatzhalter 10"/>
          <p:cNvSpPr>
            <a:spLocks noGrp="1"/>
          </p:cNvSpPr>
          <p:nvPr>
            <p:ph type="body" sz="quarter" idx="13"/>
          </p:nvPr>
        </p:nvSpPr>
        <p:spPr>
          <a:xfrm>
            <a:off x="395288" y="4966424"/>
            <a:ext cx="8424862" cy="168000"/>
          </a:xfrm>
        </p:spPr>
        <p:txBody>
          <a:bodyPr lIns="0" anchor="ctr">
            <a:noAutofit/>
          </a:bodyPr>
          <a:lstStyle>
            <a:lvl1pPr marL="284989" indent="-284989">
              <a:buNone/>
              <a:defRPr sz="750">
                <a:latin typeface="Verdana" panose="020B0604030504040204" pitchFamily="34" charset="0"/>
                <a:ea typeface="Verdana" panose="020B0604030504040204" pitchFamily="34" charset="0"/>
                <a:cs typeface="Verdana" panose="020B0604030504040204" pitchFamily="34" charset="0"/>
              </a:defRPr>
            </a:lvl1pPr>
          </a:lstStyle>
          <a:p>
            <a:pPr lvl="0"/>
            <a:r>
              <a:rPr lang="en-US" dirty="0" err="1"/>
              <a:t>Formatvorlagen</a:t>
            </a:r>
            <a:r>
              <a:rPr lang="en-US" dirty="0"/>
              <a:t> des </a:t>
            </a:r>
            <a:r>
              <a:rPr lang="en-US" dirty="0" err="1"/>
              <a:t>Textmasters</a:t>
            </a:r>
            <a:r>
              <a:rPr lang="en-US" dirty="0"/>
              <a:t> </a:t>
            </a:r>
            <a:r>
              <a:rPr lang="en-US" dirty="0" err="1"/>
              <a:t>bearbeiten</a:t>
            </a:r>
            <a:endParaRPr lang="en-US" dirty="0"/>
          </a:p>
        </p:txBody>
      </p:sp>
    </p:spTree>
    <p:extLst>
      <p:ext uri="{BB962C8B-B14F-4D97-AF65-F5344CB8AC3E}">
        <p14:creationId xmlns:p14="http://schemas.microsoft.com/office/powerpoint/2010/main" val="29741953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Titel und Inhalt">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userDrawn="1">
            <p:custDataLst>
              <p:tags r:id="rId1"/>
            </p:custDataLst>
            <p:extLst>
              <p:ext uri="{D42A27DB-BD31-4B8C-83A1-F6EECF244321}">
                <p14:modId xmlns:p14="http://schemas.microsoft.com/office/powerpoint/2010/main" val="1182790789"/>
              </p:ext>
            </p:extLst>
          </p:nvPr>
        </p:nvGraphicFramePr>
        <p:xfrm>
          <a:off x="1589" y="1324"/>
          <a:ext cx="1587" cy="1323"/>
        </p:xfrm>
        <a:graphic>
          <a:graphicData uri="http://schemas.openxmlformats.org/presentationml/2006/ole">
            <mc:AlternateContent xmlns:mc="http://schemas.openxmlformats.org/markup-compatibility/2006">
              <mc:Choice xmlns:v="urn:schemas-microsoft-com:vml" Requires="v">
                <p:oleObj name="think-cell Folie" r:id="rId3" imgW="235" imgH="235" progId="TCLayout.ActiveDocument.1">
                  <p:embed/>
                </p:oleObj>
              </mc:Choice>
              <mc:Fallback>
                <p:oleObj name="think-cell Folie" r:id="rId3" imgW="235" imgH="235" progId="TCLayout.ActiveDocument.1">
                  <p:embed/>
                  <p:pic>
                    <p:nvPicPr>
                      <p:cNvPr id="2" name="Objekt 1" hidden="1"/>
                      <p:cNvPicPr/>
                      <p:nvPr/>
                    </p:nvPicPr>
                    <p:blipFill>
                      <a:blip r:embed="rId4"/>
                      <a:stretch>
                        <a:fillRect/>
                      </a:stretch>
                    </p:blipFill>
                    <p:spPr>
                      <a:xfrm>
                        <a:off x="1589" y="1324"/>
                        <a:ext cx="1587" cy="1323"/>
                      </a:xfrm>
                      <a:prstGeom prst="rect">
                        <a:avLst/>
                      </a:prstGeom>
                    </p:spPr>
                  </p:pic>
                </p:oleObj>
              </mc:Fallback>
            </mc:AlternateContent>
          </a:graphicData>
        </a:graphic>
      </p:graphicFrame>
      <p:sp>
        <p:nvSpPr>
          <p:cNvPr id="3" name="Inhaltsplatzhalter 2"/>
          <p:cNvSpPr>
            <a:spLocks noGrp="1"/>
          </p:cNvSpPr>
          <p:nvPr>
            <p:ph idx="1" hasCustomPrompt="1"/>
          </p:nvPr>
        </p:nvSpPr>
        <p:spPr>
          <a:xfrm>
            <a:off x="395288" y="1057010"/>
            <a:ext cx="8424862" cy="3901281"/>
          </a:xfrm>
        </p:spPr>
        <p:txBody>
          <a:bodyPr/>
          <a:lstStyle>
            <a:lvl1pPr>
              <a:defRPr sz="1333" b="0">
                <a:solidFill>
                  <a:schemeClr val="tx1"/>
                </a:solidFill>
              </a:defRPr>
            </a:lvl1pPr>
            <a:lvl2pPr>
              <a:defRPr sz="1333"/>
            </a:lvl2pPr>
            <a:lvl3pPr>
              <a:defRPr sz="1333"/>
            </a:lvl3pPr>
          </a:lstStyle>
          <a:p>
            <a:pPr lvl="0"/>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p:txBody>
      </p:sp>
      <p:sp>
        <p:nvSpPr>
          <p:cNvPr id="4" name="Rectangle 14"/>
          <p:cNvSpPr>
            <a:spLocks noGrp="1" noChangeArrowheads="1"/>
          </p:cNvSpPr>
          <p:nvPr>
            <p:ph type="sldNum" sz="quarter" idx="10"/>
          </p:nvPr>
        </p:nvSpPr>
        <p:spPr>
          <a:ln/>
        </p:spPr>
        <p:txBody>
          <a:bodyPr/>
          <a:lstStyle>
            <a:lvl1pPr>
              <a:defRPr/>
            </a:lvl1pPr>
          </a:lstStyle>
          <a:p>
            <a:pPr>
              <a:defRPr/>
            </a:pPr>
            <a:fld id="{CAA44501-30D4-4910-9B68-5231643A423F}" type="slidenum">
              <a:rPr lang="en-US"/>
              <a:pPr>
                <a:defRPr/>
              </a:pPr>
              <a:t>‹Nr.›</a:t>
            </a:fld>
            <a:endParaRPr lang="en-US" dirty="0"/>
          </a:p>
        </p:txBody>
      </p:sp>
      <p:sp>
        <p:nvSpPr>
          <p:cNvPr id="11" name="Inhaltsplatzhalter 10"/>
          <p:cNvSpPr>
            <a:spLocks noGrp="1"/>
          </p:cNvSpPr>
          <p:nvPr>
            <p:ph sz="quarter" idx="11"/>
          </p:nvPr>
        </p:nvSpPr>
        <p:spPr>
          <a:xfrm>
            <a:off x="395288" y="185209"/>
            <a:ext cx="8424862" cy="691886"/>
          </a:xfrm>
        </p:spPr>
        <p:txBody>
          <a:bodyPr/>
          <a:lstStyle>
            <a:lvl1pPr marL="0">
              <a:spcBef>
                <a:spcPts val="0"/>
              </a:spcBef>
              <a:defRPr sz="1667" b="1">
                <a:solidFill>
                  <a:srgbClr val="336699"/>
                </a:solidFill>
              </a:defRPr>
            </a:lvl1pPr>
          </a:lstStyle>
          <a:p>
            <a:pPr lvl="0"/>
            <a:r>
              <a:rPr lang="en-US" dirty="0" err="1"/>
              <a:t>Textmasterformat</a:t>
            </a:r>
            <a:r>
              <a:rPr lang="en-US" dirty="0"/>
              <a:t> </a:t>
            </a:r>
            <a:r>
              <a:rPr lang="en-US" dirty="0" err="1"/>
              <a:t>bearbeiten</a:t>
            </a:r>
            <a:endParaRPr lang="en-US" dirty="0"/>
          </a:p>
        </p:txBody>
      </p:sp>
      <p:sp>
        <p:nvSpPr>
          <p:cNvPr id="6" name="Textplatzhalter 10"/>
          <p:cNvSpPr>
            <a:spLocks noGrp="1"/>
          </p:cNvSpPr>
          <p:nvPr>
            <p:ph type="body" sz="quarter" idx="13"/>
          </p:nvPr>
        </p:nvSpPr>
        <p:spPr>
          <a:xfrm>
            <a:off x="395288" y="4966424"/>
            <a:ext cx="8424862" cy="168000"/>
          </a:xfrm>
        </p:spPr>
        <p:txBody>
          <a:bodyPr lIns="0" anchor="ctr">
            <a:noAutofit/>
          </a:bodyPr>
          <a:lstStyle>
            <a:lvl1pPr marL="284989" indent="-284989">
              <a:buNone/>
              <a:defRPr sz="750">
                <a:latin typeface="Verdana" panose="020B0604030504040204" pitchFamily="34" charset="0"/>
                <a:ea typeface="Verdana" panose="020B0604030504040204" pitchFamily="34" charset="0"/>
                <a:cs typeface="Verdana" panose="020B0604030504040204" pitchFamily="34" charset="0"/>
              </a:defRPr>
            </a:lvl1pPr>
          </a:lstStyle>
          <a:p>
            <a:pPr lvl="0"/>
            <a:r>
              <a:rPr lang="en-US" dirty="0" err="1"/>
              <a:t>Formatvorlagen</a:t>
            </a:r>
            <a:r>
              <a:rPr lang="en-US" dirty="0"/>
              <a:t> des </a:t>
            </a:r>
            <a:r>
              <a:rPr lang="en-US" dirty="0" err="1"/>
              <a:t>Textmasters</a:t>
            </a:r>
            <a:r>
              <a:rPr lang="en-US" dirty="0"/>
              <a:t> </a:t>
            </a:r>
            <a:r>
              <a:rPr lang="en-US" dirty="0" err="1"/>
              <a:t>bearbeiten</a:t>
            </a:r>
            <a:endParaRPr lang="en-US" dirty="0"/>
          </a:p>
        </p:txBody>
      </p:sp>
    </p:spTree>
    <p:extLst>
      <p:ext uri="{BB962C8B-B14F-4D97-AF65-F5344CB8AC3E}">
        <p14:creationId xmlns:p14="http://schemas.microsoft.com/office/powerpoint/2010/main" val="15482900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08/10/2025</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20"/>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21" cstate="hqprint">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6"/>
    <p:sldLayoutId id="2147483693" r:id="rId17"/>
    <p:sldLayoutId id="2147483694" r:id="rId18"/>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hyperlink" Target="https://www.wu.ac.at/iib/iib/team/faculty/arne-floh" TargetMode="External"/><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3.tiff"/><Relationship Id="rId5" Type="http://schemas.openxmlformats.org/officeDocument/2006/relationships/hyperlink" Target="mailto:arne.floh@wu.ac.at" TargetMode="External"/><Relationship Id="rId4" Type="http://schemas.openxmlformats.org/officeDocument/2006/relationships/hyperlink" Target="http://www.linkedin.com/arnefloh"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3" Type="http://schemas.openxmlformats.org/officeDocument/2006/relationships/image" Target="../media/image13.tiff"/><Relationship Id="rId7" Type="http://schemas.openxmlformats.org/officeDocument/2006/relationships/image" Target="../media/image17.jpeg"/><Relationship Id="rId12" Type="http://schemas.openxmlformats.org/officeDocument/2006/relationships/image" Target="../media/image22.png"/><Relationship Id="rId2" Type="http://schemas.openxmlformats.org/officeDocument/2006/relationships/notesSlide" Target="../notesSlides/notesSlide4.xml"/><Relationship Id="rId16" Type="http://schemas.openxmlformats.org/officeDocument/2006/relationships/image" Target="../media/image26.png"/><Relationship Id="rId1" Type="http://schemas.openxmlformats.org/officeDocument/2006/relationships/slideLayout" Target="../slideLayouts/slideLayout17.xml"/><Relationship Id="rId6" Type="http://schemas.openxmlformats.org/officeDocument/2006/relationships/image" Target="../media/image16.jpeg"/><Relationship Id="rId11" Type="http://schemas.openxmlformats.org/officeDocument/2006/relationships/image" Target="../media/image21.png"/><Relationship Id="rId5" Type="http://schemas.openxmlformats.org/officeDocument/2006/relationships/image" Target="../media/image15.jpe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rfortherestofus.com/courses/getting-started"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ctrTitle"/>
          </p:nvPr>
        </p:nvSpPr>
        <p:spPr>
          <a:xfrm>
            <a:off x="550542" y="1020949"/>
            <a:ext cx="5633690" cy="1026000"/>
          </a:xfrm>
        </p:spPr>
        <p:txBody>
          <a:bodyPr/>
          <a:lstStyle/>
          <a:p>
            <a:r>
              <a:rPr lang="en-GB" dirty="0"/>
              <a:t>International Marketing Analytics–</a:t>
            </a:r>
            <a:br>
              <a:rPr lang="en-GB" dirty="0"/>
            </a:br>
            <a:br>
              <a:rPr lang="en-GB" sz="2400" dirty="0"/>
            </a:br>
            <a:r>
              <a:rPr lang="en-GB" sz="2400" dirty="0"/>
              <a:t>Course Content and Style</a:t>
            </a:r>
          </a:p>
        </p:txBody>
      </p:sp>
      <p:sp>
        <p:nvSpPr>
          <p:cNvPr id="7" name="Textplatzhalter 6"/>
          <p:cNvSpPr>
            <a:spLocks noGrp="1"/>
          </p:cNvSpPr>
          <p:nvPr>
            <p:ph type="body" sz="quarter" idx="11"/>
          </p:nvPr>
        </p:nvSpPr>
        <p:spPr>
          <a:xfrm>
            <a:off x="287338" y="2941638"/>
            <a:ext cx="4284662" cy="1144105"/>
          </a:xfrm>
        </p:spPr>
        <p:txBody>
          <a:bodyPr/>
          <a:lstStyle/>
          <a:p>
            <a:r>
              <a:rPr lang="en-GB" dirty="0"/>
              <a:t>Dr Arne Floh</a:t>
            </a:r>
          </a:p>
          <a:p>
            <a:r>
              <a:rPr lang="en-GB" dirty="0"/>
              <a:t>Senior Lecturer in International Business</a:t>
            </a:r>
          </a:p>
          <a:p>
            <a:r>
              <a:rPr lang="de-AT" dirty="0"/>
              <a:t>arne.floh@wu.ac.at</a:t>
            </a:r>
          </a:p>
        </p:txBody>
      </p:sp>
    </p:spTree>
    <p:extLst>
      <p:ext uri="{BB962C8B-B14F-4D97-AF65-F5344CB8AC3E}">
        <p14:creationId xmlns:p14="http://schemas.microsoft.com/office/powerpoint/2010/main" val="30021353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ußzeilenplatzhalter 2">
            <a:extLst>
              <a:ext uri="{FF2B5EF4-FFF2-40B4-BE49-F238E27FC236}">
                <a16:creationId xmlns:a16="http://schemas.microsoft.com/office/drawing/2014/main" id="{C316DA99-124A-4540-9408-D9DD4EE15644}"/>
              </a:ext>
            </a:extLst>
          </p:cNvPr>
          <p:cNvSpPr>
            <a:spLocks noGrp="1"/>
          </p:cNvSpPr>
          <p:nvPr>
            <p:ph type="ftr" sz="quarter" idx="11"/>
          </p:nvPr>
        </p:nvSpPr>
        <p:spPr/>
        <p:txBody>
          <a:bodyPr/>
          <a:lstStyle/>
          <a:p>
            <a:r>
              <a:rPr lang="en-GB"/>
              <a:t>DECISION MAKING IN International marketing – arne.floh@wu.ac.at</a:t>
            </a:r>
            <a:endParaRPr lang="en-GB" dirty="0"/>
          </a:p>
        </p:txBody>
      </p:sp>
      <p:sp>
        <p:nvSpPr>
          <p:cNvPr id="4" name="Foliennummernplatzhalter 3">
            <a:extLst>
              <a:ext uri="{FF2B5EF4-FFF2-40B4-BE49-F238E27FC236}">
                <a16:creationId xmlns:a16="http://schemas.microsoft.com/office/drawing/2014/main" id="{8A594615-19D0-462A-94C6-78A2DE363127}"/>
              </a:ext>
            </a:extLst>
          </p:cNvPr>
          <p:cNvSpPr>
            <a:spLocks noGrp="1"/>
          </p:cNvSpPr>
          <p:nvPr>
            <p:ph type="sldNum" sz="quarter" idx="12"/>
          </p:nvPr>
        </p:nvSpPr>
        <p:spPr/>
        <p:txBody>
          <a:bodyPr/>
          <a:lstStyle/>
          <a:p>
            <a:r>
              <a:rPr lang="en-GB"/>
              <a:t>Page </a:t>
            </a:r>
            <a:fld id="{BE3DC40E-DBBE-4E2D-9EEC-FBF0DA0E9179}" type="slidenum">
              <a:rPr lang="en-GB" smtClean="0"/>
              <a:t>2</a:t>
            </a:fld>
            <a:endParaRPr lang="en-GB" dirty="0"/>
          </a:p>
        </p:txBody>
      </p:sp>
      <p:sp>
        <p:nvSpPr>
          <p:cNvPr id="5" name="Titel 4">
            <a:extLst>
              <a:ext uri="{FF2B5EF4-FFF2-40B4-BE49-F238E27FC236}">
                <a16:creationId xmlns:a16="http://schemas.microsoft.com/office/drawing/2014/main" id="{A49D8BDD-AF29-4A8D-A3D8-7F87D96172D6}"/>
              </a:ext>
            </a:extLst>
          </p:cNvPr>
          <p:cNvSpPr>
            <a:spLocks noGrp="1"/>
          </p:cNvSpPr>
          <p:nvPr>
            <p:ph type="title"/>
          </p:nvPr>
        </p:nvSpPr>
        <p:spPr/>
        <p:txBody>
          <a:bodyPr/>
          <a:lstStyle/>
          <a:p>
            <a:r>
              <a:rPr lang="de-AT" dirty="0"/>
              <a:t>The Journey </a:t>
            </a:r>
            <a:r>
              <a:rPr lang="de-AT" dirty="0" err="1"/>
              <a:t>begins</a:t>
            </a:r>
            <a:r>
              <a:rPr lang="de-AT" dirty="0"/>
              <a:t>…</a:t>
            </a:r>
            <a:endParaRPr lang="en-US" dirty="0"/>
          </a:p>
        </p:txBody>
      </p:sp>
      <p:pic>
        <p:nvPicPr>
          <p:cNvPr id="6" name="Grafik 5">
            <a:extLst>
              <a:ext uri="{FF2B5EF4-FFF2-40B4-BE49-F238E27FC236}">
                <a16:creationId xmlns:a16="http://schemas.microsoft.com/office/drawing/2014/main" id="{05500F1D-363A-4E04-BE29-68808B4A233F}"/>
              </a:ext>
            </a:extLst>
          </p:cNvPr>
          <p:cNvPicPr>
            <a:picLocks noChangeAspect="1"/>
          </p:cNvPicPr>
          <p:nvPr/>
        </p:nvPicPr>
        <p:blipFill>
          <a:blip r:embed="rId3"/>
          <a:stretch>
            <a:fillRect/>
          </a:stretch>
        </p:blipFill>
        <p:spPr>
          <a:xfrm>
            <a:off x="1260330" y="1455357"/>
            <a:ext cx="6623339" cy="3680698"/>
          </a:xfrm>
          <a:prstGeom prst="rect">
            <a:avLst/>
          </a:prstGeom>
        </p:spPr>
      </p:pic>
    </p:spTree>
    <p:extLst>
      <p:ext uri="{BB962C8B-B14F-4D97-AF65-F5344CB8AC3E}">
        <p14:creationId xmlns:p14="http://schemas.microsoft.com/office/powerpoint/2010/main" val="31120013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85240" y="1265949"/>
            <a:ext cx="8424862" cy="3901281"/>
          </a:xfrm>
        </p:spPr>
        <p:txBody>
          <a:bodyPr/>
          <a:lstStyle/>
          <a:p>
            <a:r>
              <a:rPr lang="en-GB" altLang="de-DE" dirty="0"/>
              <a:t>Personal Information</a:t>
            </a:r>
          </a:p>
          <a:p>
            <a:pPr lvl="1"/>
            <a:r>
              <a:rPr lang="en-GB" altLang="de-DE" sz="1167" b="1" dirty="0"/>
              <a:t>Senior Lecturer in International Marketing </a:t>
            </a:r>
          </a:p>
          <a:p>
            <a:pPr lvl="1"/>
            <a:r>
              <a:rPr lang="en-GB" altLang="de-DE" sz="1167" dirty="0"/>
              <a:t>Institute for International Business, WU Vienna</a:t>
            </a:r>
          </a:p>
          <a:p>
            <a:pPr lvl="1"/>
            <a:r>
              <a:rPr lang="en-GB" altLang="de-DE" sz="1167" dirty="0"/>
              <a:t>Deputy Program Director Export- und Internationalisierungsmanagement</a:t>
            </a:r>
          </a:p>
          <a:p>
            <a:pPr lvl="1"/>
            <a:r>
              <a:rPr lang="en-GB" altLang="de-DE" sz="1167" dirty="0"/>
              <a:t>WWW:</a:t>
            </a:r>
            <a:r>
              <a:rPr lang="de-AT" sz="1167" dirty="0">
                <a:hlinkClick r:id="rId3"/>
              </a:rPr>
              <a:t>Wirtschaftsuniversität Wien: Arne Floh - </a:t>
            </a:r>
            <a:r>
              <a:rPr lang="de-AT" sz="1167" dirty="0" err="1">
                <a:hlinkClick r:id="rId3"/>
              </a:rPr>
              <a:t>Faculty</a:t>
            </a:r>
            <a:r>
              <a:rPr lang="de-AT" sz="1167" dirty="0">
                <a:hlinkClick r:id="rId3"/>
              </a:rPr>
              <a:t> </a:t>
            </a:r>
            <a:r>
              <a:rPr lang="de-AT" sz="1167" dirty="0" err="1">
                <a:hlinkClick r:id="rId3"/>
              </a:rPr>
              <a:t>and</a:t>
            </a:r>
            <a:r>
              <a:rPr lang="de-AT" sz="1167" dirty="0">
                <a:hlinkClick r:id="rId3"/>
              </a:rPr>
              <a:t> </a:t>
            </a:r>
            <a:r>
              <a:rPr lang="de-AT" sz="1167" dirty="0" err="1">
                <a:hlinkClick r:id="rId3"/>
              </a:rPr>
              <a:t>Staff</a:t>
            </a:r>
            <a:r>
              <a:rPr lang="de-AT" sz="1167" dirty="0">
                <a:hlinkClick r:id="rId3"/>
              </a:rPr>
              <a:t> - Team (wu.ac.at)</a:t>
            </a:r>
            <a:endParaRPr lang="en-GB" altLang="de-DE" sz="1167" dirty="0"/>
          </a:p>
          <a:p>
            <a:pPr lvl="1"/>
            <a:r>
              <a:rPr lang="en-GB" altLang="de-DE" sz="1167" dirty="0"/>
              <a:t>LinkedIn: </a:t>
            </a:r>
            <a:r>
              <a:rPr lang="en-GB" altLang="de-DE" sz="1167" dirty="0">
                <a:hlinkClick r:id="rId4"/>
              </a:rPr>
              <a:t>http://www.linkedin.com/arnefloh</a:t>
            </a:r>
            <a:endParaRPr lang="en-GB" altLang="de-DE" sz="1167" dirty="0"/>
          </a:p>
          <a:p>
            <a:pPr lvl="1"/>
            <a:endParaRPr lang="en-GB" altLang="de-DE" sz="1500" dirty="0"/>
          </a:p>
          <a:p>
            <a:r>
              <a:rPr lang="en-GB" altLang="de-DE" dirty="0"/>
              <a:t>Contact Information</a:t>
            </a:r>
          </a:p>
          <a:p>
            <a:pPr lvl="1"/>
            <a:r>
              <a:rPr lang="en-GB" altLang="de-DE" sz="1167" dirty="0"/>
              <a:t>T: 01 31336 6367</a:t>
            </a:r>
          </a:p>
          <a:p>
            <a:pPr lvl="1"/>
            <a:r>
              <a:rPr lang="en-GB" altLang="de-DE" sz="1167" dirty="0"/>
              <a:t>E: </a:t>
            </a:r>
            <a:r>
              <a:rPr lang="en-GB" altLang="de-DE" sz="1167" dirty="0">
                <a:hlinkClick r:id="rId5"/>
              </a:rPr>
              <a:t>arne.floh@wu.ac.at</a:t>
            </a:r>
            <a:endParaRPr lang="en-GB" altLang="de-DE" sz="1167" dirty="0"/>
          </a:p>
          <a:p>
            <a:pPr lvl="1"/>
            <a:r>
              <a:rPr lang="de-AT" altLang="de-DE" sz="1167" dirty="0"/>
              <a:t>R</a:t>
            </a:r>
            <a:r>
              <a:rPr lang="en-GB" altLang="de-DE" sz="1167" dirty="0" err="1"/>
              <a:t>oom</a:t>
            </a:r>
            <a:r>
              <a:rPr lang="en-GB" altLang="de-DE" sz="1167" dirty="0"/>
              <a:t> D1.5.068</a:t>
            </a:r>
          </a:p>
          <a:p>
            <a:pPr lvl="1"/>
            <a:r>
              <a:rPr lang="de-AT" altLang="de-DE" sz="1167" dirty="0"/>
              <a:t>O</a:t>
            </a:r>
            <a:r>
              <a:rPr lang="en-GB" altLang="de-DE" sz="1167" dirty="0" err="1"/>
              <a:t>ffice</a:t>
            </a:r>
            <a:r>
              <a:rPr lang="en-GB" altLang="de-DE" sz="1167" dirty="0"/>
              <a:t> Hours: by appointment</a:t>
            </a:r>
          </a:p>
          <a:p>
            <a:pPr lvl="1"/>
            <a:endParaRPr lang="en-GB" altLang="de-DE" sz="1167" dirty="0"/>
          </a:p>
          <a:p>
            <a:pPr lvl="1"/>
            <a:r>
              <a:rPr lang="en-GB" altLang="de-DE" sz="1167" dirty="0">
                <a:solidFill>
                  <a:srgbClr val="FF0000"/>
                </a:solidFill>
              </a:rPr>
              <a:t>Please contact me first by email!</a:t>
            </a:r>
          </a:p>
          <a:p>
            <a:endParaRPr lang="de-AT" dirty="0"/>
          </a:p>
        </p:txBody>
      </p:sp>
      <p:sp>
        <p:nvSpPr>
          <p:cNvPr id="3" name="Foliennummernplatzhalter 2"/>
          <p:cNvSpPr>
            <a:spLocks noGrp="1"/>
          </p:cNvSpPr>
          <p:nvPr>
            <p:ph type="sldNum" sz="quarter" idx="10"/>
          </p:nvPr>
        </p:nvSpPr>
        <p:spPr/>
        <p:txBody>
          <a:bodyPr/>
          <a:lstStyle/>
          <a:p>
            <a:pPr>
              <a:defRPr/>
            </a:pPr>
            <a:fld id="{CAA44501-30D4-4910-9B68-5231643A423F}" type="slidenum">
              <a:rPr lang="en-US" smtClean="0"/>
              <a:pPr>
                <a:defRPr/>
              </a:pPr>
              <a:t>3</a:t>
            </a:fld>
            <a:endParaRPr lang="en-US" dirty="0"/>
          </a:p>
        </p:txBody>
      </p:sp>
      <p:sp>
        <p:nvSpPr>
          <p:cNvPr id="4" name="Inhaltsplatzhalter 3"/>
          <p:cNvSpPr>
            <a:spLocks noGrp="1"/>
          </p:cNvSpPr>
          <p:nvPr>
            <p:ph sz="quarter" idx="11"/>
          </p:nvPr>
        </p:nvSpPr>
        <p:spPr>
          <a:xfrm>
            <a:off x="359569" y="329235"/>
            <a:ext cx="8424862" cy="691886"/>
          </a:xfrm>
        </p:spPr>
        <p:txBody>
          <a:bodyPr>
            <a:normAutofit/>
          </a:bodyPr>
          <a:lstStyle/>
          <a:p>
            <a:pPr indent="0">
              <a:buNone/>
            </a:pPr>
            <a:r>
              <a:rPr lang="de-AT" sz="2400" dirty="0" err="1">
                <a:solidFill>
                  <a:schemeClr val="tx1"/>
                </a:solidFill>
                <a:latin typeface="Georgia" charset="0"/>
              </a:rPr>
              <a:t>Instructor</a:t>
            </a:r>
            <a:r>
              <a:rPr lang="de-AT" sz="2400" dirty="0">
                <a:solidFill>
                  <a:schemeClr val="tx1"/>
                </a:solidFill>
                <a:latin typeface="Georgia" charset="0"/>
              </a:rPr>
              <a:t> – Dr Arne Floh </a:t>
            </a:r>
          </a:p>
        </p:txBody>
      </p:sp>
      <p:pic>
        <p:nvPicPr>
          <p:cNvPr id="6" name="Picture 2"/>
          <p:cNvPicPr>
            <a:picLocks noChangeAspect="1"/>
          </p:cNvPicPr>
          <p:nvPr/>
        </p:nvPicPr>
        <p:blipFill rotWithShape="1">
          <a:blip r:embed="rId6"/>
          <a:srcRect l="22854" t="-354" r="47068" b="46641"/>
          <a:stretch/>
        </p:blipFill>
        <p:spPr>
          <a:xfrm>
            <a:off x="4992047" y="163772"/>
            <a:ext cx="726191" cy="652409"/>
          </a:xfrm>
          <a:prstGeom prst="rect">
            <a:avLst/>
          </a:prstGeom>
        </p:spPr>
      </p:pic>
    </p:spTree>
    <p:extLst>
      <p:ext uri="{BB962C8B-B14F-4D97-AF65-F5344CB8AC3E}">
        <p14:creationId xmlns:p14="http://schemas.microsoft.com/office/powerpoint/2010/main" val="1532493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95288" y="1340229"/>
            <a:ext cx="8424862" cy="3901281"/>
          </a:xfrm>
        </p:spPr>
        <p:txBody>
          <a:bodyPr/>
          <a:lstStyle/>
          <a:p>
            <a:pPr lvl="1"/>
            <a:r>
              <a:rPr lang="en-GB" altLang="de-DE" sz="1167" dirty="0"/>
              <a:t>Work Experience</a:t>
            </a:r>
          </a:p>
          <a:p>
            <a:pPr lvl="2"/>
            <a:r>
              <a:rPr lang="en-GB" altLang="de-DE" sz="1083" dirty="0"/>
              <a:t>International &amp; Industry Background</a:t>
            </a:r>
          </a:p>
          <a:p>
            <a:pPr lvl="2"/>
            <a:r>
              <a:rPr lang="en-GB" altLang="de-DE" sz="1083" dirty="0"/>
              <a:t>Teaching Experience &gt; 20 Years</a:t>
            </a:r>
          </a:p>
          <a:p>
            <a:pPr lvl="1"/>
            <a:r>
              <a:rPr lang="en-GB" altLang="de-DE" sz="1167" dirty="0"/>
              <a:t>Teaching</a:t>
            </a:r>
          </a:p>
          <a:p>
            <a:pPr lvl="2"/>
            <a:r>
              <a:rPr lang="en-GB" altLang="de-DE" sz="1083" dirty="0"/>
              <a:t>Entrepreneurial Marketing</a:t>
            </a:r>
          </a:p>
          <a:p>
            <a:pPr lvl="2"/>
            <a:r>
              <a:rPr lang="en-GB" altLang="de-DE" sz="1083" dirty="0"/>
              <a:t>International Marketing</a:t>
            </a:r>
          </a:p>
          <a:p>
            <a:pPr lvl="2"/>
            <a:r>
              <a:rPr lang="en-GB" altLang="de-DE" sz="1083" dirty="0"/>
              <a:t>Marketing Research and Marketing Analytics</a:t>
            </a:r>
          </a:p>
          <a:p>
            <a:pPr lvl="2"/>
            <a:r>
              <a:rPr lang="en-GB" altLang="de-DE" sz="1083" dirty="0"/>
              <a:t>Digital Marketing &amp; Social Media</a:t>
            </a:r>
          </a:p>
          <a:p>
            <a:pPr lvl="2"/>
            <a:r>
              <a:rPr lang="en-GB" altLang="de-DE" sz="1083" dirty="0"/>
              <a:t>Supervision (BSc, MSc, PhD)</a:t>
            </a:r>
          </a:p>
          <a:p>
            <a:pPr lvl="1"/>
            <a:r>
              <a:rPr lang="en-GB" altLang="de-DE" sz="1167" dirty="0"/>
              <a:t>Research</a:t>
            </a:r>
          </a:p>
          <a:p>
            <a:pPr lvl="2"/>
            <a:r>
              <a:rPr lang="en-GB" altLang="de-DE" sz="1083" dirty="0"/>
              <a:t>Consumer Behaviour, Relationship Marketing</a:t>
            </a:r>
          </a:p>
          <a:p>
            <a:pPr lvl="2"/>
            <a:r>
              <a:rPr lang="en-GB" altLang="de-DE" sz="1083" dirty="0"/>
              <a:t>Electronic Marketing &amp; Social Media</a:t>
            </a:r>
          </a:p>
          <a:p>
            <a:pPr lvl="1"/>
            <a:r>
              <a:rPr lang="en-GB" altLang="de-DE" sz="1167" dirty="0"/>
              <a:t>Private</a:t>
            </a:r>
          </a:p>
          <a:p>
            <a:pPr lvl="2"/>
            <a:r>
              <a:rPr lang="en-GB" altLang="de-DE" sz="1083" dirty="0"/>
              <a:t>Football</a:t>
            </a:r>
          </a:p>
          <a:p>
            <a:pPr lvl="2"/>
            <a:r>
              <a:rPr lang="en-GB" altLang="de-DE" sz="1083" dirty="0"/>
              <a:t>Electronic Gadgets</a:t>
            </a:r>
          </a:p>
          <a:p>
            <a:pPr lvl="2"/>
            <a:r>
              <a:rPr lang="en-GB" altLang="de-DE" sz="1083" dirty="0"/>
              <a:t>Austrian Wine</a:t>
            </a:r>
          </a:p>
          <a:p>
            <a:endParaRPr lang="de-AT" dirty="0"/>
          </a:p>
        </p:txBody>
      </p:sp>
      <p:sp>
        <p:nvSpPr>
          <p:cNvPr id="3" name="Foliennummernplatzhalter 2"/>
          <p:cNvSpPr>
            <a:spLocks noGrp="1"/>
          </p:cNvSpPr>
          <p:nvPr>
            <p:ph type="sldNum" sz="quarter" idx="10"/>
          </p:nvPr>
        </p:nvSpPr>
        <p:spPr/>
        <p:txBody>
          <a:bodyPr/>
          <a:lstStyle/>
          <a:p>
            <a:pPr>
              <a:defRPr/>
            </a:pPr>
            <a:fld id="{CAA44501-30D4-4910-9B68-5231643A423F}" type="slidenum">
              <a:rPr lang="en-US" smtClean="0"/>
              <a:pPr>
                <a:defRPr/>
              </a:pPr>
              <a:t>4</a:t>
            </a:fld>
            <a:endParaRPr lang="en-US" dirty="0"/>
          </a:p>
        </p:txBody>
      </p:sp>
      <p:sp>
        <p:nvSpPr>
          <p:cNvPr id="4" name="Inhaltsplatzhalter 3"/>
          <p:cNvSpPr>
            <a:spLocks noGrp="1"/>
          </p:cNvSpPr>
          <p:nvPr>
            <p:ph sz="quarter" idx="11"/>
          </p:nvPr>
        </p:nvSpPr>
        <p:spPr>
          <a:xfrm>
            <a:off x="395288" y="315640"/>
            <a:ext cx="8424862" cy="691886"/>
          </a:xfrm>
        </p:spPr>
        <p:txBody>
          <a:bodyPr>
            <a:normAutofit/>
          </a:bodyPr>
          <a:lstStyle/>
          <a:p>
            <a:pPr indent="0">
              <a:buNone/>
            </a:pPr>
            <a:r>
              <a:rPr lang="de-AT" sz="2400" dirty="0" err="1">
                <a:solidFill>
                  <a:schemeClr val="tx1"/>
                </a:solidFill>
                <a:latin typeface="Georgia" charset="0"/>
              </a:rPr>
              <a:t>Instructor</a:t>
            </a:r>
            <a:r>
              <a:rPr lang="de-AT" sz="2400" dirty="0">
                <a:solidFill>
                  <a:schemeClr val="tx1"/>
                </a:solidFill>
                <a:latin typeface="Georgia" charset="0"/>
              </a:rPr>
              <a:t> – Dr Arne Floh </a:t>
            </a:r>
          </a:p>
        </p:txBody>
      </p:sp>
      <p:pic>
        <p:nvPicPr>
          <p:cNvPr id="6" name="Picture 2"/>
          <p:cNvPicPr>
            <a:picLocks noChangeAspect="1"/>
          </p:cNvPicPr>
          <p:nvPr/>
        </p:nvPicPr>
        <p:blipFill rotWithShape="1">
          <a:blip r:embed="rId3"/>
          <a:srcRect l="22854" t="-354" r="47068" b="46641"/>
          <a:stretch/>
        </p:blipFill>
        <p:spPr>
          <a:xfrm>
            <a:off x="5910253" y="265052"/>
            <a:ext cx="726191" cy="652409"/>
          </a:xfrm>
          <a:prstGeom prst="rect">
            <a:avLst/>
          </a:prstGeom>
        </p:spPr>
      </p:pic>
      <p:grpSp>
        <p:nvGrpSpPr>
          <p:cNvPr id="7" name="Gruppieren 6">
            <a:extLst>
              <a:ext uri="{FF2B5EF4-FFF2-40B4-BE49-F238E27FC236}">
                <a16:creationId xmlns:a16="http://schemas.microsoft.com/office/drawing/2014/main" id="{9AD777D6-022F-4E02-9047-529909299B70}"/>
              </a:ext>
            </a:extLst>
          </p:cNvPr>
          <p:cNvGrpSpPr/>
          <p:nvPr/>
        </p:nvGrpSpPr>
        <p:grpSpPr>
          <a:xfrm>
            <a:off x="4899664" y="1595494"/>
            <a:ext cx="3339791" cy="2979295"/>
            <a:chOff x="4860032" y="887872"/>
            <a:chExt cx="4007749" cy="3575154"/>
          </a:xfrm>
        </p:grpSpPr>
        <p:pic>
          <p:nvPicPr>
            <p:cNvPr id="8" name="Picture 5">
              <a:extLst>
                <a:ext uri="{FF2B5EF4-FFF2-40B4-BE49-F238E27FC236}">
                  <a16:creationId xmlns:a16="http://schemas.microsoft.com/office/drawing/2014/main" id="{B20435F2-0841-4617-84F5-0C069C5B7A1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r="43523" b="18973"/>
            <a:stretch>
              <a:fillRect/>
            </a:stretch>
          </p:blipFill>
          <p:spPr bwMode="auto">
            <a:xfrm>
              <a:off x="5787371" y="1099352"/>
              <a:ext cx="1216417" cy="1988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9" name="Picture 7" descr="C:\Users\FLOH01\Documents\Diverses\Social Media Marketing.jpg">
              <a:extLst>
                <a:ext uri="{FF2B5EF4-FFF2-40B4-BE49-F238E27FC236}">
                  <a16:creationId xmlns:a16="http://schemas.microsoft.com/office/drawing/2014/main" id="{748A9F97-126D-4B75-8FE0-16A3FBA3C9A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63544" y="2787773"/>
              <a:ext cx="1065511" cy="7738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C:\Users\FLOH01\Documents\Diverses\CustLoy.jpg">
              <a:extLst>
                <a:ext uri="{FF2B5EF4-FFF2-40B4-BE49-F238E27FC236}">
                  <a16:creationId xmlns:a16="http://schemas.microsoft.com/office/drawing/2014/main" id="{9F9E079F-0FD9-4D44-A202-E4A6EDDA71D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1539" y="2787773"/>
              <a:ext cx="773630" cy="77363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 descr="C:\Users\FLOH01\Documents\Diverses\Maradona.jpg">
              <a:extLst>
                <a:ext uri="{FF2B5EF4-FFF2-40B4-BE49-F238E27FC236}">
                  <a16:creationId xmlns:a16="http://schemas.microsoft.com/office/drawing/2014/main" id="{4D115C44-4118-40BB-A76E-053C6D127F5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66273" y="3803687"/>
              <a:ext cx="973879" cy="64807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0" descr="C:\Users\FLOH01\Documents\Diverses\iPhone.jpg">
              <a:extLst>
                <a:ext uri="{FF2B5EF4-FFF2-40B4-BE49-F238E27FC236}">
                  <a16:creationId xmlns:a16="http://schemas.microsoft.com/office/drawing/2014/main" id="{2AF1D26F-471E-485B-92E1-5F56E09F5F1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49960" y="3814954"/>
              <a:ext cx="865209" cy="64807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
              <a:extLst>
                <a:ext uri="{FF2B5EF4-FFF2-40B4-BE49-F238E27FC236}">
                  <a16:creationId xmlns:a16="http://schemas.microsoft.com/office/drawing/2014/main" id="{2811658E-DCEA-43DC-A67D-1128A0E89A37}"/>
                </a:ext>
              </a:extLst>
            </p:cNvPr>
            <p:cNvPicPr>
              <a:picLocks noChangeAspect="1"/>
            </p:cNvPicPr>
            <p:nvPr/>
          </p:nvPicPr>
          <p:blipFill>
            <a:blip r:embed="rId9"/>
            <a:stretch>
              <a:fillRect/>
            </a:stretch>
          </p:blipFill>
          <p:spPr>
            <a:xfrm>
              <a:off x="7760113" y="3792420"/>
              <a:ext cx="1000978" cy="670606"/>
            </a:xfrm>
            <a:prstGeom prst="rect">
              <a:avLst/>
            </a:prstGeom>
          </p:spPr>
        </p:pic>
        <p:pic>
          <p:nvPicPr>
            <p:cNvPr id="14" name="Grafik 13">
              <a:extLst>
                <a:ext uri="{FF2B5EF4-FFF2-40B4-BE49-F238E27FC236}">
                  <a16:creationId xmlns:a16="http://schemas.microsoft.com/office/drawing/2014/main" id="{B408EE01-B542-4660-B0D3-FBD43BA77E22}"/>
                </a:ext>
              </a:extLst>
            </p:cNvPr>
            <p:cNvPicPr>
              <a:picLocks noChangeAspect="1"/>
            </p:cNvPicPr>
            <p:nvPr/>
          </p:nvPicPr>
          <p:blipFill>
            <a:blip r:embed="rId10"/>
            <a:stretch>
              <a:fillRect/>
            </a:stretch>
          </p:blipFill>
          <p:spPr>
            <a:xfrm>
              <a:off x="5014331" y="1533006"/>
              <a:ext cx="773040" cy="1081777"/>
            </a:xfrm>
            <a:prstGeom prst="rect">
              <a:avLst/>
            </a:prstGeom>
          </p:spPr>
        </p:pic>
        <p:pic>
          <p:nvPicPr>
            <p:cNvPr id="15" name="Grafik 14">
              <a:extLst>
                <a:ext uri="{FF2B5EF4-FFF2-40B4-BE49-F238E27FC236}">
                  <a16:creationId xmlns:a16="http://schemas.microsoft.com/office/drawing/2014/main" id="{6C149411-6646-4881-AC51-37581FA3471F}"/>
                </a:ext>
              </a:extLst>
            </p:cNvPr>
            <p:cNvPicPr>
              <a:picLocks noChangeAspect="1"/>
            </p:cNvPicPr>
            <p:nvPr/>
          </p:nvPicPr>
          <p:blipFill>
            <a:blip r:embed="rId11"/>
            <a:stretch>
              <a:fillRect/>
            </a:stretch>
          </p:blipFill>
          <p:spPr>
            <a:xfrm>
              <a:off x="6055491" y="1516809"/>
              <a:ext cx="788937" cy="1070809"/>
            </a:xfrm>
            <a:prstGeom prst="rect">
              <a:avLst/>
            </a:prstGeom>
          </p:spPr>
        </p:pic>
        <p:pic>
          <p:nvPicPr>
            <p:cNvPr id="16" name="Grafik 15">
              <a:extLst>
                <a:ext uri="{FF2B5EF4-FFF2-40B4-BE49-F238E27FC236}">
                  <a16:creationId xmlns:a16="http://schemas.microsoft.com/office/drawing/2014/main" id="{B7E81BED-3E73-4767-B869-CF72D9B7D00E}"/>
                </a:ext>
              </a:extLst>
            </p:cNvPr>
            <p:cNvPicPr>
              <a:picLocks noChangeAspect="1"/>
            </p:cNvPicPr>
            <p:nvPr/>
          </p:nvPicPr>
          <p:blipFill>
            <a:blip r:embed="rId12"/>
            <a:stretch>
              <a:fillRect/>
            </a:stretch>
          </p:blipFill>
          <p:spPr>
            <a:xfrm>
              <a:off x="7117000" y="1533006"/>
              <a:ext cx="804099" cy="1070809"/>
            </a:xfrm>
            <a:prstGeom prst="rect">
              <a:avLst/>
            </a:prstGeom>
          </p:spPr>
        </p:pic>
        <p:pic>
          <p:nvPicPr>
            <p:cNvPr id="17" name="Picture 2" descr="Entrepreneurial Marketing">
              <a:extLst>
                <a:ext uri="{FF2B5EF4-FFF2-40B4-BE49-F238E27FC236}">
                  <a16:creationId xmlns:a16="http://schemas.microsoft.com/office/drawing/2014/main" id="{D1D91749-54D0-4728-BD44-4530B7260F0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190054" y="1536593"/>
              <a:ext cx="677727" cy="1070809"/>
            </a:xfrm>
            <a:prstGeom prst="rect">
              <a:avLst/>
            </a:prstGeom>
            <a:noFill/>
            <a:extLst>
              <a:ext uri="{909E8E84-426E-40DD-AFC4-6F175D3DCCD1}">
                <a14:hiddenFill xmlns:a14="http://schemas.microsoft.com/office/drawing/2010/main">
                  <a:solidFill>
                    <a:srgbClr val="FFFFFF"/>
                  </a:solidFill>
                </a14:hiddenFill>
              </a:ext>
            </a:extLst>
          </p:spPr>
        </p:pic>
        <p:pic>
          <p:nvPicPr>
            <p:cNvPr id="18" name="Grafik 17">
              <a:extLst>
                <a:ext uri="{FF2B5EF4-FFF2-40B4-BE49-F238E27FC236}">
                  <a16:creationId xmlns:a16="http://schemas.microsoft.com/office/drawing/2014/main" id="{0E861A12-FBD5-4375-9D5E-B3F3E3AAED11}"/>
                </a:ext>
              </a:extLst>
            </p:cNvPr>
            <p:cNvPicPr>
              <a:picLocks noChangeAspect="1"/>
            </p:cNvPicPr>
            <p:nvPr/>
          </p:nvPicPr>
          <p:blipFill>
            <a:blip r:embed="rId14"/>
            <a:stretch>
              <a:fillRect/>
            </a:stretch>
          </p:blipFill>
          <p:spPr>
            <a:xfrm>
              <a:off x="4860032" y="887872"/>
              <a:ext cx="760584" cy="570439"/>
            </a:xfrm>
            <a:prstGeom prst="rect">
              <a:avLst/>
            </a:prstGeom>
          </p:spPr>
        </p:pic>
        <p:pic>
          <p:nvPicPr>
            <p:cNvPr id="19" name="Grafik 18">
              <a:extLst>
                <a:ext uri="{FF2B5EF4-FFF2-40B4-BE49-F238E27FC236}">
                  <a16:creationId xmlns:a16="http://schemas.microsoft.com/office/drawing/2014/main" id="{DCA1A994-C935-43CE-93F8-29BFA8C45184}"/>
                </a:ext>
              </a:extLst>
            </p:cNvPr>
            <p:cNvPicPr>
              <a:picLocks noChangeAspect="1"/>
            </p:cNvPicPr>
            <p:nvPr/>
          </p:nvPicPr>
          <p:blipFill>
            <a:blip r:embed="rId15"/>
            <a:stretch>
              <a:fillRect/>
            </a:stretch>
          </p:blipFill>
          <p:spPr>
            <a:xfrm>
              <a:off x="7169217" y="1019689"/>
              <a:ext cx="804099" cy="307801"/>
            </a:xfrm>
            <a:prstGeom prst="rect">
              <a:avLst/>
            </a:prstGeom>
          </p:spPr>
        </p:pic>
        <p:pic>
          <p:nvPicPr>
            <p:cNvPr id="20" name="Grafik 19">
              <a:extLst>
                <a:ext uri="{FF2B5EF4-FFF2-40B4-BE49-F238E27FC236}">
                  <a16:creationId xmlns:a16="http://schemas.microsoft.com/office/drawing/2014/main" id="{DA807570-9906-45C3-9264-3AD85B5FD105}"/>
                </a:ext>
              </a:extLst>
            </p:cNvPr>
            <p:cNvPicPr>
              <a:picLocks noChangeAspect="1"/>
            </p:cNvPicPr>
            <p:nvPr/>
          </p:nvPicPr>
          <p:blipFill>
            <a:blip r:embed="rId16"/>
            <a:stretch>
              <a:fillRect/>
            </a:stretch>
          </p:blipFill>
          <p:spPr>
            <a:xfrm>
              <a:off x="8137160" y="991802"/>
              <a:ext cx="730419" cy="413904"/>
            </a:xfrm>
            <a:prstGeom prst="rect">
              <a:avLst/>
            </a:prstGeom>
          </p:spPr>
        </p:pic>
      </p:grpSp>
    </p:spTree>
    <p:extLst>
      <p:ext uri="{BB962C8B-B14F-4D97-AF65-F5344CB8AC3E}">
        <p14:creationId xmlns:p14="http://schemas.microsoft.com/office/powerpoint/2010/main" val="2573114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B0F27876-0E8D-43B0-9691-468005A1BF60}"/>
              </a:ext>
            </a:extLst>
          </p:cNvPr>
          <p:cNvSpPr>
            <a:spLocks noGrp="1"/>
          </p:cNvSpPr>
          <p:nvPr>
            <p:ph idx="1"/>
          </p:nvPr>
        </p:nvSpPr>
        <p:spPr/>
        <p:txBody>
          <a:bodyPr/>
          <a:lstStyle/>
          <a:p>
            <a:r>
              <a:rPr lang="en-US" sz="1400" b="1" dirty="0"/>
              <a:t>Data-driven marketing decision-making refers to measuring, managing, and analyzing marketing performance data to facilitate market planning, improve marketing effectiveness, and optimize return on investment (ROI)</a:t>
            </a:r>
            <a:r>
              <a:rPr lang="en-US" sz="1400" dirty="0"/>
              <a:t>. </a:t>
            </a:r>
          </a:p>
          <a:p>
            <a:r>
              <a:rPr lang="en-US" sz="1400" dirty="0"/>
              <a:t>It encompasses a range of methodologies, technologies, and tools that enable organizations to generate actionable insights from historical and real-time data. </a:t>
            </a:r>
          </a:p>
          <a:p>
            <a:r>
              <a:rPr lang="en-US" sz="1400" dirty="0"/>
              <a:t>By leveraging marketing analytics, firms can make data-driven decisions to refine their marketing strategies, allocate resources more efficiently, and achieve competitive advantages.</a:t>
            </a:r>
          </a:p>
          <a:p>
            <a:r>
              <a:rPr lang="en-US" sz="1400" dirty="0"/>
              <a:t>Marketing analytics is an invaluable tool for international businesses, offering many applications that inform and enhance decision-making processes. </a:t>
            </a:r>
            <a:r>
              <a:rPr lang="en-US" sz="1400" b="1" dirty="0"/>
              <a:t>From market entry strategies to customer engagement, from optimizing the marketing mix to risk management, analytics provides the empirical basis for developing and refining effective international marketing strategies. </a:t>
            </a:r>
          </a:p>
          <a:p>
            <a:r>
              <a:rPr lang="en-US" sz="1400" dirty="0"/>
              <a:t>Given international markets' complex and dynamic nature, a sophisticated approach to marketing analytics is beneficial and essential for success.</a:t>
            </a:r>
            <a:endParaRPr lang="en-US" dirty="0"/>
          </a:p>
        </p:txBody>
      </p:sp>
      <p:sp>
        <p:nvSpPr>
          <p:cNvPr id="4" name="Foliennummernplatzhalter 3">
            <a:extLst>
              <a:ext uri="{FF2B5EF4-FFF2-40B4-BE49-F238E27FC236}">
                <a16:creationId xmlns:a16="http://schemas.microsoft.com/office/drawing/2014/main" id="{70DC4096-E08D-4021-BFDC-EC177238DB99}"/>
              </a:ext>
            </a:extLst>
          </p:cNvPr>
          <p:cNvSpPr>
            <a:spLocks noGrp="1"/>
          </p:cNvSpPr>
          <p:nvPr>
            <p:ph type="sldNum" sz="quarter" idx="12"/>
          </p:nvPr>
        </p:nvSpPr>
        <p:spPr/>
        <p:txBody>
          <a:bodyPr/>
          <a:lstStyle/>
          <a:p>
            <a:r>
              <a:rPr lang="en-GB"/>
              <a:t>Page </a:t>
            </a:r>
            <a:fld id="{BE3DC40E-DBBE-4E2D-9EEC-FBF0DA0E9179}" type="slidenum">
              <a:rPr lang="en-GB" smtClean="0"/>
              <a:t>5</a:t>
            </a:fld>
            <a:endParaRPr lang="en-GB" dirty="0"/>
          </a:p>
        </p:txBody>
      </p:sp>
      <p:sp>
        <p:nvSpPr>
          <p:cNvPr id="5" name="Titel 4">
            <a:extLst>
              <a:ext uri="{FF2B5EF4-FFF2-40B4-BE49-F238E27FC236}">
                <a16:creationId xmlns:a16="http://schemas.microsoft.com/office/drawing/2014/main" id="{E5163618-1D5C-4424-B643-B02C38FBECA7}"/>
              </a:ext>
            </a:extLst>
          </p:cNvPr>
          <p:cNvSpPr>
            <a:spLocks noGrp="1"/>
          </p:cNvSpPr>
          <p:nvPr>
            <p:ph type="title"/>
          </p:nvPr>
        </p:nvSpPr>
        <p:spPr/>
        <p:txBody>
          <a:bodyPr/>
          <a:lstStyle/>
          <a:p>
            <a:r>
              <a:rPr lang="de-AT" dirty="0"/>
              <a:t>Module Content</a:t>
            </a:r>
            <a:endParaRPr lang="en-US" dirty="0"/>
          </a:p>
        </p:txBody>
      </p:sp>
    </p:spTree>
    <p:extLst>
      <p:ext uri="{BB962C8B-B14F-4D97-AF65-F5344CB8AC3E}">
        <p14:creationId xmlns:p14="http://schemas.microsoft.com/office/powerpoint/2010/main" val="209473398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D0BA0A37-CC8F-400A-A7D3-B782DB7B3055}"/>
              </a:ext>
            </a:extLst>
          </p:cNvPr>
          <p:cNvSpPr>
            <a:spLocks noGrp="1"/>
          </p:cNvSpPr>
          <p:nvPr>
            <p:ph idx="1"/>
          </p:nvPr>
        </p:nvSpPr>
        <p:spPr/>
        <p:txBody>
          <a:bodyPr>
            <a:normAutofit/>
          </a:bodyPr>
          <a:lstStyle/>
          <a:p>
            <a:pPr marL="0" indent="0" algn="just">
              <a:buNone/>
            </a:pPr>
            <a:r>
              <a:rPr lang="en-US" b="1" dirty="0"/>
              <a:t>This course covers the core issues companies face when entering international markets and how data-driven decision-making can help resolve these issues.</a:t>
            </a:r>
          </a:p>
          <a:p>
            <a:endParaRPr lang="en-US" dirty="0"/>
          </a:p>
          <a:p>
            <a:pPr marL="0" indent="0" algn="just">
              <a:buNone/>
            </a:pPr>
            <a:r>
              <a:rPr lang="en-US" dirty="0"/>
              <a:t>Typical questions which will be answered in this module include (but are not limited to):</a:t>
            </a:r>
          </a:p>
          <a:p>
            <a:endParaRPr lang="en-US" dirty="0"/>
          </a:p>
          <a:p>
            <a:pPr lvl="1"/>
            <a:r>
              <a:rPr lang="en-US" dirty="0"/>
              <a:t>How can I segment the 'right' customers?</a:t>
            </a:r>
          </a:p>
          <a:p>
            <a:pPr lvl="1"/>
            <a:r>
              <a:rPr lang="en-US" dirty="0"/>
              <a:t>How can I forecast sales?</a:t>
            </a:r>
          </a:p>
          <a:p>
            <a:pPr lvl="1"/>
            <a:r>
              <a:rPr lang="en-US" dirty="0"/>
              <a:t>How do I set the price in foreign markets? How can I measure the willingness to pay?</a:t>
            </a:r>
          </a:p>
          <a:p>
            <a:pPr lvl="1"/>
            <a:r>
              <a:rPr lang="en-US" dirty="0"/>
              <a:t>How can I measure brand value or brand equity in foreign markets?</a:t>
            </a:r>
          </a:p>
          <a:p>
            <a:pPr lvl="1"/>
            <a:r>
              <a:rPr lang="en-US" dirty="0"/>
              <a:t>How can I develop an effective promotional campaign?</a:t>
            </a:r>
            <a:endParaRPr lang="de-DE" dirty="0"/>
          </a:p>
        </p:txBody>
      </p:sp>
      <p:sp>
        <p:nvSpPr>
          <p:cNvPr id="4" name="Foliennummernplatzhalter 3">
            <a:extLst>
              <a:ext uri="{FF2B5EF4-FFF2-40B4-BE49-F238E27FC236}">
                <a16:creationId xmlns:a16="http://schemas.microsoft.com/office/drawing/2014/main" id="{10C1B17A-0919-F2CC-2705-062AD0C1D106}"/>
              </a:ext>
            </a:extLst>
          </p:cNvPr>
          <p:cNvSpPr>
            <a:spLocks noGrp="1"/>
          </p:cNvSpPr>
          <p:nvPr>
            <p:ph type="sldNum" sz="quarter" idx="12"/>
          </p:nvPr>
        </p:nvSpPr>
        <p:spPr/>
        <p:txBody>
          <a:bodyPr/>
          <a:lstStyle/>
          <a:p>
            <a:r>
              <a:rPr lang="en-GB"/>
              <a:t>Page </a:t>
            </a:r>
            <a:fld id="{BE3DC40E-DBBE-4E2D-9EEC-FBF0DA0E9179}" type="slidenum">
              <a:rPr lang="en-GB" smtClean="0"/>
              <a:t>6</a:t>
            </a:fld>
            <a:endParaRPr lang="en-GB" dirty="0"/>
          </a:p>
        </p:txBody>
      </p:sp>
      <p:sp>
        <p:nvSpPr>
          <p:cNvPr id="5" name="Titel 4">
            <a:extLst>
              <a:ext uri="{FF2B5EF4-FFF2-40B4-BE49-F238E27FC236}">
                <a16:creationId xmlns:a16="http://schemas.microsoft.com/office/drawing/2014/main" id="{3964D1D2-2B73-E81A-EC6B-AA454055BBE8}"/>
              </a:ext>
            </a:extLst>
          </p:cNvPr>
          <p:cNvSpPr>
            <a:spLocks noGrp="1"/>
          </p:cNvSpPr>
          <p:nvPr>
            <p:ph type="title"/>
          </p:nvPr>
        </p:nvSpPr>
        <p:spPr/>
        <p:txBody>
          <a:bodyPr/>
          <a:lstStyle/>
          <a:p>
            <a:r>
              <a:rPr lang="de-DE" dirty="0"/>
              <a:t>Module Content (</a:t>
            </a:r>
            <a:r>
              <a:rPr lang="de-DE" dirty="0" err="1"/>
              <a:t>continued</a:t>
            </a:r>
            <a:r>
              <a:rPr lang="de-DE" dirty="0"/>
              <a:t>)</a:t>
            </a:r>
          </a:p>
        </p:txBody>
      </p:sp>
    </p:spTree>
    <p:extLst>
      <p:ext uri="{BB962C8B-B14F-4D97-AF65-F5344CB8AC3E}">
        <p14:creationId xmlns:p14="http://schemas.microsoft.com/office/powerpoint/2010/main" val="111057818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B0F27876-0E8D-43B0-9691-468005A1BF60}"/>
              </a:ext>
            </a:extLst>
          </p:cNvPr>
          <p:cNvSpPr>
            <a:spLocks noGrp="1"/>
          </p:cNvSpPr>
          <p:nvPr>
            <p:ph idx="1"/>
          </p:nvPr>
        </p:nvSpPr>
        <p:spPr/>
        <p:txBody>
          <a:bodyPr>
            <a:normAutofit fontScale="77500" lnSpcReduction="20000"/>
          </a:bodyPr>
          <a:lstStyle/>
          <a:p>
            <a:pPr marL="0" indent="0">
              <a:buNone/>
            </a:pPr>
            <a:r>
              <a:rPr lang="en-US" dirty="0"/>
              <a:t>On successful completion of this module, students will be able to:</a:t>
            </a:r>
          </a:p>
          <a:p>
            <a:endParaRPr lang="en-US" dirty="0"/>
          </a:p>
          <a:p>
            <a:pPr marL="342900" indent="-342900">
              <a:buFont typeface="+mj-lt"/>
              <a:buAutoNum type="arabicPeriod"/>
            </a:pPr>
            <a:r>
              <a:rPr lang="en-US" b="1" dirty="0"/>
              <a:t>Understand Marketing Analytics Fundamentals</a:t>
            </a:r>
            <a:r>
              <a:rPr lang="en-US" dirty="0"/>
              <a:t>: Gain a foundational understanding of marketing analytics concepts, tools, and methodologies, specifically in an international context.</a:t>
            </a:r>
          </a:p>
          <a:p>
            <a:pPr marL="342900" indent="-342900">
              <a:buFont typeface="+mj-lt"/>
              <a:buAutoNum type="arabicPeriod"/>
            </a:pPr>
            <a:endParaRPr lang="en-US" dirty="0"/>
          </a:p>
          <a:p>
            <a:pPr marL="342900" indent="-342900">
              <a:buFont typeface="+mj-lt"/>
              <a:buAutoNum type="arabicPeriod"/>
            </a:pPr>
            <a:r>
              <a:rPr lang="en-US" b="1" dirty="0"/>
              <a:t>Comprehend Data Types and Sources</a:t>
            </a:r>
            <a:r>
              <a:rPr lang="en-US" dirty="0"/>
              <a:t>: Understand various types of data relevant to international marketing, such as customer data, transactional data, social media metrics</a:t>
            </a:r>
          </a:p>
          <a:p>
            <a:pPr marL="342900" indent="-342900">
              <a:buFont typeface="+mj-lt"/>
              <a:buAutoNum type="arabicPeriod"/>
            </a:pPr>
            <a:endParaRPr lang="en-US" dirty="0"/>
          </a:p>
          <a:p>
            <a:pPr marL="342900" indent="-342900">
              <a:buFont typeface="+mj-lt"/>
              <a:buAutoNum type="arabicPeriod"/>
            </a:pPr>
            <a:r>
              <a:rPr lang="en-US" b="1" dirty="0"/>
              <a:t>Master Data Import and Export</a:t>
            </a:r>
            <a:r>
              <a:rPr lang="en-US" dirty="0"/>
              <a:t>: Learn to import and export data using R from various sources like spreadsheets, databases, and APIs.</a:t>
            </a:r>
          </a:p>
          <a:p>
            <a:pPr marL="342900" indent="-342900">
              <a:buFont typeface="+mj-lt"/>
              <a:buAutoNum type="arabicPeriod"/>
            </a:pPr>
            <a:endParaRPr lang="en-US" dirty="0"/>
          </a:p>
          <a:p>
            <a:pPr marL="342900" indent="-342900">
              <a:buFont typeface="+mj-lt"/>
              <a:buAutoNum type="arabicPeriod"/>
            </a:pPr>
            <a:r>
              <a:rPr lang="en-US" b="1" dirty="0"/>
              <a:t>Develop Data Cleaning Skill</a:t>
            </a:r>
            <a:r>
              <a:rPr lang="en-US" dirty="0"/>
              <a:t>s: Acquire skills in data cleaning, transformation, and preparation using R packages like </a:t>
            </a:r>
            <a:r>
              <a:rPr lang="en-US" dirty="0" err="1"/>
              <a:t>dplyr</a:t>
            </a:r>
            <a:r>
              <a:rPr lang="en-US" dirty="0"/>
              <a:t> and </a:t>
            </a:r>
            <a:r>
              <a:rPr lang="en-US" dirty="0" err="1"/>
              <a:t>tidyr</a:t>
            </a:r>
            <a:r>
              <a:rPr lang="en-US" dirty="0"/>
              <a:t>.</a:t>
            </a:r>
          </a:p>
          <a:p>
            <a:pPr marL="342900" indent="-342900">
              <a:buFont typeface="+mj-lt"/>
              <a:buAutoNum type="arabicPeriod"/>
            </a:pPr>
            <a:endParaRPr lang="en-US" dirty="0"/>
          </a:p>
          <a:p>
            <a:pPr marL="342900" indent="-342900">
              <a:buFont typeface="+mj-lt"/>
              <a:buAutoNum type="arabicPeriod"/>
            </a:pPr>
            <a:r>
              <a:rPr lang="en-US" b="1" dirty="0"/>
              <a:t>Perform Exploratory Data Analysis (EDA)</a:t>
            </a:r>
            <a:r>
              <a:rPr lang="en-US" dirty="0"/>
              <a:t>: Become proficient in conducting EDA to summarize and visualize data, using packages such as ggplot2.</a:t>
            </a:r>
          </a:p>
          <a:p>
            <a:pPr marL="342900" indent="-342900">
              <a:buFont typeface="+mj-lt"/>
              <a:buAutoNum type="arabicPeriod"/>
            </a:pPr>
            <a:endParaRPr lang="en-US" dirty="0"/>
          </a:p>
          <a:p>
            <a:pPr marL="342900" indent="-342900">
              <a:buFont typeface="+mj-lt"/>
              <a:buAutoNum type="arabicPeriod"/>
            </a:pPr>
            <a:r>
              <a:rPr lang="en-US" b="1" dirty="0"/>
              <a:t>Conduct Customer Segmentation</a:t>
            </a:r>
            <a:r>
              <a:rPr lang="en-US" dirty="0"/>
              <a:t>: Learn to apply clustering algorithms and RFM analysis to segment international customers.</a:t>
            </a:r>
          </a:p>
        </p:txBody>
      </p:sp>
      <p:sp>
        <p:nvSpPr>
          <p:cNvPr id="4" name="Foliennummernplatzhalter 3">
            <a:extLst>
              <a:ext uri="{FF2B5EF4-FFF2-40B4-BE49-F238E27FC236}">
                <a16:creationId xmlns:a16="http://schemas.microsoft.com/office/drawing/2014/main" id="{70DC4096-E08D-4021-BFDC-EC177238DB99}"/>
              </a:ext>
            </a:extLst>
          </p:cNvPr>
          <p:cNvSpPr>
            <a:spLocks noGrp="1"/>
          </p:cNvSpPr>
          <p:nvPr>
            <p:ph type="sldNum" sz="quarter" idx="12"/>
          </p:nvPr>
        </p:nvSpPr>
        <p:spPr/>
        <p:txBody>
          <a:bodyPr/>
          <a:lstStyle/>
          <a:p>
            <a:r>
              <a:rPr lang="en-GB"/>
              <a:t>Page </a:t>
            </a:r>
            <a:fld id="{BE3DC40E-DBBE-4E2D-9EEC-FBF0DA0E9179}" type="slidenum">
              <a:rPr lang="en-GB" smtClean="0"/>
              <a:t>7</a:t>
            </a:fld>
            <a:endParaRPr lang="en-GB" dirty="0"/>
          </a:p>
        </p:txBody>
      </p:sp>
      <p:sp>
        <p:nvSpPr>
          <p:cNvPr id="5" name="Titel 4">
            <a:extLst>
              <a:ext uri="{FF2B5EF4-FFF2-40B4-BE49-F238E27FC236}">
                <a16:creationId xmlns:a16="http://schemas.microsoft.com/office/drawing/2014/main" id="{E5163618-1D5C-4424-B643-B02C38FBECA7}"/>
              </a:ext>
            </a:extLst>
          </p:cNvPr>
          <p:cNvSpPr>
            <a:spLocks noGrp="1"/>
          </p:cNvSpPr>
          <p:nvPr>
            <p:ph type="title"/>
          </p:nvPr>
        </p:nvSpPr>
        <p:spPr/>
        <p:txBody>
          <a:bodyPr/>
          <a:lstStyle/>
          <a:p>
            <a:r>
              <a:rPr lang="de-AT" dirty="0"/>
              <a:t>Learning Outcomes</a:t>
            </a:r>
            <a:endParaRPr lang="en-US" dirty="0"/>
          </a:p>
        </p:txBody>
      </p:sp>
    </p:spTree>
    <p:extLst>
      <p:ext uri="{BB962C8B-B14F-4D97-AF65-F5344CB8AC3E}">
        <p14:creationId xmlns:p14="http://schemas.microsoft.com/office/powerpoint/2010/main" val="109770817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833144BC-EBE0-38A4-B557-E92ADF8BC262}"/>
              </a:ext>
            </a:extLst>
          </p:cNvPr>
          <p:cNvSpPr>
            <a:spLocks noGrp="1"/>
          </p:cNvSpPr>
          <p:nvPr>
            <p:ph idx="1"/>
          </p:nvPr>
        </p:nvSpPr>
        <p:spPr/>
        <p:txBody>
          <a:bodyPr>
            <a:normAutofit fontScale="77500" lnSpcReduction="20000"/>
          </a:bodyPr>
          <a:lstStyle/>
          <a:p>
            <a:pPr marL="342900" indent="-342900">
              <a:buFont typeface="+mj-lt"/>
              <a:buAutoNum type="arabicPeriod" startAt="7"/>
            </a:pPr>
            <a:r>
              <a:rPr lang="en-US" b="1" dirty="0"/>
              <a:t>Execute Predictive Modeling</a:t>
            </a:r>
            <a:r>
              <a:rPr lang="en-US" dirty="0"/>
              <a:t>: Gain expertise in implementing predictive models like logistic regression, decision trees, and machine learning algorithms for applications like churn prediction and sales forecasting.</a:t>
            </a:r>
          </a:p>
          <a:p>
            <a:pPr marL="342900" indent="-342900">
              <a:buFont typeface="+mj-lt"/>
              <a:buAutoNum type="arabicPeriod" startAt="7"/>
            </a:pPr>
            <a:endParaRPr lang="en-US" dirty="0"/>
          </a:p>
          <a:p>
            <a:pPr marL="342900" indent="-342900">
              <a:buFont typeface="+mj-lt"/>
              <a:buAutoNum type="arabicPeriod" startAt="7"/>
            </a:pPr>
            <a:r>
              <a:rPr lang="en-US" b="1" dirty="0"/>
              <a:t>Optimize Marketing Mix</a:t>
            </a:r>
            <a:r>
              <a:rPr lang="en-US" dirty="0"/>
              <a:t>: Acquire the ability to use regression analysis and attribution modeling to evaluate and optimize the marketing mix in international markets.</a:t>
            </a:r>
          </a:p>
          <a:p>
            <a:pPr marL="342900" indent="-342900">
              <a:buFont typeface="+mj-lt"/>
              <a:buAutoNum type="arabicPeriod" startAt="7"/>
            </a:pPr>
            <a:endParaRPr lang="en-US" dirty="0"/>
          </a:p>
          <a:p>
            <a:pPr marL="342900" indent="-342900">
              <a:buFont typeface="+mj-lt"/>
              <a:buAutoNum type="arabicPeriod" startAt="7"/>
            </a:pPr>
            <a:r>
              <a:rPr lang="en-US" b="1" dirty="0"/>
              <a:t>Develop Hypothesis Testing Capabilities</a:t>
            </a:r>
            <a:r>
              <a:rPr lang="en-US" dirty="0"/>
              <a:t>: Learn to conduct statistical hypothesis testing, including A/B testing, to validate marketing strategies.</a:t>
            </a:r>
          </a:p>
          <a:p>
            <a:pPr marL="342900" indent="-342900">
              <a:buFont typeface="+mj-lt"/>
              <a:buAutoNum type="arabicPeriod" startAt="7"/>
            </a:pPr>
            <a:endParaRPr lang="en-US" dirty="0"/>
          </a:p>
          <a:p>
            <a:pPr marL="342900" indent="-342900">
              <a:buFont typeface="+mj-lt"/>
              <a:buAutoNum type="arabicPeriod" startAt="7"/>
            </a:pPr>
            <a:r>
              <a:rPr lang="en-US" b="1" dirty="0"/>
              <a:t>Enhance Communication Skills</a:t>
            </a:r>
            <a:r>
              <a:rPr lang="en-US" dirty="0"/>
              <a:t>: Improve the ability to communicate analytical findings effectively to both technical and non-technical audiences through presentations and reports.</a:t>
            </a:r>
          </a:p>
          <a:p>
            <a:pPr marL="342900" indent="-342900">
              <a:buFont typeface="+mj-lt"/>
              <a:buAutoNum type="arabicPeriod" startAt="7"/>
            </a:pPr>
            <a:endParaRPr lang="en-US" dirty="0"/>
          </a:p>
          <a:p>
            <a:pPr marL="342900" indent="-342900">
              <a:buFont typeface="+mj-lt"/>
              <a:buAutoNum type="arabicPeriod" startAt="7"/>
            </a:pPr>
            <a:r>
              <a:rPr lang="en-US" b="1" dirty="0"/>
              <a:t>Cultivate Teamwork</a:t>
            </a:r>
            <a:r>
              <a:rPr lang="en-US" dirty="0"/>
              <a:t>: Gain experience in collaborative work, especially in interpreting data and making collective data-driven decisions.</a:t>
            </a:r>
          </a:p>
          <a:p>
            <a:pPr marL="342900" indent="-342900">
              <a:buFont typeface="+mj-lt"/>
              <a:buAutoNum type="arabicPeriod" startAt="7"/>
            </a:pPr>
            <a:endParaRPr lang="en-US" dirty="0"/>
          </a:p>
          <a:p>
            <a:pPr marL="342900" indent="-342900">
              <a:buFont typeface="+mj-lt"/>
              <a:buAutoNum type="arabicPeriod" startAt="7"/>
            </a:pPr>
            <a:r>
              <a:rPr lang="en-US" b="1" dirty="0"/>
              <a:t>Foster Critical Thinking</a:t>
            </a:r>
            <a:r>
              <a:rPr lang="en-US" dirty="0"/>
              <a:t>: Develop the ability to critically evaluate data sources, analytical methods, and findings, particularly in the context of international marketing challenges.</a:t>
            </a:r>
            <a:endParaRPr lang="de-DE" dirty="0"/>
          </a:p>
        </p:txBody>
      </p:sp>
      <p:sp>
        <p:nvSpPr>
          <p:cNvPr id="4" name="Foliennummernplatzhalter 3">
            <a:extLst>
              <a:ext uri="{FF2B5EF4-FFF2-40B4-BE49-F238E27FC236}">
                <a16:creationId xmlns:a16="http://schemas.microsoft.com/office/drawing/2014/main" id="{E145A79B-8943-B3DB-E4BB-C2E3A90AAA59}"/>
              </a:ext>
            </a:extLst>
          </p:cNvPr>
          <p:cNvSpPr>
            <a:spLocks noGrp="1"/>
          </p:cNvSpPr>
          <p:nvPr>
            <p:ph type="sldNum" sz="quarter" idx="12"/>
          </p:nvPr>
        </p:nvSpPr>
        <p:spPr/>
        <p:txBody>
          <a:bodyPr/>
          <a:lstStyle/>
          <a:p>
            <a:r>
              <a:rPr lang="en-GB"/>
              <a:t>Page </a:t>
            </a:r>
            <a:fld id="{BE3DC40E-DBBE-4E2D-9EEC-FBF0DA0E9179}" type="slidenum">
              <a:rPr lang="en-GB" smtClean="0"/>
              <a:t>8</a:t>
            </a:fld>
            <a:endParaRPr lang="en-GB" dirty="0"/>
          </a:p>
        </p:txBody>
      </p:sp>
      <p:sp>
        <p:nvSpPr>
          <p:cNvPr id="5" name="Titel 4">
            <a:extLst>
              <a:ext uri="{FF2B5EF4-FFF2-40B4-BE49-F238E27FC236}">
                <a16:creationId xmlns:a16="http://schemas.microsoft.com/office/drawing/2014/main" id="{3E66CD9D-68E7-99A7-0281-1FCEA7C7AD82}"/>
              </a:ext>
            </a:extLst>
          </p:cNvPr>
          <p:cNvSpPr>
            <a:spLocks noGrp="1"/>
          </p:cNvSpPr>
          <p:nvPr>
            <p:ph type="title"/>
          </p:nvPr>
        </p:nvSpPr>
        <p:spPr/>
        <p:txBody>
          <a:bodyPr/>
          <a:lstStyle/>
          <a:p>
            <a:r>
              <a:rPr lang="de-DE" dirty="0"/>
              <a:t>Learning Outcomes (</a:t>
            </a:r>
            <a:r>
              <a:rPr lang="de-DE" dirty="0" err="1"/>
              <a:t>continued</a:t>
            </a:r>
            <a:r>
              <a:rPr lang="de-DE" dirty="0"/>
              <a:t>)</a:t>
            </a:r>
          </a:p>
        </p:txBody>
      </p:sp>
    </p:spTree>
    <p:extLst>
      <p:ext uri="{BB962C8B-B14F-4D97-AF65-F5344CB8AC3E}">
        <p14:creationId xmlns:p14="http://schemas.microsoft.com/office/powerpoint/2010/main" val="216637370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B0F27876-0E8D-43B0-9691-468005A1BF60}"/>
              </a:ext>
            </a:extLst>
          </p:cNvPr>
          <p:cNvSpPr>
            <a:spLocks noGrp="1"/>
          </p:cNvSpPr>
          <p:nvPr>
            <p:ph idx="1"/>
          </p:nvPr>
        </p:nvSpPr>
        <p:spPr/>
        <p:txBody>
          <a:bodyPr>
            <a:normAutofit fontScale="77500" lnSpcReduction="20000"/>
          </a:bodyPr>
          <a:lstStyle/>
          <a:p>
            <a:r>
              <a:rPr lang="en-US" dirty="0"/>
              <a:t>The core delivery method involves a </a:t>
            </a:r>
            <a:r>
              <a:rPr lang="en-US" b="1" dirty="0"/>
              <a:t>blended learning approach</a:t>
            </a:r>
            <a:r>
              <a:rPr lang="en-US" dirty="0"/>
              <a:t>. </a:t>
            </a:r>
          </a:p>
          <a:p>
            <a:endParaRPr lang="en-US" dirty="0"/>
          </a:p>
          <a:p>
            <a:pPr lvl="1"/>
            <a:r>
              <a:rPr lang="en-US" dirty="0"/>
              <a:t>Blended learning is an educational approach that combines online learning with traditional classroom methods. </a:t>
            </a:r>
          </a:p>
          <a:p>
            <a:pPr lvl="1"/>
            <a:endParaRPr lang="en-US" dirty="0"/>
          </a:p>
          <a:p>
            <a:pPr lvl="1"/>
            <a:r>
              <a:rPr lang="en-US" b="1" dirty="0"/>
              <a:t>It means that students learn both in person and online, using digital resources and interacting with their teachers and peers</a:t>
            </a:r>
            <a:r>
              <a:rPr lang="en-US" dirty="0"/>
              <a:t>. </a:t>
            </a:r>
          </a:p>
          <a:p>
            <a:pPr lvl="1"/>
            <a:endParaRPr lang="en-US" dirty="0"/>
          </a:p>
          <a:p>
            <a:pPr lvl="1"/>
            <a:r>
              <a:rPr lang="en-US" dirty="0"/>
              <a:t>This approach allows for flexibility in terms of time, place, and pace of learning. It has been found to be effective in improving student achievement compared to fully online or fully face-to-face learning.</a:t>
            </a:r>
          </a:p>
          <a:p>
            <a:endParaRPr lang="en-US" dirty="0"/>
          </a:p>
          <a:p>
            <a:r>
              <a:rPr lang="en-US" b="1" dirty="0"/>
              <a:t>It is highly recommended to read the relevant book chapters and other sources in advance.</a:t>
            </a:r>
          </a:p>
          <a:p>
            <a:endParaRPr lang="en-US" dirty="0"/>
          </a:p>
          <a:p>
            <a:r>
              <a:rPr lang="en-US" dirty="0"/>
              <a:t>Examples and case studies will be used to increase the quality of the learning experience.</a:t>
            </a:r>
          </a:p>
          <a:p>
            <a:endParaRPr lang="en-US" dirty="0"/>
          </a:p>
          <a:p>
            <a:r>
              <a:rPr lang="en-US" dirty="0"/>
              <a:t>Q&amp;A forums will be set up to facilitate the discussion of various topics.</a:t>
            </a:r>
          </a:p>
        </p:txBody>
      </p:sp>
      <p:sp>
        <p:nvSpPr>
          <p:cNvPr id="4" name="Foliennummernplatzhalter 3">
            <a:extLst>
              <a:ext uri="{FF2B5EF4-FFF2-40B4-BE49-F238E27FC236}">
                <a16:creationId xmlns:a16="http://schemas.microsoft.com/office/drawing/2014/main" id="{70DC4096-E08D-4021-BFDC-EC177238DB99}"/>
              </a:ext>
            </a:extLst>
          </p:cNvPr>
          <p:cNvSpPr>
            <a:spLocks noGrp="1"/>
          </p:cNvSpPr>
          <p:nvPr>
            <p:ph type="sldNum" sz="quarter" idx="12"/>
          </p:nvPr>
        </p:nvSpPr>
        <p:spPr/>
        <p:txBody>
          <a:bodyPr/>
          <a:lstStyle/>
          <a:p>
            <a:r>
              <a:rPr lang="en-GB"/>
              <a:t>Page </a:t>
            </a:r>
            <a:fld id="{BE3DC40E-DBBE-4E2D-9EEC-FBF0DA0E9179}" type="slidenum">
              <a:rPr lang="en-GB" smtClean="0"/>
              <a:t>9</a:t>
            </a:fld>
            <a:endParaRPr lang="en-GB" dirty="0"/>
          </a:p>
        </p:txBody>
      </p:sp>
      <p:sp>
        <p:nvSpPr>
          <p:cNvPr id="5" name="Titel 4">
            <a:extLst>
              <a:ext uri="{FF2B5EF4-FFF2-40B4-BE49-F238E27FC236}">
                <a16:creationId xmlns:a16="http://schemas.microsoft.com/office/drawing/2014/main" id="{E5163618-1D5C-4424-B643-B02C38FBECA7}"/>
              </a:ext>
            </a:extLst>
          </p:cNvPr>
          <p:cNvSpPr>
            <a:spLocks noGrp="1"/>
          </p:cNvSpPr>
          <p:nvPr>
            <p:ph type="title"/>
          </p:nvPr>
        </p:nvSpPr>
        <p:spPr/>
        <p:txBody>
          <a:bodyPr/>
          <a:lstStyle/>
          <a:p>
            <a:r>
              <a:rPr lang="de-AT" dirty="0"/>
              <a:t>Methods of Teaching &amp; Learning</a:t>
            </a:r>
            <a:endParaRPr lang="en-US" dirty="0"/>
          </a:p>
        </p:txBody>
      </p:sp>
    </p:spTree>
    <p:extLst>
      <p:ext uri="{BB962C8B-B14F-4D97-AF65-F5344CB8AC3E}">
        <p14:creationId xmlns:p14="http://schemas.microsoft.com/office/powerpoint/2010/main" val="103515336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E5163618-1D5C-4424-B643-B02C38FBECA7}"/>
              </a:ext>
            </a:extLst>
          </p:cNvPr>
          <p:cNvSpPr>
            <a:spLocks noGrp="1"/>
          </p:cNvSpPr>
          <p:nvPr>
            <p:ph type="title"/>
          </p:nvPr>
        </p:nvSpPr>
        <p:spPr/>
        <p:txBody>
          <a:bodyPr/>
          <a:lstStyle/>
          <a:p>
            <a:r>
              <a:rPr lang="de-AT" dirty="0"/>
              <a:t>Module Roadmap</a:t>
            </a:r>
            <a:endParaRPr lang="en-US" dirty="0"/>
          </a:p>
        </p:txBody>
      </p:sp>
      <p:sp>
        <p:nvSpPr>
          <p:cNvPr id="4" name="Foliennummernplatzhalter 3">
            <a:extLst>
              <a:ext uri="{FF2B5EF4-FFF2-40B4-BE49-F238E27FC236}">
                <a16:creationId xmlns:a16="http://schemas.microsoft.com/office/drawing/2014/main" id="{70DC4096-E08D-4021-BFDC-EC177238DB99}"/>
              </a:ext>
            </a:extLst>
          </p:cNvPr>
          <p:cNvSpPr>
            <a:spLocks noGrp="1"/>
          </p:cNvSpPr>
          <p:nvPr>
            <p:ph type="sldNum" sz="quarter" idx="4294967295"/>
          </p:nvPr>
        </p:nvSpPr>
        <p:spPr>
          <a:xfrm>
            <a:off x="0" y="5411788"/>
            <a:ext cx="892175" cy="258762"/>
          </a:xfrm>
        </p:spPr>
        <p:txBody>
          <a:bodyPr/>
          <a:lstStyle/>
          <a:p>
            <a:r>
              <a:rPr lang="en-GB"/>
              <a:t>Page </a:t>
            </a:r>
            <a:fld id="{BE3DC40E-DBBE-4E2D-9EEC-FBF0DA0E9179}" type="slidenum">
              <a:rPr lang="en-GB" smtClean="0"/>
              <a:t>10</a:t>
            </a:fld>
            <a:endParaRPr lang="en-GB" dirty="0"/>
          </a:p>
        </p:txBody>
      </p:sp>
      <p:graphicFrame>
        <p:nvGraphicFramePr>
          <p:cNvPr id="14" name="Tabelle 14">
            <a:extLst>
              <a:ext uri="{FF2B5EF4-FFF2-40B4-BE49-F238E27FC236}">
                <a16:creationId xmlns:a16="http://schemas.microsoft.com/office/drawing/2014/main" id="{2BFE96B4-4705-2201-83DA-D566840494C2}"/>
              </a:ext>
            </a:extLst>
          </p:cNvPr>
          <p:cNvGraphicFramePr>
            <a:graphicFrameLocks noGrp="1"/>
          </p:cNvGraphicFramePr>
          <p:nvPr>
            <p:ph sz="quarter" idx="10"/>
            <p:extLst>
              <p:ext uri="{D42A27DB-BD31-4B8C-83A1-F6EECF244321}">
                <p14:modId xmlns:p14="http://schemas.microsoft.com/office/powerpoint/2010/main" val="3972564041"/>
              </p:ext>
            </p:extLst>
          </p:nvPr>
        </p:nvGraphicFramePr>
        <p:xfrm>
          <a:off x="347783" y="1339669"/>
          <a:ext cx="8487933" cy="2621280"/>
        </p:xfrm>
        <a:graphic>
          <a:graphicData uri="http://schemas.openxmlformats.org/drawingml/2006/table">
            <a:tbl>
              <a:tblPr firstRow="1" bandRow="1">
                <a:tableStyleId>{5C22544A-7EE6-4342-B048-85BDC9FD1C3A}</a:tableStyleId>
              </a:tblPr>
              <a:tblGrid>
                <a:gridCol w="948052">
                  <a:extLst>
                    <a:ext uri="{9D8B030D-6E8A-4147-A177-3AD203B41FA5}">
                      <a16:colId xmlns:a16="http://schemas.microsoft.com/office/drawing/2014/main" val="352694566"/>
                    </a:ext>
                  </a:extLst>
                </a:gridCol>
                <a:gridCol w="3265715">
                  <a:extLst>
                    <a:ext uri="{9D8B030D-6E8A-4147-A177-3AD203B41FA5}">
                      <a16:colId xmlns:a16="http://schemas.microsoft.com/office/drawing/2014/main" val="1606751792"/>
                    </a:ext>
                  </a:extLst>
                </a:gridCol>
                <a:gridCol w="3359767">
                  <a:extLst>
                    <a:ext uri="{9D8B030D-6E8A-4147-A177-3AD203B41FA5}">
                      <a16:colId xmlns:a16="http://schemas.microsoft.com/office/drawing/2014/main" val="3942061415"/>
                    </a:ext>
                  </a:extLst>
                </a:gridCol>
                <a:gridCol w="914399">
                  <a:extLst>
                    <a:ext uri="{9D8B030D-6E8A-4147-A177-3AD203B41FA5}">
                      <a16:colId xmlns:a16="http://schemas.microsoft.com/office/drawing/2014/main" val="3269990737"/>
                    </a:ext>
                  </a:extLst>
                </a:gridCol>
              </a:tblGrid>
              <a:tr h="370840">
                <a:tc>
                  <a:txBody>
                    <a:bodyPr/>
                    <a:lstStyle/>
                    <a:p>
                      <a:pPr algn="ctr"/>
                      <a:r>
                        <a:rPr lang="de-AT" sz="1200" dirty="0"/>
                        <a:t>Session</a:t>
                      </a:r>
                    </a:p>
                  </a:txBody>
                  <a:tcPr anchor="ctr"/>
                </a:tc>
                <a:tc>
                  <a:txBody>
                    <a:bodyPr/>
                    <a:lstStyle/>
                    <a:p>
                      <a:pPr algn="ctr"/>
                      <a:r>
                        <a:rPr lang="de-AT" sz="1200" dirty="0"/>
                        <a:t>Topic</a:t>
                      </a:r>
                    </a:p>
                  </a:txBody>
                  <a:tcPr anchor="ctr"/>
                </a:tc>
                <a:tc>
                  <a:txBody>
                    <a:bodyPr/>
                    <a:lstStyle/>
                    <a:p>
                      <a:pPr algn="ctr"/>
                      <a:r>
                        <a:rPr lang="de-AT" sz="1200" dirty="0"/>
                        <a:t>Methods</a:t>
                      </a:r>
                    </a:p>
                  </a:txBody>
                  <a:tcPr anchor="ctr"/>
                </a:tc>
                <a:tc>
                  <a:txBody>
                    <a:bodyPr/>
                    <a:lstStyle/>
                    <a:p>
                      <a:pPr algn="ctr"/>
                      <a:r>
                        <a:rPr lang="de-AT" sz="1200" dirty="0"/>
                        <a:t>Chapter</a:t>
                      </a:r>
                    </a:p>
                  </a:txBody>
                  <a:tcPr anchor="ctr"/>
                </a:tc>
                <a:extLst>
                  <a:ext uri="{0D108BD9-81ED-4DB2-BD59-A6C34878D82A}">
                    <a16:rowId xmlns:a16="http://schemas.microsoft.com/office/drawing/2014/main" val="1070206020"/>
                  </a:ext>
                </a:extLst>
              </a:tr>
              <a:tr h="370840">
                <a:tc>
                  <a:txBody>
                    <a:bodyPr/>
                    <a:lstStyle/>
                    <a:p>
                      <a:pPr algn="ctr"/>
                      <a:r>
                        <a:rPr lang="de-AT" sz="1000" dirty="0"/>
                        <a:t>1</a:t>
                      </a:r>
                    </a:p>
                  </a:txBody>
                  <a:tcPr anchor="ctr"/>
                </a:tc>
                <a:tc>
                  <a:txBody>
                    <a:bodyPr/>
                    <a:lstStyle/>
                    <a:p>
                      <a:r>
                        <a:rPr lang="de-AT" sz="1000" dirty="0"/>
                        <a:t>Course Content &amp; Style, </a:t>
                      </a:r>
                      <a:r>
                        <a:rPr lang="de-AT" sz="1000" dirty="0" err="1"/>
                        <a:t>Introduction</a:t>
                      </a:r>
                      <a:r>
                        <a:rPr lang="de-AT" sz="1000" dirty="0"/>
                        <a:t> </a:t>
                      </a:r>
                      <a:r>
                        <a:rPr lang="de-AT" sz="1000" dirty="0" err="1"/>
                        <a:t>to</a:t>
                      </a:r>
                      <a:r>
                        <a:rPr lang="de-AT" sz="1000" dirty="0"/>
                        <a:t> Marketing Analytics, R and R Studio</a:t>
                      </a:r>
                    </a:p>
                  </a:txBody>
                  <a:tcPr anchor="ctr"/>
                </a:tc>
                <a:tc>
                  <a:txBody>
                    <a:bodyPr/>
                    <a:lstStyle/>
                    <a:p>
                      <a:pPr algn="l"/>
                      <a:r>
                        <a:rPr lang="de-AT" sz="1000" kern="1200" dirty="0" err="1">
                          <a:solidFill>
                            <a:schemeClr val="dk1"/>
                          </a:solidFill>
                          <a:latin typeface="+mn-lt"/>
                          <a:ea typeface="+mn-ea"/>
                          <a:cs typeface="+mn-cs"/>
                        </a:rPr>
                        <a:t>Descriptive</a:t>
                      </a:r>
                      <a:r>
                        <a:rPr lang="de-AT" sz="1000" kern="1200" dirty="0">
                          <a:solidFill>
                            <a:schemeClr val="dk1"/>
                          </a:solidFill>
                          <a:latin typeface="+mn-lt"/>
                          <a:ea typeface="+mn-ea"/>
                          <a:cs typeface="+mn-cs"/>
                        </a:rPr>
                        <a:t> </a:t>
                      </a:r>
                      <a:r>
                        <a:rPr lang="de-AT" sz="1000" kern="1200" dirty="0" err="1">
                          <a:solidFill>
                            <a:schemeClr val="dk1"/>
                          </a:solidFill>
                          <a:latin typeface="+mn-lt"/>
                          <a:ea typeface="+mn-ea"/>
                          <a:cs typeface="+mn-cs"/>
                        </a:rPr>
                        <a:t>Statistics</a:t>
                      </a:r>
                      <a:r>
                        <a:rPr lang="de-AT" sz="1000" kern="1200" dirty="0">
                          <a:solidFill>
                            <a:schemeClr val="dk1"/>
                          </a:solidFill>
                          <a:latin typeface="+mn-lt"/>
                          <a:ea typeface="+mn-ea"/>
                          <a:cs typeface="+mn-cs"/>
                        </a:rPr>
                        <a:t>, Hypothesis </a:t>
                      </a:r>
                      <a:r>
                        <a:rPr lang="de-AT" sz="1000" kern="1200" dirty="0" err="1">
                          <a:solidFill>
                            <a:schemeClr val="dk1"/>
                          </a:solidFill>
                          <a:latin typeface="+mn-lt"/>
                          <a:ea typeface="+mn-ea"/>
                          <a:cs typeface="+mn-cs"/>
                        </a:rPr>
                        <a:t>Testing</a:t>
                      </a:r>
                      <a:endParaRPr lang="de-AT" sz="1000" kern="1200" dirty="0">
                        <a:solidFill>
                          <a:schemeClr val="dk1"/>
                        </a:solidFill>
                        <a:latin typeface="+mn-lt"/>
                        <a:ea typeface="+mn-ea"/>
                        <a:cs typeface="+mn-cs"/>
                      </a:endParaRPr>
                    </a:p>
                  </a:txBody>
                  <a:tcPr anchor="ctr"/>
                </a:tc>
                <a:tc>
                  <a:txBody>
                    <a:bodyPr/>
                    <a:lstStyle/>
                    <a:p>
                      <a:pPr algn="ctr"/>
                      <a:r>
                        <a:rPr lang="de-AT" sz="1000" kern="1200" dirty="0">
                          <a:solidFill>
                            <a:schemeClr val="dk1"/>
                          </a:solidFill>
                          <a:latin typeface="+mn-lt"/>
                          <a:ea typeface="+mn-ea"/>
                          <a:cs typeface="+mn-cs"/>
                        </a:rPr>
                        <a:t>1, 11</a:t>
                      </a:r>
                    </a:p>
                  </a:txBody>
                  <a:tcPr anchor="ctr"/>
                </a:tc>
                <a:extLst>
                  <a:ext uri="{0D108BD9-81ED-4DB2-BD59-A6C34878D82A}">
                    <a16:rowId xmlns:a16="http://schemas.microsoft.com/office/drawing/2014/main" val="2625339703"/>
                  </a:ext>
                </a:extLst>
              </a:tr>
              <a:tr h="370840">
                <a:tc>
                  <a:txBody>
                    <a:bodyPr/>
                    <a:lstStyle/>
                    <a:p>
                      <a:pPr algn="ctr"/>
                      <a:r>
                        <a:rPr lang="de-AT" sz="1000" dirty="0"/>
                        <a:t>2</a:t>
                      </a:r>
                    </a:p>
                  </a:txBody>
                  <a:tcPr anchor="ctr"/>
                </a:tc>
                <a:tc>
                  <a:txBody>
                    <a:bodyPr/>
                    <a:lstStyle/>
                    <a:p>
                      <a:r>
                        <a:rPr lang="de-AT" sz="1000" dirty="0"/>
                        <a:t>Sales </a:t>
                      </a:r>
                      <a:r>
                        <a:rPr lang="de-AT" sz="1000" dirty="0" err="1"/>
                        <a:t>Forecasting</a:t>
                      </a:r>
                      <a:r>
                        <a:rPr lang="de-AT" sz="1000" dirty="0"/>
                        <a:t> I</a:t>
                      </a:r>
                    </a:p>
                  </a:txBody>
                  <a:tcPr anchor="ctr"/>
                </a:tc>
                <a:tc>
                  <a:txBody>
                    <a:bodyPr/>
                    <a:lstStyle/>
                    <a:p>
                      <a:pPr marL="0" marR="0" lvl="0" indent="0" algn="l" defTabSz="914306" rtl="0" eaLnBrk="1" fontAlgn="auto" latinLnBrk="0" hangingPunct="1">
                        <a:lnSpc>
                          <a:spcPct val="100000"/>
                        </a:lnSpc>
                        <a:spcBef>
                          <a:spcPts val="0"/>
                        </a:spcBef>
                        <a:spcAft>
                          <a:spcPts val="0"/>
                        </a:spcAft>
                        <a:buClrTx/>
                        <a:buSzTx/>
                        <a:buFontTx/>
                        <a:buNone/>
                        <a:tabLst/>
                        <a:defRPr/>
                      </a:pPr>
                      <a:r>
                        <a:rPr lang="de-AT" sz="1000" dirty="0"/>
                        <a:t>Regression Analysis, Moderation/Mediation</a:t>
                      </a:r>
                    </a:p>
                  </a:txBody>
                  <a:tcPr anchor="ctr"/>
                </a:tc>
                <a:tc>
                  <a:txBody>
                    <a:bodyPr/>
                    <a:lstStyle/>
                    <a:p>
                      <a:pPr marL="0" marR="0" lvl="0" indent="0" algn="ctr" defTabSz="914306" rtl="0" eaLnBrk="1" fontAlgn="auto" latinLnBrk="0" hangingPunct="1">
                        <a:lnSpc>
                          <a:spcPct val="100000"/>
                        </a:lnSpc>
                        <a:spcBef>
                          <a:spcPts val="0"/>
                        </a:spcBef>
                        <a:spcAft>
                          <a:spcPts val="0"/>
                        </a:spcAft>
                        <a:buClrTx/>
                        <a:buSzTx/>
                        <a:buFontTx/>
                        <a:buNone/>
                        <a:tabLst/>
                        <a:defRPr/>
                      </a:pPr>
                      <a:r>
                        <a:rPr lang="de-AT" sz="1000" dirty="0"/>
                        <a:t>3</a:t>
                      </a:r>
                    </a:p>
                  </a:txBody>
                  <a:tcPr anchor="ctr"/>
                </a:tc>
                <a:extLst>
                  <a:ext uri="{0D108BD9-81ED-4DB2-BD59-A6C34878D82A}">
                    <a16:rowId xmlns:a16="http://schemas.microsoft.com/office/drawing/2014/main" val="190246917"/>
                  </a:ext>
                </a:extLst>
              </a:tr>
              <a:tr h="370840">
                <a:tc>
                  <a:txBody>
                    <a:bodyPr/>
                    <a:lstStyle/>
                    <a:p>
                      <a:pPr algn="ctr"/>
                      <a:r>
                        <a:rPr lang="de-AT" sz="1000" dirty="0"/>
                        <a:t>3</a:t>
                      </a:r>
                    </a:p>
                  </a:txBody>
                  <a:tcPr anchor="ctr"/>
                </a:tc>
                <a:tc>
                  <a:txBody>
                    <a:bodyPr/>
                    <a:lstStyle/>
                    <a:p>
                      <a:r>
                        <a:rPr lang="de-AT" sz="1000" dirty="0"/>
                        <a:t>Customer Segmentation</a:t>
                      </a:r>
                    </a:p>
                  </a:txBody>
                  <a:tcPr anchor="ctr"/>
                </a:tc>
                <a:tc>
                  <a:txBody>
                    <a:bodyPr/>
                    <a:lstStyle/>
                    <a:p>
                      <a:pPr algn="l"/>
                      <a:r>
                        <a:rPr lang="de-AT" sz="1000" dirty="0"/>
                        <a:t>Cluster Analysis, </a:t>
                      </a:r>
                      <a:r>
                        <a:rPr lang="de-AT" sz="1000" dirty="0" err="1"/>
                        <a:t>Discriminant</a:t>
                      </a:r>
                      <a:r>
                        <a:rPr lang="de-AT" sz="1000" dirty="0"/>
                        <a:t> Analysis</a:t>
                      </a:r>
                    </a:p>
                  </a:txBody>
                  <a:tcPr anchor="ctr"/>
                </a:tc>
                <a:tc>
                  <a:txBody>
                    <a:bodyPr/>
                    <a:lstStyle/>
                    <a:p>
                      <a:pPr algn="ctr"/>
                      <a:r>
                        <a:rPr lang="de-AT" sz="1000"/>
                        <a:t>2, 5</a:t>
                      </a:r>
                      <a:endParaRPr lang="de-AT" sz="1000" dirty="0"/>
                    </a:p>
                  </a:txBody>
                  <a:tcPr anchor="ctr"/>
                </a:tc>
                <a:extLst>
                  <a:ext uri="{0D108BD9-81ED-4DB2-BD59-A6C34878D82A}">
                    <a16:rowId xmlns:a16="http://schemas.microsoft.com/office/drawing/2014/main" val="3524346358"/>
                  </a:ext>
                </a:extLst>
              </a:tr>
              <a:tr h="370840">
                <a:tc>
                  <a:txBody>
                    <a:bodyPr/>
                    <a:lstStyle/>
                    <a:p>
                      <a:pPr algn="ctr"/>
                      <a:r>
                        <a:rPr lang="de-AT" sz="1000" dirty="0"/>
                        <a:t>4</a:t>
                      </a:r>
                    </a:p>
                  </a:txBody>
                  <a:tcPr anchor="ctr"/>
                </a:tc>
                <a:tc>
                  <a:txBody>
                    <a:bodyPr/>
                    <a:lstStyle/>
                    <a:p>
                      <a:r>
                        <a:rPr lang="de-AT" sz="1000" dirty="0"/>
                        <a:t>Marketing Mix Modelling</a:t>
                      </a:r>
                    </a:p>
                  </a:txBody>
                  <a:tcPr anchor="ctr"/>
                </a:tc>
                <a:tc>
                  <a:txBody>
                    <a:bodyPr/>
                    <a:lstStyle/>
                    <a:p>
                      <a:pPr algn="l"/>
                      <a:r>
                        <a:rPr lang="de-AT" sz="1000" dirty="0" err="1"/>
                        <a:t>Logistic</a:t>
                      </a:r>
                      <a:r>
                        <a:rPr lang="de-AT" sz="1000" dirty="0"/>
                        <a:t> Regression, </a:t>
                      </a:r>
                      <a:r>
                        <a:rPr lang="de-AT" sz="1000" dirty="0" err="1"/>
                        <a:t>Conjoint</a:t>
                      </a:r>
                      <a:r>
                        <a:rPr lang="de-AT" sz="1000" dirty="0"/>
                        <a:t> Analysis</a:t>
                      </a:r>
                    </a:p>
                  </a:txBody>
                  <a:tcPr anchor="ctr"/>
                </a:tc>
                <a:tc>
                  <a:txBody>
                    <a:bodyPr/>
                    <a:lstStyle/>
                    <a:p>
                      <a:pPr algn="ctr"/>
                      <a:r>
                        <a:rPr lang="de-AT" sz="1000" dirty="0"/>
                        <a:t>8, 3, 4</a:t>
                      </a:r>
                    </a:p>
                  </a:txBody>
                  <a:tcPr anchor="ctr"/>
                </a:tc>
                <a:extLst>
                  <a:ext uri="{0D108BD9-81ED-4DB2-BD59-A6C34878D82A}">
                    <a16:rowId xmlns:a16="http://schemas.microsoft.com/office/drawing/2014/main" val="2539338775"/>
                  </a:ext>
                </a:extLst>
              </a:tr>
              <a:tr h="370840">
                <a:tc>
                  <a:txBody>
                    <a:bodyPr/>
                    <a:lstStyle/>
                    <a:p>
                      <a:pPr algn="ctr"/>
                      <a:r>
                        <a:rPr lang="de-AT" sz="1000" dirty="0"/>
                        <a:t>5</a:t>
                      </a:r>
                    </a:p>
                  </a:txBody>
                  <a:tcPr anchor="ctr"/>
                </a:tc>
                <a:tc>
                  <a:txBody>
                    <a:bodyPr/>
                    <a:lstStyle/>
                    <a:p>
                      <a:r>
                        <a:rPr lang="de-AT" sz="1000" dirty="0"/>
                        <a:t>Sales </a:t>
                      </a:r>
                      <a:r>
                        <a:rPr lang="de-AT" sz="1000" dirty="0" err="1"/>
                        <a:t>Forecasting</a:t>
                      </a:r>
                      <a:r>
                        <a:rPr lang="de-AT" sz="1000" dirty="0"/>
                        <a:t> II</a:t>
                      </a:r>
                    </a:p>
                  </a:txBody>
                  <a:tcPr anchor="ctr"/>
                </a:tc>
                <a:tc>
                  <a:txBody>
                    <a:bodyPr/>
                    <a:lstStyle/>
                    <a:p>
                      <a:pPr algn="l"/>
                      <a:r>
                        <a:rPr lang="de-AT" sz="1000" dirty="0"/>
                        <a:t>Naive Methods, Time Series Analysis</a:t>
                      </a:r>
                    </a:p>
                  </a:txBody>
                  <a:tcPr anchor="ctr"/>
                </a:tc>
                <a:tc>
                  <a:txBody>
                    <a:bodyPr/>
                    <a:lstStyle/>
                    <a:p>
                      <a:pPr algn="ctr"/>
                      <a:r>
                        <a:rPr lang="de-AT" sz="1000" dirty="0"/>
                        <a:t>9</a:t>
                      </a:r>
                    </a:p>
                  </a:txBody>
                  <a:tcPr anchor="ctr"/>
                </a:tc>
                <a:extLst>
                  <a:ext uri="{0D108BD9-81ED-4DB2-BD59-A6C34878D82A}">
                    <a16:rowId xmlns:a16="http://schemas.microsoft.com/office/drawing/2014/main" val="2504673648"/>
                  </a:ext>
                </a:extLst>
              </a:tr>
              <a:tr h="370840">
                <a:tc>
                  <a:txBody>
                    <a:bodyPr/>
                    <a:lstStyle/>
                    <a:p>
                      <a:pPr algn="ctr"/>
                      <a:r>
                        <a:rPr lang="de-AT" sz="1000" dirty="0"/>
                        <a:t>6</a:t>
                      </a:r>
                    </a:p>
                  </a:txBody>
                  <a:tcPr anchor="ctr"/>
                </a:tc>
                <a:tc>
                  <a:txBody>
                    <a:bodyPr/>
                    <a:lstStyle/>
                    <a:p>
                      <a:r>
                        <a:rPr lang="de-AT" sz="1000" dirty="0" err="1"/>
                        <a:t>Guestspeaker</a:t>
                      </a:r>
                      <a:endParaRPr lang="de-AT" sz="1000" dirty="0"/>
                    </a:p>
                  </a:txBody>
                  <a:tcPr anchor="ctr"/>
                </a:tc>
                <a:tc>
                  <a:txBody>
                    <a:bodyPr/>
                    <a:lstStyle/>
                    <a:p>
                      <a:pPr algn="l"/>
                      <a:endParaRPr lang="de-AT" sz="1000" dirty="0"/>
                    </a:p>
                  </a:txBody>
                  <a:tcPr anchor="ctr"/>
                </a:tc>
                <a:tc>
                  <a:txBody>
                    <a:bodyPr/>
                    <a:lstStyle/>
                    <a:p>
                      <a:pPr algn="ctr"/>
                      <a:endParaRPr lang="de-AT" sz="1000" dirty="0"/>
                    </a:p>
                  </a:txBody>
                  <a:tcPr anchor="ctr"/>
                </a:tc>
                <a:extLst>
                  <a:ext uri="{0D108BD9-81ED-4DB2-BD59-A6C34878D82A}">
                    <a16:rowId xmlns:a16="http://schemas.microsoft.com/office/drawing/2014/main" val="355665924"/>
                  </a:ext>
                </a:extLst>
              </a:tr>
            </a:tbl>
          </a:graphicData>
        </a:graphic>
      </p:graphicFrame>
      <p:sp>
        <p:nvSpPr>
          <p:cNvPr id="2" name="Textfeld 1">
            <a:extLst>
              <a:ext uri="{FF2B5EF4-FFF2-40B4-BE49-F238E27FC236}">
                <a16:creationId xmlns:a16="http://schemas.microsoft.com/office/drawing/2014/main" id="{9F564031-7081-A0DE-84C6-9B8A006667E3}"/>
              </a:ext>
            </a:extLst>
          </p:cNvPr>
          <p:cNvSpPr txBox="1"/>
          <p:nvPr/>
        </p:nvSpPr>
        <p:spPr>
          <a:xfrm>
            <a:off x="1400339" y="4375331"/>
            <a:ext cx="6529352" cy="246221"/>
          </a:xfrm>
          <a:prstGeom prst="rect">
            <a:avLst/>
          </a:prstGeom>
          <a:noFill/>
        </p:spPr>
        <p:txBody>
          <a:bodyPr wrap="none" rtlCol="0">
            <a:spAutoFit/>
          </a:bodyPr>
          <a:lstStyle/>
          <a:p>
            <a:r>
              <a:rPr lang="en-US" sz="1000" dirty="0"/>
              <a:t>Yildirim, G. and Kübler, R., 2023. </a:t>
            </a:r>
            <a:r>
              <a:rPr lang="en-US" sz="1000" i="1" dirty="0"/>
              <a:t>Applied marketing analytics using R</a:t>
            </a:r>
            <a:r>
              <a:rPr lang="en-US" sz="1000" dirty="0"/>
              <a:t>. SAGE Publications Limited.</a:t>
            </a:r>
            <a:endParaRPr lang="de-AT" sz="1000" dirty="0"/>
          </a:p>
        </p:txBody>
      </p:sp>
    </p:spTree>
    <p:extLst>
      <p:ext uri="{BB962C8B-B14F-4D97-AF65-F5344CB8AC3E}">
        <p14:creationId xmlns:p14="http://schemas.microsoft.com/office/powerpoint/2010/main" val="4738063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B0F27876-0E8D-43B0-9691-468005A1BF60}"/>
              </a:ext>
            </a:extLst>
          </p:cNvPr>
          <p:cNvSpPr>
            <a:spLocks noGrp="1"/>
          </p:cNvSpPr>
          <p:nvPr>
            <p:ph idx="1"/>
          </p:nvPr>
        </p:nvSpPr>
        <p:spPr/>
        <p:txBody>
          <a:bodyPr/>
          <a:lstStyle/>
          <a:p>
            <a:r>
              <a:rPr lang="de-AT" dirty="0"/>
              <a:t>Assessment Strategy</a:t>
            </a:r>
          </a:p>
          <a:p>
            <a:pPr lvl="1"/>
            <a:r>
              <a:rPr lang="en-US" dirty="0"/>
              <a:t>Online Certificate R (Individual) – 5 % </a:t>
            </a:r>
          </a:p>
          <a:p>
            <a:pPr lvl="1"/>
            <a:r>
              <a:rPr lang="en-US" dirty="0"/>
              <a:t>Self-Reflection: (Individual) – 5 % </a:t>
            </a:r>
          </a:p>
          <a:p>
            <a:pPr lvl="1"/>
            <a:r>
              <a:rPr lang="en-US" dirty="0"/>
              <a:t>Quizzes (Individual) - 5 x 4 % = 20 %</a:t>
            </a:r>
          </a:p>
          <a:p>
            <a:pPr lvl="1"/>
            <a:r>
              <a:rPr lang="en-US" dirty="0"/>
              <a:t>Coding Exercises (Individual) = 5 x 4 % = 20 %</a:t>
            </a:r>
          </a:p>
          <a:p>
            <a:pPr lvl="1"/>
            <a:r>
              <a:rPr lang="en-US" dirty="0"/>
              <a:t>Case Study: Written Report (Group)  - 40 %</a:t>
            </a:r>
          </a:p>
          <a:p>
            <a:pPr lvl="1"/>
            <a:r>
              <a:rPr lang="en-US" dirty="0"/>
              <a:t>Peer Review - 10 %</a:t>
            </a:r>
          </a:p>
          <a:p>
            <a:pPr lvl="1"/>
            <a:endParaRPr lang="de-AT" dirty="0"/>
          </a:p>
          <a:p>
            <a:r>
              <a:rPr lang="de-AT" dirty="0"/>
              <a:t>Group </a:t>
            </a:r>
            <a:r>
              <a:rPr lang="de-AT" dirty="0" err="1"/>
              <a:t>Enrolment</a:t>
            </a:r>
            <a:endParaRPr lang="de-AT" dirty="0"/>
          </a:p>
          <a:p>
            <a:pPr lvl="2"/>
            <a:r>
              <a:rPr lang="de-AT" dirty="0"/>
              <a:t>Canvas</a:t>
            </a:r>
          </a:p>
          <a:p>
            <a:pPr lvl="2"/>
            <a:endParaRPr lang="en-US" dirty="0"/>
          </a:p>
        </p:txBody>
      </p:sp>
      <p:sp>
        <p:nvSpPr>
          <p:cNvPr id="4" name="Foliennummernplatzhalter 3">
            <a:extLst>
              <a:ext uri="{FF2B5EF4-FFF2-40B4-BE49-F238E27FC236}">
                <a16:creationId xmlns:a16="http://schemas.microsoft.com/office/drawing/2014/main" id="{70DC4096-E08D-4021-BFDC-EC177238DB99}"/>
              </a:ext>
            </a:extLst>
          </p:cNvPr>
          <p:cNvSpPr>
            <a:spLocks noGrp="1"/>
          </p:cNvSpPr>
          <p:nvPr>
            <p:ph type="sldNum" sz="quarter" idx="12"/>
          </p:nvPr>
        </p:nvSpPr>
        <p:spPr/>
        <p:txBody>
          <a:bodyPr/>
          <a:lstStyle/>
          <a:p>
            <a:r>
              <a:rPr lang="en-GB"/>
              <a:t>Page </a:t>
            </a:r>
            <a:fld id="{BE3DC40E-DBBE-4E2D-9EEC-FBF0DA0E9179}" type="slidenum">
              <a:rPr lang="en-GB" smtClean="0"/>
              <a:t>11</a:t>
            </a:fld>
            <a:endParaRPr lang="en-GB" dirty="0"/>
          </a:p>
        </p:txBody>
      </p:sp>
      <p:sp>
        <p:nvSpPr>
          <p:cNvPr id="5" name="Titel 4">
            <a:extLst>
              <a:ext uri="{FF2B5EF4-FFF2-40B4-BE49-F238E27FC236}">
                <a16:creationId xmlns:a16="http://schemas.microsoft.com/office/drawing/2014/main" id="{E5163618-1D5C-4424-B643-B02C38FBECA7}"/>
              </a:ext>
            </a:extLst>
          </p:cNvPr>
          <p:cNvSpPr>
            <a:spLocks noGrp="1"/>
          </p:cNvSpPr>
          <p:nvPr>
            <p:ph type="title"/>
          </p:nvPr>
        </p:nvSpPr>
        <p:spPr/>
        <p:txBody>
          <a:bodyPr/>
          <a:lstStyle/>
          <a:p>
            <a:r>
              <a:rPr lang="de-AT" dirty="0"/>
              <a:t>Assessment Strategy</a:t>
            </a:r>
            <a:endParaRPr lang="en-US" dirty="0"/>
          </a:p>
        </p:txBody>
      </p:sp>
    </p:spTree>
    <p:extLst>
      <p:ext uri="{BB962C8B-B14F-4D97-AF65-F5344CB8AC3E}">
        <p14:creationId xmlns:p14="http://schemas.microsoft.com/office/powerpoint/2010/main" val="158044865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2FCE4CFE-63C7-6C98-D5CD-2F1BA30CED91}"/>
              </a:ext>
            </a:extLst>
          </p:cNvPr>
          <p:cNvSpPr>
            <a:spLocks noGrp="1"/>
          </p:cNvSpPr>
          <p:nvPr>
            <p:ph idx="1"/>
          </p:nvPr>
        </p:nvSpPr>
        <p:spPr/>
        <p:txBody>
          <a:bodyPr/>
          <a:lstStyle/>
          <a:p>
            <a:r>
              <a:rPr lang="de-DE" dirty="0"/>
              <a:t>Take </a:t>
            </a:r>
            <a:r>
              <a:rPr lang="de-DE" dirty="0" err="1"/>
              <a:t>the</a:t>
            </a:r>
            <a:r>
              <a:rPr lang="de-DE" dirty="0"/>
              <a:t> </a:t>
            </a:r>
            <a:r>
              <a:rPr lang="de-DE" dirty="0" err="1"/>
              <a:t>following</a:t>
            </a:r>
            <a:r>
              <a:rPr lang="de-DE" dirty="0"/>
              <a:t> online </a:t>
            </a:r>
            <a:r>
              <a:rPr lang="de-DE" dirty="0" err="1"/>
              <a:t>courses</a:t>
            </a:r>
            <a:r>
              <a:rPr lang="de-DE" dirty="0"/>
              <a:t>:</a:t>
            </a:r>
          </a:p>
          <a:p>
            <a:endParaRPr lang="de-DE" dirty="0"/>
          </a:p>
          <a:p>
            <a:r>
              <a:rPr lang="de-AT" dirty="0" err="1">
                <a:hlinkClick r:id="rId3"/>
              </a:rPr>
              <a:t>Getting</a:t>
            </a:r>
            <a:r>
              <a:rPr lang="de-AT" dirty="0">
                <a:hlinkClick r:id="rId3"/>
              </a:rPr>
              <a:t> </a:t>
            </a:r>
            <a:r>
              <a:rPr lang="de-AT" dirty="0" err="1">
                <a:hlinkClick r:id="rId3"/>
              </a:rPr>
              <a:t>Started</a:t>
            </a:r>
            <a:r>
              <a:rPr lang="de-AT" dirty="0">
                <a:hlinkClick r:id="rId3"/>
              </a:rPr>
              <a:t> </a:t>
            </a:r>
            <a:r>
              <a:rPr lang="de-AT" dirty="0" err="1">
                <a:hlinkClick r:id="rId3"/>
              </a:rPr>
              <a:t>with</a:t>
            </a:r>
            <a:r>
              <a:rPr lang="de-AT" dirty="0">
                <a:hlinkClick r:id="rId3"/>
              </a:rPr>
              <a:t> R</a:t>
            </a:r>
            <a:endParaRPr lang="de-AT" dirty="0"/>
          </a:p>
          <a:p>
            <a:endParaRPr lang="de-DE" dirty="0"/>
          </a:p>
          <a:p>
            <a:endParaRPr lang="de-DE" dirty="0"/>
          </a:p>
          <a:p>
            <a:r>
              <a:rPr lang="de-DE" dirty="0"/>
              <a:t>Upload </a:t>
            </a:r>
            <a:r>
              <a:rPr lang="de-DE" dirty="0" err="1"/>
              <a:t>the</a:t>
            </a:r>
            <a:r>
              <a:rPr lang="de-DE" dirty="0"/>
              <a:t> </a:t>
            </a:r>
            <a:r>
              <a:rPr lang="de-DE" dirty="0" err="1"/>
              <a:t>certificate</a:t>
            </a:r>
            <a:r>
              <a:rPr lang="de-DE" dirty="0"/>
              <a:t> on Canvas </a:t>
            </a:r>
            <a:r>
              <a:rPr lang="de-DE" dirty="0" err="1"/>
              <a:t>before</a:t>
            </a:r>
            <a:r>
              <a:rPr lang="de-DE" dirty="0"/>
              <a:t> </a:t>
            </a:r>
            <a:r>
              <a:rPr lang="de-DE" dirty="0" err="1"/>
              <a:t>the</a:t>
            </a:r>
            <a:r>
              <a:rPr lang="de-DE" dirty="0"/>
              <a:t> </a:t>
            </a:r>
            <a:r>
              <a:rPr lang="de-DE" dirty="0" err="1"/>
              <a:t>second</a:t>
            </a:r>
            <a:r>
              <a:rPr lang="de-DE" dirty="0"/>
              <a:t> </a:t>
            </a:r>
            <a:r>
              <a:rPr lang="de-DE" dirty="0" err="1"/>
              <a:t>session</a:t>
            </a:r>
            <a:r>
              <a:rPr lang="de-DE" dirty="0"/>
              <a:t>.</a:t>
            </a:r>
          </a:p>
        </p:txBody>
      </p:sp>
      <p:sp>
        <p:nvSpPr>
          <p:cNvPr id="4" name="Foliennummernplatzhalter 3">
            <a:extLst>
              <a:ext uri="{FF2B5EF4-FFF2-40B4-BE49-F238E27FC236}">
                <a16:creationId xmlns:a16="http://schemas.microsoft.com/office/drawing/2014/main" id="{541711FF-64AE-524F-9D34-5A04A75BA376}"/>
              </a:ext>
            </a:extLst>
          </p:cNvPr>
          <p:cNvSpPr>
            <a:spLocks noGrp="1"/>
          </p:cNvSpPr>
          <p:nvPr>
            <p:ph type="sldNum" sz="quarter" idx="12"/>
          </p:nvPr>
        </p:nvSpPr>
        <p:spPr/>
        <p:txBody>
          <a:bodyPr/>
          <a:lstStyle/>
          <a:p>
            <a:r>
              <a:rPr lang="en-GB"/>
              <a:t>Page </a:t>
            </a:r>
            <a:fld id="{BE3DC40E-DBBE-4E2D-9EEC-FBF0DA0E9179}" type="slidenum">
              <a:rPr lang="en-GB" smtClean="0"/>
              <a:t>12</a:t>
            </a:fld>
            <a:endParaRPr lang="en-GB" dirty="0"/>
          </a:p>
        </p:txBody>
      </p:sp>
      <p:sp>
        <p:nvSpPr>
          <p:cNvPr id="5" name="Titel 4">
            <a:extLst>
              <a:ext uri="{FF2B5EF4-FFF2-40B4-BE49-F238E27FC236}">
                <a16:creationId xmlns:a16="http://schemas.microsoft.com/office/drawing/2014/main" id="{3FFFE6D0-0E52-9C48-4F34-BF797901F9F7}"/>
              </a:ext>
            </a:extLst>
          </p:cNvPr>
          <p:cNvSpPr>
            <a:spLocks noGrp="1"/>
          </p:cNvSpPr>
          <p:nvPr>
            <p:ph type="title"/>
          </p:nvPr>
        </p:nvSpPr>
        <p:spPr/>
        <p:txBody>
          <a:bodyPr/>
          <a:lstStyle/>
          <a:p>
            <a:r>
              <a:rPr lang="de-DE" dirty="0"/>
              <a:t>Online </a:t>
            </a:r>
            <a:r>
              <a:rPr lang="de-DE" dirty="0" err="1"/>
              <a:t>Certificates</a:t>
            </a:r>
            <a:endParaRPr lang="de-DE" dirty="0"/>
          </a:p>
        </p:txBody>
      </p:sp>
    </p:spTree>
    <p:extLst>
      <p:ext uri="{BB962C8B-B14F-4D97-AF65-F5344CB8AC3E}">
        <p14:creationId xmlns:p14="http://schemas.microsoft.com/office/powerpoint/2010/main" val="338364834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CB937162-1904-DD56-81D2-82C138271CA9}"/>
              </a:ext>
            </a:extLst>
          </p:cNvPr>
          <p:cNvSpPr>
            <a:spLocks noGrp="1"/>
          </p:cNvSpPr>
          <p:nvPr>
            <p:ph idx="1"/>
          </p:nvPr>
        </p:nvSpPr>
        <p:spPr/>
        <p:txBody>
          <a:bodyPr>
            <a:normAutofit/>
          </a:bodyPr>
          <a:lstStyle/>
          <a:p>
            <a:r>
              <a:rPr lang="de-DE" dirty="0"/>
              <a:t>Read </a:t>
            </a:r>
            <a:r>
              <a:rPr lang="de-DE" dirty="0" err="1"/>
              <a:t>the</a:t>
            </a:r>
            <a:r>
              <a:rPr lang="de-DE" dirty="0"/>
              <a:t> </a:t>
            </a:r>
            <a:r>
              <a:rPr lang="de-DE" dirty="0" err="1"/>
              <a:t>scripts</a:t>
            </a:r>
            <a:r>
              <a:rPr lang="de-DE" dirty="0"/>
              <a:t> (</a:t>
            </a:r>
            <a:r>
              <a:rPr lang="de-DE" dirty="0" err="1"/>
              <a:t>available</a:t>
            </a:r>
            <a:r>
              <a:rPr lang="de-DE" dirty="0"/>
              <a:t> on Canvas)</a:t>
            </a:r>
          </a:p>
          <a:p>
            <a:r>
              <a:rPr lang="de-DE" dirty="0"/>
              <a:t>Ask </a:t>
            </a:r>
            <a:r>
              <a:rPr lang="de-DE" dirty="0" err="1"/>
              <a:t>questions</a:t>
            </a:r>
            <a:r>
              <a:rPr lang="de-DE" dirty="0"/>
              <a:t> </a:t>
            </a:r>
            <a:r>
              <a:rPr lang="de-DE" dirty="0" err="1"/>
              <a:t>during</a:t>
            </a:r>
            <a:r>
              <a:rPr lang="de-DE" dirty="0"/>
              <a:t> </a:t>
            </a:r>
            <a:r>
              <a:rPr lang="de-DE" dirty="0" err="1"/>
              <a:t>lecture</a:t>
            </a:r>
            <a:endParaRPr lang="de-DE" dirty="0"/>
          </a:p>
          <a:p>
            <a:pPr marL="0" indent="0">
              <a:buNone/>
            </a:pPr>
            <a:endParaRPr lang="en-US" sz="1200" dirty="0"/>
          </a:p>
          <a:p>
            <a:r>
              <a:rPr lang="de-DE" dirty="0"/>
              <a:t>Take an online </a:t>
            </a:r>
            <a:r>
              <a:rPr lang="de-DE" dirty="0" err="1"/>
              <a:t>quiz</a:t>
            </a:r>
            <a:endParaRPr lang="de-DE" dirty="0"/>
          </a:p>
          <a:p>
            <a:pPr lvl="1"/>
            <a:r>
              <a:rPr lang="de-DE" dirty="0"/>
              <a:t>Starts on Mondays, 9 am</a:t>
            </a:r>
          </a:p>
          <a:p>
            <a:pPr lvl="1"/>
            <a:r>
              <a:rPr lang="de-DE" dirty="0"/>
              <a:t>Ends on Mondays, 11:59 </a:t>
            </a:r>
            <a:r>
              <a:rPr lang="de-DE" dirty="0" err="1"/>
              <a:t>pm</a:t>
            </a:r>
            <a:endParaRPr lang="de-DE" dirty="0"/>
          </a:p>
          <a:p>
            <a:endParaRPr lang="de-DE" dirty="0"/>
          </a:p>
          <a:p>
            <a:r>
              <a:rPr lang="de-DE" dirty="0"/>
              <a:t>Multiple-Choice Questions</a:t>
            </a:r>
          </a:p>
          <a:p>
            <a:endParaRPr lang="de-DE" dirty="0"/>
          </a:p>
          <a:p>
            <a:r>
              <a:rPr lang="de-DE" dirty="0"/>
              <a:t>4 </a:t>
            </a:r>
            <a:r>
              <a:rPr lang="de-DE" dirty="0" err="1"/>
              <a:t>questions</a:t>
            </a:r>
            <a:r>
              <a:rPr lang="de-DE" dirty="0"/>
              <a:t> in 4 </a:t>
            </a:r>
            <a:r>
              <a:rPr lang="de-DE" dirty="0" err="1"/>
              <a:t>minutes</a:t>
            </a:r>
            <a:endParaRPr lang="de-DE" dirty="0"/>
          </a:p>
          <a:p>
            <a:pPr algn="l"/>
            <a:endParaRPr lang="de-DE" sz="1800" b="0" i="0" u="none" strike="noStrike" baseline="0" dirty="0">
              <a:solidFill>
                <a:srgbClr val="000000"/>
              </a:solidFill>
              <a:latin typeface="Calibri" panose="020F0502020204030204" pitchFamily="34" charset="0"/>
            </a:endParaRPr>
          </a:p>
        </p:txBody>
      </p:sp>
      <p:sp>
        <p:nvSpPr>
          <p:cNvPr id="4" name="Foliennummernplatzhalter 3">
            <a:extLst>
              <a:ext uri="{FF2B5EF4-FFF2-40B4-BE49-F238E27FC236}">
                <a16:creationId xmlns:a16="http://schemas.microsoft.com/office/drawing/2014/main" id="{3FDFFABE-812E-AB11-35FB-4C28282880CB}"/>
              </a:ext>
            </a:extLst>
          </p:cNvPr>
          <p:cNvSpPr>
            <a:spLocks noGrp="1"/>
          </p:cNvSpPr>
          <p:nvPr>
            <p:ph type="sldNum" sz="quarter" idx="12"/>
          </p:nvPr>
        </p:nvSpPr>
        <p:spPr/>
        <p:txBody>
          <a:bodyPr/>
          <a:lstStyle/>
          <a:p>
            <a:r>
              <a:rPr lang="en-GB"/>
              <a:t>Page </a:t>
            </a:r>
            <a:fld id="{BE3DC40E-DBBE-4E2D-9EEC-FBF0DA0E9179}" type="slidenum">
              <a:rPr lang="en-GB" smtClean="0"/>
              <a:t>13</a:t>
            </a:fld>
            <a:endParaRPr lang="en-GB" dirty="0"/>
          </a:p>
        </p:txBody>
      </p:sp>
      <p:sp>
        <p:nvSpPr>
          <p:cNvPr id="5" name="Titel 4">
            <a:extLst>
              <a:ext uri="{FF2B5EF4-FFF2-40B4-BE49-F238E27FC236}">
                <a16:creationId xmlns:a16="http://schemas.microsoft.com/office/drawing/2014/main" id="{8F7433BB-E00D-7F5F-E462-1D0119727078}"/>
              </a:ext>
            </a:extLst>
          </p:cNvPr>
          <p:cNvSpPr>
            <a:spLocks noGrp="1"/>
          </p:cNvSpPr>
          <p:nvPr>
            <p:ph type="title"/>
          </p:nvPr>
        </p:nvSpPr>
        <p:spPr/>
        <p:txBody>
          <a:bodyPr/>
          <a:lstStyle/>
          <a:p>
            <a:r>
              <a:rPr lang="de-DE" dirty="0"/>
              <a:t>Online </a:t>
            </a:r>
            <a:r>
              <a:rPr lang="de-DE" dirty="0" err="1"/>
              <a:t>Quizzes</a:t>
            </a:r>
            <a:r>
              <a:rPr lang="de-DE" dirty="0"/>
              <a:t> (individual)</a:t>
            </a:r>
          </a:p>
        </p:txBody>
      </p:sp>
    </p:spTree>
    <p:extLst>
      <p:ext uri="{BB962C8B-B14F-4D97-AF65-F5344CB8AC3E}">
        <p14:creationId xmlns:p14="http://schemas.microsoft.com/office/powerpoint/2010/main" val="334846471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DECFEBDE-F34B-6B5D-543E-25E75042F14D}"/>
              </a:ext>
            </a:extLst>
          </p:cNvPr>
          <p:cNvSpPr>
            <a:spLocks noGrp="1"/>
          </p:cNvSpPr>
          <p:nvPr>
            <p:ph idx="1"/>
          </p:nvPr>
        </p:nvSpPr>
        <p:spPr/>
        <p:txBody>
          <a:bodyPr>
            <a:normAutofit fontScale="92500" lnSpcReduction="10000"/>
          </a:bodyPr>
          <a:lstStyle/>
          <a:p>
            <a:r>
              <a:rPr lang="de-DE" dirty="0" err="1"/>
              <a:t>Each</a:t>
            </a:r>
            <a:r>
              <a:rPr lang="de-DE" dirty="0"/>
              <a:t> </a:t>
            </a:r>
            <a:r>
              <a:rPr lang="de-DE" dirty="0" err="1"/>
              <a:t>campus</a:t>
            </a:r>
            <a:r>
              <a:rPr lang="de-DE" dirty="0"/>
              <a:t> </a:t>
            </a:r>
            <a:r>
              <a:rPr lang="de-DE" dirty="0" err="1"/>
              <a:t>session</a:t>
            </a:r>
            <a:r>
              <a:rPr lang="de-DE" dirty="0"/>
              <a:t> </a:t>
            </a:r>
            <a:r>
              <a:rPr lang="de-DE" dirty="0" err="1"/>
              <a:t>covers</a:t>
            </a:r>
            <a:r>
              <a:rPr lang="de-DE" dirty="0"/>
              <a:t> a </a:t>
            </a:r>
            <a:r>
              <a:rPr lang="de-DE" dirty="0" err="1"/>
              <a:t>seperate</a:t>
            </a:r>
            <a:r>
              <a:rPr lang="de-DE" dirty="0"/>
              <a:t> </a:t>
            </a:r>
            <a:r>
              <a:rPr lang="de-DE" dirty="0" err="1"/>
              <a:t>topic</a:t>
            </a:r>
            <a:r>
              <a:rPr lang="de-DE" dirty="0"/>
              <a:t> of international </a:t>
            </a:r>
            <a:r>
              <a:rPr lang="de-DE" dirty="0" err="1"/>
              <a:t>marketing</a:t>
            </a:r>
            <a:r>
              <a:rPr lang="de-DE" dirty="0"/>
              <a:t> </a:t>
            </a:r>
            <a:r>
              <a:rPr lang="de-DE" dirty="0" err="1"/>
              <a:t>analytics</a:t>
            </a:r>
            <a:r>
              <a:rPr lang="de-DE" dirty="0"/>
              <a:t>. </a:t>
            </a:r>
            <a:r>
              <a:rPr lang="de-DE" dirty="0" err="1"/>
              <a:t>Please</a:t>
            </a:r>
            <a:r>
              <a:rPr lang="de-DE" dirty="0"/>
              <a:t> check </a:t>
            </a:r>
            <a:r>
              <a:rPr lang="de-DE" dirty="0" err="1"/>
              <a:t>the</a:t>
            </a:r>
            <a:r>
              <a:rPr lang="de-DE" dirty="0"/>
              <a:t> </a:t>
            </a:r>
            <a:r>
              <a:rPr lang="de-DE" dirty="0" err="1"/>
              <a:t>previous</a:t>
            </a:r>
            <a:r>
              <a:rPr lang="de-DE" dirty="0"/>
              <a:t> </a:t>
            </a:r>
            <a:r>
              <a:rPr lang="de-DE" dirty="0" err="1"/>
              <a:t>slide</a:t>
            </a:r>
            <a:r>
              <a:rPr lang="de-DE" dirty="0"/>
              <a:t> (</a:t>
            </a:r>
            <a:r>
              <a:rPr lang="de-DE" dirty="0" err="1"/>
              <a:t>module</a:t>
            </a:r>
            <a:r>
              <a:rPr lang="de-DE" dirty="0"/>
              <a:t> </a:t>
            </a:r>
            <a:r>
              <a:rPr lang="de-DE" dirty="0" err="1"/>
              <a:t>roadmap</a:t>
            </a:r>
            <a:r>
              <a:rPr lang="de-DE" dirty="0"/>
              <a:t>).</a:t>
            </a:r>
          </a:p>
          <a:p>
            <a:endParaRPr lang="de-DE" dirty="0"/>
          </a:p>
          <a:p>
            <a:r>
              <a:rPr lang="de-DE" dirty="0"/>
              <a:t>After a </a:t>
            </a:r>
            <a:r>
              <a:rPr lang="de-DE" dirty="0" err="1"/>
              <a:t>short</a:t>
            </a:r>
            <a:r>
              <a:rPr lang="de-DE" dirty="0"/>
              <a:t> </a:t>
            </a:r>
            <a:r>
              <a:rPr lang="de-DE" dirty="0" err="1"/>
              <a:t>lecture</a:t>
            </a:r>
            <a:r>
              <a:rPr lang="de-DE" dirty="0"/>
              <a:t> on </a:t>
            </a:r>
            <a:r>
              <a:rPr lang="de-DE" dirty="0" err="1"/>
              <a:t>the</a:t>
            </a:r>
            <a:r>
              <a:rPr lang="de-DE" dirty="0"/>
              <a:t> </a:t>
            </a:r>
            <a:r>
              <a:rPr lang="de-DE" dirty="0" err="1"/>
              <a:t>substantive</a:t>
            </a:r>
            <a:r>
              <a:rPr lang="de-DE" dirty="0"/>
              <a:t> </a:t>
            </a:r>
            <a:r>
              <a:rPr lang="de-DE" dirty="0" err="1"/>
              <a:t>topic</a:t>
            </a:r>
            <a:r>
              <a:rPr lang="de-DE" dirty="0"/>
              <a:t>, a </a:t>
            </a:r>
            <a:r>
              <a:rPr lang="de-DE" dirty="0" err="1"/>
              <a:t>coding</a:t>
            </a:r>
            <a:r>
              <a:rPr lang="de-DE" dirty="0"/>
              <a:t> </a:t>
            </a:r>
            <a:r>
              <a:rPr lang="de-DE" dirty="0" err="1"/>
              <a:t>session</a:t>
            </a:r>
            <a:r>
              <a:rPr lang="de-DE" dirty="0"/>
              <a:t> </a:t>
            </a:r>
            <a:r>
              <a:rPr lang="de-DE" dirty="0" err="1"/>
              <a:t>is</a:t>
            </a:r>
            <a:r>
              <a:rPr lang="de-DE" dirty="0"/>
              <a:t> </a:t>
            </a:r>
            <a:r>
              <a:rPr lang="de-DE" dirty="0" err="1"/>
              <a:t>held</a:t>
            </a:r>
            <a:r>
              <a:rPr lang="de-DE" dirty="0"/>
              <a:t>.</a:t>
            </a:r>
          </a:p>
          <a:p>
            <a:endParaRPr lang="de-DE" dirty="0"/>
          </a:p>
          <a:p>
            <a:r>
              <a:rPr lang="de-DE" dirty="0"/>
              <a:t>After </a:t>
            </a:r>
            <a:r>
              <a:rPr lang="de-DE" dirty="0" err="1"/>
              <a:t>the</a:t>
            </a:r>
            <a:r>
              <a:rPr lang="de-DE" dirty="0"/>
              <a:t> </a:t>
            </a:r>
            <a:r>
              <a:rPr lang="de-DE" dirty="0" err="1"/>
              <a:t>coding</a:t>
            </a:r>
            <a:r>
              <a:rPr lang="de-DE" dirty="0"/>
              <a:t> </a:t>
            </a:r>
            <a:r>
              <a:rPr lang="de-DE" dirty="0" err="1"/>
              <a:t>session</a:t>
            </a:r>
            <a:r>
              <a:rPr lang="de-DE" dirty="0"/>
              <a:t> </a:t>
            </a:r>
            <a:r>
              <a:rPr lang="de-DE" dirty="0" err="1"/>
              <a:t>taught</a:t>
            </a:r>
            <a:r>
              <a:rPr lang="de-DE" dirty="0"/>
              <a:t> </a:t>
            </a:r>
            <a:r>
              <a:rPr lang="de-DE" dirty="0" err="1"/>
              <a:t>by</a:t>
            </a:r>
            <a:r>
              <a:rPr lang="de-DE" dirty="0"/>
              <a:t> </a:t>
            </a:r>
            <a:r>
              <a:rPr lang="de-DE" dirty="0" err="1"/>
              <a:t>the</a:t>
            </a:r>
            <a:r>
              <a:rPr lang="de-DE" dirty="0"/>
              <a:t> </a:t>
            </a:r>
            <a:r>
              <a:rPr lang="de-DE" dirty="0" err="1"/>
              <a:t>instructor</a:t>
            </a:r>
            <a:r>
              <a:rPr lang="de-DE" dirty="0"/>
              <a:t>, </a:t>
            </a:r>
            <a:r>
              <a:rPr lang="de-DE" dirty="0" err="1"/>
              <a:t>students</a:t>
            </a:r>
            <a:r>
              <a:rPr lang="de-DE" dirty="0"/>
              <a:t> </a:t>
            </a:r>
            <a:r>
              <a:rPr lang="de-DE" dirty="0" err="1"/>
              <a:t>are</a:t>
            </a:r>
            <a:r>
              <a:rPr lang="de-DE" dirty="0"/>
              <a:t> </a:t>
            </a:r>
            <a:r>
              <a:rPr lang="de-DE" dirty="0" err="1"/>
              <a:t>asked</a:t>
            </a:r>
            <a:r>
              <a:rPr lang="de-DE" dirty="0"/>
              <a:t> </a:t>
            </a:r>
            <a:r>
              <a:rPr lang="de-DE" dirty="0" err="1"/>
              <a:t>to</a:t>
            </a:r>
            <a:r>
              <a:rPr lang="de-DE" dirty="0"/>
              <a:t> </a:t>
            </a:r>
            <a:r>
              <a:rPr lang="de-DE" dirty="0" err="1"/>
              <a:t>replicate</a:t>
            </a:r>
            <a:r>
              <a:rPr lang="de-DE" dirty="0"/>
              <a:t>/</a:t>
            </a:r>
            <a:r>
              <a:rPr lang="de-DE" dirty="0" err="1"/>
              <a:t>apply</a:t>
            </a:r>
            <a:r>
              <a:rPr lang="de-DE" dirty="0"/>
              <a:t> code </a:t>
            </a:r>
            <a:r>
              <a:rPr lang="de-DE" dirty="0" err="1"/>
              <a:t>snippets</a:t>
            </a:r>
            <a:r>
              <a:rPr lang="de-DE" dirty="0"/>
              <a:t> </a:t>
            </a:r>
            <a:r>
              <a:rPr lang="de-DE" dirty="0" err="1"/>
              <a:t>to</a:t>
            </a:r>
            <a:r>
              <a:rPr lang="de-DE" dirty="0"/>
              <a:t> a </a:t>
            </a:r>
            <a:r>
              <a:rPr lang="de-DE" dirty="0" err="1"/>
              <a:t>similar</a:t>
            </a:r>
            <a:r>
              <a:rPr lang="de-DE" dirty="0"/>
              <a:t> </a:t>
            </a:r>
            <a:r>
              <a:rPr lang="de-DE" dirty="0" err="1"/>
              <a:t>task</a:t>
            </a:r>
            <a:r>
              <a:rPr lang="de-DE" dirty="0"/>
              <a:t>.</a:t>
            </a:r>
          </a:p>
          <a:p>
            <a:endParaRPr lang="de-DE" dirty="0"/>
          </a:p>
          <a:p>
            <a:r>
              <a:rPr lang="de-DE" dirty="0" err="1"/>
              <a:t>Each</a:t>
            </a:r>
            <a:r>
              <a:rPr lang="de-DE" dirty="0"/>
              <a:t> </a:t>
            </a:r>
            <a:r>
              <a:rPr lang="de-DE" dirty="0" err="1"/>
              <a:t>session</a:t>
            </a:r>
            <a:r>
              <a:rPr lang="de-DE" dirty="0"/>
              <a:t> </a:t>
            </a:r>
            <a:r>
              <a:rPr lang="de-DE" dirty="0" err="1"/>
              <a:t>finishes</a:t>
            </a:r>
            <a:r>
              <a:rPr lang="de-DE" dirty="0"/>
              <a:t> </a:t>
            </a:r>
            <a:r>
              <a:rPr lang="de-DE" dirty="0" err="1"/>
              <a:t>to</a:t>
            </a:r>
            <a:r>
              <a:rPr lang="de-DE" dirty="0"/>
              <a:t> </a:t>
            </a:r>
            <a:r>
              <a:rPr lang="de-DE" dirty="0" err="1"/>
              <a:t>give</a:t>
            </a:r>
            <a:r>
              <a:rPr lang="de-DE" dirty="0"/>
              <a:t> </a:t>
            </a:r>
            <a:r>
              <a:rPr lang="de-DE" dirty="0" err="1"/>
              <a:t>students</a:t>
            </a:r>
            <a:r>
              <a:rPr lang="de-DE" dirty="0"/>
              <a:t> </a:t>
            </a:r>
            <a:r>
              <a:rPr lang="de-DE" dirty="0" err="1"/>
              <a:t>the</a:t>
            </a:r>
            <a:r>
              <a:rPr lang="de-DE" dirty="0"/>
              <a:t> </a:t>
            </a:r>
            <a:r>
              <a:rPr lang="de-DE" dirty="0" err="1"/>
              <a:t>opportunity</a:t>
            </a:r>
            <a:r>
              <a:rPr lang="de-DE" dirty="0"/>
              <a:t> </a:t>
            </a:r>
            <a:r>
              <a:rPr lang="de-DE" dirty="0" err="1"/>
              <a:t>to</a:t>
            </a:r>
            <a:r>
              <a:rPr lang="de-DE" dirty="0"/>
              <a:t> </a:t>
            </a:r>
            <a:r>
              <a:rPr lang="de-DE" dirty="0" err="1"/>
              <a:t>work</a:t>
            </a:r>
            <a:r>
              <a:rPr lang="de-DE" dirty="0"/>
              <a:t> on </a:t>
            </a:r>
            <a:r>
              <a:rPr lang="de-DE" dirty="0" err="1"/>
              <a:t>the</a:t>
            </a:r>
            <a:r>
              <a:rPr lang="de-DE" dirty="0"/>
              <a:t> mini </a:t>
            </a:r>
            <a:r>
              <a:rPr lang="de-DE" dirty="0" err="1"/>
              <a:t>cases</a:t>
            </a:r>
            <a:r>
              <a:rPr lang="de-DE" dirty="0"/>
              <a:t> </a:t>
            </a:r>
            <a:r>
              <a:rPr lang="de-DE" dirty="0" err="1"/>
              <a:t>under</a:t>
            </a:r>
            <a:r>
              <a:rPr lang="de-DE" dirty="0"/>
              <a:t> </a:t>
            </a:r>
            <a:r>
              <a:rPr lang="de-DE" dirty="0" err="1"/>
              <a:t>the</a:t>
            </a:r>
            <a:r>
              <a:rPr lang="de-DE" dirty="0"/>
              <a:t> </a:t>
            </a:r>
            <a:r>
              <a:rPr lang="de-DE" dirty="0" err="1"/>
              <a:t>supervision</a:t>
            </a:r>
            <a:r>
              <a:rPr lang="de-DE" dirty="0"/>
              <a:t> of </a:t>
            </a:r>
            <a:r>
              <a:rPr lang="de-DE" dirty="0" err="1"/>
              <a:t>the</a:t>
            </a:r>
            <a:r>
              <a:rPr lang="de-DE" dirty="0"/>
              <a:t> </a:t>
            </a:r>
            <a:r>
              <a:rPr lang="de-DE" dirty="0" err="1"/>
              <a:t>instructor</a:t>
            </a:r>
            <a:r>
              <a:rPr lang="de-DE" dirty="0"/>
              <a:t>.</a:t>
            </a:r>
          </a:p>
          <a:p>
            <a:endParaRPr lang="de-DE" dirty="0"/>
          </a:p>
          <a:p>
            <a:r>
              <a:rPr lang="de-DE" dirty="0" err="1"/>
              <a:t>Each</a:t>
            </a:r>
            <a:r>
              <a:rPr lang="de-DE" dirty="0"/>
              <a:t> </a:t>
            </a:r>
            <a:r>
              <a:rPr lang="de-DE" dirty="0" err="1"/>
              <a:t>coding</a:t>
            </a:r>
            <a:r>
              <a:rPr lang="de-DE" dirty="0"/>
              <a:t> </a:t>
            </a:r>
            <a:r>
              <a:rPr lang="de-DE" dirty="0" err="1"/>
              <a:t>exercise</a:t>
            </a:r>
            <a:r>
              <a:rPr lang="de-DE" dirty="0"/>
              <a:t> </a:t>
            </a:r>
            <a:r>
              <a:rPr lang="de-DE" dirty="0" err="1"/>
              <a:t>accounts</a:t>
            </a:r>
            <a:r>
              <a:rPr lang="de-DE" dirty="0"/>
              <a:t> </a:t>
            </a:r>
            <a:r>
              <a:rPr lang="de-DE" dirty="0" err="1"/>
              <a:t>for</a:t>
            </a:r>
            <a:r>
              <a:rPr lang="de-DE" dirty="0"/>
              <a:t> 4 </a:t>
            </a:r>
            <a:r>
              <a:rPr lang="de-DE" dirty="0" err="1"/>
              <a:t>points</a:t>
            </a:r>
            <a:r>
              <a:rPr lang="de-DE" dirty="0"/>
              <a:t>. </a:t>
            </a:r>
          </a:p>
          <a:p>
            <a:endParaRPr lang="de-DE" dirty="0"/>
          </a:p>
          <a:p>
            <a:r>
              <a:rPr lang="de-DE" dirty="0" err="1"/>
              <a:t>Students</a:t>
            </a:r>
            <a:r>
              <a:rPr lang="de-DE" dirty="0"/>
              <a:t> </a:t>
            </a:r>
            <a:r>
              <a:rPr lang="de-DE" dirty="0" err="1"/>
              <a:t>have</a:t>
            </a:r>
            <a:r>
              <a:rPr lang="de-DE" dirty="0"/>
              <a:t> </a:t>
            </a:r>
            <a:r>
              <a:rPr lang="de-DE" dirty="0" err="1"/>
              <a:t>to</a:t>
            </a:r>
            <a:r>
              <a:rPr lang="de-DE" dirty="0"/>
              <a:t> </a:t>
            </a:r>
            <a:r>
              <a:rPr lang="de-DE" dirty="0" err="1"/>
              <a:t>submit</a:t>
            </a:r>
            <a:r>
              <a:rPr lang="de-DE" dirty="0"/>
              <a:t> </a:t>
            </a:r>
            <a:r>
              <a:rPr lang="de-DE" dirty="0" err="1"/>
              <a:t>the</a:t>
            </a:r>
            <a:r>
              <a:rPr lang="de-DE" dirty="0"/>
              <a:t> R </a:t>
            </a:r>
            <a:r>
              <a:rPr lang="de-DE" dirty="0" err="1"/>
              <a:t>file</a:t>
            </a:r>
            <a:r>
              <a:rPr lang="de-DE" dirty="0"/>
              <a:t> on Canvas. </a:t>
            </a:r>
          </a:p>
          <a:p>
            <a:endParaRPr lang="de-DE" dirty="0"/>
          </a:p>
          <a:p>
            <a:endParaRPr lang="de-DE" dirty="0"/>
          </a:p>
          <a:p>
            <a:endParaRPr lang="de-DE" dirty="0"/>
          </a:p>
          <a:p>
            <a:endParaRPr lang="de-DE" dirty="0"/>
          </a:p>
        </p:txBody>
      </p:sp>
      <p:sp>
        <p:nvSpPr>
          <p:cNvPr id="4" name="Foliennummernplatzhalter 3">
            <a:extLst>
              <a:ext uri="{FF2B5EF4-FFF2-40B4-BE49-F238E27FC236}">
                <a16:creationId xmlns:a16="http://schemas.microsoft.com/office/drawing/2014/main" id="{C65B8795-BAA0-8AA5-F019-93B657B11755}"/>
              </a:ext>
            </a:extLst>
          </p:cNvPr>
          <p:cNvSpPr>
            <a:spLocks noGrp="1"/>
          </p:cNvSpPr>
          <p:nvPr>
            <p:ph type="sldNum" sz="quarter" idx="12"/>
          </p:nvPr>
        </p:nvSpPr>
        <p:spPr/>
        <p:txBody>
          <a:bodyPr/>
          <a:lstStyle/>
          <a:p>
            <a:r>
              <a:rPr lang="en-GB"/>
              <a:t>Page </a:t>
            </a:r>
            <a:fld id="{BE3DC40E-DBBE-4E2D-9EEC-FBF0DA0E9179}" type="slidenum">
              <a:rPr lang="en-GB" smtClean="0"/>
              <a:t>14</a:t>
            </a:fld>
            <a:endParaRPr lang="en-GB" dirty="0"/>
          </a:p>
        </p:txBody>
      </p:sp>
      <p:sp>
        <p:nvSpPr>
          <p:cNvPr id="5" name="Titel 4">
            <a:extLst>
              <a:ext uri="{FF2B5EF4-FFF2-40B4-BE49-F238E27FC236}">
                <a16:creationId xmlns:a16="http://schemas.microsoft.com/office/drawing/2014/main" id="{EBD23A26-D9B3-CD12-836B-E89117D05148}"/>
              </a:ext>
            </a:extLst>
          </p:cNvPr>
          <p:cNvSpPr>
            <a:spLocks noGrp="1"/>
          </p:cNvSpPr>
          <p:nvPr>
            <p:ph type="title"/>
          </p:nvPr>
        </p:nvSpPr>
        <p:spPr/>
        <p:txBody>
          <a:bodyPr/>
          <a:lstStyle/>
          <a:p>
            <a:r>
              <a:rPr lang="de-DE" dirty="0"/>
              <a:t>Coding </a:t>
            </a:r>
            <a:r>
              <a:rPr lang="de-DE" dirty="0" err="1"/>
              <a:t>Exercises</a:t>
            </a:r>
            <a:r>
              <a:rPr lang="de-DE" dirty="0"/>
              <a:t> (individual)</a:t>
            </a:r>
          </a:p>
        </p:txBody>
      </p:sp>
    </p:spTree>
    <p:extLst>
      <p:ext uri="{BB962C8B-B14F-4D97-AF65-F5344CB8AC3E}">
        <p14:creationId xmlns:p14="http://schemas.microsoft.com/office/powerpoint/2010/main" val="35703585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96CE3804-FD28-E87B-4006-4171120AF36B}"/>
              </a:ext>
            </a:extLst>
          </p:cNvPr>
          <p:cNvSpPr>
            <a:spLocks noGrp="1"/>
          </p:cNvSpPr>
          <p:nvPr>
            <p:ph type="sldNum" sz="quarter" idx="12"/>
          </p:nvPr>
        </p:nvSpPr>
        <p:spPr/>
        <p:txBody>
          <a:bodyPr/>
          <a:lstStyle/>
          <a:p>
            <a:r>
              <a:rPr lang="en-GB"/>
              <a:t>Page </a:t>
            </a:r>
            <a:fld id="{BE3DC40E-DBBE-4E2D-9EEC-FBF0DA0E9179}" type="slidenum">
              <a:rPr lang="en-GB" smtClean="0"/>
              <a:t>15</a:t>
            </a:fld>
            <a:endParaRPr lang="en-GB" dirty="0"/>
          </a:p>
        </p:txBody>
      </p:sp>
      <p:sp>
        <p:nvSpPr>
          <p:cNvPr id="5" name="Titel 4">
            <a:extLst>
              <a:ext uri="{FF2B5EF4-FFF2-40B4-BE49-F238E27FC236}">
                <a16:creationId xmlns:a16="http://schemas.microsoft.com/office/drawing/2014/main" id="{BD7B1CD2-D505-97EF-B317-90E8336730F1}"/>
              </a:ext>
            </a:extLst>
          </p:cNvPr>
          <p:cNvSpPr>
            <a:spLocks noGrp="1"/>
          </p:cNvSpPr>
          <p:nvPr>
            <p:ph type="title"/>
          </p:nvPr>
        </p:nvSpPr>
        <p:spPr/>
        <p:txBody>
          <a:bodyPr/>
          <a:lstStyle/>
          <a:p>
            <a:r>
              <a:rPr lang="de-DE" dirty="0"/>
              <a:t>Peer Rating</a:t>
            </a:r>
          </a:p>
        </p:txBody>
      </p:sp>
      <p:pic>
        <p:nvPicPr>
          <p:cNvPr id="7" name="Grafik 6">
            <a:extLst>
              <a:ext uri="{FF2B5EF4-FFF2-40B4-BE49-F238E27FC236}">
                <a16:creationId xmlns:a16="http://schemas.microsoft.com/office/drawing/2014/main" id="{EA07C90F-CE60-7B37-D297-26E24EC17F2B}"/>
              </a:ext>
            </a:extLst>
          </p:cNvPr>
          <p:cNvPicPr>
            <a:picLocks noChangeAspect="1"/>
          </p:cNvPicPr>
          <p:nvPr/>
        </p:nvPicPr>
        <p:blipFill>
          <a:blip r:embed="rId3"/>
          <a:stretch>
            <a:fillRect/>
          </a:stretch>
        </p:blipFill>
        <p:spPr>
          <a:xfrm>
            <a:off x="2232917" y="1142564"/>
            <a:ext cx="3979523" cy="4160242"/>
          </a:xfrm>
          <a:prstGeom prst="rect">
            <a:avLst/>
          </a:prstGeom>
        </p:spPr>
      </p:pic>
    </p:spTree>
    <p:extLst>
      <p:ext uri="{BB962C8B-B14F-4D97-AF65-F5344CB8AC3E}">
        <p14:creationId xmlns:p14="http://schemas.microsoft.com/office/powerpoint/2010/main" val="298032511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2834B473-0C3E-AB02-292B-13844A0B74E5}"/>
              </a:ext>
            </a:extLst>
          </p:cNvPr>
          <p:cNvSpPr>
            <a:spLocks noGrp="1"/>
          </p:cNvSpPr>
          <p:nvPr>
            <p:ph idx="1"/>
          </p:nvPr>
        </p:nvSpPr>
        <p:spPr/>
        <p:txBody>
          <a:bodyPr/>
          <a:lstStyle/>
          <a:p>
            <a:r>
              <a:rPr lang="de-DE" dirty="0"/>
              <a:t>Groups of 4-5 </a:t>
            </a:r>
            <a:r>
              <a:rPr lang="de-DE" dirty="0" err="1"/>
              <a:t>students</a:t>
            </a:r>
            <a:endParaRPr lang="de-DE" dirty="0"/>
          </a:p>
          <a:p>
            <a:endParaRPr lang="de-DE" dirty="0"/>
          </a:p>
          <a:p>
            <a:endParaRPr lang="de-DE" dirty="0"/>
          </a:p>
          <a:p>
            <a:r>
              <a:rPr lang="de-DE" dirty="0"/>
              <a:t>Submission </a:t>
            </a:r>
            <a:r>
              <a:rPr lang="de-DE" dirty="0" err="1"/>
              <a:t>files</a:t>
            </a:r>
            <a:r>
              <a:rPr lang="de-DE" dirty="0"/>
              <a:t>:</a:t>
            </a:r>
          </a:p>
          <a:p>
            <a:pPr lvl="1"/>
            <a:r>
              <a:rPr lang="de-DE" dirty="0"/>
              <a:t>Quarto </a:t>
            </a:r>
            <a:r>
              <a:rPr lang="de-DE" dirty="0" err="1"/>
              <a:t>file</a:t>
            </a:r>
            <a:endParaRPr lang="de-DE" dirty="0"/>
          </a:p>
          <a:p>
            <a:pPr lvl="1"/>
            <a:r>
              <a:rPr lang="de-DE" dirty="0" err="1"/>
              <a:t>Rendered</a:t>
            </a:r>
            <a:r>
              <a:rPr lang="de-DE" dirty="0"/>
              <a:t> </a:t>
            </a:r>
            <a:r>
              <a:rPr lang="de-DE" dirty="0" err="1"/>
              <a:t>output</a:t>
            </a:r>
            <a:r>
              <a:rPr lang="de-DE" dirty="0"/>
              <a:t> </a:t>
            </a:r>
            <a:r>
              <a:rPr lang="de-DE" dirty="0" err="1"/>
              <a:t>file</a:t>
            </a:r>
            <a:r>
              <a:rPr lang="de-DE" dirty="0"/>
              <a:t> (</a:t>
            </a:r>
            <a:r>
              <a:rPr lang="de-DE" dirty="0" err="1"/>
              <a:t>html</a:t>
            </a:r>
            <a:r>
              <a:rPr lang="de-DE" dirty="0"/>
              <a:t> </a:t>
            </a:r>
            <a:r>
              <a:rPr lang="de-DE" dirty="0" err="1"/>
              <a:t>recommended</a:t>
            </a:r>
            <a:endParaRPr lang="de-DE" dirty="0"/>
          </a:p>
          <a:p>
            <a:pPr lvl="1"/>
            <a:r>
              <a:rPr lang="de-DE" dirty="0"/>
              <a:t>Data </a:t>
            </a:r>
            <a:r>
              <a:rPr lang="de-DE" dirty="0" err="1"/>
              <a:t>file</a:t>
            </a:r>
            <a:endParaRPr lang="de-DE" dirty="0"/>
          </a:p>
          <a:p>
            <a:pPr lvl="1"/>
            <a:endParaRPr lang="de-DE" dirty="0"/>
          </a:p>
          <a:p>
            <a:r>
              <a:rPr lang="de-DE" dirty="0"/>
              <a:t>Online Consulting Hours (Registration </a:t>
            </a:r>
            <a:r>
              <a:rPr lang="de-DE" dirty="0" err="1"/>
              <a:t>needed</a:t>
            </a:r>
            <a:r>
              <a:rPr lang="de-DE" dirty="0"/>
              <a:t>)</a:t>
            </a:r>
          </a:p>
          <a:p>
            <a:endParaRPr lang="de-DE" dirty="0"/>
          </a:p>
          <a:p>
            <a:r>
              <a:rPr lang="de-DE" dirty="0"/>
              <a:t>Submission </a:t>
            </a:r>
            <a:r>
              <a:rPr lang="de-DE" dirty="0" err="1"/>
              <a:t>by</a:t>
            </a:r>
            <a:r>
              <a:rPr lang="de-DE" dirty="0"/>
              <a:t> </a:t>
            </a:r>
            <a:r>
              <a:rPr lang="de-DE" dirty="0" err="1"/>
              <a:t>Dec</a:t>
            </a:r>
            <a:r>
              <a:rPr lang="de-DE" dirty="0"/>
              <a:t> 15th, 6pm </a:t>
            </a:r>
          </a:p>
        </p:txBody>
      </p:sp>
      <p:sp>
        <p:nvSpPr>
          <p:cNvPr id="4" name="Foliennummernplatzhalter 3">
            <a:extLst>
              <a:ext uri="{FF2B5EF4-FFF2-40B4-BE49-F238E27FC236}">
                <a16:creationId xmlns:a16="http://schemas.microsoft.com/office/drawing/2014/main" id="{C8620490-7AD3-6312-48C5-98D12D72862B}"/>
              </a:ext>
            </a:extLst>
          </p:cNvPr>
          <p:cNvSpPr>
            <a:spLocks noGrp="1"/>
          </p:cNvSpPr>
          <p:nvPr>
            <p:ph type="sldNum" sz="quarter" idx="12"/>
          </p:nvPr>
        </p:nvSpPr>
        <p:spPr/>
        <p:txBody>
          <a:bodyPr/>
          <a:lstStyle/>
          <a:p>
            <a:r>
              <a:rPr lang="en-GB"/>
              <a:t>Page </a:t>
            </a:r>
            <a:fld id="{BE3DC40E-DBBE-4E2D-9EEC-FBF0DA0E9179}" type="slidenum">
              <a:rPr lang="en-GB" smtClean="0"/>
              <a:t>16</a:t>
            </a:fld>
            <a:endParaRPr lang="en-GB" dirty="0"/>
          </a:p>
        </p:txBody>
      </p:sp>
      <p:sp>
        <p:nvSpPr>
          <p:cNvPr id="5" name="Titel 4">
            <a:extLst>
              <a:ext uri="{FF2B5EF4-FFF2-40B4-BE49-F238E27FC236}">
                <a16:creationId xmlns:a16="http://schemas.microsoft.com/office/drawing/2014/main" id="{90707BC8-DF6B-D385-A0D9-E2DCF11A75FB}"/>
              </a:ext>
            </a:extLst>
          </p:cNvPr>
          <p:cNvSpPr>
            <a:spLocks noGrp="1"/>
          </p:cNvSpPr>
          <p:nvPr>
            <p:ph type="title"/>
          </p:nvPr>
        </p:nvSpPr>
        <p:spPr/>
        <p:txBody>
          <a:bodyPr/>
          <a:lstStyle/>
          <a:p>
            <a:r>
              <a:rPr lang="de-DE" dirty="0"/>
              <a:t>Group Report</a:t>
            </a:r>
          </a:p>
        </p:txBody>
      </p:sp>
    </p:spTree>
    <p:extLst>
      <p:ext uri="{BB962C8B-B14F-4D97-AF65-F5344CB8AC3E}">
        <p14:creationId xmlns:p14="http://schemas.microsoft.com/office/powerpoint/2010/main" val="299828753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C62A015-37F1-4F2B-AAA6-93D0CBD93901}"/>
              </a:ext>
            </a:extLst>
          </p:cNvPr>
          <p:cNvSpPr>
            <a:spLocks noGrp="1"/>
          </p:cNvSpPr>
          <p:nvPr>
            <p:ph idx="1"/>
          </p:nvPr>
        </p:nvSpPr>
        <p:spPr/>
        <p:txBody>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lgn="ctr">
              <a:buNone/>
            </a:pPr>
            <a:r>
              <a:rPr lang="en-GB" sz="2800" dirty="0"/>
              <a:t>Any Questions?</a:t>
            </a:r>
          </a:p>
        </p:txBody>
      </p:sp>
      <p:sp>
        <p:nvSpPr>
          <p:cNvPr id="4" name="Slide Number Placeholder 3">
            <a:extLst>
              <a:ext uri="{FF2B5EF4-FFF2-40B4-BE49-F238E27FC236}">
                <a16:creationId xmlns:a16="http://schemas.microsoft.com/office/drawing/2014/main" id="{1DA2EAC8-2AA3-452F-83EA-7705DBAB0D56}"/>
              </a:ext>
            </a:extLst>
          </p:cNvPr>
          <p:cNvSpPr>
            <a:spLocks noGrp="1"/>
          </p:cNvSpPr>
          <p:nvPr>
            <p:ph type="sldNum" sz="quarter" idx="12"/>
          </p:nvPr>
        </p:nvSpPr>
        <p:spPr/>
        <p:txBody>
          <a:bodyPr/>
          <a:lstStyle/>
          <a:p>
            <a:r>
              <a:rPr lang="en-GB"/>
              <a:t>Page </a:t>
            </a:r>
            <a:fld id="{BE3DC40E-DBBE-4E2D-9EEC-FBF0DA0E9179}" type="slidenum">
              <a:rPr lang="en-GB" smtClean="0"/>
              <a:t>17</a:t>
            </a:fld>
            <a:endParaRPr lang="en-GB" dirty="0"/>
          </a:p>
        </p:txBody>
      </p:sp>
      <p:sp>
        <p:nvSpPr>
          <p:cNvPr id="5" name="Title 4">
            <a:extLst>
              <a:ext uri="{FF2B5EF4-FFF2-40B4-BE49-F238E27FC236}">
                <a16:creationId xmlns:a16="http://schemas.microsoft.com/office/drawing/2014/main" id="{CE26CB4D-7DE0-4723-A39E-BD11EFF14DC2}"/>
              </a:ext>
            </a:extLst>
          </p:cNvPr>
          <p:cNvSpPr>
            <a:spLocks noGrp="1"/>
          </p:cNvSpPr>
          <p:nvPr>
            <p:ph type="title"/>
          </p:nvPr>
        </p:nvSpPr>
        <p:spPr/>
        <p:txBody>
          <a:bodyPr/>
          <a:lstStyle/>
          <a:p>
            <a:r>
              <a:rPr lang="en-GB" dirty="0"/>
              <a:t>Q &amp; A</a:t>
            </a:r>
          </a:p>
        </p:txBody>
      </p:sp>
    </p:spTree>
    <p:extLst>
      <p:ext uri="{BB962C8B-B14F-4D97-AF65-F5344CB8AC3E}">
        <p14:creationId xmlns:p14="http://schemas.microsoft.com/office/powerpoint/2010/main" val="292274459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Props1.xml><?xml version="1.0" encoding="utf-8"?>
<ds:datastoreItem xmlns:ds="http://schemas.openxmlformats.org/officeDocument/2006/customXml" ds:itemID="{E89857B5-BC10-4782-8A0F-717F20E5E229}">
  <ds:schemaRefs>
    <ds:schemaRef ds:uri="http://schemas.microsoft.com/sharepoint/v3/contenttype/forms"/>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5929A89-D8E6-4794-A98F-6609FAAECB3B}">
  <ds:schemaRefs>
    <ds:schemaRef ds:uri="http://purl.org/dc/terms/"/>
    <ds:schemaRef ds:uri="http://schemas.microsoft.com/office/2006/metadata/properties"/>
    <ds:schemaRef ds:uri="08b0a3ee-3d2a-451c-9a1a-7e5d5b0c9c77"/>
    <ds:schemaRef ds:uri="http://purl.org/dc/elements/1.1/"/>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1a8d9a65-8471-4209-a900-f8e11db75e0a"/>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1310</Words>
  <Application>Microsoft Office PowerPoint</Application>
  <PresentationFormat>Bildschirmpräsentation (16:10)</PresentationFormat>
  <Paragraphs>218</Paragraphs>
  <Slides>17</Slides>
  <Notes>17</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17</vt:i4>
      </vt:variant>
    </vt:vector>
  </HeadingPairs>
  <TitlesOfParts>
    <vt:vector size="24" baseType="lpstr">
      <vt:lpstr>Arial</vt:lpstr>
      <vt:lpstr>Calibri</vt:lpstr>
      <vt:lpstr>Georgia</vt:lpstr>
      <vt:lpstr>Verdana</vt:lpstr>
      <vt:lpstr>Wingdings</vt:lpstr>
      <vt:lpstr>WU 16:10</vt:lpstr>
      <vt:lpstr>think-cell Folie</vt:lpstr>
      <vt:lpstr>International Marketing Analytics–  Course Content and Style</vt:lpstr>
      <vt:lpstr>The Journey begins…</vt:lpstr>
      <vt:lpstr>PowerPoint-Präsentation</vt:lpstr>
      <vt:lpstr>PowerPoint-Präsentation</vt:lpstr>
      <vt:lpstr>Module Content</vt:lpstr>
      <vt:lpstr>Module Content (continued)</vt:lpstr>
      <vt:lpstr>Learning Outcomes</vt:lpstr>
      <vt:lpstr>Learning Outcomes (continued)</vt:lpstr>
      <vt:lpstr>Methods of Teaching &amp; Learning</vt:lpstr>
      <vt:lpstr>Module Roadmap</vt:lpstr>
      <vt:lpstr>Assessment Strategy</vt:lpstr>
      <vt:lpstr>Online Certificates</vt:lpstr>
      <vt:lpstr>Online Quizzes (individual)</vt:lpstr>
      <vt:lpstr>Coding Exercises (individual)</vt:lpstr>
      <vt:lpstr>Peer Rating</vt:lpstr>
      <vt:lpstr>Group Report</vt:lpstr>
      <vt:lpstr>Q &amp; A</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Arne Floh</cp:lastModifiedBy>
  <cp:revision>4</cp:revision>
  <dcterms:created xsi:type="dcterms:W3CDTF">2019-10-02T13:00:38Z</dcterms:created>
  <dcterms:modified xsi:type="dcterms:W3CDTF">2025-10-08T13:09:56Z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