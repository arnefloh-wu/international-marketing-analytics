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4"/>
  </p:sldMasterIdLst>
  <p:notesMasterIdLst>
    <p:notesMasterId r:id="rId25"/>
  </p:notesMasterIdLst>
  <p:handoutMasterIdLst>
    <p:handoutMasterId r:id="rId26"/>
  </p:handoutMasterIdLst>
  <p:sldIdLst>
    <p:sldId id="299" r:id="rId5"/>
    <p:sldId id="316" r:id="rId6"/>
    <p:sldId id="317" r:id="rId7"/>
    <p:sldId id="318" r:id="rId8"/>
    <p:sldId id="319" r:id="rId9"/>
    <p:sldId id="320" r:id="rId10"/>
    <p:sldId id="333" r:id="rId11"/>
    <p:sldId id="321" r:id="rId12"/>
    <p:sldId id="330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31" r:id="rId21"/>
    <p:sldId id="329" r:id="rId22"/>
    <p:sldId id="334" r:id="rId23"/>
    <p:sldId id="332" r:id="rId24"/>
  </p:sldIdLst>
  <p:sldSz cx="9144000" cy="5715000" type="screen16x10"/>
  <p:notesSz cx="6669088" cy="9926638"/>
  <p:custDataLst>
    <p:tags r:id="rId2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3" pos="4241">
          <p15:clr>
            <a:srgbClr val="A4A3A4"/>
          </p15:clr>
        </p15:guide>
        <p15:guide id="4" pos="4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5" name="Autor" initials="A" lastIdx="0" clrIdx="1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F7"/>
    <a:srgbClr val="CBDDEF"/>
    <a:srgbClr val="0096D3"/>
    <a:srgbClr val="0C94B7"/>
    <a:srgbClr val="41B4CE"/>
    <a:srgbClr val="73BAD1"/>
    <a:srgbClr val="65B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3783" autoAdjust="0"/>
  </p:normalViewPr>
  <p:slideViewPr>
    <p:cSldViewPr snapToGrid="0" showGuides="1">
      <p:cViewPr varScale="1">
        <p:scale>
          <a:sx n="141" d="100"/>
          <a:sy n="141" d="100"/>
        </p:scale>
        <p:origin x="606" y="336"/>
      </p:cViewPr>
      <p:guideLst>
        <p:guide orient="horz" pos="1800"/>
        <p:guide pos="4241"/>
        <p:guide pos="4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0" d="100"/>
          <a:sy n="70" d="100"/>
        </p:scale>
        <p:origin x="3086" y="67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3456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89938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7607" y="1"/>
            <a:ext cx="2889938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C0A972FC-F5E0-4F80-B169-F0B5EFC71333}" type="datetimeFigureOut">
              <a:rPr lang="en-GB" smtClean="0"/>
              <a:pPr/>
              <a:t>06/10/2025</a:t>
            </a:fld>
            <a:endParaRPr lang="en-GB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744538"/>
            <a:ext cx="595471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909" y="4715154"/>
            <a:ext cx="5335270" cy="4466987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219CC2FD-B32F-4992-A15B-F95E2E35C81B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13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itchFamily="34" charset="0"/>
        <a:ea typeface="Verdana" pitchFamily="34" charset="0"/>
        <a:cs typeface="Verdan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595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32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737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9665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7166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470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4289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9356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1981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4758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09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4198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9335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296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8973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5244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1109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61202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5465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088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baseline="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5A845CD-2D10-42BB-97DB-CDA723EE9E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A49BD17-4238-4565-A4B6-2E20A7C19F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89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6" name="Rechteck 2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Rechteck 2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8" y="1294973"/>
            <a:ext cx="5466982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8" y="993080"/>
            <a:ext cx="5466982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6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E16B78E-14FB-4C1E-8625-0D5A429E49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9B62297-FBCA-40E7-A876-7818F7A81C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2019" y="1344613"/>
            <a:ext cx="7759644" cy="3853905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2197447" y="5412059"/>
            <a:ext cx="4288788" cy="25808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DECISION MAKING IN International marketing – arne.floh@wu.ac.at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6" name="Rechteck 1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A9844F5-FA66-4582-86D9-5CEB57D815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B702B7F6-CDD2-4C6E-BBC1-61A114A8A8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29960"/>
            <a:ext cx="1831485" cy="317581"/>
          </a:xfrm>
          <a:prstGeom prst="rect">
            <a:avLst/>
          </a:prstGeom>
        </p:spPr>
      </p:pic>
      <p:sp>
        <p:nvSpPr>
          <p:cNvPr id="19" name="Fußzeilenplatzhalter 7">
            <a:extLst>
              <a:ext uri="{FF2B5EF4-FFF2-40B4-BE49-F238E27FC236}">
                <a16:creationId xmlns:a16="http://schemas.microsoft.com/office/drawing/2014/main" id="{F959F09D-410A-4C50-85BD-B603EF24DA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200859" y="5186867"/>
            <a:ext cx="4288788" cy="25808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DECISION MAKING IN International marketing – arne.floh@wu.ac.at</a:t>
            </a:r>
          </a:p>
        </p:txBody>
      </p:sp>
      <p:sp>
        <p:nvSpPr>
          <p:cNvPr id="20" name="Foliennummernplatzhalter 8">
            <a:extLst>
              <a:ext uri="{FF2B5EF4-FFF2-40B4-BE49-F238E27FC236}">
                <a16:creationId xmlns:a16="http://schemas.microsoft.com/office/drawing/2014/main" id="{AAFDF4C6-0371-450A-81E1-9B5F772D34F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65819" y="5186867"/>
            <a:ext cx="892150" cy="258085"/>
          </a:xfrm>
        </p:spPr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67961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A463F4F5-A20D-4A70-B3F9-6AD8A3EE25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AB68F06-4800-4D63-9DF2-372B23A8EC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29960"/>
            <a:ext cx="1831485" cy="317581"/>
          </a:xfrm>
          <a:prstGeom prst="rect">
            <a:avLst/>
          </a:prstGeom>
        </p:spPr>
      </p:pic>
      <p:sp>
        <p:nvSpPr>
          <p:cNvPr id="11" name="Fußzeilenplatzhalter 7">
            <a:extLst>
              <a:ext uri="{FF2B5EF4-FFF2-40B4-BE49-F238E27FC236}">
                <a16:creationId xmlns:a16="http://schemas.microsoft.com/office/drawing/2014/main" id="{0F3239BF-C734-4AE2-A848-1987649B13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129208" y="5189456"/>
            <a:ext cx="4288788" cy="25808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DECISION MAKING IN International marketing – arne.floh@wu.ac.at</a:t>
            </a:r>
          </a:p>
        </p:txBody>
      </p:sp>
      <p:sp>
        <p:nvSpPr>
          <p:cNvPr id="16" name="Foliennummernplatzhalter 8">
            <a:extLst>
              <a:ext uri="{FF2B5EF4-FFF2-40B4-BE49-F238E27FC236}">
                <a16:creationId xmlns:a16="http://schemas.microsoft.com/office/drawing/2014/main" id="{004E9E31-99F2-49B4-B4F3-23698612F7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94168" y="5189456"/>
            <a:ext cx="892150" cy="258085"/>
          </a:xfrm>
        </p:spPr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26800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2" name="Rechteck 1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hteck 1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7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30D039B-1A60-42B3-A3E1-B44D86C63C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5D9B1B1-5069-4351-A01A-8CD0972841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811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ABF9D4AB-1FA6-4101-9EE8-B852A65B2A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DF8959B-5028-481F-A01F-8628D9F2E0D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6685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9" name="Rechteck 18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hteck 20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04218C8-068C-46BC-ADE6-6BC8A468BF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487AD36-3E46-4F41-8B5C-B79909802D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1637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3D0D44A-5625-4C70-A2EB-08D982355B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91D1A92-B997-47B5-A14A-E2A501C20D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11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22" name="Rechteck 2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Rechteck 2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 defTabSz="914400">
              <a:buNone/>
              <a:defRPr lang="de-DE" sz="1200" dirty="0" smtClean="0"/>
            </a:lvl1pPr>
          </a:lstStyle>
          <a:p>
            <a:pPr marL="0" lvl="0" defTabSz="914400"/>
            <a:r>
              <a:rPr lang="en-GB" dirty="0"/>
              <a:t>Subtitle chapter</a:t>
            </a:r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chapter header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89CCD104-DEA0-4048-8CA3-CAB740FC06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2F980AF-DDD0-4966-B1E7-E1B87083C7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  <p:sp>
        <p:nvSpPr>
          <p:cNvPr id="15" name="Fußzeilenplatzhalter 7">
            <a:extLst>
              <a:ext uri="{FF2B5EF4-FFF2-40B4-BE49-F238E27FC236}">
                <a16:creationId xmlns:a16="http://schemas.microsoft.com/office/drawing/2014/main" id="{2F556D45-E60D-4428-A131-E4F19504569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197447" y="5412059"/>
            <a:ext cx="4288788" cy="25808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DECISION MAKING IN International marketing – arne.floh@wu.ac.at</a:t>
            </a:r>
          </a:p>
        </p:txBody>
      </p:sp>
      <p:sp>
        <p:nvSpPr>
          <p:cNvPr id="16" name="Foliennummernplatzhalter 8">
            <a:extLst>
              <a:ext uri="{FF2B5EF4-FFF2-40B4-BE49-F238E27FC236}">
                <a16:creationId xmlns:a16="http://schemas.microsoft.com/office/drawing/2014/main" id="{A9898F41-FDE4-41D2-B59F-28A719F7A94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62407" y="5412059"/>
            <a:ext cx="892150" cy="258085"/>
          </a:xfrm>
        </p:spPr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297673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30259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1 line for chapter header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 defTabSz="914400">
              <a:buNone/>
              <a:defRPr lang="de-DE" sz="1200" dirty="0" smtClean="0"/>
            </a:lvl1pPr>
          </a:lstStyle>
          <a:p>
            <a:pPr marL="0" lvl="0" defTabSz="914400"/>
            <a:r>
              <a:rPr lang="en-GB" dirty="0"/>
              <a:t>Subtitle chapter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16AA66B-0354-461B-A799-CF3EFFC17D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0ECE620-FB2B-4217-AA10-439373F15D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  <p:sp>
        <p:nvSpPr>
          <p:cNvPr id="16" name="Fußzeilenplatzhalter 7">
            <a:extLst>
              <a:ext uri="{FF2B5EF4-FFF2-40B4-BE49-F238E27FC236}">
                <a16:creationId xmlns:a16="http://schemas.microsoft.com/office/drawing/2014/main" id="{D26CAEAF-CC5C-4599-9FA6-356F6B04BBE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197447" y="5412059"/>
            <a:ext cx="4288788" cy="25808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DECISION MAKING IN International marketing – arne.floh@wu.ac.at</a:t>
            </a:r>
          </a:p>
        </p:txBody>
      </p:sp>
      <p:sp>
        <p:nvSpPr>
          <p:cNvPr id="18" name="Foliennummernplatzhalter 8">
            <a:extLst>
              <a:ext uri="{FF2B5EF4-FFF2-40B4-BE49-F238E27FC236}">
                <a16:creationId xmlns:a16="http://schemas.microsoft.com/office/drawing/2014/main" id="{11979E2D-4879-4974-A0AD-74389ED928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62407" y="5412059"/>
            <a:ext cx="892150" cy="258085"/>
          </a:xfrm>
        </p:spPr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09461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0" hasCustomPrompt="1"/>
          </p:nvPr>
        </p:nvSpPr>
        <p:spPr>
          <a:xfrm>
            <a:off x="468316" y="1344613"/>
            <a:ext cx="8210547" cy="4370387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Placeholder for objects</a:t>
            </a:r>
          </a:p>
        </p:txBody>
      </p:sp>
      <p:sp>
        <p:nvSpPr>
          <p:cNvPr id="8" name="Rechteck 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93310F7-117D-4045-8610-3277CC5ED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344613"/>
            <a:ext cx="3960000" cy="3859212"/>
          </a:xfrm>
        </p:spPr>
        <p:txBody>
          <a:bodyPr>
            <a:normAutofit/>
          </a:bodyPr>
          <a:lstStyle>
            <a:lvl1pP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344613"/>
            <a:ext cx="3960000" cy="3859212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buClr>
                <a:schemeClr val="accent1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44FF-326E-4934-AE8D-65DEFF191BB1}" type="datetime1">
              <a:rPr lang="en-GB" smtClean="0"/>
              <a:t>06/10/2025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 hasCustomPrompt="1"/>
          </p:nvPr>
        </p:nvSpPr>
        <p:spPr bwMode="gray">
          <a:xfrm>
            <a:off x="46831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16A0E8-29DE-4D75-BF66-2C047D439D41}" type="datetime1">
              <a:rPr lang="en-GB" smtClean="0"/>
              <a:t>06/10/2025</a:t>
            </a:fld>
            <a:endParaRPr lang="en-GB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17" hasCustomPrompt="1"/>
          </p:nvPr>
        </p:nvSpPr>
        <p:spPr bwMode="gray">
          <a:xfrm>
            <a:off x="472789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2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467544" y="1964530"/>
            <a:ext cx="4319712" cy="271695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1" tIns="45715" rIns="91431" bIns="45715" rtlCol="0" anchor="ctr"/>
          <a:lstStyle/>
          <a:p>
            <a:pPr algn="ctr"/>
            <a:endParaRPr lang="en-GB" dirty="0"/>
          </a:p>
        </p:txBody>
      </p:sp>
      <p:pic>
        <p:nvPicPr>
          <p:cNvPr id="7" name="Grafik 6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127250"/>
            <a:ext cx="492443" cy="2252663"/>
          </a:xfrm>
          <a:prstGeom prst="rect">
            <a:avLst/>
          </a:prstGeom>
        </p:spPr>
      </p:pic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1684020" y="2559843"/>
            <a:ext cx="2763926" cy="1811291"/>
          </a:xfrm>
        </p:spPr>
        <p:txBody>
          <a:bodyPr>
            <a:normAutofit/>
          </a:bodyPr>
          <a:lstStyle>
            <a:lvl1pPr marL="0" marR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 sz="1100" baseline="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marR="0" lvl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Hier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Adressdaten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eingeben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1DA7DE9-F6B6-4FDA-A00F-1221D494593B}" type="datetime1">
              <a:rPr lang="en-GB" smtClean="0"/>
              <a:t>06/10/2025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UniOfSurrey -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0"/>
            <a:ext cx="9144000" cy="727665"/>
          </a:xfrm>
          <a:prstGeom prst="rect">
            <a:avLst/>
          </a:prstGeom>
          <a:solidFill>
            <a:srgbClr val="008A85"/>
          </a:solidFill>
          <a:ln>
            <a:solidFill>
              <a:srgbClr val="008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n>
                <a:noFill/>
              </a:ln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3500"/>
            <a:ext cx="8321443" cy="377163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>
                <a:solidFill>
                  <a:schemeClr val="tx1">
                    <a:lumMod val="50000"/>
                  </a:schemeClr>
                </a:solidFill>
                <a:latin typeface="Georgia" panose="02040502050405020303" pitchFamily="18" charset="0"/>
                <a:cs typeface="Arial"/>
              </a:defRPr>
            </a:lvl1pPr>
            <a:lvl2pPr>
              <a:defRPr sz="1500">
                <a:solidFill>
                  <a:srgbClr val="008A85"/>
                </a:solidFill>
                <a:latin typeface="Georgia" panose="02040502050405020303" pitchFamily="18" charset="0"/>
                <a:cs typeface="Arial"/>
              </a:defRPr>
            </a:lvl2pPr>
            <a:lvl3pPr>
              <a:defRPr sz="1500">
                <a:solidFill>
                  <a:srgbClr val="556169"/>
                </a:solidFill>
                <a:latin typeface="Georgia" panose="02040502050405020303" pitchFamily="18" charset="0"/>
                <a:cs typeface="Arial"/>
              </a:defRPr>
            </a:lvl3pPr>
            <a:lvl4pPr>
              <a:defRPr sz="1333">
                <a:solidFill>
                  <a:srgbClr val="008A85"/>
                </a:solidFill>
                <a:latin typeface="Georgia" panose="02040502050405020303" pitchFamily="18" charset="0"/>
                <a:cs typeface="Arial"/>
              </a:defRPr>
            </a:lvl4pPr>
            <a:lvl5pPr>
              <a:defRPr sz="1333">
                <a:solidFill>
                  <a:srgbClr val="556169"/>
                </a:solidFill>
                <a:latin typeface="Georgia" panose="02040502050405020303" pitchFamily="18" charset="0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80521"/>
            <a:ext cx="8321442" cy="3201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aseline="0">
                <a:solidFill>
                  <a:srgbClr val="4A4A49"/>
                </a:solidFill>
                <a:latin typeface="Georgia"/>
                <a:cs typeface="Georgia"/>
              </a:defRPr>
            </a:lvl1pPr>
          </a:lstStyle>
          <a:p>
            <a:pPr lvl="0"/>
            <a:r>
              <a:rPr lang="en-US" dirty="0"/>
              <a:t>Sub line / Content Title goes here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731668"/>
            <a:ext cx="9180000" cy="0"/>
          </a:xfrm>
          <a:prstGeom prst="line">
            <a:avLst/>
          </a:prstGeom>
          <a:ln w="6350" cmpd="sng">
            <a:solidFill>
              <a:srgbClr val="008A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352793"/>
            <a:ext cx="4507927" cy="344390"/>
          </a:xfrm>
        </p:spPr>
        <p:txBody>
          <a:bodyPr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title goes here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3311" y="53082"/>
            <a:ext cx="1302631" cy="58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344613"/>
            <a:ext cx="7764463" cy="3859212"/>
          </a:xfrm>
          <a:prstGeom prst="rect">
            <a:avLst/>
          </a:prstGeom>
        </p:spPr>
        <p:txBody>
          <a:bodyPr vert="horz" lIns="0" tIns="45715" rIns="0" bIns="45715" rtlCol="0">
            <a:normAutofit/>
          </a:bodyPr>
          <a:lstStyle/>
          <a:p>
            <a:pPr lvl="0"/>
            <a:r>
              <a:rPr lang="en-GB" dirty="0" err="1"/>
              <a:t>Textmasterformate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Sample Footer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462407" y="5412059"/>
            <a:ext cx="892150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7" name="Datumsplatzhalter 6"/>
          <p:cNvSpPr>
            <a:spLocks noGrp="1"/>
          </p:cNvSpPr>
          <p:nvPr userDrawn="1">
            <p:ph type="dt" sz="half" idx="2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r">
              <a:defRPr lang="de-DE" sz="800" kern="1200" cap="all" baseline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D672231-DCCE-48E5-AF73-62895FE58BB4}" type="datetime1">
              <a:rPr lang="en-GB" smtClean="0"/>
              <a:t>06/10/2025</a:t>
            </a:fld>
            <a:endParaRPr lang="en-GB" dirty="0"/>
          </a:p>
        </p:txBody>
      </p:sp>
      <p:sp>
        <p:nvSpPr>
          <p:cNvPr id="18" name="Rechteck 1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sp>
        <p:nvSpPr>
          <p:cNvPr id="15" name="Titelplatzhalter 14"/>
          <p:cNvSpPr>
            <a:spLocks noGrp="1"/>
          </p:cNvSpPr>
          <p:nvPr userDrawn="1">
            <p:ph type="title"/>
          </p:nvPr>
        </p:nvSpPr>
        <p:spPr bwMode="auto">
          <a:xfrm>
            <a:off x="462408" y="139700"/>
            <a:ext cx="6840000" cy="90382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 err="1"/>
              <a:t>Titelmasterformat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9925201-EC66-4A08-AB14-A541648A67D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A212EC7-C80F-4EBC-9817-97C85E0A8AE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3" r:id="rId3"/>
    <p:sldLayoutId id="2147483675" r:id="rId4"/>
    <p:sldLayoutId id="2147483676" r:id="rId5"/>
    <p:sldLayoutId id="2147483686" r:id="rId6"/>
    <p:sldLayoutId id="2147483687" r:id="rId7"/>
    <p:sldLayoutId id="2147483681" r:id="rId8"/>
    <p:sldLayoutId id="2147483682" r:id="rId9"/>
    <p:sldLayoutId id="2147483688" r:id="rId10"/>
    <p:sldLayoutId id="2147483691" r:id="rId11"/>
    <p:sldLayoutId id="2147483664" r:id="rId12"/>
    <p:sldLayoutId id="2147483667" r:id="rId13"/>
    <p:sldLayoutId id="2147483668" r:id="rId14"/>
    <p:sldLayoutId id="2147483670" r:id="rId15"/>
    <p:sldLayoutId id="2147483692" r:id="rId16"/>
  </p:sldLayoutIdLst>
  <p:transition>
    <p:fade/>
  </p:transition>
  <p:hf hdr="0" dt="0"/>
  <p:txStyles>
    <p:titleStyle>
      <a:lvl1pPr algn="l" defTabSz="914306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66700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SzPct val="100000"/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3525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6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0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5179" userDrawn="1">
          <p15:clr>
            <a:srgbClr val="F26B43"/>
          </p15:clr>
        </p15:guide>
        <p15:guide id="5" pos="5467" userDrawn="1">
          <p15:clr>
            <a:srgbClr val="F26B43"/>
          </p15:clr>
        </p15:guide>
        <p15:guide id="7" orient="horz" pos="3278" userDrawn="1">
          <p15:clr>
            <a:srgbClr val="F26B43"/>
          </p15:clr>
        </p15:guide>
        <p15:guide id="9" orient="horz" pos="182" userDrawn="1">
          <p15:clr>
            <a:srgbClr val="F26B43"/>
          </p15:clr>
        </p15:guide>
        <p15:guide id="10" orient="horz" pos="847" userDrawn="1">
          <p15:clr>
            <a:srgbClr val="F26B43"/>
          </p15:clr>
        </p15:guide>
        <p15:guide id="11" orient="horz" pos="3515" userDrawn="1">
          <p15:clr>
            <a:srgbClr val="F26B43"/>
          </p15:clr>
        </p15:guide>
        <p15:guide id="12" orient="horz" pos="10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>
          <a:xfrm>
            <a:off x="550542" y="1020949"/>
            <a:ext cx="5633690" cy="1026000"/>
          </a:xfrm>
        </p:spPr>
        <p:txBody>
          <a:bodyPr/>
          <a:lstStyle/>
          <a:p>
            <a:r>
              <a:rPr lang="en-GB" dirty="0"/>
              <a:t>International Marketing Analytics – Introduction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>
          <a:xfrm>
            <a:off x="287338" y="2941638"/>
            <a:ext cx="4284662" cy="1144105"/>
          </a:xfrm>
        </p:spPr>
        <p:txBody>
          <a:bodyPr/>
          <a:lstStyle/>
          <a:p>
            <a:r>
              <a:rPr lang="en-GB" dirty="0"/>
              <a:t>Dr Arne Floh</a:t>
            </a:r>
          </a:p>
          <a:p>
            <a:r>
              <a:rPr lang="en-GB" dirty="0"/>
              <a:t>Senior Lecturer in </a:t>
            </a:r>
            <a:r>
              <a:rPr lang="en-GB"/>
              <a:t>International Marketing</a:t>
            </a:r>
            <a:endParaRPr lang="en-GB" dirty="0"/>
          </a:p>
          <a:p>
            <a:r>
              <a:rPr lang="de-AT" dirty="0"/>
              <a:t>arne.floh@wu.ac.at</a:t>
            </a:r>
          </a:p>
        </p:txBody>
      </p:sp>
    </p:spTree>
    <p:extLst>
      <p:ext uri="{BB962C8B-B14F-4D97-AF65-F5344CB8AC3E}">
        <p14:creationId xmlns:p14="http://schemas.microsoft.com/office/powerpoint/2010/main" val="300213539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506596-B0A6-4670-AE71-6C94610C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13E229-0BA9-4BF8-BBFE-04A63690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A108F7F-1EE7-41D6-9594-8CA15C6B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Overview</a:t>
            </a:r>
            <a:endParaRPr lang="en-US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7CDCBE5-A0D6-47CA-8209-418658861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932" y="1215798"/>
            <a:ext cx="6328824" cy="344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810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AC19B62-4CE8-4484-9022-BCA39E213A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806D42B-BE0A-4961-952D-6DF4090455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 err="1"/>
              <a:t>Introductory</a:t>
            </a:r>
            <a:r>
              <a:rPr lang="de-AT" dirty="0"/>
              <a:t> </a:t>
            </a:r>
            <a:r>
              <a:rPr lang="de-AT" dirty="0" err="1"/>
              <a:t>Examples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A8A797-8414-4857-B8C0-D690EC161C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F31619-DE5C-4479-BEDE-77C3E008DC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543648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4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Example</a:t>
            </a:r>
            <a:r>
              <a:rPr lang="de-AT" dirty="0"/>
              <a:t> iPhone slow</a:t>
            </a:r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4299997-D706-46F5-AAAA-56F8FFA4EE07}"/>
              </a:ext>
            </a:extLst>
          </p:cNvPr>
          <p:cNvSpPr txBox="1"/>
          <p:nvPr/>
        </p:nvSpPr>
        <p:spPr>
          <a:xfrm>
            <a:off x="794892" y="4208828"/>
            <a:ext cx="49884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Georgia" panose="02040502050405020303" pitchFamily="18" charset="0"/>
              </a:rPr>
              <a:t>https://www.nytimes.com/2014/07/27/upshot/hold-the-phone-a-big-data-conundrum.html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C7D8A77-D132-4EBB-85D4-856529387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09" y="1495970"/>
            <a:ext cx="3188901" cy="237760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3B4BFEB-CFD2-4FA1-8E28-6DF897F98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90" y="1538334"/>
            <a:ext cx="3262784" cy="237760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1DCA994-E4CA-49A4-8078-8929CBD95359}"/>
              </a:ext>
            </a:extLst>
          </p:cNvPr>
          <p:cNvSpPr txBox="1"/>
          <p:nvPr/>
        </p:nvSpPr>
        <p:spPr>
          <a:xfrm>
            <a:off x="794892" y="4504273"/>
            <a:ext cx="39681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Georgia" panose="02040502050405020303" pitchFamily="18" charset="0"/>
              </a:rPr>
              <a:t>https://trends.google.com/trends/?geo=GB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C81F8B8-B779-4421-9A92-656A6D436B90}"/>
              </a:ext>
            </a:extLst>
          </p:cNvPr>
          <p:cNvSpPr txBox="1"/>
          <p:nvPr/>
        </p:nvSpPr>
        <p:spPr>
          <a:xfrm>
            <a:off x="794892" y="4804535"/>
            <a:ext cx="39681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Georgia" panose="02040502050405020303" pitchFamily="18" charset="0"/>
              </a:rPr>
              <a:t>https://en.wikipedia.org/wiki/Planned_obsolescence</a:t>
            </a:r>
          </a:p>
        </p:txBody>
      </p:sp>
    </p:spTree>
    <p:extLst>
      <p:ext uri="{BB962C8B-B14F-4D97-AF65-F5344CB8AC3E}">
        <p14:creationId xmlns:p14="http://schemas.microsoft.com/office/powerpoint/2010/main" val="307527555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FB3DDF5-90BF-4BB4-9B18-E968D1CAB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Starbucks has confirmed in 2018 the launch of its first entry into the luxury home coffee-machine market with Verismo, which will compete with Nescafé's Nespresso and other kitchen espresso makers.</a:t>
            </a:r>
          </a:p>
          <a:p>
            <a:r>
              <a:rPr lang="en-US" sz="1200" dirty="0"/>
              <a:t>The launch of the Verismo will form a key plank of Starbuck's UK growth strategy, as it moves to expand the business into new areas outside its core high-street stores. The move coincides with the chain's rollout of its first online shopping site in the UK, at www.starbucks.co.uk. </a:t>
            </a:r>
          </a:p>
          <a:p>
            <a:r>
              <a:rPr lang="en-US" sz="1200" dirty="0"/>
              <a:t>In the UK, the most expensive Verismo machine will cost £349, with a cheaper version priced at £149. The coffee pods will cost £5.99 for packs of 12. Verismo machines will initially be sold at starbucks.co.uk from tomorrow (21 September) and from Starbucks outlets from 2 November. </a:t>
            </a:r>
          </a:p>
          <a:p>
            <a:r>
              <a:rPr lang="en-US" sz="1200" dirty="0"/>
              <a:t>The Verismo has been developed with Krueger, a German-based company that sells in the US under the Keurig brand. The launch of the machines is expected to be supported by a significant marketing support. Kris </a:t>
            </a:r>
            <a:r>
              <a:rPr lang="en-US" sz="1200" dirty="0" err="1"/>
              <a:t>Engskov</a:t>
            </a:r>
            <a:r>
              <a:rPr lang="en-US" sz="1200" dirty="0"/>
              <a:t>, managing director at Starbucks UK and Ireland, said: "Up until today, making a Starbucks Latte at home was just not possible. Now customers who have been asking for more ways to enjoy Starbucks need look no further."</a:t>
            </a:r>
          </a:p>
          <a:p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5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Example</a:t>
            </a:r>
            <a:r>
              <a:rPr lang="de-AT" dirty="0"/>
              <a:t> Starbucks – </a:t>
            </a:r>
            <a:r>
              <a:rPr lang="de-AT" dirty="0" err="1"/>
              <a:t>Product</a:t>
            </a:r>
            <a:r>
              <a:rPr lang="de-AT" dirty="0"/>
              <a:t> Launch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DFBA1D6-AFBB-4465-B5A6-13D7A92E8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240" y="4318492"/>
            <a:ext cx="1427201" cy="952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389539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017F615-2803-40D1-AC28-2428208F1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Marketing research supports managers by delivering information gained from different sources in order to achieve better decisions.</a:t>
            </a:r>
          </a:p>
          <a:p>
            <a:endParaRPr lang="en-US" dirty="0"/>
          </a:p>
          <a:p>
            <a:r>
              <a:rPr lang="en-US" dirty="0"/>
              <a:t>Usually, the marketing problem must be split down into different marketing research problems.</a:t>
            </a:r>
          </a:p>
          <a:p>
            <a:endParaRPr lang="en-US" dirty="0"/>
          </a:p>
          <a:p>
            <a:r>
              <a:rPr lang="en-US" dirty="0"/>
              <a:t>Consider the Starbucks example. </a:t>
            </a:r>
          </a:p>
          <a:p>
            <a:r>
              <a:rPr lang="en-US" dirty="0"/>
              <a:t>What is the marketing problem?</a:t>
            </a:r>
          </a:p>
          <a:p>
            <a:r>
              <a:rPr lang="en-US" dirty="0"/>
              <a:t>What kind of information do we need?</a:t>
            </a:r>
          </a:p>
          <a:p>
            <a:r>
              <a:rPr lang="en-US" dirty="0"/>
              <a:t>Why do we need this information?</a:t>
            </a:r>
          </a:p>
          <a:p>
            <a:r>
              <a:rPr lang="en-US" dirty="0"/>
              <a:t>Where do we get this information?</a:t>
            </a:r>
          </a:p>
          <a:p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6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Why</a:t>
            </a:r>
            <a:r>
              <a:rPr lang="de-AT" dirty="0"/>
              <a:t> Marketing Analytics?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25349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BA2BFBE-9E0F-4971-A3B6-5D2198D18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D16275-7A96-44F6-B37C-CAEAABA1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7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8855079-4C10-47F8-9D02-841666FD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Decisions</a:t>
            </a:r>
            <a:r>
              <a:rPr lang="de-AT" dirty="0"/>
              <a:t> Made </a:t>
            </a:r>
            <a:r>
              <a:rPr lang="de-AT" dirty="0" err="1"/>
              <a:t>by</a:t>
            </a:r>
            <a:r>
              <a:rPr lang="de-AT" dirty="0"/>
              <a:t> Marketing Managers</a:t>
            </a:r>
            <a:endParaRPr lang="en-US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7E44A82-B33C-4190-AC55-52FED427D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59" y="1373385"/>
            <a:ext cx="6178866" cy="391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2516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8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Developing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Right Balance Through Marketing Analytics</a:t>
            </a:r>
            <a:endParaRPr lang="en-US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F86A5D1-E173-4CFE-8A08-B6D2DC5FD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21" y="1594294"/>
            <a:ext cx="6420578" cy="341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1721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76B0F45-CCFB-48D7-8F62-17CBB20E48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Link </a:t>
            </a:r>
            <a:r>
              <a:rPr lang="de-AT" dirty="0" err="1"/>
              <a:t>to</a:t>
            </a:r>
            <a:r>
              <a:rPr lang="de-AT" dirty="0"/>
              <a:t> Theory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81217D-CE16-47A8-9F96-C67F00A447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2979D5-7C28-4DCA-9AA8-728BC08711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292780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FB3DDF5-90BF-4BB4-9B18-E968D1CAB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/>
              <a:t>Marketing analytics can defined as</a:t>
            </a:r>
          </a:p>
          <a:p>
            <a:endParaRPr lang="en-US" sz="1500" dirty="0"/>
          </a:p>
          <a:p>
            <a:r>
              <a:rPr lang="en-US" sz="1500" dirty="0"/>
              <a:t>a systematic approach based data and knowledge to support marketing decisions and relies</a:t>
            </a:r>
          </a:p>
          <a:p>
            <a:endParaRPr lang="en-US" sz="1500" dirty="0"/>
          </a:p>
          <a:p>
            <a:r>
              <a:rPr lang="en-US" sz="1500" dirty="0"/>
              <a:t>relies on the simultaneous application of statistics, computer programming and operations research to quantify performance.</a:t>
            </a:r>
          </a:p>
          <a:p>
            <a:endParaRPr lang="en-US" sz="1500" dirty="0"/>
          </a:p>
          <a:p>
            <a:r>
              <a:rPr lang="en-US" sz="1500" dirty="0"/>
              <a:t>equivalent terms: Marketing Engineering, Marketing Science/ Intelligence, and Marketing Intelligence etc.</a:t>
            </a:r>
          </a:p>
          <a:p>
            <a:endParaRPr lang="en-US" sz="1500" dirty="0"/>
          </a:p>
          <a:p>
            <a:endParaRPr lang="en-US" sz="1500" dirty="0"/>
          </a:p>
          <a:p>
            <a:pPr marL="0" indent="0" algn="just">
              <a:buNone/>
            </a:pPr>
            <a:r>
              <a:rPr lang="en-US" sz="1500" b="1" dirty="0">
                <a:solidFill>
                  <a:srgbClr val="FF0000"/>
                </a:solidFill>
              </a:rPr>
              <a:t>Even people who don’t particularly care for computers, software, or math can learn some systematic ways to think about marketing problems, and ask the right questions.</a:t>
            </a:r>
          </a:p>
          <a:p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10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Marketing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9930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FB3DDF5-90BF-4BB4-9B18-E968D1CAB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Marketing Analytics become more available /popular because:</a:t>
            </a:r>
          </a:p>
          <a:p>
            <a:endParaRPr lang="en-US" sz="1400" dirty="0"/>
          </a:p>
          <a:p>
            <a:r>
              <a:rPr lang="en-US" sz="1400" dirty="0"/>
              <a:t>The availability of the (too much?) marketing ‘big data’</a:t>
            </a:r>
          </a:p>
          <a:p>
            <a:pPr lvl="1"/>
            <a:r>
              <a:rPr lang="en-US" sz="1400" dirty="0"/>
              <a:t>Volume (e.g., 500 Terabytes of transaction data at Wal-Mart)</a:t>
            </a:r>
          </a:p>
          <a:p>
            <a:pPr lvl="1"/>
            <a:r>
              <a:rPr lang="en-US" sz="1400" dirty="0"/>
              <a:t>Dimension/source: e.g., the Nilsen data, and the IRI data </a:t>
            </a:r>
          </a:p>
          <a:p>
            <a:pPr marL="547688" lvl="2" indent="0">
              <a:buNone/>
            </a:pPr>
            <a:r>
              <a:rPr lang="en-US" dirty="0"/>
              <a:t>Beyond big data: New perspectives on marketing – YouTube</a:t>
            </a:r>
          </a:p>
          <a:p>
            <a:pPr marL="547688" lvl="2" indent="0">
              <a:buNone/>
            </a:pPr>
            <a:r>
              <a:rPr lang="en-US" dirty="0"/>
              <a:t>Digital device, tracking data, GDPR</a:t>
            </a:r>
          </a:p>
          <a:p>
            <a:endParaRPr lang="en-US" sz="1400" dirty="0"/>
          </a:p>
          <a:p>
            <a:r>
              <a:rPr lang="en-US" sz="1400" dirty="0"/>
              <a:t>Advance of computer power</a:t>
            </a:r>
          </a:p>
          <a:p>
            <a:r>
              <a:rPr lang="en-US" sz="1400" dirty="0"/>
              <a:t>Software: e.g., Excel, SPSS, SAS, R, Python to integrated solutions (e.g., IBM Watson)</a:t>
            </a:r>
          </a:p>
          <a:p>
            <a:r>
              <a:rPr lang="en-US" sz="1400" dirty="0"/>
              <a:t>Decentralization of organizations.</a:t>
            </a:r>
          </a:p>
          <a:p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11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Trends </a:t>
            </a:r>
            <a:r>
              <a:rPr lang="de-AT" dirty="0" err="1"/>
              <a:t>Favouring</a:t>
            </a:r>
            <a:r>
              <a:rPr lang="de-AT" dirty="0"/>
              <a:t> Marketing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95640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FB3DDF5-90BF-4BB4-9B18-E968D1CAB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Segmentation, targeting, and positioning, based on data</a:t>
            </a:r>
          </a:p>
          <a:p>
            <a:pPr lvl="1"/>
            <a:r>
              <a:rPr lang="en-US" dirty="0"/>
              <a:t>To identify niche/overlooked segments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Customer value analysis</a:t>
            </a:r>
          </a:p>
          <a:p>
            <a:pPr lvl="1"/>
            <a:r>
              <a:rPr lang="en-US" dirty="0"/>
              <a:t>Which of my customer relationships are profitable?</a:t>
            </a:r>
          </a:p>
          <a:p>
            <a:endParaRPr lang="en-US" dirty="0"/>
          </a:p>
          <a:p>
            <a:r>
              <a:rPr lang="en-US" b="1" dirty="0"/>
              <a:t>Evaluation of the effectiveness of marketing activities</a:t>
            </a:r>
          </a:p>
          <a:p>
            <a:pPr lvl="1"/>
            <a:r>
              <a:rPr lang="en-US" dirty="0"/>
              <a:t>How deep of the price reduction?</a:t>
            </a:r>
          </a:p>
          <a:p>
            <a:pPr lvl="1"/>
            <a:r>
              <a:rPr lang="en-US" dirty="0"/>
              <a:t>Buy-X-get-Y-free or Z% price off?</a:t>
            </a:r>
          </a:p>
          <a:p>
            <a:pPr lvl="1"/>
            <a:r>
              <a:rPr lang="en-US" dirty="0"/>
              <a:t>Is the advertising campaign value for money?</a:t>
            </a:r>
          </a:p>
          <a:p>
            <a:endParaRPr lang="en-US" dirty="0"/>
          </a:p>
          <a:p>
            <a:r>
              <a:rPr lang="en-US" b="1" dirty="0"/>
              <a:t>Web metrics and social media analysis</a:t>
            </a:r>
          </a:p>
          <a:p>
            <a:pPr lvl="1"/>
            <a:r>
              <a:rPr lang="en-US" dirty="0"/>
              <a:t>Do my social media expenses pay off?</a:t>
            </a:r>
          </a:p>
          <a:p>
            <a:pPr lvl="1"/>
            <a:r>
              <a:rPr lang="en-US" dirty="0"/>
              <a:t>How many users/followers become customers?</a:t>
            </a:r>
          </a:p>
          <a:p>
            <a:endParaRPr lang="en-US" dirty="0"/>
          </a:p>
          <a:p>
            <a:r>
              <a:rPr lang="en-US" b="1" dirty="0"/>
              <a:t>New product design </a:t>
            </a:r>
          </a:p>
          <a:p>
            <a:pPr lvl="1"/>
            <a:r>
              <a:rPr lang="en-US" dirty="0"/>
              <a:t>How to design the new product to more effectively appeal to target customers?</a:t>
            </a:r>
          </a:p>
          <a:p>
            <a:pPr lvl="1"/>
            <a:endParaRPr lang="en-US" dirty="0"/>
          </a:p>
          <a:p>
            <a:r>
              <a:rPr lang="en-US" b="1" dirty="0"/>
              <a:t>Sales forecasting</a:t>
            </a:r>
          </a:p>
          <a:p>
            <a:pPr lvl="1"/>
            <a:r>
              <a:rPr lang="en-US" dirty="0"/>
              <a:t>Forecast the product sales for FMCG products</a:t>
            </a:r>
          </a:p>
          <a:p>
            <a:pPr lvl="1"/>
            <a:r>
              <a:rPr lang="en-US" dirty="0"/>
              <a:t>Forecast the adoption of innovative products (e.g., electronic cars, auto driving)</a:t>
            </a:r>
          </a:p>
          <a:p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12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Applications</a:t>
            </a:r>
            <a:r>
              <a:rPr lang="de-AT" dirty="0"/>
              <a:t> of Marketing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6481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13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Transform Data </a:t>
            </a:r>
            <a:r>
              <a:rPr lang="de-AT" dirty="0" err="1"/>
              <a:t>Into</a:t>
            </a:r>
            <a:r>
              <a:rPr lang="de-AT" dirty="0"/>
              <a:t> </a:t>
            </a:r>
            <a:r>
              <a:rPr lang="de-AT" dirty="0" err="1"/>
              <a:t>Insights</a:t>
            </a:r>
            <a:r>
              <a:rPr lang="de-AT" dirty="0"/>
              <a:t> and Actions</a:t>
            </a:r>
            <a:endParaRPr lang="en-US" dirty="0"/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6ABCADB2-984D-4DB4-8E05-DE9D0E9DD9B4}"/>
              </a:ext>
            </a:extLst>
          </p:cNvPr>
          <p:cNvSpPr/>
          <p:nvPr/>
        </p:nvSpPr>
        <p:spPr>
          <a:xfrm>
            <a:off x="1817895" y="1957433"/>
            <a:ext cx="810090" cy="3780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D07A8740-6829-4111-A9BA-0E4BD5B0BC27}"/>
              </a:ext>
            </a:extLst>
          </p:cNvPr>
          <p:cNvSpPr/>
          <p:nvPr/>
        </p:nvSpPr>
        <p:spPr>
          <a:xfrm>
            <a:off x="1633689" y="2566411"/>
            <a:ext cx="1137735" cy="3780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Information</a:t>
            </a: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22BB0E0F-AB71-4384-8CF7-F3AB0CFC3CE1}"/>
              </a:ext>
            </a:extLst>
          </p:cNvPr>
          <p:cNvSpPr/>
          <p:nvPr/>
        </p:nvSpPr>
        <p:spPr>
          <a:xfrm>
            <a:off x="1850261" y="3193433"/>
            <a:ext cx="810090" cy="3780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Insight</a:t>
            </a:r>
          </a:p>
        </p:txBody>
      </p:sp>
      <p:sp>
        <p:nvSpPr>
          <p:cNvPr id="10" name="Rectangle 31">
            <a:extLst>
              <a:ext uri="{FF2B5EF4-FFF2-40B4-BE49-F238E27FC236}">
                <a16:creationId xmlns:a16="http://schemas.microsoft.com/office/drawing/2014/main" id="{86E29146-F61D-4342-9A09-97D111C8F2BA}"/>
              </a:ext>
            </a:extLst>
          </p:cNvPr>
          <p:cNvSpPr/>
          <p:nvPr/>
        </p:nvSpPr>
        <p:spPr>
          <a:xfrm>
            <a:off x="1782941" y="3840639"/>
            <a:ext cx="955328" cy="3780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Decisions</a:t>
            </a: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4CDCE1F7-CADD-41A5-912D-9A60F48DC096}"/>
              </a:ext>
            </a:extLst>
          </p:cNvPr>
          <p:cNvSpPr/>
          <p:nvPr/>
        </p:nvSpPr>
        <p:spPr>
          <a:xfrm>
            <a:off x="1477518" y="4445650"/>
            <a:ext cx="1566174" cy="3780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Implementation</a:t>
            </a: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03B7127E-26F2-4107-88A5-41A30551A0D5}"/>
              </a:ext>
            </a:extLst>
          </p:cNvPr>
          <p:cNvSpPr/>
          <p:nvPr/>
        </p:nvSpPr>
        <p:spPr>
          <a:xfrm>
            <a:off x="1149439" y="1306266"/>
            <a:ext cx="2608659" cy="3780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Marketing environment</a:t>
            </a:r>
          </a:p>
        </p:txBody>
      </p:sp>
      <p:sp>
        <p:nvSpPr>
          <p:cNvPr id="13" name="Rectangle 34">
            <a:extLst>
              <a:ext uri="{FF2B5EF4-FFF2-40B4-BE49-F238E27FC236}">
                <a16:creationId xmlns:a16="http://schemas.microsoft.com/office/drawing/2014/main" id="{3D95CDBF-2690-4C1E-9ED3-F3FBE731B72A}"/>
              </a:ext>
            </a:extLst>
          </p:cNvPr>
          <p:cNvSpPr/>
          <p:nvPr/>
        </p:nvSpPr>
        <p:spPr>
          <a:xfrm>
            <a:off x="5370544" y="2145770"/>
            <a:ext cx="3173359" cy="3099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Data entry (objective and subjective)</a:t>
            </a:r>
          </a:p>
        </p:txBody>
      </p:sp>
      <p:cxnSp>
        <p:nvCxnSpPr>
          <p:cNvPr id="14" name="Straight Arrow Connector 35">
            <a:extLst>
              <a:ext uri="{FF2B5EF4-FFF2-40B4-BE49-F238E27FC236}">
                <a16:creationId xmlns:a16="http://schemas.microsoft.com/office/drawing/2014/main" id="{770E6232-1990-466E-8AF2-5039F8BF5B55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627985" y="1831274"/>
            <a:ext cx="2742558" cy="4694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36">
            <a:extLst>
              <a:ext uri="{FF2B5EF4-FFF2-40B4-BE49-F238E27FC236}">
                <a16:creationId xmlns:a16="http://schemas.microsoft.com/office/drawing/2014/main" id="{847BB189-41B5-4C50-8F2A-DC32BFA36B32}"/>
              </a:ext>
            </a:extLst>
          </p:cNvPr>
          <p:cNvSpPr/>
          <p:nvPr/>
        </p:nvSpPr>
        <p:spPr>
          <a:xfrm>
            <a:off x="4575207" y="2771537"/>
            <a:ext cx="3949523" cy="3099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Organized/ </a:t>
            </a:r>
            <a:r>
              <a:rPr lang="en-GB" altLang="zh-CN" sz="1200" dirty="0">
                <a:solidFill>
                  <a:srgbClr val="000000"/>
                </a:solidFill>
                <a:cs typeface="Arial" panose="020B0604020202020204" pitchFamily="34" charset="0"/>
              </a:rPr>
              <a:t>summarizing</a:t>
            </a:r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 the data</a:t>
            </a:r>
          </a:p>
        </p:txBody>
      </p:sp>
      <p:cxnSp>
        <p:nvCxnSpPr>
          <p:cNvPr id="16" name="Straight Arrow Connector 37">
            <a:extLst>
              <a:ext uri="{FF2B5EF4-FFF2-40B4-BE49-F238E27FC236}">
                <a16:creationId xmlns:a16="http://schemas.microsoft.com/office/drawing/2014/main" id="{0E9B67C2-7C9B-4B66-8ABA-1B5CFA7B8025}"/>
              </a:ext>
            </a:extLst>
          </p:cNvPr>
          <p:cNvCxnSpPr>
            <a:cxnSpLocks/>
          </p:cNvCxnSpPr>
          <p:nvPr/>
        </p:nvCxnSpPr>
        <p:spPr>
          <a:xfrm flipH="1" flipV="1">
            <a:off x="2712351" y="2389668"/>
            <a:ext cx="2435987" cy="4993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38">
            <a:extLst>
              <a:ext uri="{FF2B5EF4-FFF2-40B4-BE49-F238E27FC236}">
                <a16:creationId xmlns:a16="http://schemas.microsoft.com/office/drawing/2014/main" id="{F36A0D73-56F9-4E1F-A5ED-A5C85D160A13}"/>
              </a:ext>
            </a:extLst>
          </p:cNvPr>
          <p:cNvSpPr/>
          <p:nvPr/>
        </p:nvSpPr>
        <p:spPr>
          <a:xfrm>
            <a:off x="4575265" y="3288378"/>
            <a:ext cx="3390900" cy="3099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Decision model; mental model</a:t>
            </a:r>
          </a:p>
        </p:txBody>
      </p:sp>
      <p:cxnSp>
        <p:nvCxnSpPr>
          <p:cNvPr id="18" name="Straight Arrow Connector 39">
            <a:extLst>
              <a:ext uri="{FF2B5EF4-FFF2-40B4-BE49-F238E27FC236}">
                <a16:creationId xmlns:a16="http://schemas.microsoft.com/office/drawing/2014/main" id="{F0B53979-1DA4-4E96-B3EF-EE04B382354C}"/>
              </a:ext>
            </a:extLst>
          </p:cNvPr>
          <p:cNvCxnSpPr>
            <a:cxnSpLocks/>
          </p:cNvCxnSpPr>
          <p:nvPr/>
        </p:nvCxnSpPr>
        <p:spPr>
          <a:xfrm flipH="1" flipV="1">
            <a:off x="2713768" y="3043079"/>
            <a:ext cx="2048897" cy="37204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40">
            <a:extLst>
              <a:ext uri="{FF2B5EF4-FFF2-40B4-BE49-F238E27FC236}">
                <a16:creationId xmlns:a16="http://schemas.microsoft.com/office/drawing/2014/main" id="{1852B18E-B5D6-4221-B483-7E739B84D800}"/>
              </a:ext>
            </a:extLst>
          </p:cNvPr>
          <p:cNvSpPr/>
          <p:nvPr/>
        </p:nvSpPr>
        <p:spPr>
          <a:xfrm>
            <a:off x="4481020" y="3841586"/>
            <a:ext cx="2667706" cy="3099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Judgment under uncertainty </a:t>
            </a:r>
          </a:p>
        </p:txBody>
      </p:sp>
      <p:cxnSp>
        <p:nvCxnSpPr>
          <p:cNvPr id="20" name="Straight Arrow Connector 41">
            <a:extLst>
              <a:ext uri="{FF2B5EF4-FFF2-40B4-BE49-F238E27FC236}">
                <a16:creationId xmlns:a16="http://schemas.microsoft.com/office/drawing/2014/main" id="{F62AB516-BB56-4714-A1D7-19EC610C2342}"/>
              </a:ext>
            </a:extLst>
          </p:cNvPr>
          <p:cNvCxnSpPr>
            <a:cxnSpLocks/>
          </p:cNvCxnSpPr>
          <p:nvPr/>
        </p:nvCxnSpPr>
        <p:spPr>
          <a:xfrm flipH="1" flipV="1">
            <a:off x="2752336" y="3642092"/>
            <a:ext cx="1581493" cy="24877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42">
            <a:extLst>
              <a:ext uri="{FF2B5EF4-FFF2-40B4-BE49-F238E27FC236}">
                <a16:creationId xmlns:a16="http://schemas.microsoft.com/office/drawing/2014/main" id="{7C9D5A95-05B8-4453-B73D-DE1B1032F428}"/>
              </a:ext>
            </a:extLst>
          </p:cNvPr>
          <p:cNvSpPr/>
          <p:nvPr/>
        </p:nvSpPr>
        <p:spPr>
          <a:xfrm>
            <a:off x="4174708" y="4323383"/>
            <a:ext cx="4509043" cy="3597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0000"/>
                </a:solidFill>
                <a:cs typeface="Arial" panose="020B0604020202020204" pitchFamily="34" charset="0"/>
              </a:rPr>
              <a:t>Integrated with other resources (financial, human etc.)</a:t>
            </a:r>
          </a:p>
        </p:txBody>
      </p:sp>
      <p:cxnSp>
        <p:nvCxnSpPr>
          <p:cNvPr id="22" name="Straight Arrow Connector 43">
            <a:extLst>
              <a:ext uri="{FF2B5EF4-FFF2-40B4-BE49-F238E27FC236}">
                <a16:creationId xmlns:a16="http://schemas.microsoft.com/office/drawing/2014/main" id="{8891AD6C-244D-4D41-965E-1E03B4705871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2536275" y="4368467"/>
            <a:ext cx="1638432" cy="13478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44">
            <a:extLst>
              <a:ext uri="{FF2B5EF4-FFF2-40B4-BE49-F238E27FC236}">
                <a16:creationId xmlns:a16="http://schemas.microsoft.com/office/drawing/2014/main" id="{A9A13BE3-68C6-40B6-B740-221F90A1D617}"/>
              </a:ext>
            </a:extLst>
          </p:cNvPr>
          <p:cNvCxnSpPr>
            <a:cxnSpLocks/>
          </p:cNvCxnSpPr>
          <p:nvPr/>
        </p:nvCxnSpPr>
        <p:spPr>
          <a:xfrm flipH="1">
            <a:off x="609379" y="5091784"/>
            <a:ext cx="160362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45">
            <a:extLst>
              <a:ext uri="{FF2B5EF4-FFF2-40B4-BE49-F238E27FC236}">
                <a16:creationId xmlns:a16="http://schemas.microsoft.com/office/drawing/2014/main" id="{4171DE90-B8D7-4125-B684-04BE4CC40242}"/>
              </a:ext>
            </a:extLst>
          </p:cNvPr>
          <p:cNvCxnSpPr>
            <a:cxnSpLocks/>
          </p:cNvCxnSpPr>
          <p:nvPr/>
        </p:nvCxnSpPr>
        <p:spPr>
          <a:xfrm flipV="1">
            <a:off x="609379" y="1527388"/>
            <a:ext cx="0" cy="35643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6">
            <a:extLst>
              <a:ext uri="{FF2B5EF4-FFF2-40B4-BE49-F238E27FC236}">
                <a16:creationId xmlns:a16="http://schemas.microsoft.com/office/drawing/2014/main" id="{1914D3F1-E5BF-4D44-80C6-F6D5E414C423}"/>
              </a:ext>
            </a:extLst>
          </p:cNvPr>
          <p:cNvCxnSpPr/>
          <p:nvPr/>
        </p:nvCxnSpPr>
        <p:spPr>
          <a:xfrm>
            <a:off x="609379" y="1527388"/>
            <a:ext cx="74225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 47">
            <a:extLst>
              <a:ext uri="{FF2B5EF4-FFF2-40B4-BE49-F238E27FC236}">
                <a16:creationId xmlns:a16="http://schemas.microsoft.com/office/drawing/2014/main" id="{A7F69CC6-6928-4381-ABF3-4CECEA335670}"/>
              </a:ext>
            </a:extLst>
          </p:cNvPr>
          <p:cNvSpPr/>
          <p:nvPr/>
        </p:nvSpPr>
        <p:spPr>
          <a:xfrm>
            <a:off x="879410" y="1748512"/>
            <a:ext cx="7886698" cy="3127247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sz="1200">
              <a:cs typeface="Arial" panose="020B0604020202020204" pitchFamily="34" charset="0"/>
            </a:endParaRPr>
          </a:p>
        </p:txBody>
      </p:sp>
      <p:sp>
        <p:nvSpPr>
          <p:cNvPr id="27" name="Arrow: Down 48">
            <a:extLst>
              <a:ext uri="{FF2B5EF4-FFF2-40B4-BE49-F238E27FC236}">
                <a16:creationId xmlns:a16="http://schemas.microsoft.com/office/drawing/2014/main" id="{FF5D4DA0-FB49-4656-A1F5-479ACEDC9B8C}"/>
              </a:ext>
            </a:extLst>
          </p:cNvPr>
          <p:cNvSpPr/>
          <p:nvPr/>
        </p:nvSpPr>
        <p:spPr>
          <a:xfrm>
            <a:off x="2066597" y="1684308"/>
            <a:ext cx="312686" cy="353222"/>
          </a:xfrm>
          <a:prstGeom prst="downArrow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200">
              <a:cs typeface="Arial" panose="020B0604020202020204" pitchFamily="34" charset="0"/>
            </a:endParaRPr>
          </a:p>
        </p:txBody>
      </p:sp>
      <p:sp>
        <p:nvSpPr>
          <p:cNvPr id="28" name="Arrow: Down 49">
            <a:extLst>
              <a:ext uri="{FF2B5EF4-FFF2-40B4-BE49-F238E27FC236}">
                <a16:creationId xmlns:a16="http://schemas.microsoft.com/office/drawing/2014/main" id="{044F6145-DA50-4C38-B8F5-239EA6C5DE9D}"/>
              </a:ext>
            </a:extLst>
          </p:cNvPr>
          <p:cNvSpPr/>
          <p:nvPr/>
        </p:nvSpPr>
        <p:spPr>
          <a:xfrm>
            <a:off x="2056147" y="2276112"/>
            <a:ext cx="312686" cy="353222"/>
          </a:xfrm>
          <a:prstGeom prst="downArrow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200">
              <a:cs typeface="Arial" panose="020B0604020202020204" pitchFamily="34" charset="0"/>
            </a:endParaRPr>
          </a:p>
        </p:txBody>
      </p:sp>
      <p:sp>
        <p:nvSpPr>
          <p:cNvPr id="29" name="Arrow: Down 50">
            <a:extLst>
              <a:ext uri="{FF2B5EF4-FFF2-40B4-BE49-F238E27FC236}">
                <a16:creationId xmlns:a16="http://schemas.microsoft.com/office/drawing/2014/main" id="{757CB79D-EA63-417E-A4B3-4DB3362E9F2C}"/>
              </a:ext>
            </a:extLst>
          </p:cNvPr>
          <p:cNvSpPr/>
          <p:nvPr/>
        </p:nvSpPr>
        <p:spPr>
          <a:xfrm>
            <a:off x="2066597" y="2904208"/>
            <a:ext cx="312686" cy="353222"/>
          </a:xfrm>
          <a:prstGeom prst="downArrow">
            <a:avLst/>
          </a:prstGeom>
          <a:solidFill>
            <a:srgbClr val="FF0000"/>
          </a:solidFill>
          <a:ln w="28575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200">
              <a:cs typeface="Arial" panose="020B0604020202020204" pitchFamily="34" charset="0"/>
            </a:endParaRPr>
          </a:p>
        </p:txBody>
      </p:sp>
      <p:sp>
        <p:nvSpPr>
          <p:cNvPr id="30" name="Arrow: Down 51">
            <a:extLst>
              <a:ext uri="{FF2B5EF4-FFF2-40B4-BE49-F238E27FC236}">
                <a16:creationId xmlns:a16="http://schemas.microsoft.com/office/drawing/2014/main" id="{256C846E-5247-482E-B1DE-9D9142BAF96B}"/>
              </a:ext>
            </a:extLst>
          </p:cNvPr>
          <p:cNvSpPr/>
          <p:nvPr/>
        </p:nvSpPr>
        <p:spPr>
          <a:xfrm>
            <a:off x="2056147" y="3553152"/>
            <a:ext cx="312686" cy="353222"/>
          </a:xfrm>
          <a:prstGeom prst="downArrow">
            <a:avLst/>
          </a:prstGeom>
          <a:solidFill>
            <a:srgbClr val="FF0000"/>
          </a:solidFill>
          <a:ln w="28575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200">
              <a:cs typeface="Arial" panose="020B0604020202020204" pitchFamily="34" charset="0"/>
            </a:endParaRPr>
          </a:p>
        </p:txBody>
      </p:sp>
      <p:sp>
        <p:nvSpPr>
          <p:cNvPr id="31" name="Arrow: Down 52">
            <a:extLst>
              <a:ext uri="{FF2B5EF4-FFF2-40B4-BE49-F238E27FC236}">
                <a16:creationId xmlns:a16="http://schemas.microsoft.com/office/drawing/2014/main" id="{37EFDFFA-F33B-410D-9B6C-342BFECC5289}"/>
              </a:ext>
            </a:extLst>
          </p:cNvPr>
          <p:cNvSpPr/>
          <p:nvPr/>
        </p:nvSpPr>
        <p:spPr>
          <a:xfrm>
            <a:off x="2056147" y="4168065"/>
            <a:ext cx="312686" cy="353222"/>
          </a:xfrm>
          <a:prstGeom prst="downArrow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200">
              <a:cs typeface="Arial" panose="020B0604020202020204" pitchFamily="34" charset="0"/>
            </a:endParaRPr>
          </a:p>
        </p:txBody>
      </p:sp>
      <p:cxnSp>
        <p:nvCxnSpPr>
          <p:cNvPr id="32" name="Straight Connector 53">
            <a:extLst>
              <a:ext uri="{FF2B5EF4-FFF2-40B4-BE49-F238E27FC236}">
                <a16:creationId xmlns:a16="http://schemas.microsoft.com/office/drawing/2014/main" id="{A596A17E-3119-431E-BA69-AE1B555C31C4}"/>
              </a:ext>
            </a:extLst>
          </p:cNvPr>
          <p:cNvCxnSpPr>
            <a:cxnSpLocks/>
          </p:cNvCxnSpPr>
          <p:nvPr/>
        </p:nvCxnSpPr>
        <p:spPr>
          <a:xfrm>
            <a:off x="2212489" y="4761458"/>
            <a:ext cx="1" cy="33032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2744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14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Concept of a (Response) Model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0EDAF3CA-859D-4B55-8186-1E1C2AAF856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31278" y="1497646"/>
            <a:ext cx="7235933" cy="3785326"/>
            <a:chOff x="221" y="1056"/>
            <a:chExt cx="5318" cy="2782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A32B724C-2B18-4CEB-B700-03151B03F6B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1" y="1056"/>
              <a:ext cx="5318" cy="2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3DB08AB-B819-41AE-A0D7-88EC82259C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7" y="2122"/>
              <a:ext cx="769" cy="49"/>
            </a:xfrm>
            <a:custGeom>
              <a:avLst/>
              <a:gdLst>
                <a:gd name="T0" fmla="*/ 0 w 769"/>
                <a:gd name="T1" fmla="*/ 16 h 49"/>
                <a:gd name="T2" fmla="*/ 720 w 769"/>
                <a:gd name="T3" fmla="*/ 16 h 49"/>
                <a:gd name="T4" fmla="*/ 720 w 769"/>
                <a:gd name="T5" fmla="*/ 33 h 49"/>
                <a:gd name="T6" fmla="*/ 0 w 769"/>
                <a:gd name="T7" fmla="*/ 33 h 49"/>
                <a:gd name="T8" fmla="*/ 0 w 769"/>
                <a:gd name="T9" fmla="*/ 16 h 49"/>
                <a:gd name="T10" fmla="*/ 720 w 769"/>
                <a:gd name="T11" fmla="*/ 24 h 49"/>
                <a:gd name="T12" fmla="*/ 687 w 769"/>
                <a:gd name="T13" fmla="*/ 0 h 49"/>
                <a:gd name="T14" fmla="*/ 769 w 769"/>
                <a:gd name="T15" fmla="*/ 24 h 49"/>
                <a:gd name="T16" fmla="*/ 687 w 769"/>
                <a:gd name="T17" fmla="*/ 49 h 49"/>
                <a:gd name="T18" fmla="*/ 720 w 769"/>
                <a:gd name="T19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9" h="49">
                  <a:moveTo>
                    <a:pt x="0" y="16"/>
                  </a:moveTo>
                  <a:lnTo>
                    <a:pt x="720" y="16"/>
                  </a:lnTo>
                  <a:lnTo>
                    <a:pt x="720" y="33"/>
                  </a:lnTo>
                  <a:lnTo>
                    <a:pt x="0" y="33"/>
                  </a:lnTo>
                  <a:lnTo>
                    <a:pt x="0" y="16"/>
                  </a:lnTo>
                  <a:close/>
                  <a:moveTo>
                    <a:pt x="720" y="24"/>
                  </a:moveTo>
                  <a:lnTo>
                    <a:pt x="687" y="0"/>
                  </a:lnTo>
                  <a:lnTo>
                    <a:pt x="769" y="24"/>
                  </a:lnTo>
                  <a:lnTo>
                    <a:pt x="687" y="49"/>
                  </a:lnTo>
                  <a:lnTo>
                    <a:pt x="720" y="24"/>
                  </a:lnTo>
                  <a:close/>
                </a:path>
              </a:pathLst>
            </a:custGeom>
            <a:solidFill>
              <a:srgbClr val="618FFD"/>
            </a:solidFill>
            <a:ln w="0" cap="flat">
              <a:solidFill>
                <a:srgbClr val="618FFD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32FCA95-F168-4A96-9306-935B19DFE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76" y="2122"/>
              <a:ext cx="769" cy="49"/>
            </a:xfrm>
            <a:custGeom>
              <a:avLst/>
              <a:gdLst>
                <a:gd name="T0" fmla="*/ 0 w 769"/>
                <a:gd name="T1" fmla="*/ 16 h 49"/>
                <a:gd name="T2" fmla="*/ 720 w 769"/>
                <a:gd name="T3" fmla="*/ 16 h 49"/>
                <a:gd name="T4" fmla="*/ 720 w 769"/>
                <a:gd name="T5" fmla="*/ 33 h 49"/>
                <a:gd name="T6" fmla="*/ 0 w 769"/>
                <a:gd name="T7" fmla="*/ 33 h 49"/>
                <a:gd name="T8" fmla="*/ 0 w 769"/>
                <a:gd name="T9" fmla="*/ 16 h 49"/>
                <a:gd name="T10" fmla="*/ 720 w 769"/>
                <a:gd name="T11" fmla="*/ 24 h 49"/>
                <a:gd name="T12" fmla="*/ 687 w 769"/>
                <a:gd name="T13" fmla="*/ 0 h 49"/>
                <a:gd name="T14" fmla="*/ 769 w 769"/>
                <a:gd name="T15" fmla="*/ 24 h 49"/>
                <a:gd name="T16" fmla="*/ 687 w 769"/>
                <a:gd name="T17" fmla="*/ 49 h 49"/>
                <a:gd name="T18" fmla="*/ 720 w 769"/>
                <a:gd name="T19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9" h="49">
                  <a:moveTo>
                    <a:pt x="0" y="16"/>
                  </a:moveTo>
                  <a:lnTo>
                    <a:pt x="720" y="16"/>
                  </a:lnTo>
                  <a:lnTo>
                    <a:pt x="720" y="33"/>
                  </a:lnTo>
                  <a:lnTo>
                    <a:pt x="0" y="33"/>
                  </a:lnTo>
                  <a:lnTo>
                    <a:pt x="0" y="16"/>
                  </a:lnTo>
                  <a:close/>
                  <a:moveTo>
                    <a:pt x="720" y="24"/>
                  </a:moveTo>
                  <a:lnTo>
                    <a:pt x="687" y="0"/>
                  </a:lnTo>
                  <a:lnTo>
                    <a:pt x="769" y="24"/>
                  </a:lnTo>
                  <a:lnTo>
                    <a:pt x="687" y="49"/>
                  </a:lnTo>
                  <a:lnTo>
                    <a:pt x="720" y="24"/>
                  </a:lnTo>
                  <a:close/>
                </a:path>
              </a:pathLst>
            </a:custGeom>
            <a:solidFill>
              <a:srgbClr val="618FFD"/>
            </a:solidFill>
            <a:ln w="0" cap="flat">
              <a:solidFill>
                <a:srgbClr val="618FFD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28F2BF3C-9C9C-44A9-82F4-4C24AADC6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6" y="2402"/>
              <a:ext cx="0" cy="1162"/>
            </a:xfrm>
            <a:prstGeom prst="line">
              <a:avLst/>
            </a:prstGeom>
            <a:noFill/>
            <a:ln w="25400" cap="flat">
              <a:solidFill>
                <a:srgbClr val="618FF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21E631E2-6903-4F27-A4DA-CB69290EF2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7" y="3572"/>
              <a:ext cx="1428" cy="0"/>
            </a:xfrm>
            <a:prstGeom prst="line">
              <a:avLst/>
            </a:prstGeom>
            <a:noFill/>
            <a:ln w="25400" cap="flat">
              <a:solidFill>
                <a:srgbClr val="618FF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E0CCDE5D-182D-441B-8737-463AF5BDFB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8" y="2569"/>
              <a:ext cx="49" cy="999"/>
            </a:xfrm>
            <a:custGeom>
              <a:avLst/>
              <a:gdLst>
                <a:gd name="T0" fmla="*/ 33 w 49"/>
                <a:gd name="T1" fmla="*/ 49 h 999"/>
                <a:gd name="T2" fmla="*/ 33 w 49"/>
                <a:gd name="T3" fmla="*/ 999 h 999"/>
                <a:gd name="T4" fmla="*/ 16 w 49"/>
                <a:gd name="T5" fmla="*/ 999 h 999"/>
                <a:gd name="T6" fmla="*/ 16 w 49"/>
                <a:gd name="T7" fmla="*/ 49 h 999"/>
                <a:gd name="T8" fmla="*/ 33 w 49"/>
                <a:gd name="T9" fmla="*/ 49 h 999"/>
                <a:gd name="T10" fmla="*/ 25 w 49"/>
                <a:gd name="T11" fmla="*/ 49 h 999"/>
                <a:gd name="T12" fmla="*/ 0 w 49"/>
                <a:gd name="T13" fmla="*/ 82 h 999"/>
                <a:gd name="T14" fmla="*/ 25 w 49"/>
                <a:gd name="T15" fmla="*/ 0 h 999"/>
                <a:gd name="T16" fmla="*/ 49 w 49"/>
                <a:gd name="T17" fmla="*/ 82 h 999"/>
                <a:gd name="T18" fmla="*/ 25 w 49"/>
                <a:gd name="T19" fmla="*/ 49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999">
                  <a:moveTo>
                    <a:pt x="33" y="49"/>
                  </a:moveTo>
                  <a:lnTo>
                    <a:pt x="33" y="999"/>
                  </a:lnTo>
                  <a:lnTo>
                    <a:pt x="16" y="999"/>
                  </a:lnTo>
                  <a:lnTo>
                    <a:pt x="16" y="49"/>
                  </a:lnTo>
                  <a:lnTo>
                    <a:pt x="33" y="49"/>
                  </a:lnTo>
                  <a:close/>
                  <a:moveTo>
                    <a:pt x="25" y="49"/>
                  </a:moveTo>
                  <a:lnTo>
                    <a:pt x="0" y="82"/>
                  </a:lnTo>
                  <a:lnTo>
                    <a:pt x="25" y="0"/>
                  </a:lnTo>
                  <a:lnTo>
                    <a:pt x="49" y="82"/>
                  </a:lnTo>
                  <a:lnTo>
                    <a:pt x="25" y="49"/>
                  </a:lnTo>
                  <a:close/>
                </a:path>
              </a:pathLst>
            </a:custGeom>
            <a:solidFill>
              <a:srgbClr val="618FFD"/>
            </a:solidFill>
            <a:ln w="0" cap="flat">
              <a:solidFill>
                <a:srgbClr val="618FFD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0864EBB-EDE2-42B1-A0F4-19F559D4B7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58" y="1436"/>
              <a:ext cx="49" cy="461"/>
            </a:xfrm>
            <a:custGeom>
              <a:avLst/>
              <a:gdLst>
                <a:gd name="T0" fmla="*/ 33 w 49"/>
                <a:gd name="T1" fmla="*/ 412 h 461"/>
                <a:gd name="T2" fmla="*/ 33 w 49"/>
                <a:gd name="T3" fmla="*/ 0 h 461"/>
                <a:gd name="T4" fmla="*/ 16 w 49"/>
                <a:gd name="T5" fmla="*/ 0 h 461"/>
                <a:gd name="T6" fmla="*/ 16 w 49"/>
                <a:gd name="T7" fmla="*/ 412 h 461"/>
                <a:gd name="T8" fmla="*/ 33 w 49"/>
                <a:gd name="T9" fmla="*/ 412 h 461"/>
                <a:gd name="T10" fmla="*/ 24 w 49"/>
                <a:gd name="T11" fmla="*/ 412 h 461"/>
                <a:gd name="T12" fmla="*/ 0 w 49"/>
                <a:gd name="T13" fmla="*/ 380 h 461"/>
                <a:gd name="T14" fmla="*/ 24 w 49"/>
                <a:gd name="T15" fmla="*/ 461 h 461"/>
                <a:gd name="T16" fmla="*/ 49 w 49"/>
                <a:gd name="T17" fmla="*/ 380 h 461"/>
                <a:gd name="T18" fmla="*/ 24 w 49"/>
                <a:gd name="T19" fmla="*/ 412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461">
                  <a:moveTo>
                    <a:pt x="33" y="412"/>
                  </a:moveTo>
                  <a:lnTo>
                    <a:pt x="33" y="0"/>
                  </a:lnTo>
                  <a:lnTo>
                    <a:pt x="16" y="0"/>
                  </a:lnTo>
                  <a:lnTo>
                    <a:pt x="16" y="412"/>
                  </a:lnTo>
                  <a:lnTo>
                    <a:pt x="33" y="412"/>
                  </a:lnTo>
                  <a:close/>
                  <a:moveTo>
                    <a:pt x="24" y="412"/>
                  </a:moveTo>
                  <a:lnTo>
                    <a:pt x="0" y="380"/>
                  </a:lnTo>
                  <a:lnTo>
                    <a:pt x="24" y="461"/>
                  </a:lnTo>
                  <a:lnTo>
                    <a:pt x="49" y="380"/>
                  </a:lnTo>
                  <a:lnTo>
                    <a:pt x="24" y="412"/>
                  </a:lnTo>
                  <a:close/>
                </a:path>
              </a:pathLst>
            </a:custGeom>
            <a:solidFill>
              <a:srgbClr val="618FFD"/>
            </a:solidFill>
            <a:ln w="0" cap="flat">
              <a:solidFill>
                <a:srgbClr val="618FFD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9A919666-1E1A-4FBA-8182-D994B42A4B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" y="3548"/>
              <a:ext cx="1408" cy="49"/>
            </a:xfrm>
            <a:custGeom>
              <a:avLst/>
              <a:gdLst>
                <a:gd name="T0" fmla="*/ 1408 w 1408"/>
                <a:gd name="T1" fmla="*/ 16 h 49"/>
                <a:gd name="T2" fmla="*/ 49 w 1408"/>
                <a:gd name="T3" fmla="*/ 16 h 49"/>
                <a:gd name="T4" fmla="*/ 49 w 1408"/>
                <a:gd name="T5" fmla="*/ 33 h 49"/>
                <a:gd name="T6" fmla="*/ 1408 w 1408"/>
                <a:gd name="T7" fmla="*/ 33 h 49"/>
                <a:gd name="T8" fmla="*/ 1408 w 1408"/>
                <a:gd name="T9" fmla="*/ 16 h 49"/>
                <a:gd name="T10" fmla="*/ 49 w 1408"/>
                <a:gd name="T11" fmla="*/ 24 h 49"/>
                <a:gd name="T12" fmla="*/ 81 w 1408"/>
                <a:gd name="T13" fmla="*/ 0 h 49"/>
                <a:gd name="T14" fmla="*/ 0 w 1408"/>
                <a:gd name="T15" fmla="*/ 24 h 49"/>
                <a:gd name="T16" fmla="*/ 81 w 1408"/>
                <a:gd name="T17" fmla="*/ 49 h 49"/>
                <a:gd name="T18" fmla="*/ 49 w 1408"/>
                <a:gd name="T19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08" h="49">
                  <a:moveTo>
                    <a:pt x="1408" y="16"/>
                  </a:moveTo>
                  <a:lnTo>
                    <a:pt x="49" y="16"/>
                  </a:lnTo>
                  <a:lnTo>
                    <a:pt x="49" y="33"/>
                  </a:lnTo>
                  <a:lnTo>
                    <a:pt x="1408" y="33"/>
                  </a:lnTo>
                  <a:lnTo>
                    <a:pt x="1408" y="16"/>
                  </a:lnTo>
                  <a:close/>
                  <a:moveTo>
                    <a:pt x="49" y="24"/>
                  </a:moveTo>
                  <a:lnTo>
                    <a:pt x="81" y="0"/>
                  </a:lnTo>
                  <a:lnTo>
                    <a:pt x="0" y="24"/>
                  </a:lnTo>
                  <a:lnTo>
                    <a:pt x="81" y="49"/>
                  </a:lnTo>
                  <a:lnTo>
                    <a:pt x="49" y="24"/>
                  </a:lnTo>
                  <a:close/>
                </a:path>
              </a:pathLst>
            </a:custGeom>
            <a:solidFill>
              <a:srgbClr val="618FFD"/>
            </a:solidFill>
            <a:ln w="0" cap="flat">
              <a:solidFill>
                <a:srgbClr val="618FFD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6CB6F792-ECB4-45DF-A937-8FD3CF498F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58" y="2393"/>
              <a:ext cx="49" cy="294"/>
            </a:xfrm>
            <a:custGeom>
              <a:avLst/>
              <a:gdLst>
                <a:gd name="T0" fmla="*/ 33 w 49"/>
                <a:gd name="T1" fmla="*/ 49 h 294"/>
                <a:gd name="T2" fmla="*/ 33 w 49"/>
                <a:gd name="T3" fmla="*/ 294 h 294"/>
                <a:gd name="T4" fmla="*/ 16 w 49"/>
                <a:gd name="T5" fmla="*/ 294 h 294"/>
                <a:gd name="T6" fmla="*/ 16 w 49"/>
                <a:gd name="T7" fmla="*/ 49 h 294"/>
                <a:gd name="T8" fmla="*/ 33 w 49"/>
                <a:gd name="T9" fmla="*/ 49 h 294"/>
                <a:gd name="T10" fmla="*/ 24 w 49"/>
                <a:gd name="T11" fmla="*/ 49 h 294"/>
                <a:gd name="T12" fmla="*/ 0 w 49"/>
                <a:gd name="T13" fmla="*/ 81 h 294"/>
                <a:gd name="T14" fmla="*/ 24 w 49"/>
                <a:gd name="T15" fmla="*/ 0 h 294"/>
                <a:gd name="T16" fmla="*/ 49 w 49"/>
                <a:gd name="T17" fmla="*/ 81 h 294"/>
                <a:gd name="T18" fmla="*/ 24 w 49"/>
                <a:gd name="T19" fmla="*/ 49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294">
                  <a:moveTo>
                    <a:pt x="33" y="49"/>
                  </a:moveTo>
                  <a:lnTo>
                    <a:pt x="33" y="294"/>
                  </a:lnTo>
                  <a:lnTo>
                    <a:pt x="16" y="294"/>
                  </a:lnTo>
                  <a:lnTo>
                    <a:pt x="16" y="49"/>
                  </a:lnTo>
                  <a:lnTo>
                    <a:pt x="33" y="49"/>
                  </a:lnTo>
                  <a:close/>
                  <a:moveTo>
                    <a:pt x="24" y="49"/>
                  </a:moveTo>
                  <a:lnTo>
                    <a:pt x="0" y="81"/>
                  </a:lnTo>
                  <a:lnTo>
                    <a:pt x="24" y="0"/>
                  </a:lnTo>
                  <a:lnTo>
                    <a:pt x="49" y="81"/>
                  </a:lnTo>
                  <a:lnTo>
                    <a:pt x="24" y="49"/>
                  </a:lnTo>
                  <a:close/>
                </a:path>
              </a:pathLst>
            </a:custGeom>
            <a:solidFill>
              <a:srgbClr val="618FFD"/>
            </a:solidFill>
            <a:ln w="0" cap="flat">
              <a:solidFill>
                <a:srgbClr val="618FFD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61E6E6C9-08AC-432D-A714-7D65301D9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" y="1113"/>
              <a:ext cx="114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 dirty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Marketing Actions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0C9A9ECA-6A4E-4440-AF3E-5BD70C6BA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" y="1305"/>
              <a:ext cx="41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 dirty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Inputs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70C8AF00-43E7-42AA-A3FD-4CA9B5F2B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" y="1209"/>
              <a:ext cx="127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Competitive Actions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87C8858B-1554-404E-9A9F-791CCCA57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" y="1113"/>
              <a:ext cx="112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Observed Market 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9A6F9404-2BDC-4588-9924-45CA1F7F5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" y="1305"/>
              <a:ext cx="5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Outputs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9A47A1A6-6268-4024-9C78-00BC71785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" y="1923"/>
              <a:ext cx="44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BAFF"/>
                  </a:solidFill>
                  <a:effectLst/>
                  <a:latin typeface="+mn-lt"/>
                </a:rPr>
                <a:t>Market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01F85174-9614-4098-BD41-FABBE64F9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2077"/>
              <a:ext cx="61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BAFF"/>
                  </a:solidFill>
                  <a:effectLst/>
                  <a:latin typeface="+mn-lt"/>
                </a:rPr>
                <a:t>Response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FBE33DF5-BF8E-48F2-B5DC-7B85AEFE3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4" y="2230"/>
              <a:ext cx="37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BAFF"/>
                  </a:solidFill>
                  <a:effectLst/>
                  <a:latin typeface="+mn-lt"/>
                </a:rPr>
                <a:t>Model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71992FD8-DA57-485B-ABD9-6DFA38287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2705"/>
              <a:ext cx="86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Environmental 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9DAFCA8B-1637-4DC2-A386-0292DF410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2858"/>
              <a:ext cx="59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Conditions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25C44FE1-B11A-499F-8DB0-939F38F55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" y="3530"/>
              <a:ext cx="59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Objectives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88739A7A-5BD6-4485-952B-BE9B1EAB7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4" y="1904"/>
              <a:ext cx="1008" cy="487"/>
            </a:xfrm>
            <a:prstGeom prst="rect">
              <a:avLst/>
            </a:prstGeom>
            <a:noFill/>
            <a:ln w="25400" cap="flat">
              <a:solidFill>
                <a:srgbClr val="00BA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98197CC8-A32F-451A-B8FA-2F7C6D895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" y="1773"/>
              <a:ext cx="88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Product design 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8D8662BF-C78F-4B7E-94C2-F6CE03EB1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" y="1926"/>
              <a:ext cx="27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Price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4055A0B0-A5C6-4506-90A6-DEF4F531F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" y="2078"/>
              <a:ext cx="63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Advertising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DC78F19D-77F5-4FD2-89F0-6C3A8A874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" y="2233"/>
              <a:ext cx="7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Selling effort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46464CC2-137E-440B-B099-09F6A97F4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" y="2386"/>
              <a:ext cx="21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etc.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87DCAF91-1F88-46FF-AF09-99C73828F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" y="1736"/>
              <a:ext cx="1264" cy="823"/>
            </a:xfrm>
            <a:prstGeom prst="rect">
              <a:avLst/>
            </a:prstGeom>
            <a:noFill/>
            <a:ln w="25400" cap="flat">
              <a:solidFill>
                <a:srgbClr val="063D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6BA92446-A3ED-438A-843B-9691BF76C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925"/>
              <a:ext cx="91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Awareness level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3A783CAF-DA5C-446E-8091-6FCC18374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2080"/>
              <a:ext cx="90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Preference level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C6550537-F6BD-4605-9C31-B9D51B160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" y="2233"/>
              <a:ext cx="6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Sales Level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23DFDC14-4AED-4ABD-B3AE-D17C15A61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" y="1904"/>
              <a:ext cx="1329" cy="487"/>
            </a:xfrm>
            <a:prstGeom prst="rect">
              <a:avLst/>
            </a:prstGeom>
            <a:noFill/>
            <a:ln w="25400" cap="flat">
              <a:solidFill>
                <a:srgbClr val="063D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E9367ED3-1B55-48B2-AD74-0B0568134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3406"/>
              <a:ext cx="59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Evaluation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04BD0C64-D36A-4644-9525-BF26D9549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1" y="3598"/>
              <a:ext cx="1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(5)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E9172ABC-8255-4E4F-B182-C0D4BABB0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3" y="3399"/>
              <a:ext cx="95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Control Adaption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EF084F58-842E-4013-B889-22F6389B5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" y="3591"/>
              <a:ext cx="1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(6)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2" name="Rectangle 39">
              <a:extLst>
                <a:ext uri="{FF2B5EF4-FFF2-40B4-BE49-F238E27FC236}">
                  <a16:creationId xmlns:a16="http://schemas.microsoft.com/office/drawing/2014/main" id="{727B86CA-A9D3-452D-A45F-09ECFF03A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" y="2195"/>
              <a:ext cx="1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(1)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A1EC58BA-660F-425F-A9FE-4C8C77485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195"/>
              <a:ext cx="1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(4)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C4A7E1EF-D384-4D5D-81C4-F6CA54BCB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4" y="1571"/>
              <a:ext cx="1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(2)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34FF23E6-DD55-494C-9B6F-C40FCBC5F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4" y="2489"/>
              <a:ext cx="1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63DE8"/>
                  </a:solidFill>
                  <a:effectLst/>
                  <a:latin typeface="+mn-lt"/>
                </a:rPr>
                <a:t>(3)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562DDA51-B425-496E-A591-08D7139AD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8" y="3343"/>
              <a:ext cx="1009" cy="487"/>
            </a:xfrm>
            <a:prstGeom prst="rect">
              <a:avLst/>
            </a:prstGeom>
            <a:noFill/>
            <a:ln w="25400" cap="flat">
              <a:solidFill>
                <a:srgbClr val="063D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18795924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15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Are Marketing Analytics </a:t>
            </a:r>
            <a:r>
              <a:rPr lang="de-AT" dirty="0" err="1"/>
              <a:t>valuable</a:t>
            </a:r>
            <a:r>
              <a:rPr lang="de-AT" dirty="0"/>
              <a:t>?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F5BDE-4B9A-4175-BBEF-DE738E42E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1557338"/>
            <a:ext cx="7567613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09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3D7D"/>
                </a:solidFill>
                <a:latin typeface="+mn-lt"/>
                <a:ea typeface="+mn-ea"/>
                <a:cs typeface="+mn-cs"/>
              </a:defRPr>
            </a:lvl1pPr>
            <a:lvl2pPr marL="692150" indent="-15081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◦"/>
              <a:defRPr sz="2000">
                <a:solidFill>
                  <a:srgbClr val="C09B12"/>
                </a:solidFill>
                <a:latin typeface="+mn-lt"/>
              </a:defRPr>
            </a:lvl2pPr>
            <a:lvl3pPr marL="979488" indent="-1079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▪"/>
              <a:defRPr sz="2000">
                <a:solidFill>
                  <a:srgbClr val="C09B12"/>
                </a:solidFill>
                <a:latin typeface="+mn-lt"/>
              </a:defRPr>
            </a:lvl3pPr>
            <a:lvl4pPr marL="13398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­"/>
              <a:defRPr sz="2000">
                <a:solidFill>
                  <a:srgbClr val="C09B12"/>
                </a:solidFill>
                <a:latin typeface="+mn-lt"/>
              </a:defRPr>
            </a:lvl4pPr>
            <a:lvl5pPr marL="1690688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­"/>
              <a:defRPr sz="2000">
                <a:solidFill>
                  <a:srgbClr val="C09B12"/>
                </a:solidFill>
                <a:latin typeface="+mn-lt"/>
              </a:defRPr>
            </a:lvl5pPr>
            <a:lvl6pPr marL="2147888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­"/>
              <a:defRPr sz="2000">
                <a:solidFill>
                  <a:srgbClr val="C09B12"/>
                </a:solidFill>
                <a:latin typeface="+mn-lt"/>
              </a:defRPr>
            </a:lvl6pPr>
            <a:lvl7pPr marL="2605088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­"/>
              <a:defRPr sz="2000">
                <a:solidFill>
                  <a:srgbClr val="C09B12"/>
                </a:solidFill>
                <a:latin typeface="+mn-lt"/>
              </a:defRPr>
            </a:lvl7pPr>
            <a:lvl8pPr marL="3062288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­"/>
              <a:defRPr sz="2000">
                <a:solidFill>
                  <a:srgbClr val="C09B12"/>
                </a:solidFill>
                <a:latin typeface="+mn-lt"/>
              </a:defRPr>
            </a:lvl8pPr>
            <a:lvl9pPr marL="3519488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­"/>
              <a:defRPr sz="2000">
                <a:solidFill>
                  <a:srgbClr val="C09B12"/>
                </a:solidFill>
                <a:latin typeface="+mn-lt"/>
              </a:defRPr>
            </a:lvl9pPr>
          </a:lstStyle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		Types of		Subjective	Objective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		Judgments Experts	Mental	 Decision	 Decision</a:t>
            </a:r>
          </a:p>
          <a:p>
            <a:pPr marL="285750" indent="-285750">
              <a:lnSpc>
                <a:spcPct val="80000"/>
              </a:lnSpc>
              <a:spcAft>
                <a:spcPct val="100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		Had to Make	 Model	   Model	  	  Model</a:t>
            </a:r>
          </a:p>
          <a:p>
            <a:pPr marL="285750" indent="-285750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Academic performance of graduate students	0.19		0.25		0.54</a:t>
            </a:r>
          </a:p>
          <a:p>
            <a:pPr marL="285750" indent="-285750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Life expectancy of cancer patients	–0.01		0.13		0.35</a:t>
            </a:r>
          </a:p>
          <a:p>
            <a:pPr marL="285750" indent="-285750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Changes in stock prices	0.23		0.29		0.80</a:t>
            </a:r>
          </a:p>
          <a:p>
            <a:pPr marL="285750" indent="-285750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Mental illness using personality tests	0.28		0.31		0.46</a:t>
            </a:r>
          </a:p>
          <a:p>
            <a:pPr marL="285750" indent="-285750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Grades and attitudes in psychology course	0.48		0.56		0.62</a:t>
            </a:r>
          </a:p>
          <a:p>
            <a:pPr marL="285750" indent="-285750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Business failures using financial ratios	0.50		0.53		0.67</a:t>
            </a:r>
          </a:p>
          <a:p>
            <a:pPr marL="285750" indent="-285750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Students’ rating of teaching effectiveness	0.35		0.56		0.91</a:t>
            </a:r>
          </a:p>
          <a:p>
            <a:pPr marL="285750" indent="-285750">
              <a:lnSpc>
                <a:spcPct val="80000"/>
              </a:lnSpc>
              <a:spcAft>
                <a:spcPct val="25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Performance of life insurance salesman	0.13		0.14		0.43</a:t>
            </a:r>
          </a:p>
          <a:p>
            <a:pPr marL="285750" indent="-285750">
              <a:lnSpc>
                <a:spcPct val="80000"/>
              </a:lnSpc>
              <a:spcAft>
                <a:spcPct val="90000"/>
              </a:spcAft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IQ scores using Rorschach tests	0.47		0.51		0.54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None/>
              <a:tabLst>
                <a:tab pos="1625600" algn="ctr"/>
                <a:tab pos="4770438" algn="r"/>
                <a:tab pos="5327650" algn="l"/>
                <a:tab pos="5994400" algn="r"/>
                <a:tab pos="6567488" algn="l"/>
                <a:tab pos="7140575" algn="r"/>
              </a:tabLst>
              <a:defRPr/>
            </a:pPr>
            <a:r>
              <a:rPr lang="en-US" sz="1200" b="0" kern="0" dirty="0">
                <a:solidFill>
                  <a:srgbClr val="000000"/>
                </a:solidFill>
              </a:rPr>
              <a:t>Mean (across many studies)	0.33		0.39		0.64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8DF7EF3-0712-48B3-88E3-4F15A0863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1426625"/>
            <a:ext cx="1365036" cy="350632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801912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16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Top </a:t>
            </a:r>
            <a:r>
              <a:rPr lang="de-AT" dirty="0" err="1"/>
              <a:t>Perfomers</a:t>
            </a:r>
            <a:r>
              <a:rPr lang="de-AT" dirty="0"/>
              <a:t> </a:t>
            </a:r>
            <a:r>
              <a:rPr lang="de-AT" dirty="0" err="1"/>
              <a:t>use</a:t>
            </a:r>
            <a:r>
              <a:rPr lang="de-AT" dirty="0"/>
              <a:t> Marketing Analytics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02CE971-401A-4CC4-897E-C1DD8E306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95" y="1006867"/>
            <a:ext cx="7586609" cy="4582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231775" indent="-231775">
              <a:tabLst>
                <a:tab pos="855663" algn="l"/>
                <a:tab pos="4630738" algn="l"/>
                <a:tab pos="5892800" algn="l"/>
                <a:tab pos="6169025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62013" indent="-292100">
              <a:tabLst>
                <a:tab pos="855663" algn="l"/>
                <a:tab pos="4630738" algn="l"/>
                <a:tab pos="5892800" algn="l"/>
                <a:tab pos="6169025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28738" indent="-276225">
              <a:tabLst>
                <a:tab pos="855663" algn="l"/>
                <a:tab pos="4630738" algn="l"/>
                <a:tab pos="5892800" algn="l"/>
                <a:tab pos="6169025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08150" indent="-188913">
              <a:tabLst>
                <a:tab pos="855663" algn="l"/>
                <a:tab pos="4630738" algn="l"/>
                <a:tab pos="5892800" algn="l"/>
                <a:tab pos="6169025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89163" indent="-276225">
              <a:tabLst>
                <a:tab pos="855663" algn="l"/>
                <a:tab pos="4630738" algn="l"/>
                <a:tab pos="5892800" algn="l"/>
                <a:tab pos="6169025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46363" indent="-276225" eaLnBrk="0" fontAlgn="base" hangingPunct="0">
              <a:spcBef>
                <a:spcPct val="0"/>
              </a:spcBef>
              <a:spcAft>
                <a:spcPct val="0"/>
              </a:spcAft>
              <a:tabLst>
                <a:tab pos="855663" algn="l"/>
                <a:tab pos="4630738" algn="l"/>
                <a:tab pos="5892800" algn="l"/>
                <a:tab pos="6169025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03563" indent="-276225" eaLnBrk="0" fontAlgn="base" hangingPunct="0">
              <a:spcBef>
                <a:spcPct val="0"/>
              </a:spcBef>
              <a:spcAft>
                <a:spcPct val="0"/>
              </a:spcAft>
              <a:tabLst>
                <a:tab pos="855663" algn="l"/>
                <a:tab pos="4630738" algn="l"/>
                <a:tab pos="5892800" algn="l"/>
                <a:tab pos="6169025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60763" indent="-276225" eaLnBrk="0" fontAlgn="base" hangingPunct="0">
              <a:spcBef>
                <a:spcPct val="0"/>
              </a:spcBef>
              <a:spcAft>
                <a:spcPct val="0"/>
              </a:spcAft>
              <a:tabLst>
                <a:tab pos="855663" algn="l"/>
                <a:tab pos="4630738" algn="l"/>
                <a:tab pos="5892800" algn="l"/>
                <a:tab pos="6169025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17963" indent="-276225" eaLnBrk="0" fontAlgn="base" hangingPunct="0">
              <a:spcBef>
                <a:spcPct val="0"/>
              </a:spcBef>
              <a:spcAft>
                <a:spcPct val="0"/>
              </a:spcAft>
              <a:tabLst>
                <a:tab pos="855663" algn="l"/>
                <a:tab pos="4630738" algn="l"/>
                <a:tab pos="5892800" algn="l"/>
                <a:tab pos="6169025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spcAft>
                <a:spcPct val="50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i="1" dirty="0">
                <a:solidFill>
                  <a:srgbClr val="000000"/>
                </a:solidFill>
                <a:latin typeface="+mn-lt"/>
              </a:rPr>
              <a:t>    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    High		          	       Low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Performers           	   	 Performers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1200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80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	  </a:t>
            </a:r>
            <a:r>
              <a:rPr lang="en-US" altLang="en-US" sz="1200" b="0" dirty="0">
                <a:solidFill>
                  <a:srgbClr val="000000"/>
                </a:solidFill>
                <a:latin typeface="+mn-lt"/>
              </a:rPr>
              <a:t>65%  	  Have significant decision-support/analytical capabilities                     23%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80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b="0" dirty="0">
                <a:solidFill>
                  <a:srgbClr val="000000"/>
                </a:solidFill>
                <a:latin typeface="+mn-lt"/>
              </a:rPr>
              <a:t>	  36%       Value analytical insights to a very large extent       	          8%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80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b="0" dirty="0">
                <a:solidFill>
                  <a:srgbClr val="000000"/>
                </a:solidFill>
                <a:latin typeface="+mn-lt"/>
              </a:rPr>
              <a:t>      77%        Have above average analytical capability within industry       	        33%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80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b="0" dirty="0">
                <a:solidFill>
                  <a:srgbClr val="000000"/>
                </a:solidFill>
                <a:latin typeface="+mn-lt"/>
              </a:rPr>
              <a:t>      77%         Have BI/Data Warehouse modules installed	 	        62%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80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b="0" dirty="0">
                <a:solidFill>
                  <a:srgbClr val="000000"/>
                </a:solidFill>
                <a:latin typeface="+mn-lt"/>
              </a:rPr>
              <a:t>      73%         Make decisions based on data and analysis                        	        51%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80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b="0" dirty="0">
                <a:solidFill>
                  <a:srgbClr val="000000"/>
                </a:solidFill>
                <a:latin typeface="+mn-lt"/>
              </a:rPr>
              <a:t>      40%         Use analytics across their entire organization                 	        23%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25000"/>
              </a:spcAft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									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spcAft>
                <a:spcPct val="50000"/>
              </a:spcAft>
              <a:buClr>
                <a:schemeClr val="accent2"/>
              </a:buClr>
              <a:buFont typeface="Wingdings" panose="05000000000000000000" pitchFamily="2" charset="2"/>
              <a:buChar char="²"/>
            </a:pPr>
            <a:endParaRPr lang="en-US" altLang="en-US" sz="1200" i="1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442423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76B0F45-CCFB-48D7-8F62-17CBB20E48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Further </a:t>
            </a:r>
            <a:r>
              <a:rPr lang="de-AT" dirty="0" err="1"/>
              <a:t>Applications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81217D-CE16-47A8-9F96-C67F00A447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2979D5-7C28-4DCA-9AA8-728BC08711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393253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FB3DDF5-90BF-4BB4-9B18-E968D1CAB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Within a few hours of the 9/11 attacks, sales of flags and other patriotic items started skyrocketing.</a:t>
            </a:r>
          </a:p>
          <a:p>
            <a:pPr marL="457200" indent="-45720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On Sept 11, the 2,700 Wal-Mart stores sold over 100,000 flags (compared to 6,400 the previous year on that day), and over 200,000 on Sept 12</a:t>
            </a:r>
            <a:r>
              <a:rPr lang="en-US" sz="1400" baseline="30000" dirty="0"/>
              <a:t>th</a:t>
            </a:r>
            <a:r>
              <a:rPr lang="en-US" sz="1400" dirty="0"/>
              <a:t>.</a:t>
            </a:r>
          </a:p>
          <a:p>
            <a:pPr marL="457200" indent="-45720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Detecting these increases, Wal-Mart locked up all the supplies it could find before its competitors (like Kmart) could react.</a:t>
            </a:r>
          </a:p>
          <a:p>
            <a:pPr marL="457200" indent="-45720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Real-time tracking and analysis helped cope with a demand surge.</a:t>
            </a:r>
          </a:p>
          <a:p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9C3E27-F637-4565-B649-2792D0F4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5C1112-EEBF-4D27-8989-27B2CB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18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C64F9D-24DF-49B8-8E9F-79951C6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What</a:t>
            </a:r>
            <a:r>
              <a:rPr lang="de-AT" dirty="0"/>
              <a:t> Walmart </a:t>
            </a:r>
            <a:r>
              <a:rPr lang="de-AT" dirty="0" err="1"/>
              <a:t>did</a:t>
            </a:r>
            <a:r>
              <a:rPr lang="de-AT" dirty="0"/>
              <a:t> on 09/11</a:t>
            </a:r>
            <a:endParaRPr lang="en-US" dirty="0"/>
          </a:p>
        </p:txBody>
      </p:sp>
      <p:pic>
        <p:nvPicPr>
          <p:cNvPr id="6" name="Picture 4" descr="wal-mart">
            <a:extLst>
              <a:ext uri="{FF2B5EF4-FFF2-40B4-BE49-F238E27FC236}">
                <a16:creationId xmlns:a16="http://schemas.microsoft.com/office/drawing/2014/main" id="{9A951297-F9AF-46AA-9067-CED47A5A1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517" y="4030118"/>
            <a:ext cx="13970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827146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76B0F45-CCFB-48D7-8F62-17CBB20E48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Take </a:t>
            </a:r>
            <a:r>
              <a:rPr lang="de-AT" dirty="0" err="1"/>
              <a:t>Aways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81217D-CE16-47A8-9F96-C67F00A447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2979D5-7C28-4DCA-9AA8-728BC08711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505436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AAB66DB-1ADF-49B5-BC6D-EB7A7031F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Exposed to massive data sets, marketers who master some data mining and marketing analysis techniques have the competitive advantage in this information age.</a:t>
            </a:r>
          </a:p>
          <a:p>
            <a:endParaRPr lang="en-US" dirty="0"/>
          </a:p>
          <a:p>
            <a:r>
              <a:rPr lang="en-US" dirty="0"/>
              <a:t>Marketing analytics is a comprehensive information system which helps marketers to balance the overloaded marketing data and the need for rich marketing experience.</a:t>
            </a:r>
          </a:p>
          <a:p>
            <a:endParaRPr lang="en-US" dirty="0"/>
          </a:p>
          <a:p>
            <a:r>
              <a:rPr lang="en-US" dirty="0"/>
              <a:t>Marketing Information System (MIS) is designed to generate, </a:t>
            </a:r>
            <a:r>
              <a:rPr lang="en-US" dirty="0" err="1"/>
              <a:t>analyse</a:t>
            </a:r>
            <a:r>
              <a:rPr lang="en-US" dirty="0"/>
              <a:t>, distribute and store the anticipated marketing decision information. It serves the internal information users, meanwhile, provides information to external stakeholders.</a:t>
            </a:r>
          </a:p>
          <a:p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301DB7-4BE4-47DB-A4F4-61528F2D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DECISION MAKING IN International marketing – arne.floh@wu.ac.at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53C102-59BF-42C7-AFCF-B0A2D130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20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579F7AE-6214-4789-BA49-DCB75B43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Take-Aways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3539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LANGUAGE" val="English UK"/>
</p:tagLst>
</file>

<file path=ppt/theme/theme1.xml><?xml version="1.0" encoding="utf-8"?>
<a:theme xmlns:a="http://schemas.openxmlformats.org/drawingml/2006/main" name="WU 16:10">
  <a:themeElements>
    <a:clrScheme name="WU">
      <a:dk1>
        <a:srgbClr val="000000"/>
      </a:dk1>
      <a:lt1>
        <a:srgbClr val="FFFFFF"/>
      </a:lt1>
      <a:dk2>
        <a:srgbClr val="002350"/>
      </a:dk2>
      <a:lt2>
        <a:srgbClr val="E5F5FA"/>
      </a:lt2>
      <a:accent1>
        <a:srgbClr val="0096D3"/>
      </a:accent1>
      <a:accent2>
        <a:srgbClr val="002350"/>
      </a:accent2>
      <a:accent3>
        <a:srgbClr val="4B2582"/>
      </a:accent3>
      <a:accent4>
        <a:srgbClr val="457AA0"/>
      </a:accent4>
      <a:accent5>
        <a:srgbClr val="A592C0"/>
      </a:accent5>
      <a:accent6>
        <a:srgbClr val="80CFE9"/>
      </a:accent6>
      <a:hlink>
        <a:srgbClr val="405A7C"/>
      </a:hlink>
      <a:folHlink>
        <a:srgbClr val="0082AA"/>
      </a:folHlink>
    </a:clrScheme>
    <a:fontScheme name="WU neu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U Farbschema neu">
        <a:dk1>
          <a:srgbClr val="000000"/>
        </a:dk1>
        <a:lt1>
          <a:sysClr val="window" lastClr="FFFFFF"/>
        </a:lt1>
        <a:dk2>
          <a:srgbClr val="002E60"/>
        </a:dk2>
        <a:lt2>
          <a:srgbClr val="E5F5FA"/>
        </a:lt2>
        <a:accent1>
          <a:srgbClr val="0096D3"/>
        </a:accent1>
        <a:accent2>
          <a:srgbClr val="002E60"/>
        </a:accent2>
        <a:accent3>
          <a:srgbClr val="532481"/>
        </a:accent3>
        <a:accent4>
          <a:srgbClr val="457AA0"/>
        </a:accent4>
        <a:accent5>
          <a:srgbClr val="A991C0"/>
        </a:accent5>
        <a:accent6>
          <a:srgbClr val="7FCAE9"/>
        </a:accent6>
        <a:hlink>
          <a:srgbClr val="406288"/>
        </a:hlink>
        <a:folHlink>
          <a:srgbClr val="008F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U Sample Presentation 16x10 V1.1.potx" id="{74DD536C-D372-4256-BA4D-24C734E7AF81}" vid="{99E22345-25BB-45DF-85CE-FC929AE6991A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F651A35DF3154DB01328AF51148DAE" ma:contentTypeVersion="1" ma:contentTypeDescription="Ein neues Dokument erstellen." ma:contentTypeScope="" ma:versionID="458c1b80f8d593bdc96b60ff34dd40b4">
  <xsd:schema xmlns:xsd="http://www.w3.org/2001/XMLSchema" xmlns:xs="http://www.w3.org/2001/XMLSchema" xmlns:p="http://schemas.microsoft.com/office/2006/metadata/properties" xmlns:ns2="1a8d9a65-8471-4209-a900-f8e11db75e0a" xmlns:ns3="08b0a3ee-3d2a-451c-9a1a-7e5d5b0c9c77" xmlns:ns4="dde413db-0745-4f3a-8dca-564dc7ff6f7d" targetNamespace="http://schemas.microsoft.com/office/2006/metadata/properties" ma:root="true" ma:fieldsID="2d31116d1a6b5af1b4a8b1ba7152d57a" ns2:_="" ns3:_="" ns4:_="">
    <xsd:import namespace="1a8d9a65-8471-4209-a900-f8e11db75e0a"/>
    <xsd:import namespace="08b0a3ee-3d2a-451c-9a1a-7e5d5b0c9c77"/>
    <xsd:import namespace="dde413db-0745-4f3a-8dca-564dc7ff6f7d"/>
    <xsd:element name="properties">
      <xsd:complexType>
        <xsd:sequence>
          <xsd:element name="documentManagement">
            <xsd:complexType>
              <xsd:all>
                <xsd:element ref="ns2:WU_x0020_ThemaTaxHTField0" minOccurs="0"/>
                <xsd:element ref="ns3:TaxCatchAll" minOccurs="0"/>
                <xsd:element ref="ns2:DokumentenartTaxHTField0" minOccurs="0"/>
                <xsd:element ref="ns4:Beschreibung" minOccurs="0"/>
                <xsd:element ref="ns4:Format" minOccurs="0"/>
                <xsd:element ref="ns4:Kategorie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d9a65-8471-4209-a900-f8e11db75e0a" elementFormDefault="qualified">
    <xsd:import namespace="http://schemas.microsoft.com/office/2006/documentManagement/types"/>
    <xsd:import namespace="http://schemas.microsoft.com/office/infopath/2007/PartnerControls"/>
    <xsd:element name="WU_x0020_ThemaTaxHTField0" ma:index="9" nillable="true" ma:taxonomy="true" ma:internalName="WU_x0020_ThemaTaxHTField0" ma:taxonomyFieldName="WU_x0020_Thema" ma:displayName="Schlagwort" ma:default="" ma:fieldId="{a2eb3201-e251-4055-97e9-466604fc777f}" ma:taxonomyMulti="true" ma:sspId="59da4ae5-1217-4de6-bd64-b7a740f353bb" ma:termSetId="c1edca97-812b-4584-b6b5-1e5cade81ca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DokumentenartTaxHTField0" ma:index="12" nillable="true" ma:taxonomy="true" ma:internalName="DokumentenartTaxHTField0" ma:taxonomyFieldName="Dokumentenart" ma:displayName="Dokumentenart" ma:default="" ma:fieldId="{0f2e647f-32b7-4850-b6be-ae358ed71e70}" ma:taxonomyMulti="true" ma:sspId="59da4ae5-1217-4de6-bd64-b7a740f353bb" ma:termSetId="325756d7-e24e-4b6f-ba71-3f779d34c1e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0a3ee-3d2a-451c-9a1a-7e5d5b0c9c7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description="" ma:hidden="true" ma:list="{6a103bb8-3913-4e3b-a229-080a76572464}" ma:internalName="TaxCatchAll" ma:showField="CatchAllData" ma:web="08b0a3ee-3d2a-451c-9a1a-7e5d5b0c9c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413db-0745-4f3a-8dca-564dc7ff6f7d" elementFormDefault="qualified">
    <xsd:import namespace="http://schemas.microsoft.com/office/2006/documentManagement/types"/>
    <xsd:import namespace="http://schemas.microsoft.com/office/infopath/2007/PartnerControls"/>
    <xsd:element name="Beschreibung" ma:index="13" nillable="true" ma:displayName="Beschreibung" ma:internalName="Beschreibung">
      <xsd:simpleType>
        <xsd:restriction base="dms:Note">
          <xsd:maxLength value="255"/>
        </xsd:restriction>
      </xsd:simpleType>
    </xsd:element>
    <xsd:element name="Format" ma:index="14" nillable="true" ma:displayName="Format" ma:format="Dropdown" ma:internalName="Format">
      <xsd:simpleType>
        <xsd:union memberTypes="dms:Text">
          <xsd:simpleType>
            <xsd:restriction base="dms:Choice">
              <xsd:enumeration value="LaTeX"/>
              <xsd:enumeration value="Microsoft Office 2003"/>
              <xsd:enumeration value="Microsoft Office 2007-2013"/>
              <xsd:enumeration value="Microsoft Office 2013/2016"/>
              <xsd:enumeration value="OpenOffice 3.0"/>
            </xsd:restriction>
          </xsd:simpleType>
        </xsd:union>
      </xsd:simpleType>
    </xsd:element>
    <xsd:element name="Kategorie" ma:index="15" nillable="true" ma:displayName="Kategorie" ma:default="Anleitungen" ma:format="Dropdown" ma:internalName="Kategorie">
      <xsd:simpleType>
        <xsd:union memberTypes="dms:Text">
          <xsd:simpleType>
            <xsd:restriction base="dms:Choice">
              <xsd:enumeration value="Anleitungen"/>
              <xsd:enumeration value="Aushänge für Lift und Tür"/>
              <xsd:enumeration value="Basisvorlagen"/>
              <xsd:enumeration value="Brief-/Faxvorlagen"/>
              <xsd:enumeration value="Einladungen"/>
              <xsd:enumeration value="Etiketten"/>
              <xsd:enumeration value="Musterdateien"/>
              <xsd:enumeration value="Namensschilder"/>
              <xsd:enumeration value="Präsentationen"/>
              <xsd:enumeration value="Skripten-Cover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dde413db-0745-4f3a-8dca-564dc7ff6f7d">Präsentationen</Kategorie>
    <Beschreibung xmlns="dde413db-0745-4f3a-8dca-564dc7ff6f7d">Sample presenation in format 16:10 (= WU standard)</Beschreibung>
    <TaxCatchAll xmlns="08b0a3ee-3d2a-451c-9a1a-7e5d5b0c9c77">
      <Value>266</Value>
      <Value>403</Value>
    </TaxCatchAll>
    <Dokumentenart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Vorlagen</TermName>
          <TermId xmlns="http://schemas.microsoft.com/office/infopath/2007/PartnerControls">17fc50ed-8ad1-47be-ab12-04243fd74ddb</TermId>
        </TermInfo>
      </Terms>
    </DokumentenartTaxHTField0>
    <WU_x0020_Thema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Design</TermName>
          <TermId xmlns="http://schemas.microsoft.com/office/infopath/2007/PartnerControls">19895bcd-b158-45ae-ab7b-f5ca217dfcec</TermId>
        </TermInfo>
      </Terms>
    </WU_x0020_ThemaTaxHTField0>
    <Format xmlns="dde413db-0745-4f3a-8dca-564dc7ff6f7d">Microsoft Office 2013/2016</Format>
  </documentManagement>
</p:properties>
</file>

<file path=customXml/itemProps1.xml><?xml version="1.0" encoding="utf-8"?>
<ds:datastoreItem xmlns:ds="http://schemas.openxmlformats.org/officeDocument/2006/customXml" ds:itemID="{E89857B5-BC10-4782-8A0F-717F20E5E2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1AF645-C4BF-4115-A9DE-6B08726473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d9a65-8471-4209-a900-f8e11db75e0a"/>
    <ds:schemaRef ds:uri="08b0a3ee-3d2a-451c-9a1a-7e5d5b0c9c77"/>
    <ds:schemaRef ds:uri="dde413db-0745-4f3a-8dca-564dc7ff6f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929A89-D8E6-4794-A98F-6609FAAECB3B}">
  <ds:schemaRefs>
    <ds:schemaRef ds:uri="http://schemas.microsoft.com/office/2006/documentManagement/types"/>
    <ds:schemaRef ds:uri="dde413db-0745-4f3a-8dca-564dc7ff6f7d"/>
    <ds:schemaRef ds:uri="1a8d9a65-8471-4209-a900-f8e11db75e0a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08b0a3ee-3d2a-451c-9a1a-7e5d5b0c9c77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WU Sample Presentation 16x10</Template>
  <TotalTime>0</TotalTime>
  <Words>1620</Words>
  <Application>Microsoft Office PowerPoint</Application>
  <PresentationFormat>Bildschirmpräsentation (16:10)</PresentationFormat>
  <Paragraphs>213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Georgia</vt:lpstr>
      <vt:lpstr>Verdana</vt:lpstr>
      <vt:lpstr>Wingdings</vt:lpstr>
      <vt:lpstr>WU 16:10</vt:lpstr>
      <vt:lpstr>International Marketing Analytics – Introduction</vt:lpstr>
      <vt:lpstr>Overview</vt:lpstr>
      <vt:lpstr>Introductory Examples</vt:lpstr>
      <vt:lpstr>Example iPhone slow</vt:lpstr>
      <vt:lpstr>Example Starbucks – Product Launch</vt:lpstr>
      <vt:lpstr>Why Marketing Analytics?</vt:lpstr>
      <vt:lpstr>Decisions Made by Marketing Managers</vt:lpstr>
      <vt:lpstr>Developing the Right Balance Through Marketing Analytics</vt:lpstr>
      <vt:lpstr>Link to Theory</vt:lpstr>
      <vt:lpstr>Marketing Analytics</vt:lpstr>
      <vt:lpstr>Trends Favouring Marketing Analytics</vt:lpstr>
      <vt:lpstr>Applications of Marketing Analytics</vt:lpstr>
      <vt:lpstr>Transform Data Into Insights and Actions</vt:lpstr>
      <vt:lpstr>Concept of a (Response) Model</vt:lpstr>
      <vt:lpstr>Are Marketing Analytics valuable?</vt:lpstr>
      <vt:lpstr>Top Perfomers use Marketing Analytics</vt:lpstr>
      <vt:lpstr>Further Applications</vt:lpstr>
      <vt:lpstr>What Walmart did on 09/11</vt:lpstr>
      <vt:lpstr>Take Aways</vt:lpstr>
      <vt:lpstr>Take-Aways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2019-10-02T13:00:38Z</dcterms:created>
  <dcterms:modified xsi:type="dcterms:W3CDTF">2025-10-06T10:25:36Z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U Thema">
    <vt:lpwstr>403;#Corporate Design|19895bcd-b158-45ae-ab7b-f5ca217dfcec</vt:lpwstr>
  </property>
  <property fmtid="{D5CDD505-2E9C-101B-9397-08002B2CF9AE}" pid="3" name="Dokumentenart">
    <vt:lpwstr>266;#Vorlagen|17fc50ed-8ad1-47be-ab12-04243fd74ddb</vt:lpwstr>
  </property>
  <property fmtid="{D5CDD505-2E9C-101B-9397-08002B2CF9AE}" pid="4" name="ContentTypeId">
    <vt:lpwstr>0x010100BCF651A35DF3154DB01328AF51148DAE</vt:lpwstr>
  </property>
</Properties>
</file>