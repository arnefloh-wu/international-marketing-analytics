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lecture introduces marketing mix modelling, the method the whole course builds towards. No prior analytics training is needed: we start from the business question and add the statistics step by step. The content rests on a structured search of books, papers, industry reports and software documentation; the sources are on the slides and on the further-reading slide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Alpenglow is the course's fictional Vienna chocolate brand. In 2025 it spent about EUR 36 million on media across six countries and five channels (51 weeks in the data; TV is about a third of it). Every year the country managers ask for the same budget plus a few per cent, because nobody can say what a euro in Polish paid social returns compared with a euro in French TV. That comparison is exactly what marketing mix modelling (MMM) delivers. Numbers from slides/figures/mmm_numbers.txt.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what MMM is and what it delivers, then how it relates to the other measurement tools, and why it is popular again.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MMM is a statistical model of aggregate sales. It is old (the founding papers are from the 1970s) and rests on the market response models of Hanssens, Parsons and Schultz. Little (1979) listed what such a model must capture: carryover, diminishing returns, competition, interaction and dynamics. Hanssens and Pauwels (2016) frame it as the link from marketing spend to financial value.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Inputs: everything that moves sales, not only media. Leaving out price, distribution or season makes the model credit media for their effect. Outputs: contributions (how many sales each driver added), ROI or ROAS (return on ad spend: revenue per euro), marginal ROAS (revenue from the next euro, which is what budget decisions need), response curves and an optimised budget split. In Alpenglow every input is a column of data/mmm/alpenglow_weekly.csv.</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Multi-touch attribution (MTA) follows individual users' clicks and views and shares the credit for a conversion among the touchpoints; it only sees digital channels and suffers from cookie loss. Experiments (lift tests, geo experiments) switch spend on or off for a random group of users or regions and are the most credible causal evidence, but cover one channel at a time. Google's Modern Measurement Playbook calls the three a measurement tripod: use them together. Gordon et al. (2019) show with 15 large Facebook experiments that observational methods often miss the true lift by a wide margin.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MMM grew out of econometric market response models in the 1970s. Since the late 2010s, privacy rules (GDPR), the loss of third-party cookies and Apple's App Tracking Transparency have made user-level tracking less complete, so aggregate models that need no personal data are back. Google, Meta and PyMC Labs released open-source MMM software. Gartner (2024) found that 64 % of senior marketing leaders had adopted MMM; the WFA and Ebiquity (2026) report that 80 % of advertisers use MMM but only 13 % turn the data into insight quickly.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building blocks. Each one is a variable or a transformation in the regression you will estimate.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splits German weekly sales in 2025 into a base and the part the model attributes to media. It comes from a deliberately simple regression (all five channels with the same carryover of 0.5, no saturation); in this first model media account for about 41 % of fitted sales. That number is too high: Alpenglow raises its budgets before Christmas, when people buy chocolate anyway, so a naive model credits media with part of the seasonal demand (the endogeneity pitfall later in this deck). Session 2 builds a proper model and you will see the media share fall considerably. The dashed line is actual sales; the gap to the coloured area is what the model cannot explain.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channel's weekly spend is first transformed (carryover, then diminishing returns) and multiplied by a coefficient; the controls form the base. In the additive form a coefficient is extra units per unit of transformed spend. In the log-log form coefficients are elasticities: the per cent change in sales for a 1 % change in the driver. Log-log is the classic constant-elasticity model of Hanssens et al.; Tellis (2006) gives a compact primer. In Session 2 you estimate both with statsmodels.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Geometric adstock carries a share lambda (the decay) of last week's advertising pressure into this week. The chart shows one burst of EUR 100k: with decay 0.3 the effect is almost gone after three weeks; with 0.7 it lasts about two months. Half-life is the number of weeks until half the pressure is gone: ln 0.5 / ln lambda. The total pressure is 1/(1 - lambda) times the first week: 1.4 versus 3.3. Jin et al. (2017) also use a delayed adstock with a peak after some weeks; Robyn offers Weibull variants. Synthetic example, made in make_mmm_figures.py.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Hill curve rises slowly, then steeply, then flattens. K is the spend at which half the maximum effect is reached; the slope s sets the shape: s of 1 or less bends from the start (C-shape), s above 1 gives an S-shape. In this synthetic example the next EUR 10k buys about 13,000 extra units at EUR 30k a week, but fewer than 2,000 at EUR 150k. Average ROAS can look good while marginal ROAS is poor: budgets should move to where the next euro earns most. Hill is the default in Meridian and Robyn; a logistic curve is an alternative. Adstock and saturation are hard to separate in the data (Meridian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German weekly sales peak before Christmas, Easter and Valentine's Day and dip in summer (chocolate and heat do not mix). TV spend peaks at the same time: in Christmas weeks it averages about EUR 188k a week, against about EUR 100k in other weeks. Without controls for season and holidays, the model would give TV the credit for Christmas. Seasonality is usually modelled with a few Fourier terms (pairs of sine and cosine waves), as in Prophet, PyMC-Marketing and Meridian; Hyndman and Athanasopoulos explain how many to use.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Decades of studies give benchmarks. Use them to judge whether your own model's results are plausible and, in a Bayesian model, as priors.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elasticity is the per cent change in sales for a 1 % change in a driver. Sethuraman, Tellis and Briesch (2011) pooled published brand advertising elasticities: on average 0.12 in the short term and 0.24 in the long term. Henningsen, Heuke and Clement (2011) find 0.09 in an international database. Lodish et al. (1995): about half of 389 TV weight tests showed no significant sales effect, and Shapiro, Hitsch and Tuchman (2021) find small TV elasticities and negative marginal ROI for most of 288 brands. On the right: a first, simple log-log regression on Alpenglow Germany gives a price elasticity of about -1.4 and a TV elasticity of about 0.06. Price moves sales far more per per cent than advertising does; Session 2 estimates these properly, by country.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Profit Ability 2 (Ebiquity for Thinkbox, 2024) pooled UK models for 141 brands: about 60 % of the profit effect of advertising arrived after the first 13 weeks. The long-term elasticity in Sethuraman et al. is about twice the short-term one. Clarke (1976) showed that estimated carryover depends on the data interval: annual or monthly data imply much longer effects than weekly data, a bias that Köhler et al. (2017) confirm in their meta-analysis of carryover. Wear-in and wear-out (Tellis 2004; Vakratsas and Ambler 1999): an ad may need repetition before it works and loses effect when shown too often or too long.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Bahadir, Bharadwaj and Srivastava (2015) model 14 emerging and developed markets: advertising and product innovation matter more in emerging markets, while price and distribution effects differ by country type. Deleersnyder et al. (2009): across 37 countries and 25 years advertising budgets rise and fall with the economy, and how strongly depends on national culture. Van Heerde et al. (2013): in downturns price sensitivity rises and advertising effectiveness falls. Fischer et al. (2011) used response elasticities to reallocate Bayer's budget across countries, products and activities and report a profit improvement of about EUR 500 million. For Alpenglow, data/mmm/country_meta.csv holds GDP per capita, Hofstede scores and retail concentration to explain such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MMM failures are data and identification problems, not software problems.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to three years of weekly data is the usual starting point: the seasonal pattern must repeat before a model can separate it from media. Alpenglow has 156 weeks for each of six countries. Spend must vary: a channel that runs at the same level every week, or always together with another, cannot be measured. Nielsen's best-practice guide (with Google and Meta, 2022) recommends modelling at the most granular geography available and including non-marketing drivers: in its comparison a media-only model overstated advertising ROI by 68 %.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 and Perry (2017) list why MMM is hard. Endogeneity: budgets follow demand, so spend and sales rise together even without any effect; in Alpenglow Germany TV spend almost doubles in Christmas weeks. Multicollinearity: channels launched together cannot be separated; check variance inflation factors (VIF). Overfitting: five channels with a decay, a shape and an effect each are many parameters for 156 weeks. Identification: saturation and effects that change over time can mimic each other (Dew, Padilla and Shchetkina 2024). Heusch (2026, Zalando) shows a standard MMM reporting a paid-search ROAS of 10.6 where geo experiments found 4.2.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in-sample fit says little. First, hold back the last weeks and forecast them. Second, check plausibility: positive media effects, half-lives and elasticities in the ranges of Part 3. Third, calibrate with experiments: geo experiments switch spend up or down in some regions and compare them with control regions (Vaver and Koehler 2011). Gordon et al. (2019) showed with 15 large Facebook experiments, and Gordon, Moakler and Zettelmeyer (2023) with 663, that non-experimental estimates are often far off. Alpenglow ran such a test: 2.5 times paid-social spend in 12 of 40 German regions for 8 weeks (data/experiments/geolift_germany.csv).</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Bayesian estimation combines a prior (what we believe before seeing the data) with the data and returns a posterior: a full distribution for every effect, so each ROAS comes with a range. Priors can come from empirical generalisations such as Sethuraman et al. (Hanssens 2018 argues for this use) or from lift tests: Google's calibration paper (Zhang et al. 2024) puts experiment-based priors on each channel's ROI, the approach Meridian, Robyn and PyMC-Marketing now support. Jin et al. (2017) is the reference model. The risk: with weak data the prior decides, so compare prior and posterior.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are free. Robyn (Meta) fits ridge regressions and searches over adstock and saturation settings with an evolutionary algorithm (Nevergrad), then picks models on fit and plausibility; its Python port is still a beta. Meridian (Google) is a hierarchical Bayesian model across geos with reach and frequency and ROI priors; it replaced LightweightMMM, which Google archived in January 2026. PyMC-Marketing (PyMC Labs) offers adstock and saturation building blocks, lift-test calibration, time-varying effects, geo models and a budget optimiser. Version numbers as listed on PyPI and GitHub on 5 October 2026. A 2026 open-access review in Customer Needs and Solutions compares the three.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session adds one piece of the model. By Session 5 you can build and judge a full MMM.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1: ordinary least squares regression and how to read model fit, the base of every MMM. Session 2: the MMM itself, with log-log elasticities, dummies for holidays, non-linear effects, moderation (does an effect depend on another variable?) and mediation (does TV work through search?), adstock and saturation, and diagnostics. Session 3: logistic regression for yes/no outcomes such as purchase or churn. Session 4: ARIMA and ARIMAX for the sales baseline and forecasts. Session 5: Bayesian MMM tools and budget optimisation.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case study applies Sessions 1 to 4 to new data: Alpenglow's own web shop in Austria, Germany and Switzerland, plus its subscription club. Each block of the course answers one of the Head of E-commerce's questions. Details, data and assessment criteria are in the brief in assignments/group-project/ and on Canvas.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students remember one thing: decisions are made at the margin, and an MMM is only as good as the variation in its data and the experiments that check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Chan and Perry (short, free) and Jin et al. (free) for the modern model, Sethuraman et al. for benchmarks, and Gordon et al. for why experiments matter. Hanssens et al. is the reference book (WU library). The full annotated list is in instructor/resources/mmm-resource-guide.md.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6.xml"/><Relationship Id="rId3"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2.png"/><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4.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6.png"/><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8.png"/><Relationship Id="rId4" Type="http://schemas.openxmlformats.org/officeDocument/2006/relationships/image" Target="../media/image2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30.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48.png"/><Relationship Id="rId4" Type="http://schemas.openxmlformats.org/officeDocument/2006/relationships/image" Target="../media/image11.png"/><Relationship Id="rId5" Type="http://schemas.openxmlformats.org/officeDocument/2006/relationships/image" Target="../media/image16.png"/><Relationship Id="rId6" Type="http://schemas.openxmlformats.org/officeDocument/2006/relationships/image" Target="../media/image49.png"/><Relationship Id="rId7" Type="http://schemas.openxmlformats.org/officeDocument/2006/relationships/image" Target="../media/image5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3.xml"/><Relationship Id="rId3" Type="http://schemas.openxmlformats.org/officeDocument/2006/relationships/image" Target="../media/image5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8.png"/><Relationship Id="rId4" Type="http://schemas.openxmlformats.org/officeDocument/2006/relationships/image" Target="../media/image14.png"/><Relationship Id="rId5" Type="http://schemas.openxmlformats.org/officeDocument/2006/relationships/image" Target="../media/image52.png"/><Relationship Id="rId6" Type="http://schemas.openxmlformats.org/officeDocument/2006/relationships/image" Target="../media/image5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54.png"/><Relationship Id="rId4" Type="http://schemas.openxmlformats.org/officeDocument/2006/relationships/hyperlink" Target="https://doi.org/10.1509/jmkr.48.3.457" TargetMode="External"/><Relationship Id="rId5" Type="http://schemas.openxmlformats.org/officeDocument/2006/relationships/hyperlink" Target="https://doi.org/10.1287/mksc.2018.1135" TargetMode="External"/><Relationship Id="rId6" Type="http://schemas.openxmlformats.org/officeDocument/2006/relationships/hyperlink" Target="https://research.google/pubs/pub45998/" TargetMode="External"/><Relationship Id="rId7" Type="http://schemas.openxmlformats.org/officeDocument/2006/relationships/image" Target="../media/image55.png"/><Relationship Id="rId8" Type="http://schemas.openxmlformats.org/officeDocument/2006/relationships/hyperlink" Target="https://research.google/pubs/pub46001/" TargetMode="External"/><Relationship Id="rId9" Type="http://schemas.openxmlformats.org/officeDocument/2006/relationships/hyperlink" Target="https://arxiv.org/abs/2403.14674" TargetMode="External"/><Relationship Id="rId10" Type="http://schemas.openxmlformats.org/officeDocument/2006/relationships/hyperlink" Target="https://github.com/google/meridian" TargetMode="External"/><Relationship Id="rId11" Type="http://schemas.openxmlformats.org/officeDocument/2006/relationships/hyperlink" Target="https://github.com/pymc-labs/pymc-marketing"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Introduction to marketing mix modelling</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Where should the next euro go?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lpenglow panel"/>
          <p:cNvSpPr/>
          <p:nvPr/>
        </p:nvSpPr>
        <p:spPr>
          <a:xfrm>
            <a:off x="457200" y="1234440"/>
            <a:ext cx="3931920" cy="3154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lpenglow heading"/>
          <p:cNvSpPr txBox="1"/>
          <p:nvPr/>
        </p:nvSpPr>
        <p:spPr>
          <a:xfrm>
            <a:off x="640080" y="1307592"/>
            <a:ext cx="35661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Alpenglow in 2025</a:t>
            </a:r>
          </a:p>
        </p:txBody>
      </p:sp>
      <p:sp>
        <p:nvSpPr>
          <p:cNvPr id="12" name="Alpenglow fact 1 bar"/>
          <p:cNvSpPr/>
          <p:nvPr/>
        </p:nvSpPr>
        <p:spPr>
          <a:xfrm>
            <a:off x="640080" y="178308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Alpenglow fact 1 figure"/>
          <p:cNvSpPr txBox="1"/>
          <p:nvPr/>
        </p:nvSpPr>
        <p:spPr>
          <a:xfrm>
            <a:off x="822960" y="1783080"/>
            <a:ext cx="11887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a:t>
            </a:r>
          </a:p>
        </p:txBody>
      </p:sp>
      <p:sp>
        <p:nvSpPr>
          <p:cNvPr id="14" name="Alpenglow fact 1 label"/>
          <p:cNvSpPr txBox="1"/>
          <p:nvPr/>
        </p:nvSpPr>
        <p:spPr>
          <a:xfrm>
            <a:off x="2011680" y="1783080"/>
            <a:ext cx="2194560" cy="731520"/>
          </a:xfrm>
          <a:prstGeom prst="rect">
            <a:avLst/>
          </a:prstGeom>
          <a:noFill/>
        </p:spPr>
        <p:txBody>
          <a:bodyPr wrap="square" lIns="0" rIns="0" tIns="0" bIns="0" anchor="ctr">
            <a:noAutofit/>
          </a:bodyPr>
          <a:lstStyle/>
          <a:p>
            <a:pPr algn="l">
              <a:spcAft>
                <a:spcPts val="400"/>
              </a:spcAft>
            </a:pPr>
            <a:r>
              <a:rPr sz="1300" b="0" lang="en-GB">
                <a:solidFill>
                  <a:schemeClr val="tx1"/>
                </a:solidFill>
              </a:rPr>
              <a:t>markets: AT, DE, FR, IT, NL, PL</a:t>
            </a:r>
          </a:p>
        </p:txBody>
      </p:sp>
      <p:sp>
        <p:nvSpPr>
          <p:cNvPr id="15" name="Alpenglow fact 2 bar"/>
          <p:cNvSpPr/>
          <p:nvPr/>
        </p:nvSpPr>
        <p:spPr>
          <a:xfrm>
            <a:off x="640080" y="263347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lpenglow fact 2 figure"/>
          <p:cNvSpPr txBox="1"/>
          <p:nvPr/>
        </p:nvSpPr>
        <p:spPr>
          <a:xfrm>
            <a:off x="822960" y="2633472"/>
            <a:ext cx="11887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a:t>
            </a:r>
          </a:p>
        </p:txBody>
      </p:sp>
      <p:sp>
        <p:nvSpPr>
          <p:cNvPr id="17" name="Alpenglow fact 2 label"/>
          <p:cNvSpPr txBox="1"/>
          <p:nvPr/>
        </p:nvSpPr>
        <p:spPr>
          <a:xfrm>
            <a:off x="2011680" y="2633472"/>
            <a:ext cx="2194560" cy="731520"/>
          </a:xfrm>
          <a:prstGeom prst="rect">
            <a:avLst/>
          </a:prstGeom>
          <a:noFill/>
        </p:spPr>
        <p:txBody>
          <a:bodyPr wrap="square" lIns="0" rIns="0" tIns="0" bIns="0" anchor="ctr">
            <a:noAutofit/>
          </a:bodyPr>
          <a:lstStyle/>
          <a:p>
            <a:pPr algn="l">
              <a:spcAft>
                <a:spcPts val="400"/>
              </a:spcAft>
            </a:pPr>
            <a:r>
              <a:rPr sz="1300" b="0" lang="en-GB">
                <a:solidFill>
                  <a:schemeClr val="tx1"/>
                </a:solidFill>
              </a:rPr>
              <a:t>channels: TV, online video, paid search, paid social, out-of-home</a:t>
            </a:r>
          </a:p>
        </p:txBody>
      </p:sp>
      <p:sp>
        <p:nvSpPr>
          <p:cNvPr id="18" name="Alpenglow fact 3 bar"/>
          <p:cNvSpPr/>
          <p:nvPr/>
        </p:nvSpPr>
        <p:spPr>
          <a:xfrm>
            <a:off x="640080" y="348386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Alpenglow fact 3 figure"/>
          <p:cNvSpPr txBox="1"/>
          <p:nvPr/>
        </p:nvSpPr>
        <p:spPr>
          <a:xfrm>
            <a:off x="822960" y="3483864"/>
            <a:ext cx="11887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36 m</a:t>
            </a:r>
          </a:p>
        </p:txBody>
      </p:sp>
      <p:sp>
        <p:nvSpPr>
          <p:cNvPr id="20" name="Alpenglow fact 3 label"/>
          <p:cNvSpPr txBox="1"/>
          <p:nvPr/>
        </p:nvSpPr>
        <p:spPr>
          <a:xfrm>
            <a:off x="2011680" y="3483864"/>
            <a:ext cx="2194560" cy="731520"/>
          </a:xfrm>
          <a:prstGeom prst="rect">
            <a:avLst/>
          </a:prstGeom>
          <a:noFill/>
        </p:spPr>
        <p:txBody>
          <a:bodyPr wrap="square" lIns="0" rIns="0" tIns="0" bIns="0" anchor="ctr">
            <a:noAutofit/>
          </a:bodyPr>
          <a:lstStyle/>
          <a:p>
            <a:pPr algn="l">
              <a:spcAft>
                <a:spcPts val="400"/>
              </a:spcAft>
            </a:pPr>
            <a:r>
              <a:rPr sz="1300" b="0" lang="en-GB">
                <a:solidFill>
                  <a:schemeClr val="tx1"/>
                </a:solidFill>
              </a:rPr>
              <a:t>euros of media spend in 2025</a:t>
            </a:r>
          </a:p>
        </p:txBody>
      </p:sp>
      <p:sp>
        <p:nvSpPr>
          <p:cNvPr id="21" name="Questions row 1"/>
          <p:cNvSpPr/>
          <p:nvPr/>
        </p:nvSpPr>
        <p:spPr>
          <a:xfrm>
            <a:off x="4526280" y="1234440"/>
            <a:ext cx="4160520" cy="9875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estions number 1"/>
          <p:cNvSpPr/>
          <p:nvPr/>
        </p:nvSpPr>
        <p:spPr>
          <a:xfrm>
            <a:off x="4663440" y="15727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23" name="Questions text 1"/>
          <p:cNvSpPr txBox="1"/>
          <p:nvPr/>
        </p:nvSpPr>
        <p:spPr>
          <a:xfrm>
            <a:off x="5120640" y="1234440"/>
            <a:ext cx="3429000" cy="987552"/>
          </a:xfrm>
          <a:prstGeom prst="rect">
            <a:avLst/>
          </a:prstGeom>
          <a:noFill/>
        </p:spPr>
        <p:txBody>
          <a:bodyPr wrap="square" lIns="0" rIns="0" tIns="0" bIns="0" anchor="ctr">
            <a:noAutofit/>
          </a:bodyPr>
          <a:lstStyle/>
          <a:p>
            <a:pPr algn="l">
              <a:spcAft>
                <a:spcPts val="400"/>
              </a:spcAft>
            </a:pPr>
            <a:r>
              <a:rPr sz="1300" b="1" lang="en-GB">
                <a:solidFill>
                  <a:schemeClr val="tx2"/>
                </a:solidFill>
              </a:rPr>
              <a:t>Contribution: </a:t>
            </a:r>
            <a:r>
              <a:rPr sz="1300" b="0" lang="en-GB">
                <a:solidFill>
                  <a:schemeClr val="tx1"/>
                </a:solidFill>
              </a:rPr>
              <a:t>what did each channel add to sales?</a:t>
            </a:r>
          </a:p>
        </p:txBody>
      </p:sp>
      <p:sp>
        <p:nvSpPr>
          <p:cNvPr id="24" name="Questions row 2"/>
          <p:cNvSpPr/>
          <p:nvPr/>
        </p:nvSpPr>
        <p:spPr>
          <a:xfrm>
            <a:off x="4526280" y="2318004"/>
            <a:ext cx="4160520" cy="9875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Questions number 2"/>
          <p:cNvSpPr/>
          <p:nvPr/>
        </p:nvSpPr>
        <p:spPr>
          <a:xfrm>
            <a:off x="4663440" y="26563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6" name="Questions text 2"/>
          <p:cNvSpPr txBox="1"/>
          <p:nvPr/>
        </p:nvSpPr>
        <p:spPr>
          <a:xfrm>
            <a:off x="5120640" y="2318004"/>
            <a:ext cx="3429000" cy="987552"/>
          </a:xfrm>
          <a:prstGeom prst="rect">
            <a:avLst/>
          </a:prstGeom>
          <a:noFill/>
        </p:spPr>
        <p:txBody>
          <a:bodyPr wrap="square" lIns="0" rIns="0" tIns="0" bIns="0" anchor="ctr">
            <a:noAutofit/>
          </a:bodyPr>
          <a:lstStyle/>
          <a:p>
            <a:pPr algn="l">
              <a:spcAft>
                <a:spcPts val="400"/>
              </a:spcAft>
            </a:pPr>
            <a:r>
              <a:rPr sz="1300" b="1" lang="en-GB">
                <a:solidFill>
                  <a:schemeClr val="tx2"/>
                </a:solidFill>
              </a:rPr>
              <a:t>Return: </a:t>
            </a:r>
            <a:r>
              <a:rPr sz="1300" b="0" lang="en-GB">
                <a:solidFill>
                  <a:schemeClr val="tx1"/>
                </a:solidFill>
              </a:rPr>
              <a:t>which euro earned more, TV in France or paid social in Poland?</a:t>
            </a:r>
          </a:p>
        </p:txBody>
      </p:sp>
      <p:sp>
        <p:nvSpPr>
          <p:cNvPr id="27" name="Questions row 3"/>
          <p:cNvSpPr/>
          <p:nvPr/>
        </p:nvSpPr>
        <p:spPr>
          <a:xfrm>
            <a:off x="4526280" y="3401568"/>
            <a:ext cx="4160520" cy="9875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Questions number 3"/>
          <p:cNvSpPr/>
          <p:nvPr/>
        </p:nvSpPr>
        <p:spPr>
          <a:xfrm>
            <a:off x="4663440" y="37398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9" name="Questions text 3"/>
          <p:cNvSpPr txBox="1"/>
          <p:nvPr/>
        </p:nvSpPr>
        <p:spPr>
          <a:xfrm>
            <a:off x="5120640" y="3401568"/>
            <a:ext cx="3429000" cy="987552"/>
          </a:xfrm>
          <a:prstGeom prst="rect">
            <a:avLst/>
          </a:prstGeom>
          <a:noFill/>
        </p:spPr>
        <p:txBody>
          <a:bodyPr wrap="square" lIns="0" rIns="0" tIns="0" bIns="0" anchor="ctr">
            <a:noAutofit/>
          </a:bodyPr>
          <a:lstStyle/>
          <a:p>
            <a:pPr algn="l">
              <a:spcAft>
                <a:spcPts val="400"/>
              </a:spcAft>
            </a:pPr>
            <a:r>
              <a:rPr sz="1300" b="1" lang="en-GB">
                <a:solidFill>
                  <a:schemeClr val="tx2"/>
                </a:solidFill>
              </a:rPr>
              <a:t>Allocation: </a:t>
            </a:r>
            <a:r>
              <a:rPr sz="1300" b="0" lang="en-GB">
                <a:solidFill>
                  <a:schemeClr val="tx1"/>
                </a:solidFill>
              </a:rPr>
              <a:t>how should next year's fixed budget be split?</a:t>
            </a:r>
          </a:p>
        </p:txBody>
      </p:sp>
      <p:sp>
        <p:nvSpPr>
          <p:cNvPr id="30" name="CEO box"/>
          <p:cNvSpPr/>
          <p:nvPr/>
        </p:nvSpPr>
        <p:spPr>
          <a:xfrm>
            <a:off x="457200" y="452628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CEO" descr=""/>
          <p:cNvPicPr>
            <a:picLocks noChangeAspect="1"/>
          </p:cNvPicPr>
          <p:nvPr/>
        </p:nvPicPr>
        <p:blipFill>
          <a:blip r:embed="rId3"/>
          <a:stretch>
            <a:fillRect/>
          </a:stretch>
        </p:blipFill>
        <p:spPr>
          <a:xfrm>
            <a:off x="658368" y="4617720"/>
            <a:ext cx="365760" cy="365760"/>
          </a:xfrm>
          <a:prstGeom prst="rect">
            <a:avLst/>
          </a:prstGeom>
        </p:spPr>
      </p:pic>
      <p:sp>
        <p:nvSpPr>
          <p:cNvPr id="32" name="CEO text"/>
          <p:cNvSpPr txBox="1"/>
          <p:nvPr/>
        </p:nvSpPr>
        <p:spPr>
          <a:xfrm>
            <a:off x="1207008" y="452628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The CEO's brief: </a:t>
            </a:r>
            <a:r>
              <a:rPr sz="1300" b="0" lang="en-GB">
                <a:solidFill>
                  <a:schemeClr val="bg1"/>
                </a:solidFill>
              </a:rPr>
              <a:t>the 2027 budget stays at the 2025 level. Move money only where the next euro earns more.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5 · definition, inputs and outputs, MMM versus attribution and experiments, history</a:t>
            </a:r>
          </a:p>
        </p:txBody>
      </p:sp>
      <p:sp>
        <p:nvSpPr>
          <p:cNvPr id="3" name="Title 2"/>
          <p:cNvSpPr>
            <a:spLocks noGrp="1"/>
          </p:cNvSpPr>
          <p:nvPr>
            <p:ph type="ctrTitle"/>
          </p:nvPr>
        </p:nvSpPr>
        <p:spPr/>
        <p:txBody>
          <a:bodyPr/>
          <a:lstStyle/>
          <a:p>
            <a:r>
              <a:rPr sz="1600" lang="en-GB"/>
              <a:t>What marketing mix modelling is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Marketing mix modelling in one sentence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finition box"/>
          <p:cNvSpPr/>
          <p:nvPr/>
        </p:nvSpPr>
        <p:spPr>
          <a:xfrm>
            <a:off x="457200" y="1234440"/>
            <a:ext cx="8229600" cy="1051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efinition" descr=""/>
          <p:cNvPicPr>
            <a:picLocks noChangeAspect="1"/>
          </p:cNvPicPr>
          <p:nvPr/>
        </p:nvPicPr>
        <p:blipFill>
          <a:blip r:embed="rId3"/>
          <a:stretch>
            <a:fillRect/>
          </a:stretch>
        </p:blipFill>
        <p:spPr>
          <a:xfrm>
            <a:off x="658368" y="1563624"/>
            <a:ext cx="384048" cy="384048"/>
          </a:xfrm>
          <a:prstGeom prst="rect">
            <a:avLst/>
          </a:prstGeom>
        </p:spPr>
      </p:pic>
      <p:sp>
        <p:nvSpPr>
          <p:cNvPr id="12" name="Definition text"/>
          <p:cNvSpPr txBox="1"/>
          <p:nvPr/>
        </p:nvSpPr>
        <p:spPr>
          <a:xfrm>
            <a:off x="1234440" y="1234440"/>
            <a:ext cx="7269480" cy="1051560"/>
          </a:xfrm>
          <a:prstGeom prst="rect">
            <a:avLst/>
          </a:prstGeom>
          <a:noFill/>
        </p:spPr>
        <p:txBody>
          <a:bodyPr wrap="square" lIns="0" rIns="0" tIns="0" bIns="0" anchor="ctr">
            <a:noAutofit/>
          </a:bodyPr>
          <a:lstStyle/>
          <a:p>
            <a:pPr algn="l">
              <a:spcAft>
                <a:spcPts val="400"/>
              </a:spcAft>
            </a:pPr>
            <a:r>
              <a:rPr sz="1300" b="1" lang="en-GB">
                <a:solidFill>
                  <a:schemeClr val="bg1"/>
                </a:solidFill>
              </a:rPr>
              <a:t>MMM </a:t>
            </a:r>
            <a:r>
              <a:rPr sz="1300" b="0" lang="en-GB">
                <a:solidFill>
                  <a:schemeClr val="bg1"/>
                </a:solidFill>
              </a:rPr>
              <a:t>explains weekly sales with marketing and non-marketing drivers, splits sales into a base and the contribution of each activity, and turns these into budget decisions.</a:t>
            </a:r>
          </a:p>
        </p:txBody>
      </p:sp>
      <p:sp>
        <p:nvSpPr>
          <p:cNvPr id="13" name="Definition 1 tile"/>
          <p:cNvSpPr/>
          <p:nvPr/>
        </p:nvSpPr>
        <p:spPr>
          <a:xfrm>
            <a:off x="457200" y="2423160"/>
            <a:ext cx="2651760" cy="1600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Definition 1" descr=""/>
          <p:cNvPicPr>
            <a:picLocks noChangeAspect="1"/>
          </p:cNvPicPr>
          <p:nvPr/>
        </p:nvPicPr>
        <p:blipFill>
          <a:blip r:embed="rId4"/>
          <a:stretch>
            <a:fillRect/>
          </a:stretch>
        </p:blipFill>
        <p:spPr>
          <a:xfrm>
            <a:off x="594360" y="2560320"/>
            <a:ext cx="365760" cy="365760"/>
          </a:xfrm>
          <a:prstGeom prst="rect">
            <a:avLst/>
          </a:prstGeom>
        </p:spPr>
      </p:pic>
      <p:sp>
        <p:nvSpPr>
          <p:cNvPr id="15" name="Definition 1 heading"/>
          <p:cNvSpPr txBox="1"/>
          <p:nvPr/>
        </p:nvSpPr>
        <p:spPr>
          <a:xfrm>
            <a:off x="1051560" y="256032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Aggregate data</a:t>
            </a:r>
          </a:p>
        </p:txBody>
      </p:sp>
      <p:sp>
        <p:nvSpPr>
          <p:cNvPr id="16" name="Definition 1 text"/>
          <p:cNvSpPr txBox="1"/>
          <p:nvPr/>
        </p:nvSpPr>
        <p:spPr>
          <a:xfrm>
            <a:off x="594360" y="3044952"/>
            <a:ext cx="2377440" cy="914400"/>
          </a:xfrm>
          <a:prstGeom prst="rect">
            <a:avLst/>
          </a:prstGeom>
          <a:noFill/>
        </p:spPr>
        <p:txBody>
          <a:bodyPr wrap="square" lIns="0" rIns="0" tIns="0" bIns="0" anchor="t">
            <a:noAutofit/>
          </a:bodyPr>
          <a:lstStyle/>
          <a:p>
            <a:pPr algn="l">
              <a:spcAft>
                <a:spcPts val="400"/>
              </a:spcAft>
            </a:pPr>
            <a:r>
              <a:rPr sz="1300" b="0" lang="en-GB">
                <a:solidFill>
                  <a:schemeClr val="tx1"/>
                </a:solidFill>
              </a:rPr>
              <a:t>Weekly totals per country and channel</a:t>
            </a:r>
          </a:p>
          <a:p>
            <a:pPr algn="l">
              <a:spcAft>
                <a:spcPts val="400"/>
              </a:spcAft>
            </a:pPr>
            <a:r>
              <a:rPr sz="1300" b="0" lang="en-GB">
                <a:solidFill>
                  <a:schemeClr val="tx1"/>
                </a:solidFill>
              </a:rPr>
              <a:t>No tracking of individuals, so privacy-safe</a:t>
            </a:r>
          </a:p>
        </p:txBody>
      </p:sp>
      <p:sp>
        <p:nvSpPr>
          <p:cNvPr id="17" name="Definition 2 tile"/>
          <p:cNvSpPr/>
          <p:nvPr/>
        </p:nvSpPr>
        <p:spPr>
          <a:xfrm>
            <a:off x="3246120" y="2423160"/>
            <a:ext cx="2651760" cy="1600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Icon Definition 2" descr=""/>
          <p:cNvPicPr>
            <a:picLocks noChangeAspect="1"/>
          </p:cNvPicPr>
          <p:nvPr/>
        </p:nvPicPr>
        <p:blipFill>
          <a:blip r:embed="rId5"/>
          <a:stretch>
            <a:fillRect/>
          </a:stretch>
        </p:blipFill>
        <p:spPr>
          <a:xfrm>
            <a:off x="3383280" y="2560320"/>
            <a:ext cx="365760" cy="365760"/>
          </a:xfrm>
          <a:prstGeom prst="rect">
            <a:avLst/>
          </a:prstGeom>
        </p:spPr>
      </p:pic>
      <p:sp>
        <p:nvSpPr>
          <p:cNvPr id="19" name="Definition 2 heading"/>
          <p:cNvSpPr txBox="1"/>
          <p:nvPr/>
        </p:nvSpPr>
        <p:spPr>
          <a:xfrm>
            <a:off x="3840480" y="256032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 regression model</a:t>
            </a:r>
          </a:p>
        </p:txBody>
      </p:sp>
      <p:sp>
        <p:nvSpPr>
          <p:cNvPr id="20" name="Definition 2 text"/>
          <p:cNvSpPr txBox="1"/>
          <p:nvPr/>
        </p:nvSpPr>
        <p:spPr>
          <a:xfrm>
            <a:off x="3383280" y="3044952"/>
            <a:ext cx="2377440" cy="914400"/>
          </a:xfrm>
          <a:prstGeom prst="rect">
            <a:avLst/>
          </a:prstGeom>
          <a:noFill/>
        </p:spPr>
        <p:txBody>
          <a:bodyPr wrap="square" lIns="0" rIns="0" tIns="0" bIns="0" anchor="t">
            <a:noAutofit/>
          </a:bodyPr>
          <a:lstStyle/>
          <a:p>
            <a:pPr algn="l">
              <a:spcAft>
                <a:spcPts val="400"/>
              </a:spcAft>
            </a:pPr>
            <a:r>
              <a:rPr sz="1300" b="0" lang="en-GB">
                <a:solidFill>
                  <a:schemeClr val="tx1"/>
                </a:solidFill>
              </a:rPr>
              <a:t>Sales explained by spend, price, season and more</a:t>
            </a:r>
          </a:p>
          <a:p>
            <a:pPr algn="l">
              <a:spcAft>
                <a:spcPts val="400"/>
              </a:spcAft>
            </a:pPr>
            <a:r>
              <a:rPr sz="1300" b="0" lang="en-GB">
                <a:solidFill>
                  <a:schemeClr val="tx1"/>
                </a:solidFill>
              </a:rPr>
              <a:t>Plus carryover and diminishing returns</a:t>
            </a:r>
          </a:p>
        </p:txBody>
      </p:sp>
      <p:sp>
        <p:nvSpPr>
          <p:cNvPr id="21" name="Definition 3 tile"/>
          <p:cNvSpPr/>
          <p:nvPr/>
        </p:nvSpPr>
        <p:spPr>
          <a:xfrm>
            <a:off x="6035040" y="2423160"/>
            <a:ext cx="2651760" cy="1600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Icon Definition 3" descr=""/>
          <p:cNvPicPr>
            <a:picLocks noChangeAspect="1"/>
          </p:cNvPicPr>
          <p:nvPr/>
        </p:nvPicPr>
        <p:blipFill>
          <a:blip r:embed="rId6"/>
          <a:stretch>
            <a:fillRect/>
          </a:stretch>
        </p:blipFill>
        <p:spPr>
          <a:xfrm>
            <a:off x="6172200" y="2560320"/>
            <a:ext cx="365760" cy="365760"/>
          </a:xfrm>
          <a:prstGeom prst="rect">
            <a:avLst/>
          </a:prstGeom>
        </p:spPr>
      </p:pic>
      <p:sp>
        <p:nvSpPr>
          <p:cNvPr id="23" name="Definition 3 heading"/>
          <p:cNvSpPr txBox="1"/>
          <p:nvPr/>
        </p:nvSpPr>
        <p:spPr>
          <a:xfrm>
            <a:off x="6629400" y="256032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Decisions</a:t>
            </a:r>
          </a:p>
        </p:txBody>
      </p:sp>
      <p:sp>
        <p:nvSpPr>
          <p:cNvPr id="24" name="Definition 3 text"/>
          <p:cNvSpPr txBox="1"/>
          <p:nvPr/>
        </p:nvSpPr>
        <p:spPr>
          <a:xfrm>
            <a:off x="6172200" y="3044952"/>
            <a:ext cx="2377440" cy="914400"/>
          </a:xfrm>
          <a:prstGeom prst="rect">
            <a:avLst/>
          </a:prstGeom>
          <a:noFill/>
        </p:spPr>
        <p:txBody>
          <a:bodyPr wrap="square" lIns="0" rIns="0" tIns="0" bIns="0" anchor="t">
            <a:noAutofit/>
          </a:bodyPr>
          <a:lstStyle/>
          <a:p>
            <a:pPr algn="l">
              <a:spcAft>
                <a:spcPts val="400"/>
              </a:spcAft>
            </a:pPr>
            <a:r>
              <a:rPr sz="1300" b="0" lang="en-GB">
                <a:solidFill>
                  <a:schemeClr val="tx1"/>
                </a:solidFill>
              </a:rPr>
              <a:t>What each euro returned</a:t>
            </a:r>
          </a:p>
          <a:p>
            <a:pPr algn="l">
              <a:spcAft>
                <a:spcPts val="400"/>
              </a:spcAft>
            </a:pPr>
            <a:r>
              <a:rPr sz="1300" b="0" lang="en-GB">
                <a:solidFill>
                  <a:schemeClr val="tx1"/>
                </a:solidFill>
              </a:rPr>
              <a:t>Where the next euro should go</a:t>
            </a:r>
          </a:p>
        </p:txBody>
      </p:sp>
      <p:sp>
        <p:nvSpPr>
          <p:cNvPr id="25" name="Little label"/>
          <p:cNvSpPr txBox="1"/>
          <p:nvPr/>
        </p:nvSpPr>
        <p:spPr>
          <a:xfrm>
            <a:off x="457200" y="4133088"/>
            <a:ext cx="192024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Little (1979): </a:t>
            </a:r>
            <a:r>
              <a:rPr sz="1200" b="0" lang="en-GB">
                <a:solidFill>
                  <a:schemeClr val="tx1"/>
                </a:solidFill>
              </a:rPr>
              <a:t>a model must capture</a:t>
            </a:r>
          </a:p>
        </p:txBody>
      </p:sp>
      <p:sp>
        <p:nvSpPr>
          <p:cNvPr id="26" name="Little chip 1"/>
          <p:cNvSpPr/>
          <p:nvPr/>
        </p:nvSpPr>
        <p:spPr>
          <a:xfrm>
            <a:off x="2468880" y="4133088"/>
            <a:ext cx="1170432"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ittle chip text 1"/>
          <p:cNvSpPr txBox="1"/>
          <p:nvPr/>
        </p:nvSpPr>
        <p:spPr>
          <a:xfrm>
            <a:off x="2514600" y="4133088"/>
            <a:ext cx="1078992" cy="548640"/>
          </a:xfrm>
          <a:prstGeom prst="rect">
            <a:avLst/>
          </a:prstGeom>
          <a:noFill/>
        </p:spPr>
        <p:txBody>
          <a:bodyPr wrap="square" lIns="0" rIns="0" tIns="0" bIns="0" anchor="ctr">
            <a:noAutofit/>
          </a:bodyPr>
          <a:lstStyle/>
          <a:p>
            <a:pPr algn="ctr">
              <a:spcAft>
                <a:spcPts val="400"/>
              </a:spcAft>
            </a:pPr>
            <a:r>
              <a:rPr sz="1200" b="1" lang="en-GB">
                <a:solidFill>
                  <a:schemeClr val="bg1"/>
                </a:solidFill>
              </a:rPr>
              <a:t>carryover</a:t>
            </a:r>
          </a:p>
        </p:txBody>
      </p:sp>
      <p:sp>
        <p:nvSpPr>
          <p:cNvPr id="28" name="Little chip 2"/>
          <p:cNvSpPr/>
          <p:nvPr/>
        </p:nvSpPr>
        <p:spPr>
          <a:xfrm>
            <a:off x="3730752" y="4133088"/>
            <a:ext cx="1170432"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ittle chip text 2"/>
          <p:cNvSpPr txBox="1"/>
          <p:nvPr/>
        </p:nvSpPr>
        <p:spPr>
          <a:xfrm>
            <a:off x="3776472" y="4133088"/>
            <a:ext cx="1078992" cy="548640"/>
          </a:xfrm>
          <a:prstGeom prst="rect">
            <a:avLst/>
          </a:prstGeom>
          <a:noFill/>
        </p:spPr>
        <p:txBody>
          <a:bodyPr wrap="square" lIns="0" rIns="0" tIns="0" bIns="0" anchor="ctr">
            <a:noAutofit/>
          </a:bodyPr>
          <a:lstStyle/>
          <a:p>
            <a:pPr algn="ctr">
              <a:spcAft>
                <a:spcPts val="400"/>
              </a:spcAft>
            </a:pPr>
            <a:r>
              <a:rPr sz="1200" b="1" lang="en-GB">
                <a:solidFill>
                  <a:schemeClr val="bg1"/>
                </a:solidFill>
              </a:rPr>
              <a:t>diminishing returns</a:t>
            </a:r>
          </a:p>
        </p:txBody>
      </p:sp>
      <p:sp>
        <p:nvSpPr>
          <p:cNvPr id="30" name="Little chip 3"/>
          <p:cNvSpPr/>
          <p:nvPr/>
        </p:nvSpPr>
        <p:spPr>
          <a:xfrm>
            <a:off x="4992624" y="4133088"/>
            <a:ext cx="1170432"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ittle chip text 3"/>
          <p:cNvSpPr txBox="1"/>
          <p:nvPr/>
        </p:nvSpPr>
        <p:spPr>
          <a:xfrm>
            <a:off x="5038344" y="4133088"/>
            <a:ext cx="1078992" cy="548640"/>
          </a:xfrm>
          <a:prstGeom prst="rect">
            <a:avLst/>
          </a:prstGeom>
          <a:noFill/>
        </p:spPr>
        <p:txBody>
          <a:bodyPr wrap="square" lIns="0" rIns="0" tIns="0" bIns="0" anchor="ctr">
            <a:noAutofit/>
          </a:bodyPr>
          <a:lstStyle/>
          <a:p>
            <a:pPr algn="ctr">
              <a:spcAft>
                <a:spcPts val="400"/>
              </a:spcAft>
            </a:pPr>
            <a:r>
              <a:rPr sz="1200" b="1" lang="en-GB">
                <a:solidFill>
                  <a:schemeClr val="bg1"/>
                </a:solidFill>
              </a:rPr>
              <a:t>competition</a:t>
            </a:r>
          </a:p>
        </p:txBody>
      </p:sp>
      <p:sp>
        <p:nvSpPr>
          <p:cNvPr id="32" name="Little chip 4"/>
          <p:cNvSpPr/>
          <p:nvPr/>
        </p:nvSpPr>
        <p:spPr>
          <a:xfrm>
            <a:off x="6254496" y="4133088"/>
            <a:ext cx="1170432"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ittle chip text 4"/>
          <p:cNvSpPr txBox="1"/>
          <p:nvPr/>
        </p:nvSpPr>
        <p:spPr>
          <a:xfrm>
            <a:off x="6300216" y="4133088"/>
            <a:ext cx="1078992" cy="548640"/>
          </a:xfrm>
          <a:prstGeom prst="rect">
            <a:avLst/>
          </a:prstGeom>
          <a:noFill/>
        </p:spPr>
        <p:txBody>
          <a:bodyPr wrap="square" lIns="0" rIns="0" tIns="0" bIns="0" anchor="ctr">
            <a:noAutofit/>
          </a:bodyPr>
          <a:lstStyle/>
          <a:p>
            <a:pPr algn="ctr">
              <a:spcAft>
                <a:spcPts val="400"/>
              </a:spcAft>
            </a:pPr>
            <a:r>
              <a:rPr sz="1200" b="1" lang="en-GB">
                <a:solidFill>
                  <a:schemeClr val="bg1"/>
                </a:solidFill>
              </a:rPr>
              <a:t>interaction</a:t>
            </a:r>
          </a:p>
        </p:txBody>
      </p:sp>
      <p:sp>
        <p:nvSpPr>
          <p:cNvPr id="34" name="Little chip 5"/>
          <p:cNvSpPr/>
          <p:nvPr/>
        </p:nvSpPr>
        <p:spPr>
          <a:xfrm>
            <a:off x="7516368" y="4133088"/>
            <a:ext cx="1170432"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ittle chip text 5"/>
          <p:cNvSpPr txBox="1"/>
          <p:nvPr/>
        </p:nvSpPr>
        <p:spPr>
          <a:xfrm>
            <a:off x="7562088" y="4133088"/>
            <a:ext cx="1078992" cy="548640"/>
          </a:xfrm>
          <a:prstGeom prst="rect">
            <a:avLst/>
          </a:prstGeom>
          <a:noFill/>
        </p:spPr>
        <p:txBody>
          <a:bodyPr wrap="square" lIns="0" rIns="0" tIns="0" bIns="0" anchor="ctr">
            <a:noAutofit/>
          </a:bodyPr>
          <a:lstStyle/>
          <a:p>
            <a:pPr algn="ctr">
              <a:spcAft>
                <a:spcPts val="400"/>
              </a:spcAft>
            </a:pPr>
            <a:r>
              <a:rPr sz="1200" b="1" lang="en-GB">
                <a:solidFill>
                  <a:schemeClr val="bg1"/>
                </a:solidFill>
              </a:rPr>
              <a:t>dynamics</a:t>
            </a:r>
          </a:p>
        </p:txBody>
      </p:sp>
      <p:sp>
        <p:nvSpPr>
          <p:cNvPr id="3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Little 1979; Hanssens, Parsons &amp; Schultz 2001; Hanssens &amp; Pauwels 2016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Inputs, model, outputs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puts card body"/>
          <p:cNvSpPr/>
          <p:nvPr/>
        </p:nvSpPr>
        <p:spPr>
          <a:xfrm>
            <a:off x="457200" y="1645920"/>
            <a:ext cx="320040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puts card header"/>
          <p:cNvSpPr/>
          <p:nvPr/>
        </p:nvSpPr>
        <p:spPr>
          <a:xfrm>
            <a:off x="457200" y="1234440"/>
            <a:ext cx="320040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nputs card heading"/>
          <p:cNvSpPr txBox="1"/>
          <p:nvPr/>
        </p:nvSpPr>
        <p:spPr>
          <a:xfrm>
            <a:off x="594360" y="1234440"/>
            <a:ext cx="251460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Inputs</a:t>
            </a:r>
          </a:p>
        </p:txBody>
      </p:sp>
      <p:pic>
        <p:nvPicPr>
          <p:cNvPr id="13" name="Icon Inputs card" descr=""/>
          <p:cNvPicPr>
            <a:picLocks noChangeAspect="1"/>
          </p:cNvPicPr>
          <p:nvPr/>
        </p:nvPicPr>
        <p:blipFill>
          <a:blip r:embed="rId3"/>
          <a:stretch>
            <a:fillRect/>
          </a:stretch>
        </p:blipFill>
        <p:spPr>
          <a:xfrm>
            <a:off x="3218688" y="1284732"/>
            <a:ext cx="310896" cy="310896"/>
          </a:xfrm>
          <a:prstGeom prst="rect">
            <a:avLst/>
          </a:prstGeom>
        </p:spPr>
      </p:pic>
      <p:sp>
        <p:nvSpPr>
          <p:cNvPr id="14" name="Inputs card text"/>
          <p:cNvSpPr txBox="1"/>
          <p:nvPr/>
        </p:nvSpPr>
        <p:spPr>
          <a:xfrm>
            <a:off x="621792" y="1783080"/>
            <a:ext cx="2898648" cy="22402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Sales: </a:t>
            </a:r>
            <a:r>
              <a:rPr sz="1300" b="0" lang="en-GB">
                <a:solidFill>
                  <a:schemeClr val="tx1"/>
                </a:solidFill>
              </a:rPr>
              <a:t>units or revenue per week</a:t>
            </a:r>
          </a:p>
          <a:p>
            <a:pPr algn="l" marL="182880" indent="-182880">
              <a:spcAft>
                <a:spcPts val="600"/>
              </a:spcAft>
              <a:buClr>
                <a:schemeClr val="accent1"/>
              </a:buClr>
              <a:buFont typeface="Arial"/>
              <a:buChar char="▪"/>
            </a:pPr>
            <a:r>
              <a:rPr sz="1300" b="1" lang="en-GB">
                <a:solidFill>
                  <a:schemeClr val="tx2"/>
                </a:solidFill>
              </a:rPr>
              <a:t>Media: </a:t>
            </a:r>
            <a:r>
              <a:rPr sz="1300" b="0" lang="en-GB">
                <a:solidFill>
                  <a:schemeClr val="tx1"/>
                </a:solidFill>
              </a:rPr>
              <a:t>spend by channel</a:t>
            </a:r>
          </a:p>
          <a:p>
            <a:pPr algn="l" marL="182880" indent="-182880">
              <a:spcAft>
                <a:spcPts val="600"/>
              </a:spcAft>
              <a:buClr>
                <a:schemeClr val="accent1"/>
              </a:buClr>
              <a:buFont typeface="Arial"/>
              <a:buChar char="▪"/>
            </a:pPr>
            <a:r>
              <a:rPr sz="1300" b="1" lang="en-GB">
                <a:solidFill>
                  <a:schemeClr val="tx2"/>
                </a:solidFill>
              </a:rPr>
              <a:t>Marketing: </a:t>
            </a:r>
            <a:r>
              <a:rPr sz="1300" b="0" lang="en-GB">
                <a:solidFill>
                  <a:schemeClr val="tx1"/>
                </a:solidFill>
              </a:rPr>
              <a:t>price, promotion, distribution</a:t>
            </a:r>
          </a:p>
          <a:p>
            <a:pPr algn="l" marL="182880" indent="-182880">
              <a:spcAft>
                <a:spcPts val="600"/>
              </a:spcAft>
              <a:buClr>
                <a:schemeClr val="accent1"/>
              </a:buClr>
              <a:buFont typeface="Arial"/>
              <a:buChar char="▪"/>
            </a:pPr>
            <a:r>
              <a:rPr sz="1300" b="1" lang="en-GB">
                <a:solidFill>
                  <a:schemeClr val="tx2"/>
                </a:solidFill>
              </a:rPr>
              <a:t>Season: </a:t>
            </a:r>
            <a:r>
              <a:rPr sz="1300" b="0" lang="en-GB">
                <a:solidFill>
                  <a:schemeClr val="tx1"/>
                </a:solidFill>
              </a:rPr>
              <a:t>trend, holidays, weather</a:t>
            </a:r>
          </a:p>
          <a:p>
            <a:pPr algn="l" marL="182880" indent="-182880">
              <a:spcAft>
                <a:spcPts val="600"/>
              </a:spcAft>
              <a:buClr>
                <a:schemeClr val="accent1"/>
              </a:buClr>
              <a:buFont typeface="Arial"/>
              <a:buChar char="▪"/>
            </a:pPr>
            <a:r>
              <a:rPr sz="1300" b="1" lang="en-GB">
                <a:solidFill>
                  <a:schemeClr val="tx2"/>
                </a:solidFill>
              </a:rPr>
              <a:t>Context: </a:t>
            </a:r>
            <a:r>
              <a:rPr sz="1300" b="0" lang="en-GB">
                <a:solidFill>
                  <a:schemeClr val="tx1"/>
                </a:solidFill>
              </a:rPr>
              <a:t>economy, competitors</a:t>
            </a:r>
          </a:p>
        </p:txBody>
      </p:sp>
      <p:sp>
        <p:nvSpPr>
          <p:cNvPr id="15" name="Arrow in"/>
          <p:cNvSpPr/>
          <p:nvPr/>
        </p:nvSpPr>
        <p:spPr>
          <a:xfrm>
            <a:off x="3730752" y="2532888"/>
            <a:ext cx="201168" cy="329184"/>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odel box"/>
          <p:cNvSpPr/>
          <p:nvPr/>
        </p:nvSpPr>
        <p:spPr>
          <a:xfrm>
            <a:off x="4005072" y="1234440"/>
            <a:ext cx="1133856" cy="2926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model" descr=""/>
          <p:cNvPicPr>
            <a:picLocks noChangeAspect="1"/>
          </p:cNvPicPr>
          <p:nvPr/>
        </p:nvPicPr>
        <p:blipFill>
          <a:blip r:embed="rId4"/>
          <a:stretch>
            <a:fillRect/>
          </a:stretch>
        </p:blipFill>
        <p:spPr>
          <a:xfrm>
            <a:off x="4361688" y="1874520"/>
            <a:ext cx="420624" cy="420624"/>
          </a:xfrm>
          <a:prstGeom prst="rect">
            <a:avLst/>
          </a:prstGeom>
        </p:spPr>
      </p:pic>
      <p:sp>
        <p:nvSpPr>
          <p:cNvPr id="18" name="Model text"/>
          <p:cNvSpPr txBox="1"/>
          <p:nvPr/>
        </p:nvSpPr>
        <p:spPr>
          <a:xfrm>
            <a:off x="4050792" y="2377440"/>
            <a:ext cx="1042416" cy="1188720"/>
          </a:xfrm>
          <a:prstGeom prst="rect">
            <a:avLst/>
          </a:prstGeom>
          <a:noFill/>
        </p:spPr>
        <p:txBody>
          <a:bodyPr wrap="square" lIns="0" rIns="0" tIns="0" bIns="0" anchor="t">
            <a:noAutofit/>
          </a:bodyPr>
          <a:lstStyle/>
          <a:p>
            <a:pPr algn="ctr">
              <a:spcAft>
                <a:spcPts val="400"/>
              </a:spcAft>
            </a:pPr>
            <a:r>
              <a:rPr sz="1500" b="1" lang="en-GB">
                <a:solidFill>
                  <a:schemeClr val="bg1"/>
                </a:solidFill>
                <a:latin typeface="+mj-lt"/>
              </a:rPr>
              <a:t>Model</a:t>
            </a:r>
          </a:p>
          <a:p>
            <a:pPr algn="ctr">
              <a:spcAft>
                <a:spcPts val="400"/>
              </a:spcAft>
            </a:pPr>
            <a:r>
              <a:rPr sz="1100" b="0" lang="en-GB">
                <a:solidFill>
                  <a:schemeClr val="bg1"/>
                </a:solidFill>
              </a:rPr>
              <a:t>regression with carryover and saturation</a:t>
            </a:r>
          </a:p>
        </p:txBody>
      </p:sp>
      <p:sp>
        <p:nvSpPr>
          <p:cNvPr id="19" name="Arrow out"/>
          <p:cNvSpPr/>
          <p:nvPr/>
        </p:nvSpPr>
        <p:spPr>
          <a:xfrm>
            <a:off x="5212080" y="2532888"/>
            <a:ext cx="201168" cy="329184"/>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utputs card body"/>
          <p:cNvSpPr/>
          <p:nvPr/>
        </p:nvSpPr>
        <p:spPr>
          <a:xfrm>
            <a:off x="5486400" y="1645920"/>
            <a:ext cx="320040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utputs card header"/>
          <p:cNvSpPr/>
          <p:nvPr/>
        </p:nvSpPr>
        <p:spPr>
          <a:xfrm>
            <a:off x="5486400" y="1234440"/>
            <a:ext cx="320040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utputs card heading"/>
          <p:cNvSpPr txBox="1"/>
          <p:nvPr/>
        </p:nvSpPr>
        <p:spPr>
          <a:xfrm>
            <a:off x="5623560" y="1234440"/>
            <a:ext cx="251460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Outputs</a:t>
            </a:r>
          </a:p>
        </p:txBody>
      </p:sp>
      <p:pic>
        <p:nvPicPr>
          <p:cNvPr id="23" name="Icon Outputs card" descr=""/>
          <p:cNvPicPr>
            <a:picLocks noChangeAspect="1"/>
          </p:cNvPicPr>
          <p:nvPr/>
        </p:nvPicPr>
        <p:blipFill>
          <a:blip r:embed="rId5"/>
          <a:stretch>
            <a:fillRect/>
          </a:stretch>
        </p:blipFill>
        <p:spPr>
          <a:xfrm>
            <a:off x="8247888" y="1284732"/>
            <a:ext cx="310896" cy="310896"/>
          </a:xfrm>
          <a:prstGeom prst="rect">
            <a:avLst/>
          </a:prstGeom>
        </p:spPr>
      </p:pic>
      <p:sp>
        <p:nvSpPr>
          <p:cNvPr id="24" name="Outputs card text"/>
          <p:cNvSpPr txBox="1"/>
          <p:nvPr/>
        </p:nvSpPr>
        <p:spPr>
          <a:xfrm>
            <a:off x="5650992" y="1783080"/>
            <a:ext cx="2898648" cy="22402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Contributions: </a:t>
            </a:r>
            <a:r>
              <a:rPr sz="1300" b="0" lang="en-GB">
                <a:solidFill>
                  <a:schemeClr val="tx1"/>
                </a:solidFill>
              </a:rPr>
              <a:t>sales per driver</a:t>
            </a:r>
          </a:p>
          <a:p>
            <a:pPr algn="l" marL="182880" indent="-182880">
              <a:spcAft>
                <a:spcPts val="600"/>
              </a:spcAft>
              <a:buClr>
                <a:schemeClr val="accent1"/>
              </a:buClr>
              <a:buFont typeface="Arial"/>
              <a:buChar char="▪"/>
            </a:pPr>
            <a:r>
              <a:rPr sz="1300" b="1" lang="en-GB">
                <a:solidFill>
                  <a:schemeClr val="tx2"/>
                </a:solidFill>
              </a:rPr>
              <a:t>ROAS: </a:t>
            </a:r>
            <a:r>
              <a:rPr sz="1300" b="0" lang="en-GB">
                <a:solidFill>
                  <a:schemeClr val="tx1"/>
                </a:solidFill>
              </a:rPr>
              <a:t>revenue per euro spent</a:t>
            </a:r>
          </a:p>
          <a:p>
            <a:pPr algn="l" marL="182880" indent="-182880">
              <a:spcAft>
                <a:spcPts val="600"/>
              </a:spcAft>
              <a:buClr>
                <a:schemeClr val="accent1"/>
              </a:buClr>
              <a:buFont typeface="Arial"/>
              <a:buChar char="▪"/>
            </a:pPr>
            <a:r>
              <a:rPr sz="1300" b="1" lang="en-GB">
                <a:solidFill>
                  <a:schemeClr val="tx2"/>
                </a:solidFill>
              </a:rPr>
              <a:t>Marginal ROAS: </a:t>
            </a:r>
            <a:r>
              <a:rPr sz="1300" b="0" lang="en-GB">
                <a:solidFill>
                  <a:schemeClr val="tx1"/>
                </a:solidFill>
              </a:rPr>
              <a:t>revenue from the next euro</a:t>
            </a:r>
          </a:p>
          <a:p>
            <a:pPr algn="l" marL="182880" indent="-182880">
              <a:spcAft>
                <a:spcPts val="600"/>
              </a:spcAft>
              <a:buClr>
                <a:schemeClr val="accent1"/>
              </a:buClr>
              <a:buFont typeface="Arial"/>
              <a:buChar char="▪"/>
            </a:pPr>
            <a:r>
              <a:rPr sz="1300" b="1" lang="en-GB">
                <a:solidFill>
                  <a:schemeClr val="tx2"/>
                </a:solidFill>
              </a:rPr>
              <a:t>Response curves: </a:t>
            </a:r>
            <a:r>
              <a:rPr sz="1300" b="0" lang="en-GB">
                <a:solidFill>
                  <a:schemeClr val="tx1"/>
                </a:solidFill>
              </a:rPr>
              <a:t>sales at each spend level</a:t>
            </a:r>
          </a:p>
          <a:p>
            <a:pPr algn="l" marL="182880" indent="-182880">
              <a:spcAft>
                <a:spcPts val="600"/>
              </a:spcAft>
              <a:buClr>
                <a:schemeClr val="accent1"/>
              </a:buClr>
              <a:buFont typeface="Arial"/>
              <a:buChar char="▪"/>
            </a:pPr>
            <a:r>
              <a:rPr sz="1300" b="1" lang="en-GB">
                <a:solidFill>
                  <a:schemeClr val="tx2"/>
                </a:solidFill>
              </a:rPr>
              <a:t>Allocation: </a:t>
            </a:r>
            <a:r>
              <a:rPr sz="1300" b="0" lang="en-GB">
                <a:solidFill>
                  <a:schemeClr val="tx1"/>
                </a:solidFill>
              </a:rPr>
              <a:t>the best budget split</a:t>
            </a:r>
          </a:p>
        </p:txBody>
      </p:sp>
      <p:sp>
        <p:nvSpPr>
          <p:cNvPr id="25" name="Alpenglow inputs box"/>
          <p:cNvSpPr/>
          <p:nvPr/>
        </p:nvSpPr>
        <p:spPr>
          <a:xfrm>
            <a:off x="457200" y="434340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Alpenglow inputs" descr=""/>
          <p:cNvPicPr>
            <a:picLocks noChangeAspect="1"/>
          </p:cNvPicPr>
          <p:nvPr/>
        </p:nvPicPr>
        <p:blipFill>
          <a:blip r:embed="rId6"/>
          <a:stretch>
            <a:fillRect/>
          </a:stretch>
        </p:blipFill>
        <p:spPr>
          <a:xfrm>
            <a:off x="658368" y="4434840"/>
            <a:ext cx="365760" cy="365760"/>
          </a:xfrm>
          <a:prstGeom prst="rect">
            <a:avLst/>
          </a:prstGeom>
        </p:spPr>
      </p:pic>
      <p:sp>
        <p:nvSpPr>
          <p:cNvPr id="27" name="Alpenglow inputs text"/>
          <p:cNvSpPr txBox="1"/>
          <p:nvPr/>
        </p:nvSpPr>
        <p:spPr>
          <a:xfrm>
            <a:off x="1207008" y="4343400"/>
            <a:ext cx="731520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In Alpenglow: </a:t>
            </a:r>
            <a:r>
              <a:rPr sz="1300" b="0" lang="en-GB">
                <a:solidFill>
                  <a:schemeClr val="tx1"/>
                </a:solidFill>
              </a:rPr>
              <a:t>every input is a column of </a:t>
            </a:r>
            <a:r>
              <a:rPr sz="1200" b="0" lang="en-GB">
                <a:solidFill>
                  <a:schemeClr val="tx2"/>
                </a:solidFill>
                <a:latin typeface="Consolas"/>
              </a:rPr>
              <a:t>data/mmm/alpenglow_weekly.csv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Measurement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234440"/>
                <a:gridCol w="2377440"/>
                <a:gridCol w="2331720"/>
                <a:gridCol w="2286000"/>
              </a:tblGrid>
              <a:tr h="370840">
                <a:tc>
                  <a:txBody>
                    <a:bodyPr/>
                    <a:lstStyle/>
                    <a:p>
                      <a:r>
                        <a:rPr sz="1500" lang="en-GB"/>
                        <a:t/>
                      </a:r>
                    </a:p>
                  </a:txBody>
                  <a:tcPr marT="54000" marB="54000"/>
                </a:tc>
                <a:tc>
                  <a:txBody>
                    <a:bodyPr/>
                    <a:lstStyle/>
                    <a:p>
                      <a:r>
                        <a:rPr sz="1500" lang="en-GB"/>
                        <a:t>Marketing mix modelling</a:t>
                      </a:r>
                    </a:p>
                  </a:txBody>
                  <a:tcPr marT="54000" marB="54000"/>
                </a:tc>
                <a:tc>
                  <a:txBody>
                    <a:bodyPr/>
                    <a:lstStyle/>
                    <a:p>
                      <a:r>
                        <a:rPr sz="1500" lang="en-GB"/>
                        <a:t>Multi-touch attribution</a:t>
                      </a:r>
                    </a:p>
                  </a:txBody>
                  <a:tcPr marT="54000" marB="54000"/>
                </a:tc>
                <a:tc>
                  <a:txBody>
                    <a:bodyPr/>
                    <a:lstStyle/>
                    <a:p>
                      <a:r>
                        <a:rPr sz="1500" lang="en-GB"/>
                        <a:t>Experiments</a:t>
                      </a:r>
                    </a:p>
                  </a:txBody>
                  <a:tcPr marT="54000" marB="54000"/>
                </a:tc>
              </a:tr>
              <a:tr h="370840">
                <a:tc>
                  <a:txBody>
                    <a:bodyPr/>
                    <a:lstStyle/>
                    <a:p>
                      <a:r>
                        <a:rPr sz="1300" b="1" lang="en-GB"/>
                        <a:t>Data</a:t>
                      </a:r>
                    </a:p>
                  </a:txBody>
                  <a:tcPr marT="54000" marB="54000"/>
                </a:tc>
                <a:tc>
                  <a:txBody>
                    <a:bodyPr/>
                    <a:lstStyle/>
                    <a:p>
                      <a:r>
                        <a:rPr sz="1300" lang="en-GB"/>
                        <a:t>weekly totals per channel and country</a:t>
                      </a:r>
                    </a:p>
                  </a:txBody>
                  <a:tcPr marT="54000" marB="54000"/>
                </a:tc>
                <a:tc>
                  <a:txBody>
                    <a:bodyPr/>
                    <a:lstStyle/>
                    <a:p>
                      <a:r>
                        <a:rPr sz="1300" lang="en-GB"/>
                        <a:t>clicks and views of individual users</a:t>
                      </a:r>
                    </a:p>
                  </a:txBody>
                  <a:tcPr marT="54000" marB="54000"/>
                </a:tc>
                <a:tc>
                  <a:txBody>
                    <a:bodyPr/>
                    <a:lstStyle/>
                    <a:p>
                      <a:r>
                        <a:rPr sz="1300" lang="en-GB"/>
                        <a:t>test and control groups or regions</a:t>
                      </a:r>
                    </a:p>
                  </a:txBody>
                  <a:tcPr marT="54000" marB="54000"/>
                </a:tc>
              </a:tr>
              <a:tr h="370840">
                <a:tc>
                  <a:txBody>
                    <a:bodyPr/>
                    <a:lstStyle/>
                    <a:p>
                      <a:r>
                        <a:rPr sz="1300" b="1" lang="en-GB"/>
                        <a:t>Answers</a:t>
                      </a:r>
                    </a:p>
                  </a:txBody>
                  <a:tcPr marT="54000" marB="54000"/>
                </a:tc>
                <a:tc>
                  <a:txBody>
                    <a:bodyPr/>
                    <a:lstStyle/>
                    <a:p>
                      <a:r>
                        <a:rPr sz="1300" lang="en-GB"/>
                        <a:t>what each channel added, offline too</a:t>
                      </a:r>
                    </a:p>
                  </a:txBody>
                  <a:tcPr marT="54000" marB="54000"/>
                </a:tc>
                <a:tc>
                  <a:txBody>
                    <a:bodyPr/>
                    <a:lstStyle/>
                    <a:p>
                      <a:r>
                        <a:rPr sz="1300" lang="en-GB"/>
                        <a:t>which touchpoints came before a sale</a:t>
                      </a:r>
                    </a:p>
                  </a:txBody>
                  <a:tcPr marT="54000" marB="54000"/>
                </a:tc>
                <a:tc>
                  <a:txBody>
                    <a:bodyPr/>
                    <a:lstStyle/>
                    <a:p>
                      <a:r>
                        <a:rPr sz="1300" lang="en-GB"/>
                        <a:t>the causal lift of one change</a:t>
                      </a:r>
                    </a:p>
                  </a:txBody>
                  <a:tcPr marT="54000" marB="54000"/>
                </a:tc>
              </a:tr>
              <a:tr h="370840">
                <a:tc>
                  <a:txBody>
                    <a:bodyPr/>
                    <a:lstStyle/>
                    <a:p>
                      <a:r>
                        <a:rPr sz="1300" b="1" lang="en-GB"/>
                        <a:t>Strength</a:t>
                      </a:r>
                    </a:p>
                  </a:txBody>
                  <a:tcPr marT="54000" marB="54000"/>
                </a:tc>
                <a:tc>
                  <a:txBody>
                    <a:bodyPr/>
                    <a:lstStyle/>
                    <a:p>
                      <a:r>
                        <a:rPr sz="1300" lang="en-GB"/>
                        <a:t>all channels; privacy-safe</a:t>
                      </a:r>
                    </a:p>
                  </a:txBody>
                  <a:tcPr marT="54000" marB="54000"/>
                </a:tc>
                <a:tc>
                  <a:txBody>
                    <a:bodyPr/>
                    <a:lstStyle/>
                    <a:p>
                      <a:r>
                        <a:rPr sz="1300" lang="en-GB"/>
                        <a:t>detailed and fast</a:t>
                      </a:r>
                    </a:p>
                  </a:txBody>
                  <a:tcPr marT="54000" marB="54000"/>
                </a:tc>
                <a:tc>
                  <a:txBody>
                    <a:bodyPr/>
                    <a:lstStyle/>
                    <a:p>
                      <a:r>
                        <a:rPr sz="1300" lang="en-GB"/>
                        <a:t>most credible evidence of cause</a:t>
                      </a:r>
                    </a:p>
                  </a:txBody>
                  <a:tcPr marT="54000" marB="54000"/>
                </a:tc>
              </a:tr>
              <a:tr h="370840">
                <a:tc>
                  <a:txBody>
                    <a:bodyPr/>
                    <a:lstStyle/>
                    <a:p>
                      <a:r>
                        <a:rPr sz="1300" b="1" lang="en-GB"/>
                        <a:t>Limit</a:t>
                      </a:r>
                    </a:p>
                  </a:txBody>
                  <a:tcPr marT="54000" marB="54000"/>
                </a:tc>
                <a:tc>
                  <a:txBody>
                    <a:bodyPr/>
                    <a:lstStyle/>
                    <a:p>
                      <a:r>
                        <a:rPr sz="1300" lang="en-GB"/>
                        <a:t>correlation; needs variation in spend</a:t>
                      </a:r>
                    </a:p>
                  </a:txBody>
                  <a:tcPr marT="54000" marB="54000"/>
                </a:tc>
                <a:tc>
                  <a:txBody>
                    <a:bodyPr/>
                    <a:lstStyle/>
                    <a:p>
                      <a:r>
                        <a:rPr sz="1300" lang="en-GB"/>
                        <a:t>digital only; credit is not cause</a:t>
                      </a:r>
                    </a:p>
                  </a:txBody>
                  <a:tcPr marT="54000" marB="54000"/>
                </a:tc>
                <a:tc>
                  <a:txBody>
                    <a:bodyPr/>
                    <a:lstStyle/>
                    <a:p>
                      <a:r>
                        <a:rPr sz="1300" lang="en-GB"/>
                        <a:t>one channel, one period; costly</a:t>
                      </a:r>
                    </a:p>
                  </a:txBody>
                  <a:tcPr marT="54000" marB="54000"/>
                </a:tc>
              </a:tr>
            </a:tbl>
          </a:graphicData>
        </a:graphic>
      </p:graphicFrame>
      <p:sp>
        <p:nvSpPr>
          <p:cNvPr id="3" name="Title 2"/>
          <p:cNvSpPr>
            <a:spLocks noGrp="1"/>
          </p:cNvSpPr>
          <p:nvPr>
            <p:ph type="title"/>
          </p:nvPr>
        </p:nvSpPr>
        <p:spPr/>
        <p:txBody>
          <a:bodyPr/>
          <a:lstStyle/>
          <a:p>
            <a:r>
              <a:rPr sz="1600" lang="en-GB"/>
              <a:t>Three ways to measure marketing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riangulate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riangulate" descr=""/>
          <p:cNvPicPr>
            <a:picLocks noChangeAspect="1"/>
          </p:cNvPicPr>
          <p:nvPr/>
        </p:nvPicPr>
        <p:blipFill>
          <a:blip r:embed="rId3"/>
          <a:stretch>
            <a:fillRect/>
          </a:stretch>
        </p:blipFill>
        <p:spPr>
          <a:xfrm>
            <a:off x="658368" y="4183380"/>
            <a:ext cx="365760" cy="365760"/>
          </a:xfrm>
          <a:prstGeom prst="rect">
            <a:avLst/>
          </a:prstGeom>
        </p:spPr>
      </p:pic>
      <p:sp>
        <p:nvSpPr>
          <p:cNvPr id="12" name="Triangulate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Triangulate: </a:t>
            </a:r>
            <a:r>
              <a:rPr sz="1300" b="0" lang="en-GB">
                <a:solidFill>
                  <a:schemeClr val="bg1"/>
                </a:solidFill>
              </a:rPr>
              <a:t>experiments calibrate the MMM, the MMM covers every channel, attribution steers digital campaigns day to day.</a:t>
            </a:r>
          </a:p>
        </p:txBody>
      </p:sp>
      <p:sp>
        <p:nvSpPr>
          <p:cNvPr id="1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Google Modern Measurement Playbook 2023; IAB &amp; MMA 2019; Gordon et al. 2019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 old method, popular again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oad"/>
          <p:cNvSpPr/>
          <p:nvPr/>
        </p:nvSpPr>
        <p:spPr>
          <a:xfrm>
            <a:off x="457200" y="1435608"/>
            <a:ext cx="800100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ad end"/>
          <p:cNvSpPr/>
          <p:nvPr/>
        </p:nvSpPr>
        <p:spPr>
          <a:xfrm rot="5400000">
            <a:off x="8412480" y="1344168"/>
            <a:ext cx="274320" cy="274320"/>
          </a:xfrm>
          <a:prstGeom prst="triangl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ilestone dot 1"/>
          <p:cNvSpPr/>
          <p:nvPr/>
        </p:nvSpPr>
        <p:spPr>
          <a:xfrm>
            <a:off x="1133856" y="1371600"/>
            <a:ext cx="219456" cy="21945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ilestone card 1"/>
          <p:cNvSpPr/>
          <p:nvPr/>
        </p:nvSpPr>
        <p:spPr>
          <a:xfrm>
            <a:off x="457200" y="1755648"/>
            <a:ext cx="1572768"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ilestone year 1"/>
          <p:cNvSpPr txBox="1"/>
          <p:nvPr/>
        </p:nvSpPr>
        <p:spPr>
          <a:xfrm>
            <a:off x="548640" y="1810512"/>
            <a:ext cx="1389888" cy="384048"/>
          </a:xfrm>
          <a:prstGeom prst="rect">
            <a:avLst/>
          </a:prstGeom>
          <a:noFill/>
        </p:spPr>
        <p:txBody>
          <a:bodyPr wrap="square" lIns="0" rIns="0" tIns="0" bIns="0" anchor="ctr">
            <a:noAutofit/>
          </a:bodyPr>
          <a:lstStyle/>
          <a:p>
            <a:pPr algn="l">
              <a:spcAft>
                <a:spcPts val="400"/>
              </a:spcAft>
            </a:pPr>
            <a:r>
              <a:rPr sz="1800" b="1" lang="en-GB">
                <a:solidFill>
                  <a:schemeClr val="tx2"/>
                </a:solidFill>
                <a:latin typeface="+mj-lt"/>
              </a:rPr>
              <a:t>1976</a:t>
            </a:r>
          </a:p>
        </p:txBody>
      </p:sp>
      <p:sp>
        <p:nvSpPr>
          <p:cNvPr id="15" name="Milestone text 1"/>
          <p:cNvSpPr txBox="1"/>
          <p:nvPr/>
        </p:nvSpPr>
        <p:spPr>
          <a:xfrm>
            <a:off x="548640" y="2212848"/>
            <a:ext cx="1389888" cy="786384"/>
          </a:xfrm>
          <a:prstGeom prst="rect">
            <a:avLst/>
          </a:prstGeom>
          <a:noFill/>
        </p:spPr>
        <p:txBody>
          <a:bodyPr wrap="square" lIns="0" rIns="0" tIns="0" bIns="0" anchor="t">
            <a:noAutofit/>
          </a:bodyPr>
          <a:lstStyle/>
          <a:p>
            <a:pPr algn="l">
              <a:spcAft>
                <a:spcPts val="400"/>
              </a:spcAft>
            </a:pPr>
            <a:r>
              <a:rPr sz="1200" b="0" lang="en-GB">
                <a:solidFill>
                  <a:schemeClr val="tx1"/>
                </a:solidFill>
              </a:rPr>
              <a:t>Clarke: how long ad effects last</a:t>
            </a:r>
          </a:p>
        </p:txBody>
      </p:sp>
      <p:sp>
        <p:nvSpPr>
          <p:cNvPr id="16" name="Milestone dot 2"/>
          <p:cNvSpPr/>
          <p:nvPr/>
        </p:nvSpPr>
        <p:spPr>
          <a:xfrm>
            <a:off x="2798064" y="1371600"/>
            <a:ext cx="219456" cy="21945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ilestone card 2"/>
          <p:cNvSpPr/>
          <p:nvPr/>
        </p:nvSpPr>
        <p:spPr>
          <a:xfrm>
            <a:off x="2121408" y="1755648"/>
            <a:ext cx="1572768"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Milestone year 2"/>
          <p:cNvSpPr txBox="1"/>
          <p:nvPr/>
        </p:nvSpPr>
        <p:spPr>
          <a:xfrm>
            <a:off x="2212848" y="1810512"/>
            <a:ext cx="1389888" cy="384048"/>
          </a:xfrm>
          <a:prstGeom prst="rect">
            <a:avLst/>
          </a:prstGeom>
          <a:noFill/>
        </p:spPr>
        <p:txBody>
          <a:bodyPr wrap="square" lIns="0" rIns="0" tIns="0" bIns="0" anchor="ctr">
            <a:noAutofit/>
          </a:bodyPr>
          <a:lstStyle/>
          <a:p>
            <a:pPr algn="l">
              <a:spcAft>
                <a:spcPts val="400"/>
              </a:spcAft>
            </a:pPr>
            <a:r>
              <a:rPr sz="1800" b="1" lang="en-GB">
                <a:solidFill>
                  <a:schemeClr val="tx2"/>
                </a:solidFill>
                <a:latin typeface="+mj-lt"/>
              </a:rPr>
              <a:t>1979</a:t>
            </a:r>
          </a:p>
        </p:txBody>
      </p:sp>
      <p:sp>
        <p:nvSpPr>
          <p:cNvPr id="19" name="Milestone text 2"/>
          <p:cNvSpPr txBox="1"/>
          <p:nvPr/>
        </p:nvSpPr>
        <p:spPr>
          <a:xfrm>
            <a:off x="2212848" y="2212848"/>
            <a:ext cx="1389888" cy="786384"/>
          </a:xfrm>
          <a:prstGeom prst="rect">
            <a:avLst/>
          </a:prstGeom>
          <a:noFill/>
        </p:spPr>
        <p:txBody>
          <a:bodyPr wrap="square" lIns="0" rIns="0" tIns="0" bIns="0" anchor="t">
            <a:noAutofit/>
          </a:bodyPr>
          <a:lstStyle/>
          <a:p>
            <a:pPr algn="l">
              <a:spcAft>
                <a:spcPts val="400"/>
              </a:spcAft>
            </a:pPr>
            <a:r>
              <a:rPr sz="1200" b="0" lang="en-GB">
                <a:solidFill>
                  <a:schemeClr val="tx1"/>
                </a:solidFill>
              </a:rPr>
              <a:t>Little: what a response model needs</a:t>
            </a:r>
          </a:p>
        </p:txBody>
      </p:sp>
      <p:sp>
        <p:nvSpPr>
          <p:cNvPr id="20" name="Milestone dot 3"/>
          <p:cNvSpPr/>
          <p:nvPr/>
        </p:nvSpPr>
        <p:spPr>
          <a:xfrm>
            <a:off x="4462272" y="1371600"/>
            <a:ext cx="219456" cy="21945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ilestone card 3"/>
          <p:cNvSpPr/>
          <p:nvPr/>
        </p:nvSpPr>
        <p:spPr>
          <a:xfrm>
            <a:off x="3785616" y="1755648"/>
            <a:ext cx="1572768"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Milestone year 3"/>
          <p:cNvSpPr txBox="1"/>
          <p:nvPr/>
        </p:nvSpPr>
        <p:spPr>
          <a:xfrm>
            <a:off x="3877056" y="1810512"/>
            <a:ext cx="1389888" cy="384048"/>
          </a:xfrm>
          <a:prstGeom prst="rect">
            <a:avLst/>
          </a:prstGeom>
          <a:noFill/>
        </p:spPr>
        <p:txBody>
          <a:bodyPr wrap="square" lIns="0" rIns="0" tIns="0" bIns="0" anchor="ctr">
            <a:noAutofit/>
          </a:bodyPr>
          <a:lstStyle/>
          <a:p>
            <a:pPr algn="l">
              <a:spcAft>
                <a:spcPts val="400"/>
              </a:spcAft>
            </a:pPr>
            <a:r>
              <a:rPr sz="1800" b="1" lang="en-GB">
                <a:solidFill>
                  <a:schemeClr val="tx2"/>
                </a:solidFill>
                <a:latin typeface="+mj-lt"/>
              </a:rPr>
              <a:t>2001</a:t>
            </a:r>
          </a:p>
        </p:txBody>
      </p:sp>
      <p:sp>
        <p:nvSpPr>
          <p:cNvPr id="23" name="Milestone text 3"/>
          <p:cNvSpPr txBox="1"/>
          <p:nvPr/>
        </p:nvSpPr>
        <p:spPr>
          <a:xfrm>
            <a:off x="3877056" y="2212848"/>
            <a:ext cx="1389888" cy="786384"/>
          </a:xfrm>
          <a:prstGeom prst="rect">
            <a:avLst/>
          </a:prstGeom>
          <a:noFill/>
        </p:spPr>
        <p:txBody>
          <a:bodyPr wrap="square" lIns="0" rIns="0" tIns="0" bIns="0" anchor="t">
            <a:noAutofit/>
          </a:bodyPr>
          <a:lstStyle/>
          <a:p>
            <a:pPr algn="l">
              <a:spcAft>
                <a:spcPts val="400"/>
              </a:spcAft>
            </a:pPr>
            <a:r>
              <a:rPr sz="1200" b="0" lang="en-GB">
                <a:solidFill>
                  <a:schemeClr val="tx1"/>
                </a:solidFill>
              </a:rPr>
              <a:t>Hanssens et al.: Market Response Models</a:t>
            </a:r>
          </a:p>
        </p:txBody>
      </p:sp>
      <p:sp>
        <p:nvSpPr>
          <p:cNvPr id="24" name="Milestone dot 4"/>
          <p:cNvSpPr/>
          <p:nvPr/>
        </p:nvSpPr>
        <p:spPr>
          <a:xfrm>
            <a:off x="6126480" y="1371600"/>
            <a:ext cx="219456" cy="21945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ilestone card 4"/>
          <p:cNvSpPr/>
          <p:nvPr/>
        </p:nvSpPr>
        <p:spPr>
          <a:xfrm>
            <a:off x="5449824" y="1755648"/>
            <a:ext cx="1572768"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ilestone year 4"/>
          <p:cNvSpPr txBox="1"/>
          <p:nvPr/>
        </p:nvSpPr>
        <p:spPr>
          <a:xfrm>
            <a:off x="5541264" y="1810512"/>
            <a:ext cx="1389888" cy="384048"/>
          </a:xfrm>
          <a:prstGeom prst="rect">
            <a:avLst/>
          </a:prstGeom>
          <a:noFill/>
        </p:spPr>
        <p:txBody>
          <a:bodyPr wrap="square" lIns="0" rIns="0" tIns="0" bIns="0" anchor="ctr">
            <a:noAutofit/>
          </a:bodyPr>
          <a:lstStyle/>
          <a:p>
            <a:pPr algn="l">
              <a:spcAft>
                <a:spcPts val="400"/>
              </a:spcAft>
            </a:pPr>
            <a:r>
              <a:rPr sz="1800" b="1" lang="en-GB">
                <a:solidFill>
                  <a:schemeClr val="tx2"/>
                </a:solidFill>
                <a:latin typeface="+mj-lt"/>
              </a:rPr>
              <a:t>2017</a:t>
            </a:r>
          </a:p>
        </p:txBody>
      </p:sp>
      <p:sp>
        <p:nvSpPr>
          <p:cNvPr id="27" name="Milestone text 4"/>
          <p:cNvSpPr txBox="1"/>
          <p:nvPr/>
        </p:nvSpPr>
        <p:spPr>
          <a:xfrm>
            <a:off x="5541264" y="2212848"/>
            <a:ext cx="1389888" cy="786384"/>
          </a:xfrm>
          <a:prstGeom prst="rect">
            <a:avLst/>
          </a:prstGeom>
          <a:noFill/>
        </p:spPr>
        <p:txBody>
          <a:bodyPr wrap="square" lIns="0" rIns="0" tIns="0" bIns="0" anchor="t">
            <a:noAutofit/>
          </a:bodyPr>
          <a:lstStyle/>
          <a:p>
            <a:pPr algn="l">
              <a:spcAft>
                <a:spcPts val="400"/>
              </a:spcAft>
            </a:pPr>
            <a:r>
              <a:rPr sz="1200" b="0" lang="en-GB">
                <a:solidFill>
                  <a:schemeClr val="tx1"/>
                </a:solidFill>
              </a:rPr>
              <a:t>Jin et al. (Google): Bayesian MMM</a:t>
            </a:r>
          </a:p>
        </p:txBody>
      </p:sp>
      <p:sp>
        <p:nvSpPr>
          <p:cNvPr id="28" name="Milestone dot 5"/>
          <p:cNvSpPr/>
          <p:nvPr/>
        </p:nvSpPr>
        <p:spPr>
          <a:xfrm>
            <a:off x="7790688" y="1371600"/>
            <a:ext cx="219456" cy="21945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ilestone card 5"/>
          <p:cNvSpPr/>
          <p:nvPr/>
        </p:nvSpPr>
        <p:spPr>
          <a:xfrm>
            <a:off x="7114032" y="1755648"/>
            <a:ext cx="1572768"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Milestone year 5"/>
          <p:cNvSpPr txBox="1"/>
          <p:nvPr/>
        </p:nvSpPr>
        <p:spPr>
          <a:xfrm>
            <a:off x="7205472" y="1810512"/>
            <a:ext cx="1389888" cy="384048"/>
          </a:xfrm>
          <a:prstGeom prst="rect">
            <a:avLst/>
          </a:prstGeom>
          <a:noFill/>
        </p:spPr>
        <p:txBody>
          <a:bodyPr wrap="square" lIns="0" rIns="0" tIns="0" bIns="0" anchor="ctr">
            <a:noAutofit/>
          </a:bodyPr>
          <a:lstStyle/>
          <a:p>
            <a:pPr algn="l">
              <a:spcAft>
                <a:spcPts val="400"/>
              </a:spcAft>
            </a:pPr>
            <a:r>
              <a:rPr sz="1800" b="1" lang="en-GB">
                <a:solidFill>
                  <a:schemeClr val="tx2"/>
                </a:solidFill>
                <a:latin typeface="+mj-lt"/>
              </a:rPr>
              <a:t>2020s</a:t>
            </a:r>
          </a:p>
        </p:txBody>
      </p:sp>
      <p:sp>
        <p:nvSpPr>
          <p:cNvPr id="31" name="Milestone text 5"/>
          <p:cNvSpPr txBox="1"/>
          <p:nvPr/>
        </p:nvSpPr>
        <p:spPr>
          <a:xfrm>
            <a:off x="7205472" y="2212848"/>
            <a:ext cx="1389888" cy="786384"/>
          </a:xfrm>
          <a:prstGeom prst="rect">
            <a:avLst/>
          </a:prstGeom>
          <a:noFill/>
        </p:spPr>
        <p:txBody>
          <a:bodyPr wrap="square" lIns="0" rIns="0" tIns="0" bIns="0" anchor="t">
            <a:noAutofit/>
          </a:bodyPr>
          <a:lstStyle/>
          <a:p>
            <a:pPr algn="l">
              <a:spcAft>
                <a:spcPts val="400"/>
              </a:spcAft>
            </a:pPr>
            <a:r>
              <a:rPr sz="1200" b="0" lang="en-GB">
                <a:solidFill>
                  <a:schemeClr val="tx1"/>
                </a:solidFill>
              </a:rPr>
              <a:t>Open source: Robyn, PyMC-Marketing, Meridian</a:t>
            </a:r>
          </a:p>
        </p:txBody>
      </p:sp>
      <p:sp>
        <p:nvSpPr>
          <p:cNvPr id="32" name="Why now card body"/>
          <p:cNvSpPr/>
          <p:nvPr/>
        </p:nvSpPr>
        <p:spPr>
          <a:xfrm>
            <a:off x="457200" y="3611880"/>
            <a:ext cx="404622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Why now card header"/>
          <p:cNvSpPr/>
          <p:nvPr/>
        </p:nvSpPr>
        <p:spPr>
          <a:xfrm>
            <a:off x="457200" y="320040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Why now card heading"/>
          <p:cNvSpPr txBox="1"/>
          <p:nvPr/>
        </p:nvSpPr>
        <p:spPr>
          <a:xfrm>
            <a:off x="594360" y="320040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Why now</a:t>
            </a:r>
          </a:p>
        </p:txBody>
      </p:sp>
      <p:pic>
        <p:nvPicPr>
          <p:cNvPr id="35" name="Icon Why now card" descr=""/>
          <p:cNvPicPr>
            <a:picLocks noChangeAspect="1"/>
          </p:cNvPicPr>
          <p:nvPr/>
        </p:nvPicPr>
        <p:blipFill>
          <a:blip r:embed="rId3"/>
          <a:stretch>
            <a:fillRect/>
          </a:stretch>
        </p:blipFill>
        <p:spPr>
          <a:xfrm>
            <a:off x="4064508" y="3250692"/>
            <a:ext cx="310896" cy="310896"/>
          </a:xfrm>
          <a:prstGeom prst="rect">
            <a:avLst/>
          </a:prstGeom>
        </p:spPr>
      </p:pic>
      <p:sp>
        <p:nvSpPr>
          <p:cNvPr id="36" name="Why now card text"/>
          <p:cNvSpPr txBox="1"/>
          <p:nvPr/>
        </p:nvSpPr>
        <p:spPr>
          <a:xfrm>
            <a:off x="621792" y="3749040"/>
            <a:ext cx="3744468" cy="8229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GDPR, cookie loss and Apple's tracking rules weaken user-level tracking</a:t>
            </a:r>
          </a:p>
          <a:p>
            <a:pPr algn="l" marL="182880" indent="-182880">
              <a:spcAft>
                <a:spcPts val="600"/>
              </a:spcAft>
              <a:buClr>
                <a:schemeClr val="accent1"/>
              </a:buClr>
              <a:buFont typeface="Arial"/>
              <a:buChar char="▪"/>
            </a:pPr>
            <a:r>
              <a:rPr sz="1300" b="0" lang="en-GB">
                <a:solidFill>
                  <a:schemeClr val="tx1"/>
                </a:solidFill>
              </a:rPr>
              <a:t>MMM needs no personal data</a:t>
            </a:r>
          </a:p>
        </p:txBody>
      </p:sp>
      <p:sp>
        <p:nvSpPr>
          <p:cNvPr id="37" name="Adoption panel"/>
          <p:cNvSpPr/>
          <p:nvPr/>
        </p:nvSpPr>
        <p:spPr>
          <a:xfrm>
            <a:off x="4640580" y="3200400"/>
            <a:ext cx="404622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Adoption 1 bar"/>
          <p:cNvSpPr/>
          <p:nvPr/>
        </p:nvSpPr>
        <p:spPr>
          <a:xfrm>
            <a:off x="4777740" y="3291840"/>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Adoption 1 figure"/>
          <p:cNvSpPr txBox="1"/>
          <p:nvPr/>
        </p:nvSpPr>
        <p:spPr>
          <a:xfrm>
            <a:off x="4960620" y="3291840"/>
            <a:ext cx="1234440" cy="62179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64 %</a:t>
            </a:r>
          </a:p>
        </p:txBody>
      </p:sp>
      <p:sp>
        <p:nvSpPr>
          <p:cNvPr id="40" name="Adoption 1 label"/>
          <p:cNvSpPr txBox="1"/>
          <p:nvPr/>
        </p:nvSpPr>
        <p:spPr>
          <a:xfrm>
            <a:off x="6195060" y="3291840"/>
            <a:ext cx="2354580" cy="621792"/>
          </a:xfrm>
          <a:prstGeom prst="rect">
            <a:avLst/>
          </a:prstGeom>
          <a:noFill/>
        </p:spPr>
        <p:txBody>
          <a:bodyPr wrap="square" lIns="0" rIns="0" tIns="0" bIns="0" anchor="ctr">
            <a:noAutofit/>
          </a:bodyPr>
          <a:lstStyle/>
          <a:p>
            <a:pPr algn="l">
              <a:spcAft>
                <a:spcPts val="400"/>
              </a:spcAft>
            </a:pPr>
            <a:r>
              <a:rPr sz="1200" b="0" lang="en-GB">
                <a:solidFill>
                  <a:schemeClr val="tx1"/>
                </a:solidFill>
              </a:rPr>
              <a:t>of senior marketing leaders use MMM (Gartner 2024)</a:t>
            </a:r>
          </a:p>
        </p:txBody>
      </p:sp>
      <p:sp>
        <p:nvSpPr>
          <p:cNvPr id="41" name="Adoption 2 bar"/>
          <p:cNvSpPr/>
          <p:nvPr/>
        </p:nvSpPr>
        <p:spPr>
          <a:xfrm>
            <a:off x="4777740" y="3995928"/>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Adoption 2 figure"/>
          <p:cNvSpPr txBox="1"/>
          <p:nvPr/>
        </p:nvSpPr>
        <p:spPr>
          <a:xfrm>
            <a:off x="4960620" y="3995928"/>
            <a:ext cx="1234440" cy="62179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13 %</a:t>
            </a:r>
          </a:p>
        </p:txBody>
      </p:sp>
      <p:sp>
        <p:nvSpPr>
          <p:cNvPr id="43" name="Adoption 2 label"/>
          <p:cNvSpPr txBox="1"/>
          <p:nvPr/>
        </p:nvSpPr>
        <p:spPr>
          <a:xfrm>
            <a:off x="6195060" y="3995928"/>
            <a:ext cx="2354580" cy="621792"/>
          </a:xfrm>
          <a:prstGeom prst="rect">
            <a:avLst/>
          </a:prstGeom>
          <a:noFill/>
        </p:spPr>
        <p:txBody>
          <a:bodyPr wrap="square" lIns="0" rIns="0" tIns="0" bIns="0" anchor="ctr">
            <a:noAutofit/>
          </a:bodyPr>
          <a:lstStyle/>
          <a:p>
            <a:pPr algn="l">
              <a:spcAft>
                <a:spcPts val="400"/>
              </a:spcAft>
            </a:pPr>
            <a:r>
              <a:rPr sz="1200" b="0" lang="en-GB">
                <a:solidFill>
                  <a:schemeClr val="tx1"/>
                </a:solidFill>
              </a:rPr>
              <a:t>of advertisers turn it into insight quickly (WFA 2026)</a:t>
            </a:r>
          </a:p>
        </p:txBody>
      </p:sp>
      <p:sp>
        <p:nvSpPr>
          <p:cNvPr id="44"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Clarke 1976; Little 1979; Hanssens et al. 2001; Jin et al. 2017; Gartner 2024; WFA &amp; Ebiquity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5 · base and incremental sales, the equation, adstock, saturation, seasonality</a:t>
            </a:r>
          </a:p>
        </p:txBody>
      </p:sp>
      <p:sp>
        <p:nvSpPr>
          <p:cNvPr id="3" name="Title 2"/>
          <p:cNvSpPr>
            <a:spLocks noGrp="1"/>
          </p:cNvSpPr>
          <p:nvPr>
            <p:ph type="ctrTitle"/>
          </p:nvPr>
        </p:nvSpPr>
        <p:spPr/>
        <p:txBody>
          <a:bodyPr/>
          <a:lstStyle/>
          <a:p>
            <a:r>
              <a:rPr sz="1600" lang="en-GB"/>
              <a:t>How MMM works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Sales = base + incremental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mmm_decomposition.png" descr="Stacked area chart of weekly sales in Germany in 2025, split into a base of about 300 to 800 thousand units and a media part on top; the dashed line of actual sales follows the total closely, with a Christmas peak"/>
          <p:cNvPicPr>
            <a:picLocks noChangeAspect="1"/>
          </p:cNvPicPr>
          <p:nvPr/>
        </p:nvPicPr>
        <p:blipFill>
          <a:blip r:embed="rId3"/>
          <a:stretch>
            <a:fillRect/>
          </a:stretch>
        </p:blipFill>
        <p:spPr>
          <a:xfrm>
            <a:off x="457200" y="1234440"/>
            <a:ext cx="4937760" cy="3200400"/>
          </a:xfrm>
          <a:prstGeom prst="rect">
            <a:avLst/>
          </a:prstGeom>
        </p:spPr>
      </p:pic>
      <p:sp>
        <p:nvSpPr>
          <p:cNvPr id="11" name="Decomp row 1"/>
          <p:cNvSpPr/>
          <p:nvPr/>
        </p:nvSpPr>
        <p:spPr>
          <a:xfrm>
            <a:off x="5532120" y="1234440"/>
            <a:ext cx="3154680" cy="822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Decomp bar 1"/>
          <p:cNvSpPr/>
          <p:nvPr/>
        </p:nvSpPr>
        <p:spPr>
          <a:xfrm>
            <a:off x="5532120" y="123444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ecomp text 1"/>
          <p:cNvSpPr txBox="1"/>
          <p:nvPr/>
        </p:nvSpPr>
        <p:spPr>
          <a:xfrm>
            <a:off x="5715000" y="1234440"/>
            <a:ext cx="2898648" cy="822960"/>
          </a:xfrm>
          <a:prstGeom prst="rect">
            <a:avLst/>
          </a:prstGeom>
          <a:noFill/>
        </p:spPr>
        <p:txBody>
          <a:bodyPr wrap="square" lIns="0" rIns="0" tIns="0" bIns="0" anchor="ctr">
            <a:noAutofit/>
          </a:bodyPr>
          <a:lstStyle/>
          <a:p>
            <a:pPr algn="l">
              <a:spcAft>
                <a:spcPts val="400"/>
              </a:spcAft>
            </a:pPr>
            <a:r>
              <a:rPr sz="1200" b="1" lang="en-GB">
                <a:solidFill>
                  <a:schemeClr val="tx2"/>
                </a:solidFill>
              </a:rPr>
              <a:t>Base: </a:t>
            </a:r>
            <a:r>
              <a:rPr sz="1200" b="0" lang="en-GB">
                <a:solidFill>
                  <a:schemeClr val="tx1"/>
                </a:solidFill>
              </a:rPr>
              <a:t>what would sell without media: price, distribution, season, trend</a:t>
            </a:r>
          </a:p>
        </p:txBody>
      </p:sp>
      <p:sp>
        <p:nvSpPr>
          <p:cNvPr id="14" name="Decomp row 2"/>
          <p:cNvSpPr/>
          <p:nvPr/>
        </p:nvSpPr>
        <p:spPr>
          <a:xfrm>
            <a:off x="5532120" y="2148840"/>
            <a:ext cx="3154680" cy="822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ecomp bar 2"/>
          <p:cNvSpPr/>
          <p:nvPr/>
        </p:nvSpPr>
        <p:spPr>
          <a:xfrm>
            <a:off x="5532120" y="214884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ecomp text 2"/>
          <p:cNvSpPr txBox="1"/>
          <p:nvPr/>
        </p:nvSpPr>
        <p:spPr>
          <a:xfrm>
            <a:off x="5715000" y="2148840"/>
            <a:ext cx="2898648" cy="822960"/>
          </a:xfrm>
          <a:prstGeom prst="rect">
            <a:avLst/>
          </a:prstGeom>
          <a:noFill/>
        </p:spPr>
        <p:txBody>
          <a:bodyPr wrap="square" lIns="0" rIns="0" tIns="0" bIns="0" anchor="ctr">
            <a:noAutofit/>
          </a:bodyPr>
          <a:lstStyle/>
          <a:p>
            <a:pPr algn="l">
              <a:spcAft>
                <a:spcPts val="400"/>
              </a:spcAft>
            </a:pPr>
            <a:r>
              <a:rPr sz="1200" b="1" lang="en-GB">
                <a:solidFill>
                  <a:schemeClr val="tx2"/>
                </a:solidFill>
              </a:rPr>
              <a:t>Incremental: </a:t>
            </a:r>
            <a:r>
              <a:rPr sz="1200" b="0" lang="en-GB">
                <a:solidFill>
                  <a:schemeClr val="tx1"/>
                </a:solidFill>
              </a:rPr>
              <a:t>what media add on top, channel by channel</a:t>
            </a:r>
          </a:p>
        </p:txBody>
      </p:sp>
      <p:sp>
        <p:nvSpPr>
          <p:cNvPr id="17" name="Decomp row 3"/>
          <p:cNvSpPr/>
          <p:nvPr/>
        </p:nvSpPr>
        <p:spPr>
          <a:xfrm>
            <a:off x="5532120" y="3063240"/>
            <a:ext cx="3154680" cy="822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ecomp bar 3"/>
          <p:cNvSpPr/>
          <p:nvPr/>
        </p:nvSpPr>
        <p:spPr>
          <a:xfrm>
            <a:off x="5532120" y="306324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ecomp text 3"/>
          <p:cNvSpPr txBox="1"/>
          <p:nvPr/>
        </p:nvSpPr>
        <p:spPr>
          <a:xfrm>
            <a:off x="5715000" y="3063240"/>
            <a:ext cx="2898648" cy="822960"/>
          </a:xfrm>
          <a:prstGeom prst="rect">
            <a:avLst/>
          </a:prstGeom>
          <a:noFill/>
        </p:spPr>
        <p:txBody>
          <a:bodyPr wrap="square" lIns="0" rIns="0" tIns="0" bIns="0" anchor="ctr">
            <a:noAutofit/>
          </a:bodyPr>
          <a:lstStyle/>
          <a:p>
            <a:pPr algn="l">
              <a:spcAft>
                <a:spcPts val="400"/>
              </a:spcAft>
            </a:pPr>
            <a:r>
              <a:rPr sz="1200" b="1" lang="en-GB">
                <a:solidFill>
                  <a:schemeClr val="tx2"/>
                </a:solidFill>
              </a:rPr>
              <a:t>Contribution: </a:t>
            </a:r>
            <a:r>
              <a:rPr sz="1200" b="0" lang="en-GB">
                <a:solidFill>
                  <a:schemeClr val="tx1"/>
                </a:solidFill>
              </a:rPr>
              <a:t>the sales that would disappear if a channel were switched off</a:t>
            </a:r>
          </a:p>
        </p:txBody>
      </p:sp>
      <p:sp>
        <p:nvSpPr>
          <p:cNvPr id="20" name="Decomp share box"/>
          <p:cNvSpPr/>
          <p:nvPr/>
        </p:nvSpPr>
        <p:spPr>
          <a:xfrm>
            <a:off x="5532120" y="3977640"/>
            <a:ext cx="315468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ecomp share text"/>
          <p:cNvSpPr txBox="1"/>
          <p:nvPr/>
        </p:nvSpPr>
        <p:spPr>
          <a:xfrm>
            <a:off x="5669280" y="3977640"/>
            <a:ext cx="29718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Naive model: </a:t>
            </a:r>
            <a:r>
              <a:rPr sz="1200" b="0" lang="en-GB">
                <a:solidFill>
                  <a:schemeClr val="bg1"/>
                </a:solidFill>
              </a:rPr>
              <a:t>media ≈ 41 %, too high</a:t>
            </a:r>
          </a:p>
        </p:txBody>
      </p:sp>
      <p:sp>
        <p:nvSpPr>
          <p:cNvPr id="22" name="Decomp caption"/>
          <p:cNvSpPr txBox="1"/>
          <p:nvPr/>
        </p:nvSpPr>
        <p:spPr>
          <a:xfrm>
            <a:off x="457200" y="4526280"/>
            <a:ext cx="8229600" cy="292608"/>
          </a:xfrm>
          <a:prstGeom prst="rect">
            <a:avLst/>
          </a:prstGeom>
          <a:noFill/>
        </p:spPr>
        <p:txBody>
          <a:bodyPr wrap="square" lIns="0" rIns="0" tIns="0" bIns="0" anchor="ctr">
            <a:noAutofit/>
          </a:bodyPr>
          <a:lstStyle/>
          <a:p>
            <a:pPr algn="l">
              <a:spcAft>
                <a:spcPts val="400"/>
              </a:spcAft>
            </a:pPr>
            <a:r>
              <a:rPr sz="1100" b="0" lang="en-GB">
                <a:solidFill>
                  <a:srgbClr val="595959"/>
                </a:solidFill>
              </a:rPr>
              <a:t>Alpenglow Germany, 2025, naive regression: budgets follow Christmas demand, so media get credit for seasonal sales (see the pitfalls slide).</a:t>
            </a:r>
          </a:p>
        </p:txBody>
      </p:sp>
      <p:sp>
        <p:nvSpPr>
          <p:cNvPr id="2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Hanssens et al. 2001; Jin et al. 2017; own calculation on the Alpenglow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regression behind 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ipeline step 1"/>
          <p:cNvSpPr/>
          <p:nvPr/>
        </p:nvSpPr>
        <p:spPr>
          <a:xfrm>
            <a:off x="457200" y="1234440"/>
            <a:ext cx="1733702" cy="603504"/>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Spend per</a:t>
            </a:r>
            <a:br/>
            <a:r>
              <a:rPr sz="1100" b="1" lang="en-GB">
                <a:solidFill>
                  <a:schemeClr val="tx2"/>
                </a:solidFill>
              </a:rPr>
              <a:t>channel</a:t>
            </a:r>
          </a:p>
        </p:txBody>
      </p:sp>
      <p:sp>
        <p:nvSpPr>
          <p:cNvPr id="11" name="Pipeline step 2"/>
          <p:cNvSpPr/>
          <p:nvPr/>
        </p:nvSpPr>
        <p:spPr>
          <a:xfrm>
            <a:off x="2081174" y="1234440"/>
            <a:ext cx="1733702" cy="603504"/>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Adstock:</a:t>
            </a:r>
            <a:br/>
            <a:r>
              <a:rPr sz="1100" b="1" lang="en-GB">
                <a:solidFill>
                  <a:schemeClr val="tx2"/>
                </a:solidFill>
              </a:rPr>
              <a:t>carryover</a:t>
            </a:r>
          </a:p>
        </p:txBody>
      </p:sp>
      <p:sp>
        <p:nvSpPr>
          <p:cNvPr id="12" name="Pipeline step 3"/>
          <p:cNvSpPr/>
          <p:nvPr/>
        </p:nvSpPr>
        <p:spPr>
          <a:xfrm>
            <a:off x="3705149" y="1234440"/>
            <a:ext cx="1733702" cy="603504"/>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Saturation:</a:t>
            </a:r>
            <a:br/>
            <a:r>
              <a:rPr sz="1100" b="1" lang="en-GB">
                <a:solidFill>
                  <a:schemeClr val="tx2"/>
                </a:solidFill>
              </a:rPr>
              <a:t>less per €</a:t>
            </a:r>
          </a:p>
        </p:txBody>
      </p:sp>
      <p:sp>
        <p:nvSpPr>
          <p:cNvPr id="13" name="Pipeline step 4"/>
          <p:cNvSpPr/>
          <p:nvPr/>
        </p:nvSpPr>
        <p:spPr>
          <a:xfrm>
            <a:off x="5329123" y="1234440"/>
            <a:ext cx="1733702" cy="603504"/>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 β:</a:t>
            </a:r>
            <a:br/>
            <a:r>
              <a:rPr sz="1100" b="1" lang="en-GB">
                <a:solidFill>
                  <a:schemeClr val="tx2"/>
                </a:solidFill>
              </a:rPr>
              <a:t>the effect</a:t>
            </a:r>
          </a:p>
        </p:txBody>
      </p:sp>
      <p:sp>
        <p:nvSpPr>
          <p:cNvPr id="14" name="Pipeline step 5"/>
          <p:cNvSpPr/>
          <p:nvPr/>
        </p:nvSpPr>
        <p:spPr>
          <a:xfrm>
            <a:off x="6953098" y="1234440"/>
            <a:ext cx="1733702" cy="603504"/>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Sales</a:t>
            </a:r>
            <a:br/>
            <a:r>
              <a:rPr sz="1100" b="1" lang="en-GB">
                <a:solidFill>
                  <a:schemeClr val="tx2"/>
                </a:solidFill>
              </a:rPr>
              <a:t>contribution</a:t>
            </a:r>
          </a:p>
        </p:txBody>
      </p:sp>
      <p:sp>
        <p:nvSpPr>
          <p:cNvPr id="15" name="Form 1 header"/>
          <p:cNvSpPr/>
          <p:nvPr/>
        </p:nvSpPr>
        <p:spPr>
          <a:xfrm>
            <a:off x="457200" y="20116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orm 1 heading"/>
          <p:cNvSpPr txBox="1"/>
          <p:nvPr/>
        </p:nvSpPr>
        <p:spPr>
          <a:xfrm>
            <a:off x="594360" y="2011680"/>
            <a:ext cx="377190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Additive form</a:t>
            </a:r>
          </a:p>
        </p:txBody>
      </p:sp>
      <p:sp>
        <p:nvSpPr>
          <p:cNvPr id="17" name="Form 1 equation box"/>
          <p:cNvSpPr/>
          <p:nvPr/>
        </p:nvSpPr>
        <p:spPr>
          <a:xfrm>
            <a:off x="457200" y="2423160"/>
            <a:ext cx="404622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Form 1 equation code"/>
          <p:cNvSpPr txBox="1"/>
          <p:nvPr/>
        </p:nvSpPr>
        <p:spPr>
          <a:xfrm>
            <a:off x="594360" y="2514600"/>
            <a:ext cx="3771900" cy="59436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sales_t = β0 + Σ βc·f(spend_c,t)</a:t>
            </a:r>
          </a:p>
          <a:p>
            <a:pPr algn="l">
              <a:spcAft>
                <a:spcPts val="0"/>
              </a:spcAft>
            </a:pPr>
            <a:r>
              <a:rPr sz="1100" b="0" lang="en-GB">
                <a:solidFill>
                  <a:schemeClr val="bg1"/>
                </a:solidFill>
                <a:latin typeface="Consolas"/>
              </a:rPr>
              <a:t>          + γ·controls_t + ε_t</a:t>
            </a:r>
          </a:p>
        </p:txBody>
      </p:sp>
      <p:sp>
        <p:nvSpPr>
          <p:cNvPr id="19" name="Form 1 body"/>
          <p:cNvSpPr/>
          <p:nvPr/>
        </p:nvSpPr>
        <p:spPr>
          <a:xfrm>
            <a:off x="457200" y="32004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orm 1 text"/>
          <p:cNvSpPr txBox="1"/>
          <p:nvPr/>
        </p:nvSpPr>
        <p:spPr>
          <a:xfrm>
            <a:off x="621792" y="3273552"/>
            <a:ext cx="3744468" cy="822960"/>
          </a:xfrm>
          <a:prstGeom prst="rect">
            <a:avLst/>
          </a:prstGeom>
          <a:noFill/>
        </p:spPr>
        <p:txBody>
          <a:bodyPr wrap="square" lIns="0" rIns="0" tIns="0" bIns="0" anchor="t">
            <a:noAutofit/>
          </a:bodyPr>
          <a:lstStyle/>
          <a:p>
            <a:pPr algn="l" marL="182880" indent="-182880">
              <a:spcAft>
                <a:spcPts val="400"/>
              </a:spcAft>
              <a:buClr>
                <a:schemeClr val="accent1"/>
              </a:buClr>
              <a:buFont typeface="Arial"/>
              <a:buChar char="▪"/>
            </a:pPr>
            <a:r>
              <a:rPr sz="1200" b="1" lang="en-GB">
                <a:solidFill>
                  <a:schemeClr val="tx2"/>
                </a:solidFill>
              </a:rPr>
              <a:t>βc: </a:t>
            </a:r>
            <a:r>
              <a:rPr sz="1200" b="0" lang="en-GB">
                <a:solidFill>
                  <a:schemeClr val="tx1"/>
                </a:solidFill>
              </a:rPr>
              <a:t>extra units per unit of transformed spend</a:t>
            </a:r>
          </a:p>
          <a:p>
            <a:pPr algn="l" marL="182880" indent="-182880">
              <a:spcAft>
                <a:spcPts val="400"/>
              </a:spcAft>
              <a:buClr>
                <a:schemeClr val="accent1"/>
              </a:buClr>
              <a:buFont typeface="Arial"/>
              <a:buChar char="▪"/>
            </a:pPr>
            <a:r>
              <a:rPr sz="1200" b="1" lang="en-GB">
                <a:solidFill>
                  <a:schemeClr val="tx2"/>
                </a:solidFill>
              </a:rPr>
              <a:t>Good for: </a:t>
            </a:r>
            <a:r>
              <a:rPr sz="1200" b="0" lang="en-GB">
                <a:solidFill>
                  <a:schemeClr val="tx1"/>
                </a:solidFill>
              </a:rPr>
              <a:t>contributions in units or euros</a:t>
            </a:r>
          </a:p>
        </p:txBody>
      </p:sp>
      <p:sp>
        <p:nvSpPr>
          <p:cNvPr id="21" name="Form 2 header"/>
          <p:cNvSpPr/>
          <p:nvPr/>
        </p:nvSpPr>
        <p:spPr>
          <a:xfrm>
            <a:off x="4640580" y="20116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Form 2 heading"/>
          <p:cNvSpPr txBox="1"/>
          <p:nvPr/>
        </p:nvSpPr>
        <p:spPr>
          <a:xfrm>
            <a:off x="4777740" y="2011680"/>
            <a:ext cx="377190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Log-log form</a:t>
            </a:r>
          </a:p>
        </p:txBody>
      </p:sp>
      <p:sp>
        <p:nvSpPr>
          <p:cNvPr id="23" name="Form 2 equation box"/>
          <p:cNvSpPr/>
          <p:nvPr/>
        </p:nvSpPr>
        <p:spPr>
          <a:xfrm>
            <a:off x="4640580" y="2423160"/>
            <a:ext cx="404622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orm 2 equation code"/>
          <p:cNvSpPr txBox="1"/>
          <p:nvPr/>
        </p:nvSpPr>
        <p:spPr>
          <a:xfrm>
            <a:off x="4777740" y="2514600"/>
            <a:ext cx="3771900" cy="59436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ln sales_t = β0 + βp·ln price_t</a:t>
            </a:r>
          </a:p>
          <a:p>
            <a:pPr algn="l">
              <a:spcAft>
                <a:spcPts val="0"/>
              </a:spcAft>
            </a:pPr>
            <a:r>
              <a:rPr sz="1100" b="0" lang="en-GB">
                <a:solidFill>
                  <a:schemeClr val="bg1"/>
                </a:solidFill>
                <a:latin typeface="Consolas"/>
              </a:rPr>
              <a:t>   + Σ βc·ln(1 + adstock_c,t) + … + ε_t</a:t>
            </a:r>
          </a:p>
        </p:txBody>
      </p:sp>
      <p:sp>
        <p:nvSpPr>
          <p:cNvPr id="25" name="Form 2 body"/>
          <p:cNvSpPr/>
          <p:nvPr/>
        </p:nvSpPr>
        <p:spPr>
          <a:xfrm>
            <a:off x="4640580" y="32004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Form 2 text"/>
          <p:cNvSpPr txBox="1"/>
          <p:nvPr/>
        </p:nvSpPr>
        <p:spPr>
          <a:xfrm>
            <a:off x="4805172" y="3273552"/>
            <a:ext cx="3744468" cy="822960"/>
          </a:xfrm>
          <a:prstGeom prst="rect">
            <a:avLst/>
          </a:prstGeom>
          <a:noFill/>
        </p:spPr>
        <p:txBody>
          <a:bodyPr wrap="square" lIns="0" rIns="0" tIns="0" bIns="0" anchor="t">
            <a:noAutofit/>
          </a:bodyPr>
          <a:lstStyle/>
          <a:p>
            <a:pPr algn="l" marL="182880" indent="-182880">
              <a:spcAft>
                <a:spcPts val="400"/>
              </a:spcAft>
              <a:buClr>
                <a:schemeClr val="accent1"/>
              </a:buClr>
              <a:buFont typeface="Arial"/>
              <a:buChar char="▪"/>
            </a:pPr>
            <a:r>
              <a:rPr sz="1200" b="1" lang="en-GB">
                <a:solidFill>
                  <a:schemeClr val="tx2"/>
                </a:solidFill>
              </a:rPr>
              <a:t>β: </a:t>
            </a:r>
            <a:r>
              <a:rPr sz="1200" b="0" lang="en-GB">
                <a:solidFill>
                  <a:schemeClr val="tx1"/>
                </a:solidFill>
              </a:rPr>
              <a:t>elasticity, % change in sales per 1 % change</a:t>
            </a:r>
          </a:p>
          <a:p>
            <a:pPr algn="l" marL="182880" indent="-182880">
              <a:spcAft>
                <a:spcPts val="400"/>
              </a:spcAft>
              <a:buClr>
                <a:schemeClr val="accent1"/>
              </a:buClr>
              <a:buFont typeface="Arial"/>
              <a:buChar char="▪"/>
            </a:pPr>
            <a:r>
              <a:rPr sz="1200" b="1" lang="en-GB">
                <a:solidFill>
                  <a:schemeClr val="tx2"/>
                </a:solidFill>
              </a:rPr>
              <a:t>Good for: </a:t>
            </a:r>
            <a:r>
              <a:rPr sz="1200" b="0" lang="en-GB">
                <a:solidFill>
                  <a:schemeClr val="tx1"/>
                </a:solidFill>
              </a:rPr>
              <a:t>comparing countries and drivers</a:t>
            </a:r>
          </a:p>
        </p:txBody>
      </p:sp>
      <p:sp>
        <p:nvSpPr>
          <p:cNvPr id="27" name="Controls box"/>
          <p:cNvSpPr/>
          <p:nvPr/>
        </p:nvSpPr>
        <p:spPr>
          <a:xfrm>
            <a:off x="457200" y="425196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Controls" descr=""/>
          <p:cNvPicPr>
            <a:picLocks noChangeAspect="1"/>
          </p:cNvPicPr>
          <p:nvPr/>
        </p:nvPicPr>
        <p:blipFill>
          <a:blip r:embed="rId3"/>
          <a:stretch>
            <a:fillRect/>
          </a:stretch>
        </p:blipFill>
        <p:spPr>
          <a:xfrm>
            <a:off x="658368" y="4343400"/>
            <a:ext cx="365760" cy="365760"/>
          </a:xfrm>
          <a:prstGeom prst="rect">
            <a:avLst/>
          </a:prstGeom>
        </p:spPr>
      </p:pic>
      <p:sp>
        <p:nvSpPr>
          <p:cNvPr id="29" name="Controls text"/>
          <p:cNvSpPr txBox="1"/>
          <p:nvPr/>
        </p:nvSpPr>
        <p:spPr>
          <a:xfrm>
            <a:off x="1207008" y="425196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Controls: </a:t>
            </a:r>
            <a:r>
              <a:rPr sz="1200" b="0" lang="en-GB">
                <a:solidFill>
                  <a:schemeClr val="tx1"/>
                </a:solidFill>
              </a:rPr>
              <a:t>price, promotion, distribution, trend, season, holidays, weather, economy, competitor spend.</a:t>
            </a:r>
          </a:p>
        </p:txBody>
      </p:sp>
      <p:sp>
        <p:nvSpPr>
          <p:cNvPr id="3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Hanssens et al. 2001; Tellis 2006; Jin et al. 2017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Adstock: advertising keeps working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mmm_adstock.png" descr="Line chart: a spend of 100 in week 1 decays to 30 in week 2 and almost zero by week 5 with decay 0.3, and to 70, 49, 34 and so on with decay 0.7, still about 2 in week 12"/>
          <p:cNvPicPr>
            <a:picLocks noChangeAspect="1"/>
          </p:cNvPicPr>
          <p:nvPr/>
        </p:nvPicPr>
        <p:blipFill>
          <a:blip r:embed="rId3"/>
          <a:stretch>
            <a:fillRect/>
          </a:stretch>
        </p:blipFill>
        <p:spPr>
          <a:xfrm>
            <a:off x="457200" y="1234440"/>
            <a:ext cx="4754880" cy="3017520"/>
          </a:xfrm>
          <a:prstGeom prst="rect">
            <a:avLst/>
          </a:prstGeom>
        </p:spPr>
      </p:pic>
      <p:sp>
        <p:nvSpPr>
          <p:cNvPr id="11" name="Adstock formula caption bar"/>
          <p:cNvSpPr/>
          <p:nvPr/>
        </p:nvSpPr>
        <p:spPr>
          <a:xfrm>
            <a:off x="5394960" y="1234440"/>
            <a:ext cx="32918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dstock formula caption"/>
          <p:cNvSpPr txBox="1"/>
          <p:nvPr/>
        </p:nvSpPr>
        <p:spPr>
          <a:xfrm>
            <a:off x="5504688" y="1234440"/>
            <a:ext cx="30723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Geometric adstock</a:t>
            </a:r>
          </a:p>
        </p:txBody>
      </p:sp>
      <p:sp>
        <p:nvSpPr>
          <p:cNvPr id="13" name="Adstock formula box"/>
          <p:cNvSpPr/>
          <p:nvPr/>
        </p:nvSpPr>
        <p:spPr>
          <a:xfrm>
            <a:off x="5394960" y="1508760"/>
            <a:ext cx="329184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Adstock formula code"/>
          <p:cNvSpPr txBox="1"/>
          <p:nvPr/>
        </p:nvSpPr>
        <p:spPr>
          <a:xfrm>
            <a:off x="5532120" y="1600200"/>
            <a:ext cx="301752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A_t = spend_t + λ·A_(t−1)</a:t>
            </a:r>
          </a:p>
        </p:txBody>
      </p:sp>
      <p:sp>
        <p:nvSpPr>
          <p:cNvPr id="15" name="Adstock row 1"/>
          <p:cNvSpPr/>
          <p:nvPr/>
        </p:nvSpPr>
        <p:spPr>
          <a:xfrm>
            <a:off x="5394960" y="2148840"/>
            <a:ext cx="329184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dstock bar 1"/>
          <p:cNvSpPr/>
          <p:nvPr/>
        </p:nvSpPr>
        <p:spPr>
          <a:xfrm>
            <a:off x="5394960" y="214884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dstock text 1"/>
          <p:cNvSpPr txBox="1"/>
          <p:nvPr/>
        </p:nvSpPr>
        <p:spPr>
          <a:xfrm>
            <a:off x="5577840" y="2148840"/>
            <a:ext cx="304495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λ (decay): </a:t>
            </a:r>
            <a:r>
              <a:rPr sz="1200" b="0" lang="en-GB">
                <a:solidFill>
                  <a:schemeClr val="tx1"/>
                </a:solidFill>
              </a:rPr>
              <a:t>share of last week's pressure that carries over</a:t>
            </a:r>
          </a:p>
        </p:txBody>
      </p:sp>
      <p:sp>
        <p:nvSpPr>
          <p:cNvPr id="18" name="Adstock row 2"/>
          <p:cNvSpPr/>
          <p:nvPr/>
        </p:nvSpPr>
        <p:spPr>
          <a:xfrm>
            <a:off x="5394960" y="2862072"/>
            <a:ext cx="329184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Adstock bar 2"/>
          <p:cNvSpPr/>
          <p:nvPr/>
        </p:nvSpPr>
        <p:spPr>
          <a:xfrm>
            <a:off x="5394960" y="2862072"/>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dstock text 2"/>
          <p:cNvSpPr txBox="1"/>
          <p:nvPr/>
        </p:nvSpPr>
        <p:spPr>
          <a:xfrm>
            <a:off x="5577840" y="2862072"/>
            <a:ext cx="304495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Half-life: </a:t>
            </a:r>
            <a:r>
              <a:rPr sz="1200" b="0" lang="en-GB">
                <a:solidFill>
                  <a:schemeClr val="tx1"/>
                </a:solidFill>
              </a:rPr>
              <a:t>ln 0.5 / ln λ = 0.6 or 1.9 weeks here</a:t>
            </a:r>
          </a:p>
        </p:txBody>
      </p:sp>
      <p:sp>
        <p:nvSpPr>
          <p:cNvPr id="21" name="Adstock row 3"/>
          <p:cNvSpPr/>
          <p:nvPr/>
        </p:nvSpPr>
        <p:spPr>
          <a:xfrm>
            <a:off x="5394960" y="3575304"/>
            <a:ext cx="329184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dstock bar 3"/>
          <p:cNvSpPr/>
          <p:nvPr/>
        </p:nvSpPr>
        <p:spPr>
          <a:xfrm>
            <a:off x="5394960" y="3575304"/>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dstock text 3"/>
          <p:cNvSpPr txBox="1"/>
          <p:nvPr/>
        </p:nvSpPr>
        <p:spPr>
          <a:xfrm>
            <a:off x="5577840" y="3575304"/>
            <a:ext cx="304495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Total effect: </a:t>
            </a:r>
            <a:r>
              <a:rPr sz="1200" b="0" lang="en-GB">
                <a:solidFill>
                  <a:schemeClr val="tx1"/>
                </a:solidFill>
              </a:rPr>
              <a:t>1/(1−λ) × week 1: 1.4× versus 3.3×</a:t>
            </a:r>
          </a:p>
        </p:txBody>
      </p:sp>
      <p:sp>
        <p:nvSpPr>
          <p:cNvPr id="24" name="Adstock why box"/>
          <p:cNvSpPr/>
          <p:nvPr/>
        </p:nvSpPr>
        <p:spPr>
          <a:xfrm>
            <a:off x="457200" y="438912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Adstock why" descr=""/>
          <p:cNvPicPr>
            <a:picLocks noChangeAspect="1"/>
          </p:cNvPicPr>
          <p:nvPr/>
        </p:nvPicPr>
        <p:blipFill>
          <a:blip r:embed="rId4"/>
          <a:stretch>
            <a:fillRect/>
          </a:stretch>
        </p:blipFill>
        <p:spPr>
          <a:xfrm>
            <a:off x="658368" y="4411980"/>
            <a:ext cx="365760" cy="365760"/>
          </a:xfrm>
          <a:prstGeom prst="rect">
            <a:avLst/>
          </a:prstGeom>
        </p:spPr>
      </p:pic>
      <p:sp>
        <p:nvSpPr>
          <p:cNvPr id="26" name="Adstock why text"/>
          <p:cNvSpPr txBox="1"/>
          <p:nvPr/>
        </p:nvSpPr>
        <p:spPr>
          <a:xfrm>
            <a:off x="1207008" y="4389120"/>
            <a:ext cx="7315200"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Without adstock, </a:t>
            </a:r>
            <a:r>
              <a:rPr sz="1200" b="0" lang="en-GB">
                <a:solidFill>
                  <a:schemeClr val="bg1"/>
                </a:solidFill>
              </a:rPr>
              <a:t>the weeks after a campaign are credited to whatever else happened then.</a:t>
            </a:r>
          </a:p>
        </p:txBody>
      </p:sp>
      <p:sp>
        <p:nvSpPr>
          <p:cNvPr id="27"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Little 1979; Jin et al. 2017; Robyn documentation (geometric and Weibull adstock)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Saturation: each extra euro buys less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mmm_saturation.png" descr="S-shaped curve of extra sales against weekly spend from 0 to 200 thousand euros, flattening towards 120 thousand units; the next 10 thousand euros add 13 thousand units at 30 thousand euros spend but only 1.8 thousand at 150"/>
          <p:cNvPicPr>
            <a:picLocks noChangeAspect="1"/>
          </p:cNvPicPr>
          <p:nvPr/>
        </p:nvPicPr>
        <p:blipFill>
          <a:blip r:embed="rId3"/>
          <a:stretch>
            <a:fillRect/>
          </a:stretch>
        </p:blipFill>
        <p:spPr>
          <a:xfrm>
            <a:off x="457200" y="1234440"/>
            <a:ext cx="4754880" cy="3017520"/>
          </a:xfrm>
          <a:prstGeom prst="rect">
            <a:avLst/>
          </a:prstGeom>
        </p:spPr>
      </p:pic>
      <p:sp>
        <p:nvSpPr>
          <p:cNvPr id="11" name="Hill formula caption bar"/>
          <p:cNvSpPr/>
          <p:nvPr/>
        </p:nvSpPr>
        <p:spPr>
          <a:xfrm>
            <a:off x="5394960" y="1234440"/>
            <a:ext cx="32918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Hill formula caption"/>
          <p:cNvSpPr txBox="1"/>
          <p:nvPr/>
        </p:nvSpPr>
        <p:spPr>
          <a:xfrm>
            <a:off x="5504688" y="1234440"/>
            <a:ext cx="30723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Hill saturation</a:t>
            </a:r>
          </a:p>
        </p:txBody>
      </p:sp>
      <p:sp>
        <p:nvSpPr>
          <p:cNvPr id="13" name="Hill formula box"/>
          <p:cNvSpPr/>
          <p:nvPr/>
        </p:nvSpPr>
        <p:spPr>
          <a:xfrm>
            <a:off x="5394960" y="1508760"/>
            <a:ext cx="329184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Hill formula code"/>
          <p:cNvSpPr txBox="1"/>
          <p:nvPr/>
        </p:nvSpPr>
        <p:spPr>
          <a:xfrm>
            <a:off x="5532120" y="1600200"/>
            <a:ext cx="301752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Hill(x) = x^s / (x^s + K^s)</a:t>
            </a:r>
          </a:p>
        </p:txBody>
      </p:sp>
      <p:sp>
        <p:nvSpPr>
          <p:cNvPr id="15" name="Hill row 1"/>
          <p:cNvSpPr/>
          <p:nvPr/>
        </p:nvSpPr>
        <p:spPr>
          <a:xfrm>
            <a:off x="5394960" y="2148840"/>
            <a:ext cx="329184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Hill bar 1"/>
          <p:cNvSpPr/>
          <p:nvPr/>
        </p:nvSpPr>
        <p:spPr>
          <a:xfrm>
            <a:off x="5394960" y="214884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Hill text 1"/>
          <p:cNvSpPr txBox="1"/>
          <p:nvPr/>
        </p:nvSpPr>
        <p:spPr>
          <a:xfrm>
            <a:off x="5577840" y="2148840"/>
            <a:ext cx="304495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K: </a:t>
            </a:r>
            <a:r>
              <a:rPr sz="1200" b="0" lang="en-GB">
                <a:solidFill>
                  <a:schemeClr val="tx1"/>
                </a:solidFill>
              </a:rPr>
              <a:t>spend at half the maximum effect</a:t>
            </a:r>
          </a:p>
        </p:txBody>
      </p:sp>
      <p:sp>
        <p:nvSpPr>
          <p:cNvPr id="18" name="Hill row 2"/>
          <p:cNvSpPr/>
          <p:nvPr/>
        </p:nvSpPr>
        <p:spPr>
          <a:xfrm>
            <a:off x="5394960" y="2862072"/>
            <a:ext cx="329184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Hill bar 2"/>
          <p:cNvSpPr/>
          <p:nvPr/>
        </p:nvSpPr>
        <p:spPr>
          <a:xfrm>
            <a:off x="5394960" y="2862072"/>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Hill text 2"/>
          <p:cNvSpPr txBox="1"/>
          <p:nvPr/>
        </p:nvSpPr>
        <p:spPr>
          <a:xfrm>
            <a:off x="5577840" y="2862072"/>
            <a:ext cx="304495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s: </a:t>
            </a:r>
            <a:r>
              <a:rPr sz="1200" b="0" lang="en-GB">
                <a:solidFill>
                  <a:schemeClr val="tx1"/>
                </a:solidFill>
              </a:rPr>
              <a:t>shape; above 1 gives an S-curve</a:t>
            </a:r>
          </a:p>
        </p:txBody>
      </p:sp>
      <p:sp>
        <p:nvSpPr>
          <p:cNvPr id="21" name="Hill row 3"/>
          <p:cNvSpPr/>
          <p:nvPr/>
        </p:nvSpPr>
        <p:spPr>
          <a:xfrm>
            <a:off x="5394960" y="3575304"/>
            <a:ext cx="329184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Hill bar 3"/>
          <p:cNvSpPr/>
          <p:nvPr/>
        </p:nvSpPr>
        <p:spPr>
          <a:xfrm>
            <a:off x="5394960" y="3575304"/>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Hill text 3"/>
          <p:cNvSpPr txBox="1"/>
          <p:nvPr/>
        </p:nvSpPr>
        <p:spPr>
          <a:xfrm>
            <a:off x="5577840" y="3575304"/>
            <a:ext cx="304495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Marginal ROAS: </a:t>
            </a:r>
            <a:r>
              <a:rPr sz="1200" b="0" lang="en-GB">
                <a:solidFill>
                  <a:schemeClr val="tx1"/>
                </a:solidFill>
              </a:rPr>
              <a:t>revenue from the next euro, the slope of the curve</a:t>
            </a:r>
          </a:p>
        </p:txBody>
      </p:sp>
      <p:sp>
        <p:nvSpPr>
          <p:cNvPr id="24" name="Hill why box"/>
          <p:cNvSpPr/>
          <p:nvPr/>
        </p:nvSpPr>
        <p:spPr>
          <a:xfrm>
            <a:off x="457200" y="438912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Hill why" descr=""/>
          <p:cNvPicPr>
            <a:picLocks noChangeAspect="1"/>
          </p:cNvPicPr>
          <p:nvPr/>
        </p:nvPicPr>
        <p:blipFill>
          <a:blip r:embed="rId4"/>
          <a:stretch>
            <a:fillRect/>
          </a:stretch>
        </p:blipFill>
        <p:spPr>
          <a:xfrm>
            <a:off x="658368" y="4411980"/>
            <a:ext cx="365760" cy="365760"/>
          </a:xfrm>
          <a:prstGeom prst="rect">
            <a:avLst/>
          </a:prstGeom>
        </p:spPr>
      </p:pic>
      <p:sp>
        <p:nvSpPr>
          <p:cNvPr id="26" name="Hill why text"/>
          <p:cNvSpPr txBox="1"/>
          <p:nvPr/>
        </p:nvSpPr>
        <p:spPr>
          <a:xfrm>
            <a:off x="1207008" y="4389120"/>
            <a:ext cx="7315200"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Decide at the margin: </a:t>
            </a:r>
            <a:r>
              <a:rPr sz="1200" b="0" lang="en-GB">
                <a:solidFill>
                  <a:schemeClr val="bg1"/>
                </a:solidFill>
              </a:rPr>
              <a:t>move money to where the next euro earns most.</a:t>
            </a:r>
          </a:p>
        </p:txBody>
      </p:sp>
      <p:sp>
        <p:nvSpPr>
          <p:cNvPr id="27"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Jin et al. 2017; Google Meridian documentation (media saturation and lagging)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Seasonality, trend and holidays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mmm_de_sales_tv.png" descr="Two panels for Germany 2023 to 2025: weekly sales between about 450 and 1,750 thousand units with peaks before each Christmas, and weekly TV spend with bursts of up to about 480 thousand euros in spring and before Christmas; Christmas weeks are shaded grey"/>
          <p:cNvPicPr>
            <a:picLocks noChangeAspect="1"/>
          </p:cNvPicPr>
          <p:nvPr/>
        </p:nvPicPr>
        <p:blipFill>
          <a:blip r:embed="rId3"/>
          <a:stretch>
            <a:fillRect/>
          </a:stretch>
        </p:blipFill>
        <p:spPr>
          <a:xfrm>
            <a:off x="457200" y="1234440"/>
            <a:ext cx="5120640" cy="3108960"/>
          </a:xfrm>
          <a:prstGeom prst="rect">
            <a:avLst/>
          </a:prstGeom>
        </p:spPr>
      </p:pic>
      <p:sp>
        <p:nvSpPr>
          <p:cNvPr id="11" name="Season caption"/>
          <p:cNvSpPr txBox="1"/>
          <p:nvPr/>
        </p:nvSpPr>
        <p:spPr>
          <a:xfrm>
            <a:off x="457200" y="4343400"/>
            <a:ext cx="512064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Alpenglow Germany, 2023–2025; grey: Christmas selling weeks.</a:t>
            </a:r>
          </a:p>
        </p:txBody>
      </p:sp>
      <p:sp>
        <p:nvSpPr>
          <p:cNvPr id="12" name="Season row 1"/>
          <p:cNvSpPr/>
          <p:nvPr/>
        </p:nvSpPr>
        <p:spPr>
          <a:xfrm>
            <a:off x="5715000" y="1234440"/>
            <a:ext cx="29718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 bar 1"/>
          <p:cNvSpPr/>
          <p:nvPr/>
        </p:nvSpPr>
        <p:spPr>
          <a:xfrm>
            <a:off x="57150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eason text 1"/>
          <p:cNvSpPr txBox="1"/>
          <p:nvPr/>
        </p:nvSpPr>
        <p:spPr>
          <a:xfrm>
            <a:off x="5897880" y="1234440"/>
            <a:ext cx="272491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Trend: </a:t>
            </a:r>
            <a:r>
              <a:rPr sz="1200" b="0" lang="en-GB">
                <a:solidFill>
                  <a:schemeClr val="tx1"/>
                </a:solidFill>
              </a:rPr>
              <a:t>slow growth or decline, a week counter</a:t>
            </a:r>
          </a:p>
        </p:txBody>
      </p:sp>
      <p:sp>
        <p:nvSpPr>
          <p:cNvPr id="15" name="Season row 2"/>
          <p:cNvSpPr/>
          <p:nvPr/>
        </p:nvSpPr>
        <p:spPr>
          <a:xfrm>
            <a:off x="5715000" y="2020824"/>
            <a:ext cx="29718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eason bar 2"/>
          <p:cNvSpPr/>
          <p:nvPr/>
        </p:nvSpPr>
        <p:spPr>
          <a:xfrm>
            <a:off x="5715000" y="2020824"/>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 text 2"/>
          <p:cNvSpPr txBox="1"/>
          <p:nvPr/>
        </p:nvSpPr>
        <p:spPr>
          <a:xfrm>
            <a:off x="5897880" y="2020824"/>
            <a:ext cx="272491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Seasonality: </a:t>
            </a:r>
            <a:r>
              <a:rPr sz="1200" b="0" lang="en-GB">
                <a:solidFill>
                  <a:schemeClr val="tx1"/>
                </a:solidFill>
              </a:rPr>
              <a:t>the yearly wave, Fourier terms</a:t>
            </a:r>
          </a:p>
        </p:txBody>
      </p:sp>
      <p:sp>
        <p:nvSpPr>
          <p:cNvPr id="18" name="Season row 3"/>
          <p:cNvSpPr/>
          <p:nvPr/>
        </p:nvSpPr>
        <p:spPr>
          <a:xfrm>
            <a:off x="5715000" y="2807208"/>
            <a:ext cx="29718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eason bar 3"/>
          <p:cNvSpPr/>
          <p:nvPr/>
        </p:nvSpPr>
        <p:spPr>
          <a:xfrm>
            <a:off x="5715000" y="2807208"/>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eason text 3"/>
          <p:cNvSpPr txBox="1"/>
          <p:nvPr/>
        </p:nvSpPr>
        <p:spPr>
          <a:xfrm>
            <a:off x="5897880" y="2807208"/>
            <a:ext cx="272491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Holidays: </a:t>
            </a:r>
            <a:r>
              <a:rPr sz="1200" b="0" lang="en-GB">
                <a:solidFill>
                  <a:schemeClr val="tx1"/>
                </a:solidFill>
              </a:rPr>
              <a:t>dummies for Christmas, Easter, Valentine's</a:t>
            </a:r>
          </a:p>
        </p:txBody>
      </p:sp>
      <p:sp>
        <p:nvSpPr>
          <p:cNvPr id="21" name="Season row 4"/>
          <p:cNvSpPr/>
          <p:nvPr/>
        </p:nvSpPr>
        <p:spPr>
          <a:xfrm>
            <a:off x="5715000" y="3593592"/>
            <a:ext cx="29718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eason bar 4"/>
          <p:cNvSpPr/>
          <p:nvPr/>
        </p:nvSpPr>
        <p:spPr>
          <a:xfrm>
            <a:off x="5715000" y="3593592"/>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eason text 4"/>
          <p:cNvSpPr txBox="1"/>
          <p:nvPr/>
        </p:nvSpPr>
        <p:spPr>
          <a:xfrm>
            <a:off x="5897880" y="3593592"/>
            <a:ext cx="272491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Weather, economy: </a:t>
            </a:r>
            <a:r>
              <a:rPr sz="1200" b="0" lang="en-GB">
                <a:solidFill>
                  <a:schemeClr val="tx1"/>
                </a:solidFill>
              </a:rPr>
              <a:t>temperature, consumer confidence</a:t>
            </a:r>
          </a:p>
        </p:txBody>
      </p:sp>
      <p:sp>
        <p:nvSpPr>
          <p:cNvPr id="24" name="Season why box"/>
          <p:cNvSpPr/>
          <p:nvPr/>
        </p:nvSpPr>
        <p:spPr>
          <a:xfrm>
            <a:off x="457200" y="466344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Season why" descr=""/>
          <p:cNvPicPr>
            <a:picLocks noChangeAspect="1"/>
          </p:cNvPicPr>
          <p:nvPr/>
        </p:nvPicPr>
        <p:blipFill>
          <a:blip r:embed="rId4"/>
          <a:stretch>
            <a:fillRect/>
          </a:stretch>
        </p:blipFill>
        <p:spPr>
          <a:xfrm>
            <a:off x="658368" y="4686300"/>
            <a:ext cx="365760" cy="365760"/>
          </a:xfrm>
          <a:prstGeom prst="rect">
            <a:avLst/>
          </a:prstGeom>
        </p:spPr>
      </p:pic>
      <p:sp>
        <p:nvSpPr>
          <p:cNvPr id="26" name="Season why text"/>
          <p:cNvSpPr txBox="1"/>
          <p:nvPr/>
        </p:nvSpPr>
        <p:spPr>
          <a:xfrm>
            <a:off x="1207008" y="4663440"/>
            <a:ext cx="7315200"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TV peaks when sales peak: </a:t>
            </a:r>
            <a:r>
              <a:rPr sz="1200" b="0" lang="en-GB">
                <a:solidFill>
                  <a:schemeClr val="bg1"/>
                </a:solidFill>
              </a:rPr>
              <a:t>does TV drive Christmas, or Christmas the TV budget?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5 · elasticities, carryover and wear-out, differences between countries</a:t>
            </a:r>
          </a:p>
        </p:txBody>
      </p:sp>
      <p:sp>
        <p:nvSpPr>
          <p:cNvPr id="3" name="Title 2"/>
          <p:cNvSpPr>
            <a:spLocks noGrp="1"/>
          </p:cNvSpPr>
          <p:nvPr>
            <p:ph type="ctrTitle"/>
          </p:nvPr>
        </p:nvSpPr>
        <p:spPr/>
        <p:txBody>
          <a:bodyPr/>
          <a:lstStyle/>
          <a:p>
            <a:r>
              <a:rPr sz="1600" lang="en-GB"/>
              <a:t>What we know: empirical generalisations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Elasticities: price versus advertising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iterature panel"/>
          <p:cNvSpPr/>
          <p:nvPr/>
        </p:nvSpPr>
        <p:spPr>
          <a:xfrm>
            <a:off x="457200" y="1234440"/>
            <a:ext cx="4114800" cy="3246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iterature heading"/>
          <p:cNvSpPr txBox="1"/>
          <p:nvPr/>
        </p:nvSpPr>
        <p:spPr>
          <a:xfrm>
            <a:off x="640080" y="1298448"/>
            <a:ext cx="374904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Advertising: the meta-analyses</a:t>
            </a:r>
          </a:p>
        </p:txBody>
      </p:sp>
      <p:sp>
        <p:nvSpPr>
          <p:cNvPr id="12" name="Literature stat 1 bar"/>
          <p:cNvSpPr/>
          <p:nvPr/>
        </p:nvSpPr>
        <p:spPr>
          <a:xfrm>
            <a:off x="640080" y="173736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iterature stat 1 figure"/>
          <p:cNvSpPr txBox="1"/>
          <p:nvPr/>
        </p:nvSpPr>
        <p:spPr>
          <a:xfrm>
            <a:off x="822960" y="1737360"/>
            <a:ext cx="960120" cy="585216"/>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0.12</a:t>
            </a:r>
          </a:p>
        </p:txBody>
      </p:sp>
      <p:sp>
        <p:nvSpPr>
          <p:cNvPr id="14" name="Literature stat 1 label"/>
          <p:cNvSpPr txBox="1"/>
          <p:nvPr/>
        </p:nvSpPr>
        <p:spPr>
          <a:xfrm>
            <a:off x="1783080" y="1737360"/>
            <a:ext cx="2606040" cy="585216"/>
          </a:xfrm>
          <a:prstGeom prst="rect">
            <a:avLst/>
          </a:prstGeom>
          <a:noFill/>
        </p:spPr>
        <p:txBody>
          <a:bodyPr wrap="square" lIns="0" rIns="0" tIns="0" bIns="0" anchor="ctr">
            <a:noAutofit/>
          </a:bodyPr>
          <a:lstStyle/>
          <a:p>
            <a:pPr algn="l">
              <a:spcAft>
                <a:spcPts val="400"/>
              </a:spcAft>
            </a:pPr>
            <a:r>
              <a:rPr sz="1200" b="0" lang="en-GB">
                <a:solidFill>
                  <a:schemeClr val="tx1"/>
                </a:solidFill>
              </a:rPr>
              <a:t>short-term elasticity, mean (Sethuraman et al. 2011)</a:t>
            </a:r>
          </a:p>
        </p:txBody>
      </p:sp>
      <p:sp>
        <p:nvSpPr>
          <p:cNvPr id="15" name="Literature stat 2 bar"/>
          <p:cNvSpPr/>
          <p:nvPr/>
        </p:nvSpPr>
        <p:spPr>
          <a:xfrm>
            <a:off x="640080" y="241401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Literature stat 2 figure"/>
          <p:cNvSpPr txBox="1"/>
          <p:nvPr/>
        </p:nvSpPr>
        <p:spPr>
          <a:xfrm>
            <a:off x="822960" y="2414016"/>
            <a:ext cx="960120" cy="585216"/>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0.24</a:t>
            </a:r>
          </a:p>
        </p:txBody>
      </p:sp>
      <p:sp>
        <p:nvSpPr>
          <p:cNvPr id="17" name="Literature stat 2 label"/>
          <p:cNvSpPr txBox="1"/>
          <p:nvPr/>
        </p:nvSpPr>
        <p:spPr>
          <a:xfrm>
            <a:off x="1783080" y="2414016"/>
            <a:ext cx="2606040" cy="585216"/>
          </a:xfrm>
          <a:prstGeom prst="rect">
            <a:avLst/>
          </a:prstGeom>
          <a:noFill/>
        </p:spPr>
        <p:txBody>
          <a:bodyPr wrap="square" lIns="0" rIns="0" tIns="0" bIns="0" anchor="ctr">
            <a:noAutofit/>
          </a:bodyPr>
          <a:lstStyle/>
          <a:p>
            <a:pPr algn="l">
              <a:spcAft>
                <a:spcPts val="400"/>
              </a:spcAft>
            </a:pPr>
            <a:r>
              <a:rPr sz="1200" b="0" lang="en-GB">
                <a:solidFill>
                  <a:schemeClr val="tx1"/>
                </a:solidFill>
              </a:rPr>
              <a:t>long-term elasticity, mean (same study)</a:t>
            </a:r>
          </a:p>
        </p:txBody>
      </p:sp>
      <p:sp>
        <p:nvSpPr>
          <p:cNvPr id="18" name="Literature stat 3 bar"/>
          <p:cNvSpPr/>
          <p:nvPr/>
        </p:nvSpPr>
        <p:spPr>
          <a:xfrm>
            <a:off x="640080" y="309067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iterature stat 3 figure"/>
          <p:cNvSpPr txBox="1"/>
          <p:nvPr/>
        </p:nvSpPr>
        <p:spPr>
          <a:xfrm>
            <a:off x="822960" y="3090672"/>
            <a:ext cx="960120" cy="585216"/>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0.09</a:t>
            </a:r>
          </a:p>
        </p:txBody>
      </p:sp>
      <p:sp>
        <p:nvSpPr>
          <p:cNvPr id="20" name="Literature stat 3 label"/>
          <p:cNvSpPr txBox="1"/>
          <p:nvPr/>
        </p:nvSpPr>
        <p:spPr>
          <a:xfrm>
            <a:off x="1783080" y="3090672"/>
            <a:ext cx="2606040" cy="585216"/>
          </a:xfrm>
          <a:prstGeom prst="rect">
            <a:avLst/>
          </a:prstGeom>
          <a:noFill/>
        </p:spPr>
        <p:txBody>
          <a:bodyPr wrap="square" lIns="0" rIns="0" tIns="0" bIns="0" anchor="ctr">
            <a:noAutofit/>
          </a:bodyPr>
          <a:lstStyle/>
          <a:p>
            <a:pPr algn="l">
              <a:spcAft>
                <a:spcPts val="400"/>
              </a:spcAft>
            </a:pPr>
            <a:r>
              <a:rPr sz="1200" b="0" lang="en-GB">
                <a:solidFill>
                  <a:schemeClr val="tx1"/>
                </a:solidFill>
              </a:rPr>
              <a:t>mean in an international database (Henningsen et al. 2011)</a:t>
            </a:r>
          </a:p>
        </p:txBody>
      </p:sp>
      <p:sp>
        <p:nvSpPr>
          <p:cNvPr id="21" name="Literature stat 4 bar"/>
          <p:cNvSpPr/>
          <p:nvPr/>
        </p:nvSpPr>
        <p:spPr>
          <a:xfrm>
            <a:off x="640080" y="376732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Literature stat 4 figure"/>
          <p:cNvSpPr txBox="1"/>
          <p:nvPr/>
        </p:nvSpPr>
        <p:spPr>
          <a:xfrm>
            <a:off x="822960" y="3767328"/>
            <a:ext cx="960120" cy="585216"/>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½</a:t>
            </a:r>
          </a:p>
        </p:txBody>
      </p:sp>
      <p:sp>
        <p:nvSpPr>
          <p:cNvPr id="23" name="Literature stat 4 label"/>
          <p:cNvSpPr txBox="1"/>
          <p:nvPr/>
        </p:nvSpPr>
        <p:spPr>
          <a:xfrm>
            <a:off x="1783080" y="3767328"/>
            <a:ext cx="2606040" cy="585216"/>
          </a:xfrm>
          <a:prstGeom prst="rect">
            <a:avLst/>
          </a:prstGeom>
          <a:noFill/>
        </p:spPr>
        <p:txBody>
          <a:bodyPr wrap="square" lIns="0" rIns="0" tIns="0" bIns="0" anchor="ctr">
            <a:noAutofit/>
          </a:bodyPr>
          <a:lstStyle/>
          <a:p>
            <a:pPr algn="l">
              <a:spcAft>
                <a:spcPts val="400"/>
              </a:spcAft>
            </a:pPr>
            <a:r>
              <a:rPr sz="1200" b="0" lang="en-GB">
                <a:solidFill>
                  <a:schemeClr val="tx1"/>
                </a:solidFill>
              </a:rPr>
              <a:t>of 389 TV weight tests: no significant sales effect (Lodish et al. 1995)</a:t>
            </a:r>
          </a:p>
        </p:txBody>
      </p:sp>
      <p:sp>
        <p:nvSpPr>
          <p:cNvPr id="24" name="Alpenglow header"/>
          <p:cNvSpPr/>
          <p:nvPr/>
        </p:nvSpPr>
        <p:spPr>
          <a:xfrm>
            <a:off x="4709160" y="1234440"/>
            <a:ext cx="397764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Alpenglow heading"/>
          <p:cNvSpPr txBox="1"/>
          <p:nvPr/>
        </p:nvSpPr>
        <p:spPr>
          <a:xfrm>
            <a:off x="4846320" y="1234440"/>
            <a:ext cx="329184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Alpenglow Germany: first look</a:t>
            </a:r>
          </a:p>
        </p:txBody>
      </p:sp>
      <p:pic>
        <p:nvPicPr>
          <p:cNvPr id="26" name="Icon Alpenglow" descr=""/>
          <p:cNvPicPr>
            <a:picLocks noChangeAspect="1"/>
          </p:cNvPicPr>
          <p:nvPr/>
        </p:nvPicPr>
        <p:blipFill>
          <a:blip r:embed="rId3"/>
          <a:stretch>
            <a:fillRect/>
          </a:stretch>
        </p:blipFill>
        <p:spPr>
          <a:xfrm>
            <a:off x="8247888" y="1280160"/>
            <a:ext cx="310896" cy="310896"/>
          </a:xfrm>
          <a:prstGeom prst="rect">
            <a:avLst/>
          </a:prstGeom>
        </p:spPr>
      </p:pic>
      <p:sp>
        <p:nvSpPr>
          <p:cNvPr id="27" name="Alpenglow body"/>
          <p:cNvSpPr/>
          <p:nvPr/>
        </p:nvSpPr>
        <p:spPr>
          <a:xfrm>
            <a:off x="4709160" y="1645920"/>
            <a:ext cx="3977640" cy="2834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rice elasticity bar"/>
          <p:cNvSpPr/>
          <p:nvPr/>
        </p:nvSpPr>
        <p:spPr>
          <a:xfrm>
            <a:off x="4892040" y="1783080"/>
            <a:ext cx="64008" cy="7772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rice elasticity figure"/>
          <p:cNvSpPr txBox="1"/>
          <p:nvPr/>
        </p:nvSpPr>
        <p:spPr>
          <a:xfrm>
            <a:off x="5074920" y="1783080"/>
            <a:ext cx="1051560" cy="7772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−1.4</a:t>
            </a:r>
          </a:p>
        </p:txBody>
      </p:sp>
      <p:sp>
        <p:nvSpPr>
          <p:cNvPr id="30" name="Price elasticity label"/>
          <p:cNvSpPr txBox="1"/>
          <p:nvPr/>
        </p:nvSpPr>
        <p:spPr>
          <a:xfrm>
            <a:off x="6126480" y="1783080"/>
            <a:ext cx="2377440" cy="777240"/>
          </a:xfrm>
          <a:prstGeom prst="rect">
            <a:avLst/>
          </a:prstGeom>
          <a:noFill/>
        </p:spPr>
        <p:txBody>
          <a:bodyPr wrap="square" lIns="0" rIns="0" tIns="0" bIns="0" anchor="ctr">
            <a:noAutofit/>
          </a:bodyPr>
          <a:lstStyle/>
          <a:p>
            <a:pPr algn="l">
              <a:spcAft>
                <a:spcPts val="400"/>
              </a:spcAft>
            </a:pPr>
            <a:r>
              <a:rPr sz="1200" b="0" lang="en-GB">
                <a:solidFill>
                  <a:schemeClr val="tx1"/>
                </a:solidFill>
              </a:rPr>
              <a:t>price: 1 % lower price, about 1.4 % more units</a:t>
            </a:r>
          </a:p>
        </p:txBody>
      </p:sp>
      <p:sp>
        <p:nvSpPr>
          <p:cNvPr id="31" name="TV elasticity bar"/>
          <p:cNvSpPr/>
          <p:nvPr/>
        </p:nvSpPr>
        <p:spPr>
          <a:xfrm>
            <a:off x="4892040" y="2697480"/>
            <a:ext cx="64008" cy="7772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V elasticity figure"/>
          <p:cNvSpPr txBox="1"/>
          <p:nvPr/>
        </p:nvSpPr>
        <p:spPr>
          <a:xfrm>
            <a:off x="5074920" y="2697480"/>
            <a:ext cx="1051560" cy="7772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0.06</a:t>
            </a:r>
          </a:p>
        </p:txBody>
      </p:sp>
      <p:sp>
        <p:nvSpPr>
          <p:cNvPr id="33" name="TV elasticity label"/>
          <p:cNvSpPr txBox="1"/>
          <p:nvPr/>
        </p:nvSpPr>
        <p:spPr>
          <a:xfrm>
            <a:off x="6126480" y="2697480"/>
            <a:ext cx="2377440" cy="777240"/>
          </a:xfrm>
          <a:prstGeom prst="rect">
            <a:avLst/>
          </a:prstGeom>
          <a:noFill/>
        </p:spPr>
        <p:txBody>
          <a:bodyPr wrap="square" lIns="0" rIns="0" tIns="0" bIns="0" anchor="ctr">
            <a:noAutofit/>
          </a:bodyPr>
          <a:lstStyle/>
          <a:p>
            <a:pPr algn="l">
              <a:spcAft>
                <a:spcPts val="400"/>
              </a:spcAft>
            </a:pPr>
            <a:r>
              <a:rPr sz="1200" b="0" lang="en-GB">
                <a:solidFill>
                  <a:schemeClr val="tx1"/>
                </a:solidFill>
              </a:rPr>
              <a:t>TV: 1 % more TV spend, about 0.06 % more units</a:t>
            </a:r>
          </a:p>
        </p:txBody>
      </p:sp>
      <p:sp>
        <p:nvSpPr>
          <p:cNvPr id="34" name="Alpenglow note"/>
          <p:cNvSpPr txBox="1"/>
          <p:nvPr/>
        </p:nvSpPr>
        <p:spPr>
          <a:xfrm>
            <a:off x="4892040" y="3611880"/>
            <a:ext cx="3657600" cy="777240"/>
          </a:xfrm>
          <a:prstGeom prst="rect">
            <a:avLst/>
          </a:prstGeom>
          <a:noFill/>
        </p:spPr>
        <p:txBody>
          <a:bodyPr wrap="square" lIns="0" rIns="0" tIns="0" bIns="0" anchor="ctr">
            <a:noAutofit/>
          </a:bodyPr>
          <a:lstStyle/>
          <a:p>
            <a:pPr algn="l">
              <a:spcAft>
                <a:spcPts val="400"/>
              </a:spcAft>
            </a:pPr>
            <a:r>
              <a:rPr sz="1100" b="0" lang="en-GB">
                <a:solidFill>
                  <a:srgbClr val="595959"/>
                </a:solidFill>
              </a:rPr>
              <a:t>Simple log-log regression, 2023–2025. You estimate it properly, by country, in Session 2.</a:t>
            </a:r>
          </a:p>
        </p:txBody>
      </p:sp>
      <p:sp>
        <p:nvSpPr>
          <p:cNvPr id="35" name="Elasticity reading box"/>
          <p:cNvSpPr/>
          <p:nvPr/>
        </p:nvSpPr>
        <p:spPr>
          <a:xfrm>
            <a:off x="457200" y="4590288"/>
            <a:ext cx="8229600" cy="4846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Icon Elasticity reading" descr=""/>
          <p:cNvPicPr>
            <a:picLocks noChangeAspect="1"/>
          </p:cNvPicPr>
          <p:nvPr/>
        </p:nvPicPr>
        <p:blipFill>
          <a:blip r:embed="rId4"/>
          <a:stretch>
            <a:fillRect/>
          </a:stretch>
        </p:blipFill>
        <p:spPr>
          <a:xfrm>
            <a:off x="658368" y="4649724"/>
            <a:ext cx="365760" cy="365760"/>
          </a:xfrm>
          <a:prstGeom prst="rect">
            <a:avLst/>
          </a:prstGeom>
        </p:spPr>
      </p:pic>
      <p:sp>
        <p:nvSpPr>
          <p:cNvPr id="37" name="Elasticity reading text"/>
          <p:cNvSpPr txBox="1"/>
          <p:nvPr/>
        </p:nvSpPr>
        <p:spPr>
          <a:xfrm>
            <a:off x="1207008" y="4590288"/>
            <a:ext cx="7315200" cy="484632"/>
          </a:xfrm>
          <a:prstGeom prst="rect">
            <a:avLst/>
          </a:prstGeom>
          <a:noFill/>
        </p:spPr>
        <p:txBody>
          <a:bodyPr wrap="square" lIns="0" rIns="0" tIns="0" bIns="0" anchor="ctr">
            <a:noAutofit/>
          </a:bodyPr>
          <a:lstStyle/>
          <a:p>
            <a:pPr algn="l">
              <a:spcAft>
                <a:spcPts val="400"/>
              </a:spcAft>
            </a:pPr>
            <a:r>
              <a:rPr sz="1200" b="1" lang="en-GB">
                <a:solidFill>
                  <a:schemeClr val="bg1"/>
                </a:solidFill>
              </a:rPr>
              <a:t>Reading 0.12: </a:t>
            </a:r>
            <a:r>
              <a:rPr sz="1200" b="0" lang="en-GB">
                <a:solidFill>
                  <a:schemeClr val="bg1"/>
                </a:solidFill>
              </a:rPr>
              <a:t>10 % more advertising lifts sales by about 1.2 %.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Carryover and wear-out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arryover panel"/>
          <p:cNvSpPr/>
          <p:nvPr/>
        </p:nvSpPr>
        <p:spPr>
          <a:xfrm>
            <a:off x="457200" y="1234440"/>
            <a:ext cx="3931920" cy="3108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arryover heading"/>
          <p:cNvSpPr txBox="1"/>
          <p:nvPr/>
        </p:nvSpPr>
        <p:spPr>
          <a:xfrm>
            <a:off x="640080" y="1298448"/>
            <a:ext cx="35661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How long effects last</a:t>
            </a:r>
          </a:p>
        </p:txBody>
      </p:sp>
      <p:sp>
        <p:nvSpPr>
          <p:cNvPr id="12" name="Carryover stat 1 bar"/>
          <p:cNvSpPr/>
          <p:nvPr/>
        </p:nvSpPr>
        <p:spPr>
          <a:xfrm>
            <a:off x="640080" y="178308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arryover stat 1 figure"/>
          <p:cNvSpPr txBox="1"/>
          <p:nvPr/>
        </p:nvSpPr>
        <p:spPr>
          <a:xfrm>
            <a:off x="822960" y="1783080"/>
            <a:ext cx="1188720" cy="11430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60 %</a:t>
            </a:r>
          </a:p>
        </p:txBody>
      </p:sp>
      <p:sp>
        <p:nvSpPr>
          <p:cNvPr id="14" name="Carryover stat 1 label"/>
          <p:cNvSpPr txBox="1"/>
          <p:nvPr/>
        </p:nvSpPr>
        <p:spPr>
          <a:xfrm>
            <a:off x="2011680" y="1783080"/>
            <a:ext cx="2194560" cy="1143000"/>
          </a:xfrm>
          <a:prstGeom prst="rect">
            <a:avLst/>
          </a:prstGeom>
          <a:noFill/>
        </p:spPr>
        <p:txBody>
          <a:bodyPr wrap="square" lIns="0" rIns="0" tIns="0" bIns="0" anchor="ctr">
            <a:noAutofit/>
          </a:bodyPr>
          <a:lstStyle/>
          <a:p>
            <a:pPr algn="l">
              <a:spcAft>
                <a:spcPts val="400"/>
              </a:spcAft>
            </a:pPr>
            <a:r>
              <a:rPr sz="1200" b="0" lang="en-GB">
                <a:solidFill>
                  <a:schemeClr val="tx1"/>
                </a:solidFill>
              </a:rPr>
              <a:t>of the effect came after week 13 (141 UK brands; Ebiquity &amp; Thinkbox 2024)</a:t>
            </a:r>
          </a:p>
        </p:txBody>
      </p:sp>
      <p:sp>
        <p:nvSpPr>
          <p:cNvPr id="15" name="Carryover stat 2 bar"/>
          <p:cNvSpPr/>
          <p:nvPr/>
        </p:nvSpPr>
        <p:spPr>
          <a:xfrm>
            <a:off x="640080" y="3063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arryover stat 2 figure"/>
          <p:cNvSpPr txBox="1"/>
          <p:nvPr/>
        </p:nvSpPr>
        <p:spPr>
          <a:xfrm>
            <a:off x="822960" y="3063240"/>
            <a:ext cx="1188720" cy="11430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a:t>
            </a:r>
          </a:p>
        </p:txBody>
      </p:sp>
      <p:sp>
        <p:nvSpPr>
          <p:cNvPr id="17" name="Carryover stat 2 label"/>
          <p:cNvSpPr txBox="1"/>
          <p:nvPr/>
        </p:nvSpPr>
        <p:spPr>
          <a:xfrm>
            <a:off x="2011680" y="3063240"/>
            <a:ext cx="2194560" cy="1143000"/>
          </a:xfrm>
          <a:prstGeom prst="rect">
            <a:avLst/>
          </a:prstGeom>
          <a:noFill/>
        </p:spPr>
        <p:txBody>
          <a:bodyPr wrap="square" lIns="0" rIns="0" tIns="0" bIns="0" anchor="ctr">
            <a:noAutofit/>
          </a:bodyPr>
          <a:lstStyle/>
          <a:p>
            <a:pPr algn="l">
              <a:spcAft>
                <a:spcPts val="400"/>
              </a:spcAft>
            </a:pPr>
            <a:r>
              <a:rPr sz="1200" b="0" lang="en-GB">
                <a:solidFill>
                  <a:schemeClr val="tx1"/>
                </a:solidFill>
              </a:rPr>
              <a:t>long-term elasticity versus short-term: 0.24 against 0.12 (Sethuraman et al. 2011)</a:t>
            </a:r>
          </a:p>
        </p:txBody>
      </p:sp>
      <p:sp>
        <p:nvSpPr>
          <p:cNvPr id="18" name="Interval tile"/>
          <p:cNvSpPr/>
          <p:nvPr/>
        </p:nvSpPr>
        <p:spPr>
          <a:xfrm>
            <a:off x="4526280" y="1234440"/>
            <a:ext cx="416052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Interval" descr=""/>
          <p:cNvPicPr>
            <a:picLocks noChangeAspect="1"/>
          </p:cNvPicPr>
          <p:nvPr/>
        </p:nvPicPr>
        <p:blipFill>
          <a:blip r:embed="rId3"/>
          <a:stretch>
            <a:fillRect/>
          </a:stretch>
        </p:blipFill>
        <p:spPr>
          <a:xfrm>
            <a:off x="4663440" y="1371600"/>
            <a:ext cx="365760" cy="365760"/>
          </a:xfrm>
          <a:prstGeom prst="rect">
            <a:avLst/>
          </a:prstGeom>
        </p:spPr>
      </p:pic>
      <p:sp>
        <p:nvSpPr>
          <p:cNvPr id="20" name="Interval heading"/>
          <p:cNvSpPr txBox="1"/>
          <p:nvPr/>
        </p:nvSpPr>
        <p:spPr>
          <a:xfrm>
            <a:off x="5120640" y="1371600"/>
            <a:ext cx="34747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Data interval matters</a:t>
            </a:r>
          </a:p>
        </p:txBody>
      </p:sp>
      <p:sp>
        <p:nvSpPr>
          <p:cNvPr id="21" name="Interval text"/>
          <p:cNvSpPr txBox="1"/>
          <p:nvPr/>
        </p:nvSpPr>
        <p:spPr>
          <a:xfrm>
            <a:off x="4663440" y="1856232"/>
            <a:ext cx="3886200" cy="777240"/>
          </a:xfrm>
          <a:prstGeom prst="rect">
            <a:avLst/>
          </a:prstGeom>
          <a:noFill/>
        </p:spPr>
        <p:txBody>
          <a:bodyPr wrap="square" lIns="0" rIns="0" tIns="0" bIns="0" anchor="t">
            <a:noAutofit/>
          </a:bodyPr>
          <a:lstStyle/>
          <a:p>
            <a:pPr algn="l">
              <a:spcAft>
                <a:spcPts val="400"/>
              </a:spcAft>
            </a:pPr>
            <a:r>
              <a:rPr sz="1200" b="0" lang="en-GB">
                <a:solidFill>
                  <a:schemeClr val="tx1"/>
                </a:solidFill>
              </a:rPr>
              <a:t>Monthly or annual data suggest longer carryover than weekly data (Clarke 1976; Köhler et al. 2017)</a:t>
            </a:r>
          </a:p>
        </p:txBody>
      </p:sp>
      <p:sp>
        <p:nvSpPr>
          <p:cNvPr id="22" name="Wearout tile"/>
          <p:cNvSpPr/>
          <p:nvPr/>
        </p:nvSpPr>
        <p:spPr>
          <a:xfrm>
            <a:off x="4526280" y="2852928"/>
            <a:ext cx="4160520" cy="1490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Wearout" descr=""/>
          <p:cNvPicPr>
            <a:picLocks noChangeAspect="1"/>
          </p:cNvPicPr>
          <p:nvPr/>
        </p:nvPicPr>
        <p:blipFill>
          <a:blip r:embed="rId4"/>
          <a:stretch>
            <a:fillRect/>
          </a:stretch>
        </p:blipFill>
        <p:spPr>
          <a:xfrm>
            <a:off x="4663440" y="2990088"/>
            <a:ext cx="365760" cy="365760"/>
          </a:xfrm>
          <a:prstGeom prst="rect">
            <a:avLst/>
          </a:prstGeom>
        </p:spPr>
      </p:pic>
      <p:sp>
        <p:nvSpPr>
          <p:cNvPr id="24" name="Wearout heading"/>
          <p:cNvSpPr txBox="1"/>
          <p:nvPr/>
        </p:nvSpPr>
        <p:spPr>
          <a:xfrm>
            <a:off x="5120640" y="2990088"/>
            <a:ext cx="34747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Wear-in and wear-out</a:t>
            </a:r>
          </a:p>
        </p:txBody>
      </p:sp>
      <p:sp>
        <p:nvSpPr>
          <p:cNvPr id="25" name="Wearout text"/>
          <p:cNvSpPr txBox="1"/>
          <p:nvPr/>
        </p:nvSpPr>
        <p:spPr>
          <a:xfrm>
            <a:off x="4663440" y="3474720"/>
            <a:ext cx="3886200" cy="804672"/>
          </a:xfrm>
          <a:prstGeom prst="rect">
            <a:avLst/>
          </a:prstGeom>
          <a:noFill/>
        </p:spPr>
        <p:txBody>
          <a:bodyPr wrap="square" lIns="0" rIns="0" tIns="0" bIns="0" anchor="t">
            <a:noAutofit/>
          </a:bodyPr>
          <a:lstStyle/>
          <a:p>
            <a:pPr algn="l">
              <a:spcAft>
                <a:spcPts val="400"/>
              </a:spcAft>
            </a:pPr>
            <a:r>
              <a:rPr sz="1200" b="0" lang="en-GB">
                <a:solidFill>
                  <a:schemeClr val="tx1"/>
                </a:solidFill>
              </a:rPr>
              <a:t>Ads may need repetition to work, and lose effect when shown too often or too long (Tellis 2004; Vakratsas &amp; Ambler 1999)</a:t>
            </a:r>
          </a:p>
        </p:txBody>
      </p:sp>
      <p:sp>
        <p:nvSpPr>
          <p:cNvPr id="26" name="Carryover rule box"/>
          <p:cNvSpPr/>
          <p:nvPr/>
        </p:nvSpPr>
        <p:spPr>
          <a:xfrm>
            <a:off x="457200" y="4498848"/>
            <a:ext cx="8229600" cy="57607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Carryover rule" descr=""/>
          <p:cNvPicPr>
            <a:picLocks noChangeAspect="1"/>
          </p:cNvPicPr>
          <p:nvPr/>
        </p:nvPicPr>
        <p:blipFill>
          <a:blip r:embed="rId5"/>
          <a:stretch>
            <a:fillRect/>
          </a:stretch>
        </p:blipFill>
        <p:spPr>
          <a:xfrm>
            <a:off x="658368" y="4604004"/>
            <a:ext cx="365760" cy="365760"/>
          </a:xfrm>
          <a:prstGeom prst="rect">
            <a:avLst/>
          </a:prstGeom>
        </p:spPr>
      </p:pic>
      <p:sp>
        <p:nvSpPr>
          <p:cNvPr id="28" name="Carryover rule text"/>
          <p:cNvSpPr txBox="1"/>
          <p:nvPr/>
        </p:nvSpPr>
        <p:spPr>
          <a:xfrm>
            <a:off x="1207008" y="4498848"/>
            <a:ext cx="7315200" cy="576072"/>
          </a:xfrm>
          <a:prstGeom prst="rect">
            <a:avLst/>
          </a:prstGeom>
          <a:noFill/>
        </p:spPr>
        <p:txBody>
          <a:bodyPr wrap="square" lIns="0" rIns="0" tIns="0" bIns="0" anchor="ctr">
            <a:noAutofit/>
          </a:bodyPr>
          <a:lstStyle/>
          <a:p>
            <a:pPr algn="l">
              <a:spcAft>
                <a:spcPts val="400"/>
              </a:spcAft>
            </a:pPr>
            <a:r>
              <a:rPr sz="1200" b="1" lang="en-GB">
                <a:solidFill>
                  <a:schemeClr val="bg1"/>
                </a:solidFill>
              </a:rPr>
              <a:t>For your model: </a:t>
            </a:r>
            <a:r>
              <a:rPr sz="1200" b="0" lang="en-GB">
                <a:solidFill>
                  <a:schemeClr val="bg1"/>
                </a:solidFill>
              </a:rPr>
              <a:t>estimate carryover per channel from weekly data and check half-lives against these benchmarks.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Effects differ between countries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untry row 1"/>
          <p:cNvSpPr/>
          <p:nvPr/>
        </p:nvSpPr>
        <p:spPr>
          <a:xfrm>
            <a:off x="457200" y="1234440"/>
            <a:ext cx="8229600" cy="6949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untry bar 1"/>
          <p:cNvSpPr/>
          <p:nvPr/>
        </p:nvSpPr>
        <p:spPr>
          <a:xfrm>
            <a:off x="457200" y="1234440"/>
            <a:ext cx="64008" cy="6949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Icon country 1" descr=""/>
          <p:cNvPicPr>
            <a:picLocks noChangeAspect="1"/>
          </p:cNvPicPr>
          <p:nvPr/>
        </p:nvPicPr>
        <p:blipFill>
          <a:blip r:embed="rId3"/>
          <a:stretch>
            <a:fillRect/>
          </a:stretch>
        </p:blipFill>
        <p:spPr>
          <a:xfrm>
            <a:off x="685800" y="1389888"/>
            <a:ext cx="384048" cy="384048"/>
          </a:xfrm>
          <a:prstGeom prst="rect">
            <a:avLst/>
          </a:prstGeom>
        </p:spPr>
      </p:pic>
      <p:sp>
        <p:nvSpPr>
          <p:cNvPr id="13" name="Country text 1"/>
          <p:cNvSpPr txBox="1"/>
          <p:nvPr/>
        </p:nvSpPr>
        <p:spPr>
          <a:xfrm>
            <a:off x="1234440" y="1234440"/>
            <a:ext cx="7315200" cy="694944"/>
          </a:xfrm>
          <a:prstGeom prst="rect">
            <a:avLst/>
          </a:prstGeom>
          <a:noFill/>
        </p:spPr>
        <p:txBody>
          <a:bodyPr wrap="square" lIns="0" rIns="0" tIns="0" bIns="0" anchor="ctr">
            <a:noAutofit/>
          </a:bodyPr>
          <a:lstStyle/>
          <a:p>
            <a:pPr algn="l">
              <a:spcAft>
                <a:spcPts val="400"/>
              </a:spcAft>
            </a:pPr>
            <a:r>
              <a:rPr sz="1200" b="1" lang="en-GB">
                <a:solidFill>
                  <a:schemeClr val="tx2"/>
                </a:solidFill>
              </a:rPr>
              <a:t>Market type: </a:t>
            </a:r>
            <a:r>
              <a:rPr sz="1200" b="0" lang="en-GB">
                <a:solidFill>
                  <a:schemeClr val="tx1"/>
                </a:solidFill>
              </a:rPr>
              <a:t>advertising matters more in emerging markets; price and distribution effects differ too (Bahadir et al. 2015, 14 markets)</a:t>
            </a:r>
          </a:p>
        </p:txBody>
      </p:sp>
      <p:sp>
        <p:nvSpPr>
          <p:cNvPr id="14" name="Country row 2"/>
          <p:cNvSpPr/>
          <p:nvPr/>
        </p:nvSpPr>
        <p:spPr>
          <a:xfrm>
            <a:off x="457200" y="2002536"/>
            <a:ext cx="8229600" cy="6949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untry bar 2"/>
          <p:cNvSpPr/>
          <p:nvPr/>
        </p:nvSpPr>
        <p:spPr>
          <a:xfrm>
            <a:off x="457200" y="2002536"/>
            <a:ext cx="64008" cy="6949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country 2" descr=""/>
          <p:cNvPicPr>
            <a:picLocks noChangeAspect="1"/>
          </p:cNvPicPr>
          <p:nvPr/>
        </p:nvPicPr>
        <p:blipFill>
          <a:blip r:embed="rId4"/>
          <a:stretch>
            <a:fillRect/>
          </a:stretch>
        </p:blipFill>
        <p:spPr>
          <a:xfrm>
            <a:off x="685800" y="2157984"/>
            <a:ext cx="384048" cy="384048"/>
          </a:xfrm>
          <a:prstGeom prst="rect">
            <a:avLst/>
          </a:prstGeom>
        </p:spPr>
      </p:pic>
      <p:sp>
        <p:nvSpPr>
          <p:cNvPr id="17" name="Country text 2"/>
          <p:cNvSpPr txBox="1"/>
          <p:nvPr/>
        </p:nvSpPr>
        <p:spPr>
          <a:xfrm>
            <a:off x="1234440" y="2002536"/>
            <a:ext cx="7315200" cy="694944"/>
          </a:xfrm>
          <a:prstGeom prst="rect">
            <a:avLst/>
          </a:prstGeom>
          <a:noFill/>
        </p:spPr>
        <p:txBody>
          <a:bodyPr wrap="square" lIns="0" rIns="0" tIns="0" bIns="0" anchor="ctr">
            <a:noAutofit/>
          </a:bodyPr>
          <a:lstStyle/>
          <a:p>
            <a:pPr algn="l">
              <a:spcAft>
                <a:spcPts val="400"/>
              </a:spcAft>
            </a:pPr>
            <a:r>
              <a:rPr sz="1200" b="1" lang="en-GB">
                <a:solidFill>
                  <a:schemeClr val="tx2"/>
                </a:solidFill>
              </a:rPr>
              <a:t>Business cycle: </a:t>
            </a:r>
            <a:r>
              <a:rPr sz="1200" b="0" lang="en-GB">
                <a:solidFill>
                  <a:schemeClr val="tx1"/>
                </a:solidFill>
              </a:rPr>
              <a:t>in downturns price sensitivity rises and advertising works less (van Heerde et al. 2013)</a:t>
            </a:r>
          </a:p>
        </p:txBody>
      </p:sp>
      <p:sp>
        <p:nvSpPr>
          <p:cNvPr id="18" name="Country row 3"/>
          <p:cNvSpPr/>
          <p:nvPr/>
        </p:nvSpPr>
        <p:spPr>
          <a:xfrm>
            <a:off x="457200" y="2770632"/>
            <a:ext cx="8229600" cy="6949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untry bar 3"/>
          <p:cNvSpPr/>
          <p:nvPr/>
        </p:nvSpPr>
        <p:spPr>
          <a:xfrm>
            <a:off x="457200" y="2770632"/>
            <a:ext cx="64008" cy="6949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country 3" descr=""/>
          <p:cNvPicPr>
            <a:picLocks noChangeAspect="1"/>
          </p:cNvPicPr>
          <p:nvPr/>
        </p:nvPicPr>
        <p:blipFill>
          <a:blip r:embed="rId5"/>
          <a:stretch>
            <a:fillRect/>
          </a:stretch>
        </p:blipFill>
        <p:spPr>
          <a:xfrm>
            <a:off x="685800" y="2926080"/>
            <a:ext cx="384048" cy="384048"/>
          </a:xfrm>
          <a:prstGeom prst="rect">
            <a:avLst/>
          </a:prstGeom>
        </p:spPr>
      </p:pic>
      <p:sp>
        <p:nvSpPr>
          <p:cNvPr id="21" name="Country text 3"/>
          <p:cNvSpPr txBox="1"/>
          <p:nvPr/>
        </p:nvSpPr>
        <p:spPr>
          <a:xfrm>
            <a:off x="1234440" y="2770632"/>
            <a:ext cx="7315200" cy="694944"/>
          </a:xfrm>
          <a:prstGeom prst="rect">
            <a:avLst/>
          </a:prstGeom>
          <a:noFill/>
        </p:spPr>
        <p:txBody>
          <a:bodyPr wrap="square" lIns="0" rIns="0" tIns="0" bIns="0" anchor="ctr">
            <a:noAutofit/>
          </a:bodyPr>
          <a:lstStyle/>
          <a:p>
            <a:pPr algn="l">
              <a:spcAft>
                <a:spcPts val="400"/>
              </a:spcAft>
            </a:pPr>
            <a:r>
              <a:rPr sz="1200" b="1" lang="en-GB">
                <a:solidFill>
                  <a:schemeClr val="tx2"/>
                </a:solidFill>
              </a:rPr>
              <a:t>Culture: </a:t>
            </a:r>
            <a:r>
              <a:rPr sz="1200" b="0" lang="en-GB">
                <a:solidFill>
                  <a:schemeClr val="tx1"/>
                </a:solidFill>
              </a:rPr>
              <a:t>how strongly ad budgets follow the economy depends on national culture (Deleersnyder et al. 2009, 37 countries)</a:t>
            </a:r>
          </a:p>
        </p:txBody>
      </p:sp>
      <p:sp>
        <p:nvSpPr>
          <p:cNvPr id="22" name="Country row 4"/>
          <p:cNvSpPr/>
          <p:nvPr/>
        </p:nvSpPr>
        <p:spPr>
          <a:xfrm>
            <a:off x="457200" y="3538728"/>
            <a:ext cx="8229600" cy="6949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untry bar 4"/>
          <p:cNvSpPr/>
          <p:nvPr/>
        </p:nvSpPr>
        <p:spPr>
          <a:xfrm>
            <a:off x="457200" y="3538728"/>
            <a:ext cx="64008" cy="6949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country 4" descr=""/>
          <p:cNvPicPr>
            <a:picLocks noChangeAspect="1"/>
          </p:cNvPicPr>
          <p:nvPr/>
        </p:nvPicPr>
        <p:blipFill>
          <a:blip r:embed="rId6"/>
          <a:stretch>
            <a:fillRect/>
          </a:stretch>
        </p:blipFill>
        <p:spPr>
          <a:xfrm>
            <a:off x="685800" y="3694176"/>
            <a:ext cx="384048" cy="384048"/>
          </a:xfrm>
          <a:prstGeom prst="rect">
            <a:avLst/>
          </a:prstGeom>
        </p:spPr>
      </p:pic>
      <p:sp>
        <p:nvSpPr>
          <p:cNvPr id="25" name="Country text 4"/>
          <p:cNvSpPr txBox="1"/>
          <p:nvPr/>
        </p:nvSpPr>
        <p:spPr>
          <a:xfrm>
            <a:off x="1234440" y="3538728"/>
            <a:ext cx="7315200" cy="694944"/>
          </a:xfrm>
          <a:prstGeom prst="rect">
            <a:avLst/>
          </a:prstGeom>
          <a:noFill/>
        </p:spPr>
        <p:txBody>
          <a:bodyPr wrap="square" lIns="0" rIns="0" tIns="0" bIns="0" anchor="ctr">
            <a:noAutofit/>
          </a:bodyPr>
          <a:lstStyle/>
          <a:p>
            <a:pPr algn="l">
              <a:spcAft>
                <a:spcPts val="400"/>
              </a:spcAft>
            </a:pPr>
            <a:r>
              <a:rPr sz="1200" b="1" lang="en-GB">
                <a:solidFill>
                  <a:schemeClr val="tx2"/>
                </a:solidFill>
              </a:rPr>
              <a:t>Payoff: </a:t>
            </a:r>
            <a:r>
              <a:rPr sz="1200" b="0" lang="en-GB">
                <a:solidFill>
                  <a:schemeClr val="tx1"/>
                </a:solidFill>
              </a:rPr>
              <a:t>reallocating across countries with elasticities: about EUR 500m more profit at Bayer (Fischer et al. 2011)</a:t>
            </a:r>
          </a:p>
        </p:txBody>
      </p:sp>
      <p:sp>
        <p:nvSpPr>
          <p:cNvPr id="26" name="Country rule box"/>
          <p:cNvSpPr/>
          <p:nvPr/>
        </p:nvSpPr>
        <p:spPr>
          <a:xfrm>
            <a:off x="457200" y="434340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Country rule" descr=""/>
          <p:cNvPicPr>
            <a:picLocks noChangeAspect="1"/>
          </p:cNvPicPr>
          <p:nvPr/>
        </p:nvPicPr>
        <p:blipFill>
          <a:blip r:embed="rId7"/>
          <a:stretch>
            <a:fillRect/>
          </a:stretch>
        </p:blipFill>
        <p:spPr>
          <a:xfrm>
            <a:off x="658368" y="4526280"/>
            <a:ext cx="365760" cy="365760"/>
          </a:xfrm>
          <a:prstGeom prst="rect">
            <a:avLst/>
          </a:prstGeom>
        </p:spPr>
      </p:pic>
      <p:sp>
        <p:nvSpPr>
          <p:cNvPr id="28" name="Country rule text"/>
          <p:cNvSpPr txBox="1"/>
          <p:nvPr/>
        </p:nvSpPr>
        <p:spPr>
          <a:xfrm>
            <a:off x="1207008" y="434340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For Alpenglow: </a:t>
            </a:r>
            <a:r>
              <a:rPr sz="1200" b="0" lang="en-GB">
                <a:solidFill>
                  <a:schemeClr val="bg1"/>
                </a:solidFill>
              </a:rPr>
              <a:t>expect Poland to respond differently from Germany. Hierarchical models let countries differ while borrowing strength from each other (Sun et al. 2017).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5 · data, pitfalls, validation, Bayesian priors, open-source tools</a:t>
            </a:r>
          </a:p>
        </p:txBody>
      </p:sp>
      <p:sp>
        <p:nvSpPr>
          <p:cNvPr id="3" name="Title 2"/>
          <p:cNvSpPr>
            <a:spLocks noGrp="1"/>
          </p:cNvSpPr>
          <p:nvPr>
            <p:ph type="ctrTitle"/>
          </p:nvPr>
        </p:nvSpPr>
        <p:spPr/>
        <p:txBody>
          <a:bodyPr/>
          <a:lstStyle/>
          <a:p>
            <a:r>
              <a:rPr sz="1600" lang="en-GB"/>
              <a:t>Doing it well</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What the data must offer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tile 1 tile"/>
          <p:cNvSpPr/>
          <p:nvPr/>
        </p:nvSpPr>
        <p:spPr>
          <a:xfrm>
            <a:off x="457200" y="1234440"/>
            <a:ext cx="404622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ata tile 1" descr=""/>
          <p:cNvPicPr>
            <a:picLocks noChangeAspect="1"/>
          </p:cNvPicPr>
          <p:nvPr/>
        </p:nvPicPr>
        <p:blipFill>
          <a:blip r:embed="rId3"/>
          <a:stretch>
            <a:fillRect/>
          </a:stretch>
        </p:blipFill>
        <p:spPr>
          <a:xfrm>
            <a:off x="594360" y="1371600"/>
            <a:ext cx="365760" cy="365760"/>
          </a:xfrm>
          <a:prstGeom prst="rect">
            <a:avLst/>
          </a:prstGeom>
        </p:spPr>
      </p:pic>
      <p:sp>
        <p:nvSpPr>
          <p:cNvPr id="12" name="Data tile 1 heading"/>
          <p:cNvSpPr txBox="1"/>
          <p:nvPr/>
        </p:nvSpPr>
        <p:spPr>
          <a:xfrm>
            <a:off x="105156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Two to three years, weekly</a:t>
            </a:r>
          </a:p>
        </p:txBody>
      </p:sp>
      <p:sp>
        <p:nvSpPr>
          <p:cNvPr id="13" name="Data tile 1 text"/>
          <p:cNvSpPr txBox="1"/>
          <p:nvPr/>
        </p:nvSpPr>
        <p:spPr>
          <a:xfrm>
            <a:off x="594360" y="1856232"/>
            <a:ext cx="3771900" cy="640080"/>
          </a:xfrm>
          <a:prstGeom prst="rect">
            <a:avLst/>
          </a:prstGeom>
          <a:noFill/>
        </p:spPr>
        <p:txBody>
          <a:bodyPr wrap="square" lIns="0" rIns="0" tIns="0" bIns="0" anchor="t">
            <a:noAutofit/>
          </a:bodyPr>
          <a:lstStyle/>
          <a:p>
            <a:pPr algn="l">
              <a:spcAft>
                <a:spcPts val="400"/>
              </a:spcAft>
            </a:pPr>
            <a:r>
              <a:rPr sz="1300" b="0" lang="en-GB">
                <a:solidFill>
                  <a:schemeClr val="tx1"/>
                </a:solidFill>
              </a:rPr>
              <a:t>Seasons must repeat; Alpenglow has 156 weeks per country</a:t>
            </a:r>
          </a:p>
        </p:txBody>
      </p:sp>
      <p:sp>
        <p:nvSpPr>
          <p:cNvPr id="14" name="Data tile 2 tile"/>
          <p:cNvSpPr/>
          <p:nvPr/>
        </p:nvSpPr>
        <p:spPr>
          <a:xfrm>
            <a:off x="4640580" y="1234440"/>
            <a:ext cx="404622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Data tile 2" descr=""/>
          <p:cNvPicPr>
            <a:picLocks noChangeAspect="1"/>
          </p:cNvPicPr>
          <p:nvPr/>
        </p:nvPicPr>
        <p:blipFill>
          <a:blip r:embed="rId4"/>
          <a:stretch>
            <a:fillRect/>
          </a:stretch>
        </p:blipFill>
        <p:spPr>
          <a:xfrm>
            <a:off x="4777740" y="1371600"/>
            <a:ext cx="365760" cy="365760"/>
          </a:xfrm>
          <a:prstGeom prst="rect">
            <a:avLst/>
          </a:prstGeom>
        </p:spPr>
      </p:pic>
      <p:sp>
        <p:nvSpPr>
          <p:cNvPr id="16" name="Data tile 2 heading"/>
          <p:cNvSpPr txBox="1"/>
          <p:nvPr/>
        </p:nvSpPr>
        <p:spPr>
          <a:xfrm>
            <a:off x="523494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Variation in spend</a:t>
            </a:r>
          </a:p>
        </p:txBody>
      </p:sp>
      <p:sp>
        <p:nvSpPr>
          <p:cNvPr id="17" name="Data tile 2 text"/>
          <p:cNvSpPr txBox="1"/>
          <p:nvPr/>
        </p:nvSpPr>
        <p:spPr>
          <a:xfrm>
            <a:off x="4777740" y="1856232"/>
            <a:ext cx="3771900" cy="640080"/>
          </a:xfrm>
          <a:prstGeom prst="rect">
            <a:avLst/>
          </a:prstGeom>
          <a:noFill/>
        </p:spPr>
        <p:txBody>
          <a:bodyPr wrap="square" lIns="0" rIns="0" tIns="0" bIns="0" anchor="t">
            <a:noAutofit/>
          </a:bodyPr>
          <a:lstStyle/>
          <a:p>
            <a:pPr algn="l">
              <a:spcAft>
                <a:spcPts val="400"/>
              </a:spcAft>
            </a:pPr>
            <a:r>
              <a:rPr sz="1300" b="0" lang="en-GB">
                <a:solidFill>
                  <a:schemeClr val="tx1"/>
                </a:solidFill>
              </a:rPr>
              <a:t>Channels must move up and down, and not always together</a:t>
            </a:r>
          </a:p>
        </p:txBody>
      </p:sp>
      <p:sp>
        <p:nvSpPr>
          <p:cNvPr id="18" name="Data tile 3 tile"/>
          <p:cNvSpPr/>
          <p:nvPr/>
        </p:nvSpPr>
        <p:spPr>
          <a:xfrm>
            <a:off x="457200" y="2697480"/>
            <a:ext cx="404622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Data tile 3" descr=""/>
          <p:cNvPicPr>
            <a:picLocks noChangeAspect="1"/>
          </p:cNvPicPr>
          <p:nvPr/>
        </p:nvPicPr>
        <p:blipFill>
          <a:blip r:embed="rId5"/>
          <a:stretch>
            <a:fillRect/>
          </a:stretch>
        </p:blipFill>
        <p:spPr>
          <a:xfrm>
            <a:off x="594360" y="2834640"/>
            <a:ext cx="365760" cy="365760"/>
          </a:xfrm>
          <a:prstGeom prst="rect">
            <a:avLst/>
          </a:prstGeom>
        </p:spPr>
      </p:pic>
      <p:sp>
        <p:nvSpPr>
          <p:cNvPr id="20" name="Data tile 3 heading"/>
          <p:cNvSpPr txBox="1"/>
          <p:nvPr/>
        </p:nvSpPr>
        <p:spPr>
          <a:xfrm>
            <a:off x="1051560" y="283464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Fine geography</a:t>
            </a:r>
          </a:p>
        </p:txBody>
      </p:sp>
      <p:sp>
        <p:nvSpPr>
          <p:cNvPr id="21" name="Data tile 3 text"/>
          <p:cNvSpPr txBox="1"/>
          <p:nvPr/>
        </p:nvSpPr>
        <p:spPr>
          <a:xfrm>
            <a:off x="594360" y="3319272"/>
            <a:ext cx="3771900" cy="640080"/>
          </a:xfrm>
          <a:prstGeom prst="rect">
            <a:avLst/>
          </a:prstGeom>
          <a:noFill/>
        </p:spPr>
        <p:txBody>
          <a:bodyPr wrap="square" lIns="0" rIns="0" tIns="0" bIns="0" anchor="t">
            <a:noAutofit/>
          </a:bodyPr>
          <a:lstStyle/>
          <a:p>
            <a:pPr algn="l">
              <a:spcAft>
                <a:spcPts val="400"/>
              </a:spcAft>
            </a:pPr>
            <a:r>
              <a:rPr sz="1300" b="0" lang="en-GB">
                <a:solidFill>
                  <a:schemeClr val="tx1"/>
                </a:solidFill>
              </a:rPr>
              <a:t>Countries or regions, not one national total (Nielsen 2022)</a:t>
            </a:r>
          </a:p>
        </p:txBody>
      </p:sp>
      <p:sp>
        <p:nvSpPr>
          <p:cNvPr id="22" name="Data tile 4 tile"/>
          <p:cNvSpPr/>
          <p:nvPr/>
        </p:nvSpPr>
        <p:spPr>
          <a:xfrm>
            <a:off x="4640580" y="2697480"/>
            <a:ext cx="404622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Data tile 4" descr=""/>
          <p:cNvPicPr>
            <a:picLocks noChangeAspect="1"/>
          </p:cNvPicPr>
          <p:nvPr/>
        </p:nvPicPr>
        <p:blipFill>
          <a:blip r:embed="rId6"/>
          <a:stretch>
            <a:fillRect/>
          </a:stretch>
        </p:blipFill>
        <p:spPr>
          <a:xfrm>
            <a:off x="4777740" y="2834640"/>
            <a:ext cx="365760" cy="365760"/>
          </a:xfrm>
          <a:prstGeom prst="rect">
            <a:avLst/>
          </a:prstGeom>
        </p:spPr>
      </p:pic>
      <p:sp>
        <p:nvSpPr>
          <p:cNvPr id="24" name="Data tile 4 heading"/>
          <p:cNvSpPr txBox="1"/>
          <p:nvPr/>
        </p:nvSpPr>
        <p:spPr>
          <a:xfrm>
            <a:off x="5234940" y="283464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All drivers</a:t>
            </a:r>
          </a:p>
        </p:txBody>
      </p:sp>
      <p:sp>
        <p:nvSpPr>
          <p:cNvPr id="25" name="Data tile 4 text"/>
          <p:cNvSpPr txBox="1"/>
          <p:nvPr/>
        </p:nvSpPr>
        <p:spPr>
          <a:xfrm>
            <a:off x="4777740" y="3319272"/>
            <a:ext cx="3771900" cy="640080"/>
          </a:xfrm>
          <a:prstGeom prst="rect">
            <a:avLst/>
          </a:prstGeom>
          <a:noFill/>
        </p:spPr>
        <p:txBody>
          <a:bodyPr wrap="square" lIns="0" rIns="0" tIns="0" bIns="0" anchor="t">
            <a:noAutofit/>
          </a:bodyPr>
          <a:lstStyle/>
          <a:p>
            <a:pPr algn="l">
              <a:spcAft>
                <a:spcPts val="400"/>
              </a:spcAft>
            </a:pPr>
            <a:r>
              <a:rPr sz="1300" b="0" lang="en-GB">
                <a:solidFill>
                  <a:schemeClr val="tx1"/>
                </a:solidFill>
              </a:rPr>
              <a:t>Price, distribution, season and competitors, not only media</a:t>
            </a:r>
          </a:p>
        </p:txBody>
      </p:sp>
      <p:sp>
        <p:nvSpPr>
          <p:cNvPr id="26" name="Media-only box"/>
          <p:cNvSpPr/>
          <p:nvPr/>
        </p:nvSpPr>
        <p:spPr>
          <a:xfrm>
            <a:off x="457200" y="4114800"/>
            <a:ext cx="82296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edia-only figure"/>
          <p:cNvSpPr txBox="1"/>
          <p:nvPr/>
        </p:nvSpPr>
        <p:spPr>
          <a:xfrm>
            <a:off x="685800" y="4114800"/>
            <a:ext cx="1463040" cy="868680"/>
          </a:xfrm>
          <a:prstGeom prst="rect">
            <a:avLst/>
          </a:prstGeom>
          <a:noFill/>
        </p:spPr>
        <p:txBody>
          <a:bodyPr wrap="square" lIns="0" rIns="0" tIns="0" bIns="0" anchor="ctr">
            <a:noAutofit/>
          </a:bodyPr>
          <a:lstStyle/>
          <a:p>
            <a:pPr algn="l">
              <a:spcAft>
                <a:spcPts val="400"/>
              </a:spcAft>
            </a:pPr>
            <a:r>
              <a:rPr sz="2800" b="1" lang="en-GB">
                <a:solidFill>
                  <a:schemeClr val="bg1"/>
                </a:solidFill>
                <a:latin typeface="+mj-lt"/>
              </a:rPr>
              <a:t>+68 %</a:t>
            </a:r>
          </a:p>
        </p:txBody>
      </p:sp>
      <p:sp>
        <p:nvSpPr>
          <p:cNvPr id="28" name="Media-only text"/>
          <p:cNvSpPr txBox="1"/>
          <p:nvPr/>
        </p:nvSpPr>
        <p:spPr>
          <a:xfrm>
            <a:off x="2194560" y="4114800"/>
            <a:ext cx="6309360" cy="868680"/>
          </a:xfrm>
          <a:prstGeom prst="rect">
            <a:avLst/>
          </a:prstGeom>
          <a:noFill/>
        </p:spPr>
        <p:txBody>
          <a:bodyPr wrap="square" lIns="0" rIns="0" tIns="0" bIns="0" anchor="ctr">
            <a:noAutofit/>
          </a:bodyPr>
          <a:lstStyle/>
          <a:p>
            <a:pPr algn="l">
              <a:spcAft>
                <a:spcPts val="400"/>
              </a:spcAft>
            </a:pPr>
            <a:r>
              <a:rPr sz="1200" b="1" lang="en-GB">
                <a:solidFill>
                  <a:schemeClr val="bg1"/>
                </a:solidFill>
              </a:rPr>
              <a:t>A media-only model </a:t>
            </a:r>
            <a:r>
              <a:rPr sz="1200" b="0" lang="en-GB">
                <a:solidFill>
                  <a:schemeClr val="bg1"/>
                </a:solidFill>
              </a:rPr>
              <a:t>overstated advertising ROI by 68 % compared with a model that included the other drivers (Nielsen 2022).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Four pitfalls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itfall 1 body"/>
          <p:cNvSpPr/>
          <p:nvPr/>
        </p:nvSpPr>
        <p:spPr>
          <a:xfrm>
            <a:off x="457200" y="164592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itfall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itfall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Endogeneity</a:t>
            </a:r>
          </a:p>
        </p:txBody>
      </p:sp>
      <p:pic>
        <p:nvPicPr>
          <p:cNvPr id="13" name="Icon Pitfall 1" descr=""/>
          <p:cNvPicPr>
            <a:picLocks noChangeAspect="1"/>
          </p:cNvPicPr>
          <p:nvPr/>
        </p:nvPicPr>
        <p:blipFill>
          <a:blip r:embed="rId3"/>
          <a:stretch>
            <a:fillRect/>
          </a:stretch>
        </p:blipFill>
        <p:spPr>
          <a:xfrm>
            <a:off x="4064508" y="1284732"/>
            <a:ext cx="310896" cy="310896"/>
          </a:xfrm>
          <a:prstGeom prst="rect">
            <a:avLst/>
          </a:prstGeom>
        </p:spPr>
      </p:pic>
      <p:sp>
        <p:nvSpPr>
          <p:cNvPr id="14" name="Pitfall 1 text"/>
          <p:cNvSpPr txBox="1"/>
          <p:nvPr/>
        </p:nvSpPr>
        <p:spPr>
          <a:xfrm>
            <a:off x="621792" y="1783080"/>
            <a:ext cx="3744468" cy="640080"/>
          </a:xfrm>
          <a:prstGeom prst="rect">
            <a:avLst/>
          </a:prstGeom>
          <a:noFill/>
        </p:spPr>
        <p:txBody>
          <a:bodyPr wrap="square" lIns="0" rIns="0" tIns="0" bIns="0" anchor="t">
            <a:noAutofit/>
          </a:bodyPr>
          <a:lstStyle/>
          <a:p>
            <a:pPr algn="l">
              <a:spcAft>
                <a:spcPts val="600"/>
              </a:spcAft>
            </a:pPr>
            <a:r>
              <a:rPr sz="1300" b="0" lang="en-GB">
                <a:solidFill>
                  <a:schemeClr val="tx1"/>
                </a:solidFill>
              </a:rPr>
              <a:t>Budgets follow demand: German TV spend nearly doubles in Christmas weeks</a:t>
            </a:r>
          </a:p>
        </p:txBody>
      </p:sp>
      <p:sp>
        <p:nvSpPr>
          <p:cNvPr id="15" name="Pitfall 2 body"/>
          <p:cNvSpPr/>
          <p:nvPr/>
        </p:nvSpPr>
        <p:spPr>
          <a:xfrm>
            <a:off x="4640580" y="164592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itfall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itfall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Multicollinearity</a:t>
            </a:r>
          </a:p>
        </p:txBody>
      </p:sp>
      <p:pic>
        <p:nvPicPr>
          <p:cNvPr id="18" name="Icon Pitfall 2" descr=""/>
          <p:cNvPicPr>
            <a:picLocks noChangeAspect="1"/>
          </p:cNvPicPr>
          <p:nvPr/>
        </p:nvPicPr>
        <p:blipFill>
          <a:blip r:embed="rId4"/>
          <a:stretch>
            <a:fillRect/>
          </a:stretch>
        </p:blipFill>
        <p:spPr>
          <a:xfrm>
            <a:off x="8247888" y="1284732"/>
            <a:ext cx="310896" cy="310896"/>
          </a:xfrm>
          <a:prstGeom prst="rect">
            <a:avLst/>
          </a:prstGeom>
        </p:spPr>
      </p:pic>
      <p:sp>
        <p:nvSpPr>
          <p:cNvPr id="19" name="Pitfall 2 text"/>
          <p:cNvSpPr txBox="1"/>
          <p:nvPr/>
        </p:nvSpPr>
        <p:spPr>
          <a:xfrm>
            <a:off x="4805172" y="1783080"/>
            <a:ext cx="3744468" cy="640080"/>
          </a:xfrm>
          <a:prstGeom prst="rect">
            <a:avLst/>
          </a:prstGeom>
          <a:noFill/>
        </p:spPr>
        <p:txBody>
          <a:bodyPr wrap="square" lIns="0" rIns="0" tIns="0" bIns="0" anchor="t">
            <a:noAutofit/>
          </a:bodyPr>
          <a:lstStyle/>
          <a:p>
            <a:pPr algn="l">
              <a:spcAft>
                <a:spcPts val="600"/>
              </a:spcAft>
            </a:pPr>
            <a:r>
              <a:rPr sz="1300" b="0" lang="en-GB">
                <a:solidFill>
                  <a:schemeClr val="tx1"/>
                </a:solidFill>
              </a:rPr>
              <a:t>Channels that move together cannot be told apart; check the VIF</a:t>
            </a:r>
          </a:p>
        </p:txBody>
      </p:sp>
      <p:sp>
        <p:nvSpPr>
          <p:cNvPr id="20" name="Pitfall 3 body"/>
          <p:cNvSpPr/>
          <p:nvPr/>
        </p:nvSpPr>
        <p:spPr>
          <a:xfrm>
            <a:off x="457200" y="310896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itfall 3 header"/>
          <p:cNvSpPr/>
          <p:nvPr/>
        </p:nvSpPr>
        <p:spPr>
          <a:xfrm>
            <a:off x="457200" y="26974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itfall 3 heading"/>
          <p:cNvSpPr txBox="1"/>
          <p:nvPr/>
        </p:nvSpPr>
        <p:spPr>
          <a:xfrm>
            <a:off x="594360" y="269748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Overfitting</a:t>
            </a:r>
          </a:p>
        </p:txBody>
      </p:sp>
      <p:pic>
        <p:nvPicPr>
          <p:cNvPr id="23" name="Icon Pitfall 3" descr=""/>
          <p:cNvPicPr>
            <a:picLocks noChangeAspect="1"/>
          </p:cNvPicPr>
          <p:nvPr/>
        </p:nvPicPr>
        <p:blipFill>
          <a:blip r:embed="rId5"/>
          <a:stretch>
            <a:fillRect/>
          </a:stretch>
        </p:blipFill>
        <p:spPr>
          <a:xfrm>
            <a:off x="4064508" y="2747772"/>
            <a:ext cx="310896" cy="310896"/>
          </a:xfrm>
          <a:prstGeom prst="rect">
            <a:avLst/>
          </a:prstGeom>
        </p:spPr>
      </p:pic>
      <p:sp>
        <p:nvSpPr>
          <p:cNvPr id="24" name="Pitfall 3 text"/>
          <p:cNvSpPr txBox="1"/>
          <p:nvPr/>
        </p:nvSpPr>
        <p:spPr>
          <a:xfrm>
            <a:off x="621792" y="3246120"/>
            <a:ext cx="3744468" cy="640080"/>
          </a:xfrm>
          <a:prstGeom prst="rect">
            <a:avLst/>
          </a:prstGeom>
          <a:noFill/>
        </p:spPr>
        <p:txBody>
          <a:bodyPr wrap="square" lIns="0" rIns="0" tIns="0" bIns="0" anchor="t">
            <a:noAutofit/>
          </a:bodyPr>
          <a:lstStyle/>
          <a:p>
            <a:pPr algn="l">
              <a:spcAft>
                <a:spcPts val="600"/>
              </a:spcAft>
            </a:pPr>
            <a:r>
              <a:rPr sz="1300" b="0" lang="en-GB">
                <a:solidFill>
                  <a:schemeClr val="tx1"/>
                </a:solidFill>
              </a:rPr>
              <a:t>Many parameters, few weeks: the fit looks great, the forecast fails</a:t>
            </a:r>
          </a:p>
        </p:txBody>
      </p:sp>
      <p:sp>
        <p:nvSpPr>
          <p:cNvPr id="25" name="Pitfall 4 body"/>
          <p:cNvSpPr/>
          <p:nvPr/>
        </p:nvSpPr>
        <p:spPr>
          <a:xfrm>
            <a:off x="4640580" y="310896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itfall 4 header"/>
          <p:cNvSpPr/>
          <p:nvPr/>
        </p:nvSpPr>
        <p:spPr>
          <a:xfrm>
            <a:off x="4640580" y="26974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itfall 4 heading"/>
          <p:cNvSpPr txBox="1"/>
          <p:nvPr/>
        </p:nvSpPr>
        <p:spPr>
          <a:xfrm>
            <a:off x="4777740" y="269748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Identification</a:t>
            </a:r>
          </a:p>
        </p:txBody>
      </p:sp>
      <p:pic>
        <p:nvPicPr>
          <p:cNvPr id="28" name="Icon Pitfall 4" descr=""/>
          <p:cNvPicPr>
            <a:picLocks noChangeAspect="1"/>
          </p:cNvPicPr>
          <p:nvPr/>
        </p:nvPicPr>
        <p:blipFill>
          <a:blip r:embed="rId6"/>
          <a:stretch>
            <a:fillRect/>
          </a:stretch>
        </p:blipFill>
        <p:spPr>
          <a:xfrm>
            <a:off x="8247888" y="2747772"/>
            <a:ext cx="310896" cy="310896"/>
          </a:xfrm>
          <a:prstGeom prst="rect">
            <a:avLst/>
          </a:prstGeom>
        </p:spPr>
      </p:pic>
      <p:sp>
        <p:nvSpPr>
          <p:cNvPr id="29" name="Pitfall 4 text"/>
          <p:cNvSpPr txBox="1"/>
          <p:nvPr/>
        </p:nvSpPr>
        <p:spPr>
          <a:xfrm>
            <a:off x="4805172" y="3246120"/>
            <a:ext cx="3744468" cy="640080"/>
          </a:xfrm>
          <a:prstGeom prst="rect">
            <a:avLst/>
          </a:prstGeom>
          <a:noFill/>
        </p:spPr>
        <p:txBody>
          <a:bodyPr wrap="square" lIns="0" rIns="0" tIns="0" bIns="0" anchor="t">
            <a:noAutofit/>
          </a:bodyPr>
          <a:lstStyle/>
          <a:p>
            <a:pPr algn="l">
              <a:spcAft>
                <a:spcPts val="600"/>
              </a:spcAft>
            </a:pPr>
            <a:r>
              <a:rPr sz="1300" b="0" lang="en-GB">
                <a:solidFill>
                  <a:schemeClr val="tx1"/>
                </a:solidFill>
              </a:rPr>
              <a:t>Saturation and effects that change over time can mimic each other</a:t>
            </a:r>
          </a:p>
        </p:txBody>
      </p:sp>
      <p:sp>
        <p:nvSpPr>
          <p:cNvPr id="30" name="Heusch box"/>
          <p:cNvSpPr/>
          <p:nvPr/>
        </p:nvSpPr>
        <p:spPr>
          <a:xfrm>
            <a:off x="457200" y="4114800"/>
            <a:ext cx="82296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Heusch figure"/>
          <p:cNvSpPr txBox="1"/>
          <p:nvPr/>
        </p:nvSpPr>
        <p:spPr>
          <a:xfrm>
            <a:off x="685800" y="4114800"/>
            <a:ext cx="1737360" cy="868680"/>
          </a:xfrm>
          <a:prstGeom prst="rect">
            <a:avLst/>
          </a:prstGeom>
          <a:noFill/>
        </p:spPr>
        <p:txBody>
          <a:bodyPr wrap="square" lIns="0" rIns="0" tIns="0" bIns="0" anchor="ctr">
            <a:noAutofit/>
          </a:bodyPr>
          <a:lstStyle/>
          <a:p>
            <a:pPr algn="l">
              <a:spcAft>
                <a:spcPts val="400"/>
              </a:spcAft>
            </a:pPr>
            <a:r>
              <a:rPr sz="2200" b="1" lang="en-GB">
                <a:solidFill>
                  <a:schemeClr val="bg1"/>
                </a:solidFill>
                <a:latin typeface="+mj-lt"/>
              </a:rPr>
              <a:t>10.6 vs 4.2</a:t>
            </a:r>
          </a:p>
        </p:txBody>
      </p:sp>
      <p:sp>
        <p:nvSpPr>
          <p:cNvPr id="32" name="Heusch text"/>
          <p:cNvSpPr txBox="1"/>
          <p:nvPr/>
        </p:nvSpPr>
        <p:spPr>
          <a:xfrm>
            <a:off x="2514600" y="4114800"/>
            <a:ext cx="5989320" cy="868680"/>
          </a:xfrm>
          <a:prstGeom prst="rect">
            <a:avLst/>
          </a:prstGeom>
          <a:noFill/>
        </p:spPr>
        <p:txBody>
          <a:bodyPr wrap="square" lIns="0" rIns="0" tIns="0" bIns="0" anchor="ctr">
            <a:noAutofit/>
          </a:bodyPr>
          <a:lstStyle/>
          <a:p>
            <a:pPr algn="l">
              <a:spcAft>
                <a:spcPts val="400"/>
              </a:spcAft>
            </a:pPr>
            <a:r>
              <a:rPr sz="1200" b="1" lang="en-GB">
                <a:solidFill>
                  <a:schemeClr val="bg1"/>
                </a:solidFill>
              </a:rPr>
              <a:t>Paid-search ROAS: </a:t>
            </a:r>
            <a:r>
              <a:rPr sz="1200" b="0" lang="en-GB">
                <a:solidFill>
                  <a:schemeClr val="bg1"/>
                </a:solidFill>
              </a:rPr>
              <a:t>a standard MMM against geo experiments at Zalando (Heusch 2026).</a:t>
            </a:r>
          </a:p>
        </p:txBody>
      </p:sp>
      <p:sp>
        <p:nvSpPr>
          <p:cNvPr id="33" name="Sources"/>
          <p:cNvSpPr txBox="1"/>
          <p:nvPr/>
        </p:nvSpPr>
        <p:spPr>
          <a:xfrm>
            <a:off x="457200" y="500176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Chan &amp; Perry 2017; Dew et al. 2024; Heusch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Validate before you trust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Validation steps step 1"/>
          <p:cNvSpPr/>
          <p:nvPr/>
        </p:nvSpPr>
        <p:spPr>
          <a:xfrm>
            <a:off x="457200" y="1234440"/>
            <a:ext cx="2139696"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Fit</a:t>
            </a:r>
          </a:p>
        </p:txBody>
      </p:sp>
      <p:sp>
        <p:nvSpPr>
          <p:cNvPr id="11" name="Validation steps step 2"/>
          <p:cNvSpPr/>
          <p:nvPr/>
        </p:nvSpPr>
        <p:spPr>
          <a:xfrm>
            <a:off x="2487168"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Holdout</a:t>
            </a:r>
            <a:br/>
            <a:r>
              <a:rPr sz="1200" b="1" lang="en-GB">
                <a:solidFill>
                  <a:schemeClr val="tx2"/>
                </a:solidFill>
              </a:rPr>
              <a:t>forecast</a:t>
            </a:r>
          </a:p>
        </p:txBody>
      </p:sp>
      <p:sp>
        <p:nvSpPr>
          <p:cNvPr id="12" name="Validation steps step 3"/>
          <p:cNvSpPr/>
          <p:nvPr/>
        </p:nvSpPr>
        <p:spPr>
          <a:xfrm>
            <a:off x="4517136"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Plausibility</a:t>
            </a:r>
            <a:br/>
            <a:r>
              <a:rPr sz="1200" b="1" lang="en-GB">
                <a:solidFill>
                  <a:schemeClr val="tx2"/>
                </a:solidFill>
              </a:rPr>
              <a:t>checks</a:t>
            </a:r>
          </a:p>
        </p:txBody>
      </p:sp>
      <p:sp>
        <p:nvSpPr>
          <p:cNvPr id="13" name="Validation steps step 4"/>
          <p:cNvSpPr/>
          <p:nvPr/>
        </p:nvSpPr>
        <p:spPr>
          <a:xfrm>
            <a:off x="6547104" y="1234440"/>
            <a:ext cx="2139696" cy="548640"/>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Calibrate with</a:t>
            </a:r>
            <a:br/>
            <a:r>
              <a:rPr sz="1200" b="1" lang="en-GB">
                <a:solidFill>
                  <a:schemeClr val="bg1"/>
                </a:solidFill>
              </a:rPr>
              <a:t>experiments</a:t>
            </a:r>
          </a:p>
        </p:txBody>
      </p:sp>
      <p:sp>
        <p:nvSpPr>
          <p:cNvPr id="14" name="Validation card 1 body"/>
          <p:cNvSpPr/>
          <p:nvPr/>
        </p:nvSpPr>
        <p:spPr>
          <a:xfrm>
            <a:off x="457200" y="2377440"/>
            <a:ext cx="2651760" cy="1645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Validation card 1 header"/>
          <p:cNvSpPr/>
          <p:nvPr/>
        </p:nvSpPr>
        <p:spPr>
          <a:xfrm>
            <a:off x="45720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Validation card 1 heading"/>
          <p:cNvSpPr txBox="1"/>
          <p:nvPr/>
        </p:nvSpPr>
        <p:spPr>
          <a:xfrm>
            <a:off x="59436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Holdout</a:t>
            </a:r>
          </a:p>
        </p:txBody>
      </p:sp>
      <p:pic>
        <p:nvPicPr>
          <p:cNvPr id="17" name="Icon Validation card 1" descr=""/>
          <p:cNvPicPr>
            <a:picLocks noChangeAspect="1"/>
          </p:cNvPicPr>
          <p:nvPr/>
        </p:nvPicPr>
        <p:blipFill>
          <a:blip r:embed="rId3"/>
          <a:stretch>
            <a:fillRect/>
          </a:stretch>
        </p:blipFill>
        <p:spPr>
          <a:xfrm>
            <a:off x="2670048" y="2016252"/>
            <a:ext cx="310896" cy="310896"/>
          </a:xfrm>
          <a:prstGeom prst="rect">
            <a:avLst/>
          </a:prstGeom>
        </p:spPr>
      </p:pic>
      <p:sp>
        <p:nvSpPr>
          <p:cNvPr id="18" name="Validation card 1 text"/>
          <p:cNvSpPr txBox="1"/>
          <p:nvPr/>
        </p:nvSpPr>
        <p:spPr>
          <a:xfrm>
            <a:off x="621792" y="2514600"/>
            <a:ext cx="2350008" cy="13716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Fit to 2023–2024</a:t>
            </a:r>
          </a:p>
          <a:p>
            <a:pPr algn="l" marL="182880" indent="-182880">
              <a:spcAft>
                <a:spcPts val="600"/>
              </a:spcAft>
              <a:buClr>
                <a:schemeClr val="accent1"/>
              </a:buClr>
              <a:buFont typeface="Arial"/>
              <a:buChar char="▪"/>
            </a:pPr>
            <a:r>
              <a:rPr sz="1300" b="0" lang="en-GB">
                <a:solidFill>
                  <a:schemeClr val="tx1"/>
                </a:solidFill>
              </a:rPr>
              <a:t>Forecast 2025</a:t>
            </a:r>
          </a:p>
          <a:p>
            <a:pPr algn="l" marL="182880" indent="-182880">
              <a:spcAft>
                <a:spcPts val="600"/>
              </a:spcAft>
              <a:buClr>
                <a:schemeClr val="accent1"/>
              </a:buClr>
              <a:buFont typeface="Arial"/>
              <a:buChar char="▪"/>
            </a:pPr>
            <a:r>
              <a:rPr sz="1300" b="0" lang="en-GB">
                <a:solidFill>
                  <a:schemeClr val="tx1"/>
                </a:solidFill>
              </a:rPr>
              <a:t>Compare errors (MAPE)</a:t>
            </a:r>
          </a:p>
        </p:txBody>
      </p:sp>
      <p:sp>
        <p:nvSpPr>
          <p:cNvPr id="19" name="Validation card 2 body"/>
          <p:cNvSpPr/>
          <p:nvPr/>
        </p:nvSpPr>
        <p:spPr>
          <a:xfrm>
            <a:off x="3246120" y="2377440"/>
            <a:ext cx="2651760" cy="1645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Validation card 2 header"/>
          <p:cNvSpPr/>
          <p:nvPr/>
        </p:nvSpPr>
        <p:spPr>
          <a:xfrm>
            <a:off x="324612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Validation card 2 heading"/>
          <p:cNvSpPr txBox="1"/>
          <p:nvPr/>
        </p:nvSpPr>
        <p:spPr>
          <a:xfrm>
            <a:off x="338328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Plausibility</a:t>
            </a:r>
          </a:p>
        </p:txBody>
      </p:sp>
      <p:pic>
        <p:nvPicPr>
          <p:cNvPr id="22" name="Icon Validation card 2" descr=""/>
          <p:cNvPicPr>
            <a:picLocks noChangeAspect="1"/>
          </p:cNvPicPr>
          <p:nvPr/>
        </p:nvPicPr>
        <p:blipFill>
          <a:blip r:embed="rId4"/>
          <a:stretch>
            <a:fillRect/>
          </a:stretch>
        </p:blipFill>
        <p:spPr>
          <a:xfrm>
            <a:off x="5458968" y="2016252"/>
            <a:ext cx="310896" cy="310896"/>
          </a:xfrm>
          <a:prstGeom prst="rect">
            <a:avLst/>
          </a:prstGeom>
        </p:spPr>
      </p:pic>
      <p:sp>
        <p:nvSpPr>
          <p:cNvPr id="23" name="Validation card 2 text"/>
          <p:cNvSpPr txBox="1"/>
          <p:nvPr/>
        </p:nvSpPr>
        <p:spPr>
          <a:xfrm>
            <a:off x="3410712" y="2514600"/>
            <a:ext cx="2350008" cy="13716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Media effects positive</a:t>
            </a:r>
          </a:p>
          <a:p>
            <a:pPr algn="l" marL="182880" indent="-182880">
              <a:spcAft>
                <a:spcPts val="600"/>
              </a:spcAft>
              <a:buClr>
                <a:schemeClr val="accent1"/>
              </a:buClr>
              <a:buFont typeface="Arial"/>
              <a:buChar char="▪"/>
            </a:pPr>
            <a:r>
              <a:rPr sz="1300" b="0" lang="en-GB">
                <a:solidFill>
                  <a:schemeClr val="tx1"/>
                </a:solidFill>
              </a:rPr>
              <a:t>Half-lives and elasticities near benchmarks</a:t>
            </a:r>
          </a:p>
          <a:p>
            <a:pPr algn="l" marL="182880" indent="-182880">
              <a:spcAft>
                <a:spcPts val="600"/>
              </a:spcAft>
              <a:buClr>
                <a:schemeClr val="accent1"/>
              </a:buClr>
              <a:buFont typeface="Arial"/>
              <a:buChar char="▪"/>
            </a:pPr>
            <a:r>
              <a:rPr sz="1300" b="0" lang="en-GB">
                <a:solidFill>
                  <a:schemeClr val="tx1"/>
                </a:solidFill>
              </a:rPr>
              <a:t>Stable when data change</a:t>
            </a:r>
          </a:p>
        </p:txBody>
      </p:sp>
      <p:sp>
        <p:nvSpPr>
          <p:cNvPr id="24" name="Validation card 3 body"/>
          <p:cNvSpPr/>
          <p:nvPr/>
        </p:nvSpPr>
        <p:spPr>
          <a:xfrm>
            <a:off x="6035040" y="2377440"/>
            <a:ext cx="2651760" cy="1645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Validation card 3 header"/>
          <p:cNvSpPr/>
          <p:nvPr/>
        </p:nvSpPr>
        <p:spPr>
          <a:xfrm>
            <a:off x="603504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Validation card 3 heading"/>
          <p:cNvSpPr txBox="1"/>
          <p:nvPr/>
        </p:nvSpPr>
        <p:spPr>
          <a:xfrm>
            <a:off x="617220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Experiments</a:t>
            </a:r>
          </a:p>
        </p:txBody>
      </p:sp>
      <p:pic>
        <p:nvPicPr>
          <p:cNvPr id="27" name="Icon Validation card 3" descr=""/>
          <p:cNvPicPr>
            <a:picLocks noChangeAspect="1"/>
          </p:cNvPicPr>
          <p:nvPr/>
        </p:nvPicPr>
        <p:blipFill>
          <a:blip r:embed="rId5"/>
          <a:stretch>
            <a:fillRect/>
          </a:stretch>
        </p:blipFill>
        <p:spPr>
          <a:xfrm>
            <a:off x="8247888" y="2016252"/>
            <a:ext cx="310896" cy="310896"/>
          </a:xfrm>
          <a:prstGeom prst="rect">
            <a:avLst/>
          </a:prstGeom>
        </p:spPr>
      </p:pic>
      <p:sp>
        <p:nvSpPr>
          <p:cNvPr id="28" name="Validation card 3 text"/>
          <p:cNvSpPr txBox="1"/>
          <p:nvPr/>
        </p:nvSpPr>
        <p:spPr>
          <a:xfrm>
            <a:off x="6199632" y="2514600"/>
            <a:ext cx="2350008" cy="13716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Spend up or off in test regions</a:t>
            </a:r>
          </a:p>
          <a:p>
            <a:pPr algn="l" marL="182880" indent="-182880">
              <a:spcAft>
                <a:spcPts val="600"/>
              </a:spcAft>
              <a:buClr>
                <a:schemeClr val="accent1"/>
              </a:buClr>
              <a:buFont typeface="Arial"/>
              <a:buChar char="▪"/>
            </a:pPr>
            <a:r>
              <a:rPr sz="1300" b="0" lang="en-GB">
                <a:solidFill>
                  <a:schemeClr val="tx1"/>
                </a:solidFill>
              </a:rPr>
              <a:t>Lift = test minus control</a:t>
            </a:r>
          </a:p>
          <a:p>
            <a:pPr algn="l" marL="182880" indent="-182880">
              <a:spcAft>
                <a:spcPts val="600"/>
              </a:spcAft>
              <a:buClr>
                <a:schemeClr val="accent1"/>
              </a:buClr>
              <a:buFont typeface="Arial"/>
              <a:buChar char="▪"/>
            </a:pPr>
            <a:r>
              <a:rPr sz="1300" b="0" lang="en-GB">
                <a:solidFill>
                  <a:schemeClr val="tx1"/>
                </a:solidFill>
              </a:rPr>
              <a:t>Alpenglow: paid social, 12 of 40 German regions</a:t>
            </a:r>
          </a:p>
        </p:txBody>
      </p:sp>
      <p:sp>
        <p:nvSpPr>
          <p:cNvPr id="29" name="Gordon box"/>
          <p:cNvSpPr/>
          <p:nvPr/>
        </p:nvSpPr>
        <p:spPr>
          <a:xfrm>
            <a:off x="457200" y="416052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Gordon" descr=""/>
          <p:cNvPicPr>
            <a:picLocks noChangeAspect="1"/>
          </p:cNvPicPr>
          <p:nvPr/>
        </p:nvPicPr>
        <p:blipFill>
          <a:blip r:embed="rId6"/>
          <a:stretch>
            <a:fillRect/>
          </a:stretch>
        </p:blipFill>
        <p:spPr>
          <a:xfrm>
            <a:off x="658368" y="4366260"/>
            <a:ext cx="365760" cy="365760"/>
          </a:xfrm>
          <a:prstGeom prst="rect">
            <a:avLst/>
          </a:prstGeom>
        </p:spPr>
      </p:pic>
      <p:sp>
        <p:nvSpPr>
          <p:cNvPr id="31" name="Gordon text"/>
          <p:cNvSpPr txBox="1"/>
          <p:nvPr/>
        </p:nvSpPr>
        <p:spPr>
          <a:xfrm>
            <a:off x="1207008" y="416052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Why experiments: </a:t>
            </a:r>
            <a:r>
              <a:rPr sz="1200" b="0" lang="en-GB">
                <a:solidFill>
                  <a:schemeClr val="bg1"/>
                </a:solidFill>
              </a:rPr>
              <a:t>across 15 and then 663 Facebook experiments, non-experimental estimates were often far from the true lift.</a:t>
            </a:r>
          </a:p>
        </p:txBody>
      </p:sp>
      <p:sp>
        <p:nvSpPr>
          <p:cNvPr id="32" name="Sources"/>
          <p:cNvSpPr txBox="1"/>
          <p:nvPr/>
        </p:nvSpPr>
        <p:spPr>
          <a:xfrm>
            <a:off x="457200" y="4965192"/>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Vaver &amp; Koehler 2011; Gordon et al. 2019; Gordon, Moakler &amp; Zettelmeyer 2023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Bayesian MMM: start from what we know</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ayes box 1"/>
          <p:cNvSpPr/>
          <p:nvPr/>
        </p:nvSpPr>
        <p:spPr>
          <a:xfrm>
            <a:off x="457200" y="1234440"/>
            <a:ext cx="246888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bayes 1" descr=""/>
          <p:cNvPicPr>
            <a:picLocks noChangeAspect="1"/>
          </p:cNvPicPr>
          <p:nvPr/>
        </p:nvPicPr>
        <p:blipFill>
          <a:blip r:embed="rId3"/>
          <a:stretch>
            <a:fillRect/>
          </a:stretch>
        </p:blipFill>
        <p:spPr>
          <a:xfrm>
            <a:off x="594360" y="1344168"/>
            <a:ext cx="365760" cy="365760"/>
          </a:xfrm>
          <a:prstGeom prst="rect">
            <a:avLst/>
          </a:prstGeom>
        </p:spPr>
      </p:pic>
      <p:sp>
        <p:nvSpPr>
          <p:cNvPr id="12" name="Bayes head 1"/>
          <p:cNvSpPr txBox="1"/>
          <p:nvPr/>
        </p:nvSpPr>
        <p:spPr>
          <a:xfrm>
            <a:off x="1051560" y="1344168"/>
            <a:ext cx="178308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Prior</a:t>
            </a:r>
          </a:p>
        </p:txBody>
      </p:sp>
      <p:sp>
        <p:nvSpPr>
          <p:cNvPr id="13" name="Bayes text 1"/>
          <p:cNvSpPr txBox="1"/>
          <p:nvPr/>
        </p:nvSpPr>
        <p:spPr>
          <a:xfrm>
            <a:off x="594360" y="1783080"/>
            <a:ext cx="2194560" cy="731520"/>
          </a:xfrm>
          <a:prstGeom prst="rect">
            <a:avLst/>
          </a:prstGeom>
          <a:noFill/>
        </p:spPr>
        <p:txBody>
          <a:bodyPr wrap="square" lIns="0" rIns="0" tIns="0" bIns="0" anchor="t">
            <a:noAutofit/>
          </a:bodyPr>
          <a:lstStyle/>
          <a:p>
            <a:pPr algn="l">
              <a:spcAft>
                <a:spcPts val="400"/>
              </a:spcAft>
            </a:pPr>
            <a:r>
              <a:rPr sz="1200" b="0" lang="en-GB">
                <a:solidFill>
                  <a:schemeClr val="tx1"/>
                </a:solidFill>
              </a:rPr>
              <a:t>what we believe first: elasticities near 0.1, a lift-test result</a:t>
            </a:r>
          </a:p>
        </p:txBody>
      </p:sp>
      <p:sp>
        <p:nvSpPr>
          <p:cNvPr id="14" name="Bayes operator 1"/>
          <p:cNvSpPr txBox="1"/>
          <p:nvPr/>
        </p:nvSpPr>
        <p:spPr>
          <a:xfrm>
            <a:off x="2926080" y="1234440"/>
            <a:ext cx="411480" cy="1325880"/>
          </a:xfrm>
          <a:prstGeom prst="rect">
            <a:avLst/>
          </a:prstGeom>
          <a:noFill/>
        </p:spPr>
        <p:txBody>
          <a:bodyPr wrap="square" lIns="0" rIns="0" tIns="0" bIns="0" anchor="ctr">
            <a:noAutofit/>
          </a:bodyPr>
          <a:lstStyle/>
          <a:p>
            <a:pPr algn="ctr">
              <a:spcAft>
                <a:spcPts val="400"/>
              </a:spcAft>
            </a:pPr>
            <a:r>
              <a:rPr sz="2600" b="1" lang="en-GB">
                <a:solidFill>
                  <a:schemeClr val="accent1"/>
                </a:solidFill>
              </a:rPr>
              <a:t>+</a:t>
            </a:r>
          </a:p>
        </p:txBody>
      </p:sp>
      <p:sp>
        <p:nvSpPr>
          <p:cNvPr id="15" name="Bayes box 2"/>
          <p:cNvSpPr/>
          <p:nvPr/>
        </p:nvSpPr>
        <p:spPr>
          <a:xfrm>
            <a:off x="3337560" y="1234440"/>
            <a:ext cx="246888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bayes 2" descr=""/>
          <p:cNvPicPr>
            <a:picLocks noChangeAspect="1"/>
          </p:cNvPicPr>
          <p:nvPr/>
        </p:nvPicPr>
        <p:blipFill>
          <a:blip r:embed="rId4"/>
          <a:stretch>
            <a:fillRect/>
          </a:stretch>
        </p:blipFill>
        <p:spPr>
          <a:xfrm>
            <a:off x="3474720" y="1344168"/>
            <a:ext cx="365760" cy="365760"/>
          </a:xfrm>
          <a:prstGeom prst="rect">
            <a:avLst/>
          </a:prstGeom>
        </p:spPr>
      </p:pic>
      <p:sp>
        <p:nvSpPr>
          <p:cNvPr id="17" name="Bayes head 2"/>
          <p:cNvSpPr txBox="1"/>
          <p:nvPr/>
        </p:nvSpPr>
        <p:spPr>
          <a:xfrm>
            <a:off x="3931920" y="1344168"/>
            <a:ext cx="178308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Data</a:t>
            </a:r>
          </a:p>
        </p:txBody>
      </p:sp>
      <p:sp>
        <p:nvSpPr>
          <p:cNvPr id="18" name="Bayes text 2"/>
          <p:cNvSpPr txBox="1"/>
          <p:nvPr/>
        </p:nvSpPr>
        <p:spPr>
          <a:xfrm>
            <a:off x="3474720" y="1783080"/>
            <a:ext cx="2194560" cy="731520"/>
          </a:xfrm>
          <a:prstGeom prst="rect">
            <a:avLst/>
          </a:prstGeom>
          <a:noFill/>
        </p:spPr>
        <p:txBody>
          <a:bodyPr wrap="square" lIns="0" rIns="0" tIns="0" bIns="0" anchor="t">
            <a:noAutofit/>
          </a:bodyPr>
          <a:lstStyle/>
          <a:p>
            <a:pPr algn="l">
              <a:spcAft>
                <a:spcPts val="400"/>
              </a:spcAft>
            </a:pPr>
            <a:r>
              <a:rPr sz="1200" b="0" lang="en-GB">
                <a:solidFill>
                  <a:schemeClr val="tx1"/>
                </a:solidFill>
              </a:rPr>
              <a:t>156 weeks of sales, spend and controls per country</a:t>
            </a:r>
          </a:p>
        </p:txBody>
      </p:sp>
      <p:sp>
        <p:nvSpPr>
          <p:cNvPr id="19" name="Bayes operator 2"/>
          <p:cNvSpPr txBox="1"/>
          <p:nvPr/>
        </p:nvSpPr>
        <p:spPr>
          <a:xfrm>
            <a:off x="5806440" y="1234440"/>
            <a:ext cx="411480" cy="1325880"/>
          </a:xfrm>
          <a:prstGeom prst="rect">
            <a:avLst/>
          </a:prstGeom>
          <a:noFill/>
        </p:spPr>
        <p:txBody>
          <a:bodyPr wrap="square" lIns="0" rIns="0" tIns="0" bIns="0" anchor="ctr">
            <a:noAutofit/>
          </a:bodyPr>
          <a:lstStyle/>
          <a:p>
            <a:pPr algn="ctr">
              <a:spcAft>
                <a:spcPts val="400"/>
              </a:spcAft>
            </a:pPr>
            <a:r>
              <a:rPr sz="2600" b="1" lang="en-GB">
                <a:solidFill>
                  <a:schemeClr val="accent1"/>
                </a:solidFill>
              </a:rPr>
              <a:t>→</a:t>
            </a:r>
          </a:p>
        </p:txBody>
      </p:sp>
      <p:sp>
        <p:nvSpPr>
          <p:cNvPr id="20" name="Bayes box 3"/>
          <p:cNvSpPr/>
          <p:nvPr/>
        </p:nvSpPr>
        <p:spPr>
          <a:xfrm>
            <a:off x="6217920" y="1234440"/>
            <a:ext cx="2468880" cy="1325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bayes 3" descr=""/>
          <p:cNvPicPr>
            <a:picLocks noChangeAspect="1"/>
          </p:cNvPicPr>
          <p:nvPr/>
        </p:nvPicPr>
        <p:blipFill>
          <a:blip r:embed="rId5"/>
          <a:stretch>
            <a:fillRect/>
          </a:stretch>
        </p:blipFill>
        <p:spPr>
          <a:xfrm>
            <a:off x="6355080" y="1344168"/>
            <a:ext cx="365760" cy="365760"/>
          </a:xfrm>
          <a:prstGeom prst="rect">
            <a:avLst/>
          </a:prstGeom>
        </p:spPr>
      </p:pic>
      <p:sp>
        <p:nvSpPr>
          <p:cNvPr id="22" name="Bayes head 3"/>
          <p:cNvSpPr txBox="1"/>
          <p:nvPr/>
        </p:nvSpPr>
        <p:spPr>
          <a:xfrm>
            <a:off x="6812280" y="1344168"/>
            <a:ext cx="1783080" cy="36576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Posterior</a:t>
            </a:r>
          </a:p>
        </p:txBody>
      </p:sp>
      <p:sp>
        <p:nvSpPr>
          <p:cNvPr id="23" name="Bayes text 3"/>
          <p:cNvSpPr txBox="1"/>
          <p:nvPr/>
        </p:nvSpPr>
        <p:spPr>
          <a:xfrm>
            <a:off x="6355080" y="1783080"/>
            <a:ext cx="2194560" cy="731520"/>
          </a:xfrm>
          <a:prstGeom prst="rect">
            <a:avLst/>
          </a:prstGeom>
          <a:noFill/>
        </p:spPr>
        <p:txBody>
          <a:bodyPr wrap="square" lIns="0" rIns="0" tIns="0" bIns="0" anchor="t">
            <a:noAutofit/>
          </a:bodyPr>
          <a:lstStyle/>
          <a:p>
            <a:pPr algn="l">
              <a:spcAft>
                <a:spcPts val="400"/>
              </a:spcAft>
            </a:pPr>
            <a:r>
              <a:rPr sz="1200" b="0" lang="en-GB">
                <a:solidFill>
                  <a:schemeClr val="bg1"/>
                </a:solidFill>
              </a:rPr>
              <a:t>updated belief: every effect and ROAS with a range</a:t>
            </a:r>
          </a:p>
        </p:txBody>
      </p:sp>
      <p:sp>
        <p:nvSpPr>
          <p:cNvPr id="24" name="Bayes why card body"/>
          <p:cNvSpPr/>
          <p:nvPr/>
        </p:nvSpPr>
        <p:spPr>
          <a:xfrm>
            <a:off x="457200" y="3154680"/>
            <a:ext cx="404622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Bayes why card header"/>
          <p:cNvSpPr/>
          <p:nvPr/>
        </p:nvSpPr>
        <p:spPr>
          <a:xfrm>
            <a:off x="457200" y="274320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ayes why card heading"/>
          <p:cNvSpPr txBox="1"/>
          <p:nvPr/>
        </p:nvSpPr>
        <p:spPr>
          <a:xfrm>
            <a:off x="594360" y="274320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Why it suits MMM</a:t>
            </a:r>
          </a:p>
        </p:txBody>
      </p:sp>
      <p:pic>
        <p:nvPicPr>
          <p:cNvPr id="27" name="Icon Bayes why card" descr=""/>
          <p:cNvPicPr>
            <a:picLocks noChangeAspect="1"/>
          </p:cNvPicPr>
          <p:nvPr/>
        </p:nvPicPr>
        <p:blipFill>
          <a:blip r:embed="rId6"/>
          <a:stretch>
            <a:fillRect/>
          </a:stretch>
        </p:blipFill>
        <p:spPr>
          <a:xfrm>
            <a:off x="4064508" y="2793492"/>
            <a:ext cx="310896" cy="310896"/>
          </a:xfrm>
          <a:prstGeom prst="rect">
            <a:avLst/>
          </a:prstGeom>
        </p:spPr>
      </p:pic>
      <p:sp>
        <p:nvSpPr>
          <p:cNvPr id="28" name="Bayes why card text"/>
          <p:cNvSpPr txBox="1"/>
          <p:nvPr/>
        </p:nvSpPr>
        <p:spPr>
          <a:xfrm>
            <a:off x="621792" y="3291840"/>
            <a:ext cx="374446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Short series, many parameters: priors keep estimates sensible</a:t>
            </a:r>
          </a:p>
          <a:p>
            <a:pPr algn="l" marL="182880" indent="-182880">
              <a:spcAft>
                <a:spcPts val="600"/>
              </a:spcAft>
              <a:buClr>
                <a:schemeClr val="accent1"/>
              </a:buClr>
              <a:buFont typeface="Arial"/>
              <a:buChar char="▪"/>
            </a:pPr>
            <a:r>
              <a:rPr sz="1300" b="0" lang="en-GB">
                <a:solidFill>
                  <a:schemeClr val="tx1"/>
                </a:solidFill>
              </a:rPr>
              <a:t>Uncertainty for every output</a:t>
            </a:r>
          </a:p>
          <a:p>
            <a:pPr algn="l" marL="182880" indent="-182880">
              <a:spcAft>
                <a:spcPts val="600"/>
              </a:spcAft>
              <a:buClr>
                <a:schemeClr val="accent1"/>
              </a:buClr>
              <a:buFont typeface="Arial"/>
              <a:buChar char="▪"/>
            </a:pPr>
            <a:r>
              <a:rPr sz="1300" b="0" lang="en-GB">
                <a:solidFill>
                  <a:schemeClr val="tx1"/>
                </a:solidFill>
              </a:rPr>
              <a:t>Experiments enter as priors</a:t>
            </a:r>
          </a:p>
        </p:txBody>
      </p:sp>
      <p:sp>
        <p:nvSpPr>
          <p:cNvPr id="29" name="Bayes watch card body"/>
          <p:cNvSpPr/>
          <p:nvPr/>
        </p:nvSpPr>
        <p:spPr>
          <a:xfrm>
            <a:off x="4640580" y="3154680"/>
            <a:ext cx="404622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ayes watch card header"/>
          <p:cNvSpPr/>
          <p:nvPr/>
        </p:nvSpPr>
        <p:spPr>
          <a:xfrm>
            <a:off x="4640580" y="274320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Bayes watch card heading"/>
          <p:cNvSpPr txBox="1"/>
          <p:nvPr/>
        </p:nvSpPr>
        <p:spPr>
          <a:xfrm>
            <a:off x="4777740" y="274320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to watch</a:t>
            </a:r>
          </a:p>
        </p:txBody>
      </p:sp>
      <p:pic>
        <p:nvPicPr>
          <p:cNvPr id="32" name="Icon Bayes watch card" descr=""/>
          <p:cNvPicPr>
            <a:picLocks noChangeAspect="1"/>
          </p:cNvPicPr>
          <p:nvPr/>
        </p:nvPicPr>
        <p:blipFill>
          <a:blip r:embed="rId7"/>
          <a:stretch>
            <a:fillRect/>
          </a:stretch>
        </p:blipFill>
        <p:spPr>
          <a:xfrm>
            <a:off x="8247888" y="2793492"/>
            <a:ext cx="310896" cy="310896"/>
          </a:xfrm>
          <a:prstGeom prst="rect">
            <a:avLst/>
          </a:prstGeom>
        </p:spPr>
      </p:pic>
      <p:sp>
        <p:nvSpPr>
          <p:cNvPr id="33" name="Bayes watch card text"/>
          <p:cNvSpPr txBox="1"/>
          <p:nvPr/>
        </p:nvSpPr>
        <p:spPr>
          <a:xfrm>
            <a:off x="4805172" y="3291840"/>
            <a:ext cx="374446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Weak data: the prior decides; compare prior and posterior</a:t>
            </a:r>
          </a:p>
          <a:p>
            <a:pPr algn="l" marL="182880" indent="-182880">
              <a:spcAft>
                <a:spcPts val="600"/>
              </a:spcAft>
              <a:buClr>
                <a:schemeClr val="accent1"/>
              </a:buClr>
              <a:buFont typeface="Arial"/>
              <a:buChar char="▪"/>
            </a:pPr>
            <a:r>
              <a:rPr sz="1300" b="0" lang="en-GB">
                <a:solidFill>
                  <a:schemeClr val="tx1"/>
                </a:solidFill>
              </a:rPr>
              <a:t>Check that the sampler converged</a:t>
            </a:r>
          </a:p>
          <a:p>
            <a:pPr algn="l" marL="182880" indent="-182880">
              <a:spcAft>
                <a:spcPts val="600"/>
              </a:spcAft>
              <a:buClr>
                <a:schemeClr val="accent1"/>
              </a:buClr>
              <a:buFont typeface="Arial"/>
              <a:buChar char="▪"/>
            </a:pPr>
            <a:r>
              <a:rPr sz="1300" b="0" lang="en-GB">
                <a:solidFill>
                  <a:schemeClr val="tx1"/>
                </a:solidFill>
              </a:rPr>
              <a:t>State and justify every prior</a:t>
            </a:r>
          </a:p>
        </p:txBody>
      </p:sp>
      <p:sp>
        <p:nvSpPr>
          <p:cNvPr id="34"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Jin et al. 2017; Hanssens 2018; Zhang et al. 2024 (Google)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ools table"/>
          <p:cNvGraphicFramePr>
            <a:graphicFrameLocks noGrp="1"/>
          </p:cNvGraphicFramePr>
          <p:nvPr>
            <p:ph type="tbl" idx="1"/>
          </p:nvPr>
        </p:nvGraphicFramePr>
        <p:xfrm>
          <a:off x="457200" y="1234440"/>
          <a:ext cx="8229600" cy="2225040"/>
        </p:xfrm>
        <a:graphic>
          <a:graphicData uri="http://schemas.openxmlformats.org/drawingml/2006/table">
            <a:tbl>
              <a:tblPr firstRow="1" bandRow="1">
                <a:tableStyleId>{5C22544A-7EE6-4342-B048-85BDC9FD1C3A}</a:tableStyleId>
              </a:tblPr>
              <a:tblGrid>
                <a:gridCol w="1371600"/>
                <a:gridCol w="2286000"/>
                <a:gridCol w="2286000"/>
                <a:gridCol w="2286000"/>
              </a:tblGrid>
              <a:tr h="370840">
                <a:tc>
                  <a:txBody>
                    <a:bodyPr/>
                    <a:lstStyle/>
                    <a:p>
                      <a:r>
                        <a:rPr sz="1500" lang="en-GB"/>
                        <a:t/>
                      </a:r>
                    </a:p>
                  </a:txBody>
                  <a:tcPr marT="60000" marB="60000"/>
                </a:tc>
                <a:tc>
                  <a:txBody>
                    <a:bodyPr/>
                    <a:lstStyle/>
                    <a:p>
                      <a:r>
                        <a:rPr sz="1500" lang="en-GB"/>
                        <a:t>Robyn</a:t>
                      </a:r>
                    </a:p>
                  </a:txBody>
                  <a:tcPr marT="60000" marB="60000"/>
                </a:tc>
                <a:tc>
                  <a:txBody>
                    <a:bodyPr/>
                    <a:lstStyle/>
                    <a:p>
                      <a:r>
                        <a:rPr sz="1500" lang="en-GB"/>
                        <a:t>Meridian</a:t>
                      </a:r>
                    </a:p>
                  </a:txBody>
                  <a:tcPr marT="60000" marB="60000"/>
                </a:tc>
                <a:tc>
                  <a:txBody>
                    <a:bodyPr/>
                    <a:lstStyle/>
                    <a:p>
                      <a:r>
                        <a:rPr sz="1500" lang="en-GB"/>
                        <a:t>PyMC-Marketing</a:t>
                      </a:r>
                    </a:p>
                  </a:txBody>
                  <a:tcPr marT="60000" marB="60000"/>
                </a:tc>
              </a:tr>
              <a:tr h="370840">
                <a:tc>
                  <a:txBody>
                    <a:bodyPr/>
                    <a:lstStyle/>
                    <a:p>
                      <a:r>
                        <a:rPr sz="1300" b="1" lang="en-GB"/>
                        <a:t>Maker</a:t>
                      </a:r>
                    </a:p>
                  </a:txBody>
                  <a:tcPr marT="60000" marB="60000"/>
                </a:tc>
                <a:tc>
                  <a:txBody>
                    <a:bodyPr/>
                    <a:lstStyle/>
                    <a:p>
                      <a:r>
                        <a:rPr sz="1300" lang="en-GB"/>
                        <a:t>Meta</a:t>
                      </a:r>
                    </a:p>
                  </a:txBody>
                  <a:tcPr marT="60000" marB="60000"/>
                </a:tc>
                <a:tc>
                  <a:txBody>
                    <a:bodyPr/>
                    <a:lstStyle/>
                    <a:p>
                      <a:r>
                        <a:rPr sz="1300" lang="en-GB"/>
                        <a:t>Google</a:t>
                      </a:r>
                    </a:p>
                  </a:txBody>
                  <a:tcPr marT="60000" marB="60000"/>
                </a:tc>
                <a:tc>
                  <a:txBody>
                    <a:bodyPr/>
                    <a:lstStyle/>
                    <a:p>
                      <a:r>
                        <a:rPr sz="1300" lang="en-GB"/>
                        <a:t>PyMC Labs</a:t>
                      </a:r>
                    </a:p>
                  </a:txBody>
                  <a:tcPr marT="60000" marB="60000"/>
                </a:tc>
              </a:tr>
              <a:tr h="370840">
                <a:tc>
                  <a:txBody>
                    <a:bodyPr/>
                    <a:lstStyle/>
                    <a:p>
                      <a:r>
                        <a:rPr sz="1300" b="1" lang="en-GB"/>
                        <a:t>Language</a:t>
                      </a:r>
                    </a:p>
                  </a:txBody>
                  <a:tcPr marT="60000" marB="60000"/>
                </a:tc>
                <a:tc>
                  <a:txBody>
                    <a:bodyPr/>
                    <a:lstStyle/>
                    <a:p>
                      <a:r>
                        <a:rPr sz="1300" lang="en-GB"/>
                        <a:t>R (Python beta)</a:t>
                      </a:r>
                    </a:p>
                  </a:txBody>
                  <a:tcPr marT="60000" marB="60000"/>
                </a:tc>
                <a:tc>
                  <a:txBody>
                    <a:bodyPr/>
                    <a:lstStyle/>
                    <a:p>
                      <a:r>
                        <a:rPr sz="1300" lang="en-GB"/>
                        <a:t>Python</a:t>
                      </a:r>
                    </a:p>
                  </a:txBody>
                  <a:tcPr marT="60000" marB="60000"/>
                </a:tc>
                <a:tc>
                  <a:txBody>
                    <a:bodyPr/>
                    <a:lstStyle/>
                    <a:p>
                      <a:r>
                        <a:rPr sz="1300" lang="en-GB"/>
                        <a:t>Python</a:t>
                      </a:r>
                    </a:p>
                  </a:txBody>
                  <a:tcPr marT="60000" marB="60000"/>
                </a:tc>
              </a:tr>
              <a:tr h="370840">
                <a:tc>
                  <a:txBody>
                    <a:bodyPr/>
                    <a:lstStyle/>
                    <a:p>
                      <a:r>
                        <a:rPr sz="1300" b="1" lang="en-GB"/>
                        <a:t>Method</a:t>
                      </a:r>
                    </a:p>
                  </a:txBody>
                  <a:tcPr marT="60000" marB="60000"/>
                </a:tc>
                <a:tc>
                  <a:txBody>
                    <a:bodyPr/>
                    <a:lstStyle/>
                    <a:p>
                      <a:r>
                        <a:rPr sz="1300" lang="en-GB"/>
                        <a:t>ridge regression with automated search</a:t>
                      </a:r>
                    </a:p>
                  </a:txBody>
                  <a:tcPr marT="60000" marB="60000"/>
                </a:tc>
                <a:tc>
                  <a:txBody>
                    <a:bodyPr/>
                    <a:lstStyle/>
                    <a:p>
                      <a:r>
                        <a:rPr sz="1300" lang="en-GB"/>
                        <a:t>hierarchical Bayesian, by geo</a:t>
                      </a:r>
                    </a:p>
                  </a:txBody>
                  <a:tcPr marT="60000" marB="60000"/>
                </a:tc>
                <a:tc>
                  <a:txBody>
                    <a:bodyPr/>
                    <a:lstStyle/>
                    <a:p>
                      <a:r>
                        <a:rPr sz="1300" lang="en-GB"/>
                        <a:t>Bayesian, modular</a:t>
                      </a:r>
                    </a:p>
                  </a:txBody>
                  <a:tcPr marT="60000" marB="60000"/>
                </a:tc>
              </a:tr>
              <a:tr h="370840">
                <a:tc>
                  <a:txBody>
                    <a:bodyPr/>
                    <a:lstStyle/>
                    <a:p>
                      <a:r>
                        <a:rPr sz="1300" b="1" lang="en-GB"/>
                        <a:t>Strengths</a:t>
                      </a:r>
                    </a:p>
                  </a:txBody>
                  <a:tcPr marT="60000" marB="60000"/>
                </a:tc>
                <a:tc>
                  <a:txBody>
                    <a:bodyPr/>
                    <a:lstStyle/>
                    <a:p>
                      <a:r>
                        <a:rPr sz="1300" lang="en-GB"/>
                        <a:t>calibration, budget allocator, widely used</a:t>
                      </a:r>
                    </a:p>
                  </a:txBody>
                  <a:tcPr marT="60000" marB="60000"/>
                </a:tc>
                <a:tc>
                  <a:txBody>
                    <a:bodyPr/>
                    <a:lstStyle/>
                    <a:p>
                      <a:r>
                        <a:rPr sz="1300" lang="en-GB"/>
                        <a:t>many geos, reach and frequency, ROI priors</a:t>
                      </a:r>
                    </a:p>
                  </a:txBody>
                  <a:tcPr marT="60000" marB="60000"/>
                </a:tc>
                <a:tc>
                  <a:txBody>
                    <a:bodyPr/>
                    <a:lstStyle/>
                    <a:p>
                      <a:r>
                        <a:rPr sz="1300" lang="en-GB"/>
                        <a:t>lift-test calibration, time-varying effects, optimiser</a:t>
                      </a:r>
                    </a:p>
                  </a:txBody>
                  <a:tcPr marT="60000" marB="60000"/>
                </a:tc>
              </a:tr>
              <a:tr h="370840">
                <a:tc>
                  <a:txBody>
                    <a:bodyPr/>
                    <a:lstStyle/>
                    <a:p>
                      <a:r>
                        <a:rPr sz="1300" b="1" lang="en-GB"/>
                        <a:t>Version</a:t>
                      </a:r>
                    </a:p>
                  </a:txBody>
                  <a:tcPr marT="60000" marB="60000"/>
                </a:tc>
                <a:tc>
                  <a:txBody>
                    <a:bodyPr/>
                    <a:lstStyle/>
                    <a:p>
                      <a:r>
                        <a:rPr sz="1300" lang="en-GB"/>
                        <a:t>3.12.0 (Dec 2024)</a:t>
                      </a:r>
                    </a:p>
                  </a:txBody>
                  <a:tcPr marT="60000" marB="60000"/>
                </a:tc>
                <a:tc>
                  <a:txBody>
                    <a:bodyPr/>
                    <a:lstStyle/>
                    <a:p>
                      <a:r>
                        <a:rPr sz="1300" lang="en-GB"/>
                        <a:t>2.1.0 (Sep 2026)</a:t>
                      </a:r>
                    </a:p>
                  </a:txBody>
                  <a:tcPr marT="60000" marB="60000"/>
                </a:tc>
                <a:tc>
                  <a:txBody>
                    <a:bodyPr/>
                    <a:lstStyle/>
                    <a:p>
                      <a:r>
                        <a:rPr sz="1300" lang="en-GB"/>
                        <a:t>1.2.0 (Sep 2026)</a:t>
                      </a:r>
                    </a:p>
                  </a:txBody>
                  <a:tcPr marT="60000" marB="60000"/>
                </a:tc>
              </a:tr>
            </a:tbl>
          </a:graphicData>
        </a:graphic>
      </p:graphicFrame>
      <p:sp>
        <p:nvSpPr>
          <p:cNvPr id="3" name="Title 2"/>
          <p:cNvSpPr>
            <a:spLocks noGrp="1"/>
          </p:cNvSpPr>
          <p:nvPr>
            <p:ph type="title"/>
          </p:nvPr>
        </p:nvSpPr>
        <p:spPr/>
        <p:txBody>
          <a:bodyPr/>
          <a:lstStyle/>
          <a:p>
            <a:r>
              <a:rPr sz="1600" lang="en-GB"/>
              <a:t>Open-source MMM tools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ools course box"/>
          <p:cNvSpPr/>
          <p:nvPr/>
        </p:nvSpPr>
        <p:spPr>
          <a:xfrm>
            <a:off x="457200" y="4224528"/>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ools course" descr=""/>
          <p:cNvPicPr>
            <a:picLocks noChangeAspect="1"/>
          </p:cNvPicPr>
          <p:nvPr/>
        </p:nvPicPr>
        <p:blipFill>
          <a:blip r:embed="rId3"/>
          <a:stretch>
            <a:fillRect/>
          </a:stretch>
        </p:blipFill>
        <p:spPr>
          <a:xfrm>
            <a:off x="658368" y="4315968"/>
            <a:ext cx="365760" cy="365760"/>
          </a:xfrm>
          <a:prstGeom prst="rect">
            <a:avLst/>
          </a:prstGeom>
        </p:spPr>
      </p:pic>
      <p:sp>
        <p:nvSpPr>
          <p:cNvPr id="12" name="Tools course text"/>
          <p:cNvSpPr txBox="1"/>
          <p:nvPr/>
        </p:nvSpPr>
        <p:spPr>
          <a:xfrm>
            <a:off x="1207008" y="4224528"/>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In this course: </a:t>
            </a:r>
            <a:r>
              <a:rPr sz="1200" b="0" lang="en-GB">
                <a:solidFill>
                  <a:schemeClr val="tx1"/>
                </a:solidFill>
              </a:rPr>
              <a:t>PyMC-Marketing and Meridian in Python, Session 5.</a:t>
            </a:r>
          </a:p>
        </p:txBody>
      </p:sp>
      <p:sp>
        <p:nvSpPr>
          <p:cNvPr id="1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Runge et al. 2024; Meridian and PyMC-Marketing documentation; open-source MMM review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5 · how the sessions build the skills, the group case study</a:t>
            </a:r>
          </a:p>
        </p:txBody>
      </p:sp>
      <p:sp>
        <p:nvSpPr>
          <p:cNvPr id="3" name="Title 2"/>
          <p:cNvSpPr>
            <a:spLocks noGrp="1"/>
          </p:cNvSpPr>
          <p:nvPr>
            <p:ph type="ctrTitle"/>
          </p:nvPr>
        </p:nvSpPr>
        <p:spPr/>
        <p:txBody>
          <a:bodyPr/>
          <a:lstStyle/>
          <a:p>
            <a:r>
              <a:rPr sz="1600" lang="en-GB"/>
              <a:t>MMM in this course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Five sessions, one model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ssion row 1"/>
          <p:cNvSpPr/>
          <p:nvPr/>
        </p:nvSpPr>
        <p:spPr>
          <a:xfrm>
            <a:off x="457200" y="1234440"/>
            <a:ext cx="8229600" cy="67665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ssion bar 1"/>
          <p:cNvSpPr/>
          <p:nvPr/>
        </p:nvSpPr>
        <p:spPr>
          <a:xfrm>
            <a:off x="457200" y="1234440"/>
            <a:ext cx="64008" cy="67665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ession number 1"/>
          <p:cNvSpPr/>
          <p:nvPr/>
        </p:nvSpPr>
        <p:spPr>
          <a:xfrm>
            <a:off x="658368" y="1380744"/>
            <a:ext cx="384048" cy="3840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lang="en-GB">
                <a:solidFill>
                  <a:schemeClr val="bg1"/>
                </a:solidFill>
              </a:rPr>
              <a:t>1</a:t>
            </a:r>
          </a:p>
        </p:txBody>
      </p:sp>
      <p:sp>
        <p:nvSpPr>
          <p:cNvPr id="13" name="Session topic 1"/>
          <p:cNvSpPr txBox="1"/>
          <p:nvPr/>
        </p:nvSpPr>
        <p:spPr>
          <a:xfrm>
            <a:off x="1188720" y="1234440"/>
            <a:ext cx="2057400" cy="676656"/>
          </a:xfrm>
          <a:prstGeom prst="rect">
            <a:avLst/>
          </a:prstGeom>
          <a:noFill/>
        </p:spPr>
        <p:txBody>
          <a:bodyPr wrap="square" lIns="0" rIns="0" tIns="0" bIns="0" anchor="ctr">
            <a:noAutofit/>
          </a:bodyPr>
          <a:lstStyle/>
          <a:p>
            <a:pPr algn="l">
              <a:spcAft>
                <a:spcPts val="400"/>
              </a:spcAft>
            </a:pPr>
            <a:r>
              <a:rPr sz="1200" b="1" lang="en-GB">
                <a:solidFill>
                  <a:schemeClr val="tx2"/>
                </a:solidFill>
              </a:rPr>
              <a:t>Introduction and linear regression</a:t>
            </a:r>
          </a:p>
        </p:txBody>
      </p:sp>
      <p:sp>
        <p:nvSpPr>
          <p:cNvPr id="14" name="Session methods 1"/>
          <p:cNvSpPr txBox="1"/>
          <p:nvPr/>
        </p:nvSpPr>
        <p:spPr>
          <a:xfrm>
            <a:off x="3291840" y="1234440"/>
            <a:ext cx="3291840" cy="676656"/>
          </a:xfrm>
          <a:prstGeom prst="rect">
            <a:avLst/>
          </a:prstGeom>
          <a:noFill/>
        </p:spPr>
        <p:txBody>
          <a:bodyPr wrap="square" lIns="0" rIns="0" tIns="0" bIns="0" anchor="ctr">
            <a:noAutofit/>
          </a:bodyPr>
          <a:lstStyle/>
          <a:p>
            <a:pPr algn="l">
              <a:spcAft>
                <a:spcPts val="400"/>
              </a:spcAft>
            </a:pPr>
            <a:r>
              <a:rPr sz="1200" b="0" lang="en-GB">
                <a:solidFill>
                  <a:schemeClr val="tx1"/>
                </a:solidFill>
              </a:rPr>
              <a:t>OLS, model fit and interpretation</a:t>
            </a:r>
          </a:p>
        </p:txBody>
      </p:sp>
      <p:sp>
        <p:nvSpPr>
          <p:cNvPr id="15" name="Session role 1"/>
          <p:cNvSpPr txBox="1"/>
          <p:nvPr/>
        </p:nvSpPr>
        <p:spPr>
          <a:xfrm>
            <a:off x="6675120" y="1234440"/>
            <a:ext cx="1920240" cy="676656"/>
          </a:xfrm>
          <a:prstGeom prst="rect">
            <a:avLst/>
          </a:prstGeom>
          <a:noFill/>
        </p:spPr>
        <p:txBody>
          <a:bodyPr wrap="square" lIns="0" rIns="0" tIns="0" bIns="0" anchor="ctr">
            <a:noAutofit/>
          </a:bodyPr>
          <a:lstStyle/>
          <a:p>
            <a:pPr algn="l">
              <a:spcAft>
                <a:spcPts val="400"/>
              </a:spcAft>
            </a:pPr>
            <a:r>
              <a:rPr sz="1200" b="1" lang="en-GB">
                <a:solidFill>
                  <a:schemeClr val="accent1"/>
                </a:solidFill>
              </a:rPr>
              <a:t>→ the base regression</a:t>
            </a:r>
          </a:p>
        </p:txBody>
      </p:sp>
      <p:sp>
        <p:nvSpPr>
          <p:cNvPr id="16" name="Session row 2"/>
          <p:cNvSpPr/>
          <p:nvPr/>
        </p:nvSpPr>
        <p:spPr>
          <a:xfrm>
            <a:off x="457200" y="1988820"/>
            <a:ext cx="8229600" cy="67665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ssion bar 2"/>
          <p:cNvSpPr/>
          <p:nvPr/>
        </p:nvSpPr>
        <p:spPr>
          <a:xfrm>
            <a:off x="457200" y="1988820"/>
            <a:ext cx="64008" cy="67665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ession number 2"/>
          <p:cNvSpPr/>
          <p:nvPr/>
        </p:nvSpPr>
        <p:spPr>
          <a:xfrm>
            <a:off x="658368" y="2135124"/>
            <a:ext cx="384048" cy="3840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lang="en-GB">
                <a:solidFill>
                  <a:schemeClr val="bg1"/>
                </a:solidFill>
              </a:rPr>
              <a:t>2</a:t>
            </a:r>
          </a:p>
        </p:txBody>
      </p:sp>
      <p:sp>
        <p:nvSpPr>
          <p:cNvPr id="19" name="Session topic 2"/>
          <p:cNvSpPr txBox="1"/>
          <p:nvPr/>
        </p:nvSpPr>
        <p:spPr>
          <a:xfrm>
            <a:off x="1188720" y="1988820"/>
            <a:ext cx="2057400" cy="676656"/>
          </a:xfrm>
          <a:prstGeom prst="rect">
            <a:avLst/>
          </a:prstGeom>
          <a:noFill/>
        </p:spPr>
        <p:txBody>
          <a:bodyPr wrap="square" lIns="0" rIns="0" tIns="0" bIns="0" anchor="ctr">
            <a:noAutofit/>
          </a:bodyPr>
          <a:lstStyle/>
          <a:p>
            <a:pPr algn="l">
              <a:spcAft>
                <a:spcPts val="400"/>
              </a:spcAft>
            </a:pPr>
            <a:r>
              <a:rPr sz="1200" b="1" lang="en-GB">
                <a:solidFill>
                  <a:schemeClr val="tx2"/>
                </a:solidFill>
              </a:rPr>
              <a:t>Advanced regression</a:t>
            </a:r>
          </a:p>
        </p:txBody>
      </p:sp>
      <p:sp>
        <p:nvSpPr>
          <p:cNvPr id="20" name="Session methods 2"/>
          <p:cNvSpPr txBox="1"/>
          <p:nvPr/>
        </p:nvSpPr>
        <p:spPr>
          <a:xfrm>
            <a:off x="3291840" y="1988820"/>
            <a:ext cx="3291840" cy="676656"/>
          </a:xfrm>
          <a:prstGeom prst="rect">
            <a:avLst/>
          </a:prstGeom>
          <a:noFill/>
        </p:spPr>
        <p:txBody>
          <a:bodyPr wrap="square" lIns="0" rIns="0" tIns="0" bIns="0" anchor="ctr">
            <a:noAutofit/>
          </a:bodyPr>
          <a:lstStyle/>
          <a:p>
            <a:pPr algn="l">
              <a:spcAft>
                <a:spcPts val="400"/>
              </a:spcAft>
            </a:pPr>
            <a:r>
              <a:rPr sz="1200" b="0" lang="en-GB">
                <a:solidFill>
                  <a:schemeClr val="tx1"/>
                </a:solidFill>
              </a:rPr>
              <a:t>log-log elasticities, dummies, non-linear effects, moderation and mediation, adstock and saturation, diagnostics</a:t>
            </a:r>
          </a:p>
        </p:txBody>
      </p:sp>
      <p:sp>
        <p:nvSpPr>
          <p:cNvPr id="21" name="Session role 2"/>
          <p:cNvSpPr txBox="1"/>
          <p:nvPr/>
        </p:nvSpPr>
        <p:spPr>
          <a:xfrm>
            <a:off x="6675120" y="1988820"/>
            <a:ext cx="1920240" cy="676656"/>
          </a:xfrm>
          <a:prstGeom prst="rect">
            <a:avLst/>
          </a:prstGeom>
          <a:noFill/>
        </p:spPr>
        <p:txBody>
          <a:bodyPr wrap="square" lIns="0" rIns="0" tIns="0" bIns="0" anchor="ctr">
            <a:noAutofit/>
          </a:bodyPr>
          <a:lstStyle/>
          <a:p>
            <a:pPr algn="l">
              <a:spcAft>
                <a:spcPts val="400"/>
              </a:spcAft>
            </a:pPr>
            <a:r>
              <a:rPr sz="1200" b="1" lang="en-GB">
                <a:solidFill>
                  <a:schemeClr val="accent1"/>
                </a:solidFill>
              </a:rPr>
              <a:t>→ the MMM itself</a:t>
            </a:r>
          </a:p>
        </p:txBody>
      </p:sp>
      <p:sp>
        <p:nvSpPr>
          <p:cNvPr id="22" name="Session row 3"/>
          <p:cNvSpPr/>
          <p:nvPr/>
        </p:nvSpPr>
        <p:spPr>
          <a:xfrm>
            <a:off x="457200" y="2743200"/>
            <a:ext cx="8229600" cy="67665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ession bar 3"/>
          <p:cNvSpPr/>
          <p:nvPr/>
        </p:nvSpPr>
        <p:spPr>
          <a:xfrm>
            <a:off x="457200" y="2743200"/>
            <a:ext cx="64008" cy="67665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ession number 3"/>
          <p:cNvSpPr/>
          <p:nvPr/>
        </p:nvSpPr>
        <p:spPr>
          <a:xfrm>
            <a:off x="658368" y="2889504"/>
            <a:ext cx="384048" cy="3840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lang="en-GB">
                <a:solidFill>
                  <a:schemeClr val="bg1"/>
                </a:solidFill>
              </a:rPr>
              <a:t>3</a:t>
            </a:r>
          </a:p>
        </p:txBody>
      </p:sp>
      <p:sp>
        <p:nvSpPr>
          <p:cNvPr id="25" name="Session topic 3"/>
          <p:cNvSpPr txBox="1"/>
          <p:nvPr/>
        </p:nvSpPr>
        <p:spPr>
          <a:xfrm>
            <a:off x="1188720" y="2743200"/>
            <a:ext cx="2057400" cy="676656"/>
          </a:xfrm>
          <a:prstGeom prst="rect">
            <a:avLst/>
          </a:prstGeom>
          <a:noFill/>
        </p:spPr>
        <p:txBody>
          <a:bodyPr wrap="square" lIns="0" rIns="0" tIns="0" bIns="0" anchor="ctr">
            <a:noAutofit/>
          </a:bodyPr>
          <a:lstStyle/>
          <a:p>
            <a:pPr algn="l">
              <a:spcAft>
                <a:spcPts val="400"/>
              </a:spcAft>
            </a:pPr>
            <a:r>
              <a:rPr sz="1200" b="1" lang="en-GB">
                <a:solidFill>
                  <a:schemeClr val="tx2"/>
                </a:solidFill>
              </a:rPr>
              <a:t>Logistic regression</a:t>
            </a:r>
          </a:p>
        </p:txBody>
      </p:sp>
      <p:sp>
        <p:nvSpPr>
          <p:cNvPr id="26" name="Session methods 3"/>
          <p:cNvSpPr txBox="1"/>
          <p:nvPr/>
        </p:nvSpPr>
        <p:spPr>
          <a:xfrm>
            <a:off x="3291840" y="2743200"/>
            <a:ext cx="3291840" cy="676656"/>
          </a:xfrm>
          <a:prstGeom prst="rect">
            <a:avLst/>
          </a:prstGeom>
          <a:noFill/>
        </p:spPr>
        <p:txBody>
          <a:bodyPr wrap="square" lIns="0" rIns="0" tIns="0" bIns="0" anchor="ctr">
            <a:noAutofit/>
          </a:bodyPr>
          <a:lstStyle/>
          <a:p>
            <a:pPr algn="l">
              <a:spcAft>
                <a:spcPts val="400"/>
              </a:spcAft>
            </a:pPr>
            <a:r>
              <a:rPr sz="1200" b="0" lang="en-GB">
                <a:solidFill>
                  <a:schemeClr val="tx1"/>
                </a:solidFill>
              </a:rPr>
              <a:t>binary outcomes: purchase, churn; odds ratios</a:t>
            </a:r>
          </a:p>
        </p:txBody>
      </p:sp>
      <p:sp>
        <p:nvSpPr>
          <p:cNvPr id="27" name="Session role 3"/>
          <p:cNvSpPr txBox="1"/>
          <p:nvPr/>
        </p:nvSpPr>
        <p:spPr>
          <a:xfrm>
            <a:off x="6675120" y="2743200"/>
            <a:ext cx="1920240" cy="676656"/>
          </a:xfrm>
          <a:prstGeom prst="rect">
            <a:avLst/>
          </a:prstGeom>
          <a:noFill/>
        </p:spPr>
        <p:txBody>
          <a:bodyPr wrap="square" lIns="0" rIns="0" tIns="0" bIns="0" anchor="ctr">
            <a:noAutofit/>
          </a:bodyPr>
          <a:lstStyle/>
          <a:p>
            <a:pPr algn="l">
              <a:spcAft>
                <a:spcPts val="400"/>
              </a:spcAft>
            </a:pPr>
            <a:r>
              <a:rPr sz="1200" b="1" lang="en-GB">
                <a:solidFill>
                  <a:schemeClr val="accent1"/>
                </a:solidFill>
              </a:rPr>
              <a:t>→ customer-level questions</a:t>
            </a:r>
          </a:p>
        </p:txBody>
      </p:sp>
      <p:sp>
        <p:nvSpPr>
          <p:cNvPr id="28" name="Session row 4"/>
          <p:cNvSpPr/>
          <p:nvPr/>
        </p:nvSpPr>
        <p:spPr>
          <a:xfrm>
            <a:off x="457200" y="3497580"/>
            <a:ext cx="8229600" cy="67665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ssion bar 4"/>
          <p:cNvSpPr/>
          <p:nvPr/>
        </p:nvSpPr>
        <p:spPr>
          <a:xfrm>
            <a:off x="457200" y="3497580"/>
            <a:ext cx="64008" cy="67665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ession number 4"/>
          <p:cNvSpPr/>
          <p:nvPr/>
        </p:nvSpPr>
        <p:spPr>
          <a:xfrm>
            <a:off x="658368" y="3643884"/>
            <a:ext cx="384048" cy="3840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lang="en-GB">
                <a:solidFill>
                  <a:schemeClr val="bg1"/>
                </a:solidFill>
              </a:rPr>
              <a:t>4</a:t>
            </a:r>
          </a:p>
        </p:txBody>
      </p:sp>
      <p:sp>
        <p:nvSpPr>
          <p:cNvPr id="31" name="Session topic 4"/>
          <p:cNvSpPr txBox="1"/>
          <p:nvPr/>
        </p:nvSpPr>
        <p:spPr>
          <a:xfrm>
            <a:off x="1188720" y="3497580"/>
            <a:ext cx="2057400" cy="676656"/>
          </a:xfrm>
          <a:prstGeom prst="rect">
            <a:avLst/>
          </a:prstGeom>
          <a:noFill/>
        </p:spPr>
        <p:txBody>
          <a:bodyPr wrap="square" lIns="0" rIns="0" tIns="0" bIns="0" anchor="ctr">
            <a:noAutofit/>
          </a:bodyPr>
          <a:lstStyle/>
          <a:p>
            <a:pPr algn="l">
              <a:spcAft>
                <a:spcPts val="400"/>
              </a:spcAft>
            </a:pPr>
            <a:r>
              <a:rPr sz="1200" b="1" lang="en-GB">
                <a:solidFill>
                  <a:schemeClr val="tx2"/>
                </a:solidFill>
              </a:rPr>
              <a:t>ARIMA</a:t>
            </a:r>
          </a:p>
        </p:txBody>
      </p:sp>
      <p:sp>
        <p:nvSpPr>
          <p:cNvPr id="32" name="Session methods 4"/>
          <p:cNvSpPr txBox="1"/>
          <p:nvPr/>
        </p:nvSpPr>
        <p:spPr>
          <a:xfrm>
            <a:off x="3291840" y="3497580"/>
            <a:ext cx="3291840" cy="676656"/>
          </a:xfrm>
          <a:prstGeom prst="rect">
            <a:avLst/>
          </a:prstGeom>
          <a:noFill/>
        </p:spPr>
        <p:txBody>
          <a:bodyPr wrap="square" lIns="0" rIns="0" tIns="0" bIns="0" anchor="ctr">
            <a:noAutofit/>
          </a:bodyPr>
          <a:lstStyle/>
          <a:p>
            <a:pPr algn="l">
              <a:spcAft>
                <a:spcPts val="400"/>
              </a:spcAft>
            </a:pPr>
            <a:r>
              <a:rPr sz="1200" b="0" lang="en-GB">
                <a:solidFill>
                  <a:schemeClr val="tx1"/>
                </a:solidFill>
              </a:rPr>
              <a:t>trend, seasonality, ARIMA and ARIMAX forecasts</a:t>
            </a:r>
          </a:p>
        </p:txBody>
      </p:sp>
      <p:sp>
        <p:nvSpPr>
          <p:cNvPr id="33" name="Session role 4"/>
          <p:cNvSpPr txBox="1"/>
          <p:nvPr/>
        </p:nvSpPr>
        <p:spPr>
          <a:xfrm>
            <a:off x="6675120" y="3497580"/>
            <a:ext cx="1920240" cy="676656"/>
          </a:xfrm>
          <a:prstGeom prst="rect">
            <a:avLst/>
          </a:prstGeom>
          <a:noFill/>
        </p:spPr>
        <p:txBody>
          <a:bodyPr wrap="square" lIns="0" rIns="0" tIns="0" bIns="0" anchor="ctr">
            <a:noAutofit/>
          </a:bodyPr>
          <a:lstStyle/>
          <a:p>
            <a:pPr algn="l">
              <a:spcAft>
                <a:spcPts val="400"/>
              </a:spcAft>
            </a:pPr>
            <a:r>
              <a:rPr sz="1200" b="1" lang="en-GB">
                <a:solidFill>
                  <a:schemeClr val="accent1"/>
                </a:solidFill>
              </a:rPr>
              <a:t>→ the sales baseline</a:t>
            </a:r>
          </a:p>
        </p:txBody>
      </p:sp>
      <p:sp>
        <p:nvSpPr>
          <p:cNvPr id="34" name="Session row 5"/>
          <p:cNvSpPr/>
          <p:nvPr/>
        </p:nvSpPr>
        <p:spPr>
          <a:xfrm>
            <a:off x="457200" y="4251960"/>
            <a:ext cx="8229600" cy="67665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ession bar 5"/>
          <p:cNvSpPr/>
          <p:nvPr/>
        </p:nvSpPr>
        <p:spPr>
          <a:xfrm>
            <a:off x="457200" y="4251960"/>
            <a:ext cx="64008" cy="67665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Session number 5"/>
          <p:cNvSpPr/>
          <p:nvPr/>
        </p:nvSpPr>
        <p:spPr>
          <a:xfrm>
            <a:off x="658368" y="4398264"/>
            <a:ext cx="384048" cy="3840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lang="en-GB">
                <a:solidFill>
                  <a:schemeClr val="bg1"/>
                </a:solidFill>
              </a:rPr>
              <a:t>5</a:t>
            </a:r>
          </a:p>
        </p:txBody>
      </p:sp>
      <p:sp>
        <p:nvSpPr>
          <p:cNvPr id="37" name="Session topic 5"/>
          <p:cNvSpPr txBox="1"/>
          <p:nvPr/>
        </p:nvSpPr>
        <p:spPr>
          <a:xfrm>
            <a:off x="1188720" y="4251960"/>
            <a:ext cx="2057400" cy="676656"/>
          </a:xfrm>
          <a:prstGeom prst="rect">
            <a:avLst/>
          </a:prstGeom>
          <a:noFill/>
        </p:spPr>
        <p:txBody>
          <a:bodyPr wrap="square" lIns="0" rIns="0" tIns="0" bIns="0" anchor="ctr">
            <a:noAutofit/>
          </a:bodyPr>
          <a:lstStyle/>
          <a:p>
            <a:pPr algn="l">
              <a:spcAft>
                <a:spcPts val="400"/>
              </a:spcAft>
            </a:pPr>
            <a:r>
              <a:rPr sz="1200" b="1" lang="en-GB">
                <a:solidFill>
                  <a:schemeClr val="tx2"/>
                </a:solidFill>
              </a:rPr>
              <a:t>Advanced MMM tools</a:t>
            </a:r>
          </a:p>
        </p:txBody>
      </p:sp>
      <p:sp>
        <p:nvSpPr>
          <p:cNvPr id="38" name="Session methods 5"/>
          <p:cNvSpPr txBox="1"/>
          <p:nvPr/>
        </p:nvSpPr>
        <p:spPr>
          <a:xfrm>
            <a:off x="3291840" y="4251960"/>
            <a:ext cx="3291840" cy="676656"/>
          </a:xfrm>
          <a:prstGeom prst="rect">
            <a:avLst/>
          </a:prstGeom>
          <a:noFill/>
        </p:spPr>
        <p:txBody>
          <a:bodyPr wrap="square" lIns="0" rIns="0" tIns="0" bIns="0" anchor="ctr">
            <a:noAutofit/>
          </a:bodyPr>
          <a:lstStyle/>
          <a:p>
            <a:pPr algn="l">
              <a:spcAft>
                <a:spcPts val="400"/>
              </a:spcAft>
            </a:pPr>
            <a:r>
              <a:rPr sz="1200" b="0" lang="en-GB">
                <a:solidFill>
                  <a:schemeClr val="tx1"/>
                </a:solidFill>
              </a:rPr>
              <a:t>Bayesian MMM, budget optimisation</a:t>
            </a:r>
          </a:p>
        </p:txBody>
      </p:sp>
      <p:sp>
        <p:nvSpPr>
          <p:cNvPr id="39" name="Session role 5"/>
          <p:cNvSpPr txBox="1"/>
          <p:nvPr/>
        </p:nvSpPr>
        <p:spPr>
          <a:xfrm>
            <a:off x="6675120" y="4251960"/>
            <a:ext cx="1920240" cy="676656"/>
          </a:xfrm>
          <a:prstGeom prst="rect">
            <a:avLst/>
          </a:prstGeom>
          <a:noFill/>
        </p:spPr>
        <p:txBody>
          <a:bodyPr wrap="square" lIns="0" rIns="0" tIns="0" bIns="0" anchor="ctr">
            <a:noAutofit/>
          </a:bodyPr>
          <a:lstStyle/>
          <a:p>
            <a:pPr algn="l">
              <a:spcAft>
                <a:spcPts val="400"/>
              </a:spcAft>
            </a:pPr>
            <a:r>
              <a:rPr sz="1200" b="1" lang="en-GB">
                <a:solidFill>
                  <a:schemeClr val="accent1"/>
                </a:solidFill>
              </a:rPr>
              <a:t>→ the full workflow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group case study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ase steps step 1"/>
          <p:cNvSpPr/>
          <p:nvPr/>
        </p:nvSpPr>
        <p:spPr>
          <a:xfrm>
            <a:off x="457200" y="1234440"/>
            <a:ext cx="2139696" cy="603504"/>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S1: what drives</a:t>
            </a:r>
            <a:br/>
            <a:r>
              <a:rPr sz="1200" b="1" lang="en-GB">
                <a:solidFill>
                  <a:schemeClr val="tx2"/>
                </a:solidFill>
              </a:rPr>
              <a:t>weekly orders?</a:t>
            </a:r>
          </a:p>
        </p:txBody>
      </p:sp>
      <p:sp>
        <p:nvSpPr>
          <p:cNvPr id="11" name="Case steps step 2"/>
          <p:cNvSpPr/>
          <p:nvPr/>
        </p:nvSpPr>
        <p:spPr>
          <a:xfrm>
            <a:off x="2487168" y="1234440"/>
            <a:ext cx="2139696" cy="603504"/>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S2: price and</a:t>
            </a:r>
            <a:br/>
            <a:r>
              <a:rPr sz="1200" b="1" lang="en-GB">
                <a:solidFill>
                  <a:schemeClr val="tx2"/>
                </a:solidFill>
              </a:rPr>
              <a:t>advertising</a:t>
            </a:r>
          </a:p>
        </p:txBody>
      </p:sp>
      <p:sp>
        <p:nvSpPr>
          <p:cNvPr id="12" name="Case steps step 3"/>
          <p:cNvSpPr/>
          <p:nvPr/>
        </p:nvSpPr>
        <p:spPr>
          <a:xfrm>
            <a:off x="4517136" y="1234440"/>
            <a:ext cx="2139696" cy="603504"/>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S3: who will</a:t>
            </a:r>
            <a:br/>
            <a:r>
              <a:rPr sz="1200" b="1" lang="en-GB">
                <a:solidFill>
                  <a:schemeClr val="tx2"/>
                </a:solidFill>
              </a:rPr>
              <a:t>cancel?</a:t>
            </a:r>
          </a:p>
        </p:txBody>
      </p:sp>
      <p:sp>
        <p:nvSpPr>
          <p:cNvPr id="13" name="Case steps step 4"/>
          <p:cNvSpPr/>
          <p:nvPr/>
        </p:nvSpPr>
        <p:spPr>
          <a:xfrm>
            <a:off x="6547104" y="1234440"/>
            <a:ext cx="2139696" cy="603504"/>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S4: Q1 2026</a:t>
            </a:r>
            <a:br/>
            <a:r>
              <a:rPr sz="1200" b="1" lang="en-GB">
                <a:solidFill>
                  <a:schemeClr val="tx2"/>
                </a:solidFill>
              </a:rPr>
              <a:t>baseline</a:t>
            </a:r>
          </a:p>
        </p:txBody>
      </p:sp>
      <p:sp>
        <p:nvSpPr>
          <p:cNvPr id="14" name="Case card 1 body"/>
          <p:cNvSpPr/>
          <p:nvPr/>
        </p:nvSpPr>
        <p:spPr>
          <a:xfrm>
            <a:off x="457200" y="2423160"/>
            <a:ext cx="265176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ase card 1 header"/>
          <p:cNvSpPr/>
          <p:nvPr/>
        </p:nvSpPr>
        <p:spPr>
          <a:xfrm>
            <a:off x="457200" y="20116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ase card 1 heading"/>
          <p:cNvSpPr txBox="1"/>
          <p:nvPr/>
        </p:nvSpPr>
        <p:spPr>
          <a:xfrm>
            <a:off x="594360" y="20116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 brief</a:t>
            </a:r>
          </a:p>
        </p:txBody>
      </p:sp>
      <p:pic>
        <p:nvPicPr>
          <p:cNvPr id="17" name="Icon Case card 1" descr=""/>
          <p:cNvPicPr>
            <a:picLocks noChangeAspect="1"/>
          </p:cNvPicPr>
          <p:nvPr/>
        </p:nvPicPr>
        <p:blipFill>
          <a:blip r:embed="rId3"/>
          <a:stretch>
            <a:fillRect/>
          </a:stretch>
        </p:blipFill>
        <p:spPr>
          <a:xfrm>
            <a:off x="2670048" y="2061972"/>
            <a:ext cx="310896" cy="310896"/>
          </a:xfrm>
          <a:prstGeom prst="rect">
            <a:avLst/>
          </a:prstGeom>
        </p:spPr>
      </p:pic>
      <p:sp>
        <p:nvSpPr>
          <p:cNvPr id="18" name="Case card 1 text"/>
          <p:cNvSpPr txBox="1"/>
          <p:nvPr/>
        </p:nvSpPr>
        <p:spPr>
          <a:xfrm>
            <a:off x="621792" y="2560320"/>
            <a:ext cx="235000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Alpenglow's web shop in AT, DE and CH</a:t>
            </a:r>
          </a:p>
          <a:p>
            <a:pPr algn="l" marL="182880" indent="-182880">
              <a:spcAft>
                <a:spcPts val="600"/>
              </a:spcAft>
              <a:buClr>
                <a:schemeClr val="accent1"/>
              </a:buClr>
              <a:buFont typeface="Arial"/>
              <a:buChar char="▪"/>
            </a:pPr>
            <a:r>
              <a:rPr sz="1300" b="0" lang="en-GB">
                <a:solidFill>
                  <a:schemeClr val="tx1"/>
                </a:solidFill>
              </a:rPr>
              <a:t>Four questions from the Head of E-commerce</a:t>
            </a:r>
          </a:p>
        </p:txBody>
      </p:sp>
      <p:sp>
        <p:nvSpPr>
          <p:cNvPr id="19" name="Case card 2 body"/>
          <p:cNvSpPr/>
          <p:nvPr/>
        </p:nvSpPr>
        <p:spPr>
          <a:xfrm>
            <a:off x="3246120" y="2423160"/>
            <a:ext cx="265176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ase card 2 header"/>
          <p:cNvSpPr/>
          <p:nvPr/>
        </p:nvSpPr>
        <p:spPr>
          <a:xfrm>
            <a:off x="3246120" y="20116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ase card 2 heading"/>
          <p:cNvSpPr txBox="1"/>
          <p:nvPr/>
        </p:nvSpPr>
        <p:spPr>
          <a:xfrm>
            <a:off x="3383280" y="20116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 data</a:t>
            </a:r>
          </a:p>
        </p:txBody>
      </p:sp>
      <p:pic>
        <p:nvPicPr>
          <p:cNvPr id="22" name="Icon Case card 2" descr=""/>
          <p:cNvPicPr>
            <a:picLocks noChangeAspect="1"/>
          </p:cNvPicPr>
          <p:nvPr/>
        </p:nvPicPr>
        <p:blipFill>
          <a:blip r:embed="rId4"/>
          <a:stretch>
            <a:fillRect/>
          </a:stretch>
        </p:blipFill>
        <p:spPr>
          <a:xfrm>
            <a:off x="5458968" y="2061972"/>
            <a:ext cx="310896" cy="310896"/>
          </a:xfrm>
          <a:prstGeom prst="rect">
            <a:avLst/>
          </a:prstGeom>
        </p:spPr>
      </p:pic>
      <p:sp>
        <p:nvSpPr>
          <p:cNvPr id="23" name="Case card 2 text"/>
          <p:cNvSpPr txBox="1"/>
          <p:nvPr/>
        </p:nvSpPr>
        <p:spPr>
          <a:xfrm>
            <a:off x="3410712" y="2560320"/>
            <a:ext cx="235000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Weekly shop data, 3 countries × 156 weeks</a:t>
            </a:r>
          </a:p>
          <a:p>
            <a:pPr algn="l" marL="182880" indent="-182880">
              <a:spcAft>
                <a:spcPts val="600"/>
              </a:spcAft>
              <a:buClr>
                <a:schemeClr val="accent1"/>
              </a:buClr>
              <a:buFont typeface="Arial"/>
              <a:buChar char="▪"/>
            </a:pPr>
            <a:r>
              <a:rPr sz="1300" b="0" lang="en-GB">
                <a:solidFill>
                  <a:schemeClr val="tx1"/>
                </a:solidFill>
              </a:rPr>
              <a:t>Club subscribers</a:t>
            </a:r>
          </a:p>
          <a:p>
            <a:pPr algn="l" marL="182880" indent="-182880">
              <a:spcAft>
                <a:spcPts val="600"/>
              </a:spcAft>
              <a:buClr>
                <a:schemeClr val="accent1"/>
              </a:buClr>
              <a:buFont typeface="Arial"/>
              <a:buChar char="▪"/>
            </a:pPr>
            <a:r>
              <a:rPr sz="1300" b="0" lang="en-GB">
                <a:solidFill>
                  <a:schemeClr val="tx1"/>
                </a:solidFill>
              </a:rPr>
              <a:t>The Q1 2026 plan</a:t>
            </a:r>
          </a:p>
        </p:txBody>
      </p:sp>
      <p:sp>
        <p:nvSpPr>
          <p:cNvPr id="24" name="Case card 3 body"/>
          <p:cNvSpPr/>
          <p:nvPr/>
        </p:nvSpPr>
        <p:spPr>
          <a:xfrm>
            <a:off x="6035040" y="2423160"/>
            <a:ext cx="265176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ase card 3 header"/>
          <p:cNvSpPr/>
          <p:nvPr/>
        </p:nvSpPr>
        <p:spPr>
          <a:xfrm>
            <a:off x="6035040" y="20116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ase card 3 heading"/>
          <p:cNvSpPr txBox="1"/>
          <p:nvPr/>
        </p:nvSpPr>
        <p:spPr>
          <a:xfrm>
            <a:off x="6172200" y="20116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You deliver</a:t>
            </a:r>
          </a:p>
        </p:txBody>
      </p:sp>
      <p:pic>
        <p:nvPicPr>
          <p:cNvPr id="27" name="Icon Case card 3" descr=""/>
          <p:cNvPicPr>
            <a:picLocks noChangeAspect="1"/>
          </p:cNvPicPr>
          <p:nvPr/>
        </p:nvPicPr>
        <p:blipFill>
          <a:blip r:embed="rId5"/>
          <a:stretch>
            <a:fillRect/>
          </a:stretch>
        </p:blipFill>
        <p:spPr>
          <a:xfrm>
            <a:off x="8247888" y="2061972"/>
            <a:ext cx="310896" cy="310896"/>
          </a:xfrm>
          <a:prstGeom prst="rect">
            <a:avLst/>
          </a:prstGeom>
        </p:spPr>
      </p:pic>
      <p:sp>
        <p:nvSpPr>
          <p:cNvPr id="28" name="Case card 3 text"/>
          <p:cNvSpPr txBox="1"/>
          <p:nvPr/>
        </p:nvSpPr>
        <p:spPr>
          <a:xfrm>
            <a:off x="6199632" y="2560320"/>
            <a:ext cx="235000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 Quarto report with all code</a:t>
            </a:r>
          </a:p>
          <a:p>
            <a:pPr algn="l" marL="182880" indent="-182880">
              <a:spcAft>
                <a:spcPts val="600"/>
              </a:spcAft>
              <a:buClr>
                <a:schemeClr val="accent1"/>
              </a:buClr>
              <a:buFont typeface="Arial"/>
              <a:buChar char="▪"/>
            </a:pPr>
            <a:r>
              <a:rPr sz="1300" b="0" lang="en-GB">
                <a:solidFill>
                  <a:schemeClr val="tx1"/>
                </a:solidFill>
              </a:rPr>
              <a:t>Groups of at most 4</a:t>
            </a:r>
          </a:p>
          <a:p>
            <a:pPr algn="l" marL="182880" indent="-182880">
              <a:spcAft>
                <a:spcPts val="600"/>
              </a:spcAft>
              <a:buClr>
                <a:schemeClr val="accent1"/>
              </a:buClr>
              <a:buFont typeface="Arial"/>
              <a:buChar char="▪"/>
            </a:pPr>
            <a:r>
              <a:rPr sz="1300" b="0" lang="en-GB">
                <a:solidFill>
                  <a:schemeClr val="tx1"/>
                </a:solidFill>
              </a:rPr>
              <a:t>30 % of the grade</a:t>
            </a:r>
          </a:p>
        </p:txBody>
      </p:sp>
      <p:sp>
        <p:nvSpPr>
          <p:cNvPr id="29" name="Case rule box"/>
          <p:cNvSpPr/>
          <p:nvPr/>
        </p:nvSpPr>
        <p:spPr>
          <a:xfrm>
            <a:off x="457200" y="4005072"/>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Case rule" descr=""/>
          <p:cNvPicPr>
            <a:picLocks noChangeAspect="1"/>
          </p:cNvPicPr>
          <p:nvPr/>
        </p:nvPicPr>
        <p:blipFill>
          <a:blip r:embed="rId6"/>
          <a:stretch>
            <a:fillRect/>
          </a:stretch>
        </p:blipFill>
        <p:spPr>
          <a:xfrm>
            <a:off x="658368" y="4165092"/>
            <a:ext cx="365760" cy="365760"/>
          </a:xfrm>
          <a:prstGeom prst="rect">
            <a:avLst/>
          </a:prstGeom>
        </p:spPr>
      </p:pic>
      <p:sp>
        <p:nvSpPr>
          <p:cNvPr id="31" name="Case rule text"/>
          <p:cNvSpPr txBox="1"/>
          <p:nvPr/>
        </p:nvSpPr>
        <p:spPr>
          <a:xfrm>
            <a:off x="1207008" y="4005072"/>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Every number from code: </a:t>
            </a:r>
            <a:r>
              <a:rPr sz="1200" b="0" lang="en-GB">
                <a:solidFill>
                  <a:schemeClr val="bg1"/>
                </a:solidFill>
              </a:rPr>
              <a:t>the report renders from a fresh copy of your repository.</a:t>
            </a:r>
          </a:p>
        </p:txBody>
      </p:sp>
      <p:sp>
        <p:nvSpPr>
          <p:cNvPr id="32" name="Case where"/>
          <p:cNvSpPr txBox="1"/>
          <p:nvPr/>
        </p:nvSpPr>
        <p:spPr>
          <a:xfrm>
            <a:off x="457200" y="4754880"/>
            <a:ext cx="8229600"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Brief, data and assessment criteria: </a:t>
            </a:r>
            <a:r>
              <a:rPr sz="1200" b="0" lang="en-GB">
                <a:solidFill>
                  <a:schemeClr val="tx2"/>
                </a:solidFill>
                <a:latin typeface="Consolas"/>
              </a:rPr>
              <a:t>assignments/group-project/ and Canvas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MMM </a:t>
            </a:r>
            <a:r>
              <a:rPr sz="1200" b="0" lang="en-GB">
                <a:solidFill>
                  <a:schemeClr val="tx1"/>
                </a:solidFill>
              </a:rPr>
              <a:t>explains weekly sales with marketing and other drivers and splits them into base and incremental</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Adstock and saturation </a:t>
            </a:r>
            <a:r>
              <a:rPr sz="1200" b="0" lang="en-GB">
                <a:solidFill>
                  <a:schemeClr val="tx1"/>
                </a:solidFill>
              </a:rPr>
              <a:t>capture carryover and diminishing returns; decide on marginal, not average, ROAS</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Benchmarks: </a:t>
            </a:r>
            <a:r>
              <a:rPr sz="1200" b="0" lang="en-GB">
                <a:solidFill>
                  <a:schemeClr val="tx1"/>
                </a:solidFill>
              </a:rPr>
              <a:t>advertising elasticities around 0.1 short term, larger price effects, differences by country</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Budgets follow demand: </a:t>
            </a:r>
            <a:r>
              <a:rPr sz="1200" b="0" lang="en-GB">
                <a:solidFill>
                  <a:schemeClr val="tx1"/>
                </a:solidFill>
              </a:rPr>
              <a:t>watch endogeneity; validate on a holdout and calibrate with experiments</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Open-source Bayesian tools </a:t>
            </a:r>
            <a:r>
              <a:rPr sz="1200" b="0" lang="en-GB">
                <a:solidFill>
                  <a:schemeClr val="tx1"/>
                </a:solidFill>
              </a:rPr>
              <a:t>make it doable in Python: you will build one</a:t>
            </a:r>
          </a:p>
        </p:txBody>
      </p:sp>
      <p:sp>
        <p:nvSpPr>
          <p:cNvPr id="25" name="Final question box"/>
          <p:cNvSpPr/>
          <p:nvPr/>
        </p:nvSpPr>
        <p:spPr>
          <a:xfrm>
            <a:off x="457200" y="45720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Final question" descr=""/>
          <p:cNvPicPr>
            <a:picLocks noChangeAspect="1"/>
          </p:cNvPicPr>
          <p:nvPr/>
        </p:nvPicPr>
        <p:blipFill>
          <a:blip r:embed="rId3"/>
          <a:stretch>
            <a:fillRect/>
          </a:stretch>
        </p:blipFill>
        <p:spPr>
          <a:xfrm>
            <a:off x="658368" y="4640580"/>
            <a:ext cx="365760" cy="365760"/>
          </a:xfrm>
          <a:prstGeom prst="rect">
            <a:avLst/>
          </a:prstGeom>
        </p:spPr>
      </p:pic>
      <p:sp>
        <p:nvSpPr>
          <p:cNvPr id="27" name="Final question text"/>
          <p:cNvSpPr txBox="1"/>
          <p:nvPr/>
        </p:nvSpPr>
        <p:spPr>
          <a:xfrm>
            <a:off x="1207008" y="457200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The question stays the same: </a:t>
            </a:r>
            <a:r>
              <a:rPr sz="1200" b="0" lang="en-GB">
                <a:solidFill>
                  <a:schemeClr val="bg1"/>
                </a:solidFill>
              </a:rPr>
              <a:t>where should the next euro go?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Further reading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ading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ading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Foundations and evidence</a:t>
            </a:r>
          </a:p>
        </p:txBody>
      </p:sp>
      <p:pic>
        <p:nvPicPr>
          <p:cNvPr id="12" name="Icon reading 1" descr=""/>
          <p:cNvPicPr>
            <a:picLocks noChangeAspect="1"/>
          </p:cNvPicPr>
          <p:nvPr/>
        </p:nvPicPr>
        <p:blipFill>
          <a:blip r:embed="rId3"/>
          <a:stretch>
            <a:fillRect/>
          </a:stretch>
        </p:blipFill>
        <p:spPr>
          <a:xfrm>
            <a:off x="4064508" y="1280160"/>
            <a:ext cx="310896" cy="310896"/>
          </a:xfrm>
          <a:prstGeom prst="rect">
            <a:avLst/>
          </a:prstGeom>
        </p:spPr>
      </p:pic>
      <p:sp>
        <p:nvSpPr>
          <p:cNvPr id="13" name="Reading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ading 1 text"/>
          <p:cNvSpPr txBox="1"/>
          <p:nvPr/>
        </p:nvSpPr>
        <p:spPr>
          <a:xfrm>
            <a:off x="621792" y="1755648"/>
            <a:ext cx="3744468" cy="3246120"/>
          </a:xfrm>
          <a:prstGeom prst="rect">
            <a:avLst/>
          </a:prstGeom>
          <a:noFill/>
        </p:spPr>
        <p:txBody>
          <a:bodyPr wrap="square" lIns="0" rIns="0" tIns="0" bIns="0" anchor="t">
            <a:noAutofit/>
          </a:bodyPr>
          <a:lstStyle/>
          <a:p>
            <a:pPr algn="l">
              <a:spcAft>
                <a:spcPts val="500"/>
              </a:spcAft>
            </a:pPr>
            <a:r>
              <a:rPr sz="1100" b="1" lang="en-GB">
                <a:solidFill>
                  <a:schemeClr val="tx2"/>
                </a:solidFill>
              </a:rPr>
              <a:t>Hanssens, D. M., Parsons, L. J. &amp; Schultz, R. L. (2001). </a:t>
            </a:r>
            <a:r>
              <a:rPr sz="1100" b="0" lang="en-GB">
                <a:solidFill>
                  <a:schemeClr val="tx1"/>
                </a:solidFill>
              </a:rPr>
              <a:t>Market Response Models. 2nd ed. Kluwer.</a:t>
            </a:r>
          </a:p>
          <a:p>
            <a:pPr algn="l">
              <a:spcAft>
                <a:spcPts val="500"/>
              </a:spcAft>
            </a:pPr>
            <a:r>
              <a:rPr sz="1100" b="1" lang="en-GB">
                <a:solidFill>
                  <a:schemeClr val="tx2"/>
                </a:solidFill>
              </a:rPr>
              <a:t>Sethuraman, R., Tellis, G. J. &amp; Briesch, R. A. (2011). </a:t>
            </a:r>
            <a:r>
              <a:rPr sz="1100" b="0" lang="en-GB">
                <a:solidFill>
                  <a:schemeClr val="tx1"/>
                </a:solidFill>
              </a:rPr>
              <a:t>How well does advertising work? Journal of Marketing Research 48(3), 457–471.</a:t>
            </a:r>
          </a:p>
          <a:p>
            <a:pPr algn="l">
              <a:spcAft>
                <a:spcPts val="500"/>
              </a:spcAft>
            </a:pPr>
            <a:r>
              <a:rPr sz="1100" b="0" lang="en-GB">
                <a:solidFill>
                  <a:schemeClr val="accent1"/>
                </a:solidFill>
                <a:hlinkClick r:id="rId4"/>
              </a:rPr>
              <a:t>doi.org/10.1509/jmkr.48.3.457</a:t>
            </a:r>
          </a:p>
          <a:p>
            <a:pPr algn="l">
              <a:spcAft>
                <a:spcPts val="500"/>
              </a:spcAft>
            </a:pPr>
            <a:r>
              <a:rPr sz="1100" b="1" lang="en-GB">
                <a:solidFill>
                  <a:schemeClr val="tx2"/>
                </a:solidFill>
              </a:rPr>
              <a:t>Gordon, B. R., Zettelmeyer, F., Bhargava, N. &amp; Chapsky, D. (2019). </a:t>
            </a:r>
            <a:r>
              <a:rPr sz="1100" b="0" lang="en-GB">
                <a:solidFill>
                  <a:schemeClr val="tx1"/>
                </a:solidFill>
              </a:rPr>
              <a:t>A comparison of approaches to advertising measurement. Marketing Science 38(2), 193–225.</a:t>
            </a:r>
          </a:p>
          <a:p>
            <a:pPr algn="l">
              <a:spcAft>
                <a:spcPts val="500"/>
              </a:spcAft>
            </a:pPr>
            <a:r>
              <a:rPr sz="1100" b="0" lang="en-GB">
                <a:solidFill>
                  <a:schemeClr val="accent1"/>
                </a:solidFill>
                <a:hlinkClick r:id="rId5"/>
              </a:rPr>
              <a:t>doi.org/10.1287/mksc.2018.1135</a:t>
            </a:r>
          </a:p>
          <a:p>
            <a:pPr algn="l">
              <a:spcAft>
                <a:spcPts val="500"/>
              </a:spcAft>
            </a:pPr>
            <a:r>
              <a:rPr sz="1100" b="1" lang="en-GB">
                <a:solidFill>
                  <a:schemeClr val="tx2"/>
                </a:solidFill>
              </a:rPr>
              <a:t>Chan, D. &amp; Perry, M. (2017). </a:t>
            </a:r>
            <a:r>
              <a:rPr sz="1100" b="0" lang="en-GB">
                <a:solidFill>
                  <a:schemeClr val="tx1"/>
                </a:solidFill>
              </a:rPr>
              <a:t>Challenges and opportunities in media mix modeling. Google.</a:t>
            </a:r>
          </a:p>
          <a:p>
            <a:pPr algn="l">
              <a:spcAft>
                <a:spcPts val="500"/>
              </a:spcAft>
            </a:pPr>
            <a:r>
              <a:rPr sz="1100" b="0" lang="en-GB">
                <a:solidFill>
                  <a:schemeClr val="accent1"/>
                </a:solidFill>
                <a:hlinkClick r:id="rId6"/>
              </a:rPr>
              <a:t>research.google/pubs/pub45998/</a:t>
            </a:r>
          </a:p>
        </p:txBody>
      </p:sp>
      <p:sp>
        <p:nvSpPr>
          <p:cNvPr id="15" name="Reading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ading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Modern MMM and tools</a:t>
            </a:r>
          </a:p>
        </p:txBody>
      </p:sp>
      <p:pic>
        <p:nvPicPr>
          <p:cNvPr id="17" name="Icon reading 2" descr=""/>
          <p:cNvPicPr>
            <a:picLocks noChangeAspect="1"/>
          </p:cNvPicPr>
          <p:nvPr/>
        </p:nvPicPr>
        <p:blipFill>
          <a:blip r:embed="rId7"/>
          <a:stretch>
            <a:fillRect/>
          </a:stretch>
        </p:blipFill>
        <p:spPr>
          <a:xfrm>
            <a:off x="8247888" y="1280160"/>
            <a:ext cx="310896" cy="310896"/>
          </a:xfrm>
          <a:prstGeom prst="rect">
            <a:avLst/>
          </a:prstGeom>
        </p:spPr>
      </p:pic>
      <p:sp>
        <p:nvSpPr>
          <p:cNvPr id="18" name="Reading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ading 2 text"/>
          <p:cNvSpPr txBox="1"/>
          <p:nvPr/>
        </p:nvSpPr>
        <p:spPr>
          <a:xfrm>
            <a:off x="4805172" y="1755648"/>
            <a:ext cx="3744468" cy="3246120"/>
          </a:xfrm>
          <a:prstGeom prst="rect">
            <a:avLst/>
          </a:prstGeom>
          <a:noFill/>
        </p:spPr>
        <p:txBody>
          <a:bodyPr wrap="square" lIns="0" rIns="0" tIns="0" bIns="0" anchor="t">
            <a:noAutofit/>
          </a:bodyPr>
          <a:lstStyle/>
          <a:p>
            <a:pPr algn="l">
              <a:spcAft>
                <a:spcPts val="500"/>
              </a:spcAft>
            </a:pPr>
            <a:r>
              <a:rPr sz="1100" b="1" lang="en-GB">
                <a:solidFill>
                  <a:schemeClr val="tx2"/>
                </a:solidFill>
              </a:rPr>
              <a:t>Jin, Y., Wang, Y., Sun, Y., Chan, D. &amp; Koehler, J. (2017). </a:t>
            </a:r>
            <a:r>
              <a:rPr sz="1100" b="0" lang="en-GB">
                <a:solidFill>
                  <a:schemeClr val="tx1"/>
                </a:solidFill>
              </a:rPr>
              <a:t>Bayesian methods for media mix modeling with carryover and shape effects. Google.</a:t>
            </a:r>
          </a:p>
          <a:p>
            <a:pPr algn="l">
              <a:spcAft>
                <a:spcPts val="500"/>
              </a:spcAft>
            </a:pPr>
            <a:r>
              <a:rPr sz="1100" b="0" lang="en-GB">
                <a:solidFill>
                  <a:schemeClr val="accent1"/>
                </a:solidFill>
                <a:hlinkClick r:id="rId8"/>
              </a:rPr>
              <a:t>research.google/pubs/pub46001/</a:t>
            </a:r>
          </a:p>
          <a:p>
            <a:pPr algn="l">
              <a:spcAft>
                <a:spcPts val="500"/>
              </a:spcAft>
            </a:pPr>
            <a:r>
              <a:rPr sz="1100" b="1" lang="en-GB">
                <a:solidFill>
                  <a:schemeClr val="tx2"/>
                </a:solidFill>
              </a:rPr>
              <a:t>Runge, J., Skokan, I., Zhou, G. &amp; Pauwels, K. (2024). </a:t>
            </a:r>
            <a:r>
              <a:rPr sz="1100" b="0" lang="en-GB">
                <a:solidFill>
                  <a:schemeClr val="tx1"/>
                </a:solidFill>
              </a:rPr>
              <a:t>Packaging up media mix modeling: Robyn's open-source approach. arXiv 2403.14674.</a:t>
            </a:r>
          </a:p>
          <a:p>
            <a:pPr algn="l">
              <a:spcAft>
                <a:spcPts val="500"/>
              </a:spcAft>
            </a:pPr>
            <a:r>
              <a:rPr sz="1100" b="0" lang="en-GB">
                <a:solidFill>
                  <a:schemeClr val="accent1"/>
                </a:solidFill>
                <a:hlinkClick r:id="rId9"/>
              </a:rPr>
              <a:t>arxiv.org/abs/2403.14674</a:t>
            </a:r>
          </a:p>
          <a:p>
            <a:pPr algn="l">
              <a:spcAft>
                <a:spcPts val="500"/>
              </a:spcAft>
            </a:pPr>
            <a:r>
              <a:rPr sz="1100" b="1" lang="en-GB">
                <a:solidFill>
                  <a:schemeClr val="tx2"/>
                </a:solidFill>
              </a:rPr>
              <a:t>Google Meridian. </a:t>
            </a:r>
            <a:r>
              <a:rPr sz="1100" b="0" lang="en-GB">
                <a:solidFill>
                  <a:schemeClr val="tx1"/>
                </a:solidFill>
              </a:rPr>
              <a:t>Documentation and code (Python).</a:t>
            </a:r>
          </a:p>
          <a:p>
            <a:pPr algn="l">
              <a:spcAft>
                <a:spcPts val="500"/>
              </a:spcAft>
            </a:pPr>
            <a:r>
              <a:rPr sz="1100" b="0" lang="en-GB">
                <a:solidFill>
                  <a:schemeClr val="accent1"/>
                </a:solidFill>
                <a:hlinkClick r:id="rId10"/>
              </a:rPr>
              <a:t>github.com/google/meridian</a:t>
            </a:r>
          </a:p>
          <a:p>
            <a:pPr algn="l">
              <a:spcAft>
                <a:spcPts val="500"/>
              </a:spcAft>
            </a:pPr>
            <a:r>
              <a:rPr sz="1100" b="1" lang="en-GB">
                <a:solidFill>
                  <a:schemeClr val="tx2"/>
                </a:solidFill>
              </a:rPr>
              <a:t>PyMC Labs. PyMC-Marketing. </a:t>
            </a:r>
            <a:r>
              <a:rPr sz="1100" b="0" lang="en-GB">
                <a:solidFill>
                  <a:schemeClr val="tx1"/>
                </a:solidFill>
              </a:rPr>
              <a:t>Documentation and code (Python).</a:t>
            </a:r>
          </a:p>
          <a:p>
            <a:pPr algn="l">
              <a:spcAft>
                <a:spcPts val="500"/>
              </a:spcAft>
            </a:pPr>
            <a:r>
              <a:rPr sz="1100" b="0" lang="en-GB">
                <a:solidFill>
                  <a:schemeClr val="accent1"/>
                </a:solidFill>
                <a:hlinkClick r:id="rId11"/>
              </a:rPr>
              <a:t>github.com/pymc-labs/pymc-marketing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