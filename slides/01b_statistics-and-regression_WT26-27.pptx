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First a statistics refresher on a small chocolate kiosk that can be followed with a calculator, calculated by hand in Python. Then linear regression, the workhorse of the course: every marketing mix model is a regression with transformed variables. Theory, assumptions and tests, real-world uses, and a first model on real chocolate scanner data. Readings: Bojinov, Parzen and Hamilton (2025), Skiera, Reiner and Albers (2022).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eleven short parts. The refresher (Parts 1 to 5) builds the vocabulary of every regression table: means, standard errors, z-values, correlations. Regression (Parts 6 to 11) uses it on real chocolate data. Each half ends with a five-question quiz.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kiosk at the university sells one chocolate bar. Over five weeks the owner tried five prices. Small numbers on purpose: every result today can be checked with a calculator. The daily sales of one week (right) serve for mean and median.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decides which statistics and which charts make sense.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Nominal: categories without order (brand, country, payment method): count them, report the mode. Ordinal: ordered categories with unequal or unknown distances (star rating, size S/M/L): median and percentiles. Interval: equal distances but no true zero (temperature in °C): differences and means are fine, ratios are not. Ratio: true zero (price, bars sold, revenue): everything, including 'twice as much'. Interval and ratio together are called metric; nominal and ordinal categorical.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°C is not twice as warm as 10 °C (in Kelvin it is 293 versus 283). An average of star ratings treats an ordinal scale as metric: common in practice, but a decision you should state. An 'average brand' means nothing. Quiz answers: country nominal; satisfaction 1 to 7 ordinal (often treated as metric); age in years ratio; store ID nominal (a number, but only a label); discount yes/no nominal (binary, a dummy); temperature interval.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are the data, how far do they scatter, and how precise is our average?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adds all values and divides by n. The median is the middle value of the sorted data (with an even n, the average of the two middle values). One event day with 54 bars pulls the mean to 20, but the median stays at 12, which describes a normal day much better. Use the median for skewed data (income, basket values, sales with promotions) and for ordinal scales; the mean for symmetric metric data, and whenever totals matter (20 x 5 = 100 bars sold).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by step for weekly bars sold: subtract the mean (80), square the deviations so that plus and minus do not cancel, add them up (3,000), divide by n - 1 = 4: the variance is 750 (bars squared). The square root brings us back to bars: the standard deviation is 27.4 bars, the typical distance of a week from the mean. Why n - 1: the deviations are measured from the sample mean, which sits closer to the data than the true mean; dividing by n - 1 corrects this. polars, pandas and statsmodels use n - 1 for samples.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kiosks sell 80 bars a week on average. Kiosk A varies between 75 and 85 (sd 3.8), kiosk B between 40 and 120 (sd 31.6). The mean alone hides this. For planning: kiosk B needs far more safety stock, and a forecast for kiosk B is much less certain.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deviation describes the customers; the standard error describes the precision of the average we calculate from a sample. SE = s / square root of n. Spending per customer has sd EUR 4: with 16 customers the SE of the mean is EUR 1, with 64 customers EUR 0.50. Four times the sample halves the standard error. A 95 % confidence interval is roughly mean plus or minus 2 SE (1.96 exactly): EUR 12 plus or minus 1.96 gives 10.04 to 13.96. Every 'std err' in a regression table is a standard error.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z-scores make different scales comparable; the normal distribution tells us how unusual a value 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z-score says how many standard deviations a value lies above or below the mean. It removes the units, so values on different scales become comparable. Vienna sold 140 bars in a week (mean 120, sd 10): z = 2.0. Graz sold 75 (mean 60, sd 15): z = 1.0. Vienna's week was the more unusual one, although Graz's increase looks large. In our kiosk, week 5 with 40 bars has z = (40 - 80) / 27.4 = -1.46. A standardised variable always has mean 0 and standard deviation 1; standardised regression coefficients use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machine fills 100 g bars; the weights are normally distributed with mean 100 g and sd 2 g. The bell curve is fully described by mean and standard deviation. The 68-95-99.7 rule: 68 % of bars lie within one sd (98 to 102 g), 95 % within two (96 to 104 g; exactly 1.96 sd), 99.7 % within three (94 to 106 g). Many sums and averages are approximately normal even when single values are not (central limit theorem): this is why means and regression coefficients can be tested with the normal curve.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Standardising any normal variable gives the standard normal distribution: mean 0, sd 1. One table (or one line of Python) then answers every question. Share of bars below 97 g: z = (97 - 100) / 2 = -1.5, P(Z &lt; -1.5) = 6.7 %. The value 1.96 cuts off 2.5 % in each tail: it is the 1.96 in confidence intervals and the critical value of a two-sided test at 5 %.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one variable to two: price and bars sold at the kiosk.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Multiply the deviation of price by the deviation of bars sold for every week. When one is above its mean while the other is below, the product is negative (weeks 1, 2, 4 and 5); week 3 sits exactly on both means. The sum is -85; divided by n - 1 = 4 the covariance is -21.25. The sign gives the direction: negative, higher prices go with fewer bars. The size depends on the units (EUR x bars), so -21.25 alone says little about strength.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Dividing the covariance by both standard deviations removes the units: r = -21.25 / (0.79 x 27.39) = -0.98. r always lies between -1 and +1; -0.98 is an extremely strong negative relationship (rule of thumb in Bojinov et al.: above 0.8 extremely strong). The gallery shows strong positive, none, strong negative, and a U-shape where r is zero although x and y are clearly related: r only measures linear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Ice-cream sales and sunburn correlate because sunshine drives both: correlation is not causation. The regression slope through the five weeks is cov / var(price) = -21.25 / 0.625 = -34: each euro more, 34 bars fewer. The same building blocks (means, deviations, covariance, variance) produce the least-squares line of Part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sessions/01-foundations/stats_refresher.qmd and run it cell by cell with Ctrl/Cmd + Enter. Each step first calculates by hand, then checks with the built-in function.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polars data frame from three lists. The mean by hand is the sum divided by the number of rows; polars' mean() gives the same 80.0.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steps as on the slide by hand: deviations, squares, sum, divide by n - 1, square root. polars' std() uses n - 1 by default (ddof=1), so it matches. The standard error of the mean is sd / sqrt(n).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with_columns adds a new column; the expression subtracts the mean and divides by the standard deviation. The z-scores have mean 0 and standard deviation 1. Week 5 lies 1.46 standard deviations below the mean.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Deviations of both variables, multiplied week by week, summed and divided by n - 1: the covariance. Divided by both standard deviations: the correlation. pl.cov and pl.corr check both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plotnine takes the polars data frame directly. Always plot two variables before you trust a correlation: the U-shape on the correlation slide had r = 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day nominal-ordinal (weekday order), temperature interval, bars sold ratio. 2 mean 48, median 50. 3 deviations 12, 7, 2, -8, -13; squares sum 430; variance 107.5; sd 10.37. 4 z of the hottest day: (35 - 48) / 10.37 = -1.25. 5 temperature deviations -10, -5, 0, 5, 10; products -120, -35, 0, -40, -130, sum -325; covariance -81.25; sd temperature 7.91; r = -0.99. Warmer days, fewer chocolate bars.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alone, then compare with your neighbour; reveal the answers one by one. Answers: 1 B (ordinal: ordered, but the distances between stars are unknown). 2 B (the median, 12; the event day pulls the mean to 20). 3 A (SE = sd / square root of n: four times the sample halves it). 4 B (z counts standard deviations; about 2.3 % of weeks lie that low in a normal distribution, so C is wrong). 5 B (r measures the strength of a straight-line relationship; it says nothing about cause, and the slope per euro is the regression coefficient, -34 bars here).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vocabulary for the rest of the course: every regression table reports means, standard errors, z- or t-values and builds on covariances.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kiosk to real scanner data. Concepts first, each shown on the chocolate data. Bojinov et al. (2025) and Skiera et al. (2022) cover the same steps in more depth.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weekly scanner data for one chocolate brand (brand 1) and three competitors: 68 weeks of unit sales, prices, feature ads and in-store displays, plus temperature and holiday weeks. Brand 1 cut its price from about 1.50 to about 1.03 in seven weeks (blue dots); sales jumped to up to five times the normal level. The brand manager wants to know how strongly sales respond to price, and whether the regular price is right.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r lies between -1 and +1 and measures the direction and strength of a linear relationship. The rule of thumb in the HBS note: below 0.2 very weak, up to 0.4 weak to moderate, up to 0.6 medium to substantial, up to 0.8 very strong, above extremely strong. Sales and own price of brand 1 correlate at -0.94 over 68 real weeks, close to the kiosk's -0.98 from five made-up weeks. Real data are never a perfect line: competitors, features and the season also move sales, which is why we need multiple regression. The warnings from Part 4 still hold: linear only, not causal.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sales = 1,110 - 669 x price1 is the least-squares line for brand 1, built from the same pieces as the kiosk slope in Part 4 (cov / var). The slope says: one unit (one euro) more price, 669 units fewer per week; more useful, 10 cents more price, about 67 units fewer. R-squared is 0.88. But look at the chart: the points curve. The line overshoots in the middle and misses the promotion weeks, a first hint that a straight line is the wrong form (logs follow).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residual is the vertical distance between an observed week and the line. Ordinary least squares (OLS) chooses intercept and slope so that the sum of squared residuals is as small as possible. Squaring makes positive and negative misses count equally and weighs large misses more, which is also why single extreme weeks can pull the line (outliers, Part 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several explanatory variables each coefficient measures the effect of one variable while the others are held constant (ceteris paribus). This is exactly the marketing mix question: what does a price cut do if feature ads, competitor prices and the season stay the same? A variable left out of the model hands its effect to the variables that are in it (omitted variable bias).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coefficient comes with a standard error (Part 2). t = b / se tests whether the true coefficient is zero; the p-value is the probability of a t this extreme if it were zero; below 0.05 we call it significant. The 95 % confidence interval is about b plus or minus two standard errors. The F-test asks whether all slopes together are zero. For brand 1: own-price elasticity -3.64, se 0.30, t -12.1, interval -4.24 to -3.04; F = 59.5, p &lt; 0.001. The 1.96 from Part 3 is behind the 'about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R-squared is the share of the variation in the outcome that the model explains; it never falls when a variable is added, so adjusted R-squared penalises extra variables. The residual standard error (or RMSE) is the typical miss in the units of the outcome: in a log model, 0.169 means about 17 % per week. Compare R-squared only between models with the same outcome: the simple model (sales) has 0.88, the log model (log sales) 0.87, and these are not comparable.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turn a multiplicative sales response function into a linear regression (Skiera et al. 2022): in the log-log form the coefficient is an elasticity, the per cent change in sales for a 1 % change in the driver. A dummy (0/1) in a log model shifts sales by exp(b) - 1 per cent: December -0.385 means exp(-0.385) - 1 = -32 %. For small b, b x 100 is a good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constant elasticity e below -1, the profit-maximising price is marginal cost times e / (1 + e) (the Amoroso-Robinson relation). Skiera et al. estimate e = -2.34 with unit cost $30, which gives about $52. For brand 1 e = -3.64 gives a price 1.38 times marginal cost, a 38 % markup. Caveats: this is a short-term, promotion-driven elasticity; regular-price elasticities are usually smaller, competitors react, and the retailer takes a margin.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first (residual plots), then test, then decide. Skiera et al. (2022) recommend checking multicollinearity, autocorrelation and heteroscedasticity in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Linearity and no omitted variables protect the coefficients themselves; homoscedasticity, no autocorrelation and normal residuals protect the standard errors and therefore the t- and F-tests. Normality matters least: with enough observations (Skiera et al.: even 10 to 20) the tests still work. Skiera et al. recommend at least three, better five times as many observations as coefficients. Exogeneity is the one no test can prove: it needs a good design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residuals against fitted values for the main brand-1 model. No curve and no funnel, so the linear log form and constant variance look acceptable; a few price-cut weeks sit to the right. Right: the histogram is roughly bell-shaped with slightly heavy tails.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Durbin-Watson 1.41: below 2, some positive autocorrelation between neighbouring weeks, which makes the usual standard errors a little too small; Newey-West (HAC) standard errors correct this (0.32 instead of 0.30 for own price). Breusch-Pagan p = 0.14 and Jarque-Bera p = 0.07: no evidence against constant variance and normal residuals at 5 %. Largest VIF 2.4: no multicollinearity.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fixes are one argument in statsmodels: cov_type='HC3' for heteroscedasticity-robust standard errors, cov_type='HAC' with maxlags for autocorrelation (Newey-West). Multicollinearity has no econometric cure: more variation in the data, combine variables, or run an experiment (Skiera et al.). Outliers: check the data first, report results with and without, never delete silently. Endogeneity needs design: experiments, instruments, panel data.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Multicollinearity: brand 1 ran displays in only four weeks, mostly together with features and price cuts; adding display1 and fand1 gives VIFs of 11.4 and 10.9. Influence: there is a single Easter week; an Easter dummy fits that week perfectly (leverage 1.00), so its coefficient says nothing. Skiera et al.: mailings and salespersons correlate at 0.989; with both in the model the VIF is 53 and the salesperson coefficient turns negative and insignificant.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OLS assumes that the explanatory variables are unrelated to the error. Marketing breaks this whenever managers spend more where they expect success: then high spend and high unexplained sales go together and the coefficient is too large (Skiera et al.). Price cuts are often timed with features and displays, so the price coefficient also carries their effect. Gordon et al. (2019) compared 15 Facebook experiments with regression-based estimates: the observational methods often overstated the lift, sometimes by a factor of three or more.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is everywhere in marketing practice, usually with a different name.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Bijmolt, van Heerde and Pieters (2005) pool 1,851 price elasticities: mean -2.62. Sethuraman, Tellis and Briesch (2011): short-term advertising elasticity 0.12 on average. Datta et al. (2022): across 14 Asia-Pacific countries the average price elasticity is -0.42 and lower where power distance is high. Brand 1's -3.64 is more price-sensitive than the average brand: chocolate has many close substitutes and the estimate is driven by promotion weeks.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 Robyn is a ridge regression on adstocked and saturated media variables: MMM in production. Microsoft and Booking.com add the pre-period metric as a covariate in A/B tests (CUPED), which cuts the sample size needed. Google estimates ad effectiveness from geo experiments with regressions of test on control regions. Walmart's M5 competition showed that forecasts need price, promotion and event regressors. statworx (Frankfurt) estimates price elasticities from retail sales with log-log regressions. Bayer reallocated its budget across countries with estimated elasticities (Fischer et al. 2011).</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The code on the next slides is complete: copy it into a Quarto file and run it cell by cell.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data/legacy/chocolate_dataset.csv in the course repository (also as the original .xlsx). Feature, display and fand (feature and display) are shares of stores between 0 and 1. Sales and prices are for brand 1 unless numbered otherwise; units are as delivered by the data provider.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reads the CSV; describe() gives counts, means and ranges. plotnine draws the scatter plot with the least-squares line in three lines of code. Always look before you model.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statsmodels takes a pandas data frame, so .to_pandas() converts the polars frame (pyarrow does the work in the background). The formula reads like the equation. summary() prints the full table; params, bse, pvalues and rsquared give single numbers for the text.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np.log inside the formula transforms the variables; numpy comes with statsmodels. Own price: elasticity -3.64, highly significant. Competitor prices are not significant at 5 %; the sign for brand 2 is negative, which would mean a complement and is not plausible, so we do not interpret it. December -0.385: exp(-0.385) - 1 = -32 %. Temperature: -0.66 % per degree.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functions, four numbers. Then refit with HAC standard errors because Durbin-Watson is below 2. The residual plot uses the same plotnine grammar as before.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alone, then compare with your neighbour; reveal the answers one by one. Answers: 1 C (the sum of squared residuals). 2 B (log-log: an elasticity, 1 % higher price, 3.6 % fewer sales). 3 B (multicollinearity; VIF above 10 is a warning). 4 A (below 2: positive autocorrelation between neighbouring weeks, so the usual standard errors are too small; report HAC errors). 5 B (R-squared never falls when a variable is added; compare adjusted R-squared or test the coefficient). Questions 1 and 3 adapted from the quantmethods exam bank.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code from Part 4, then answer the four questions. One group presents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answers. 1 A falling cloud is weak for brands 3 and 4; brand 2 shows little relation: weak competition at the price level in these data. 2 With display1 and fand1 the VIFs exceed 10 and the display coefficients swing and lose significance: the four display weeks cannot separate the effects. 3 With marginal cost 0.80: p* = 0.80 x 1.38 = 1.10; the actual regular price is about 1.50, because the -3.64 is a short-term promotion elasticity, the retailer adds its margin and competitors would react. 4 For example: 'Promotions sell, but a permanent price cut to 1.10 would rest on a promotion elasticity; test it in a few stores first.'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four coding exercises. It applies the code of this session to a similar task.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 work. The exercise reuses the data of this session with a different specification (display1 added, marginal cost 0.90), so the in-class code transfers but the answers differ. The file must render from top to bottom; deadline and upload on Canvas. AI assistants are allowed; the prompt log at the end shows how they were used.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Grading on 20 points, scaled to 5 % of the final grade. Interpretation counts most, because the AI writes much of the code. Deadline: see Canvas.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remember one thing: in a log-log model the coefficient is an elasticity, and an elasticity turns into a price with one formula, but only if the assumptions hold and the data vary enough.</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is the friendliest textbook for students without a statistics background; Seeing Theory and StatQuest visualise every concept of today.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readings first. All sources are listed with notes in instructor/resources/regression-resource-guide.md.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3.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5.pn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27.png"/><Relationship Id="rId6"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6.png"/><Relationship Id="rId4" Type="http://schemas.openxmlformats.org/officeDocument/2006/relationships/image" Target="../media/image4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1.png"/><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1.png"/><Relationship Id="rId4" Type="http://schemas.openxmlformats.org/officeDocument/2006/relationships/image" Target="../media/image5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Statistics refresher and linear regression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Refresher</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br/>
            <a:r>
              <a:rPr sz="1100" b="1" lang="en-GB">
                <a:solidFill>
                  <a:schemeClr val="tx2"/>
                </a:solidFill>
              </a:rPr>
              <a:t>by hand</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OLS</a:t>
            </a:r>
            <a:br/>
            <a:r>
              <a:rPr sz="1100" b="1" lang="en-GB">
                <a:solidFill>
                  <a:schemeClr val="tx2"/>
                </a:solidFill>
              </a:rPr>
              <a:t>theory</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Tests</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Chocolate</a:t>
            </a:r>
            <a:br/>
            <a:r>
              <a:rPr sz="1100" b="1" lang="en-GB">
                <a:solidFill>
                  <a:schemeClr val="tx2"/>
                </a:solidFill>
              </a:rPr>
              <a:t>in Python</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br/>
            <a:r>
              <a:rPr sz="1100" b="1" lang="en-GB">
                <a:solidFill>
                  <a:schemeClr val="tx2"/>
                </a:solidFill>
              </a:rPr>
              <a:t>exercise</a:t>
            </a:r>
          </a:p>
        </p:txBody>
      </p:sp>
      <p:sp>
        <p:nvSpPr>
          <p:cNvPr id="16" name="Refresher card body"/>
          <p:cNvSpPr/>
          <p:nvPr/>
        </p:nvSpPr>
        <p:spPr>
          <a:xfrm>
            <a:off x="45720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resher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resher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Refresher, Parts 1 to 5</a:t>
            </a:r>
          </a:p>
        </p:txBody>
      </p:sp>
      <p:pic>
        <p:nvPicPr>
          <p:cNvPr id="19" name="Icon Refresher card" descr=""/>
          <p:cNvPicPr>
            <a:picLocks noChangeAspect="1"/>
          </p:cNvPicPr>
          <p:nvPr/>
        </p:nvPicPr>
        <p:blipFill>
          <a:blip r:embed="rId3"/>
          <a:stretch>
            <a:fillRect/>
          </a:stretch>
        </p:blipFill>
        <p:spPr>
          <a:xfrm>
            <a:off x="4064508" y="1970532"/>
            <a:ext cx="310896" cy="310896"/>
          </a:xfrm>
          <a:prstGeom prst="rect">
            <a:avLst/>
          </a:prstGeom>
        </p:spPr>
      </p:pic>
      <p:sp>
        <p:nvSpPr>
          <p:cNvPr id="20" name="Refresher card text"/>
          <p:cNvSpPr txBox="1"/>
          <p:nvPr/>
        </p:nvSpPr>
        <p:spPr>
          <a:xfrm>
            <a:off x="62179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Scale types: what you may calculate</a:t>
            </a:r>
          </a:p>
          <a:p>
            <a:pPr algn="l" marL="182880" indent="-182880">
              <a:spcAft>
                <a:spcPts val="600"/>
              </a:spcAft>
              <a:buClr>
                <a:schemeClr val="accent1"/>
              </a:buClr>
              <a:buFont typeface="Arial"/>
              <a:buChar char="▪"/>
            </a:pPr>
            <a:r>
              <a:rPr sz="1300" b="0" lang="en-GB">
                <a:solidFill>
                  <a:schemeClr val="tx1"/>
                </a:solidFill>
              </a:rPr>
              <a:t>Mean, median, standard deviation, standard error</a:t>
            </a:r>
          </a:p>
          <a:p>
            <a:pPr algn="l" marL="182880" indent="-182880">
              <a:spcAft>
                <a:spcPts val="600"/>
              </a:spcAft>
              <a:buClr>
                <a:schemeClr val="accent1"/>
              </a:buClr>
              <a:buFont typeface="Arial"/>
              <a:buChar char="▪"/>
            </a:pPr>
            <a:r>
              <a:rPr sz="1300" b="0" lang="en-GB">
                <a:solidFill>
                  <a:schemeClr val="tx1"/>
                </a:solidFill>
              </a:rPr>
              <a:t>z-scores and the normal distribution</a:t>
            </a:r>
          </a:p>
          <a:p>
            <a:pPr algn="l" marL="182880" indent="-182880">
              <a:spcAft>
                <a:spcPts val="600"/>
              </a:spcAft>
              <a:buClr>
                <a:schemeClr val="accent1"/>
              </a:buClr>
              <a:buFont typeface="Arial"/>
              <a:buChar char="▪"/>
            </a:pPr>
            <a:r>
              <a:rPr sz="1300" b="0" lang="en-GB">
                <a:solidFill>
                  <a:schemeClr val="tx1"/>
                </a:solidFill>
              </a:rPr>
              <a:t>Covariance and correlation</a:t>
            </a:r>
          </a:p>
          <a:p>
            <a:pPr algn="l" marL="182880" indent="-182880">
              <a:spcAft>
                <a:spcPts val="600"/>
              </a:spcAft>
              <a:buClr>
                <a:schemeClr val="accent1"/>
              </a:buClr>
              <a:buFont typeface="Arial"/>
              <a:buChar char="▪"/>
            </a:pPr>
            <a:r>
              <a:rPr sz="1300" b="0" lang="en-GB">
                <a:solidFill>
                  <a:schemeClr val="tx1"/>
                </a:solidFill>
              </a:rPr>
              <a:t>All of it by hand in Python; quiz 1</a:t>
            </a:r>
          </a:p>
        </p:txBody>
      </p:sp>
      <p:sp>
        <p:nvSpPr>
          <p:cNvPr id="21" name="Regression card body"/>
          <p:cNvSpPr/>
          <p:nvPr/>
        </p:nvSpPr>
        <p:spPr>
          <a:xfrm>
            <a:off x="464058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gression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gression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Regression, Parts 6 to 11</a:t>
            </a:r>
          </a:p>
        </p:txBody>
      </p:sp>
      <p:pic>
        <p:nvPicPr>
          <p:cNvPr id="24" name="Icon Regression card" descr=""/>
          <p:cNvPicPr>
            <a:picLocks noChangeAspect="1"/>
          </p:cNvPicPr>
          <p:nvPr/>
        </p:nvPicPr>
        <p:blipFill>
          <a:blip r:embed="rId4"/>
          <a:stretch>
            <a:fillRect/>
          </a:stretch>
        </p:blipFill>
        <p:spPr>
          <a:xfrm>
            <a:off x="8247888" y="1970532"/>
            <a:ext cx="310896" cy="310896"/>
          </a:xfrm>
          <a:prstGeom prst="rect">
            <a:avLst/>
          </a:prstGeom>
        </p:spPr>
      </p:pic>
      <p:sp>
        <p:nvSpPr>
          <p:cNvPr id="25" name="Regression card text"/>
          <p:cNvSpPr txBox="1"/>
          <p:nvPr/>
        </p:nvSpPr>
        <p:spPr>
          <a:xfrm>
            <a:off x="480517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OLS, inference, fit, logs and elasticities</a:t>
            </a:r>
          </a:p>
          <a:p>
            <a:pPr algn="l" marL="182880" indent="-182880">
              <a:spcAft>
                <a:spcPts val="600"/>
              </a:spcAft>
              <a:buClr>
                <a:schemeClr val="accent1"/>
              </a:buClr>
              <a:buFont typeface="Arial"/>
              <a:buChar char="▪"/>
            </a:pPr>
            <a:r>
              <a:rPr sz="1300" b="0" lang="en-GB">
                <a:solidFill>
                  <a:schemeClr val="tx1"/>
                </a:solidFill>
              </a:rPr>
              <a:t>Seven assumptions and four tests</a:t>
            </a:r>
          </a:p>
          <a:p>
            <a:pPr algn="l" marL="182880" indent="-182880">
              <a:spcAft>
                <a:spcPts val="600"/>
              </a:spcAft>
              <a:buClr>
                <a:schemeClr val="accent1"/>
              </a:buClr>
              <a:buFont typeface="Arial"/>
              <a:buChar char="▪"/>
            </a:pPr>
            <a:r>
              <a:rPr sz="1300" b="0" lang="en-GB">
                <a:solidFill>
                  <a:schemeClr val="tx1"/>
                </a:solidFill>
              </a:rPr>
              <a:t>Regression in the real world</a:t>
            </a:r>
          </a:p>
          <a:p>
            <a:pPr algn="l" marL="182880" indent="-182880">
              <a:spcAft>
                <a:spcPts val="600"/>
              </a:spcAft>
              <a:buClr>
                <a:schemeClr val="accent1"/>
              </a:buClr>
              <a:buFont typeface="Arial"/>
              <a:buChar char="▪"/>
            </a:pPr>
            <a:r>
              <a:rPr sz="1300" b="0" lang="en-GB">
                <a:solidFill>
                  <a:schemeClr val="tx1"/>
                </a:solidFill>
              </a:rPr>
              <a:t>statsmodels and plotnine on real data; quiz 2</a:t>
            </a:r>
          </a:p>
          <a:p>
            <a:pPr algn="l" marL="182880" indent="-182880">
              <a:spcAft>
                <a:spcPts val="600"/>
              </a:spcAft>
              <a:buClr>
                <a:schemeClr val="accent1"/>
              </a:buClr>
              <a:buFont typeface="Arial"/>
              <a:buChar char="▪"/>
            </a:pPr>
            <a:r>
              <a:rPr sz="1300" b="0" lang="en-GB">
                <a:solidFill>
                  <a:schemeClr val="tx1"/>
                </a:solidFill>
              </a:rPr>
              <a:t>In-class assignment, coding exercise 1</a:t>
            </a:r>
          </a:p>
        </p:txBody>
      </p:sp>
      <p:sp>
        <p:nvSpPr>
          <p:cNvPr id="26" name="Readings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Readings" descr=""/>
          <p:cNvPicPr>
            <a:picLocks noChangeAspect="1"/>
          </p:cNvPicPr>
          <p:nvPr/>
        </p:nvPicPr>
        <p:blipFill>
          <a:blip r:embed="rId5"/>
          <a:stretch>
            <a:fillRect/>
          </a:stretch>
        </p:blipFill>
        <p:spPr>
          <a:xfrm>
            <a:off x="658368" y="4480560"/>
            <a:ext cx="365760" cy="365760"/>
          </a:xfrm>
          <a:prstGeom prst="rect">
            <a:avLst/>
          </a:prstGeom>
        </p:spPr>
      </p:pic>
      <p:sp>
        <p:nvSpPr>
          <p:cNvPr id="28" name="Readings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Readings: </a:t>
            </a:r>
            <a:r>
              <a:rPr sz="1200" b="0" lang="en-GB">
                <a:solidFill>
                  <a:schemeClr val="bg1"/>
                </a:solidFill>
              </a:rPr>
              <a:t>Bojinov, Parzen &amp; Hamilton (2025), Linear Regression (HBS); Skiera, Reiner &amp; Albers (2022), Regression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a chocolate kiosk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eeks label"/>
          <p:cNvSpPr txBox="1"/>
          <p:nvPr/>
        </p:nvSpPr>
        <p:spPr>
          <a:xfrm>
            <a:off x="457200" y="1234440"/>
            <a:ext cx="4023360" cy="347472"/>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Five weeks, five prices</a:t>
            </a:r>
          </a:p>
        </p:txBody>
      </p:sp>
      <p:sp>
        <p:nvSpPr>
          <p:cNvPr id="11" name="Weeks 1-1"/>
          <p:cNvSpPr/>
          <p:nvPr/>
        </p:nvSpPr>
        <p:spPr>
          <a:xfrm>
            <a:off x="457200" y="1645920"/>
            <a:ext cx="10698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eeks text 1-1"/>
          <p:cNvSpPr txBox="1"/>
          <p:nvPr/>
        </p:nvSpPr>
        <p:spPr>
          <a:xfrm>
            <a:off x="548640" y="1645920"/>
            <a:ext cx="88696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Week</a:t>
            </a:r>
          </a:p>
        </p:txBody>
      </p:sp>
      <p:sp>
        <p:nvSpPr>
          <p:cNvPr id="13" name="Weeks 1-2"/>
          <p:cNvSpPr/>
          <p:nvPr/>
        </p:nvSpPr>
        <p:spPr>
          <a:xfrm>
            <a:off x="1554480" y="164592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Weeks text 1-2"/>
          <p:cNvSpPr txBox="1"/>
          <p:nvPr/>
        </p:nvSpPr>
        <p:spPr>
          <a:xfrm>
            <a:off x="1645920" y="1645920"/>
            <a:ext cx="12527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Price (EUR)</a:t>
            </a:r>
          </a:p>
        </p:txBody>
      </p:sp>
      <p:sp>
        <p:nvSpPr>
          <p:cNvPr id="15" name="Weeks 1-3"/>
          <p:cNvSpPr/>
          <p:nvPr/>
        </p:nvSpPr>
        <p:spPr>
          <a:xfrm>
            <a:off x="3017520" y="164592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eeks text 1-3"/>
          <p:cNvSpPr txBox="1"/>
          <p:nvPr/>
        </p:nvSpPr>
        <p:spPr>
          <a:xfrm>
            <a:off x="3108960" y="1645920"/>
            <a:ext cx="12527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Bars sold</a:t>
            </a:r>
          </a:p>
        </p:txBody>
      </p:sp>
      <p:sp>
        <p:nvSpPr>
          <p:cNvPr id="17" name="Weeks 2-1"/>
          <p:cNvSpPr/>
          <p:nvPr/>
        </p:nvSpPr>
        <p:spPr>
          <a:xfrm>
            <a:off x="457200" y="2039112"/>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Weeks text 2-1"/>
          <p:cNvSpPr txBox="1"/>
          <p:nvPr/>
        </p:nvSpPr>
        <p:spPr>
          <a:xfrm>
            <a:off x="548640" y="2039112"/>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a:t>
            </a:r>
          </a:p>
        </p:txBody>
      </p:sp>
      <p:sp>
        <p:nvSpPr>
          <p:cNvPr id="19" name="Weeks 2-2"/>
          <p:cNvSpPr/>
          <p:nvPr/>
        </p:nvSpPr>
        <p:spPr>
          <a:xfrm>
            <a:off x="1554480" y="203911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Weeks text 2-2"/>
          <p:cNvSpPr txBox="1"/>
          <p:nvPr/>
        </p:nvSpPr>
        <p:spPr>
          <a:xfrm>
            <a:off x="1645920" y="2039112"/>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2.00</a:t>
            </a:r>
          </a:p>
        </p:txBody>
      </p:sp>
      <p:sp>
        <p:nvSpPr>
          <p:cNvPr id="21" name="Weeks 2-3"/>
          <p:cNvSpPr/>
          <p:nvPr/>
        </p:nvSpPr>
        <p:spPr>
          <a:xfrm>
            <a:off x="3017520" y="203911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eeks text 2-3"/>
          <p:cNvSpPr txBox="1"/>
          <p:nvPr/>
        </p:nvSpPr>
        <p:spPr>
          <a:xfrm>
            <a:off x="3108960" y="2039112"/>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110</a:t>
            </a:r>
          </a:p>
        </p:txBody>
      </p:sp>
      <p:sp>
        <p:nvSpPr>
          <p:cNvPr id="23" name="Weeks 3-1"/>
          <p:cNvSpPr/>
          <p:nvPr/>
        </p:nvSpPr>
        <p:spPr>
          <a:xfrm>
            <a:off x="457200" y="2432304"/>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Weeks text 3-1"/>
          <p:cNvSpPr txBox="1"/>
          <p:nvPr/>
        </p:nvSpPr>
        <p:spPr>
          <a:xfrm>
            <a:off x="548640" y="2432304"/>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2</a:t>
            </a:r>
          </a:p>
        </p:txBody>
      </p:sp>
      <p:sp>
        <p:nvSpPr>
          <p:cNvPr id="25" name="Weeks 3-2"/>
          <p:cNvSpPr/>
          <p:nvPr/>
        </p:nvSpPr>
        <p:spPr>
          <a:xfrm>
            <a:off x="1554480" y="243230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Weeks text 3-2"/>
          <p:cNvSpPr txBox="1"/>
          <p:nvPr/>
        </p:nvSpPr>
        <p:spPr>
          <a:xfrm>
            <a:off x="1645920" y="2432304"/>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2.50</a:t>
            </a:r>
          </a:p>
        </p:txBody>
      </p:sp>
      <p:sp>
        <p:nvSpPr>
          <p:cNvPr id="27" name="Weeks 3-3"/>
          <p:cNvSpPr/>
          <p:nvPr/>
        </p:nvSpPr>
        <p:spPr>
          <a:xfrm>
            <a:off x="3017520" y="243230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Weeks text 3-3"/>
          <p:cNvSpPr txBox="1"/>
          <p:nvPr/>
        </p:nvSpPr>
        <p:spPr>
          <a:xfrm>
            <a:off x="3108960" y="2432304"/>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29" name="Weeks 4-1"/>
          <p:cNvSpPr/>
          <p:nvPr/>
        </p:nvSpPr>
        <p:spPr>
          <a:xfrm>
            <a:off x="457200" y="2825496"/>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Weeks text 4-1"/>
          <p:cNvSpPr txBox="1"/>
          <p:nvPr/>
        </p:nvSpPr>
        <p:spPr>
          <a:xfrm>
            <a:off x="548640" y="2825496"/>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3</a:t>
            </a:r>
          </a:p>
        </p:txBody>
      </p:sp>
      <p:sp>
        <p:nvSpPr>
          <p:cNvPr id="31" name="Weeks 4-2"/>
          <p:cNvSpPr/>
          <p:nvPr/>
        </p:nvSpPr>
        <p:spPr>
          <a:xfrm>
            <a:off x="1554480" y="282549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Weeks text 4-2"/>
          <p:cNvSpPr txBox="1"/>
          <p:nvPr/>
        </p:nvSpPr>
        <p:spPr>
          <a:xfrm>
            <a:off x="1645920" y="2825496"/>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3.00</a:t>
            </a:r>
          </a:p>
        </p:txBody>
      </p:sp>
      <p:sp>
        <p:nvSpPr>
          <p:cNvPr id="33" name="Weeks 4-3"/>
          <p:cNvSpPr/>
          <p:nvPr/>
        </p:nvSpPr>
        <p:spPr>
          <a:xfrm>
            <a:off x="3017520" y="282549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Weeks text 4-3"/>
          <p:cNvSpPr txBox="1"/>
          <p:nvPr/>
        </p:nvSpPr>
        <p:spPr>
          <a:xfrm>
            <a:off x="3108960" y="2825496"/>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80</a:t>
            </a:r>
          </a:p>
        </p:txBody>
      </p:sp>
      <p:sp>
        <p:nvSpPr>
          <p:cNvPr id="35" name="Weeks 5-1"/>
          <p:cNvSpPr/>
          <p:nvPr/>
        </p:nvSpPr>
        <p:spPr>
          <a:xfrm>
            <a:off x="457200" y="3218688"/>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Weeks text 5-1"/>
          <p:cNvSpPr txBox="1"/>
          <p:nvPr/>
        </p:nvSpPr>
        <p:spPr>
          <a:xfrm>
            <a:off x="548640" y="3218688"/>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4</a:t>
            </a:r>
          </a:p>
        </p:txBody>
      </p:sp>
      <p:sp>
        <p:nvSpPr>
          <p:cNvPr id="37" name="Weeks 5-2"/>
          <p:cNvSpPr/>
          <p:nvPr/>
        </p:nvSpPr>
        <p:spPr>
          <a:xfrm>
            <a:off x="1554480" y="321868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Weeks text 5-2"/>
          <p:cNvSpPr txBox="1"/>
          <p:nvPr/>
        </p:nvSpPr>
        <p:spPr>
          <a:xfrm>
            <a:off x="1645920" y="3218688"/>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3.50</a:t>
            </a:r>
          </a:p>
        </p:txBody>
      </p:sp>
      <p:sp>
        <p:nvSpPr>
          <p:cNvPr id="39" name="Weeks 5-3"/>
          <p:cNvSpPr/>
          <p:nvPr/>
        </p:nvSpPr>
        <p:spPr>
          <a:xfrm>
            <a:off x="3017520" y="321868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Weeks text 5-3"/>
          <p:cNvSpPr txBox="1"/>
          <p:nvPr/>
        </p:nvSpPr>
        <p:spPr>
          <a:xfrm>
            <a:off x="3108960" y="3218688"/>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70</a:t>
            </a:r>
          </a:p>
        </p:txBody>
      </p:sp>
      <p:sp>
        <p:nvSpPr>
          <p:cNvPr id="41" name="Weeks 6-1"/>
          <p:cNvSpPr/>
          <p:nvPr/>
        </p:nvSpPr>
        <p:spPr>
          <a:xfrm>
            <a:off x="457200" y="3611880"/>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Weeks text 6-1"/>
          <p:cNvSpPr txBox="1"/>
          <p:nvPr/>
        </p:nvSpPr>
        <p:spPr>
          <a:xfrm>
            <a:off x="548640" y="3611880"/>
            <a:ext cx="8869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5</a:t>
            </a:r>
          </a:p>
        </p:txBody>
      </p:sp>
      <p:sp>
        <p:nvSpPr>
          <p:cNvPr id="43" name="Weeks 6-2"/>
          <p:cNvSpPr/>
          <p:nvPr/>
        </p:nvSpPr>
        <p:spPr>
          <a:xfrm>
            <a:off x="1554480" y="3611880"/>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Weeks text 6-2"/>
          <p:cNvSpPr txBox="1"/>
          <p:nvPr/>
        </p:nvSpPr>
        <p:spPr>
          <a:xfrm>
            <a:off x="1645920" y="3611880"/>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4.00</a:t>
            </a:r>
          </a:p>
        </p:txBody>
      </p:sp>
      <p:sp>
        <p:nvSpPr>
          <p:cNvPr id="45" name="Weeks 6-3"/>
          <p:cNvSpPr/>
          <p:nvPr/>
        </p:nvSpPr>
        <p:spPr>
          <a:xfrm>
            <a:off x="3017520" y="3611880"/>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Weeks text 6-3"/>
          <p:cNvSpPr txBox="1"/>
          <p:nvPr/>
        </p:nvSpPr>
        <p:spPr>
          <a:xfrm>
            <a:off x="3108960" y="3611880"/>
            <a:ext cx="12527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40</a:t>
            </a:r>
          </a:p>
        </p:txBody>
      </p:sp>
      <p:sp>
        <p:nvSpPr>
          <p:cNvPr id="47" name="Days label"/>
          <p:cNvSpPr txBox="1"/>
          <p:nvPr/>
        </p:nvSpPr>
        <p:spPr>
          <a:xfrm>
            <a:off x="4663440" y="1234440"/>
            <a:ext cx="4023360" cy="347472"/>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One week, day by day</a:t>
            </a:r>
          </a:p>
        </p:txBody>
      </p:sp>
      <p:sp>
        <p:nvSpPr>
          <p:cNvPr id="48" name="Days 1-1"/>
          <p:cNvSpPr/>
          <p:nvPr/>
        </p:nvSpPr>
        <p:spPr>
          <a:xfrm>
            <a:off x="4663440" y="164592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Days text 1-1"/>
          <p:cNvSpPr txBox="1"/>
          <p:nvPr/>
        </p:nvSpPr>
        <p:spPr>
          <a:xfrm>
            <a:off x="4754880" y="1645920"/>
            <a:ext cx="180136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Day</a:t>
            </a:r>
          </a:p>
        </p:txBody>
      </p:sp>
      <p:sp>
        <p:nvSpPr>
          <p:cNvPr id="50" name="Days 1-2"/>
          <p:cNvSpPr/>
          <p:nvPr/>
        </p:nvSpPr>
        <p:spPr>
          <a:xfrm>
            <a:off x="6675120" y="1645920"/>
            <a:ext cx="1984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Days text 1-2"/>
          <p:cNvSpPr txBox="1"/>
          <p:nvPr/>
        </p:nvSpPr>
        <p:spPr>
          <a:xfrm>
            <a:off x="6766560" y="1645920"/>
            <a:ext cx="180136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Bars sold</a:t>
            </a:r>
          </a:p>
        </p:txBody>
      </p:sp>
      <p:sp>
        <p:nvSpPr>
          <p:cNvPr id="52" name="Days 2-1"/>
          <p:cNvSpPr/>
          <p:nvPr/>
        </p:nvSpPr>
        <p:spPr>
          <a:xfrm>
            <a:off x="4663440" y="203911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Days text 2-1"/>
          <p:cNvSpPr txBox="1"/>
          <p:nvPr/>
        </p:nvSpPr>
        <p:spPr>
          <a:xfrm>
            <a:off x="4754880" y="2039112"/>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Mon</a:t>
            </a:r>
          </a:p>
        </p:txBody>
      </p:sp>
      <p:sp>
        <p:nvSpPr>
          <p:cNvPr id="54" name="Days 2-2"/>
          <p:cNvSpPr/>
          <p:nvPr/>
        </p:nvSpPr>
        <p:spPr>
          <a:xfrm>
            <a:off x="6675120" y="2039112"/>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Days text 2-2"/>
          <p:cNvSpPr txBox="1"/>
          <p:nvPr/>
        </p:nvSpPr>
        <p:spPr>
          <a:xfrm>
            <a:off x="6766560" y="2039112"/>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56" name="Days 3-1"/>
          <p:cNvSpPr/>
          <p:nvPr/>
        </p:nvSpPr>
        <p:spPr>
          <a:xfrm>
            <a:off x="4663440" y="243230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Days text 3-1"/>
          <p:cNvSpPr txBox="1"/>
          <p:nvPr/>
        </p:nvSpPr>
        <p:spPr>
          <a:xfrm>
            <a:off x="4754880" y="2432304"/>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Tue</a:t>
            </a:r>
          </a:p>
        </p:txBody>
      </p:sp>
      <p:sp>
        <p:nvSpPr>
          <p:cNvPr id="58" name="Days 3-2"/>
          <p:cNvSpPr/>
          <p:nvPr/>
        </p:nvSpPr>
        <p:spPr>
          <a:xfrm>
            <a:off x="6675120" y="2432304"/>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Days text 3-2"/>
          <p:cNvSpPr txBox="1"/>
          <p:nvPr/>
        </p:nvSpPr>
        <p:spPr>
          <a:xfrm>
            <a:off x="6766560" y="2432304"/>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12</a:t>
            </a:r>
          </a:p>
        </p:txBody>
      </p:sp>
      <p:sp>
        <p:nvSpPr>
          <p:cNvPr id="60" name="Days 4-1"/>
          <p:cNvSpPr/>
          <p:nvPr/>
        </p:nvSpPr>
        <p:spPr>
          <a:xfrm>
            <a:off x="4663440" y="282549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Days text 4-1"/>
          <p:cNvSpPr txBox="1"/>
          <p:nvPr/>
        </p:nvSpPr>
        <p:spPr>
          <a:xfrm>
            <a:off x="4754880" y="2825496"/>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Wed</a:t>
            </a:r>
          </a:p>
        </p:txBody>
      </p:sp>
      <p:sp>
        <p:nvSpPr>
          <p:cNvPr id="62" name="Days 4-2"/>
          <p:cNvSpPr/>
          <p:nvPr/>
        </p:nvSpPr>
        <p:spPr>
          <a:xfrm>
            <a:off x="6675120" y="2825496"/>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Days text 4-2"/>
          <p:cNvSpPr txBox="1"/>
          <p:nvPr/>
        </p:nvSpPr>
        <p:spPr>
          <a:xfrm>
            <a:off x="6766560" y="2825496"/>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11</a:t>
            </a:r>
          </a:p>
        </p:txBody>
      </p:sp>
      <p:sp>
        <p:nvSpPr>
          <p:cNvPr id="64" name="Days 5-1"/>
          <p:cNvSpPr/>
          <p:nvPr/>
        </p:nvSpPr>
        <p:spPr>
          <a:xfrm>
            <a:off x="4663440" y="321868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Days text 5-1"/>
          <p:cNvSpPr txBox="1"/>
          <p:nvPr/>
        </p:nvSpPr>
        <p:spPr>
          <a:xfrm>
            <a:off x="4754880" y="3218688"/>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Thu</a:t>
            </a:r>
          </a:p>
        </p:txBody>
      </p:sp>
      <p:sp>
        <p:nvSpPr>
          <p:cNvPr id="66" name="Days 5-2"/>
          <p:cNvSpPr/>
          <p:nvPr/>
        </p:nvSpPr>
        <p:spPr>
          <a:xfrm>
            <a:off x="6675120" y="3218688"/>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Days text 5-2"/>
          <p:cNvSpPr txBox="1"/>
          <p:nvPr/>
        </p:nvSpPr>
        <p:spPr>
          <a:xfrm>
            <a:off x="6766560" y="3218688"/>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13</a:t>
            </a:r>
          </a:p>
        </p:txBody>
      </p:sp>
      <p:sp>
        <p:nvSpPr>
          <p:cNvPr id="68" name="Days 6-1"/>
          <p:cNvSpPr/>
          <p:nvPr/>
        </p:nvSpPr>
        <p:spPr>
          <a:xfrm>
            <a:off x="4663440" y="361188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Days text 6-1"/>
          <p:cNvSpPr txBox="1"/>
          <p:nvPr/>
        </p:nvSpPr>
        <p:spPr>
          <a:xfrm>
            <a:off x="4754880" y="3611880"/>
            <a:ext cx="180136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Fri (event)</a:t>
            </a:r>
          </a:p>
        </p:txBody>
      </p:sp>
      <p:sp>
        <p:nvSpPr>
          <p:cNvPr id="70" name="Days 6-2"/>
          <p:cNvSpPr/>
          <p:nvPr/>
        </p:nvSpPr>
        <p:spPr>
          <a:xfrm>
            <a:off x="6675120" y="3611880"/>
            <a:ext cx="1984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Days text 6-2"/>
          <p:cNvSpPr txBox="1"/>
          <p:nvPr/>
        </p:nvSpPr>
        <p:spPr>
          <a:xfrm>
            <a:off x="6766560" y="3611880"/>
            <a:ext cx="180136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54</a:t>
            </a:r>
          </a:p>
        </p:txBody>
      </p:sp>
      <p:sp>
        <p:nvSpPr>
          <p:cNvPr id="72" name="Kiosk calc box"/>
          <p:cNvSpPr/>
          <p:nvPr/>
        </p:nvSpPr>
        <p:spPr>
          <a:xfrm>
            <a:off x="457200" y="40690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Icon Kiosk calc" descr=""/>
          <p:cNvPicPr>
            <a:picLocks noChangeAspect="1"/>
          </p:cNvPicPr>
          <p:nvPr/>
        </p:nvPicPr>
        <p:blipFill>
          <a:blip r:embed="rId3"/>
          <a:stretch>
            <a:fillRect/>
          </a:stretch>
        </p:blipFill>
        <p:spPr>
          <a:xfrm>
            <a:off x="658368" y="4229100"/>
            <a:ext cx="365760" cy="365760"/>
          </a:xfrm>
          <a:prstGeom prst="rect">
            <a:avLst/>
          </a:prstGeom>
        </p:spPr>
      </p:pic>
      <p:sp>
        <p:nvSpPr>
          <p:cNvPr id="74" name="Kiosk calc text"/>
          <p:cNvSpPr txBox="1"/>
          <p:nvPr/>
        </p:nvSpPr>
        <p:spPr>
          <a:xfrm>
            <a:off x="1207008" y="406908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Small on purpose: </a:t>
            </a:r>
            <a:r>
              <a:rPr sz="1300" b="0" lang="en-GB">
                <a:solidFill>
                  <a:schemeClr val="bg1"/>
                </a:solidFill>
              </a:rPr>
              <a:t>every number today can be checked with a calculator, then in Python.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11 · nominal, ordinal, interval, ratio</a:t>
            </a:r>
          </a:p>
        </p:txBody>
      </p:sp>
      <p:sp>
        <p:nvSpPr>
          <p:cNvPr id="3" name="Title 2"/>
          <p:cNvSpPr>
            <a:spLocks noGrp="1"/>
          </p:cNvSpPr>
          <p:nvPr>
            <p:ph type="ctrTitle"/>
          </p:nvPr>
        </p:nvSpPr>
        <p:spPr/>
        <p:txBody>
          <a:bodyPr/>
          <a:lstStyle/>
          <a:p>
            <a:r>
              <a:rPr sz="1600" lang="en-GB"/>
              <a:t>Scale types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Scale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371600"/>
                <a:gridCol w="2377440"/>
                <a:gridCol w="2560320"/>
                <a:gridCol w="1920240"/>
              </a:tblGrid>
              <a:tr h="370840">
                <a:tc>
                  <a:txBody>
                    <a:bodyPr/>
                    <a:lstStyle/>
                    <a:p>
                      <a:r>
                        <a:rPr sz="1500" lang="en-GB"/>
                        <a:t>Scale</a:t>
                      </a:r>
                    </a:p>
                  </a:txBody>
                  <a:tcPr marT="60000" marB="60000"/>
                </a:tc>
                <a:tc>
                  <a:txBody>
                    <a:bodyPr/>
                    <a:lstStyle/>
                    <a:p>
                      <a:r>
                        <a:rPr sz="1500" lang="en-GB"/>
                        <a:t>What you can say</a:t>
                      </a:r>
                    </a:p>
                  </a:txBody>
                  <a:tcPr marT="60000" marB="60000"/>
                </a:tc>
                <a:tc>
                  <a:txBody>
                    <a:bodyPr/>
                    <a:lstStyle/>
                    <a:p>
                      <a:r>
                        <a:rPr sz="1500" lang="en-GB"/>
                        <a:t>Kiosk example</a:t>
                      </a:r>
                    </a:p>
                  </a:txBody>
                  <a:tcPr marT="60000" marB="60000"/>
                </a:tc>
                <a:tc>
                  <a:txBody>
                    <a:bodyPr/>
                    <a:lstStyle/>
                    <a:p>
                      <a:r>
                        <a:rPr sz="1500" lang="en-GB"/>
                        <a:t>Typical statistics</a:t>
                      </a:r>
                    </a:p>
                  </a:txBody>
                  <a:tcPr marT="60000" marB="60000"/>
                </a:tc>
              </a:tr>
              <a:tr h="370840">
                <a:tc>
                  <a:txBody>
                    <a:bodyPr/>
                    <a:lstStyle/>
                    <a:p>
                      <a:r>
                        <a:rPr sz="1250" b="1" lang="en-GB"/>
                        <a:t>Nominal</a:t>
                      </a:r>
                    </a:p>
                  </a:txBody>
                  <a:tcPr marT="60000" marB="60000"/>
                </a:tc>
                <a:tc>
                  <a:txBody>
                    <a:bodyPr/>
                    <a:lstStyle/>
                    <a:p>
                      <a:r>
                        <a:rPr sz="1250" lang="en-GB"/>
                        <a:t>same or different</a:t>
                      </a:r>
                    </a:p>
                  </a:txBody>
                  <a:tcPr marT="60000" marB="60000"/>
                </a:tc>
                <a:tc>
                  <a:txBody>
                    <a:bodyPr/>
                    <a:lstStyle/>
                    <a:p>
                      <a:r>
                        <a:rPr sz="1250" lang="en-GB"/>
                        <a:t>brand, payment method</a:t>
                      </a:r>
                    </a:p>
                  </a:txBody>
                  <a:tcPr marT="60000" marB="60000"/>
                </a:tc>
                <a:tc>
                  <a:txBody>
                    <a:bodyPr/>
                    <a:lstStyle/>
                    <a:p>
                      <a:r>
                        <a:rPr sz="1250" lang="en-GB"/>
                        <a:t>counts, mode</a:t>
                      </a:r>
                    </a:p>
                  </a:txBody>
                  <a:tcPr marT="60000" marB="60000"/>
                </a:tc>
              </a:tr>
              <a:tr h="370840">
                <a:tc>
                  <a:txBody>
                    <a:bodyPr/>
                    <a:lstStyle/>
                    <a:p>
                      <a:r>
                        <a:rPr sz="1250" b="1" lang="en-GB"/>
                        <a:t>Ordinal</a:t>
                      </a:r>
                    </a:p>
                  </a:txBody>
                  <a:tcPr marT="60000" marB="60000"/>
                </a:tc>
                <a:tc>
                  <a:txBody>
                    <a:bodyPr/>
                    <a:lstStyle/>
                    <a:p>
                      <a:r>
                        <a:rPr sz="1250" lang="en-GB"/>
                        <a:t>more or less</a:t>
                      </a:r>
                    </a:p>
                  </a:txBody>
                  <a:tcPr marT="60000" marB="60000"/>
                </a:tc>
                <a:tc>
                  <a:txBody>
                    <a:bodyPr/>
                    <a:lstStyle/>
                    <a:p>
                      <a:r>
                        <a:rPr sz="1250" lang="en-GB"/>
                        <a:t>rating 1 to 5 stars, size S/M/L</a:t>
                      </a:r>
                    </a:p>
                  </a:txBody>
                  <a:tcPr marT="60000" marB="60000"/>
                </a:tc>
                <a:tc>
                  <a:txBody>
                    <a:bodyPr/>
                    <a:lstStyle/>
                    <a:p>
                      <a:r>
                        <a:rPr sz="1250" lang="en-GB"/>
                        <a:t>median, percentiles</a:t>
                      </a:r>
                    </a:p>
                  </a:txBody>
                  <a:tcPr marT="60000" marB="60000"/>
                </a:tc>
              </a:tr>
              <a:tr h="370840">
                <a:tc>
                  <a:txBody>
                    <a:bodyPr/>
                    <a:lstStyle/>
                    <a:p>
                      <a:r>
                        <a:rPr sz="1250" b="1" lang="en-GB"/>
                        <a:t>Interval</a:t>
                      </a:r>
                    </a:p>
                  </a:txBody>
                  <a:tcPr marT="60000" marB="60000"/>
                </a:tc>
                <a:tc>
                  <a:txBody>
                    <a:bodyPr/>
                    <a:lstStyle/>
                    <a:p>
                      <a:r>
                        <a:rPr sz="1250" lang="en-GB"/>
                        <a:t>how much more (no true zero)</a:t>
                      </a:r>
                    </a:p>
                  </a:txBody>
                  <a:tcPr marT="60000" marB="60000"/>
                </a:tc>
                <a:tc>
                  <a:txBody>
                    <a:bodyPr/>
                    <a:lstStyle/>
                    <a:p>
                      <a:r>
                        <a:rPr sz="1250" lang="en-GB"/>
                        <a:t>temperature in °C</a:t>
                      </a:r>
                    </a:p>
                  </a:txBody>
                  <a:tcPr marT="60000" marB="60000"/>
                </a:tc>
                <a:tc>
                  <a:txBody>
                    <a:bodyPr/>
                    <a:lstStyle/>
                    <a:p>
                      <a:r>
                        <a:rPr sz="1250" lang="en-GB"/>
                        <a:t>mean, standard deviation</a:t>
                      </a:r>
                    </a:p>
                  </a:txBody>
                  <a:tcPr marT="60000" marB="60000"/>
                </a:tc>
              </a:tr>
              <a:tr h="370840">
                <a:tc>
                  <a:txBody>
                    <a:bodyPr/>
                    <a:lstStyle/>
                    <a:p>
                      <a:r>
                        <a:rPr sz="1250" b="1" lang="en-GB"/>
                        <a:t>Ratio</a:t>
                      </a:r>
                    </a:p>
                  </a:txBody>
                  <a:tcPr marT="60000" marB="60000"/>
                </a:tc>
                <a:tc>
                  <a:txBody>
                    <a:bodyPr/>
                    <a:lstStyle/>
                    <a:p>
                      <a:r>
                        <a:rPr sz="1250" lang="en-GB"/>
                        <a:t>how many times (true zero)</a:t>
                      </a:r>
                    </a:p>
                  </a:txBody>
                  <a:tcPr marT="60000" marB="60000"/>
                </a:tc>
                <a:tc>
                  <a:txBody>
                    <a:bodyPr/>
                    <a:lstStyle/>
                    <a:p>
                      <a:r>
                        <a:rPr sz="1250" lang="en-GB"/>
                        <a:t>price, bars sold, revenue</a:t>
                      </a:r>
                    </a:p>
                  </a:txBody>
                  <a:tcPr marT="60000" marB="60000"/>
                </a:tc>
                <a:tc>
                  <a:txBody>
                    <a:bodyPr/>
                    <a:lstStyle/>
                    <a:p>
                      <a:r>
                        <a:rPr sz="1250" lang="en-GB"/>
                        <a:t>all, incl. ratios</a:t>
                      </a:r>
                    </a:p>
                  </a:txBody>
                  <a:tcPr marT="60000" marB="60000"/>
                </a:tc>
              </a:tr>
            </a:tbl>
          </a:graphicData>
        </a:graphic>
      </p:graphicFrame>
      <p:sp>
        <p:nvSpPr>
          <p:cNvPr id="3" name="Title 2"/>
          <p:cNvSpPr>
            <a:spLocks noGrp="1"/>
          </p:cNvSpPr>
          <p:nvPr>
            <p:ph type="title"/>
          </p:nvPr>
        </p:nvSpPr>
        <p:spPr/>
        <p:txBody>
          <a:bodyPr/>
          <a:lstStyle/>
          <a:p>
            <a:r>
              <a:rPr sz="1600" lang="en-GB"/>
              <a:t>Four scale types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cale groups box"/>
          <p:cNvSpPr/>
          <p:nvPr/>
        </p:nvSpPr>
        <p:spPr>
          <a:xfrm>
            <a:off x="457200" y="36576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cale groups" descr=""/>
          <p:cNvPicPr>
            <a:picLocks noChangeAspect="1"/>
          </p:cNvPicPr>
          <p:nvPr/>
        </p:nvPicPr>
        <p:blipFill>
          <a:blip r:embed="rId3"/>
          <a:stretch>
            <a:fillRect/>
          </a:stretch>
        </p:blipFill>
        <p:spPr>
          <a:xfrm>
            <a:off x="658368" y="3794760"/>
            <a:ext cx="365760" cy="365760"/>
          </a:xfrm>
          <a:prstGeom prst="rect">
            <a:avLst/>
          </a:prstGeom>
        </p:spPr>
      </p:pic>
      <p:sp>
        <p:nvSpPr>
          <p:cNvPr id="12" name="Scale groups text"/>
          <p:cNvSpPr txBox="1"/>
          <p:nvPr/>
        </p:nvSpPr>
        <p:spPr>
          <a:xfrm>
            <a:off x="1207008" y="365760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Two groups: </a:t>
            </a:r>
            <a:r>
              <a:rPr sz="1300" b="0" lang="en-GB">
                <a:solidFill>
                  <a:schemeClr val="bg1"/>
                </a:solidFill>
              </a:rPr>
              <a:t>nominal and ordinal are categorical; interval and ratio are metric (numbers you can average).</a:t>
            </a:r>
          </a:p>
        </p:txBody>
      </p:sp>
      <p:sp>
        <p:nvSpPr>
          <p:cNvPr id="13" name="Scale reg"/>
          <p:cNvSpPr txBox="1"/>
          <p:nvPr/>
        </p:nvSpPr>
        <p:spPr>
          <a:xfrm>
            <a:off x="457200" y="443484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In regression: </a:t>
            </a:r>
            <a:r>
              <a:rPr sz="1200" b="0" lang="en-GB">
                <a:solidFill>
                  <a:schemeClr val="tx1"/>
                </a:solidFill>
              </a:rPr>
              <a:t>categorical variables enter as dummies (0/1), metric variables as they 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the scale matters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atter row 1"/>
          <p:cNvSpPr/>
          <p:nvPr/>
        </p:nvSpPr>
        <p:spPr>
          <a:xfrm>
            <a:off x="457200" y="1234440"/>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atter bar 1"/>
          <p:cNvSpPr/>
          <p:nvPr/>
        </p:nvSpPr>
        <p:spPr>
          <a:xfrm>
            <a:off x="4572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atter text 1"/>
          <p:cNvSpPr txBox="1"/>
          <p:nvPr/>
        </p:nvSpPr>
        <p:spPr>
          <a:xfrm>
            <a:off x="658368" y="1234440"/>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20 °C </a:t>
            </a:r>
            <a:r>
              <a:rPr sz="1200" b="0" lang="en-GB">
                <a:solidFill>
                  <a:schemeClr val="tx1"/>
                </a:solidFill>
              </a:rPr>
              <a:t>is not twice as warm as 10 °C: no true zero</a:t>
            </a:r>
          </a:p>
        </p:txBody>
      </p:sp>
      <p:sp>
        <p:nvSpPr>
          <p:cNvPr id="13" name="Matter row 2"/>
          <p:cNvSpPr/>
          <p:nvPr/>
        </p:nvSpPr>
        <p:spPr>
          <a:xfrm>
            <a:off x="457200" y="2020824"/>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atter bar 2"/>
          <p:cNvSpPr/>
          <p:nvPr/>
        </p:nvSpPr>
        <p:spPr>
          <a:xfrm>
            <a:off x="457200" y="2020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atter text 2"/>
          <p:cNvSpPr txBox="1"/>
          <p:nvPr/>
        </p:nvSpPr>
        <p:spPr>
          <a:xfrm>
            <a:off x="658368" y="2020824"/>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Mean of star ratings: </a:t>
            </a:r>
            <a:r>
              <a:rPr sz="1200" b="0" lang="en-GB">
                <a:solidFill>
                  <a:schemeClr val="tx1"/>
                </a:solidFill>
              </a:rPr>
              <a:t>treats ordinal as metric; say so</a:t>
            </a:r>
          </a:p>
        </p:txBody>
      </p:sp>
      <p:sp>
        <p:nvSpPr>
          <p:cNvPr id="16" name="Matter row 3"/>
          <p:cNvSpPr/>
          <p:nvPr/>
        </p:nvSpPr>
        <p:spPr>
          <a:xfrm>
            <a:off x="457200" y="2807208"/>
            <a:ext cx="402336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tter bar 3"/>
          <p:cNvSpPr/>
          <p:nvPr/>
        </p:nvSpPr>
        <p:spPr>
          <a:xfrm>
            <a:off x="457200" y="2807208"/>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atter text 3"/>
          <p:cNvSpPr txBox="1"/>
          <p:nvPr/>
        </p:nvSpPr>
        <p:spPr>
          <a:xfrm>
            <a:off x="658368" y="2807208"/>
            <a:ext cx="373075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Store ID 17: </a:t>
            </a:r>
            <a:r>
              <a:rPr sz="1200" b="0" lang="en-GB">
                <a:solidFill>
                  <a:schemeClr val="tx1"/>
                </a:solidFill>
              </a:rPr>
              <a:t>a number, but only a label: nominal</a:t>
            </a:r>
          </a:p>
        </p:txBody>
      </p:sp>
      <p:sp>
        <p:nvSpPr>
          <p:cNvPr id="19" name="Quiz head"/>
          <p:cNvSpPr/>
          <p:nvPr/>
        </p:nvSpPr>
        <p:spPr>
          <a:xfrm>
            <a:off x="4617720" y="1234440"/>
            <a:ext cx="40690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head text"/>
          <p:cNvSpPr txBox="1"/>
          <p:nvPr/>
        </p:nvSpPr>
        <p:spPr>
          <a:xfrm>
            <a:off x="4754880" y="1234440"/>
            <a:ext cx="37947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Quick quiz: which scale?</a:t>
            </a:r>
          </a:p>
        </p:txBody>
      </p:sp>
      <p:sp>
        <p:nvSpPr>
          <p:cNvPr id="21" name="Quiz body"/>
          <p:cNvSpPr/>
          <p:nvPr/>
        </p:nvSpPr>
        <p:spPr>
          <a:xfrm>
            <a:off x="4617720" y="1645920"/>
            <a:ext cx="4069080" cy="18836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iz items"/>
          <p:cNvSpPr txBox="1"/>
          <p:nvPr/>
        </p:nvSpPr>
        <p:spPr>
          <a:xfrm>
            <a:off x="4800600" y="1737360"/>
            <a:ext cx="3749040" cy="1737360"/>
          </a:xfrm>
          <a:prstGeom prst="rect">
            <a:avLst/>
          </a:prstGeom>
          <a:noFill/>
        </p:spPr>
        <p:txBody>
          <a:bodyPr wrap="square" lIns="0" rIns="0" tIns="0" bIns="0" anchor="t">
            <a:noAutofit/>
          </a:bodyPr>
          <a:lstStyle/>
          <a:p>
            <a:pPr algn="l" marL="182880" indent="-182880">
              <a:spcAft>
                <a:spcPts val="500"/>
              </a:spcAft>
              <a:buClr>
                <a:schemeClr val="accent1"/>
              </a:buClr>
              <a:buFont typeface="Arial"/>
              <a:buChar char="▪"/>
            </a:pPr>
            <a:r>
              <a:rPr sz="1200" b="0" lang="en-GB">
                <a:solidFill>
                  <a:schemeClr val="tx1"/>
                </a:solidFill>
              </a:rPr>
              <a:t>Country of the customer</a:t>
            </a:r>
          </a:p>
          <a:p>
            <a:pPr algn="l" marL="182880" indent="-182880">
              <a:spcAft>
                <a:spcPts val="500"/>
              </a:spcAft>
              <a:buClr>
                <a:schemeClr val="accent1"/>
              </a:buClr>
              <a:buFont typeface="Arial"/>
              <a:buChar char="▪"/>
            </a:pPr>
            <a:r>
              <a:rPr sz="1200" b="0" lang="en-GB">
                <a:solidFill>
                  <a:schemeClr val="tx1"/>
                </a:solidFill>
              </a:rPr>
              <a:t>Satisfaction from 1 to 7</a:t>
            </a:r>
          </a:p>
          <a:p>
            <a:pPr algn="l" marL="182880" indent="-182880">
              <a:spcAft>
                <a:spcPts val="500"/>
              </a:spcAft>
              <a:buClr>
                <a:schemeClr val="accent1"/>
              </a:buClr>
              <a:buFont typeface="Arial"/>
              <a:buChar char="▪"/>
            </a:pPr>
            <a:r>
              <a:rPr sz="1200" b="0" lang="en-GB">
                <a:solidFill>
                  <a:schemeClr val="tx1"/>
                </a:solidFill>
              </a:rPr>
              <a:t>Age in years</a:t>
            </a:r>
          </a:p>
          <a:p>
            <a:pPr algn="l" marL="182880" indent="-182880">
              <a:spcAft>
                <a:spcPts val="500"/>
              </a:spcAft>
              <a:buClr>
                <a:schemeClr val="accent1"/>
              </a:buClr>
              <a:buFont typeface="Arial"/>
              <a:buChar char="▪"/>
            </a:pPr>
            <a:r>
              <a:rPr sz="1200" b="0" lang="en-GB">
                <a:solidFill>
                  <a:schemeClr val="tx1"/>
                </a:solidFill>
              </a:rPr>
              <a:t>Discount: yes or no</a:t>
            </a:r>
          </a:p>
          <a:p>
            <a:pPr algn="l" marL="182880" indent="-182880">
              <a:spcAft>
                <a:spcPts val="500"/>
              </a:spcAft>
              <a:buClr>
                <a:schemeClr val="accent1"/>
              </a:buClr>
              <a:buFont typeface="Arial"/>
              <a:buChar char="▪"/>
            </a:pPr>
            <a:r>
              <a:rPr sz="1200" b="0" lang="en-GB">
                <a:solidFill>
                  <a:schemeClr val="tx1"/>
                </a:solidFill>
              </a:rPr>
              <a:t>Temperature on the day</a:t>
            </a:r>
          </a:p>
        </p:txBody>
      </p:sp>
      <p:sp>
        <p:nvSpPr>
          <p:cNvPr id="23" name="Matter rule box"/>
          <p:cNvSpPr/>
          <p:nvPr/>
        </p:nvSpPr>
        <p:spPr>
          <a:xfrm>
            <a:off x="457200" y="37033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Matter rule" descr=""/>
          <p:cNvPicPr>
            <a:picLocks noChangeAspect="1"/>
          </p:cNvPicPr>
          <p:nvPr/>
        </p:nvPicPr>
        <p:blipFill>
          <a:blip r:embed="rId3"/>
          <a:stretch>
            <a:fillRect/>
          </a:stretch>
        </p:blipFill>
        <p:spPr>
          <a:xfrm>
            <a:off x="658368" y="3840480"/>
            <a:ext cx="365760" cy="365760"/>
          </a:xfrm>
          <a:prstGeom prst="rect">
            <a:avLst/>
          </a:prstGeom>
        </p:spPr>
      </p:pic>
      <p:sp>
        <p:nvSpPr>
          <p:cNvPr id="25" name="Matter rule text"/>
          <p:cNvSpPr txBox="1"/>
          <p:nvPr/>
        </p:nvSpPr>
        <p:spPr>
          <a:xfrm>
            <a:off x="1207008" y="370332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Rule: </a:t>
            </a:r>
            <a:r>
              <a:rPr sz="1300" b="0" lang="en-GB">
                <a:solidFill>
                  <a:schemeClr val="bg1"/>
                </a:solidFill>
              </a:rPr>
              <a:t>check the scale before you average, chart or put a variable into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11 · mean, median, variance, standard deviation, standard error</a:t>
            </a:r>
          </a:p>
        </p:txBody>
      </p:sp>
      <p:sp>
        <p:nvSpPr>
          <p:cNvPr id="3" name="Title 2"/>
          <p:cNvSpPr>
            <a:spLocks noGrp="1"/>
          </p:cNvSpPr>
          <p:nvPr>
            <p:ph type="ctrTitle"/>
          </p:nvPr>
        </p:nvSpPr>
        <p:spPr/>
        <p:txBody>
          <a:bodyPr/>
          <a:lstStyle/>
          <a:p>
            <a:r>
              <a:rPr sz="1600" lang="en-GB"/>
              <a:t>Centre and spread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Mean and median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ean formula box"/>
          <p:cNvSpPr/>
          <p:nvPr/>
        </p:nvSpPr>
        <p:spPr>
          <a:xfrm>
            <a:off x="457200" y="1234440"/>
            <a:ext cx="420624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an formula code"/>
          <p:cNvSpPr txBox="1"/>
          <p:nvPr/>
        </p:nvSpPr>
        <p:spPr>
          <a:xfrm>
            <a:off x="594360" y="1325880"/>
            <a:ext cx="393192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mean    x̄ = Σ x / n = 100 / 5 = 20</a:t>
            </a:r>
          </a:p>
          <a:p>
            <a:pPr algn="l">
              <a:spcAft>
                <a:spcPts val="0"/>
              </a:spcAft>
            </a:pPr>
            <a:r>
              <a:rPr sz="1200" b="0" lang="en-GB">
                <a:solidFill>
                  <a:schemeClr val="bg1"/>
                </a:solidFill>
                <a:latin typeface="Consolas"/>
              </a:rPr>
              <a:t>median  middle of 10 11 12 13 54 = 12</a:t>
            </a:r>
          </a:p>
        </p:txBody>
      </p:sp>
      <p:sp>
        <p:nvSpPr>
          <p:cNvPr id="12" name="MM rows row 1"/>
          <p:cNvSpPr/>
          <p:nvPr/>
        </p:nvSpPr>
        <p:spPr>
          <a:xfrm>
            <a:off x="457200" y="224028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M rows bar 1"/>
          <p:cNvSpPr/>
          <p:nvPr/>
        </p:nvSpPr>
        <p:spPr>
          <a:xfrm>
            <a:off x="457200" y="224028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M rows text 1"/>
          <p:cNvSpPr txBox="1"/>
          <p:nvPr/>
        </p:nvSpPr>
        <p:spPr>
          <a:xfrm>
            <a:off x="658368" y="224028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Mean </a:t>
            </a:r>
            <a:r>
              <a:rPr sz="1200" b="0" lang="en-GB">
                <a:solidFill>
                  <a:schemeClr val="tx1"/>
                </a:solidFill>
              </a:rPr>
              <a:t>uses every value; one event day pulls it up</a:t>
            </a:r>
          </a:p>
        </p:txBody>
      </p:sp>
      <p:sp>
        <p:nvSpPr>
          <p:cNvPr id="15" name="MM rows row 2"/>
          <p:cNvSpPr/>
          <p:nvPr/>
        </p:nvSpPr>
        <p:spPr>
          <a:xfrm>
            <a:off x="457200" y="288036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M rows bar 2"/>
          <p:cNvSpPr/>
          <p:nvPr/>
        </p:nvSpPr>
        <p:spPr>
          <a:xfrm>
            <a:off x="457200" y="288036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M rows text 2"/>
          <p:cNvSpPr txBox="1"/>
          <p:nvPr/>
        </p:nvSpPr>
        <p:spPr>
          <a:xfrm>
            <a:off x="658368" y="288036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Median </a:t>
            </a:r>
            <a:r>
              <a:rPr sz="1200" b="0" lang="en-GB">
                <a:solidFill>
                  <a:schemeClr val="tx1"/>
                </a:solidFill>
              </a:rPr>
              <a:t>is robust: half the days below, half above</a:t>
            </a:r>
          </a:p>
        </p:txBody>
      </p:sp>
      <p:sp>
        <p:nvSpPr>
          <p:cNvPr id="18" name="MM rows row 3"/>
          <p:cNvSpPr/>
          <p:nvPr/>
        </p:nvSpPr>
        <p:spPr>
          <a:xfrm>
            <a:off x="457200" y="3520440"/>
            <a:ext cx="420624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M rows bar 3"/>
          <p:cNvSpPr/>
          <p:nvPr/>
        </p:nvSpPr>
        <p:spPr>
          <a:xfrm>
            <a:off x="457200" y="3520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MM rows text 3"/>
          <p:cNvSpPr txBox="1"/>
          <p:nvPr/>
        </p:nvSpPr>
        <p:spPr>
          <a:xfrm>
            <a:off x="658368" y="3520440"/>
            <a:ext cx="391363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Use the median </a:t>
            </a:r>
            <a:r>
              <a:rPr sz="1200" b="0" lang="en-GB">
                <a:solidFill>
                  <a:schemeClr val="tx1"/>
                </a:solidFill>
              </a:rPr>
              <a:t>for skewed data and ordinal scales</a:t>
            </a:r>
          </a:p>
        </p:txBody>
      </p:sp>
      <p:pic>
        <p:nvPicPr>
          <p:cNvPr id="21" name="Chart ref_mean_median.png" descr="Dot chart of five days: four between 10 and 13 bars, Friday at 54; a solid line at the mean of 20 and a dashed line at the median of 12"/>
          <p:cNvPicPr>
            <a:picLocks noChangeAspect="1"/>
          </p:cNvPicPr>
          <p:nvPr/>
        </p:nvPicPr>
        <p:blipFill>
          <a:blip r:embed="rId3"/>
          <a:stretch>
            <a:fillRect/>
          </a:stretch>
        </p:blipFill>
        <p:spPr>
          <a:xfrm>
            <a:off x="4800600" y="1234440"/>
            <a:ext cx="3886200" cy="2651760"/>
          </a:xfrm>
          <a:prstGeom prst="rect">
            <a:avLst/>
          </a:prstGeom>
        </p:spPr>
      </p:pic>
      <p:sp>
        <p:nvSpPr>
          <p:cNvPr id="22" name="MM totals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MM totals" descr=""/>
          <p:cNvPicPr>
            <a:picLocks noChangeAspect="1"/>
          </p:cNvPicPr>
          <p:nvPr/>
        </p:nvPicPr>
        <p:blipFill>
          <a:blip r:embed="rId4"/>
          <a:stretch>
            <a:fillRect/>
          </a:stretch>
        </p:blipFill>
        <p:spPr>
          <a:xfrm>
            <a:off x="658368" y="4411980"/>
            <a:ext cx="365760" cy="365760"/>
          </a:xfrm>
          <a:prstGeom prst="rect">
            <a:avLst/>
          </a:prstGeom>
        </p:spPr>
      </p:pic>
      <p:sp>
        <p:nvSpPr>
          <p:cNvPr id="24" name="MM totals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Totals need the mean: </a:t>
            </a:r>
            <a:r>
              <a:rPr sz="1200" b="0" lang="en-GB">
                <a:solidFill>
                  <a:schemeClr val="tx1"/>
                </a:solidFill>
              </a:rPr>
              <a:t>20 bars a day × 5 days = 100 bars in the week.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Variance and standard deviation, by hand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ar table 1-1"/>
          <p:cNvSpPr/>
          <p:nvPr/>
        </p:nvSpPr>
        <p:spPr>
          <a:xfrm>
            <a:off x="457200" y="1234440"/>
            <a:ext cx="8869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ar table text 1-1"/>
          <p:cNvSpPr txBox="1"/>
          <p:nvPr/>
        </p:nvSpPr>
        <p:spPr>
          <a:xfrm>
            <a:off x="548640" y="1234440"/>
            <a:ext cx="7040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2" name="Var table 1-2"/>
          <p:cNvSpPr/>
          <p:nvPr/>
        </p:nvSpPr>
        <p:spPr>
          <a:xfrm>
            <a:off x="1371600" y="1234440"/>
            <a:ext cx="1024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Var table text 1-2"/>
          <p:cNvSpPr txBox="1"/>
          <p:nvPr/>
        </p:nvSpPr>
        <p:spPr>
          <a:xfrm>
            <a:off x="1463040" y="1234440"/>
            <a:ext cx="8412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Bars x</a:t>
            </a:r>
          </a:p>
        </p:txBody>
      </p:sp>
      <p:sp>
        <p:nvSpPr>
          <p:cNvPr id="14" name="Var table 1-3"/>
          <p:cNvSpPr/>
          <p:nvPr/>
        </p:nvSpPr>
        <p:spPr>
          <a:xfrm>
            <a:off x="2423160" y="1234440"/>
            <a:ext cx="1024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Var table text 1-3"/>
          <p:cNvSpPr txBox="1"/>
          <p:nvPr/>
        </p:nvSpPr>
        <p:spPr>
          <a:xfrm>
            <a:off x="2514600" y="1234440"/>
            <a:ext cx="84124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x − x̄</a:t>
            </a:r>
          </a:p>
        </p:txBody>
      </p:sp>
      <p:sp>
        <p:nvSpPr>
          <p:cNvPr id="16" name="Var table 1-4"/>
          <p:cNvSpPr/>
          <p:nvPr/>
        </p:nvSpPr>
        <p:spPr>
          <a:xfrm>
            <a:off x="3474720" y="1234440"/>
            <a:ext cx="120700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Var table text 1-4"/>
          <p:cNvSpPr txBox="1"/>
          <p:nvPr/>
        </p:nvSpPr>
        <p:spPr>
          <a:xfrm>
            <a:off x="3566160" y="1234440"/>
            <a:ext cx="102412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(x − x̄)²</a:t>
            </a:r>
          </a:p>
        </p:txBody>
      </p:sp>
      <p:sp>
        <p:nvSpPr>
          <p:cNvPr id="18" name="Var table 2-1"/>
          <p:cNvSpPr/>
          <p:nvPr/>
        </p:nvSpPr>
        <p:spPr>
          <a:xfrm>
            <a:off x="457200" y="160934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Var table text 2-1"/>
          <p:cNvSpPr txBox="1"/>
          <p:nvPr/>
        </p:nvSpPr>
        <p:spPr>
          <a:xfrm>
            <a:off x="548640" y="160934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0" name="Var table 2-2"/>
          <p:cNvSpPr/>
          <p:nvPr/>
        </p:nvSpPr>
        <p:spPr>
          <a:xfrm>
            <a:off x="1371600" y="160934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ar table text 2-2"/>
          <p:cNvSpPr txBox="1"/>
          <p:nvPr/>
        </p:nvSpPr>
        <p:spPr>
          <a:xfrm>
            <a:off x="1463040" y="1609344"/>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2" name="Var table 2-3"/>
          <p:cNvSpPr/>
          <p:nvPr/>
        </p:nvSpPr>
        <p:spPr>
          <a:xfrm>
            <a:off x="2423160" y="160934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Var table text 2-3"/>
          <p:cNvSpPr txBox="1"/>
          <p:nvPr/>
        </p:nvSpPr>
        <p:spPr>
          <a:xfrm>
            <a:off x="2514600" y="1609344"/>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4" name="Var table 2-4"/>
          <p:cNvSpPr/>
          <p:nvPr/>
        </p:nvSpPr>
        <p:spPr>
          <a:xfrm>
            <a:off x="3474720" y="1609344"/>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Var table text 2-4"/>
          <p:cNvSpPr txBox="1"/>
          <p:nvPr/>
        </p:nvSpPr>
        <p:spPr>
          <a:xfrm>
            <a:off x="3566160" y="1609344"/>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900</a:t>
            </a:r>
          </a:p>
        </p:txBody>
      </p:sp>
      <p:sp>
        <p:nvSpPr>
          <p:cNvPr id="26" name="Var table 3-1"/>
          <p:cNvSpPr/>
          <p:nvPr/>
        </p:nvSpPr>
        <p:spPr>
          <a:xfrm>
            <a:off x="457200" y="1984248"/>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Var table text 3-1"/>
          <p:cNvSpPr txBox="1"/>
          <p:nvPr/>
        </p:nvSpPr>
        <p:spPr>
          <a:xfrm>
            <a:off x="548640" y="1984248"/>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8" name="Var table 3-2"/>
          <p:cNvSpPr/>
          <p:nvPr/>
        </p:nvSpPr>
        <p:spPr>
          <a:xfrm>
            <a:off x="1371600" y="1984248"/>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Var table text 3-2"/>
          <p:cNvSpPr txBox="1"/>
          <p:nvPr/>
        </p:nvSpPr>
        <p:spPr>
          <a:xfrm>
            <a:off x="1463040" y="1984248"/>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30" name="Var table 3-3"/>
          <p:cNvSpPr/>
          <p:nvPr/>
        </p:nvSpPr>
        <p:spPr>
          <a:xfrm>
            <a:off x="2423160" y="1984248"/>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Var table text 3-3"/>
          <p:cNvSpPr txBox="1"/>
          <p:nvPr/>
        </p:nvSpPr>
        <p:spPr>
          <a:xfrm>
            <a:off x="2514600" y="1984248"/>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2" name="Var table 3-4"/>
          <p:cNvSpPr/>
          <p:nvPr/>
        </p:nvSpPr>
        <p:spPr>
          <a:xfrm>
            <a:off x="3474720" y="1984248"/>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Var table text 3-4"/>
          <p:cNvSpPr txBox="1"/>
          <p:nvPr/>
        </p:nvSpPr>
        <p:spPr>
          <a:xfrm>
            <a:off x="3566160" y="1984248"/>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400</a:t>
            </a:r>
          </a:p>
        </p:txBody>
      </p:sp>
      <p:sp>
        <p:nvSpPr>
          <p:cNvPr id="34" name="Var table 4-1"/>
          <p:cNvSpPr/>
          <p:nvPr/>
        </p:nvSpPr>
        <p:spPr>
          <a:xfrm>
            <a:off x="457200" y="2359152"/>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Var table text 4-1"/>
          <p:cNvSpPr txBox="1"/>
          <p:nvPr/>
        </p:nvSpPr>
        <p:spPr>
          <a:xfrm>
            <a:off x="548640" y="2359152"/>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6" name="Var table 4-2"/>
          <p:cNvSpPr/>
          <p:nvPr/>
        </p:nvSpPr>
        <p:spPr>
          <a:xfrm>
            <a:off x="1371600" y="2359152"/>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Var table text 4-2"/>
          <p:cNvSpPr txBox="1"/>
          <p:nvPr/>
        </p:nvSpPr>
        <p:spPr>
          <a:xfrm>
            <a:off x="1463040" y="2359152"/>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80</a:t>
            </a:r>
          </a:p>
        </p:txBody>
      </p:sp>
      <p:sp>
        <p:nvSpPr>
          <p:cNvPr id="38" name="Var table 4-3"/>
          <p:cNvSpPr/>
          <p:nvPr/>
        </p:nvSpPr>
        <p:spPr>
          <a:xfrm>
            <a:off x="2423160" y="2359152"/>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Var table text 4-3"/>
          <p:cNvSpPr txBox="1"/>
          <p:nvPr/>
        </p:nvSpPr>
        <p:spPr>
          <a:xfrm>
            <a:off x="2514600" y="2359152"/>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0" name="Var table 4-4"/>
          <p:cNvSpPr/>
          <p:nvPr/>
        </p:nvSpPr>
        <p:spPr>
          <a:xfrm>
            <a:off x="3474720" y="2359152"/>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Var table text 4-4"/>
          <p:cNvSpPr txBox="1"/>
          <p:nvPr/>
        </p:nvSpPr>
        <p:spPr>
          <a:xfrm>
            <a:off x="3566160" y="2359152"/>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2" name="Var table 5-1"/>
          <p:cNvSpPr/>
          <p:nvPr/>
        </p:nvSpPr>
        <p:spPr>
          <a:xfrm>
            <a:off x="457200" y="2734056"/>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Var table text 5-1"/>
          <p:cNvSpPr txBox="1"/>
          <p:nvPr/>
        </p:nvSpPr>
        <p:spPr>
          <a:xfrm>
            <a:off x="548640" y="2734056"/>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4" name="Var table 5-2"/>
          <p:cNvSpPr/>
          <p:nvPr/>
        </p:nvSpPr>
        <p:spPr>
          <a:xfrm>
            <a:off x="1371600" y="2734056"/>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Var table text 5-2"/>
          <p:cNvSpPr txBox="1"/>
          <p:nvPr/>
        </p:nvSpPr>
        <p:spPr>
          <a:xfrm>
            <a:off x="1463040" y="2734056"/>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6" name="Var table 5-3"/>
          <p:cNvSpPr/>
          <p:nvPr/>
        </p:nvSpPr>
        <p:spPr>
          <a:xfrm>
            <a:off x="2423160" y="2734056"/>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Var table text 5-3"/>
          <p:cNvSpPr txBox="1"/>
          <p:nvPr/>
        </p:nvSpPr>
        <p:spPr>
          <a:xfrm>
            <a:off x="2514600" y="2734056"/>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48" name="Var table 5-4"/>
          <p:cNvSpPr/>
          <p:nvPr/>
        </p:nvSpPr>
        <p:spPr>
          <a:xfrm>
            <a:off x="3474720" y="2734056"/>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Var table text 5-4"/>
          <p:cNvSpPr txBox="1"/>
          <p:nvPr/>
        </p:nvSpPr>
        <p:spPr>
          <a:xfrm>
            <a:off x="3566160" y="2734056"/>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50" name="Var table 6-1"/>
          <p:cNvSpPr/>
          <p:nvPr/>
        </p:nvSpPr>
        <p:spPr>
          <a:xfrm>
            <a:off x="457200" y="3108960"/>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Var table text 6-1"/>
          <p:cNvSpPr txBox="1"/>
          <p:nvPr/>
        </p:nvSpPr>
        <p:spPr>
          <a:xfrm>
            <a:off x="548640" y="3108960"/>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52" name="Var table 6-2"/>
          <p:cNvSpPr/>
          <p:nvPr/>
        </p:nvSpPr>
        <p:spPr>
          <a:xfrm>
            <a:off x="1371600" y="3108960"/>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Var table text 6-2"/>
          <p:cNvSpPr txBox="1"/>
          <p:nvPr/>
        </p:nvSpPr>
        <p:spPr>
          <a:xfrm>
            <a:off x="1463040" y="3108960"/>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4" name="Var table 6-3"/>
          <p:cNvSpPr/>
          <p:nvPr/>
        </p:nvSpPr>
        <p:spPr>
          <a:xfrm>
            <a:off x="2423160" y="3108960"/>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Var table text 6-3"/>
          <p:cNvSpPr txBox="1"/>
          <p:nvPr/>
        </p:nvSpPr>
        <p:spPr>
          <a:xfrm>
            <a:off x="2514600" y="3108960"/>
            <a:ext cx="84124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6" name="Var table 6-4"/>
          <p:cNvSpPr/>
          <p:nvPr/>
        </p:nvSpPr>
        <p:spPr>
          <a:xfrm>
            <a:off x="3474720" y="3108960"/>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Var table text 6-4"/>
          <p:cNvSpPr txBox="1"/>
          <p:nvPr/>
        </p:nvSpPr>
        <p:spPr>
          <a:xfrm>
            <a:off x="3566160" y="3108960"/>
            <a:ext cx="10241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1,600</a:t>
            </a:r>
          </a:p>
        </p:txBody>
      </p:sp>
      <p:sp>
        <p:nvSpPr>
          <p:cNvPr id="58" name="Var table 7-1"/>
          <p:cNvSpPr/>
          <p:nvPr/>
        </p:nvSpPr>
        <p:spPr>
          <a:xfrm>
            <a:off x="457200" y="348386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Var table text 7-1"/>
          <p:cNvSpPr txBox="1"/>
          <p:nvPr/>
        </p:nvSpPr>
        <p:spPr>
          <a:xfrm>
            <a:off x="548640" y="348386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Sum</a:t>
            </a:r>
          </a:p>
        </p:txBody>
      </p:sp>
      <p:sp>
        <p:nvSpPr>
          <p:cNvPr id="60" name="Var table 7-2"/>
          <p:cNvSpPr/>
          <p:nvPr/>
        </p:nvSpPr>
        <p:spPr>
          <a:xfrm>
            <a:off x="1371600" y="348386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Var table text 7-2"/>
          <p:cNvSpPr txBox="1"/>
          <p:nvPr/>
        </p:nvSpPr>
        <p:spPr>
          <a:xfrm>
            <a:off x="1463040" y="3483864"/>
            <a:ext cx="84124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400</a:t>
            </a:r>
          </a:p>
        </p:txBody>
      </p:sp>
      <p:sp>
        <p:nvSpPr>
          <p:cNvPr id="62" name="Var table 7-3"/>
          <p:cNvSpPr/>
          <p:nvPr/>
        </p:nvSpPr>
        <p:spPr>
          <a:xfrm>
            <a:off x="2423160" y="3483864"/>
            <a:ext cx="10241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Var table text 7-3"/>
          <p:cNvSpPr txBox="1"/>
          <p:nvPr/>
        </p:nvSpPr>
        <p:spPr>
          <a:xfrm>
            <a:off x="2514600" y="3483864"/>
            <a:ext cx="84124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0</a:t>
            </a:r>
          </a:p>
        </p:txBody>
      </p:sp>
      <p:sp>
        <p:nvSpPr>
          <p:cNvPr id="64" name="Var table 7-4"/>
          <p:cNvSpPr/>
          <p:nvPr/>
        </p:nvSpPr>
        <p:spPr>
          <a:xfrm>
            <a:off x="3474720" y="3483864"/>
            <a:ext cx="12070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Var table text 7-4"/>
          <p:cNvSpPr txBox="1"/>
          <p:nvPr/>
        </p:nvSpPr>
        <p:spPr>
          <a:xfrm>
            <a:off x="3566160" y="3483864"/>
            <a:ext cx="102412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3,000</a:t>
            </a:r>
          </a:p>
        </p:txBody>
      </p:sp>
      <p:sp>
        <p:nvSpPr>
          <p:cNvPr id="66" name="Var formula caption bar"/>
          <p:cNvSpPr/>
          <p:nvPr/>
        </p:nvSpPr>
        <p:spPr>
          <a:xfrm>
            <a:off x="4937760" y="1234440"/>
            <a:ext cx="3749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Var formula caption"/>
          <p:cNvSpPr txBox="1"/>
          <p:nvPr/>
        </p:nvSpPr>
        <p:spPr>
          <a:xfrm>
            <a:off x="5047488" y="1234440"/>
            <a:ext cx="3529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Variance and standard deviation</a:t>
            </a:r>
          </a:p>
        </p:txBody>
      </p:sp>
      <p:sp>
        <p:nvSpPr>
          <p:cNvPr id="68" name="Var formula box"/>
          <p:cNvSpPr/>
          <p:nvPr/>
        </p:nvSpPr>
        <p:spPr>
          <a:xfrm>
            <a:off x="4937760" y="1508760"/>
            <a:ext cx="3749040" cy="960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Var formula code"/>
          <p:cNvSpPr txBox="1"/>
          <p:nvPr/>
        </p:nvSpPr>
        <p:spPr>
          <a:xfrm>
            <a:off x="5074920" y="1600200"/>
            <a:ext cx="3474720" cy="7772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x̄  = 400 / 5 = 80</a:t>
            </a:r>
          </a:p>
          <a:p>
            <a:pPr algn="l">
              <a:spcAft>
                <a:spcPts val="0"/>
              </a:spcAft>
            </a:pPr>
            <a:r>
              <a:rPr sz="1200" b="0" lang="en-GB">
                <a:solidFill>
                  <a:schemeClr val="bg1"/>
                </a:solidFill>
                <a:latin typeface="Consolas"/>
              </a:rPr>
              <a:t>s² = 3,000 / (5 − 1) = 750</a:t>
            </a:r>
          </a:p>
          <a:p>
            <a:pPr algn="l">
              <a:spcAft>
                <a:spcPts val="0"/>
              </a:spcAft>
            </a:pPr>
            <a:r>
              <a:rPr sz="1200" b="0" lang="en-GB">
                <a:solidFill>
                  <a:schemeClr val="bg1"/>
                </a:solidFill>
                <a:latin typeface="Consolas"/>
              </a:rPr>
              <a:t>s  = √750 = 27.4 bars</a:t>
            </a:r>
          </a:p>
        </p:txBody>
      </p:sp>
      <p:sp>
        <p:nvSpPr>
          <p:cNvPr id="70" name="Var rows row 1"/>
          <p:cNvSpPr/>
          <p:nvPr/>
        </p:nvSpPr>
        <p:spPr>
          <a:xfrm>
            <a:off x="4937760" y="2606040"/>
            <a:ext cx="374904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Var rows bar 1"/>
          <p:cNvSpPr/>
          <p:nvPr/>
        </p:nvSpPr>
        <p:spPr>
          <a:xfrm>
            <a:off x="4937760" y="2606040"/>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Var rows text 1"/>
          <p:cNvSpPr txBox="1"/>
          <p:nvPr/>
        </p:nvSpPr>
        <p:spPr>
          <a:xfrm>
            <a:off x="5138928" y="2606040"/>
            <a:ext cx="345643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Variance </a:t>
            </a:r>
            <a:r>
              <a:rPr sz="1200" b="0" lang="en-GB">
                <a:solidFill>
                  <a:schemeClr val="tx1"/>
                </a:solidFill>
              </a:rPr>
              <a:t>is in squared units (bars²)</a:t>
            </a:r>
          </a:p>
        </p:txBody>
      </p:sp>
      <p:sp>
        <p:nvSpPr>
          <p:cNvPr id="73" name="Var rows row 2"/>
          <p:cNvSpPr/>
          <p:nvPr/>
        </p:nvSpPr>
        <p:spPr>
          <a:xfrm>
            <a:off x="4937760" y="3209544"/>
            <a:ext cx="3749040" cy="5303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Var rows bar 2"/>
          <p:cNvSpPr/>
          <p:nvPr/>
        </p:nvSpPr>
        <p:spPr>
          <a:xfrm>
            <a:off x="4937760" y="3209544"/>
            <a:ext cx="64008" cy="53035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Var rows text 2"/>
          <p:cNvSpPr txBox="1"/>
          <p:nvPr/>
        </p:nvSpPr>
        <p:spPr>
          <a:xfrm>
            <a:off x="5138928" y="3209544"/>
            <a:ext cx="3456432" cy="530352"/>
          </a:xfrm>
          <a:prstGeom prst="rect">
            <a:avLst/>
          </a:prstGeom>
          <a:noFill/>
        </p:spPr>
        <p:txBody>
          <a:bodyPr wrap="square" lIns="0" rIns="0" tIns="0" bIns="0" anchor="ctr">
            <a:noAutofit/>
          </a:bodyPr>
          <a:lstStyle/>
          <a:p>
            <a:pPr algn="l">
              <a:spcAft>
                <a:spcPts val="400"/>
              </a:spcAft>
            </a:pPr>
            <a:r>
              <a:rPr sz="1200" b="1" lang="en-GB">
                <a:solidFill>
                  <a:schemeClr val="tx2"/>
                </a:solidFill>
              </a:rPr>
              <a:t>Standard deviation </a:t>
            </a:r>
            <a:r>
              <a:rPr sz="1200" b="0" lang="en-GB">
                <a:solidFill>
                  <a:schemeClr val="tx1"/>
                </a:solidFill>
              </a:rPr>
              <a:t>is in bars: the typical distance from the mean</a:t>
            </a:r>
          </a:p>
        </p:txBody>
      </p:sp>
      <p:sp>
        <p:nvSpPr>
          <p:cNvPr id="76" name="Var n1 box"/>
          <p:cNvSpPr/>
          <p:nvPr/>
        </p:nvSpPr>
        <p:spPr>
          <a:xfrm>
            <a:off x="457200" y="39776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7" name="Icon Var n1" descr=""/>
          <p:cNvPicPr>
            <a:picLocks noChangeAspect="1"/>
          </p:cNvPicPr>
          <p:nvPr/>
        </p:nvPicPr>
        <p:blipFill>
          <a:blip r:embed="rId3"/>
          <a:stretch>
            <a:fillRect/>
          </a:stretch>
        </p:blipFill>
        <p:spPr>
          <a:xfrm>
            <a:off x="658368" y="4183380"/>
            <a:ext cx="365760" cy="365760"/>
          </a:xfrm>
          <a:prstGeom prst="rect">
            <a:avLst/>
          </a:prstGeom>
        </p:spPr>
      </p:pic>
      <p:sp>
        <p:nvSpPr>
          <p:cNvPr id="78" name="Var n1 text"/>
          <p:cNvSpPr txBox="1"/>
          <p:nvPr/>
        </p:nvSpPr>
        <p:spPr>
          <a:xfrm>
            <a:off x="1207008" y="39776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Why n − 1? </a:t>
            </a:r>
            <a:r>
              <a:rPr sz="1200" b="0" lang="en-GB">
                <a:solidFill>
                  <a:schemeClr val="bg1"/>
                </a:solidFill>
              </a:rPr>
              <a:t>deviations from the sample mean are a little too small; dividing by n − 1 corrects this. polars and pandas do it by default.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Same mean, different spread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spread.png" descr="Two rows of five dots: kiosk A between 75 and 85, kiosk B between 40 and 120, a dashed line at the common mean of 80"/>
          <p:cNvPicPr>
            <a:picLocks noChangeAspect="1"/>
          </p:cNvPicPr>
          <p:nvPr/>
        </p:nvPicPr>
        <p:blipFill>
          <a:blip r:embed="rId3"/>
          <a:stretch>
            <a:fillRect/>
          </a:stretch>
        </p:blipFill>
        <p:spPr>
          <a:xfrm>
            <a:off x="457200" y="1234440"/>
            <a:ext cx="4572000" cy="2496312"/>
          </a:xfrm>
          <a:prstGeom prst="rect">
            <a:avLst/>
          </a:prstGeom>
        </p:spPr>
      </p:pic>
      <p:sp>
        <p:nvSpPr>
          <p:cNvPr id="11" name="SD stat box 1"/>
          <p:cNvSpPr/>
          <p:nvPr/>
        </p:nvSpPr>
        <p:spPr>
          <a:xfrm>
            <a:off x="5166360" y="1234440"/>
            <a:ext cx="352044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D stat 1 bar"/>
          <p:cNvSpPr/>
          <p:nvPr/>
        </p:nvSpPr>
        <p:spPr>
          <a:xfrm>
            <a:off x="516636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D stat 1 figure"/>
          <p:cNvSpPr txBox="1"/>
          <p:nvPr/>
        </p:nvSpPr>
        <p:spPr>
          <a:xfrm>
            <a:off x="5349240" y="123444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3.8</a:t>
            </a:r>
          </a:p>
        </p:txBody>
      </p:sp>
      <p:sp>
        <p:nvSpPr>
          <p:cNvPr id="14" name="SD stat 1 label"/>
          <p:cNvSpPr txBox="1"/>
          <p:nvPr/>
        </p:nvSpPr>
        <p:spPr>
          <a:xfrm>
            <a:off x="6537960" y="1234440"/>
            <a:ext cx="210312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bars: sd of kiosk A</a:t>
            </a:r>
          </a:p>
        </p:txBody>
      </p:sp>
      <p:sp>
        <p:nvSpPr>
          <p:cNvPr id="15" name="SD stat box 2"/>
          <p:cNvSpPr/>
          <p:nvPr/>
        </p:nvSpPr>
        <p:spPr>
          <a:xfrm>
            <a:off x="5166360" y="2240280"/>
            <a:ext cx="352044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D stat 2 bar"/>
          <p:cNvSpPr/>
          <p:nvPr/>
        </p:nvSpPr>
        <p:spPr>
          <a:xfrm>
            <a:off x="5166360" y="22402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D stat 2 figure"/>
          <p:cNvSpPr txBox="1"/>
          <p:nvPr/>
        </p:nvSpPr>
        <p:spPr>
          <a:xfrm>
            <a:off x="5349240" y="224028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31.6</a:t>
            </a:r>
          </a:p>
        </p:txBody>
      </p:sp>
      <p:sp>
        <p:nvSpPr>
          <p:cNvPr id="18" name="SD stat 2 label"/>
          <p:cNvSpPr txBox="1"/>
          <p:nvPr/>
        </p:nvSpPr>
        <p:spPr>
          <a:xfrm>
            <a:off x="6537960" y="2240280"/>
            <a:ext cx="210312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bars: sd of kiosk B</a:t>
            </a:r>
          </a:p>
        </p:txBody>
      </p:sp>
      <p:sp>
        <p:nvSpPr>
          <p:cNvPr id="19" name="SD manager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SD manager" descr=""/>
          <p:cNvPicPr>
            <a:picLocks noChangeAspect="1"/>
          </p:cNvPicPr>
          <p:nvPr/>
        </p:nvPicPr>
        <p:blipFill>
          <a:blip r:embed="rId4"/>
          <a:stretch>
            <a:fillRect/>
          </a:stretch>
        </p:blipFill>
        <p:spPr>
          <a:xfrm>
            <a:off x="658368" y="4114800"/>
            <a:ext cx="365760" cy="365760"/>
          </a:xfrm>
          <a:prstGeom prst="rect">
            <a:avLst/>
          </a:prstGeom>
        </p:spPr>
      </p:pic>
      <p:sp>
        <p:nvSpPr>
          <p:cNvPr id="21" name="SD manager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For the manager: </a:t>
            </a:r>
            <a:r>
              <a:rPr sz="1200" b="0" lang="en-GB">
                <a:solidFill>
                  <a:schemeClr val="bg1"/>
                </a:solidFill>
              </a:rPr>
              <a:t>both sell 80 a week, but kiosk B needs much more safety stock and its forecasts are less certain.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Standard error: how precise is the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SE = s / √n          95% confidence interval ≈ x̄ ± 1.96 · SE</a:t>
            </a:r>
          </a:p>
        </p:txBody>
      </p:sp>
      <p:sp>
        <p:nvSpPr>
          <p:cNvPr id="12" name="SE box 1"/>
          <p:cNvSpPr/>
          <p:nvPr/>
        </p:nvSpPr>
        <p:spPr>
          <a:xfrm>
            <a:off x="45720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 bar 1"/>
          <p:cNvSpPr/>
          <p:nvPr/>
        </p:nvSpPr>
        <p:spPr>
          <a:xfrm>
            <a:off x="45720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E fig 1"/>
          <p:cNvSpPr txBox="1"/>
          <p:nvPr/>
        </p:nvSpPr>
        <p:spPr>
          <a:xfrm>
            <a:off x="64008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EUR 1.00</a:t>
            </a:r>
          </a:p>
        </p:txBody>
      </p:sp>
      <p:sp>
        <p:nvSpPr>
          <p:cNvPr id="15" name="SE lab 1"/>
          <p:cNvSpPr txBox="1"/>
          <p:nvPr/>
        </p:nvSpPr>
        <p:spPr>
          <a:xfrm>
            <a:off x="64008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SE with 16 customers: 4 / √16</a:t>
            </a:r>
          </a:p>
        </p:txBody>
      </p:sp>
      <p:sp>
        <p:nvSpPr>
          <p:cNvPr id="16" name="SE box 2"/>
          <p:cNvSpPr/>
          <p:nvPr/>
        </p:nvSpPr>
        <p:spPr>
          <a:xfrm>
            <a:off x="324612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 bar 2"/>
          <p:cNvSpPr/>
          <p:nvPr/>
        </p:nvSpPr>
        <p:spPr>
          <a:xfrm>
            <a:off x="324612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E fig 2"/>
          <p:cNvSpPr txBox="1"/>
          <p:nvPr/>
        </p:nvSpPr>
        <p:spPr>
          <a:xfrm>
            <a:off x="342900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EUR 0.50</a:t>
            </a:r>
          </a:p>
        </p:txBody>
      </p:sp>
      <p:sp>
        <p:nvSpPr>
          <p:cNvPr id="19" name="SE lab 2"/>
          <p:cNvSpPr txBox="1"/>
          <p:nvPr/>
        </p:nvSpPr>
        <p:spPr>
          <a:xfrm>
            <a:off x="342900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SE with 64 customers: 4 / √64</a:t>
            </a:r>
          </a:p>
        </p:txBody>
      </p:sp>
      <p:sp>
        <p:nvSpPr>
          <p:cNvPr id="20" name="SE box 3"/>
          <p:cNvSpPr/>
          <p:nvPr/>
        </p:nvSpPr>
        <p:spPr>
          <a:xfrm>
            <a:off x="6035040" y="1920240"/>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 bar 3"/>
          <p:cNvSpPr/>
          <p:nvPr/>
        </p:nvSpPr>
        <p:spPr>
          <a:xfrm>
            <a:off x="6035040" y="1920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 fig 3"/>
          <p:cNvSpPr txBox="1"/>
          <p:nvPr/>
        </p:nvSpPr>
        <p:spPr>
          <a:xfrm>
            <a:off x="6217920" y="1965960"/>
            <a:ext cx="2377440" cy="502920"/>
          </a:xfrm>
          <a:prstGeom prst="rect">
            <a:avLst/>
          </a:prstGeom>
          <a:noFill/>
        </p:spPr>
        <p:txBody>
          <a:bodyPr wrap="square" lIns="0" rIns="0" tIns="0" bIns="0" anchor="ctr">
            <a:noAutofit/>
          </a:bodyPr>
          <a:lstStyle/>
          <a:p>
            <a:pPr algn="l">
              <a:spcAft>
                <a:spcPts val="400"/>
              </a:spcAft>
            </a:pPr>
            <a:r>
              <a:rPr sz="2400" b="1" lang="en-GB">
                <a:solidFill>
                  <a:schemeClr val="tx2"/>
                </a:solidFill>
                <a:latin typeface="+mj-lt"/>
              </a:rPr>
              <a:t>10.04–13.96</a:t>
            </a:r>
          </a:p>
        </p:txBody>
      </p:sp>
      <p:sp>
        <p:nvSpPr>
          <p:cNvPr id="23" name="SE lab 3"/>
          <p:cNvSpPr txBox="1"/>
          <p:nvPr/>
        </p:nvSpPr>
        <p:spPr>
          <a:xfrm>
            <a:off x="6217920" y="2468880"/>
            <a:ext cx="2377440" cy="548640"/>
          </a:xfrm>
          <a:prstGeom prst="rect">
            <a:avLst/>
          </a:prstGeom>
          <a:noFill/>
        </p:spPr>
        <p:txBody>
          <a:bodyPr wrap="square" lIns="0" rIns="0" tIns="0" bIns="0" anchor="t">
            <a:noAutofit/>
          </a:bodyPr>
          <a:lstStyle/>
          <a:p>
            <a:pPr algn="l">
              <a:spcAft>
                <a:spcPts val="400"/>
              </a:spcAft>
            </a:pPr>
            <a:r>
              <a:rPr sz="1200" b="0" lang="en-GB">
                <a:solidFill>
                  <a:schemeClr val="tx1"/>
                </a:solidFill>
              </a:rPr>
              <a:t>95 % interval for a mean spend of EUR 12 (n = 16)</a:t>
            </a:r>
          </a:p>
        </p:txBody>
      </p:sp>
      <p:sp>
        <p:nvSpPr>
          <p:cNvPr id="24" name="SE rows row 1"/>
          <p:cNvSpPr/>
          <p:nvPr/>
        </p:nvSpPr>
        <p:spPr>
          <a:xfrm>
            <a:off x="457200" y="32004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E rows bar 1"/>
          <p:cNvSpPr/>
          <p:nvPr/>
        </p:nvSpPr>
        <p:spPr>
          <a:xfrm>
            <a:off x="457200" y="32004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E rows text 1"/>
          <p:cNvSpPr txBox="1"/>
          <p:nvPr/>
        </p:nvSpPr>
        <p:spPr>
          <a:xfrm>
            <a:off x="658368" y="320040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sd </a:t>
            </a:r>
            <a:r>
              <a:rPr sz="1200" b="0" lang="en-GB">
                <a:solidFill>
                  <a:schemeClr val="tx1"/>
                </a:solidFill>
              </a:rPr>
              <a:t>describes how much customers differ: spending varies by about EUR 4</a:t>
            </a:r>
          </a:p>
        </p:txBody>
      </p:sp>
      <p:sp>
        <p:nvSpPr>
          <p:cNvPr id="27" name="SE rows row 2"/>
          <p:cNvSpPr/>
          <p:nvPr/>
        </p:nvSpPr>
        <p:spPr>
          <a:xfrm>
            <a:off x="457200" y="372160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E rows bar 2"/>
          <p:cNvSpPr/>
          <p:nvPr/>
        </p:nvSpPr>
        <p:spPr>
          <a:xfrm>
            <a:off x="457200" y="372160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 rows text 2"/>
          <p:cNvSpPr txBox="1"/>
          <p:nvPr/>
        </p:nvSpPr>
        <p:spPr>
          <a:xfrm>
            <a:off x="658368" y="372160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SE </a:t>
            </a:r>
            <a:r>
              <a:rPr sz="1200" b="0" lang="en-GB">
                <a:solidFill>
                  <a:schemeClr val="tx1"/>
                </a:solidFill>
              </a:rPr>
              <a:t>describes how precise the average is: it shrinks with √n; four times the sample, half the SE</a:t>
            </a:r>
          </a:p>
        </p:txBody>
      </p:sp>
      <p:sp>
        <p:nvSpPr>
          <p:cNvPr id="30" name="SE reg box"/>
          <p:cNvSpPr/>
          <p:nvPr/>
        </p:nvSpPr>
        <p:spPr>
          <a:xfrm>
            <a:off x="457200" y="42976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SE reg" descr=""/>
          <p:cNvPicPr>
            <a:picLocks noChangeAspect="1"/>
          </p:cNvPicPr>
          <p:nvPr/>
        </p:nvPicPr>
        <p:blipFill>
          <a:blip r:embed="rId3"/>
          <a:stretch>
            <a:fillRect/>
          </a:stretch>
        </p:blipFill>
        <p:spPr>
          <a:xfrm>
            <a:off x="658368" y="4366260"/>
            <a:ext cx="365760" cy="365760"/>
          </a:xfrm>
          <a:prstGeom prst="rect">
            <a:avLst/>
          </a:prstGeom>
        </p:spPr>
      </p:pic>
      <p:sp>
        <p:nvSpPr>
          <p:cNvPr id="32" name="SE reg text"/>
          <p:cNvSpPr txBox="1"/>
          <p:nvPr/>
        </p:nvSpPr>
        <p:spPr>
          <a:xfrm>
            <a:off x="1207008" y="429768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In every regression table: </a:t>
            </a:r>
            <a:r>
              <a:rPr sz="1200" b="0" lang="en-GB">
                <a:solidFill>
                  <a:schemeClr val="tx1"/>
                </a:solidFill>
              </a:rPr>
              <a:t>the column 'std err' is the standard error of a coefficient.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11 · z-scores, normal and standard normal distribution</a:t>
            </a:r>
          </a:p>
        </p:txBody>
      </p:sp>
      <p:sp>
        <p:nvSpPr>
          <p:cNvPr id="3" name="Title 2"/>
          <p:cNvSpPr>
            <a:spLocks noGrp="1"/>
          </p:cNvSpPr>
          <p:nvPr>
            <p:ph type="ctrTitle"/>
          </p:nvPr>
        </p:nvSpPr>
        <p:spPr/>
        <p:txBody>
          <a:bodyPr/>
          <a:lstStyle/>
          <a:p>
            <a:r>
              <a:rPr sz="1600" lang="en-GB"/>
              <a:t>Standardisation and the normal distribution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Standardisation: z-scores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Z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Z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z = (x − x̄) / s        a standardised variable has mean 0 and standard deviation 1</a:t>
            </a:r>
          </a:p>
        </p:txBody>
      </p:sp>
      <p:sp>
        <p:nvSpPr>
          <p:cNvPr id="12" name="Z table 1-1"/>
          <p:cNvSpPr/>
          <p:nvPr/>
        </p:nvSpPr>
        <p:spPr>
          <a:xfrm>
            <a:off x="457200" y="1920240"/>
            <a:ext cx="2350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Z table text 1-1"/>
          <p:cNvSpPr txBox="1"/>
          <p:nvPr/>
        </p:nvSpPr>
        <p:spPr>
          <a:xfrm>
            <a:off x="548640" y="1920240"/>
            <a:ext cx="2167128" cy="411480"/>
          </a:xfrm>
          <a:prstGeom prst="rect">
            <a:avLst/>
          </a:prstGeom>
          <a:noFill/>
        </p:spPr>
        <p:txBody>
          <a:bodyPr wrap="square" lIns="0" rIns="0" tIns="0" bIns="0" anchor="ctr">
            <a:noAutofit/>
          </a:bodyPr>
          <a:lstStyle/>
          <a:p>
            <a:pPr algn="l">
              <a:spcAft>
                <a:spcPts val="400"/>
              </a:spcAft>
            </a:pPr>
            <a:r>
              <a:rPr sz="1250" b="1" lang="en-GB">
                <a:solidFill>
                  <a:schemeClr val="bg1"/>
                </a:solidFill>
              </a:rPr>
              <a:t>Kiosk</a:t>
            </a:r>
          </a:p>
        </p:txBody>
      </p:sp>
      <p:sp>
        <p:nvSpPr>
          <p:cNvPr id="14" name="Z table 1-2"/>
          <p:cNvSpPr/>
          <p:nvPr/>
        </p:nvSpPr>
        <p:spPr>
          <a:xfrm>
            <a:off x="2834640" y="1920240"/>
            <a:ext cx="152704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Z table text 1-2"/>
          <p:cNvSpPr txBox="1"/>
          <p:nvPr/>
        </p:nvSpPr>
        <p:spPr>
          <a:xfrm>
            <a:off x="2926080" y="1920240"/>
            <a:ext cx="134416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Bars this week</a:t>
            </a:r>
          </a:p>
        </p:txBody>
      </p:sp>
      <p:sp>
        <p:nvSpPr>
          <p:cNvPr id="16" name="Z table 1-3"/>
          <p:cNvSpPr/>
          <p:nvPr/>
        </p:nvSpPr>
        <p:spPr>
          <a:xfrm>
            <a:off x="4389120" y="1920240"/>
            <a:ext cx="12527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Z table text 1-3"/>
          <p:cNvSpPr txBox="1"/>
          <p:nvPr/>
        </p:nvSpPr>
        <p:spPr>
          <a:xfrm>
            <a:off x="4480560" y="1920240"/>
            <a:ext cx="10698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Mean</a:t>
            </a:r>
          </a:p>
        </p:txBody>
      </p:sp>
      <p:sp>
        <p:nvSpPr>
          <p:cNvPr id="18" name="Z table 1-4"/>
          <p:cNvSpPr/>
          <p:nvPr/>
        </p:nvSpPr>
        <p:spPr>
          <a:xfrm>
            <a:off x="5669280" y="1920240"/>
            <a:ext cx="12527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Z table text 1-4"/>
          <p:cNvSpPr txBox="1"/>
          <p:nvPr/>
        </p:nvSpPr>
        <p:spPr>
          <a:xfrm>
            <a:off x="5760720" y="1920240"/>
            <a:ext cx="10698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sd</a:t>
            </a:r>
          </a:p>
        </p:txBody>
      </p:sp>
      <p:sp>
        <p:nvSpPr>
          <p:cNvPr id="20" name="Z table 1-5"/>
          <p:cNvSpPr/>
          <p:nvPr/>
        </p:nvSpPr>
        <p:spPr>
          <a:xfrm>
            <a:off x="6949440" y="1920240"/>
            <a:ext cx="170992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Z table text 1-5"/>
          <p:cNvSpPr txBox="1"/>
          <p:nvPr/>
        </p:nvSpPr>
        <p:spPr>
          <a:xfrm>
            <a:off x="7040880" y="1920240"/>
            <a:ext cx="1527048" cy="411480"/>
          </a:xfrm>
          <a:prstGeom prst="rect">
            <a:avLst/>
          </a:prstGeom>
          <a:noFill/>
        </p:spPr>
        <p:txBody>
          <a:bodyPr wrap="square" lIns="0" rIns="0" tIns="0" bIns="0" anchor="ctr">
            <a:noAutofit/>
          </a:bodyPr>
          <a:lstStyle/>
          <a:p>
            <a:pPr algn="r">
              <a:spcAft>
                <a:spcPts val="400"/>
              </a:spcAft>
            </a:pPr>
            <a:r>
              <a:rPr sz="1250" b="1" lang="en-GB">
                <a:solidFill>
                  <a:schemeClr val="bg1"/>
                </a:solidFill>
              </a:rPr>
              <a:t>z</a:t>
            </a:r>
          </a:p>
        </p:txBody>
      </p:sp>
      <p:sp>
        <p:nvSpPr>
          <p:cNvPr id="22" name="Z table 2-1"/>
          <p:cNvSpPr/>
          <p:nvPr/>
        </p:nvSpPr>
        <p:spPr>
          <a:xfrm>
            <a:off x="457200" y="2359152"/>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Z table text 2-1"/>
          <p:cNvSpPr txBox="1"/>
          <p:nvPr/>
        </p:nvSpPr>
        <p:spPr>
          <a:xfrm>
            <a:off x="548640" y="2359152"/>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Vienna</a:t>
            </a:r>
          </a:p>
        </p:txBody>
      </p:sp>
      <p:sp>
        <p:nvSpPr>
          <p:cNvPr id="24" name="Z table 2-2"/>
          <p:cNvSpPr/>
          <p:nvPr/>
        </p:nvSpPr>
        <p:spPr>
          <a:xfrm>
            <a:off x="2834640" y="2359152"/>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Z table text 2-2"/>
          <p:cNvSpPr txBox="1"/>
          <p:nvPr/>
        </p:nvSpPr>
        <p:spPr>
          <a:xfrm>
            <a:off x="2926080" y="2359152"/>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140</a:t>
            </a:r>
          </a:p>
        </p:txBody>
      </p:sp>
      <p:sp>
        <p:nvSpPr>
          <p:cNvPr id="26" name="Z table 2-3"/>
          <p:cNvSpPr/>
          <p:nvPr/>
        </p:nvSpPr>
        <p:spPr>
          <a:xfrm>
            <a:off x="4389120" y="2359152"/>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 table text 2-3"/>
          <p:cNvSpPr txBox="1"/>
          <p:nvPr/>
        </p:nvSpPr>
        <p:spPr>
          <a:xfrm>
            <a:off x="4480560" y="2359152"/>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120</a:t>
            </a:r>
          </a:p>
        </p:txBody>
      </p:sp>
      <p:sp>
        <p:nvSpPr>
          <p:cNvPr id="28" name="Z table 2-4"/>
          <p:cNvSpPr/>
          <p:nvPr/>
        </p:nvSpPr>
        <p:spPr>
          <a:xfrm>
            <a:off x="5669280" y="2359152"/>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Z table text 2-4"/>
          <p:cNvSpPr txBox="1"/>
          <p:nvPr/>
        </p:nvSpPr>
        <p:spPr>
          <a:xfrm>
            <a:off x="5760720" y="2359152"/>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30" name="Z table 2-5"/>
          <p:cNvSpPr/>
          <p:nvPr/>
        </p:nvSpPr>
        <p:spPr>
          <a:xfrm>
            <a:off x="6949440" y="2359152"/>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Z table text 2-5"/>
          <p:cNvSpPr txBox="1"/>
          <p:nvPr/>
        </p:nvSpPr>
        <p:spPr>
          <a:xfrm>
            <a:off x="7040880" y="2359152"/>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+2.0</a:t>
            </a:r>
          </a:p>
        </p:txBody>
      </p:sp>
      <p:sp>
        <p:nvSpPr>
          <p:cNvPr id="32" name="Z table 3-1"/>
          <p:cNvSpPr/>
          <p:nvPr/>
        </p:nvSpPr>
        <p:spPr>
          <a:xfrm>
            <a:off x="457200" y="2798064"/>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table text 3-1"/>
          <p:cNvSpPr txBox="1"/>
          <p:nvPr/>
        </p:nvSpPr>
        <p:spPr>
          <a:xfrm>
            <a:off x="548640" y="2798064"/>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Graz</a:t>
            </a:r>
          </a:p>
        </p:txBody>
      </p:sp>
      <p:sp>
        <p:nvSpPr>
          <p:cNvPr id="34" name="Z table 3-2"/>
          <p:cNvSpPr/>
          <p:nvPr/>
        </p:nvSpPr>
        <p:spPr>
          <a:xfrm>
            <a:off x="2834640" y="2798064"/>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Z table text 3-2"/>
          <p:cNvSpPr txBox="1"/>
          <p:nvPr/>
        </p:nvSpPr>
        <p:spPr>
          <a:xfrm>
            <a:off x="2926080" y="2798064"/>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75</a:t>
            </a:r>
          </a:p>
        </p:txBody>
      </p:sp>
      <p:sp>
        <p:nvSpPr>
          <p:cNvPr id="36" name="Z table 3-3"/>
          <p:cNvSpPr/>
          <p:nvPr/>
        </p:nvSpPr>
        <p:spPr>
          <a:xfrm>
            <a:off x="4389120" y="2798064"/>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Z table text 3-3"/>
          <p:cNvSpPr txBox="1"/>
          <p:nvPr/>
        </p:nvSpPr>
        <p:spPr>
          <a:xfrm>
            <a:off x="4480560" y="2798064"/>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60</a:t>
            </a:r>
          </a:p>
        </p:txBody>
      </p:sp>
      <p:sp>
        <p:nvSpPr>
          <p:cNvPr id="38" name="Z table 3-4"/>
          <p:cNvSpPr/>
          <p:nvPr/>
        </p:nvSpPr>
        <p:spPr>
          <a:xfrm>
            <a:off x="5669280" y="2798064"/>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Z table text 3-4"/>
          <p:cNvSpPr txBox="1"/>
          <p:nvPr/>
        </p:nvSpPr>
        <p:spPr>
          <a:xfrm>
            <a:off x="5760720" y="2798064"/>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15</a:t>
            </a:r>
          </a:p>
        </p:txBody>
      </p:sp>
      <p:sp>
        <p:nvSpPr>
          <p:cNvPr id="40" name="Z table 3-5"/>
          <p:cNvSpPr/>
          <p:nvPr/>
        </p:nvSpPr>
        <p:spPr>
          <a:xfrm>
            <a:off x="6949440" y="2798064"/>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Z table text 3-5"/>
          <p:cNvSpPr txBox="1"/>
          <p:nvPr/>
        </p:nvSpPr>
        <p:spPr>
          <a:xfrm>
            <a:off x="7040880" y="2798064"/>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42" name="Z table 4-1"/>
          <p:cNvSpPr/>
          <p:nvPr/>
        </p:nvSpPr>
        <p:spPr>
          <a:xfrm>
            <a:off x="457200" y="3236976"/>
            <a:ext cx="235000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Z table text 4-1"/>
          <p:cNvSpPr txBox="1"/>
          <p:nvPr/>
        </p:nvSpPr>
        <p:spPr>
          <a:xfrm>
            <a:off x="548640" y="3236976"/>
            <a:ext cx="2167128" cy="411480"/>
          </a:xfrm>
          <a:prstGeom prst="rect">
            <a:avLst/>
          </a:prstGeom>
          <a:noFill/>
        </p:spPr>
        <p:txBody>
          <a:bodyPr wrap="square" lIns="0" rIns="0" tIns="0" bIns="0" anchor="ctr">
            <a:noAutofit/>
          </a:bodyPr>
          <a:lstStyle/>
          <a:p>
            <a:pPr algn="l">
              <a:spcAft>
                <a:spcPts val="400"/>
              </a:spcAft>
            </a:pPr>
            <a:r>
              <a:rPr sz="1250" b="1" lang="en-GB">
                <a:solidFill>
                  <a:schemeClr val="tx2"/>
                </a:solidFill>
              </a:rPr>
              <a:t>Our kiosk, week 5</a:t>
            </a:r>
          </a:p>
        </p:txBody>
      </p:sp>
      <p:sp>
        <p:nvSpPr>
          <p:cNvPr id="44" name="Z table 4-2"/>
          <p:cNvSpPr/>
          <p:nvPr/>
        </p:nvSpPr>
        <p:spPr>
          <a:xfrm>
            <a:off x="2834640" y="3236976"/>
            <a:ext cx="152704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Z table text 4-2"/>
          <p:cNvSpPr txBox="1"/>
          <p:nvPr/>
        </p:nvSpPr>
        <p:spPr>
          <a:xfrm>
            <a:off x="2926080" y="3236976"/>
            <a:ext cx="134416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40</a:t>
            </a:r>
          </a:p>
        </p:txBody>
      </p:sp>
      <p:sp>
        <p:nvSpPr>
          <p:cNvPr id="46" name="Z table 4-3"/>
          <p:cNvSpPr/>
          <p:nvPr/>
        </p:nvSpPr>
        <p:spPr>
          <a:xfrm>
            <a:off x="4389120" y="3236976"/>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Z table text 4-3"/>
          <p:cNvSpPr txBox="1"/>
          <p:nvPr/>
        </p:nvSpPr>
        <p:spPr>
          <a:xfrm>
            <a:off x="4480560" y="3236976"/>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80</a:t>
            </a:r>
          </a:p>
        </p:txBody>
      </p:sp>
      <p:sp>
        <p:nvSpPr>
          <p:cNvPr id="48" name="Z table 4-4"/>
          <p:cNvSpPr/>
          <p:nvPr/>
        </p:nvSpPr>
        <p:spPr>
          <a:xfrm>
            <a:off x="5669280" y="3236976"/>
            <a:ext cx="12527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Z table text 4-4"/>
          <p:cNvSpPr txBox="1"/>
          <p:nvPr/>
        </p:nvSpPr>
        <p:spPr>
          <a:xfrm>
            <a:off x="5760720" y="3236976"/>
            <a:ext cx="10698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27.4</a:t>
            </a:r>
          </a:p>
        </p:txBody>
      </p:sp>
      <p:sp>
        <p:nvSpPr>
          <p:cNvPr id="50" name="Z table 4-5"/>
          <p:cNvSpPr/>
          <p:nvPr/>
        </p:nvSpPr>
        <p:spPr>
          <a:xfrm>
            <a:off x="6949440" y="3236976"/>
            <a:ext cx="1709928"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Z table text 4-5"/>
          <p:cNvSpPr txBox="1"/>
          <p:nvPr/>
        </p:nvSpPr>
        <p:spPr>
          <a:xfrm>
            <a:off x="7040880" y="3236976"/>
            <a:ext cx="1527048" cy="411480"/>
          </a:xfrm>
          <a:prstGeom prst="rect">
            <a:avLst/>
          </a:prstGeom>
          <a:noFill/>
        </p:spPr>
        <p:txBody>
          <a:bodyPr wrap="square" lIns="0" rIns="0" tIns="0" bIns="0" anchor="ctr">
            <a:noAutofit/>
          </a:bodyPr>
          <a:lstStyle/>
          <a:p>
            <a:pPr algn="r">
              <a:spcAft>
                <a:spcPts val="400"/>
              </a:spcAft>
            </a:pPr>
            <a:r>
              <a:rPr sz="1250" b="0" lang="en-GB">
                <a:solidFill>
                  <a:schemeClr val="tx1"/>
                </a:solidFill>
              </a:rPr>
              <a:t>−1.46</a:t>
            </a:r>
          </a:p>
        </p:txBody>
      </p:sp>
      <p:sp>
        <p:nvSpPr>
          <p:cNvPr id="52" name="Z read box"/>
          <p:cNvSpPr/>
          <p:nvPr/>
        </p:nvSpPr>
        <p:spPr>
          <a:xfrm>
            <a:off x="457200" y="37490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Icon Z read" descr=""/>
          <p:cNvPicPr>
            <a:picLocks noChangeAspect="1"/>
          </p:cNvPicPr>
          <p:nvPr/>
        </p:nvPicPr>
        <p:blipFill>
          <a:blip r:embed="rId3"/>
          <a:stretch>
            <a:fillRect/>
          </a:stretch>
        </p:blipFill>
        <p:spPr>
          <a:xfrm>
            <a:off x="658368" y="3909060"/>
            <a:ext cx="365760" cy="365760"/>
          </a:xfrm>
          <a:prstGeom prst="rect">
            <a:avLst/>
          </a:prstGeom>
        </p:spPr>
      </p:pic>
      <p:sp>
        <p:nvSpPr>
          <p:cNvPr id="54" name="Z read text"/>
          <p:cNvSpPr txBox="1"/>
          <p:nvPr/>
        </p:nvSpPr>
        <p:spPr>
          <a:xfrm>
            <a:off x="1207008" y="374904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Read it: </a:t>
            </a:r>
            <a:r>
              <a:rPr sz="1300" b="0" lang="en-GB">
                <a:solidFill>
                  <a:schemeClr val="bg1"/>
                </a:solidFill>
              </a:rPr>
              <a:t>Vienna's week lies 2 standard deviations above normal, Graz's only 1: Vienna's week was the more unusual one.</a:t>
            </a:r>
          </a:p>
        </p:txBody>
      </p:sp>
      <p:sp>
        <p:nvSpPr>
          <p:cNvPr id="55" name="Z use"/>
          <p:cNvSpPr txBox="1"/>
          <p:nvPr/>
        </p:nvSpPr>
        <p:spPr>
          <a:xfrm>
            <a:off x="457200" y="452628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Use: </a:t>
            </a:r>
            <a:r>
              <a:rPr sz="1200" b="0" lang="en-GB">
                <a:solidFill>
                  <a:schemeClr val="tx1"/>
                </a:solidFill>
              </a:rPr>
              <a:t>compare across stores, countries or units; spot outliers (|z| &gt; 3); standardised coefficients.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normal distribution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normal.png" descr="Bell curve of bar weights centred at 100 g; the band from 98 to 102 g shaded dark (68 %), from 96 to 104 g light (95 %)"/>
          <p:cNvPicPr>
            <a:picLocks noChangeAspect="1"/>
          </p:cNvPicPr>
          <p:nvPr/>
        </p:nvPicPr>
        <p:blipFill>
          <a:blip r:embed="rId3"/>
          <a:stretch>
            <a:fillRect/>
          </a:stretch>
        </p:blipFill>
        <p:spPr>
          <a:xfrm>
            <a:off x="457200" y="1234440"/>
            <a:ext cx="4206240" cy="2743200"/>
          </a:xfrm>
          <a:prstGeom prst="rect">
            <a:avLst/>
          </a:prstGeom>
        </p:spPr>
      </p:pic>
      <p:sp>
        <p:nvSpPr>
          <p:cNvPr id="11" name="Rule box 1"/>
          <p:cNvSpPr/>
          <p:nvPr/>
        </p:nvSpPr>
        <p:spPr>
          <a:xfrm>
            <a:off x="4800600" y="1234440"/>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ule stat 1 bar"/>
          <p:cNvSpPr/>
          <p:nvPr/>
        </p:nvSpPr>
        <p:spPr>
          <a:xfrm>
            <a:off x="48006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ule stat 1 figure"/>
          <p:cNvSpPr txBox="1"/>
          <p:nvPr/>
        </p:nvSpPr>
        <p:spPr>
          <a:xfrm>
            <a:off x="4983480" y="1234440"/>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68 %</a:t>
            </a:r>
          </a:p>
        </p:txBody>
      </p:sp>
      <p:sp>
        <p:nvSpPr>
          <p:cNvPr id="14" name="Rule stat 1 label"/>
          <p:cNvSpPr txBox="1"/>
          <p:nvPr/>
        </p:nvSpPr>
        <p:spPr>
          <a:xfrm>
            <a:off x="6629400" y="1234440"/>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±1 sd: 98 to 102 g</a:t>
            </a:r>
          </a:p>
        </p:txBody>
      </p:sp>
      <p:sp>
        <p:nvSpPr>
          <p:cNvPr id="15" name="Rule box 2"/>
          <p:cNvSpPr/>
          <p:nvPr/>
        </p:nvSpPr>
        <p:spPr>
          <a:xfrm>
            <a:off x="4800600" y="2039112"/>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 stat 2 bar"/>
          <p:cNvSpPr/>
          <p:nvPr/>
        </p:nvSpPr>
        <p:spPr>
          <a:xfrm>
            <a:off x="4800600" y="203911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 stat 2 figure"/>
          <p:cNvSpPr txBox="1"/>
          <p:nvPr/>
        </p:nvSpPr>
        <p:spPr>
          <a:xfrm>
            <a:off x="4983480" y="2039112"/>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95 %</a:t>
            </a:r>
          </a:p>
        </p:txBody>
      </p:sp>
      <p:sp>
        <p:nvSpPr>
          <p:cNvPr id="18" name="Rule stat 2 label"/>
          <p:cNvSpPr txBox="1"/>
          <p:nvPr/>
        </p:nvSpPr>
        <p:spPr>
          <a:xfrm>
            <a:off x="6629400" y="2039112"/>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±2 sd: 96 to 104 g</a:t>
            </a:r>
          </a:p>
        </p:txBody>
      </p:sp>
      <p:sp>
        <p:nvSpPr>
          <p:cNvPr id="19" name="Rule box 3"/>
          <p:cNvSpPr/>
          <p:nvPr/>
        </p:nvSpPr>
        <p:spPr>
          <a:xfrm>
            <a:off x="4800600" y="2843784"/>
            <a:ext cx="38862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ule stat 3 bar"/>
          <p:cNvSpPr/>
          <p:nvPr/>
        </p:nvSpPr>
        <p:spPr>
          <a:xfrm>
            <a:off x="4800600" y="284378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ule stat 3 figure"/>
          <p:cNvSpPr txBox="1"/>
          <p:nvPr/>
        </p:nvSpPr>
        <p:spPr>
          <a:xfrm>
            <a:off x="4983480" y="2843784"/>
            <a:ext cx="164592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99.7 %</a:t>
            </a:r>
          </a:p>
        </p:txBody>
      </p:sp>
      <p:sp>
        <p:nvSpPr>
          <p:cNvPr id="22" name="Rule stat 3 label"/>
          <p:cNvSpPr txBox="1"/>
          <p:nvPr/>
        </p:nvSpPr>
        <p:spPr>
          <a:xfrm>
            <a:off x="6629400" y="2843784"/>
            <a:ext cx="20116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within ±3 sd: 94 to 106 g</a:t>
            </a:r>
          </a:p>
        </p:txBody>
      </p:sp>
      <p:sp>
        <p:nvSpPr>
          <p:cNvPr id="23" name="Normal why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Normal why" descr=""/>
          <p:cNvPicPr>
            <a:picLocks noChangeAspect="1"/>
          </p:cNvPicPr>
          <p:nvPr/>
        </p:nvPicPr>
        <p:blipFill>
          <a:blip r:embed="rId4"/>
          <a:stretch>
            <a:fillRect/>
          </a:stretch>
        </p:blipFill>
        <p:spPr>
          <a:xfrm>
            <a:off x="658368" y="4274820"/>
            <a:ext cx="365760" cy="365760"/>
          </a:xfrm>
          <a:prstGeom prst="rect">
            <a:avLst/>
          </a:prstGeom>
        </p:spPr>
      </p:pic>
      <p:sp>
        <p:nvSpPr>
          <p:cNvPr id="25" name="Normal why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Why it matters: </a:t>
            </a:r>
            <a:r>
              <a:rPr sz="1200" b="0" lang="en-GB">
                <a:solidFill>
                  <a:schemeClr val="bg1"/>
                </a:solidFill>
              </a:rPr>
              <a:t>averages and regression coefficients are approximately normal (central limit theorem), so we can test them.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standard normal distribution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std_normal.png" descr="Standard normal curve from -3.5 to 3.5 with both tails beyond 1.96 shaded, each labelled 2.5 %, the centre 95 %"/>
          <p:cNvPicPr>
            <a:picLocks noChangeAspect="1"/>
          </p:cNvPicPr>
          <p:nvPr/>
        </p:nvPicPr>
        <p:blipFill>
          <a:blip r:embed="rId3"/>
          <a:stretch>
            <a:fillRect/>
          </a:stretch>
        </p:blipFill>
        <p:spPr>
          <a:xfrm>
            <a:off x="457200" y="1234440"/>
            <a:ext cx="4206240" cy="2743200"/>
          </a:xfrm>
          <a:prstGeom prst="rect">
            <a:avLst/>
          </a:prstGeom>
        </p:spPr>
      </p:pic>
      <p:sp>
        <p:nvSpPr>
          <p:cNvPr id="11" name="Z share 1-1"/>
          <p:cNvSpPr/>
          <p:nvPr/>
        </p:nvSpPr>
        <p:spPr>
          <a:xfrm>
            <a:off x="4800600" y="1234440"/>
            <a:ext cx="14356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Z share text 1-1"/>
          <p:cNvSpPr txBox="1"/>
          <p:nvPr/>
        </p:nvSpPr>
        <p:spPr>
          <a:xfrm>
            <a:off x="4892040" y="1234440"/>
            <a:ext cx="1252728" cy="365760"/>
          </a:xfrm>
          <a:prstGeom prst="rect">
            <a:avLst/>
          </a:prstGeom>
          <a:noFill/>
        </p:spPr>
        <p:txBody>
          <a:bodyPr wrap="square" lIns="0" rIns="0" tIns="0" bIns="0" anchor="ctr">
            <a:noAutofit/>
          </a:bodyPr>
          <a:lstStyle/>
          <a:p>
            <a:pPr algn="l">
              <a:spcAft>
                <a:spcPts val="400"/>
              </a:spcAft>
            </a:pPr>
            <a:r>
              <a:rPr sz="1250" b="1" lang="en-GB">
                <a:solidFill>
                  <a:schemeClr val="bg1"/>
                </a:solidFill>
              </a:rPr>
              <a:t>z</a:t>
            </a:r>
          </a:p>
        </p:txBody>
      </p:sp>
      <p:sp>
        <p:nvSpPr>
          <p:cNvPr id="13" name="Z share 1-2"/>
          <p:cNvSpPr/>
          <p:nvPr/>
        </p:nvSpPr>
        <p:spPr>
          <a:xfrm>
            <a:off x="6263640" y="1234440"/>
            <a:ext cx="235000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Z share text 1-2"/>
          <p:cNvSpPr txBox="1"/>
          <p:nvPr/>
        </p:nvSpPr>
        <p:spPr>
          <a:xfrm>
            <a:off x="6355080" y="1234440"/>
            <a:ext cx="2167128" cy="365760"/>
          </a:xfrm>
          <a:prstGeom prst="rect">
            <a:avLst/>
          </a:prstGeom>
          <a:noFill/>
        </p:spPr>
        <p:txBody>
          <a:bodyPr wrap="square" lIns="0" rIns="0" tIns="0" bIns="0" anchor="ctr">
            <a:noAutofit/>
          </a:bodyPr>
          <a:lstStyle/>
          <a:p>
            <a:pPr algn="r">
              <a:spcAft>
                <a:spcPts val="400"/>
              </a:spcAft>
            </a:pPr>
            <a:r>
              <a:rPr sz="1250" b="1" lang="en-GB">
                <a:solidFill>
                  <a:schemeClr val="bg1"/>
                </a:solidFill>
              </a:rPr>
              <a:t>share below z</a:t>
            </a:r>
          </a:p>
        </p:txBody>
      </p:sp>
      <p:sp>
        <p:nvSpPr>
          <p:cNvPr id="15" name="Z share 2-1"/>
          <p:cNvSpPr/>
          <p:nvPr/>
        </p:nvSpPr>
        <p:spPr>
          <a:xfrm>
            <a:off x="4800600" y="1627632"/>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Z share text 2-1"/>
          <p:cNvSpPr txBox="1"/>
          <p:nvPr/>
        </p:nvSpPr>
        <p:spPr>
          <a:xfrm>
            <a:off x="4892040" y="1627632"/>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1.00</a:t>
            </a:r>
          </a:p>
        </p:txBody>
      </p:sp>
      <p:sp>
        <p:nvSpPr>
          <p:cNvPr id="17" name="Z share 2-2"/>
          <p:cNvSpPr/>
          <p:nvPr/>
        </p:nvSpPr>
        <p:spPr>
          <a:xfrm>
            <a:off x="6263640" y="1627632"/>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Z share text 2-2"/>
          <p:cNvSpPr txBox="1"/>
          <p:nvPr/>
        </p:nvSpPr>
        <p:spPr>
          <a:xfrm>
            <a:off x="6355080" y="1627632"/>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84.1 %</a:t>
            </a:r>
          </a:p>
        </p:txBody>
      </p:sp>
      <p:sp>
        <p:nvSpPr>
          <p:cNvPr id="19" name="Z share 3-1"/>
          <p:cNvSpPr/>
          <p:nvPr/>
        </p:nvSpPr>
        <p:spPr>
          <a:xfrm>
            <a:off x="4800600" y="2020824"/>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Z share text 3-1"/>
          <p:cNvSpPr txBox="1"/>
          <p:nvPr/>
        </p:nvSpPr>
        <p:spPr>
          <a:xfrm>
            <a:off x="4892040" y="2020824"/>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1.645</a:t>
            </a:r>
          </a:p>
        </p:txBody>
      </p:sp>
      <p:sp>
        <p:nvSpPr>
          <p:cNvPr id="21" name="Z share 3-2"/>
          <p:cNvSpPr/>
          <p:nvPr/>
        </p:nvSpPr>
        <p:spPr>
          <a:xfrm>
            <a:off x="6263640" y="2020824"/>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Z share text 3-2"/>
          <p:cNvSpPr txBox="1"/>
          <p:nvPr/>
        </p:nvSpPr>
        <p:spPr>
          <a:xfrm>
            <a:off x="6355080" y="2020824"/>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95.0 %</a:t>
            </a:r>
          </a:p>
        </p:txBody>
      </p:sp>
      <p:sp>
        <p:nvSpPr>
          <p:cNvPr id="23" name="Z share 4-1"/>
          <p:cNvSpPr/>
          <p:nvPr/>
        </p:nvSpPr>
        <p:spPr>
          <a:xfrm>
            <a:off x="4800600" y="2414016"/>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Z share text 4-1"/>
          <p:cNvSpPr txBox="1"/>
          <p:nvPr/>
        </p:nvSpPr>
        <p:spPr>
          <a:xfrm>
            <a:off x="4892040" y="2414016"/>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1.96</a:t>
            </a:r>
          </a:p>
        </p:txBody>
      </p:sp>
      <p:sp>
        <p:nvSpPr>
          <p:cNvPr id="25" name="Z share 4-2"/>
          <p:cNvSpPr/>
          <p:nvPr/>
        </p:nvSpPr>
        <p:spPr>
          <a:xfrm>
            <a:off x="6263640" y="2414016"/>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Z share text 4-2"/>
          <p:cNvSpPr txBox="1"/>
          <p:nvPr/>
        </p:nvSpPr>
        <p:spPr>
          <a:xfrm>
            <a:off x="6355080" y="2414016"/>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97.5 %</a:t>
            </a:r>
          </a:p>
        </p:txBody>
      </p:sp>
      <p:sp>
        <p:nvSpPr>
          <p:cNvPr id="27" name="Z share 5-1"/>
          <p:cNvSpPr/>
          <p:nvPr/>
        </p:nvSpPr>
        <p:spPr>
          <a:xfrm>
            <a:off x="4800600" y="2807208"/>
            <a:ext cx="14356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Z share text 5-1"/>
          <p:cNvSpPr txBox="1"/>
          <p:nvPr/>
        </p:nvSpPr>
        <p:spPr>
          <a:xfrm>
            <a:off x="4892040" y="2807208"/>
            <a:ext cx="1252728" cy="365760"/>
          </a:xfrm>
          <a:prstGeom prst="rect">
            <a:avLst/>
          </a:prstGeom>
          <a:noFill/>
        </p:spPr>
        <p:txBody>
          <a:bodyPr wrap="square" lIns="0" rIns="0" tIns="0" bIns="0" anchor="ctr">
            <a:noAutofit/>
          </a:bodyPr>
          <a:lstStyle/>
          <a:p>
            <a:pPr algn="l">
              <a:spcAft>
                <a:spcPts val="400"/>
              </a:spcAft>
            </a:pPr>
            <a:r>
              <a:rPr sz="1250" b="1" lang="en-GB">
                <a:solidFill>
                  <a:schemeClr val="tx2"/>
                </a:solidFill>
              </a:rPr>
              <a:t>2.576</a:t>
            </a:r>
          </a:p>
        </p:txBody>
      </p:sp>
      <p:sp>
        <p:nvSpPr>
          <p:cNvPr id="29" name="Z share 5-2"/>
          <p:cNvSpPr/>
          <p:nvPr/>
        </p:nvSpPr>
        <p:spPr>
          <a:xfrm>
            <a:off x="6263640" y="2807208"/>
            <a:ext cx="235000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Z share text 5-2"/>
          <p:cNvSpPr txBox="1"/>
          <p:nvPr/>
        </p:nvSpPr>
        <p:spPr>
          <a:xfrm>
            <a:off x="6355080" y="2807208"/>
            <a:ext cx="2167128" cy="365760"/>
          </a:xfrm>
          <a:prstGeom prst="rect">
            <a:avLst/>
          </a:prstGeom>
          <a:noFill/>
        </p:spPr>
        <p:txBody>
          <a:bodyPr wrap="square" lIns="0" rIns="0" tIns="0" bIns="0" anchor="ctr">
            <a:noAutofit/>
          </a:bodyPr>
          <a:lstStyle/>
          <a:p>
            <a:pPr algn="r">
              <a:spcAft>
                <a:spcPts val="400"/>
              </a:spcAft>
            </a:pPr>
            <a:r>
              <a:rPr sz="1250" b="0" lang="en-GB">
                <a:solidFill>
                  <a:schemeClr val="tx1"/>
                </a:solidFill>
              </a:rPr>
              <a:t>99.5 %</a:t>
            </a:r>
          </a:p>
        </p:txBody>
      </p:sp>
      <p:sp>
        <p:nvSpPr>
          <p:cNvPr id="31" name="Z worked box"/>
          <p:cNvSpPr/>
          <p:nvPr/>
        </p:nvSpPr>
        <p:spPr>
          <a:xfrm>
            <a:off x="4800600" y="3200400"/>
            <a:ext cx="3886200" cy="777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Z worked bar"/>
          <p:cNvSpPr/>
          <p:nvPr/>
        </p:nvSpPr>
        <p:spPr>
          <a:xfrm>
            <a:off x="4800600" y="320040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worked"/>
          <p:cNvSpPr txBox="1"/>
          <p:nvPr/>
        </p:nvSpPr>
        <p:spPr>
          <a:xfrm>
            <a:off x="4983480" y="3200400"/>
            <a:ext cx="3657600" cy="777240"/>
          </a:xfrm>
          <a:prstGeom prst="rect">
            <a:avLst/>
          </a:prstGeom>
          <a:noFill/>
        </p:spPr>
        <p:txBody>
          <a:bodyPr wrap="square" lIns="0" rIns="0" tIns="0" bIns="0" anchor="ctr">
            <a:noAutofit/>
          </a:bodyPr>
          <a:lstStyle/>
          <a:p>
            <a:pPr algn="l">
              <a:spcAft>
                <a:spcPts val="400"/>
              </a:spcAft>
            </a:pPr>
            <a:r>
              <a:rPr sz="1200" b="1" lang="en-GB">
                <a:solidFill>
                  <a:schemeClr val="tx2"/>
                </a:solidFill>
              </a:rPr>
              <a:t>Bars under 97 g? </a:t>
            </a:r>
            <a:r>
              <a:rPr sz="1200" b="0" lang="en-GB">
                <a:solidFill>
                  <a:schemeClr val="tx1"/>
                </a:solidFill>
              </a:rPr>
              <a:t>z = (97 − 100) / 2 = −1.5, so 6.7 % of all bars</a:t>
            </a:r>
          </a:p>
        </p:txBody>
      </p:sp>
      <p:sp>
        <p:nvSpPr>
          <p:cNvPr id="34" name="Z196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Z196" descr=""/>
          <p:cNvPicPr>
            <a:picLocks noChangeAspect="1"/>
          </p:cNvPicPr>
          <p:nvPr/>
        </p:nvPicPr>
        <p:blipFill>
          <a:blip r:embed="rId4"/>
          <a:stretch>
            <a:fillRect/>
          </a:stretch>
        </p:blipFill>
        <p:spPr>
          <a:xfrm>
            <a:off x="658368" y="4297680"/>
            <a:ext cx="365760" cy="365760"/>
          </a:xfrm>
          <a:prstGeom prst="rect">
            <a:avLst/>
          </a:prstGeom>
        </p:spPr>
      </p:pic>
      <p:sp>
        <p:nvSpPr>
          <p:cNvPr id="36" name="Z196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1.96: </a:t>
            </a:r>
            <a:r>
              <a:rPr sz="1200" b="0" lang="en-GB">
                <a:solidFill>
                  <a:schemeClr val="bg1"/>
                </a:solidFill>
              </a:rPr>
              <a:t>the number behind 95 % confidence intervals and two-sided tests at 5 %.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11 · do two variables move together, and how strongly?</a:t>
            </a:r>
          </a:p>
        </p:txBody>
      </p:sp>
      <p:sp>
        <p:nvSpPr>
          <p:cNvPr id="3" name="Title 2"/>
          <p:cNvSpPr>
            <a:spLocks noGrp="1"/>
          </p:cNvSpPr>
          <p:nvPr>
            <p:ph type="ctrTitle"/>
          </p:nvPr>
        </p:nvSpPr>
        <p:spPr/>
        <p:txBody>
          <a:bodyPr/>
          <a:lstStyle/>
          <a:p>
            <a:r>
              <a:rPr sz="1600" lang="en-GB"/>
              <a:t>Covariance and correlation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Covariance: do price and sales move together?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f_quadrants.png" descr="Scatter plot of the five weeks, price against bars sold, split by dashed lines at the means (3.00 EUR and 80 bars); the points lie in the top-left and bottom-right quadrants, where the product of deviations is negative"/>
          <p:cNvPicPr>
            <a:picLocks noChangeAspect="1"/>
          </p:cNvPicPr>
          <p:nvPr/>
        </p:nvPicPr>
        <p:blipFill>
          <a:blip r:embed="rId3"/>
          <a:stretch>
            <a:fillRect/>
          </a:stretch>
        </p:blipFill>
        <p:spPr>
          <a:xfrm>
            <a:off x="457200" y="1234440"/>
            <a:ext cx="4023360" cy="2798064"/>
          </a:xfrm>
          <a:prstGeom prst="rect">
            <a:avLst/>
          </a:prstGeom>
        </p:spPr>
      </p:pic>
      <p:sp>
        <p:nvSpPr>
          <p:cNvPr id="11" name="Cov table 1-1"/>
          <p:cNvSpPr/>
          <p:nvPr/>
        </p:nvSpPr>
        <p:spPr>
          <a:xfrm>
            <a:off x="4617720" y="1234440"/>
            <a:ext cx="84124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v table text 1-1"/>
          <p:cNvSpPr txBox="1"/>
          <p:nvPr/>
        </p:nvSpPr>
        <p:spPr>
          <a:xfrm>
            <a:off x="4709160" y="1234440"/>
            <a:ext cx="65836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3" name="Cov table 1-2"/>
          <p:cNvSpPr/>
          <p:nvPr/>
        </p:nvSpPr>
        <p:spPr>
          <a:xfrm>
            <a:off x="5486400" y="1234440"/>
            <a:ext cx="978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v table text 1-2"/>
          <p:cNvSpPr txBox="1"/>
          <p:nvPr/>
        </p:nvSpPr>
        <p:spPr>
          <a:xfrm>
            <a:off x="5577840" y="1234440"/>
            <a:ext cx="79552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p − p̄</a:t>
            </a:r>
          </a:p>
        </p:txBody>
      </p:sp>
      <p:sp>
        <p:nvSpPr>
          <p:cNvPr id="15" name="Cov table 1-3"/>
          <p:cNvSpPr/>
          <p:nvPr/>
        </p:nvSpPr>
        <p:spPr>
          <a:xfrm>
            <a:off x="6492240" y="1234440"/>
            <a:ext cx="9784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v table text 1-3"/>
          <p:cNvSpPr txBox="1"/>
          <p:nvPr/>
        </p:nvSpPr>
        <p:spPr>
          <a:xfrm>
            <a:off x="6583680" y="1234440"/>
            <a:ext cx="79552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x − x̄</a:t>
            </a:r>
          </a:p>
        </p:txBody>
      </p:sp>
      <p:sp>
        <p:nvSpPr>
          <p:cNvPr id="17" name="Cov table 1-4"/>
          <p:cNvSpPr/>
          <p:nvPr/>
        </p:nvSpPr>
        <p:spPr>
          <a:xfrm>
            <a:off x="7498080" y="1234440"/>
            <a:ext cx="11612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v table text 1-4"/>
          <p:cNvSpPr txBox="1"/>
          <p:nvPr/>
        </p:nvSpPr>
        <p:spPr>
          <a:xfrm>
            <a:off x="7589520" y="1234440"/>
            <a:ext cx="97840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product</a:t>
            </a:r>
          </a:p>
        </p:txBody>
      </p:sp>
      <p:sp>
        <p:nvSpPr>
          <p:cNvPr id="19" name="Cov table 2-1"/>
          <p:cNvSpPr/>
          <p:nvPr/>
        </p:nvSpPr>
        <p:spPr>
          <a:xfrm>
            <a:off x="4617720" y="1591056"/>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v table text 2-1"/>
          <p:cNvSpPr txBox="1"/>
          <p:nvPr/>
        </p:nvSpPr>
        <p:spPr>
          <a:xfrm>
            <a:off x="4709160" y="1591056"/>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1" name="Cov table 2-2"/>
          <p:cNvSpPr/>
          <p:nvPr/>
        </p:nvSpPr>
        <p:spPr>
          <a:xfrm>
            <a:off x="5486400" y="159105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v table text 2-2"/>
          <p:cNvSpPr txBox="1"/>
          <p:nvPr/>
        </p:nvSpPr>
        <p:spPr>
          <a:xfrm>
            <a:off x="5577840" y="1591056"/>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3" name="Cov table 2-3"/>
          <p:cNvSpPr/>
          <p:nvPr/>
        </p:nvSpPr>
        <p:spPr>
          <a:xfrm>
            <a:off x="6492240" y="159105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v table text 2-3"/>
          <p:cNvSpPr txBox="1"/>
          <p:nvPr/>
        </p:nvSpPr>
        <p:spPr>
          <a:xfrm>
            <a:off x="6583680" y="1591056"/>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5" name="Cov table 2-4"/>
          <p:cNvSpPr/>
          <p:nvPr/>
        </p:nvSpPr>
        <p:spPr>
          <a:xfrm>
            <a:off x="7498080" y="159105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ov table text 2-4"/>
          <p:cNvSpPr txBox="1"/>
          <p:nvPr/>
        </p:nvSpPr>
        <p:spPr>
          <a:xfrm>
            <a:off x="7589520" y="1591056"/>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27" name="Cov table 3-1"/>
          <p:cNvSpPr/>
          <p:nvPr/>
        </p:nvSpPr>
        <p:spPr>
          <a:xfrm>
            <a:off x="4617720" y="1947672"/>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ov table text 3-1"/>
          <p:cNvSpPr txBox="1"/>
          <p:nvPr/>
        </p:nvSpPr>
        <p:spPr>
          <a:xfrm>
            <a:off x="4709160" y="1947672"/>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9" name="Cov table 3-2"/>
          <p:cNvSpPr/>
          <p:nvPr/>
        </p:nvSpPr>
        <p:spPr>
          <a:xfrm>
            <a:off x="5486400" y="1947672"/>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ov table text 3-2"/>
          <p:cNvSpPr txBox="1"/>
          <p:nvPr/>
        </p:nvSpPr>
        <p:spPr>
          <a:xfrm>
            <a:off x="5577840" y="1947672"/>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−0.5</a:t>
            </a:r>
          </a:p>
        </p:txBody>
      </p:sp>
      <p:sp>
        <p:nvSpPr>
          <p:cNvPr id="31" name="Cov table 3-3"/>
          <p:cNvSpPr/>
          <p:nvPr/>
        </p:nvSpPr>
        <p:spPr>
          <a:xfrm>
            <a:off x="6492240" y="1947672"/>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ov table text 3-3"/>
          <p:cNvSpPr txBox="1"/>
          <p:nvPr/>
        </p:nvSpPr>
        <p:spPr>
          <a:xfrm>
            <a:off x="6583680" y="1947672"/>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3" name="Cov table 3-4"/>
          <p:cNvSpPr/>
          <p:nvPr/>
        </p:nvSpPr>
        <p:spPr>
          <a:xfrm>
            <a:off x="7498080" y="1947672"/>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Cov table text 3-4"/>
          <p:cNvSpPr txBox="1"/>
          <p:nvPr/>
        </p:nvSpPr>
        <p:spPr>
          <a:xfrm>
            <a:off x="7589520" y="1947672"/>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35" name="Cov table 4-1"/>
          <p:cNvSpPr/>
          <p:nvPr/>
        </p:nvSpPr>
        <p:spPr>
          <a:xfrm>
            <a:off x="4617720" y="2304288"/>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Cov table text 4-1"/>
          <p:cNvSpPr txBox="1"/>
          <p:nvPr/>
        </p:nvSpPr>
        <p:spPr>
          <a:xfrm>
            <a:off x="4709160" y="2304288"/>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7" name="Cov table 4-2"/>
          <p:cNvSpPr/>
          <p:nvPr/>
        </p:nvSpPr>
        <p:spPr>
          <a:xfrm>
            <a:off x="5486400" y="2304288"/>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ov table text 4-2"/>
          <p:cNvSpPr txBox="1"/>
          <p:nvPr/>
        </p:nvSpPr>
        <p:spPr>
          <a:xfrm>
            <a:off x="5577840" y="2304288"/>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39" name="Cov table 4-3"/>
          <p:cNvSpPr/>
          <p:nvPr/>
        </p:nvSpPr>
        <p:spPr>
          <a:xfrm>
            <a:off x="6492240" y="2304288"/>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ov table text 4-3"/>
          <p:cNvSpPr txBox="1"/>
          <p:nvPr/>
        </p:nvSpPr>
        <p:spPr>
          <a:xfrm>
            <a:off x="6583680" y="2304288"/>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1" name="Cov table 4-4"/>
          <p:cNvSpPr/>
          <p:nvPr/>
        </p:nvSpPr>
        <p:spPr>
          <a:xfrm>
            <a:off x="7498080" y="2304288"/>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ov table text 4-4"/>
          <p:cNvSpPr txBox="1"/>
          <p:nvPr/>
        </p:nvSpPr>
        <p:spPr>
          <a:xfrm>
            <a:off x="7589520" y="2304288"/>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a:t>
            </a:r>
          </a:p>
        </p:txBody>
      </p:sp>
      <p:sp>
        <p:nvSpPr>
          <p:cNvPr id="43" name="Cov table 5-1"/>
          <p:cNvSpPr/>
          <p:nvPr/>
        </p:nvSpPr>
        <p:spPr>
          <a:xfrm>
            <a:off x="4617720" y="2660904"/>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Cov table text 5-1"/>
          <p:cNvSpPr txBox="1"/>
          <p:nvPr/>
        </p:nvSpPr>
        <p:spPr>
          <a:xfrm>
            <a:off x="4709160" y="2660904"/>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5" name="Cov table 5-2"/>
          <p:cNvSpPr/>
          <p:nvPr/>
        </p:nvSpPr>
        <p:spPr>
          <a:xfrm>
            <a:off x="5486400" y="2660904"/>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ov table text 5-2"/>
          <p:cNvSpPr txBox="1"/>
          <p:nvPr/>
        </p:nvSpPr>
        <p:spPr>
          <a:xfrm>
            <a:off x="5577840" y="2660904"/>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0.5</a:t>
            </a:r>
          </a:p>
        </p:txBody>
      </p:sp>
      <p:sp>
        <p:nvSpPr>
          <p:cNvPr id="47" name="Cov table 5-3"/>
          <p:cNvSpPr/>
          <p:nvPr/>
        </p:nvSpPr>
        <p:spPr>
          <a:xfrm>
            <a:off x="6492240" y="2660904"/>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Cov table text 5-3"/>
          <p:cNvSpPr txBox="1"/>
          <p:nvPr/>
        </p:nvSpPr>
        <p:spPr>
          <a:xfrm>
            <a:off x="6583680" y="2660904"/>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49" name="Cov table 5-4"/>
          <p:cNvSpPr/>
          <p:nvPr/>
        </p:nvSpPr>
        <p:spPr>
          <a:xfrm>
            <a:off x="7498080" y="2660904"/>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ov table text 5-4"/>
          <p:cNvSpPr txBox="1"/>
          <p:nvPr/>
        </p:nvSpPr>
        <p:spPr>
          <a:xfrm>
            <a:off x="7589520" y="2660904"/>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−5</a:t>
            </a:r>
          </a:p>
        </p:txBody>
      </p:sp>
      <p:sp>
        <p:nvSpPr>
          <p:cNvPr id="51" name="Cov table 6-1"/>
          <p:cNvSpPr/>
          <p:nvPr/>
        </p:nvSpPr>
        <p:spPr>
          <a:xfrm>
            <a:off x="4617720" y="3017520"/>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Cov table text 6-1"/>
          <p:cNvSpPr txBox="1"/>
          <p:nvPr/>
        </p:nvSpPr>
        <p:spPr>
          <a:xfrm>
            <a:off x="4709160" y="3017520"/>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53" name="Cov table 6-2"/>
          <p:cNvSpPr/>
          <p:nvPr/>
        </p:nvSpPr>
        <p:spPr>
          <a:xfrm>
            <a:off x="5486400" y="3017520"/>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ov table text 6-2"/>
          <p:cNvSpPr txBox="1"/>
          <p:nvPr/>
        </p:nvSpPr>
        <p:spPr>
          <a:xfrm>
            <a:off x="5577840" y="3017520"/>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55" name="Cov table 6-3"/>
          <p:cNvSpPr/>
          <p:nvPr/>
        </p:nvSpPr>
        <p:spPr>
          <a:xfrm>
            <a:off x="6492240" y="3017520"/>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Cov table text 6-3"/>
          <p:cNvSpPr txBox="1"/>
          <p:nvPr/>
        </p:nvSpPr>
        <p:spPr>
          <a:xfrm>
            <a:off x="6583680" y="3017520"/>
            <a:ext cx="79552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7" name="Cov table 6-4"/>
          <p:cNvSpPr/>
          <p:nvPr/>
        </p:nvSpPr>
        <p:spPr>
          <a:xfrm>
            <a:off x="7498080" y="3017520"/>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Cov table text 6-4"/>
          <p:cNvSpPr txBox="1"/>
          <p:nvPr/>
        </p:nvSpPr>
        <p:spPr>
          <a:xfrm>
            <a:off x="7589520" y="3017520"/>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59" name="Cov table 7-1"/>
          <p:cNvSpPr/>
          <p:nvPr/>
        </p:nvSpPr>
        <p:spPr>
          <a:xfrm>
            <a:off x="4617720" y="3374136"/>
            <a:ext cx="84124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Cov table text 7-1"/>
          <p:cNvSpPr txBox="1"/>
          <p:nvPr/>
        </p:nvSpPr>
        <p:spPr>
          <a:xfrm>
            <a:off x="4709160" y="3374136"/>
            <a:ext cx="65836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Sum</a:t>
            </a:r>
          </a:p>
        </p:txBody>
      </p:sp>
      <p:sp>
        <p:nvSpPr>
          <p:cNvPr id="61" name="Cov table 7-2"/>
          <p:cNvSpPr/>
          <p:nvPr/>
        </p:nvSpPr>
        <p:spPr>
          <a:xfrm>
            <a:off x="5486400" y="337413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ov table text 7-2"/>
          <p:cNvSpPr txBox="1"/>
          <p:nvPr/>
        </p:nvSpPr>
        <p:spPr>
          <a:xfrm>
            <a:off x="5577840" y="3374136"/>
            <a:ext cx="79552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63" name="Cov table 7-3"/>
          <p:cNvSpPr/>
          <p:nvPr/>
        </p:nvSpPr>
        <p:spPr>
          <a:xfrm>
            <a:off x="6492240" y="3374136"/>
            <a:ext cx="9784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Cov table text 7-3"/>
          <p:cNvSpPr txBox="1"/>
          <p:nvPr/>
        </p:nvSpPr>
        <p:spPr>
          <a:xfrm>
            <a:off x="6583680" y="3374136"/>
            <a:ext cx="79552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65" name="Cov table 7-4"/>
          <p:cNvSpPr/>
          <p:nvPr/>
        </p:nvSpPr>
        <p:spPr>
          <a:xfrm>
            <a:off x="7498080" y="337413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ov table text 7-4"/>
          <p:cNvSpPr txBox="1"/>
          <p:nvPr/>
        </p:nvSpPr>
        <p:spPr>
          <a:xfrm>
            <a:off x="7589520" y="3374136"/>
            <a:ext cx="978408" cy="329184"/>
          </a:xfrm>
          <a:prstGeom prst="rect">
            <a:avLst/>
          </a:prstGeom>
          <a:noFill/>
        </p:spPr>
        <p:txBody>
          <a:bodyPr wrap="square" lIns="0" rIns="0" tIns="0" bIns="0" anchor="ctr">
            <a:noAutofit/>
          </a:bodyPr>
          <a:lstStyle/>
          <a:p>
            <a:pPr algn="r">
              <a:spcAft>
                <a:spcPts val="400"/>
              </a:spcAft>
            </a:pPr>
            <a:r>
              <a:rPr sz="1200" b="1" lang="en-GB">
                <a:solidFill>
                  <a:schemeClr val="tx2"/>
                </a:solidFill>
              </a:rPr>
              <a:t>−85</a:t>
            </a:r>
          </a:p>
        </p:txBody>
      </p:sp>
      <p:sp>
        <p:nvSpPr>
          <p:cNvPr id="67" name="Cov formula box"/>
          <p:cNvSpPr/>
          <p:nvPr/>
        </p:nvSpPr>
        <p:spPr>
          <a:xfrm>
            <a:off x="4617720" y="3703320"/>
            <a:ext cx="406908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Cov formula code"/>
          <p:cNvSpPr txBox="1"/>
          <p:nvPr/>
        </p:nvSpPr>
        <p:spPr>
          <a:xfrm>
            <a:off x="4754880" y="3794760"/>
            <a:ext cx="379476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cov = −85 / (5 − 1) = −21.25</a:t>
            </a:r>
          </a:p>
        </p:txBody>
      </p:sp>
      <p:sp>
        <p:nvSpPr>
          <p:cNvPr id="69" name="Cov sign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0" name="Icon Cov sign" descr=""/>
          <p:cNvPicPr>
            <a:picLocks noChangeAspect="1"/>
          </p:cNvPicPr>
          <p:nvPr/>
        </p:nvPicPr>
        <p:blipFill>
          <a:blip r:embed="rId4"/>
          <a:stretch>
            <a:fillRect/>
          </a:stretch>
        </p:blipFill>
        <p:spPr>
          <a:xfrm>
            <a:off x="658368" y="4411980"/>
            <a:ext cx="365760" cy="365760"/>
          </a:xfrm>
          <a:prstGeom prst="rect">
            <a:avLst/>
          </a:prstGeom>
        </p:spPr>
      </p:pic>
      <p:sp>
        <p:nvSpPr>
          <p:cNvPr id="71" name="Cov sign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Sign = direction; </a:t>
            </a:r>
            <a:r>
              <a:rPr sz="1200" b="0" lang="en-GB">
                <a:solidFill>
                  <a:schemeClr val="tx1"/>
                </a:solidFill>
              </a:rPr>
              <a:t>the size depends on the units (EUR × bars).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covariance without units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r = cov / (s_p · s_x) = −21.25 / (0.79 · 27.39) = −0.98          −1 ≤ r ≤ +1</a:t>
            </a:r>
          </a:p>
        </p:txBody>
      </p:sp>
      <p:pic>
        <p:nvPicPr>
          <p:cNvPr id="12" name="Chart ref_corr_gallery.png" descr="Four scatter plots: a rising cloud with r about 0.9, a shapeless cloud with r about 0, a falling cloud with r about -0.9, and a U-shaped curve with r about 0"/>
          <p:cNvPicPr>
            <a:picLocks noChangeAspect="1"/>
          </p:cNvPicPr>
          <p:nvPr/>
        </p:nvPicPr>
        <p:blipFill>
          <a:blip r:embed="rId3"/>
          <a:stretch>
            <a:fillRect/>
          </a:stretch>
        </p:blipFill>
        <p:spPr>
          <a:xfrm>
            <a:off x="457200" y="1874520"/>
            <a:ext cx="8229600" cy="2103120"/>
          </a:xfrm>
          <a:prstGeom prst="rect">
            <a:avLst/>
          </a:prstGeom>
        </p:spPr>
      </p:pic>
      <p:sp>
        <p:nvSpPr>
          <p:cNvPr id="13" name="R warn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R warn" descr=""/>
          <p:cNvPicPr>
            <a:picLocks noChangeAspect="1"/>
          </p:cNvPicPr>
          <p:nvPr/>
        </p:nvPicPr>
        <p:blipFill>
          <a:blip r:embed="rId4"/>
          <a:stretch>
            <a:fillRect/>
          </a:stretch>
        </p:blipFill>
        <p:spPr>
          <a:xfrm>
            <a:off x="658368" y="4251960"/>
            <a:ext cx="365760" cy="365760"/>
          </a:xfrm>
          <a:prstGeom prst="rect">
            <a:avLst/>
          </a:prstGeom>
        </p:spPr>
      </p:pic>
      <p:sp>
        <p:nvSpPr>
          <p:cNvPr id="15" name="R warn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Two warnings: </a:t>
            </a:r>
            <a:r>
              <a:rPr sz="1200" b="0" lang="en-GB">
                <a:solidFill>
                  <a:schemeClr val="bg1"/>
                </a:solidFill>
              </a:rPr>
              <a:t>r only measures straight-line relationships (the U has r ≈ 0), and correlation is not causation.</a:t>
            </a:r>
          </a:p>
        </p:txBody>
      </p:sp>
      <p:sp>
        <p:nvSpPr>
          <p:cNvPr id="1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(HBS note 9-622-100)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correlation to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ridge rows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ridge rows bar 1"/>
          <p:cNvSpPr/>
          <p:nvPr/>
        </p:nvSpPr>
        <p:spPr>
          <a:xfrm>
            <a:off x="4572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ridge rows text 1"/>
          <p:cNvSpPr txBox="1"/>
          <p:nvPr/>
        </p:nvSpPr>
        <p:spPr>
          <a:xfrm>
            <a:off x="658368" y="1234440"/>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 causation: </a:t>
            </a:r>
            <a:r>
              <a:rPr sz="1200" b="0" lang="en-GB">
                <a:solidFill>
                  <a:schemeClr val="tx1"/>
                </a:solidFill>
              </a:rPr>
              <a:t>ice-cream sales and sunburn rise together; sunshine drives both</a:t>
            </a:r>
          </a:p>
        </p:txBody>
      </p:sp>
      <p:sp>
        <p:nvSpPr>
          <p:cNvPr id="13" name="Bridge rows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ridge rows bar 2"/>
          <p:cNvSpPr/>
          <p:nvPr/>
        </p:nvSpPr>
        <p:spPr>
          <a:xfrm>
            <a:off x="4572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ridge rows text 2"/>
          <p:cNvSpPr txBox="1"/>
          <p:nvPr/>
        </p:nvSpPr>
        <p:spPr>
          <a:xfrm>
            <a:off x="658368" y="1856232"/>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Correlation </a:t>
            </a:r>
            <a:r>
              <a:rPr sz="1200" b="0" lang="en-GB">
                <a:solidFill>
                  <a:schemeClr val="tx1"/>
                </a:solidFill>
              </a:rPr>
              <a:t>says how strongly two variables move together, from −1 to +1</a:t>
            </a:r>
          </a:p>
        </p:txBody>
      </p:sp>
      <p:sp>
        <p:nvSpPr>
          <p:cNvPr id="16" name="Bridge rows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ridge rows bar 3"/>
          <p:cNvSpPr/>
          <p:nvPr/>
        </p:nvSpPr>
        <p:spPr>
          <a:xfrm>
            <a:off x="4572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ridge rows text 3"/>
          <p:cNvSpPr txBox="1"/>
          <p:nvPr/>
        </p:nvSpPr>
        <p:spPr>
          <a:xfrm>
            <a:off x="658368" y="2478024"/>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Regression </a:t>
            </a:r>
            <a:r>
              <a:rPr sz="1200" b="0" lang="en-GB">
                <a:solidFill>
                  <a:schemeClr val="tx1"/>
                </a:solidFill>
              </a:rPr>
              <a:t>says by how much y changes when x changes by one unit</a:t>
            </a:r>
          </a:p>
        </p:txBody>
      </p:sp>
      <p:sp>
        <p:nvSpPr>
          <p:cNvPr id="19" name="Slope formula box"/>
          <p:cNvSpPr/>
          <p:nvPr/>
        </p:nvSpPr>
        <p:spPr>
          <a:xfrm>
            <a:off x="457200" y="32461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lope formula code"/>
          <p:cNvSpPr txBox="1"/>
          <p:nvPr/>
        </p:nvSpPr>
        <p:spPr>
          <a:xfrm>
            <a:off x="594360" y="333756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slope b = cov(p, x) / var(p) = −21.25 / 0.625 = −34 bars per EUR</a:t>
            </a:r>
          </a:p>
          <a:p>
            <a:pPr algn="l">
              <a:spcAft>
                <a:spcPts val="0"/>
              </a:spcAft>
            </a:pPr>
            <a:r>
              <a:rPr sz="1200" b="0" lang="en-GB">
                <a:solidFill>
                  <a:schemeClr val="bg1"/>
                </a:solidFill>
                <a:latin typeface="Consolas"/>
              </a:rPr>
              <a:t>line through the means: x = 80 − 34 · (p − 3)</a:t>
            </a:r>
          </a:p>
        </p:txBody>
      </p:sp>
      <p:sp>
        <p:nvSpPr>
          <p:cNvPr id="21" name="Bridge next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Bridge next" descr=""/>
          <p:cNvPicPr>
            <a:picLocks noChangeAspect="1"/>
          </p:cNvPicPr>
          <p:nvPr/>
        </p:nvPicPr>
        <p:blipFill>
          <a:blip r:embed="rId3"/>
          <a:stretch>
            <a:fillRect/>
          </a:stretch>
        </p:blipFill>
        <p:spPr>
          <a:xfrm>
            <a:off x="658368" y="4251960"/>
            <a:ext cx="365760" cy="365760"/>
          </a:xfrm>
          <a:prstGeom prst="rect">
            <a:avLst/>
          </a:prstGeom>
        </p:spPr>
      </p:pic>
      <p:sp>
        <p:nvSpPr>
          <p:cNvPr id="23" name="Bridge next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Next: </a:t>
            </a:r>
            <a:r>
              <a:rPr sz="1300" b="0" lang="en-GB">
                <a:solidFill>
                  <a:schemeClr val="bg1"/>
                </a:solidFill>
              </a:rPr>
              <a:t>the least-squares line, built from exactly these pieces.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11 · mean, standard deviation, z-scores, covariance and correlation by hand, then checked</a:t>
            </a:r>
          </a:p>
        </p:txBody>
      </p:sp>
      <p:sp>
        <p:nvSpPr>
          <p:cNvPr id="3" name="Title 2"/>
          <p:cNvSpPr>
            <a:spLocks noGrp="1"/>
          </p:cNvSpPr>
          <p:nvPr>
            <p:ph type="ctrTitle"/>
          </p:nvPr>
        </p:nvSpPr>
        <p:spPr/>
        <p:txBody>
          <a:bodyPr/>
          <a:lstStyle/>
          <a:p>
            <a:r>
              <a:rPr sz="1600" lang="en-GB"/>
              <a:t>Python in Positron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the data and the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ean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ean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a:t>
            </a:r>
          </a:p>
        </p:txBody>
      </p:sp>
      <p:sp>
        <p:nvSpPr>
          <p:cNvPr id="12" name="Mean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ean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import polars as pl</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 = pl.DataFrame({</a:t>
            </a:r>
          </a:p>
          <a:p>
            <a:pPr algn="l">
              <a:spcAft>
                <a:spcPts val="0"/>
              </a:spcAft>
            </a:pPr>
            <a:r>
              <a:rPr sz="1100" b="0" lang="en-GB">
                <a:solidFill>
                  <a:schemeClr val="bg1"/>
                </a:solidFill>
                <a:latin typeface="Consolas"/>
              </a:rPr>
              <a:t>    "week":  [1, 2, 3, 4, 5],</a:t>
            </a:r>
          </a:p>
          <a:p>
            <a:pPr algn="l">
              <a:spcAft>
                <a:spcPts val="0"/>
              </a:spcAft>
            </a:pPr>
            <a:r>
              <a:rPr sz="1100" b="0" lang="en-GB">
                <a:solidFill>
                  <a:schemeClr val="bg1"/>
                </a:solidFill>
                <a:latin typeface="Consolas"/>
              </a:rPr>
              <a:t>    "price": [2.0, 2.5, 3.0, 3.5, 4.0],</a:t>
            </a:r>
          </a:p>
          <a:p>
            <a:pPr algn="l">
              <a:spcAft>
                <a:spcPts val="0"/>
              </a:spcAft>
            </a:pPr>
            <a:r>
              <a:rPr sz="1100" b="0" lang="en-GB">
                <a:solidFill>
                  <a:schemeClr val="bg1"/>
                </a:solidFill>
                <a:latin typeface="Consolas"/>
              </a:rPr>
              <a:t>    "units": [110, 100, 80, 70, 40],</a:t>
            </a:r>
          </a:p>
          <a:p>
            <a:pPr algn="l">
              <a:spcAft>
                <a:spcPts val="0"/>
              </a:spcAft>
            </a:pPr>
            <a:r>
              <a:rPr sz="1100" b="0" lang="en-GB">
                <a:solidFill>
                  <a:schemeClr val="bg1"/>
                </a:solidFill>
                <a:latin typeface="Consolas"/>
              </a:rPr>
              <a:t>})</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n = kiosk.height                         # 5</a:t>
            </a:r>
          </a:p>
          <a:p>
            <a:pPr algn="l">
              <a:spcAft>
                <a:spcPts val="0"/>
              </a:spcAft>
            </a:pPr>
            <a:r>
              <a:rPr sz="1100" b="0" lang="en-GB">
                <a:solidFill>
                  <a:schemeClr val="bg1"/>
                </a:solidFill>
                <a:latin typeface="Consolas"/>
              </a:rPr>
              <a:t>mean_units = kiosk["units"].sum() / n    # by hand</a:t>
            </a:r>
          </a:p>
          <a:p>
            <a:pPr algn="l">
              <a:spcAft>
                <a:spcPts val="0"/>
              </a:spcAft>
            </a:pPr>
            <a:r>
              <a:rPr sz="1100" b="0" lang="en-GB">
                <a:solidFill>
                  <a:schemeClr val="bg1"/>
                </a:solidFill>
                <a:latin typeface="Consolas"/>
              </a:rPr>
              <a:t>kiosk["units"].mean()                    # check</a:t>
            </a:r>
          </a:p>
          <a:p>
            <a:pPr algn="l">
              <a:spcAft>
                <a:spcPts val="0"/>
              </a:spcAft>
            </a:pPr>
            <a:r>
              <a:rPr sz="1100" b="0" lang="en-GB">
                <a:solidFill>
                  <a:schemeClr val="bg1"/>
                </a:solidFill>
                <a:latin typeface="Consolas"/>
              </a:rPr>
              <a:t>kiosk["units"].median()</a:t>
            </a:r>
          </a:p>
        </p:txBody>
      </p:sp>
      <p:sp>
        <p:nvSpPr>
          <p:cNvPr id="14" name="Mean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ean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Mean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ean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Mean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ean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n</a:t>
            </a:r>
          </a:p>
        </p:txBody>
      </p:sp>
      <p:sp>
        <p:nvSpPr>
          <p:cNvPr id="20" name="Mean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ean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a:t>
            </a:r>
          </a:p>
        </p:txBody>
      </p:sp>
      <p:sp>
        <p:nvSpPr>
          <p:cNvPr id="22" name="Mean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ean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mean, by hand</a:t>
            </a:r>
          </a:p>
        </p:txBody>
      </p:sp>
      <p:sp>
        <p:nvSpPr>
          <p:cNvPr id="24" name="Mean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ean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26" name="Mean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ean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mean(), check</a:t>
            </a:r>
          </a:p>
        </p:txBody>
      </p:sp>
      <p:sp>
        <p:nvSpPr>
          <p:cNvPr id="28" name="Mean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ean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30" name="Mean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ean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median()</a:t>
            </a:r>
          </a:p>
        </p:txBody>
      </p:sp>
      <p:sp>
        <p:nvSpPr>
          <p:cNvPr id="32" name="Mean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ean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80.0</a:t>
            </a:r>
          </a:p>
        </p:txBody>
      </p:sp>
      <p:sp>
        <p:nvSpPr>
          <p:cNvPr id="34" name="Run it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Run it" descr=""/>
          <p:cNvPicPr>
            <a:picLocks noChangeAspect="1"/>
          </p:cNvPicPr>
          <p:nvPr/>
        </p:nvPicPr>
        <p:blipFill>
          <a:blip r:embed="rId3"/>
          <a:stretch>
            <a:fillRect/>
          </a:stretch>
        </p:blipFill>
        <p:spPr>
          <a:xfrm>
            <a:off x="658368" y="4251960"/>
            <a:ext cx="365760" cy="365760"/>
          </a:xfrm>
          <a:prstGeom prst="rect">
            <a:avLst/>
          </a:prstGeom>
        </p:spPr>
      </p:pic>
      <p:sp>
        <p:nvSpPr>
          <p:cNvPr id="36" name="Run it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Run it: </a:t>
            </a:r>
            <a:r>
              <a:rPr sz="1200" b="0" lang="en-GB">
                <a:solidFill>
                  <a:schemeClr val="tx1"/>
                </a:solidFill>
              </a:rPr>
              <a:t>click into a cell and press Ctrl/Cmd + Enter; the result appears in the Console.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variance, standard deviation, standard error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D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D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by hand, then checked</a:t>
            </a:r>
          </a:p>
        </p:txBody>
      </p:sp>
      <p:sp>
        <p:nvSpPr>
          <p:cNvPr id="12" name="SD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D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dev = kiosk["units"] - mean_units</a:t>
            </a:r>
          </a:p>
          <a:p>
            <a:pPr algn="l">
              <a:spcAft>
                <a:spcPts val="0"/>
              </a:spcAft>
            </a:pPr>
            <a:r>
              <a:rPr sz="1100" b="0" lang="en-GB">
                <a:solidFill>
                  <a:schemeClr val="bg1"/>
                </a:solidFill>
                <a:latin typeface="Consolas"/>
              </a:rPr>
              <a:t>dev        # 30, 20, 0, -10, -40</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var_units = (dev ** 2).sum() / (n - 1)   # 750.0</a:t>
            </a:r>
          </a:p>
          <a:p>
            <a:pPr algn="l">
              <a:spcAft>
                <a:spcPts val="0"/>
              </a:spcAft>
            </a:pPr>
            <a:r>
              <a:rPr sz="1100" b="0" lang="en-GB">
                <a:solidFill>
                  <a:schemeClr val="bg1"/>
                </a:solidFill>
                <a:latin typeface="Consolas"/>
              </a:rPr>
              <a:t>sd_units = var_units ** 0.5              # 27.39</a:t>
            </a:r>
          </a:p>
          <a:p>
            <a:pPr algn="l">
              <a:spcAft>
                <a:spcPts val="0"/>
              </a:spcAft>
            </a:pPr>
            <a:r>
              <a:rPr sz="1100" b="0" lang="en-GB">
                <a:solidFill>
                  <a:schemeClr val="bg1"/>
                </a:solidFill>
                <a:latin typeface="Consolas"/>
              </a:rPr>
              <a:t>kiosk["units"].std()                     # check: n - 1</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se_units = sd_units / n ** 0.5           # 12.25</a:t>
            </a:r>
          </a:p>
        </p:txBody>
      </p:sp>
      <p:sp>
        <p:nvSpPr>
          <p:cNvPr id="14" name="SD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D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SD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D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SD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D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variance</a:t>
            </a:r>
          </a:p>
        </p:txBody>
      </p:sp>
      <p:sp>
        <p:nvSpPr>
          <p:cNvPr id="20" name="SD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D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750.0</a:t>
            </a:r>
          </a:p>
        </p:txBody>
      </p:sp>
      <p:sp>
        <p:nvSpPr>
          <p:cNvPr id="22" name="SD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D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sd, by hand</a:t>
            </a:r>
          </a:p>
        </p:txBody>
      </p:sp>
      <p:sp>
        <p:nvSpPr>
          <p:cNvPr id="24" name="SD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D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27.39</a:t>
            </a:r>
          </a:p>
        </p:txBody>
      </p:sp>
      <p:sp>
        <p:nvSpPr>
          <p:cNvPr id="26" name="SD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D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std(), check</a:t>
            </a:r>
          </a:p>
        </p:txBody>
      </p:sp>
      <p:sp>
        <p:nvSpPr>
          <p:cNvPr id="28" name="SD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D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27.39</a:t>
            </a:r>
          </a:p>
        </p:txBody>
      </p:sp>
      <p:sp>
        <p:nvSpPr>
          <p:cNvPr id="30" name="SD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D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standard error</a:t>
            </a:r>
          </a:p>
        </p:txBody>
      </p:sp>
      <p:sp>
        <p:nvSpPr>
          <p:cNvPr id="32" name="SD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D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12.25</a:t>
            </a:r>
          </a:p>
        </p:txBody>
      </p:sp>
      <p:sp>
        <p:nvSpPr>
          <p:cNvPr id="34" name="SD note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SD note" descr=""/>
          <p:cNvPicPr>
            <a:picLocks noChangeAspect="1"/>
          </p:cNvPicPr>
          <p:nvPr/>
        </p:nvPicPr>
        <p:blipFill>
          <a:blip r:embed="rId3"/>
          <a:stretch>
            <a:fillRect/>
          </a:stretch>
        </p:blipFill>
        <p:spPr>
          <a:xfrm>
            <a:off x="658368" y="4251960"/>
            <a:ext cx="365760" cy="365760"/>
          </a:xfrm>
          <a:prstGeom prst="rect">
            <a:avLst/>
          </a:prstGeom>
        </p:spPr>
      </p:pic>
      <p:sp>
        <p:nvSpPr>
          <p:cNvPr id="36" name="SD note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Note: </a:t>
            </a:r>
            <a:r>
              <a:rPr sz="1200" b="0" lang="en-GB">
                <a:solidFill>
                  <a:schemeClr val="tx1"/>
                </a:solidFill>
              </a:rPr>
              <a:t>std() divides by n − 1 (ddof=1), like the formula on the slide.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standardise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Z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Z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z-scores</a:t>
            </a:r>
          </a:p>
        </p:txBody>
      </p:sp>
      <p:sp>
        <p:nvSpPr>
          <p:cNvPr id="12" name="Z code box"/>
          <p:cNvSpPr/>
          <p:nvPr/>
        </p:nvSpPr>
        <p:spPr>
          <a:xfrm>
            <a:off x="457200" y="1508760"/>
            <a:ext cx="4937760" cy="2194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Z code code"/>
          <p:cNvSpPr txBox="1"/>
          <p:nvPr/>
        </p:nvSpPr>
        <p:spPr>
          <a:xfrm>
            <a:off x="594360" y="1600200"/>
            <a:ext cx="4663440" cy="2011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kiosk = kiosk.with_columns(</a:t>
            </a:r>
          </a:p>
          <a:p>
            <a:pPr algn="l">
              <a:spcAft>
                <a:spcPts val="0"/>
              </a:spcAft>
            </a:pPr>
            <a:r>
              <a:rPr sz="1100" b="0" lang="en-GB">
                <a:solidFill>
                  <a:schemeClr val="bg1"/>
                </a:solidFill>
                <a:latin typeface="Consolas"/>
              </a:rPr>
              <a:t>    z_units=(pl.col("units") - pl.col("units").mean())</a:t>
            </a:r>
          </a:p>
          <a:p>
            <a:pPr algn="l">
              <a:spcAft>
                <a:spcPts val="0"/>
              </a:spcAft>
            </a:pPr>
            <a:r>
              <a:rPr sz="1100" b="0" lang="en-GB">
                <a:solidFill>
                  <a:schemeClr val="bg1"/>
                </a:solidFill>
                <a:latin typeface="Consolas"/>
              </a:rPr>
              <a:t>            / pl.col("units").std()</a:t>
            </a:r>
          </a:p>
          <a:p>
            <a:pPr algn="l">
              <a:spcAft>
                <a:spcPts val="0"/>
              </a:spcAft>
            </a:pPr>
            <a:r>
              <a:rPr sz="1100" b="0" lang="en-GB">
                <a:solidFill>
                  <a:schemeClr val="bg1"/>
                </a:solidFill>
                <a:latin typeface="Consolas"/>
              </a:rPr>
              <a:t>)</a:t>
            </a:r>
          </a:p>
          <a:p>
            <a:pPr algn="l">
              <a:spcAft>
                <a:spcPts val="0"/>
              </a:spcAft>
            </a:pPr>
            <a:r>
              <a:rPr sz="1100" b="0" lang="en-GB">
                <a:solidFill>
                  <a:schemeClr val="bg1"/>
                </a:solidFill>
                <a:latin typeface="Consolas"/>
              </a:rPr>
              <a:t>kiosk</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kiosk["z_units"].mean()    # 0</a:t>
            </a:r>
          </a:p>
          <a:p>
            <a:pPr algn="l">
              <a:spcAft>
                <a:spcPts val="0"/>
              </a:spcAft>
            </a:pPr>
            <a:r>
              <a:rPr sz="1100" b="0" lang="en-GB">
                <a:solidFill>
                  <a:schemeClr val="bg1"/>
                </a:solidFill>
                <a:latin typeface="Consolas"/>
              </a:rPr>
              <a:t>kiosk["z_units"].std()     # 1</a:t>
            </a:r>
          </a:p>
        </p:txBody>
      </p:sp>
      <p:sp>
        <p:nvSpPr>
          <p:cNvPr id="14" name="Z out 1-1"/>
          <p:cNvSpPr/>
          <p:nvPr/>
        </p:nvSpPr>
        <p:spPr>
          <a:xfrm>
            <a:off x="5532120" y="123444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Z out text 1-1"/>
          <p:cNvSpPr txBox="1"/>
          <p:nvPr/>
        </p:nvSpPr>
        <p:spPr>
          <a:xfrm>
            <a:off x="5623560" y="1234440"/>
            <a:ext cx="7040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6" name="Z out 1-2"/>
          <p:cNvSpPr/>
          <p:nvPr/>
        </p:nvSpPr>
        <p:spPr>
          <a:xfrm>
            <a:off x="6446520" y="1234440"/>
            <a:ext cx="102412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Z out text 1-2"/>
          <p:cNvSpPr txBox="1"/>
          <p:nvPr/>
        </p:nvSpPr>
        <p:spPr>
          <a:xfrm>
            <a:off x="6537960" y="1234440"/>
            <a:ext cx="84124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Bars</a:t>
            </a:r>
          </a:p>
        </p:txBody>
      </p:sp>
      <p:sp>
        <p:nvSpPr>
          <p:cNvPr id="18" name="Z out 1-3"/>
          <p:cNvSpPr/>
          <p:nvPr/>
        </p:nvSpPr>
        <p:spPr>
          <a:xfrm>
            <a:off x="7498080" y="1234440"/>
            <a:ext cx="116128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Z out text 1-3"/>
          <p:cNvSpPr txBox="1"/>
          <p:nvPr/>
        </p:nvSpPr>
        <p:spPr>
          <a:xfrm>
            <a:off x="7589520" y="1234440"/>
            <a:ext cx="97840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z</a:t>
            </a:r>
          </a:p>
        </p:txBody>
      </p:sp>
      <p:sp>
        <p:nvSpPr>
          <p:cNvPr id="20" name="Z out 2-1"/>
          <p:cNvSpPr/>
          <p:nvPr/>
        </p:nvSpPr>
        <p:spPr>
          <a:xfrm>
            <a:off x="5532120" y="162763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Z out text 2-1"/>
          <p:cNvSpPr txBox="1"/>
          <p:nvPr/>
        </p:nvSpPr>
        <p:spPr>
          <a:xfrm>
            <a:off x="5623560" y="1627632"/>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1</a:t>
            </a:r>
          </a:p>
        </p:txBody>
      </p:sp>
      <p:sp>
        <p:nvSpPr>
          <p:cNvPr id="22" name="Z out 2-2"/>
          <p:cNvSpPr/>
          <p:nvPr/>
        </p:nvSpPr>
        <p:spPr>
          <a:xfrm>
            <a:off x="6446520" y="1627632"/>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Z out text 2-2"/>
          <p:cNvSpPr txBox="1"/>
          <p:nvPr/>
        </p:nvSpPr>
        <p:spPr>
          <a:xfrm>
            <a:off x="6537960" y="1627632"/>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4" name="Z out 2-3"/>
          <p:cNvSpPr/>
          <p:nvPr/>
        </p:nvSpPr>
        <p:spPr>
          <a:xfrm>
            <a:off x="7498080" y="1627632"/>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Z out text 2-3"/>
          <p:cNvSpPr txBox="1"/>
          <p:nvPr/>
        </p:nvSpPr>
        <p:spPr>
          <a:xfrm>
            <a:off x="7589520" y="1627632"/>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1.10</a:t>
            </a:r>
          </a:p>
        </p:txBody>
      </p:sp>
      <p:sp>
        <p:nvSpPr>
          <p:cNvPr id="26" name="Z out 3-1"/>
          <p:cNvSpPr/>
          <p:nvPr/>
        </p:nvSpPr>
        <p:spPr>
          <a:xfrm>
            <a:off x="5532120" y="202082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 out text 3-1"/>
          <p:cNvSpPr txBox="1"/>
          <p:nvPr/>
        </p:nvSpPr>
        <p:spPr>
          <a:xfrm>
            <a:off x="5623560" y="2020824"/>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2</a:t>
            </a:r>
          </a:p>
        </p:txBody>
      </p:sp>
      <p:sp>
        <p:nvSpPr>
          <p:cNvPr id="28" name="Z out 3-2"/>
          <p:cNvSpPr/>
          <p:nvPr/>
        </p:nvSpPr>
        <p:spPr>
          <a:xfrm>
            <a:off x="6446520" y="2020824"/>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Z out text 3-2"/>
          <p:cNvSpPr txBox="1"/>
          <p:nvPr/>
        </p:nvSpPr>
        <p:spPr>
          <a:xfrm>
            <a:off x="6537960" y="2020824"/>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100</a:t>
            </a:r>
          </a:p>
        </p:txBody>
      </p:sp>
      <p:sp>
        <p:nvSpPr>
          <p:cNvPr id="30" name="Z out 3-3"/>
          <p:cNvSpPr/>
          <p:nvPr/>
        </p:nvSpPr>
        <p:spPr>
          <a:xfrm>
            <a:off x="7498080" y="2020824"/>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Z out text 3-3"/>
          <p:cNvSpPr txBox="1"/>
          <p:nvPr/>
        </p:nvSpPr>
        <p:spPr>
          <a:xfrm>
            <a:off x="7589520" y="2020824"/>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0.73</a:t>
            </a:r>
          </a:p>
        </p:txBody>
      </p:sp>
      <p:sp>
        <p:nvSpPr>
          <p:cNvPr id="32" name="Z out 4-1"/>
          <p:cNvSpPr/>
          <p:nvPr/>
        </p:nvSpPr>
        <p:spPr>
          <a:xfrm>
            <a:off x="5532120" y="241401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 out text 4-1"/>
          <p:cNvSpPr txBox="1"/>
          <p:nvPr/>
        </p:nvSpPr>
        <p:spPr>
          <a:xfrm>
            <a:off x="5623560" y="2414016"/>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3</a:t>
            </a:r>
          </a:p>
        </p:txBody>
      </p:sp>
      <p:sp>
        <p:nvSpPr>
          <p:cNvPr id="34" name="Z out 4-2"/>
          <p:cNvSpPr/>
          <p:nvPr/>
        </p:nvSpPr>
        <p:spPr>
          <a:xfrm>
            <a:off x="6446520" y="2414016"/>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Z out text 4-2"/>
          <p:cNvSpPr txBox="1"/>
          <p:nvPr/>
        </p:nvSpPr>
        <p:spPr>
          <a:xfrm>
            <a:off x="6537960" y="2414016"/>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80</a:t>
            </a:r>
          </a:p>
        </p:txBody>
      </p:sp>
      <p:sp>
        <p:nvSpPr>
          <p:cNvPr id="36" name="Z out 4-3"/>
          <p:cNvSpPr/>
          <p:nvPr/>
        </p:nvSpPr>
        <p:spPr>
          <a:xfrm>
            <a:off x="7498080" y="2414016"/>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Z out text 4-3"/>
          <p:cNvSpPr txBox="1"/>
          <p:nvPr/>
        </p:nvSpPr>
        <p:spPr>
          <a:xfrm>
            <a:off x="7589520" y="2414016"/>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0.00</a:t>
            </a:r>
          </a:p>
        </p:txBody>
      </p:sp>
      <p:sp>
        <p:nvSpPr>
          <p:cNvPr id="38" name="Z out 5-1"/>
          <p:cNvSpPr/>
          <p:nvPr/>
        </p:nvSpPr>
        <p:spPr>
          <a:xfrm>
            <a:off x="5532120" y="280720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Z out text 5-1"/>
          <p:cNvSpPr txBox="1"/>
          <p:nvPr/>
        </p:nvSpPr>
        <p:spPr>
          <a:xfrm>
            <a:off x="5623560" y="2807208"/>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4</a:t>
            </a:r>
          </a:p>
        </p:txBody>
      </p:sp>
      <p:sp>
        <p:nvSpPr>
          <p:cNvPr id="40" name="Z out 5-2"/>
          <p:cNvSpPr/>
          <p:nvPr/>
        </p:nvSpPr>
        <p:spPr>
          <a:xfrm>
            <a:off x="6446520" y="2807208"/>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Z out text 5-2"/>
          <p:cNvSpPr txBox="1"/>
          <p:nvPr/>
        </p:nvSpPr>
        <p:spPr>
          <a:xfrm>
            <a:off x="6537960" y="2807208"/>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70</a:t>
            </a:r>
          </a:p>
        </p:txBody>
      </p:sp>
      <p:sp>
        <p:nvSpPr>
          <p:cNvPr id="42" name="Z out 5-3"/>
          <p:cNvSpPr/>
          <p:nvPr/>
        </p:nvSpPr>
        <p:spPr>
          <a:xfrm>
            <a:off x="7498080" y="2807208"/>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Z out text 5-3"/>
          <p:cNvSpPr txBox="1"/>
          <p:nvPr/>
        </p:nvSpPr>
        <p:spPr>
          <a:xfrm>
            <a:off x="7589520" y="2807208"/>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−0.37</a:t>
            </a:r>
          </a:p>
        </p:txBody>
      </p:sp>
      <p:sp>
        <p:nvSpPr>
          <p:cNvPr id="44" name="Z out 6-1"/>
          <p:cNvSpPr/>
          <p:nvPr/>
        </p:nvSpPr>
        <p:spPr>
          <a:xfrm>
            <a:off x="5532120" y="320040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Z out text 6-1"/>
          <p:cNvSpPr txBox="1"/>
          <p:nvPr/>
        </p:nvSpPr>
        <p:spPr>
          <a:xfrm>
            <a:off x="5623560" y="3200400"/>
            <a:ext cx="7040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5</a:t>
            </a:r>
          </a:p>
        </p:txBody>
      </p:sp>
      <p:sp>
        <p:nvSpPr>
          <p:cNvPr id="46" name="Z out 6-2"/>
          <p:cNvSpPr/>
          <p:nvPr/>
        </p:nvSpPr>
        <p:spPr>
          <a:xfrm>
            <a:off x="6446520" y="3200400"/>
            <a:ext cx="102412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Z out text 6-2"/>
          <p:cNvSpPr txBox="1"/>
          <p:nvPr/>
        </p:nvSpPr>
        <p:spPr>
          <a:xfrm>
            <a:off x="6537960" y="3200400"/>
            <a:ext cx="84124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48" name="Z out 6-3"/>
          <p:cNvSpPr/>
          <p:nvPr/>
        </p:nvSpPr>
        <p:spPr>
          <a:xfrm>
            <a:off x="7498080" y="3200400"/>
            <a:ext cx="116128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Z out text 6-3"/>
          <p:cNvSpPr txBox="1"/>
          <p:nvPr/>
        </p:nvSpPr>
        <p:spPr>
          <a:xfrm>
            <a:off x="7589520" y="3200400"/>
            <a:ext cx="97840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−1.46</a:t>
            </a:r>
          </a:p>
        </p:txBody>
      </p:sp>
      <p:sp>
        <p:nvSpPr>
          <p:cNvPr id="50" name="Z out read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Z out read" descr=""/>
          <p:cNvPicPr>
            <a:picLocks noChangeAspect="1"/>
          </p:cNvPicPr>
          <p:nvPr/>
        </p:nvPicPr>
        <p:blipFill>
          <a:blip r:embed="rId3"/>
          <a:stretch>
            <a:fillRect/>
          </a:stretch>
        </p:blipFill>
        <p:spPr>
          <a:xfrm>
            <a:off x="658368" y="4251960"/>
            <a:ext cx="365760" cy="365760"/>
          </a:xfrm>
          <a:prstGeom prst="rect">
            <a:avLst/>
          </a:prstGeom>
        </p:spPr>
      </p:pic>
      <p:sp>
        <p:nvSpPr>
          <p:cNvPr id="52" name="Z out read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t>
            </a:r>
            <a:r>
              <a:rPr sz="1200" b="0" lang="en-GB">
                <a:solidFill>
                  <a:schemeClr val="tx1"/>
                </a:solidFill>
              </a:rPr>
              <a:t>week 5 lies 1.46 standard deviations below an average week.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covariance and correlation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v code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v code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by hand, then checked</a:t>
            </a:r>
          </a:p>
        </p:txBody>
      </p:sp>
      <p:sp>
        <p:nvSpPr>
          <p:cNvPr id="12" name="Cov code box"/>
          <p:cNvSpPr/>
          <p:nvPr/>
        </p:nvSpPr>
        <p:spPr>
          <a:xfrm>
            <a:off x="457200" y="1508760"/>
            <a:ext cx="4937760" cy="2468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v code code"/>
          <p:cNvSpPr txBox="1"/>
          <p:nvPr/>
        </p:nvSpPr>
        <p:spPr>
          <a:xfrm>
            <a:off x="594360" y="1600200"/>
            <a:ext cx="4663440" cy="22860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dev_p = kiosk["price"] - kiosk["price"].mean()</a:t>
            </a:r>
          </a:p>
          <a:p>
            <a:pPr algn="l">
              <a:spcAft>
                <a:spcPts val="0"/>
              </a:spcAft>
            </a:pPr>
            <a:r>
              <a:rPr sz="1100" b="0" lang="en-GB">
                <a:solidFill>
                  <a:schemeClr val="bg1"/>
                </a:solidFill>
                <a:latin typeface="Consolas"/>
              </a:rPr>
              <a:t>dev_u = kiosk["units"] - kiosk["units"].mean()</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cov = (dev_p * dev_u).sum() / (n - 1)          # -21.25</a:t>
            </a:r>
          </a:p>
          <a:p>
            <a:pPr algn="l">
              <a:spcAft>
                <a:spcPts val="0"/>
              </a:spcAft>
            </a:pPr>
            <a:r>
              <a:rPr sz="1100" b="0" lang="en-GB">
                <a:solidFill>
                  <a:schemeClr val="bg1"/>
                </a:solidFill>
                <a:latin typeface="Consolas"/>
              </a:rPr>
              <a:t>r = cov / (kiosk["price"].std()</a:t>
            </a:r>
          </a:p>
          <a:p>
            <a:pPr algn="l">
              <a:spcAft>
                <a:spcPts val="0"/>
              </a:spcAft>
            </a:pPr>
            <a:r>
              <a:rPr sz="1100" b="0" lang="en-GB">
                <a:solidFill>
                  <a:schemeClr val="bg1"/>
                </a:solidFill>
                <a:latin typeface="Consolas"/>
              </a:rPr>
              <a:t>           * kiosk["units"].std())             # -0.981</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kiosk.select(</a:t>
            </a:r>
          </a:p>
          <a:p>
            <a:pPr algn="l">
              <a:spcAft>
                <a:spcPts val="0"/>
              </a:spcAft>
            </a:pPr>
            <a:r>
              <a:rPr sz="1100" b="0" lang="en-GB">
                <a:solidFill>
                  <a:schemeClr val="bg1"/>
                </a:solidFill>
                <a:latin typeface="Consolas"/>
              </a:rPr>
              <a:t>    pl.cov("price", "units").alias("cov"),</a:t>
            </a:r>
          </a:p>
          <a:p>
            <a:pPr algn="l">
              <a:spcAft>
                <a:spcPts val="0"/>
              </a:spcAft>
            </a:pPr>
            <a:r>
              <a:rPr sz="1100" b="0" lang="en-GB">
                <a:solidFill>
                  <a:schemeClr val="bg1"/>
                </a:solidFill>
                <a:latin typeface="Consolas"/>
              </a:rPr>
              <a:t>    pl.corr("price", "units").alias("r"))      # check</a:t>
            </a:r>
          </a:p>
        </p:txBody>
      </p:sp>
      <p:sp>
        <p:nvSpPr>
          <p:cNvPr id="14" name="Cov out 1-1"/>
          <p:cNvSpPr/>
          <p:nvPr/>
        </p:nvSpPr>
        <p:spPr>
          <a:xfrm>
            <a:off x="5532120" y="1234440"/>
            <a:ext cx="18013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v out text 1-1"/>
          <p:cNvSpPr txBox="1"/>
          <p:nvPr/>
        </p:nvSpPr>
        <p:spPr>
          <a:xfrm>
            <a:off x="5623560" y="1234440"/>
            <a:ext cx="16184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Cov out 1-2"/>
          <p:cNvSpPr/>
          <p:nvPr/>
        </p:nvSpPr>
        <p:spPr>
          <a:xfrm>
            <a:off x="7360920" y="1234440"/>
            <a:ext cx="12984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v out text 1-2"/>
          <p:cNvSpPr txBox="1"/>
          <p:nvPr/>
        </p:nvSpPr>
        <p:spPr>
          <a:xfrm>
            <a:off x="7452360" y="1234440"/>
            <a:ext cx="11155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Cov out 2-1"/>
          <p:cNvSpPr/>
          <p:nvPr/>
        </p:nvSpPr>
        <p:spPr>
          <a:xfrm>
            <a:off x="5532120" y="1627632"/>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v out text 2-1"/>
          <p:cNvSpPr txBox="1"/>
          <p:nvPr/>
        </p:nvSpPr>
        <p:spPr>
          <a:xfrm>
            <a:off x="5623560" y="1627632"/>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covariance</a:t>
            </a:r>
          </a:p>
        </p:txBody>
      </p:sp>
      <p:sp>
        <p:nvSpPr>
          <p:cNvPr id="20" name="Cov out 2-2"/>
          <p:cNvSpPr/>
          <p:nvPr/>
        </p:nvSpPr>
        <p:spPr>
          <a:xfrm>
            <a:off x="7360920" y="1627632"/>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v out text 2-2"/>
          <p:cNvSpPr txBox="1"/>
          <p:nvPr/>
        </p:nvSpPr>
        <p:spPr>
          <a:xfrm>
            <a:off x="7452360" y="1627632"/>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−21.25</a:t>
            </a:r>
          </a:p>
        </p:txBody>
      </p:sp>
      <p:sp>
        <p:nvSpPr>
          <p:cNvPr id="22" name="Cov out 3-1"/>
          <p:cNvSpPr/>
          <p:nvPr/>
        </p:nvSpPr>
        <p:spPr>
          <a:xfrm>
            <a:off x="5532120" y="2020824"/>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v out text 3-1"/>
          <p:cNvSpPr txBox="1"/>
          <p:nvPr/>
        </p:nvSpPr>
        <p:spPr>
          <a:xfrm>
            <a:off x="5623560" y="2020824"/>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correlation</a:t>
            </a:r>
          </a:p>
        </p:txBody>
      </p:sp>
      <p:sp>
        <p:nvSpPr>
          <p:cNvPr id="24" name="Cov out 3-2"/>
          <p:cNvSpPr/>
          <p:nvPr/>
        </p:nvSpPr>
        <p:spPr>
          <a:xfrm>
            <a:off x="7360920" y="2020824"/>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v out text 3-2"/>
          <p:cNvSpPr txBox="1"/>
          <p:nvPr/>
        </p:nvSpPr>
        <p:spPr>
          <a:xfrm>
            <a:off x="7452360" y="2020824"/>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−0.981</a:t>
            </a:r>
          </a:p>
        </p:txBody>
      </p:sp>
      <p:sp>
        <p:nvSpPr>
          <p:cNvPr id="26" name="Cov out 4-1"/>
          <p:cNvSpPr/>
          <p:nvPr/>
        </p:nvSpPr>
        <p:spPr>
          <a:xfrm>
            <a:off x="5532120" y="2414016"/>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v out text 4-1"/>
          <p:cNvSpPr txBox="1"/>
          <p:nvPr/>
        </p:nvSpPr>
        <p:spPr>
          <a:xfrm>
            <a:off x="5623560" y="2414016"/>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pl.cov, check</a:t>
            </a:r>
          </a:p>
        </p:txBody>
      </p:sp>
      <p:sp>
        <p:nvSpPr>
          <p:cNvPr id="28" name="Cov out 4-2"/>
          <p:cNvSpPr/>
          <p:nvPr/>
        </p:nvSpPr>
        <p:spPr>
          <a:xfrm>
            <a:off x="7360920" y="2414016"/>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v out text 4-2"/>
          <p:cNvSpPr txBox="1"/>
          <p:nvPr/>
        </p:nvSpPr>
        <p:spPr>
          <a:xfrm>
            <a:off x="7452360" y="2414016"/>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−21.25</a:t>
            </a:r>
          </a:p>
        </p:txBody>
      </p:sp>
      <p:sp>
        <p:nvSpPr>
          <p:cNvPr id="30" name="Cov out 5-1"/>
          <p:cNvSpPr/>
          <p:nvPr/>
        </p:nvSpPr>
        <p:spPr>
          <a:xfrm>
            <a:off x="5532120" y="2807208"/>
            <a:ext cx="18013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ov out text 5-1"/>
          <p:cNvSpPr txBox="1"/>
          <p:nvPr/>
        </p:nvSpPr>
        <p:spPr>
          <a:xfrm>
            <a:off x="5623560" y="2807208"/>
            <a:ext cx="16184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pl.corr, check</a:t>
            </a:r>
          </a:p>
        </p:txBody>
      </p:sp>
      <p:sp>
        <p:nvSpPr>
          <p:cNvPr id="32" name="Cov out 5-2"/>
          <p:cNvSpPr/>
          <p:nvPr/>
        </p:nvSpPr>
        <p:spPr>
          <a:xfrm>
            <a:off x="7360920" y="2807208"/>
            <a:ext cx="12984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ov out text 5-2"/>
          <p:cNvSpPr txBox="1"/>
          <p:nvPr/>
        </p:nvSpPr>
        <p:spPr>
          <a:xfrm>
            <a:off x="7452360" y="2807208"/>
            <a:ext cx="11155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−0.981</a:t>
            </a:r>
          </a:p>
        </p:txBody>
      </p:sp>
      <p:sp>
        <p:nvSpPr>
          <p:cNvPr id="34" name="Cov same box"/>
          <p:cNvSpPr/>
          <p:nvPr/>
        </p:nvSpPr>
        <p:spPr>
          <a:xfrm>
            <a:off x="457200" y="41605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Cov same" descr=""/>
          <p:cNvPicPr>
            <a:picLocks noChangeAspect="1"/>
          </p:cNvPicPr>
          <p:nvPr/>
        </p:nvPicPr>
        <p:blipFill>
          <a:blip r:embed="rId3"/>
          <a:stretch>
            <a:fillRect/>
          </a:stretch>
        </p:blipFill>
        <p:spPr>
          <a:xfrm>
            <a:off x="658368" y="4251960"/>
            <a:ext cx="365760" cy="365760"/>
          </a:xfrm>
          <a:prstGeom prst="rect">
            <a:avLst/>
          </a:prstGeom>
        </p:spPr>
      </p:pic>
      <p:sp>
        <p:nvSpPr>
          <p:cNvPr id="36" name="Cov same text"/>
          <p:cNvSpPr txBox="1"/>
          <p:nvPr/>
        </p:nvSpPr>
        <p:spPr>
          <a:xfrm>
            <a:off x="1207008" y="41605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Same numbers </a:t>
            </a:r>
            <a:r>
              <a:rPr sz="1200" b="0" lang="en-GB">
                <a:solidFill>
                  <a:schemeClr val="tx1"/>
                </a:solidFill>
              </a:rPr>
              <a:t>as by hand: the computer only saves the typing.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look at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ot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lot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plotnine</a:t>
            </a:r>
          </a:p>
        </p:txBody>
      </p:sp>
      <p:sp>
        <p:nvSpPr>
          <p:cNvPr id="12" name="Plot code box"/>
          <p:cNvSpPr/>
          <p:nvPr/>
        </p:nvSpPr>
        <p:spPr>
          <a:xfrm>
            <a:off x="457200" y="1508760"/>
            <a:ext cx="4206240" cy="1737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lot code code"/>
          <p:cNvSpPr txBox="1"/>
          <p:nvPr/>
        </p:nvSpPr>
        <p:spPr>
          <a:xfrm>
            <a:off x="594360" y="1600200"/>
            <a:ext cx="3931920" cy="15544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from plotnine import (ggplot, aes,</a:t>
            </a:r>
          </a:p>
          <a:p>
            <a:pPr algn="l">
              <a:spcAft>
                <a:spcPts val="0"/>
              </a:spcAft>
            </a:pPr>
            <a:r>
              <a:rPr sz="1100" b="0" lang="en-GB">
                <a:solidFill>
                  <a:schemeClr val="bg1"/>
                </a:solidFill>
                <a:latin typeface="Consolas"/>
              </a:rPr>
              <a:t>                      geom_point, labs)</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(ggplot(kiosk, aes("price", "units"))</a:t>
            </a:r>
          </a:p>
          <a:p>
            <a:pPr algn="l">
              <a:spcAft>
                <a:spcPts val="0"/>
              </a:spcAft>
            </a:pPr>
            <a:r>
              <a:rPr sz="1100" b="0" lang="en-GB">
                <a:solidFill>
                  <a:schemeClr val="bg1"/>
                </a:solidFill>
                <a:latin typeface="Consolas"/>
              </a:rPr>
              <a:t> + geom_point(size=3)</a:t>
            </a:r>
          </a:p>
          <a:p>
            <a:pPr algn="l">
              <a:spcAft>
                <a:spcPts val="0"/>
              </a:spcAft>
            </a:pPr>
            <a:r>
              <a:rPr sz="1100" b="0" lang="en-GB">
                <a:solidFill>
                  <a:schemeClr val="bg1"/>
                </a:solidFill>
                <a:latin typeface="Consolas"/>
              </a:rPr>
              <a:t> + labs(x="Price (EUR)",</a:t>
            </a:r>
          </a:p>
          <a:p>
            <a:pPr algn="l">
              <a:spcAft>
                <a:spcPts val="0"/>
              </a:spcAft>
            </a:pPr>
            <a:r>
              <a:rPr sz="1100" b="0" lang="en-GB">
                <a:solidFill>
                  <a:schemeClr val="bg1"/>
                </a:solidFill>
                <a:latin typeface="Consolas"/>
              </a:rPr>
              <a:t>        y="Bars sold per week"))</a:t>
            </a:r>
          </a:p>
        </p:txBody>
      </p:sp>
      <p:pic>
        <p:nvPicPr>
          <p:cNvPr id="14" name="Chart ref_quadrants.png" descr="The scatter plot of price against bars sold for the five weeks"/>
          <p:cNvPicPr>
            <a:picLocks noChangeAspect="1"/>
          </p:cNvPicPr>
          <p:nvPr/>
        </p:nvPicPr>
        <p:blipFill>
          <a:blip r:embed="rId3"/>
          <a:stretch>
            <a:fillRect/>
          </a:stretch>
        </p:blipFill>
        <p:spPr>
          <a:xfrm>
            <a:off x="4800600" y="1234440"/>
            <a:ext cx="3886200" cy="2706624"/>
          </a:xfrm>
          <a:prstGeom prst="rect">
            <a:avLst/>
          </a:prstGeom>
        </p:spPr>
      </p:pic>
      <p:sp>
        <p:nvSpPr>
          <p:cNvPr id="15" name="Plot first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Plot first" descr=""/>
          <p:cNvPicPr>
            <a:picLocks noChangeAspect="1"/>
          </p:cNvPicPr>
          <p:nvPr/>
        </p:nvPicPr>
        <p:blipFill>
          <a:blip r:embed="rId4"/>
          <a:stretch>
            <a:fillRect/>
          </a:stretch>
        </p:blipFill>
        <p:spPr>
          <a:xfrm>
            <a:off x="658368" y="4274820"/>
            <a:ext cx="365760" cy="365760"/>
          </a:xfrm>
          <a:prstGeom prst="rect">
            <a:avLst/>
          </a:prstGeom>
        </p:spPr>
      </p:pic>
      <p:sp>
        <p:nvSpPr>
          <p:cNvPr id="17" name="Plot first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Plot first: </a:t>
            </a:r>
            <a:r>
              <a:rPr sz="1300" b="0" lang="en-GB">
                <a:solidFill>
                  <a:schemeClr val="bg1"/>
                </a:solidFill>
              </a:rPr>
              <a:t>a correlation can hide a curve, an outlier or two groups.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by hand, then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paper:</a:t>
            </a:r>
            <a:br/>
            <a:r>
              <a:rPr sz="1200" b="1" lang="en-GB">
                <a:solidFill>
                  <a:schemeClr val="tx2"/>
                </a:solidFill>
              </a:rPr>
              <a:t>10 minutes</a:t>
            </a:r>
          </a:p>
        </p:txBody>
      </p:sp>
      <p:sp>
        <p:nvSpPr>
          <p:cNvPr id="11" name="Turn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Python check:</a:t>
            </a:r>
            <a:br/>
            <a:r>
              <a:rPr sz="1200" b="1" lang="en-GB">
                <a:solidFill>
                  <a:schemeClr val="tx2"/>
                </a:solidFill>
              </a:rPr>
              <a:t>10 minutes</a:t>
            </a:r>
          </a:p>
        </p:txBody>
      </p:sp>
      <p:sp>
        <p:nvSpPr>
          <p:cNvPr id="12" name="Turn data 1-1"/>
          <p:cNvSpPr/>
          <p:nvPr/>
        </p:nvSpPr>
        <p:spPr>
          <a:xfrm>
            <a:off x="457200" y="1828800"/>
            <a:ext cx="8412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urn data text 1-1"/>
          <p:cNvSpPr txBox="1"/>
          <p:nvPr/>
        </p:nvSpPr>
        <p:spPr>
          <a:xfrm>
            <a:off x="548640" y="1828800"/>
            <a:ext cx="65836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Day</a:t>
            </a:r>
          </a:p>
        </p:txBody>
      </p:sp>
      <p:sp>
        <p:nvSpPr>
          <p:cNvPr id="14" name="Turn data 1-2"/>
          <p:cNvSpPr/>
          <p:nvPr/>
        </p:nvSpPr>
        <p:spPr>
          <a:xfrm>
            <a:off x="1325880" y="1828800"/>
            <a:ext cx="106984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urn data text 1-2"/>
          <p:cNvSpPr txBox="1"/>
          <p:nvPr/>
        </p:nvSpPr>
        <p:spPr>
          <a:xfrm>
            <a:off x="1417320" y="1828800"/>
            <a:ext cx="88696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Temp. °C</a:t>
            </a:r>
          </a:p>
        </p:txBody>
      </p:sp>
      <p:sp>
        <p:nvSpPr>
          <p:cNvPr id="16" name="Turn data 1-3"/>
          <p:cNvSpPr/>
          <p:nvPr/>
        </p:nvSpPr>
        <p:spPr>
          <a:xfrm>
            <a:off x="2423160" y="182880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data text 1-3"/>
          <p:cNvSpPr txBox="1"/>
          <p:nvPr/>
        </p:nvSpPr>
        <p:spPr>
          <a:xfrm>
            <a:off x="2514600" y="1828800"/>
            <a:ext cx="70408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Bars</a:t>
            </a:r>
          </a:p>
        </p:txBody>
      </p:sp>
      <p:sp>
        <p:nvSpPr>
          <p:cNvPr id="18" name="Turn data 2-1"/>
          <p:cNvSpPr/>
          <p:nvPr/>
        </p:nvSpPr>
        <p:spPr>
          <a:xfrm>
            <a:off x="457200" y="2221992"/>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urn data text 2-1"/>
          <p:cNvSpPr txBox="1"/>
          <p:nvPr/>
        </p:nvSpPr>
        <p:spPr>
          <a:xfrm>
            <a:off x="548640" y="2221992"/>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Mon</a:t>
            </a:r>
          </a:p>
        </p:txBody>
      </p:sp>
      <p:sp>
        <p:nvSpPr>
          <p:cNvPr id="20" name="Turn data 2-2"/>
          <p:cNvSpPr/>
          <p:nvPr/>
        </p:nvSpPr>
        <p:spPr>
          <a:xfrm>
            <a:off x="1325880" y="2221992"/>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urn data text 2-2"/>
          <p:cNvSpPr txBox="1"/>
          <p:nvPr/>
        </p:nvSpPr>
        <p:spPr>
          <a:xfrm>
            <a:off x="1417320" y="2221992"/>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2" name="Turn data 2-3"/>
          <p:cNvSpPr/>
          <p:nvPr/>
        </p:nvSpPr>
        <p:spPr>
          <a:xfrm>
            <a:off x="2423160" y="222199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data text 2-3"/>
          <p:cNvSpPr txBox="1"/>
          <p:nvPr/>
        </p:nvSpPr>
        <p:spPr>
          <a:xfrm>
            <a:off x="2514600" y="2221992"/>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60</a:t>
            </a:r>
          </a:p>
        </p:txBody>
      </p:sp>
      <p:sp>
        <p:nvSpPr>
          <p:cNvPr id="24" name="Turn data 3-1"/>
          <p:cNvSpPr/>
          <p:nvPr/>
        </p:nvSpPr>
        <p:spPr>
          <a:xfrm>
            <a:off x="457200" y="2615184"/>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urn data text 3-1"/>
          <p:cNvSpPr txBox="1"/>
          <p:nvPr/>
        </p:nvSpPr>
        <p:spPr>
          <a:xfrm>
            <a:off x="548640" y="2615184"/>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Tue</a:t>
            </a:r>
          </a:p>
        </p:txBody>
      </p:sp>
      <p:sp>
        <p:nvSpPr>
          <p:cNvPr id="26" name="Turn data 3-2"/>
          <p:cNvSpPr/>
          <p:nvPr/>
        </p:nvSpPr>
        <p:spPr>
          <a:xfrm>
            <a:off x="1325880" y="2615184"/>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urn data text 3-2"/>
          <p:cNvSpPr txBox="1"/>
          <p:nvPr/>
        </p:nvSpPr>
        <p:spPr>
          <a:xfrm>
            <a:off x="1417320" y="2615184"/>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15</a:t>
            </a:r>
          </a:p>
        </p:txBody>
      </p:sp>
      <p:sp>
        <p:nvSpPr>
          <p:cNvPr id="28" name="Turn data 3-3"/>
          <p:cNvSpPr/>
          <p:nvPr/>
        </p:nvSpPr>
        <p:spPr>
          <a:xfrm>
            <a:off x="2423160" y="261518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urn data text 3-3"/>
          <p:cNvSpPr txBox="1"/>
          <p:nvPr/>
        </p:nvSpPr>
        <p:spPr>
          <a:xfrm>
            <a:off x="2514600" y="2615184"/>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55</a:t>
            </a:r>
          </a:p>
        </p:txBody>
      </p:sp>
      <p:sp>
        <p:nvSpPr>
          <p:cNvPr id="30" name="Turn data 4-1"/>
          <p:cNvSpPr/>
          <p:nvPr/>
        </p:nvSpPr>
        <p:spPr>
          <a:xfrm>
            <a:off x="457200" y="3008376"/>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urn data text 4-1"/>
          <p:cNvSpPr txBox="1"/>
          <p:nvPr/>
        </p:nvSpPr>
        <p:spPr>
          <a:xfrm>
            <a:off x="548640" y="3008376"/>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Wed</a:t>
            </a:r>
          </a:p>
        </p:txBody>
      </p:sp>
      <p:sp>
        <p:nvSpPr>
          <p:cNvPr id="32" name="Turn data 4-2"/>
          <p:cNvSpPr/>
          <p:nvPr/>
        </p:nvSpPr>
        <p:spPr>
          <a:xfrm>
            <a:off x="1325880" y="3008376"/>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urn data text 4-2"/>
          <p:cNvSpPr txBox="1"/>
          <p:nvPr/>
        </p:nvSpPr>
        <p:spPr>
          <a:xfrm>
            <a:off x="1417320" y="3008376"/>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34" name="Turn data 4-3"/>
          <p:cNvSpPr/>
          <p:nvPr/>
        </p:nvSpPr>
        <p:spPr>
          <a:xfrm>
            <a:off x="2423160" y="300837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urn data text 4-3"/>
          <p:cNvSpPr txBox="1"/>
          <p:nvPr/>
        </p:nvSpPr>
        <p:spPr>
          <a:xfrm>
            <a:off x="2514600" y="3008376"/>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36" name="Turn data 5-1"/>
          <p:cNvSpPr/>
          <p:nvPr/>
        </p:nvSpPr>
        <p:spPr>
          <a:xfrm>
            <a:off x="457200" y="3401568"/>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urn data text 5-1"/>
          <p:cNvSpPr txBox="1"/>
          <p:nvPr/>
        </p:nvSpPr>
        <p:spPr>
          <a:xfrm>
            <a:off x="548640" y="3401568"/>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Thu</a:t>
            </a:r>
          </a:p>
        </p:txBody>
      </p:sp>
      <p:sp>
        <p:nvSpPr>
          <p:cNvPr id="38" name="Turn data 5-2"/>
          <p:cNvSpPr/>
          <p:nvPr/>
        </p:nvSpPr>
        <p:spPr>
          <a:xfrm>
            <a:off x="1325880" y="3401568"/>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urn data text 5-2"/>
          <p:cNvSpPr txBox="1"/>
          <p:nvPr/>
        </p:nvSpPr>
        <p:spPr>
          <a:xfrm>
            <a:off x="1417320" y="3401568"/>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25</a:t>
            </a:r>
          </a:p>
        </p:txBody>
      </p:sp>
      <p:sp>
        <p:nvSpPr>
          <p:cNvPr id="40" name="Turn data 5-3"/>
          <p:cNvSpPr/>
          <p:nvPr/>
        </p:nvSpPr>
        <p:spPr>
          <a:xfrm>
            <a:off x="2423160" y="340156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urn data text 5-3"/>
          <p:cNvSpPr txBox="1"/>
          <p:nvPr/>
        </p:nvSpPr>
        <p:spPr>
          <a:xfrm>
            <a:off x="2514600" y="3401568"/>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42" name="Turn data 6-1"/>
          <p:cNvSpPr/>
          <p:nvPr/>
        </p:nvSpPr>
        <p:spPr>
          <a:xfrm>
            <a:off x="457200" y="3794760"/>
            <a:ext cx="8412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urn data text 6-1"/>
          <p:cNvSpPr txBox="1"/>
          <p:nvPr/>
        </p:nvSpPr>
        <p:spPr>
          <a:xfrm>
            <a:off x="548640" y="3794760"/>
            <a:ext cx="65836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Fri</a:t>
            </a:r>
          </a:p>
        </p:txBody>
      </p:sp>
      <p:sp>
        <p:nvSpPr>
          <p:cNvPr id="44" name="Turn data 6-2"/>
          <p:cNvSpPr/>
          <p:nvPr/>
        </p:nvSpPr>
        <p:spPr>
          <a:xfrm>
            <a:off x="1325880" y="3794760"/>
            <a:ext cx="106984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urn data text 6-2"/>
          <p:cNvSpPr txBox="1"/>
          <p:nvPr/>
        </p:nvSpPr>
        <p:spPr>
          <a:xfrm>
            <a:off x="1417320" y="3794760"/>
            <a:ext cx="88696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46" name="Turn data 6-3"/>
          <p:cNvSpPr/>
          <p:nvPr/>
        </p:nvSpPr>
        <p:spPr>
          <a:xfrm>
            <a:off x="2423160" y="379476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urn data text 6-3"/>
          <p:cNvSpPr txBox="1"/>
          <p:nvPr/>
        </p:nvSpPr>
        <p:spPr>
          <a:xfrm>
            <a:off x="2514600" y="3794760"/>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35</a:t>
            </a:r>
          </a:p>
        </p:txBody>
      </p:sp>
      <p:sp>
        <p:nvSpPr>
          <p:cNvPr id="48" name="Turn q row 1"/>
          <p:cNvSpPr/>
          <p:nvPr/>
        </p:nvSpPr>
        <p:spPr>
          <a:xfrm>
            <a:off x="3520440" y="1828800"/>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urn q number 1"/>
          <p:cNvSpPr/>
          <p:nvPr/>
        </p:nvSpPr>
        <p:spPr>
          <a:xfrm>
            <a:off x="3657600" y="19019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50" name="Turn q text 1"/>
          <p:cNvSpPr txBox="1"/>
          <p:nvPr/>
        </p:nvSpPr>
        <p:spPr>
          <a:xfrm>
            <a:off x="4114800" y="1828800"/>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Scales: </a:t>
            </a:r>
            <a:r>
              <a:rPr sz="1200" b="0" lang="en-GB">
                <a:solidFill>
                  <a:schemeClr val="tx1"/>
                </a:solidFill>
              </a:rPr>
              <a:t>which scale is each column?</a:t>
            </a:r>
          </a:p>
        </p:txBody>
      </p:sp>
      <p:sp>
        <p:nvSpPr>
          <p:cNvPr id="51" name="Turn q row 2"/>
          <p:cNvSpPr/>
          <p:nvPr/>
        </p:nvSpPr>
        <p:spPr>
          <a:xfrm>
            <a:off x="3520440" y="2350008"/>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urn q number 2"/>
          <p:cNvSpPr/>
          <p:nvPr/>
        </p:nvSpPr>
        <p:spPr>
          <a:xfrm>
            <a:off x="3657600" y="24231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53" name="Turn q text 2"/>
          <p:cNvSpPr txBox="1"/>
          <p:nvPr/>
        </p:nvSpPr>
        <p:spPr>
          <a:xfrm>
            <a:off x="4114800" y="2350008"/>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Centre: </a:t>
            </a:r>
            <a:r>
              <a:rPr sz="1200" b="0" lang="en-GB">
                <a:solidFill>
                  <a:schemeClr val="tx1"/>
                </a:solidFill>
              </a:rPr>
              <a:t>mean and median of bars sold</a:t>
            </a:r>
          </a:p>
        </p:txBody>
      </p:sp>
      <p:sp>
        <p:nvSpPr>
          <p:cNvPr id="54" name="Turn q row 3"/>
          <p:cNvSpPr/>
          <p:nvPr/>
        </p:nvSpPr>
        <p:spPr>
          <a:xfrm>
            <a:off x="3520440" y="2871216"/>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urn q number 3"/>
          <p:cNvSpPr/>
          <p:nvPr/>
        </p:nvSpPr>
        <p:spPr>
          <a:xfrm>
            <a:off x="3657600" y="29443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56" name="Turn q text 3"/>
          <p:cNvSpPr txBox="1"/>
          <p:nvPr/>
        </p:nvSpPr>
        <p:spPr>
          <a:xfrm>
            <a:off x="4114800" y="2871216"/>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Spread: </a:t>
            </a:r>
            <a:r>
              <a:rPr sz="1200" b="0" lang="en-GB">
                <a:solidFill>
                  <a:schemeClr val="tx1"/>
                </a:solidFill>
              </a:rPr>
              <a:t>variance and sd of bars, by hand</a:t>
            </a:r>
          </a:p>
        </p:txBody>
      </p:sp>
      <p:sp>
        <p:nvSpPr>
          <p:cNvPr id="57" name="Turn q row 4"/>
          <p:cNvSpPr/>
          <p:nvPr/>
        </p:nvSpPr>
        <p:spPr>
          <a:xfrm>
            <a:off x="3520440" y="3392424"/>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urn q number 4"/>
          <p:cNvSpPr/>
          <p:nvPr/>
        </p:nvSpPr>
        <p:spPr>
          <a:xfrm>
            <a:off x="3657600" y="34655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59" name="Turn q text 4"/>
          <p:cNvSpPr txBox="1"/>
          <p:nvPr/>
        </p:nvSpPr>
        <p:spPr>
          <a:xfrm>
            <a:off x="4114800" y="3392424"/>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z: </a:t>
            </a:r>
            <a:r>
              <a:rPr sz="1200" b="0" lang="en-GB">
                <a:solidFill>
                  <a:schemeClr val="tx1"/>
                </a:solidFill>
              </a:rPr>
              <a:t>z-score of the hottest day's sales</a:t>
            </a:r>
          </a:p>
        </p:txBody>
      </p:sp>
      <p:sp>
        <p:nvSpPr>
          <p:cNvPr id="60" name="Turn q row 5"/>
          <p:cNvSpPr/>
          <p:nvPr/>
        </p:nvSpPr>
        <p:spPr>
          <a:xfrm>
            <a:off x="3520440" y="3913632"/>
            <a:ext cx="516636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urn q number 5"/>
          <p:cNvSpPr/>
          <p:nvPr/>
        </p:nvSpPr>
        <p:spPr>
          <a:xfrm>
            <a:off x="3657600" y="39867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62" name="Turn q text 5"/>
          <p:cNvSpPr txBox="1"/>
          <p:nvPr/>
        </p:nvSpPr>
        <p:spPr>
          <a:xfrm>
            <a:off x="4114800" y="3913632"/>
            <a:ext cx="44348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Together: </a:t>
            </a:r>
            <a:r>
              <a:rPr sz="1200" b="0" lang="en-GB">
                <a:solidFill>
                  <a:schemeClr val="tx1"/>
                </a:solidFill>
              </a:rPr>
              <a:t>covariance and r of temperature and bars; then check all in Python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Quiz 1: statistics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Satisfaction from 1 to 5 stars is measured on which scale?</a:t>
            </a:r>
          </a:p>
          <a:p>
            <a:pPr algn="l">
              <a:spcAft>
                <a:spcPts val="100"/>
              </a:spcAft>
            </a:pPr>
            <a:r>
              <a:rPr sz="1200" b="0" lang="en-GB">
                <a:solidFill>
                  <a:schemeClr val="tx1"/>
                </a:solidFill>
              </a:rPr>
              <a:t>A nominal     B ordinal     C ratio</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Daily sales 10, 12, 11, 13, 54: what describes a typical day best?</a:t>
            </a:r>
          </a:p>
          <a:p>
            <a:pPr algn="l">
              <a:spcAft>
                <a:spcPts val="100"/>
              </a:spcAft>
            </a:pPr>
            <a:r>
              <a:rPr sz="1200" b="0" lang="en-GB">
                <a:solidFill>
                  <a:schemeClr val="tx1"/>
                </a:solidFill>
              </a:rPr>
              <a:t>A the mean (20)     B the median (12)     C the standard deviation</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You survey four times as many customers. The standard error of the mean …</a:t>
            </a:r>
          </a:p>
          <a:p>
            <a:pPr algn="l">
              <a:spcAft>
                <a:spcPts val="100"/>
              </a:spcAft>
            </a:pPr>
            <a:r>
              <a:rPr sz="1200" b="0" lang="en-GB">
                <a:solidFill>
                  <a:schemeClr val="tx1"/>
                </a:solidFill>
              </a:rPr>
              <a:t>A halves     B falls to a quarter     C stays the same</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A week's sales have z = −2. That week was …</a:t>
            </a:r>
          </a:p>
          <a:p>
            <a:pPr algn="l">
              <a:spcAft>
                <a:spcPts val="100"/>
              </a:spcAft>
            </a:pPr>
            <a:r>
              <a:rPr sz="1200" b="0" lang="en-GB">
                <a:solidFill>
                  <a:schemeClr val="tx1"/>
                </a:solidFill>
              </a:rPr>
              <a:t>A 2 bars below the mean     B 2 standard deviations below the mean     C 2 % below the mean</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Price and bars sold have r = −0.98. What does this mean?</a:t>
            </a:r>
          </a:p>
          <a:p>
            <a:pPr algn="l">
              <a:spcAft>
                <a:spcPts val="100"/>
              </a:spcAft>
            </a:pPr>
            <a:r>
              <a:rPr sz="1200" b="0" lang="en-GB">
                <a:solidFill>
                  <a:schemeClr val="tx1"/>
                </a:solidFill>
              </a:rPr>
              <a:t>A higher prices cause lower sales     B opposite directions, nearly linear     C 0.98 bars fewer per EUR</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3 minutes alone, </a:t>
            </a:r>
            <a:r>
              <a:rPr sz="1200" b="0" lang="en-GB">
                <a:solidFill>
                  <a:schemeClr val="bg1"/>
                </a:solidFill>
              </a:rPr>
              <a:t>then compare with your neighbour. Same format as the online quiz and the exam.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Refresher: 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Scale </a:t>
            </a:r>
            <a:r>
              <a:rPr sz="1200" b="0" lang="en-GB">
                <a:solidFill>
                  <a:schemeClr val="tx1"/>
                </a:solidFill>
              </a:rPr>
              <a:t>first: it decides which statistics make sense</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Mean and median: </a:t>
            </a:r>
            <a:r>
              <a:rPr sz="1200" b="0" lang="en-GB">
                <a:solidFill>
                  <a:schemeClr val="tx1"/>
                </a:solidFill>
              </a:rPr>
              <a:t>the median resists outliers; totals need the mean</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sd </a:t>
            </a:r>
            <a:r>
              <a:rPr sz="1200" b="0" lang="en-GB">
                <a:solidFill>
                  <a:schemeClr val="tx1"/>
                </a:solidFill>
              </a:rPr>
              <a:t>describes the data; SE = sd / √n describes the precision of the mean</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z = (x − x̄) / s </a:t>
            </a:r>
            <a:r>
              <a:rPr sz="1200" b="0" lang="en-GB">
                <a:solidFill>
                  <a:schemeClr val="tx1"/>
                </a:solidFill>
              </a:rPr>
              <a:t>makes values comparable; 95 % of a normal lies within ±1.96 sd</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Covariance </a:t>
            </a:r>
            <a:r>
              <a:rPr sz="1200" b="0" lang="en-GB">
                <a:solidFill>
                  <a:schemeClr val="tx1"/>
                </a:solidFill>
              </a:rPr>
              <a:t>gives the direction, correlation the strength (−1 to +1), regression the size</a:t>
            </a:r>
          </a:p>
        </p:txBody>
      </p:sp>
      <p:sp>
        <p:nvSpPr>
          <p:cNvPr id="25" name="Take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Next: </a:t>
            </a:r>
            <a:r>
              <a:rPr sz="1200" b="0" lang="en-GB">
                <a:solidFill>
                  <a:schemeClr val="bg1"/>
                </a:solidFill>
              </a:rPr>
              <a:t>linear regression on real chocolate scanner data, Parts 6 to 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11 · real data, simple and multiple regression, inference, fit, logs, from elasticity to price</a:t>
            </a:r>
          </a:p>
        </p:txBody>
      </p:sp>
      <p:sp>
        <p:nvSpPr>
          <p:cNvPr id="3" name="Title 2"/>
          <p:cNvSpPr>
            <a:spLocks noGrp="1"/>
          </p:cNvSpPr>
          <p:nvPr>
            <p:ph type="ctrTitle"/>
          </p:nvPr>
        </p:nvSpPr>
        <p:spPr/>
        <p:txBody>
          <a:bodyPr/>
          <a:lstStyle/>
          <a:p>
            <a:r>
              <a:rPr sz="1600" lang="en-GB"/>
              <a:t>Linear regression: theory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question: what does a price cut sell?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sales_time.png" descr="Line chart of weekly sales of brand 1 over 68 weeks: mostly between 60 and 120, with seven spikes up to about 530 in price-cut weeks, marked with blue dots"/>
          <p:cNvPicPr>
            <a:picLocks noChangeAspect="1"/>
          </p:cNvPicPr>
          <p:nvPr/>
        </p:nvPicPr>
        <p:blipFill>
          <a:blip r:embed="rId3"/>
          <a:stretch>
            <a:fillRect/>
          </a:stretch>
        </p:blipFill>
        <p:spPr>
          <a:xfrm>
            <a:off x="457200" y="1234440"/>
            <a:ext cx="4572000" cy="2743200"/>
          </a:xfrm>
          <a:prstGeom prst="rect">
            <a:avLst/>
          </a:prstGeom>
        </p:spPr>
      </p:pic>
      <p:sp>
        <p:nvSpPr>
          <p:cNvPr id="11" name="Sales caption"/>
          <p:cNvSpPr txBox="1"/>
          <p:nvPr/>
        </p:nvSpPr>
        <p:spPr>
          <a:xfrm>
            <a:off x="457200" y="4023360"/>
            <a:ext cx="45720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Weekly sales of brand 1; blue: weeks with a price cut (price below 1.20).</a:t>
            </a:r>
          </a:p>
        </p:txBody>
      </p:sp>
      <p:sp>
        <p:nvSpPr>
          <p:cNvPr id="12" name="Question row 1"/>
          <p:cNvSpPr/>
          <p:nvPr/>
        </p:nvSpPr>
        <p:spPr>
          <a:xfrm>
            <a:off x="5166360" y="1234440"/>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Question bar 1"/>
          <p:cNvSpPr/>
          <p:nvPr/>
        </p:nvSpPr>
        <p:spPr>
          <a:xfrm>
            <a:off x="5166360" y="1234440"/>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estion text 1"/>
          <p:cNvSpPr txBox="1"/>
          <p:nvPr/>
        </p:nvSpPr>
        <p:spPr>
          <a:xfrm>
            <a:off x="5367528" y="1234440"/>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Data: </a:t>
            </a:r>
            <a:r>
              <a:rPr sz="1200" b="0" lang="en-GB">
                <a:solidFill>
                  <a:schemeClr val="tx1"/>
                </a:solidFill>
              </a:rPr>
              <a:t>68 weeks of real scanner data, 4 brands</a:t>
            </a:r>
          </a:p>
        </p:txBody>
      </p:sp>
      <p:sp>
        <p:nvSpPr>
          <p:cNvPr id="15" name="Question row 2"/>
          <p:cNvSpPr/>
          <p:nvPr/>
        </p:nvSpPr>
        <p:spPr>
          <a:xfrm>
            <a:off x="5166360" y="1929384"/>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Question bar 2"/>
          <p:cNvSpPr/>
          <p:nvPr/>
        </p:nvSpPr>
        <p:spPr>
          <a:xfrm>
            <a:off x="5166360" y="1929384"/>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estion text 2"/>
          <p:cNvSpPr txBox="1"/>
          <p:nvPr/>
        </p:nvSpPr>
        <p:spPr>
          <a:xfrm>
            <a:off x="5367528" y="1929384"/>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Normal week: </a:t>
            </a:r>
            <a:r>
              <a:rPr sz="1200" b="0" lang="en-GB">
                <a:solidFill>
                  <a:schemeClr val="tx1"/>
                </a:solidFill>
              </a:rPr>
              <a:t>price about 1.50, sales about 100</a:t>
            </a:r>
          </a:p>
        </p:txBody>
      </p:sp>
      <p:sp>
        <p:nvSpPr>
          <p:cNvPr id="18" name="Question row 3"/>
          <p:cNvSpPr/>
          <p:nvPr/>
        </p:nvSpPr>
        <p:spPr>
          <a:xfrm>
            <a:off x="5166360" y="2624328"/>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Question bar 3"/>
          <p:cNvSpPr/>
          <p:nvPr/>
        </p:nvSpPr>
        <p:spPr>
          <a:xfrm>
            <a:off x="5166360" y="2624328"/>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estion text 3"/>
          <p:cNvSpPr txBox="1"/>
          <p:nvPr/>
        </p:nvSpPr>
        <p:spPr>
          <a:xfrm>
            <a:off x="5367528" y="2624328"/>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Price-cut week: </a:t>
            </a:r>
            <a:r>
              <a:rPr sz="1200" b="0" lang="en-GB">
                <a:solidFill>
                  <a:schemeClr val="tx1"/>
                </a:solidFill>
              </a:rPr>
              <a:t>price about 1.03, sales up to 530</a:t>
            </a:r>
          </a:p>
        </p:txBody>
      </p:sp>
      <p:sp>
        <p:nvSpPr>
          <p:cNvPr id="21" name="Question row 4"/>
          <p:cNvSpPr/>
          <p:nvPr/>
        </p:nvSpPr>
        <p:spPr>
          <a:xfrm>
            <a:off x="5166360" y="3319272"/>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estion bar 4"/>
          <p:cNvSpPr/>
          <p:nvPr/>
        </p:nvSpPr>
        <p:spPr>
          <a:xfrm>
            <a:off x="5166360" y="3319272"/>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estion text 4"/>
          <p:cNvSpPr txBox="1"/>
          <p:nvPr/>
        </p:nvSpPr>
        <p:spPr>
          <a:xfrm>
            <a:off x="5367528" y="3319272"/>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Also in the data: </a:t>
            </a:r>
            <a:r>
              <a:rPr sz="1200" b="0" lang="en-GB">
                <a:solidFill>
                  <a:schemeClr val="tx1"/>
                </a:solidFill>
              </a:rPr>
              <a:t>competitor prices, features, displays, temperature, holidays</a:t>
            </a:r>
          </a:p>
        </p:txBody>
      </p:sp>
      <p:sp>
        <p:nvSpPr>
          <p:cNvPr id="24" name="Manager question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Manager question" descr=""/>
          <p:cNvPicPr>
            <a:picLocks noChangeAspect="1"/>
          </p:cNvPicPr>
          <p:nvPr/>
        </p:nvPicPr>
        <p:blipFill>
          <a:blip r:embed="rId4"/>
          <a:stretch>
            <a:fillRect/>
          </a:stretch>
        </p:blipFill>
        <p:spPr>
          <a:xfrm>
            <a:off x="658368" y="4480560"/>
            <a:ext cx="365760" cy="365760"/>
          </a:xfrm>
          <a:prstGeom prst="rect">
            <a:avLst/>
          </a:prstGeom>
        </p:spPr>
      </p:pic>
      <p:sp>
        <p:nvSpPr>
          <p:cNvPr id="26" name="Manager question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The manager asks: </a:t>
            </a:r>
            <a:r>
              <a:rPr sz="1300" b="0" lang="en-GB">
                <a:solidFill>
                  <a:schemeClr val="bg1"/>
                </a:solidFill>
              </a:rPr>
              <a:t>how much does 1 % lower price sell, and is the regular price right?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on real data: how strong is strong?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 label"/>
          <p:cNvSpPr txBox="1"/>
          <p:nvPr/>
        </p:nvSpPr>
        <p:spPr>
          <a:xfrm>
            <a:off x="457200" y="1234440"/>
            <a:ext cx="4023360" cy="32004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Rule of thumb for |r|</a:t>
            </a:r>
          </a:p>
        </p:txBody>
      </p:sp>
      <p:sp>
        <p:nvSpPr>
          <p:cNvPr id="11" name="r table 1-1"/>
          <p:cNvSpPr/>
          <p:nvPr/>
        </p:nvSpPr>
        <p:spPr>
          <a:xfrm>
            <a:off x="457200" y="1645920"/>
            <a:ext cx="13441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 table text 1-1"/>
          <p:cNvSpPr txBox="1"/>
          <p:nvPr/>
        </p:nvSpPr>
        <p:spPr>
          <a:xfrm>
            <a:off x="548640" y="1645920"/>
            <a:ext cx="11612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|r|</a:t>
            </a:r>
          </a:p>
        </p:txBody>
      </p:sp>
      <p:sp>
        <p:nvSpPr>
          <p:cNvPr id="13" name="r table 1-2"/>
          <p:cNvSpPr/>
          <p:nvPr/>
        </p:nvSpPr>
        <p:spPr>
          <a:xfrm>
            <a:off x="1828800" y="1645920"/>
            <a:ext cx="26243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 table text 1-2"/>
          <p:cNvSpPr txBox="1"/>
          <p:nvPr/>
        </p:nvSpPr>
        <p:spPr>
          <a:xfrm>
            <a:off x="1920240" y="1645920"/>
            <a:ext cx="244144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Interpretation</a:t>
            </a:r>
          </a:p>
        </p:txBody>
      </p:sp>
      <p:sp>
        <p:nvSpPr>
          <p:cNvPr id="15" name="r table 2-1"/>
          <p:cNvSpPr/>
          <p:nvPr/>
        </p:nvSpPr>
        <p:spPr>
          <a:xfrm>
            <a:off x="457200" y="2020824"/>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 table text 2-1"/>
          <p:cNvSpPr txBox="1"/>
          <p:nvPr/>
        </p:nvSpPr>
        <p:spPr>
          <a:xfrm>
            <a:off x="548640" y="2020824"/>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 to 0.2</a:t>
            </a:r>
          </a:p>
        </p:txBody>
      </p:sp>
      <p:sp>
        <p:nvSpPr>
          <p:cNvPr id="17" name="r table 2-2"/>
          <p:cNvSpPr/>
          <p:nvPr/>
        </p:nvSpPr>
        <p:spPr>
          <a:xfrm>
            <a:off x="1828800" y="2020824"/>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 table text 2-2"/>
          <p:cNvSpPr txBox="1"/>
          <p:nvPr/>
        </p:nvSpPr>
        <p:spPr>
          <a:xfrm>
            <a:off x="1920240" y="2020824"/>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very weak</a:t>
            </a:r>
          </a:p>
        </p:txBody>
      </p:sp>
      <p:sp>
        <p:nvSpPr>
          <p:cNvPr id="19" name="r table 3-1"/>
          <p:cNvSpPr/>
          <p:nvPr/>
        </p:nvSpPr>
        <p:spPr>
          <a:xfrm>
            <a:off x="457200" y="2395728"/>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 table text 3-1"/>
          <p:cNvSpPr txBox="1"/>
          <p:nvPr/>
        </p:nvSpPr>
        <p:spPr>
          <a:xfrm>
            <a:off x="548640" y="2395728"/>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0.2 to 0.4</a:t>
            </a:r>
          </a:p>
        </p:txBody>
      </p:sp>
      <p:sp>
        <p:nvSpPr>
          <p:cNvPr id="21" name="r table 3-2"/>
          <p:cNvSpPr/>
          <p:nvPr/>
        </p:nvSpPr>
        <p:spPr>
          <a:xfrm>
            <a:off x="1828800" y="2395728"/>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 table text 3-2"/>
          <p:cNvSpPr txBox="1"/>
          <p:nvPr/>
        </p:nvSpPr>
        <p:spPr>
          <a:xfrm>
            <a:off x="1920240" y="2395728"/>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weak to moderate</a:t>
            </a:r>
          </a:p>
        </p:txBody>
      </p:sp>
      <p:sp>
        <p:nvSpPr>
          <p:cNvPr id="23" name="r table 4-1"/>
          <p:cNvSpPr/>
          <p:nvPr/>
        </p:nvSpPr>
        <p:spPr>
          <a:xfrm>
            <a:off x="457200" y="2770632"/>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 table text 4-1"/>
          <p:cNvSpPr txBox="1"/>
          <p:nvPr/>
        </p:nvSpPr>
        <p:spPr>
          <a:xfrm>
            <a:off x="548640" y="2770632"/>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0.4 to 0.6</a:t>
            </a:r>
          </a:p>
        </p:txBody>
      </p:sp>
      <p:sp>
        <p:nvSpPr>
          <p:cNvPr id="25" name="r table 4-2"/>
          <p:cNvSpPr/>
          <p:nvPr/>
        </p:nvSpPr>
        <p:spPr>
          <a:xfrm>
            <a:off x="1828800" y="2770632"/>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 table text 4-2"/>
          <p:cNvSpPr txBox="1"/>
          <p:nvPr/>
        </p:nvSpPr>
        <p:spPr>
          <a:xfrm>
            <a:off x="1920240" y="2770632"/>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medium to substantial</a:t>
            </a:r>
          </a:p>
        </p:txBody>
      </p:sp>
      <p:sp>
        <p:nvSpPr>
          <p:cNvPr id="27" name="r table 5-1"/>
          <p:cNvSpPr/>
          <p:nvPr/>
        </p:nvSpPr>
        <p:spPr>
          <a:xfrm>
            <a:off x="457200" y="3145536"/>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 table text 5-1"/>
          <p:cNvSpPr txBox="1"/>
          <p:nvPr/>
        </p:nvSpPr>
        <p:spPr>
          <a:xfrm>
            <a:off x="548640" y="3145536"/>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0.6 to 0.8</a:t>
            </a:r>
          </a:p>
        </p:txBody>
      </p:sp>
      <p:sp>
        <p:nvSpPr>
          <p:cNvPr id="29" name="r table 5-2"/>
          <p:cNvSpPr/>
          <p:nvPr/>
        </p:nvSpPr>
        <p:spPr>
          <a:xfrm>
            <a:off x="1828800" y="3145536"/>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 table text 5-2"/>
          <p:cNvSpPr txBox="1"/>
          <p:nvPr/>
        </p:nvSpPr>
        <p:spPr>
          <a:xfrm>
            <a:off x="1920240" y="3145536"/>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very strong</a:t>
            </a:r>
          </a:p>
        </p:txBody>
      </p:sp>
      <p:sp>
        <p:nvSpPr>
          <p:cNvPr id="31" name="r table 6-1"/>
          <p:cNvSpPr/>
          <p:nvPr/>
        </p:nvSpPr>
        <p:spPr>
          <a:xfrm>
            <a:off x="457200" y="3520440"/>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 table text 6-1"/>
          <p:cNvSpPr txBox="1"/>
          <p:nvPr/>
        </p:nvSpPr>
        <p:spPr>
          <a:xfrm>
            <a:off x="548640" y="3520440"/>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0.8 to 1.0</a:t>
            </a:r>
          </a:p>
        </p:txBody>
      </p:sp>
      <p:sp>
        <p:nvSpPr>
          <p:cNvPr id="33" name="r table 6-2"/>
          <p:cNvSpPr/>
          <p:nvPr/>
        </p:nvSpPr>
        <p:spPr>
          <a:xfrm>
            <a:off x="1828800" y="3520440"/>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 table text 6-2"/>
          <p:cNvSpPr txBox="1"/>
          <p:nvPr/>
        </p:nvSpPr>
        <p:spPr>
          <a:xfrm>
            <a:off x="1920240" y="3520440"/>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extremely strong</a:t>
            </a:r>
          </a:p>
        </p:txBody>
      </p:sp>
      <p:sp>
        <p:nvSpPr>
          <p:cNvPr id="35" name="r stat box"/>
          <p:cNvSpPr/>
          <p:nvPr/>
        </p:nvSpPr>
        <p:spPr>
          <a:xfrm>
            <a:off x="4663440" y="1234440"/>
            <a:ext cx="40233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 stat bar"/>
          <p:cNvSpPr/>
          <p:nvPr/>
        </p:nvSpPr>
        <p:spPr>
          <a:xfrm>
            <a:off x="4663440" y="12344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 stat figure"/>
          <p:cNvSpPr txBox="1"/>
          <p:nvPr/>
        </p:nvSpPr>
        <p:spPr>
          <a:xfrm>
            <a:off x="4846320" y="1234440"/>
            <a:ext cx="128016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−0.94</a:t>
            </a:r>
          </a:p>
        </p:txBody>
      </p:sp>
      <p:sp>
        <p:nvSpPr>
          <p:cNvPr id="38" name="r stat label"/>
          <p:cNvSpPr txBox="1"/>
          <p:nvPr/>
        </p:nvSpPr>
        <p:spPr>
          <a:xfrm>
            <a:off x="6126480" y="1234440"/>
            <a:ext cx="251460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sales and own price of brand 1: an extremely strong negative relationship</a:t>
            </a:r>
          </a:p>
        </p:txBody>
      </p:sp>
      <p:sp>
        <p:nvSpPr>
          <p:cNvPr id="39" name="r warn row 1"/>
          <p:cNvSpPr/>
          <p:nvPr/>
        </p:nvSpPr>
        <p:spPr>
          <a:xfrm>
            <a:off x="4663440" y="2514600"/>
            <a:ext cx="40233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 warn bar 1"/>
          <p:cNvSpPr/>
          <p:nvPr/>
        </p:nvSpPr>
        <p:spPr>
          <a:xfrm>
            <a:off x="4663440" y="251460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 warn text 1"/>
          <p:cNvSpPr txBox="1"/>
          <p:nvPr/>
        </p:nvSpPr>
        <p:spPr>
          <a:xfrm>
            <a:off x="4864608" y="2514600"/>
            <a:ext cx="37307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Kiosk: </a:t>
            </a:r>
            <a:r>
              <a:rPr sz="1200" b="0" lang="en-GB">
                <a:solidFill>
                  <a:schemeClr val="tx1"/>
                </a:solidFill>
              </a:rPr>
              <a:t>r = −0.98, five made-up weeks (Part 4)</a:t>
            </a:r>
          </a:p>
        </p:txBody>
      </p:sp>
      <p:sp>
        <p:nvSpPr>
          <p:cNvPr id="42" name="r warn row 2"/>
          <p:cNvSpPr/>
          <p:nvPr/>
        </p:nvSpPr>
        <p:spPr>
          <a:xfrm>
            <a:off x="4663440" y="3136392"/>
            <a:ext cx="40233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 warn bar 2"/>
          <p:cNvSpPr/>
          <p:nvPr/>
        </p:nvSpPr>
        <p:spPr>
          <a:xfrm>
            <a:off x="4663440" y="313639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 warn text 2"/>
          <p:cNvSpPr txBox="1"/>
          <p:nvPr/>
        </p:nvSpPr>
        <p:spPr>
          <a:xfrm>
            <a:off x="4864608" y="3136392"/>
            <a:ext cx="37307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Both: </a:t>
            </a:r>
            <a:r>
              <a:rPr sz="1200" b="0" lang="en-GB">
                <a:solidFill>
                  <a:schemeClr val="tx1"/>
                </a:solidFill>
              </a:rPr>
              <a:t>extremely strong, yet far from a perfect line</a:t>
            </a:r>
          </a:p>
        </p:txBody>
      </p:sp>
      <p:sp>
        <p:nvSpPr>
          <p:cNvPr id="45" name="r next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Icon r next" descr=""/>
          <p:cNvPicPr>
            <a:picLocks noChangeAspect="1"/>
          </p:cNvPicPr>
          <p:nvPr/>
        </p:nvPicPr>
        <p:blipFill>
          <a:blip r:embed="rId3"/>
          <a:stretch>
            <a:fillRect/>
          </a:stretch>
        </p:blipFill>
        <p:spPr>
          <a:xfrm>
            <a:off x="658368" y="4183380"/>
            <a:ext cx="365760" cy="365760"/>
          </a:xfrm>
          <a:prstGeom prst="rect">
            <a:avLst/>
          </a:prstGeom>
        </p:spPr>
      </p:pic>
      <p:sp>
        <p:nvSpPr>
          <p:cNvPr id="47" name="r next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Real data are never a perfect line: </a:t>
            </a:r>
            <a:r>
              <a:rPr sz="1200" b="0" lang="en-GB">
                <a:solidFill>
                  <a:schemeClr val="bg1"/>
                </a:solidFill>
              </a:rPr>
              <a:t>competitors, features and the season move sales too.</a:t>
            </a:r>
          </a:p>
        </p:txBody>
      </p:sp>
      <p:sp>
        <p:nvSpPr>
          <p:cNvPr id="4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(HBS note 9-622-100)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Simple linear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scatter.png" descr="Scatter plot of weekly sales against price of brand 1 with a falling straight line; most points sit near a price of 1.5 and sales of 100, seven points near a price of 1.03 with sales of 290 to 530"/>
          <p:cNvPicPr>
            <a:picLocks noChangeAspect="1"/>
          </p:cNvPicPr>
          <p:nvPr/>
        </p:nvPicPr>
        <p:blipFill>
          <a:blip r:embed="rId3"/>
          <a:stretch>
            <a:fillRect/>
          </a:stretch>
        </p:blipFill>
        <p:spPr>
          <a:xfrm>
            <a:off x="457200" y="1234440"/>
            <a:ext cx="4480560" cy="2971800"/>
          </a:xfrm>
          <a:prstGeom prst="rect">
            <a:avLst/>
          </a:prstGeom>
        </p:spPr>
      </p:pic>
      <p:sp>
        <p:nvSpPr>
          <p:cNvPr id="11" name="Simple formula box"/>
          <p:cNvSpPr/>
          <p:nvPr/>
        </p:nvSpPr>
        <p:spPr>
          <a:xfrm>
            <a:off x="5074920" y="1234440"/>
            <a:ext cx="361188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mple formula code"/>
          <p:cNvSpPr txBox="1"/>
          <p:nvPr/>
        </p:nvSpPr>
        <p:spPr>
          <a:xfrm>
            <a:off x="5212080" y="1325880"/>
            <a:ext cx="333756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sales = b0 + b1 · price1 + e</a:t>
            </a:r>
          </a:p>
        </p:txBody>
      </p:sp>
      <p:sp>
        <p:nvSpPr>
          <p:cNvPr id="13" name="Simple rows row 1"/>
          <p:cNvSpPr/>
          <p:nvPr/>
        </p:nvSpPr>
        <p:spPr>
          <a:xfrm>
            <a:off x="5074920" y="192024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imple rows bar 1"/>
          <p:cNvSpPr/>
          <p:nvPr/>
        </p:nvSpPr>
        <p:spPr>
          <a:xfrm>
            <a:off x="5074920" y="192024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imple rows text 1"/>
          <p:cNvSpPr txBox="1"/>
          <p:nvPr/>
        </p:nvSpPr>
        <p:spPr>
          <a:xfrm>
            <a:off x="5276088" y="192024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b0 = 1,110: </a:t>
            </a:r>
            <a:r>
              <a:rPr sz="1200" b="0" lang="en-GB">
                <a:solidFill>
                  <a:schemeClr val="tx1"/>
                </a:solidFill>
              </a:rPr>
              <a:t>intercept, sales at price 0 (not meaningful here)</a:t>
            </a:r>
          </a:p>
        </p:txBody>
      </p:sp>
      <p:sp>
        <p:nvSpPr>
          <p:cNvPr id="16" name="Simple rows row 2"/>
          <p:cNvSpPr/>
          <p:nvPr/>
        </p:nvSpPr>
        <p:spPr>
          <a:xfrm>
            <a:off x="5074920" y="265176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mple rows bar 2"/>
          <p:cNvSpPr/>
          <p:nvPr/>
        </p:nvSpPr>
        <p:spPr>
          <a:xfrm>
            <a:off x="5074920" y="265176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imple rows text 2"/>
          <p:cNvSpPr txBox="1"/>
          <p:nvPr/>
        </p:nvSpPr>
        <p:spPr>
          <a:xfrm>
            <a:off x="5276088" y="265176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b1 = −669: </a:t>
            </a:r>
            <a:r>
              <a:rPr sz="1200" b="0" lang="en-GB">
                <a:solidFill>
                  <a:schemeClr val="tx1"/>
                </a:solidFill>
              </a:rPr>
              <a:t>10 cents more price, about 67 units fewer a week</a:t>
            </a:r>
          </a:p>
        </p:txBody>
      </p:sp>
      <p:sp>
        <p:nvSpPr>
          <p:cNvPr id="19" name="Simple rows row 3"/>
          <p:cNvSpPr/>
          <p:nvPr/>
        </p:nvSpPr>
        <p:spPr>
          <a:xfrm>
            <a:off x="5074920" y="338328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mple rows bar 3"/>
          <p:cNvSpPr/>
          <p:nvPr/>
        </p:nvSpPr>
        <p:spPr>
          <a:xfrm>
            <a:off x="5074920" y="338328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mple rows text 3"/>
          <p:cNvSpPr txBox="1"/>
          <p:nvPr/>
        </p:nvSpPr>
        <p:spPr>
          <a:xfrm>
            <a:off x="5276088" y="338328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e: </a:t>
            </a:r>
            <a:r>
              <a:rPr sz="1200" b="0" lang="en-GB">
                <a:solidFill>
                  <a:schemeClr val="tx1"/>
                </a:solidFill>
              </a:rPr>
              <a:t>residual, what the line does not explain</a:t>
            </a:r>
          </a:p>
        </p:txBody>
      </p:sp>
      <p:sp>
        <p:nvSpPr>
          <p:cNvPr id="22" name="Simple look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Simple look" descr=""/>
          <p:cNvPicPr>
            <a:picLocks noChangeAspect="1"/>
          </p:cNvPicPr>
          <p:nvPr/>
        </p:nvPicPr>
        <p:blipFill>
          <a:blip r:embed="rId4"/>
          <a:stretch>
            <a:fillRect/>
          </a:stretch>
        </p:blipFill>
        <p:spPr>
          <a:xfrm>
            <a:off x="658368" y="4411980"/>
            <a:ext cx="365760" cy="365760"/>
          </a:xfrm>
          <a:prstGeom prst="rect">
            <a:avLst/>
          </a:prstGeom>
        </p:spPr>
      </p:pic>
      <p:sp>
        <p:nvSpPr>
          <p:cNvPr id="24" name="Simple look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Look at the chart: </a:t>
            </a:r>
            <a:r>
              <a:rPr sz="1200" b="0" lang="en-GB">
                <a:solidFill>
                  <a:schemeClr val="tx1"/>
                </a:solidFill>
              </a:rPr>
              <a:t>the points curve, so a straight line misses the price-cut weeks.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Least squares: the line with the smallest squared errors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residuals.png" descr="The same scatter plot with the regression line and thin blue vertical segments from each point to the line, the residuals"/>
          <p:cNvPicPr>
            <a:picLocks noChangeAspect="1"/>
          </p:cNvPicPr>
          <p:nvPr/>
        </p:nvPicPr>
        <p:blipFill>
          <a:blip r:embed="rId3"/>
          <a:stretch>
            <a:fillRect/>
          </a:stretch>
        </p:blipFill>
        <p:spPr>
          <a:xfrm>
            <a:off x="457200" y="1234440"/>
            <a:ext cx="4206240" cy="2926080"/>
          </a:xfrm>
          <a:prstGeom prst="rect">
            <a:avLst/>
          </a:prstGeom>
        </p:spPr>
      </p:pic>
      <p:sp>
        <p:nvSpPr>
          <p:cNvPr id="11" name="LS formula box"/>
          <p:cNvSpPr/>
          <p:nvPr/>
        </p:nvSpPr>
        <p:spPr>
          <a:xfrm>
            <a:off x="4800600" y="1234440"/>
            <a:ext cx="38862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S formula code"/>
          <p:cNvSpPr txBox="1"/>
          <p:nvPr/>
        </p:nvSpPr>
        <p:spPr>
          <a:xfrm>
            <a:off x="4937760" y="1325880"/>
            <a:ext cx="361188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residual:  e_i = y_i − ŷ_i</a:t>
            </a:r>
          </a:p>
          <a:p>
            <a:pPr algn="l">
              <a:spcAft>
                <a:spcPts val="0"/>
              </a:spcAft>
            </a:pPr>
            <a:r>
              <a:rPr sz="1200" b="0" lang="en-GB">
                <a:solidFill>
                  <a:schemeClr val="bg1"/>
                </a:solidFill>
                <a:latin typeface="Consolas"/>
              </a:rPr>
              <a:t>OLS:       minimise Σ e_i²</a:t>
            </a:r>
          </a:p>
        </p:txBody>
      </p:sp>
      <p:sp>
        <p:nvSpPr>
          <p:cNvPr id="13" name="LS rows row 1"/>
          <p:cNvSpPr/>
          <p:nvPr/>
        </p:nvSpPr>
        <p:spPr>
          <a:xfrm>
            <a:off x="4800600" y="2240280"/>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S rows bar 1"/>
          <p:cNvSpPr/>
          <p:nvPr/>
        </p:nvSpPr>
        <p:spPr>
          <a:xfrm>
            <a:off x="4800600" y="224028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S rows text 1"/>
          <p:cNvSpPr txBox="1"/>
          <p:nvPr/>
        </p:nvSpPr>
        <p:spPr>
          <a:xfrm>
            <a:off x="5001768" y="2240280"/>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Squared: </a:t>
            </a:r>
            <a:r>
              <a:rPr sz="1200" b="0" lang="en-GB">
                <a:solidFill>
                  <a:schemeClr val="tx1"/>
                </a:solidFill>
              </a:rPr>
              <a:t>misses above and below do not cancel</a:t>
            </a:r>
          </a:p>
        </p:txBody>
      </p:sp>
      <p:sp>
        <p:nvSpPr>
          <p:cNvPr id="16" name="LS rows row 2"/>
          <p:cNvSpPr/>
          <p:nvPr/>
        </p:nvSpPr>
        <p:spPr>
          <a:xfrm>
            <a:off x="4800600" y="2862072"/>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S rows bar 2"/>
          <p:cNvSpPr/>
          <p:nvPr/>
        </p:nvSpPr>
        <p:spPr>
          <a:xfrm>
            <a:off x="4800600" y="286207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LS rows text 2"/>
          <p:cNvSpPr txBox="1"/>
          <p:nvPr/>
        </p:nvSpPr>
        <p:spPr>
          <a:xfrm>
            <a:off x="5001768" y="2862072"/>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Large misses </a:t>
            </a:r>
            <a:r>
              <a:rPr sz="1200" b="0" lang="en-GB">
                <a:solidFill>
                  <a:schemeClr val="tx1"/>
                </a:solidFill>
              </a:rPr>
              <a:t>count much more than small ones</a:t>
            </a:r>
          </a:p>
        </p:txBody>
      </p:sp>
      <p:sp>
        <p:nvSpPr>
          <p:cNvPr id="19" name="LS rows row 3"/>
          <p:cNvSpPr/>
          <p:nvPr/>
        </p:nvSpPr>
        <p:spPr>
          <a:xfrm>
            <a:off x="4800600" y="3483864"/>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LS rows bar 3"/>
          <p:cNvSpPr/>
          <p:nvPr/>
        </p:nvSpPr>
        <p:spPr>
          <a:xfrm>
            <a:off x="4800600" y="348386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S rows text 3"/>
          <p:cNvSpPr txBox="1"/>
          <p:nvPr/>
        </p:nvSpPr>
        <p:spPr>
          <a:xfrm>
            <a:off x="5001768" y="3483864"/>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One line: </a:t>
            </a:r>
            <a:r>
              <a:rPr sz="1200" b="0" lang="en-GB">
                <a:solidFill>
                  <a:schemeClr val="tx1"/>
                </a:solidFill>
              </a:rPr>
              <a:t>the unique best fit for these data</a:t>
            </a:r>
          </a:p>
        </p:txBody>
      </p:sp>
      <p:sp>
        <p:nvSpPr>
          <p:cNvPr id="22" name="Sources"/>
          <p:cNvSpPr txBox="1"/>
          <p:nvPr/>
        </p:nvSpPr>
        <p:spPr>
          <a:xfrm>
            <a:off x="457200" y="43434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Bojinov, Parzen &amp; Hamilton 2025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Multiple regression: holding other things constant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ultiple formula box"/>
          <p:cNvSpPr/>
          <p:nvPr/>
        </p:nvSpPr>
        <p:spPr>
          <a:xfrm>
            <a:off x="457200" y="12344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ultiple formula code"/>
          <p:cNvSpPr txBox="1"/>
          <p:nvPr/>
        </p:nvSpPr>
        <p:spPr>
          <a:xfrm>
            <a:off x="594360" y="132588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ln sales = b0 + b1·ln price1 + b2·ln price2 + b3·ln price3 + b4·ln price4</a:t>
            </a:r>
          </a:p>
          <a:p>
            <a:pPr algn="l">
              <a:spcAft>
                <a:spcPts val="0"/>
              </a:spcAft>
            </a:pPr>
            <a:r>
              <a:rPr sz="1200" b="0" lang="en-GB">
                <a:solidFill>
                  <a:schemeClr val="bg1"/>
                </a:solidFill>
                <a:latin typeface="Consolas"/>
              </a:rPr>
              <a:t>           + b5·feature1 + b6·temp + b7·december + e</a:t>
            </a:r>
          </a:p>
        </p:txBody>
      </p:sp>
      <p:sp>
        <p:nvSpPr>
          <p:cNvPr id="12" name="Mix 1 tile"/>
          <p:cNvSpPr/>
          <p:nvPr/>
        </p:nvSpPr>
        <p:spPr>
          <a:xfrm>
            <a:off x="45720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Mix 1" descr=""/>
          <p:cNvPicPr>
            <a:picLocks noChangeAspect="1"/>
          </p:cNvPicPr>
          <p:nvPr/>
        </p:nvPicPr>
        <p:blipFill>
          <a:blip r:embed="rId3"/>
          <a:stretch>
            <a:fillRect/>
          </a:stretch>
        </p:blipFill>
        <p:spPr>
          <a:xfrm>
            <a:off x="594360" y="2194560"/>
            <a:ext cx="365760" cy="365760"/>
          </a:xfrm>
          <a:prstGeom prst="rect">
            <a:avLst/>
          </a:prstGeom>
        </p:spPr>
      </p:pic>
      <p:sp>
        <p:nvSpPr>
          <p:cNvPr id="14" name="Mix 1 heading"/>
          <p:cNvSpPr txBox="1"/>
          <p:nvPr/>
        </p:nvSpPr>
        <p:spPr>
          <a:xfrm>
            <a:off x="105156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Own mix</a:t>
            </a:r>
          </a:p>
        </p:txBody>
      </p:sp>
      <p:sp>
        <p:nvSpPr>
          <p:cNvPr id="15" name="Mix 1 text"/>
          <p:cNvSpPr txBox="1"/>
          <p:nvPr/>
        </p:nvSpPr>
        <p:spPr>
          <a:xfrm>
            <a:off x="59436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Price of brand 1</a:t>
            </a:r>
          </a:p>
          <a:p>
            <a:pPr algn="l">
              <a:spcAft>
                <a:spcPts val="400"/>
              </a:spcAft>
            </a:pPr>
            <a:r>
              <a:rPr sz="1200" b="0" lang="en-GB">
                <a:solidFill>
                  <a:schemeClr val="tx1"/>
                </a:solidFill>
              </a:rPr>
              <a:t>Feature ads, displays</a:t>
            </a:r>
          </a:p>
        </p:txBody>
      </p:sp>
      <p:sp>
        <p:nvSpPr>
          <p:cNvPr id="16" name="Mix 2 tile"/>
          <p:cNvSpPr/>
          <p:nvPr/>
        </p:nvSpPr>
        <p:spPr>
          <a:xfrm>
            <a:off x="324612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Mix 2" descr=""/>
          <p:cNvPicPr>
            <a:picLocks noChangeAspect="1"/>
          </p:cNvPicPr>
          <p:nvPr/>
        </p:nvPicPr>
        <p:blipFill>
          <a:blip r:embed="rId4"/>
          <a:stretch>
            <a:fillRect/>
          </a:stretch>
        </p:blipFill>
        <p:spPr>
          <a:xfrm>
            <a:off x="3383280" y="2194560"/>
            <a:ext cx="365760" cy="365760"/>
          </a:xfrm>
          <a:prstGeom prst="rect">
            <a:avLst/>
          </a:prstGeom>
        </p:spPr>
      </p:pic>
      <p:sp>
        <p:nvSpPr>
          <p:cNvPr id="18" name="Mix 2 heading"/>
          <p:cNvSpPr txBox="1"/>
          <p:nvPr/>
        </p:nvSpPr>
        <p:spPr>
          <a:xfrm>
            <a:off x="384048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Competitors</a:t>
            </a:r>
          </a:p>
        </p:txBody>
      </p:sp>
      <p:sp>
        <p:nvSpPr>
          <p:cNvPr id="19" name="Mix 2 text"/>
          <p:cNvSpPr txBox="1"/>
          <p:nvPr/>
        </p:nvSpPr>
        <p:spPr>
          <a:xfrm>
            <a:off x="338328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Prices of brands 2 to 4</a:t>
            </a:r>
          </a:p>
          <a:p>
            <a:pPr algn="l">
              <a:spcAft>
                <a:spcPts val="400"/>
              </a:spcAft>
            </a:pPr>
            <a:r>
              <a:rPr sz="1200" b="0" lang="en-GB">
                <a:solidFill>
                  <a:schemeClr val="tx1"/>
                </a:solidFill>
              </a:rPr>
              <a:t>Their features and displays</a:t>
            </a:r>
          </a:p>
        </p:txBody>
      </p:sp>
      <p:sp>
        <p:nvSpPr>
          <p:cNvPr id="20" name="Mix 3 tile"/>
          <p:cNvSpPr/>
          <p:nvPr/>
        </p:nvSpPr>
        <p:spPr>
          <a:xfrm>
            <a:off x="603504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Mix 3" descr=""/>
          <p:cNvPicPr>
            <a:picLocks noChangeAspect="1"/>
          </p:cNvPicPr>
          <p:nvPr/>
        </p:nvPicPr>
        <p:blipFill>
          <a:blip r:embed="rId5"/>
          <a:stretch>
            <a:fillRect/>
          </a:stretch>
        </p:blipFill>
        <p:spPr>
          <a:xfrm>
            <a:off x="6172200" y="2194560"/>
            <a:ext cx="365760" cy="365760"/>
          </a:xfrm>
          <a:prstGeom prst="rect">
            <a:avLst/>
          </a:prstGeom>
        </p:spPr>
      </p:pic>
      <p:sp>
        <p:nvSpPr>
          <p:cNvPr id="22" name="Mix 3 heading"/>
          <p:cNvSpPr txBox="1"/>
          <p:nvPr/>
        </p:nvSpPr>
        <p:spPr>
          <a:xfrm>
            <a:off x="662940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Context</a:t>
            </a:r>
          </a:p>
        </p:txBody>
      </p:sp>
      <p:sp>
        <p:nvSpPr>
          <p:cNvPr id="23" name="Mix 3 text"/>
          <p:cNvSpPr txBox="1"/>
          <p:nvPr/>
        </p:nvSpPr>
        <p:spPr>
          <a:xfrm>
            <a:off x="617220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Temperature</a:t>
            </a:r>
          </a:p>
          <a:p>
            <a:pPr algn="l">
              <a:spcAft>
                <a:spcPts val="400"/>
              </a:spcAft>
            </a:pPr>
            <a:r>
              <a:rPr sz="1200" b="0" lang="en-GB">
                <a:solidFill>
                  <a:schemeClr val="tx1"/>
                </a:solidFill>
              </a:rPr>
              <a:t>December and Easter weeks</a:t>
            </a:r>
          </a:p>
        </p:txBody>
      </p:sp>
      <p:sp>
        <p:nvSpPr>
          <p:cNvPr id="24" name="Ceteris box"/>
          <p:cNvSpPr/>
          <p:nvPr/>
        </p:nvSpPr>
        <p:spPr>
          <a:xfrm>
            <a:off x="457200" y="37033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Ceteris" descr=""/>
          <p:cNvPicPr>
            <a:picLocks noChangeAspect="1"/>
          </p:cNvPicPr>
          <p:nvPr/>
        </p:nvPicPr>
        <p:blipFill>
          <a:blip r:embed="rId6"/>
          <a:stretch>
            <a:fillRect/>
          </a:stretch>
        </p:blipFill>
        <p:spPr>
          <a:xfrm>
            <a:off x="658368" y="3840480"/>
            <a:ext cx="365760" cy="365760"/>
          </a:xfrm>
          <a:prstGeom prst="rect">
            <a:avLst/>
          </a:prstGeom>
        </p:spPr>
      </p:pic>
      <p:sp>
        <p:nvSpPr>
          <p:cNvPr id="26" name="Ceteris text"/>
          <p:cNvSpPr txBox="1"/>
          <p:nvPr/>
        </p:nvSpPr>
        <p:spPr>
          <a:xfrm>
            <a:off x="1207008" y="370332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Each b: </a:t>
            </a:r>
            <a:r>
              <a:rPr sz="1300" b="0" lang="en-GB">
                <a:solidFill>
                  <a:schemeClr val="bg1"/>
                </a:solidFill>
              </a:rPr>
              <a:t>the effect of one variable with all others held constant (ceteris paribus).</a:t>
            </a:r>
          </a:p>
        </p:txBody>
      </p:sp>
      <p:sp>
        <p:nvSpPr>
          <p:cNvPr id="27" name="Omitted note"/>
          <p:cNvSpPr txBox="1"/>
          <p:nvPr/>
        </p:nvSpPr>
        <p:spPr>
          <a:xfrm>
            <a:off x="457200" y="443484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Left out </a:t>
            </a:r>
            <a:r>
              <a:rPr sz="1200" b="0" lang="en-GB">
                <a:solidFill>
                  <a:schemeClr val="tx1"/>
                </a:solidFill>
              </a:rPr>
              <a:t>a relevant variable? Its effect ends up in the others (omitted variable bias).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Is the effect real? t-test, p-value, interval, F-test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f 1 tile"/>
          <p:cNvSpPr/>
          <p:nvPr/>
        </p:nvSpPr>
        <p:spPr>
          <a:xfrm>
            <a:off x="457200" y="123444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Inf 1" descr=""/>
          <p:cNvPicPr>
            <a:picLocks noChangeAspect="1"/>
          </p:cNvPicPr>
          <p:nvPr/>
        </p:nvPicPr>
        <p:blipFill>
          <a:blip r:embed="rId3"/>
          <a:stretch>
            <a:fillRect/>
          </a:stretch>
        </p:blipFill>
        <p:spPr>
          <a:xfrm>
            <a:off x="594360" y="1371600"/>
            <a:ext cx="365760" cy="365760"/>
          </a:xfrm>
          <a:prstGeom prst="rect">
            <a:avLst/>
          </a:prstGeom>
        </p:spPr>
      </p:pic>
      <p:sp>
        <p:nvSpPr>
          <p:cNvPr id="12" name="Inf 1 heading"/>
          <p:cNvSpPr txBox="1"/>
          <p:nvPr/>
        </p:nvSpPr>
        <p:spPr>
          <a:xfrm>
            <a:off x="105156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t-test</a:t>
            </a:r>
          </a:p>
        </p:txBody>
      </p:sp>
      <p:sp>
        <p:nvSpPr>
          <p:cNvPr id="13" name="Inf 1 text"/>
          <p:cNvSpPr txBox="1"/>
          <p:nvPr/>
        </p:nvSpPr>
        <p:spPr>
          <a:xfrm>
            <a:off x="594360" y="185623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t = b / se</a:t>
            </a:r>
          </a:p>
          <a:p>
            <a:pPr algn="l">
              <a:spcAft>
                <a:spcPts val="400"/>
              </a:spcAft>
            </a:pPr>
            <a:r>
              <a:rPr sz="1200" b="0" lang="en-GB">
                <a:solidFill>
                  <a:schemeClr val="tx1"/>
                </a:solidFill>
              </a:rPr>
              <a:t>Own price: −3.64 / 0.30 = −12.1</a:t>
            </a:r>
          </a:p>
        </p:txBody>
      </p:sp>
      <p:sp>
        <p:nvSpPr>
          <p:cNvPr id="14" name="Inf 2 tile"/>
          <p:cNvSpPr/>
          <p:nvPr/>
        </p:nvSpPr>
        <p:spPr>
          <a:xfrm>
            <a:off x="4640580" y="123444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Inf 2" descr=""/>
          <p:cNvPicPr>
            <a:picLocks noChangeAspect="1"/>
          </p:cNvPicPr>
          <p:nvPr/>
        </p:nvPicPr>
        <p:blipFill>
          <a:blip r:embed="rId4"/>
          <a:stretch>
            <a:fillRect/>
          </a:stretch>
        </p:blipFill>
        <p:spPr>
          <a:xfrm>
            <a:off x="4777740" y="1371600"/>
            <a:ext cx="365760" cy="365760"/>
          </a:xfrm>
          <a:prstGeom prst="rect">
            <a:avLst/>
          </a:prstGeom>
        </p:spPr>
      </p:pic>
      <p:sp>
        <p:nvSpPr>
          <p:cNvPr id="16" name="Inf 2 heading"/>
          <p:cNvSpPr txBox="1"/>
          <p:nvPr/>
        </p:nvSpPr>
        <p:spPr>
          <a:xfrm>
            <a:off x="523494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p-value</a:t>
            </a:r>
          </a:p>
        </p:txBody>
      </p:sp>
      <p:sp>
        <p:nvSpPr>
          <p:cNvPr id="17" name="Inf 2 text"/>
          <p:cNvSpPr txBox="1"/>
          <p:nvPr/>
        </p:nvSpPr>
        <p:spPr>
          <a:xfrm>
            <a:off x="4777740" y="185623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Below 0.05: significant</a:t>
            </a:r>
          </a:p>
          <a:p>
            <a:pPr algn="l">
              <a:spcAft>
                <a:spcPts val="400"/>
              </a:spcAft>
            </a:pPr>
            <a:r>
              <a:rPr sz="1200" b="0" lang="en-GB">
                <a:solidFill>
                  <a:schemeClr val="tx1"/>
                </a:solidFill>
              </a:rPr>
              <a:t>Own price: p &lt; 0.001; brand 4: p = 0.86</a:t>
            </a:r>
          </a:p>
        </p:txBody>
      </p:sp>
      <p:sp>
        <p:nvSpPr>
          <p:cNvPr id="18" name="Inf 3 tile"/>
          <p:cNvSpPr/>
          <p:nvPr/>
        </p:nvSpPr>
        <p:spPr>
          <a:xfrm>
            <a:off x="457200" y="278892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Inf 3" descr=""/>
          <p:cNvPicPr>
            <a:picLocks noChangeAspect="1"/>
          </p:cNvPicPr>
          <p:nvPr/>
        </p:nvPicPr>
        <p:blipFill>
          <a:blip r:embed="rId5"/>
          <a:stretch>
            <a:fillRect/>
          </a:stretch>
        </p:blipFill>
        <p:spPr>
          <a:xfrm>
            <a:off x="594360" y="2926080"/>
            <a:ext cx="365760" cy="365760"/>
          </a:xfrm>
          <a:prstGeom prst="rect">
            <a:avLst/>
          </a:prstGeom>
        </p:spPr>
      </p:pic>
      <p:sp>
        <p:nvSpPr>
          <p:cNvPr id="20" name="Inf 3 heading"/>
          <p:cNvSpPr txBox="1"/>
          <p:nvPr/>
        </p:nvSpPr>
        <p:spPr>
          <a:xfrm>
            <a:off x="1051560" y="29260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95 % confidence interval</a:t>
            </a:r>
          </a:p>
        </p:txBody>
      </p:sp>
      <p:sp>
        <p:nvSpPr>
          <p:cNvPr id="21" name="Inf 3 text"/>
          <p:cNvSpPr txBox="1"/>
          <p:nvPr/>
        </p:nvSpPr>
        <p:spPr>
          <a:xfrm>
            <a:off x="594360" y="341071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About b ± 2 se</a:t>
            </a:r>
          </a:p>
          <a:p>
            <a:pPr algn="l">
              <a:spcAft>
                <a:spcPts val="400"/>
              </a:spcAft>
            </a:pPr>
            <a:r>
              <a:rPr sz="1200" b="0" lang="en-GB">
                <a:solidFill>
                  <a:schemeClr val="tx1"/>
                </a:solidFill>
              </a:rPr>
              <a:t>Own price: −4.24 to −3.04</a:t>
            </a:r>
          </a:p>
        </p:txBody>
      </p:sp>
      <p:sp>
        <p:nvSpPr>
          <p:cNvPr id="22" name="Inf 4 tile"/>
          <p:cNvSpPr/>
          <p:nvPr/>
        </p:nvSpPr>
        <p:spPr>
          <a:xfrm>
            <a:off x="4640580" y="278892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Inf 4" descr=""/>
          <p:cNvPicPr>
            <a:picLocks noChangeAspect="1"/>
          </p:cNvPicPr>
          <p:nvPr/>
        </p:nvPicPr>
        <p:blipFill>
          <a:blip r:embed="rId6"/>
          <a:stretch>
            <a:fillRect/>
          </a:stretch>
        </p:blipFill>
        <p:spPr>
          <a:xfrm>
            <a:off x="4777740" y="2926080"/>
            <a:ext cx="365760" cy="365760"/>
          </a:xfrm>
          <a:prstGeom prst="rect">
            <a:avLst/>
          </a:prstGeom>
        </p:spPr>
      </p:pic>
      <p:sp>
        <p:nvSpPr>
          <p:cNvPr id="24" name="Inf 4 heading"/>
          <p:cNvSpPr txBox="1"/>
          <p:nvPr/>
        </p:nvSpPr>
        <p:spPr>
          <a:xfrm>
            <a:off x="5234940" y="29260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F-test</a:t>
            </a:r>
          </a:p>
        </p:txBody>
      </p:sp>
      <p:sp>
        <p:nvSpPr>
          <p:cNvPr id="25" name="Inf 4 text"/>
          <p:cNvSpPr txBox="1"/>
          <p:nvPr/>
        </p:nvSpPr>
        <p:spPr>
          <a:xfrm>
            <a:off x="4777740" y="341071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Are all slopes together zero?</a:t>
            </a:r>
          </a:p>
          <a:p>
            <a:pPr algn="l">
              <a:spcAft>
                <a:spcPts val="400"/>
              </a:spcAft>
            </a:pPr>
            <a:r>
              <a:rPr sz="1200" b="0" lang="en-GB">
                <a:solidFill>
                  <a:schemeClr val="tx1"/>
                </a:solidFill>
              </a:rPr>
              <a:t>F = 59.5, p &lt; 0.001</a:t>
            </a:r>
          </a:p>
        </p:txBody>
      </p:sp>
      <p:sp>
        <p:nvSpPr>
          <p:cNvPr id="26" name="Inf warn box"/>
          <p:cNvSpPr/>
          <p:nvPr/>
        </p:nvSpPr>
        <p:spPr>
          <a:xfrm>
            <a:off x="457200" y="43434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Inf warn" descr=""/>
          <p:cNvPicPr>
            <a:picLocks noChangeAspect="1"/>
          </p:cNvPicPr>
          <p:nvPr/>
        </p:nvPicPr>
        <p:blipFill>
          <a:blip r:embed="rId7"/>
          <a:stretch>
            <a:fillRect/>
          </a:stretch>
        </p:blipFill>
        <p:spPr>
          <a:xfrm>
            <a:off x="658368" y="4411980"/>
            <a:ext cx="365760" cy="365760"/>
          </a:xfrm>
          <a:prstGeom prst="rect">
            <a:avLst/>
          </a:prstGeom>
        </p:spPr>
      </p:pic>
      <p:sp>
        <p:nvSpPr>
          <p:cNvPr id="28" name="Inf warn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Significant is not important: </a:t>
            </a:r>
            <a:r>
              <a:rPr sz="1200" b="0" lang="en-GB">
                <a:solidFill>
                  <a:schemeClr val="bg1"/>
                </a:solidFill>
              </a:rPr>
              <a:t>read the size of b and its interval, not just the stars.</a:t>
            </a:r>
          </a:p>
        </p:txBody>
      </p:sp>
      <p:sp>
        <p:nvSpPr>
          <p:cNvPr id="2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Skiera, Reiner &amp; Albers 2022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How well does the model fit?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it row 1"/>
          <p:cNvSpPr/>
          <p:nvPr/>
        </p:nvSpPr>
        <p:spPr>
          <a:xfrm>
            <a:off x="457200" y="1234440"/>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it stat 1 bar"/>
          <p:cNvSpPr/>
          <p:nvPr/>
        </p:nvSpPr>
        <p:spPr>
          <a:xfrm>
            <a:off x="4572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t stat 1 figure"/>
          <p:cNvSpPr txBox="1"/>
          <p:nvPr/>
        </p:nvSpPr>
        <p:spPr>
          <a:xfrm>
            <a:off x="640080" y="1234440"/>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0.874</a:t>
            </a:r>
          </a:p>
        </p:txBody>
      </p:sp>
      <p:sp>
        <p:nvSpPr>
          <p:cNvPr id="13" name="Fit stat 1 label"/>
          <p:cNvSpPr txBox="1"/>
          <p:nvPr/>
        </p:nvSpPr>
        <p:spPr>
          <a:xfrm>
            <a:off x="1965960" y="1234440"/>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R²: the model explains 87 % of the weekly variation in log sales</a:t>
            </a:r>
          </a:p>
        </p:txBody>
      </p:sp>
      <p:sp>
        <p:nvSpPr>
          <p:cNvPr id="14" name="Fit row 2"/>
          <p:cNvSpPr/>
          <p:nvPr/>
        </p:nvSpPr>
        <p:spPr>
          <a:xfrm>
            <a:off x="457200" y="2039112"/>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it stat 2 bar"/>
          <p:cNvSpPr/>
          <p:nvPr/>
        </p:nvSpPr>
        <p:spPr>
          <a:xfrm>
            <a:off x="457200" y="203911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it stat 2 figure"/>
          <p:cNvSpPr txBox="1"/>
          <p:nvPr/>
        </p:nvSpPr>
        <p:spPr>
          <a:xfrm>
            <a:off x="640080" y="2039112"/>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0.859</a:t>
            </a:r>
          </a:p>
        </p:txBody>
      </p:sp>
      <p:sp>
        <p:nvSpPr>
          <p:cNvPr id="17" name="Fit stat 2 label"/>
          <p:cNvSpPr txBox="1"/>
          <p:nvPr/>
        </p:nvSpPr>
        <p:spPr>
          <a:xfrm>
            <a:off x="1965960" y="2039112"/>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adjusted R²: R² with a penalty for each extra variable</a:t>
            </a:r>
          </a:p>
        </p:txBody>
      </p:sp>
      <p:sp>
        <p:nvSpPr>
          <p:cNvPr id="18" name="Fit row 3"/>
          <p:cNvSpPr/>
          <p:nvPr/>
        </p:nvSpPr>
        <p:spPr>
          <a:xfrm>
            <a:off x="457200" y="2843784"/>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it stat 3 bar"/>
          <p:cNvSpPr/>
          <p:nvPr/>
        </p:nvSpPr>
        <p:spPr>
          <a:xfrm>
            <a:off x="457200" y="284378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it stat 3 figure"/>
          <p:cNvSpPr txBox="1"/>
          <p:nvPr/>
        </p:nvSpPr>
        <p:spPr>
          <a:xfrm>
            <a:off x="640080" y="2843784"/>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0.169</a:t>
            </a:r>
          </a:p>
        </p:txBody>
      </p:sp>
      <p:sp>
        <p:nvSpPr>
          <p:cNvPr id="21" name="Fit stat 3 label"/>
          <p:cNvSpPr txBox="1"/>
          <p:nvPr/>
        </p:nvSpPr>
        <p:spPr>
          <a:xfrm>
            <a:off x="1965960" y="2843784"/>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RMSE: the typical weekly miss, about 17 % in a log model</a:t>
            </a:r>
          </a:p>
        </p:txBody>
      </p:sp>
      <p:sp>
        <p:nvSpPr>
          <p:cNvPr id="22" name="Fit card body"/>
          <p:cNvSpPr/>
          <p:nvPr/>
        </p:nvSpPr>
        <p:spPr>
          <a:xfrm>
            <a:off x="5532120" y="1645920"/>
            <a:ext cx="3154680" cy="19293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i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Careful</a:t>
            </a:r>
          </a:p>
        </p:txBody>
      </p:sp>
      <p:pic>
        <p:nvPicPr>
          <p:cNvPr id="25" name="Icon Fit card" descr=""/>
          <p:cNvPicPr>
            <a:picLocks noChangeAspect="1"/>
          </p:cNvPicPr>
          <p:nvPr/>
        </p:nvPicPr>
        <p:blipFill>
          <a:blip r:embed="rId3"/>
          <a:stretch>
            <a:fillRect/>
          </a:stretch>
        </p:blipFill>
        <p:spPr>
          <a:xfrm>
            <a:off x="8247888" y="1284732"/>
            <a:ext cx="310896" cy="310896"/>
          </a:xfrm>
          <a:prstGeom prst="rect">
            <a:avLst/>
          </a:prstGeom>
        </p:spPr>
      </p:pic>
      <p:sp>
        <p:nvSpPr>
          <p:cNvPr id="26" name="Fit card text"/>
          <p:cNvSpPr txBox="1"/>
          <p:nvPr/>
        </p:nvSpPr>
        <p:spPr>
          <a:xfrm>
            <a:off x="5696712" y="1783080"/>
            <a:ext cx="2852928" cy="1655064"/>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R² never falls when you add a variable</a:t>
            </a:r>
          </a:p>
          <a:p>
            <a:pPr algn="l" marL="182880" indent="-182880">
              <a:spcAft>
                <a:spcPts val="600"/>
              </a:spcAft>
              <a:buClr>
                <a:schemeClr val="accent1"/>
              </a:buClr>
              <a:buFont typeface="Arial"/>
              <a:buChar char="▪"/>
            </a:pPr>
            <a:r>
              <a:rPr sz="1300" b="0" lang="en-GB">
                <a:solidFill>
                  <a:schemeClr val="tx1"/>
                </a:solidFill>
              </a:rPr>
              <a:t>Compare R² only for the same outcome (sales vs log sales)</a:t>
            </a:r>
          </a:p>
          <a:p>
            <a:pPr algn="l" marL="182880" indent="-182880">
              <a:spcAft>
                <a:spcPts val="600"/>
              </a:spcAft>
              <a:buClr>
                <a:schemeClr val="accent1"/>
              </a:buClr>
              <a:buFont typeface="Arial"/>
              <a:buChar char="▪"/>
            </a:pPr>
            <a:r>
              <a:rPr sz="1300" b="0" lang="en-GB">
                <a:solidFill>
                  <a:schemeClr val="tx1"/>
                </a:solidFill>
              </a:rPr>
              <a:t>High R² does not mean causal</a:t>
            </a:r>
          </a:p>
        </p:txBody>
      </p:sp>
      <p:sp>
        <p:nvSpPr>
          <p:cNvPr id="27" name="Fit model box"/>
          <p:cNvSpPr/>
          <p:nvPr/>
        </p:nvSpPr>
        <p:spPr>
          <a:xfrm>
            <a:off x="457200" y="37490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Fit model" descr=""/>
          <p:cNvPicPr>
            <a:picLocks noChangeAspect="1"/>
          </p:cNvPicPr>
          <p:nvPr/>
        </p:nvPicPr>
        <p:blipFill>
          <a:blip r:embed="rId4"/>
          <a:stretch>
            <a:fillRect/>
          </a:stretch>
        </p:blipFill>
        <p:spPr>
          <a:xfrm>
            <a:off x="658368" y="3840480"/>
            <a:ext cx="365760" cy="365760"/>
          </a:xfrm>
          <a:prstGeom prst="rect">
            <a:avLst/>
          </a:prstGeom>
        </p:spPr>
      </p:pic>
      <p:sp>
        <p:nvSpPr>
          <p:cNvPr id="29" name="Fit model text"/>
          <p:cNvSpPr txBox="1"/>
          <p:nvPr/>
        </p:nvSpPr>
        <p:spPr>
          <a:xfrm>
            <a:off x="1207008" y="374904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Main model for brand 1: </a:t>
            </a:r>
            <a:r>
              <a:rPr sz="1200" b="0" lang="en-GB">
                <a:solidFill>
                  <a:schemeClr val="tx1"/>
                </a:solidFill>
              </a:rPr>
              <a:t>log-log, own and competitor prices, feature, temperature, December; 68 weeks.</a:t>
            </a:r>
          </a:p>
        </p:txBody>
      </p:sp>
      <p:sp>
        <p:nvSpPr>
          <p:cNvPr id="30" name="Sources"/>
          <p:cNvSpPr txBox="1"/>
          <p:nvPr/>
        </p:nvSpPr>
        <p:spPr>
          <a:xfrm>
            <a:off x="457200" y="44348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Skiera, Reiner &amp; Albers 2022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Form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737360"/>
                <a:gridCol w="2377440"/>
                <a:gridCol w="2194560"/>
                <a:gridCol w="1920240"/>
              </a:tblGrid>
              <a:tr h="370840">
                <a:tc>
                  <a:txBody>
                    <a:bodyPr/>
                    <a:lstStyle/>
                    <a:p>
                      <a:r>
                        <a:rPr sz="1500" lang="en-GB"/>
                        <a:t>Model</a:t>
                      </a:r>
                    </a:p>
                  </a:txBody>
                  <a:tcPr marT="45000" marB="45000"/>
                </a:tc>
                <a:tc>
                  <a:txBody>
                    <a:bodyPr/>
                    <a:lstStyle/>
                    <a:p>
                      <a:r>
                        <a:rPr sz="1500" lang="en-GB"/>
                        <a:t>Equation</a:t>
                      </a:r>
                    </a:p>
                  </a:txBody>
                  <a:tcPr marT="45000" marB="45000"/>
                </a:tc>
                <a:tc>
                  <a:txBody>
                    <a:bodyPr/>
                    <a:lstStyle/>
                    <a:p>
                      <a:r>
                        <a:rPr sz="1500" lang="en-GB"/>
                        <a:t>b means</a:t>
                      </a:r>
                    </a:p>
                  </a:txBody>
                  <a:tcPr marT="45000" marB="45000"/>
                </a:tc>
                <a:tc>
                  <a:txBody>
                    <a:bodyPr/>
                    <a:lstStyle/>
                    <a:p>
                      <a:r>
                        <a:rPr sz="1500" lang="en-GB"/>
                        <a:t>Brand 1</a:t>
                      </a:r>
                    </a:p>
                  </a:txBody>
                  <a:tcPr marT="45000" marB="45000"/>
                </a:tc>
              </a:tr>
              <a:tr h="370840">
                <a:tc>
                  <a:txBody>
                    <a:bodyPr/>
                    <a:lstStyle/>
                    <a:p>
                      <a:r>
                        <a:rPr sz="1200" b="1" lang="en-GB"/>
                        <a:t>Linear</a:t>
                      </a:r>
                    </a:p>
                  </a:txBody>
                  <a:tcPr marT="45000" marB="45000"/>
                </a:tc>
                <a:tc>
                  <a:txBody>
                    <a:bodyPr/>
                    <a:lstStyle/>
                    <a:p>
                      <a:r>
                        <a:rPr sz="1200" lang="en-GB"/>
                        <a:t>sales = a + b·price</a:t>
                      </a:r>
                    </a:p>
                  </a:txBody>
                  <a:tcPr marT="45000" marB="45000"/>
                </a:tc>
                <a:tc>
                  <a:txBody>
                    <a:bodyPr/>
                    <a:lstStyle/>
                    <a:p>
                      <a:r>
                        <a:rPr sz="1200" lang="en-GB"/>
                        <a:t>+1 unit price: b units</a:t>
                      </a:r>
                    </a:p>
                  </a:txBody>
                  <a:tcPr marT="45000" marB="45000"/>
                </a:tc>
                <a:tc>
                  <a:txBody>
                    <a:bodyPr/>
                    <a:lstStyle/>
                    <a:p>
                      <a:r>
                        <a:rPr sz="1200" lang="en-GB"/>
                        <a:t>b = −669 units</a:t>
                      </a:r>
                    </a:p>
                  </a:txBody>
                  <a:tcPr marT="45000" marB="45000"/>
                </a:tc>
              </a:tr>
              <a:tr h="370840">
                <a:tc>
                  <a:txBody>
                    <a:bodyPr/>
                    <a:lstStyle/>
                    <a:p>
                      <a:r>
                        <a:rPr sz="1200" b="1" lang="en-GB"/>
                        <a:t>Log-log</a:t>
                      </a:r>
                    </a:p>
                  </a:txBody>
                  <a:tcPr marT="45000" marB="45000"/>
                </a:tc>
                <a:tc>
                  <a:txBody>
                    <a:bodyPr/>
                    <a:lstStyle/>
                    <a:p>
                      <a:r>
                        <a:rPr sz="1200" lang="en-GB"/>
                        <a:t>ln sales = a + b·ln price</a:t>
                      </a:r>
                    </a:p>
                  </a:txBody>
                  <a:tcPr marT="45000" marB="45000"/>
                </a:tc>
                <a:tc>
                  <a:txBody>
                    <a:bodyPr/>
                    <a:lstStyle/>
                    <a:p>
                      <a:r>
                        <a:rPr sz="1200" lang="en-GB"/>
                        <a:t>+1 % price: b %</a:t>
                      </a:r>
                    </a:p>
                  </a:txBody>
                  <a:tcPr marT="45000" marB="45000"/>
                </a:tc>
                <a:tc>
                  <a:txBody>
                    <a:bodyPr/>
                    <a:lstStyle/>
                    <a:p>
                      <a:r>
                        <a:rPr sz="1200" lang="en-GB"/>
                        <a:t>b = −3.64 (elasticity)</a:t>
                      </a:r>
                    </a:p>
                  </a:txBody>
                  <a:tcPr marT="45000" marB="45000"/>
                </a:tc>
              </a:tr>
              <a:tr h="370840">
                <a:tc>
                  <a:txBody>
                    <a:bodyPr/>
                    <a:lstStyle/>
                    <a:p>
                      <a:r>
                        <a:rPr sz="1200" b="1" lang="en-GB"/>
                        <a:t>Log-linear</a:t>
                      </a:r>
                    </a:p>
                  </a:txBody>
                  <a:tcPr marT="45000" marB="45000"/>
                </a:tc>
                <a:tc>
                  <a:txBody>
                    <a:bodyPr/>
                    <a:lstStyle/>
                    <a:p>
                      <a:r>
                        <a:rPr sz="1200" lang="en-GB"/>
                        <a:t>ln sales = a + b·temp</a:t>
                      </a:r>
                    </a:p>
                  </a:txBody>
                  <a:tcPr marT="45000" marB="45000"/>
                </a:tc>
                <a:tc>
                  <a:txBody>
                    <a:bodyPr/>
                    <a:lstStyle/>
                    <a:p>
                      <a:r>
                        <a:rPr sz="1200" lang="en-GB"/>
                        <a:t>+1 °C: about 100·b %</a:t>
                      </a:r>
                    </a:p>
                  </a:txBody>
                  <a:tcPr marT="45000" marB="45000"/>
                </a:tc>
                <a:tc>
                  <a:txBody>
                    <a:bodyPr/>
                    <a:lstStyle/>
                    <a:p>
                      <a:r>
                        <a:rPr sz="1200" lang="en-GB"/>
                        <a:t>b = −0.0066: −0.66 %</a:t>
                      </a:r>
                    </a:p>
                  </a:txBody>
                  <a:tcPr marT="45000" marB="45000"/>
                </a:tc>
              </a:tr>
              <a:tr h="370840">
                <a:tc>
                  <a:txBody>
                    <a:bodyPr/>
                    <a:lstStyle/>
                    <a:p>
                      <a:r>
                        <a:rPr sz="1200" b="1" lang="en-GB"/>
                        <a:t>Dummy in log model</a:t>
                      </a:r>
                    </a:p>
                  </a:txBody>
                  <a:tcPr marT="45000" marB="45000"/>
                </a:tc>
                <a:tc>
                  <a:txBody>
                    <a:bodyPr/>
                    <a:lstStyle/>
                    <a:p>
                      <a:r>
                        <a:rPr sz="1200" lang="en-GB"/>
                        <a:t>ln sales = a + b·december</a:t>
                      </a:r>
                    </a:p>
                  </a:txBody>
                  <a:tcPr marT="45000" marB="45000"/>
                </a:tc>
                <a:tc>
                  <a:txBody>
                    <a:bodyPr/>
                    <a:lstStyle/>
                    <a:p>
                      <a:r>
                        <a:rPr sz="1200" lang="en-GB"/>
                        <a:t>e^b − 1, vs other weeks</a:t>
                      </a:r>
                    </a:p>
                  </a:txBody>
                  <a:tcPr marT="45000" marB="45000"/>
                </a:tc>
                <a:tc>
                  <a:txBody>
                    <a:bodyPr/>
                    <a:lstStyle/>
                    <a:p>
                      <a:r>
                        <a:rPr sz="1200" lang="en-GB"/>
                        <a:t>b = −0.385: −32 %</a:t>
                      </a:r>
                    </a:p>
                  </a:txBody>
                  <a:tcPr marT="45000" marB="45000"/>
                </a:tc>
              </a:tr>
            </a:tbl>
          </a:graphicData>
        </a:graphic>
      </p:graphicFrame>
      <p:sp>
        <p:nvSpPr>
          <p:cNvPr id="3" name="Title 2"/>
          <p:cNvSpPr>
            <a:spLocks noGrp="1"/>
          </p:cNvSpPr>
          <p:nvPr>
            <p:ph type="title"/>
          </p:nvPr>
        </p:nvSpPr>
        <p:spPr/>
        <p:txBody>
          <a:bodyPr/>
          <a:lstStyle/>
          <a:p>
            <a:r>
              <a:rPr sz="1600" lang="en-GB"/>
              <a:t>Functional forms and dummy variables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orms why box"/>
          <p:cNvSpPr/>
          <p:nvPr/>
        </p:nvSpPr>
        <p:spPr>
          <a:xfrm>
            <a:off x="457200" y="38862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Forms why" descr=""/>
          <p:cNvPicPr>
            <a:picLocks noChangeAspect="1"/>
          </p:cNvPicPr>
          <p:nvPr/>
        </p:nvPicPr>
        <p:blipFill>
          <a:blip r:embed="rId3"/>
          <a:stretch>
            <a:fillRect/>
          </a:stretch>
        </p:blipFill>
        <p:spPr>
          <a:xfrm>
            <a:off x="658368" y="4046220"/>
            <a:ext cx="365760" cy="365760"/>
          </a:xfrm>
          <a:prstGeom prst="rect">
            <a:avLst/>
          </a:prstGeom>
        </p:spPr>
      </p:pic>
      <p:sp>
        <p:nvSpPr>
          <p:cNvPr id="12" name="Forms why text"/>
          <p:cNvSpPr txBox="1"/>
          <p:nvPr/>
        </p:nvSpPr>
        <p:spPr>
          <a:xfrm>
            <a:off x="1207008" y="388620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Why logs? </a:t>
            </a:r>
            <a:r>
              <a:rPr sz="1300" b="0" lang="en-GB">
                <a:solidFill>
                  <a:schemeClr val="bg1"/>
                </a:solidFill>
              </a:rPr>
              <a:t>sales respond in per cent, not in units, and the elasticity can be compared across brands and countries.</a:t>
            </a:r>
          </a:p>
        </p:txBody>
      </p:sp>
      <p:sp>
        <p:nvSpPr>
          <p:cNvPr id="13" name="Sources"/>
          <p:cNvSpPr txBox="1"/>
          <p:nvPr/>
        </p:nvSpPr>
        <p:spPr>
          <a:xfrm>
            <a:off x="457200" y="46634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Wooldridge 2025, ch. 6 to 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elasticity to a pricing decision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ice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ice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optimal price  p* = marginal cost × ε / (1 + ε)        (valid for ε &lt; −1)</a:t>
            </a:r>
          </a:p>
        </p:txBody>
      </p:sp>
      <p:sp>
        <p:nvSpPr>
          <p:cNvPr id="12" name="Skiera box"/>
          <p:cNvSpPr/>
          <p:nvPr/>
        </p:nvSpPr>
        <p:spPr>
          <a:xfrm>
            <a:off x="457200" y="19202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kiera stat bar"/>
          <p:cNvSpPr/>
          <p:nvPr/>
        </p:nvSpPr>
        <p:spPr>
          <a:xfrm>
            <a:off x="457200" y="1920240"/>
            <a:ext cx="64008" cy="1234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kiera stat figure"/>
          <p:cNvSpPr txBox="1"/>
          <p:nvPr/>
        </p:nvSpPr>
        <p:spPr>
          <a:xfrm>
            <a:off x="640080" y="1920240"/>
            <a:ext cx="1143000" cy="1234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a:t>
            </a:r>
          </a:p>
        </p:txBody>
      </p:sp>
      <p:sp>
        <p:nvSpPr>
          <p:cNvPr id="15" name="Skiera stat label"/>
          <p:cNvSpPr txBox="1"/>
          <p:nvPr/>
        </p:nvSpPr>
        <p:spPr>
          <a:xfrm>
            <a:off x="1783080" y="1920240"/>
            <a:ext cx="2674620" cy="1234440"/>
          </a:xfrm>
          <a:prstGeom prst="rect">
            <a:avLst/>
          </a:prstGeom>
          <a:noFill/>
        </p:spPr>
        <p:txBody>
          <a:bodyPr wrap="square" lIns="0" rIns="0" tIns="0" bIns="0" anchor="ctr">
            <a:noAutofit/>
          </a:bodyPr>
          <a:lstStyle/>
          <a:p>
            <a:pPr algn="l">
              <a:spcAft>
                <a:spcPts val="400"/>
              </a:spcAft>
            </a:pPr>
            <a:r>
              <a:rPr sz="1200" b="0" lang="en-GB">
                <a:solidFill>
                  <a:schemeClr val="tx1"/>
                </a:solidFill>
              </a:rPr>
              <a:t>Skiera et al.: ε = −2.34, unit cost $30 → p* = 30 × 2.34 / 1.34</a:t>
            </a:r>
          </a:p>
        </p:txBody>
      </p:sp>
      <p:sp>
        <p:nvSpPr>
          <p:cNvPr id="16" name="Brand box"/>
          <p:cNvSpPr/>
          <p:nvPr/>
        </p:nvSpPr>
        <p:spPr>
          <a:xfrm>
            <a:off x="4640580" y="19202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rand stat bar"/>
          <p:cNvSpPr/>
          <p:nvPr/>
        </p:nvSpPr>
        <p:spPr>
          <a:xfrm>
            <a:off x="4640580" y="1920240"/>
            <a:ext cx="64008" cy="1234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rand stat figure"/>
          <p:cNvSpPr txBox="1"/>
          <p:nvPr/>
        </p:nvSpPr>
        <p:spPr>
          <a:xfrm>
            <a:off x="4823460" y="1920240"/>
            <a:ext cx="1234440" cy="1234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×1.38</a:t>
            </a:r>
          </a:p>
        </p:txBody>
      </p:sp>
      <p:sp>
        <p:nvSpPr>
          <p:cNvPr id="19" name="Brand stat label"/>
          <p:cNvSpPr txBox="1"/>
          <p:nvPr/>
        </p:nvSpPr>
        <p:spPr>
          <a:xfrm>
            <a:off x="6057900" y="1920240"/>
            <a:ext cx="2583180" cy="1234440"/>
          </a:xfrm>
          <a:prstGeom prst="rect">
            <a:avLst/>
          </a:prstGeom>
          <a:noFill/>
        </p:spPr>
        <p:txBody>
          <a:bodyPr wrap="square" lIns="0" rIns="0" tIns="0" bIns="0" anchor="ctr">
            <a:noAutofit/>
          </a:bodyPr>
          <a:lstStyle/>
          <a:p>
            <a:pPr algn="l">
              <a:spcAft>
                <a:spcPts val="400"/>
              </a:spcAft>
            </a:pPr>
            <a:r>
              <a:rPr sz="1200" b="0" lang="en-GB">
                <a:solidFill>
                  <a:schemeClr val="tx1"/>
                </a:solidFill>
              </a:rPr>
              <a:t>Brand 1: ε = −3.64 → price 38 % above marginal cost</a:t>
            </a:r>
          </a:p>
        </p:txBody>
      </p:sp>
      <p:sp>
        <p:nvSpPr>
          <p:cNvPr id="20" name="Price caveat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ice caveat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ice caveat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Short term: </a:t>
            </a:r>
            <a:r>
              <a:rPr sz="1200" b="0" lang="en-GB">
                <a:solidFill>
                  <a:schemeClr val="tx1"/>
                </a:solidFill>
              </a:rPr>
              <a:t>promotion weeks inflate the elasticity; regular-price elasticities are smaller</a:t>
            </a:r>
          </a:p>
        </p:txBody>
      </p:sp>
      <p:sp>
        <p:nvSpPr>
          <p:cNvPr id="23" name="Price caveat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ice caveat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ice caveat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Competitors react, </a:t>
            </a:r>
            <a:r>
              <a:rPr sz="1200" b="0" lang="en-GB">
                <a:solidFill>
                  <a:schemeClr val="tx1"/>
                </a:solidFill>
              </a:rPr>
              <a:t>and the retailer takes its margin</a:t>
            </a:r>
          </a:p>
        </p:txBody>
      </p:sp>
      <p:sp>
        <p:nvSpPr>
          <p:cNvPr id="26" name="Sources"/>
          <p:cNvSpPr txBox="1"/>
          <p:nvPr/>
        </p:nvSpPr>
        <p:spPr>
          <a:xfrm>
            <a:off x="457200" y="43434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Hanssens, Parsons &amp; Schultz 2001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7 of 11 · what OLS assumes, how to look, how to test, what to do</a:t>
            </a:r>
          </a:p>
        </p:txBody>
      </p:sp>
      <p:sp>
        <p:nvSpPr>
          <p:cNvPr id="3" name="Title 2"/>
          <p:cNvSpPr>
            <a:spLocks noGrp="1"/>
          </p:cNvSpPr>
          <p:nvPr>
            <p:ph type="ctrTitle"/>
          </p:nvPr>
        </p:nvSpPr>
        <p:spPr/>
        <p:txBody>
          <a:bodyPr/>
          <a:lstStyle/>
          <a:p>
            <a:r>
              <a:rPr sz="1600" lang="en-GB"/>
              <a:t>Assumptions and tests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Assumption table"/>
          <p:cNvGraphicFramePr>
            <a:graphicFrameLocks noGrp="1"/>
          </p:cNvGraphicFramePr>
          <p:nvPr>
            <p:ph type="tbl" idx="1"/>
          </p:nvPr>
        </p:nvGraphicFramePr>
        <p:xfrm>
          <a:off x="457200" y="1234440"/>
          <a:ext cx="8229600" cy="2966720"/>
        </p:xfrm>
        <a:graphic>
          <a:graphicData uri="http://schemas.openxmlformats.org/drawingml/2006/table">
            <a:tbl>
              <a:tblPr firstRow="1" bandRow="1">
                <a:tableStyleId>{5C22544A-7EE6-4342-B048-85BDC9FD1C3A}</a:tableStyleId>
              </a:tblPr>
              <a:tblGrid>
                <a:gridCol w="2834640"/>
                <a:gridCol w="2377440"/>
                <a:gridCol w="3017520"/>
              </a:tblGrid>
              <a:tr h="370840">
                <a:tc>
                  <a:txBody>
                    <a:bodyPr/>
                    <a:lstStyle/>
                    <a:p>
                      <a:r>
                        <a:rPr sz="1300" lang="en-GB"/>
                        <a:t>Assumption</a:t>
                      </a:r>
                    </a:p>
                  </a:txBody>
                  <a:tcPr marT="36000" marB="36000"/>
                </a:tc>
                <a:tc>
                  <a:txBody>
                    <a:bodyPr/>
                    <a:lstStyle/>
                    <a:p>
                      <a:r>
                        <a:rPr sz="1300" lang="en-GB"/>
                        <a:t>If violated</a:t>
                      </a:r>
                    </a:p>
                  </a:txBody>
                  <a:tcPr marT="36000" marB="36000"/>
                </a:tc>
                <a:tc>
                  <a:txBody>
                    <a:bodyPr/>
                    <a:lstStyle/>
                    <a:p>
                      <a:r>
                        <a:rPr sz="1300" lang="en-GB"/>
                        <a:t>Look or test (statsmodels)</a:t>
                      </a:r>
                    </a:p>
                  </a:txBody>
                  <a:tcPr marT="36000" marB="36000"/>
                </a:tc>
              </a:tr>
              <a:tr h="370840">
                <a:tc>
                  <a:txBody>
                    <a:bodyPr/>
                    <a:lstStyle/>
                    <a:p>
                      <a:r>
                        <a:rPr sz="1150" b="1" lang="en-GB"/>
                        <a:t>1 Linear form</a:t>
                      </a:r>
                    </a:p>
                  </a:txBody>
                  <a:tcPr marT="36000" marB="36000"/>
                </a:tc>
                <a:tc>
                  <a:txBody>
                    <a:bodyPr/>
                    <a:lstStyle/>
                    <a:p>
                      <a:r>
                        <a:rPr sz="1150" lang="en-GB"/>
                        <a:t>biased coefficients</a:t>
                      </a:r>
                    </a:p>
                  </a:txBody>
                  <a:tcPr marT="36000" marB="36000"/>
                </a:tc>
                <a:tc>
                  <a:txBody>
                    <a:bodyPr/>
                    <a:lstStyle/>
                    <a:p>
                      <a:r>
                        <a:rPr sz="1150" lang="en-GB"/>
                        <a:t>residuals vs fitted; try logs</a:t>
                      </a:r>
                    </a:p>
                  </a:txBody>
                  <a:tcPr marT="36000" marB="36000"/>
                </a:tc>
              </a:tr>
              <a:tr h="370840">
                <a:tc>
                  <a:txBody>
                    <a:bodyPr/>
                    <a:lstStyle/>
                    <a:p>
                      <a:r>
                        <a:rPr sz="1150" b="1" lang="en-GB"/>
                        <a:t>2 Exogeneity, no omitted variables</a:t>
                      </a:r>
                    </a:p>
                  </a:txBody>
                  <a:tcPr marT="36000" marB="36000"/>
                </a:tc>
                <a:tc>
                  <a:txBody>
                    <a:bodyPr/>
                    <a:lstStyle/>
                    <a:p>
                      <a:r>
                        <a:rPr sz="1150" lang="en-GB"/>
                        <a:t>biased, not causal</a:t>
                      </a:r>
                    </a:p>
                  </a:txBody>
                  <a:tcPr marT="36000" marB="36000"/>
                </a:tc>
                <a:tc>
                  <a:txBody>
                    <a:bodyPr/>
                    <a:lstStyle/>
                    <a:p>
                      <a:r>
                        <a:rPr sz="1150" lang="en-GB"/>
                        <a:t>theory, controls, experiments</a:t>
                      </a:r>
                    </a:p>
                  </a:txBody>
                  <a:tcPr marT="36000" marB="36000"/>
                </a:tc>
              </a:tr>
              <a:tr h="370840">
                <a:tc>
                  <a:txBody>
                    <a:bodyPr/>
                    <a:lstStyle/>
                    <a:p>
                      <a:r>
                        <a:rPr sz="1150" b="1" lang="en-GB"/>
                        <a:t>3 Constant error variance</a:t>
                      </a:r>
                    </a:p>
                  </a:txBody>
                  <a:tcPr marT="36000" marB="36000"/>
                </a:tc>
                <a:tc>
                  <a:txBody>
                    <a:bodyPr/>
                    <a:lstStyle/>
                    <a:p>
                      <a:r>
                        <a:rPr sz="1150" lang="en-GB"/>
                        <a:t>wrong standard errors</a:t>
                      </a:r>
                    </a:p>
                  </a:txBody>
                  <a:tcPr marT="36000" marB="36000"/>
                </a:tc>
                <a:tc>
                  <a:txBody>
                    <a:bodyPr/>
                    <a:lstStyle/>
                    <a:p>
                      <a:r>
                        <a:rPr sz="1150" lang="en-GB"/>
                        <a:t>funnel in plot; Breusch-Pagan</a:t>
                      </a:r>
                    </a:p>
                  </a:txBody>
                  <a:tcPr marT="36000" marB="36000"/>
                </a:tc>
              </a:tr>
              <a:tr h="370840">
                <a:tc>
                  <a:txBody>
                    <a:bodyPr/>
                    <a:lstStyle/>
                    <a:p>
                      <a:r>
                        <a:rPr sz="1150" b="1" lang="en-GB"/>
                        <a:t>4 No autocorrelation</a:t>
                      </a:r>
                    </a:p>
                  </a:txBody>
                  <a:tcPr marT="36000" marB="36000"/>
                </a:tc>
                <a:tc>
                  <a:txBody>
                    <a:bodyPr/>
                    <a:lstStyle/>
                    <a:p>
                      <a:r>
                        <a:rPr sz="1150" lang="en-GB"/>
                        <a:t>standard errors too small</a:t>
                      </a:r>
                    </a:p>
                  </a:txBody>
                  <a:tcPr marT="36000" marB="36000"/>
                </a:tc>
                <a:tc>
                  <a:txBody>
                    <a:bodyPr/>
                    <a:lstStyle/>
                    <a:p>
                      <a:r>
                        <a:rPr sz="1150" lang="en-GB"/>
                        <a:t>residuals over time; Durbin-Watson ≈ 2</a:t>
                      </a:r>
                    </a:p>
                  </a:txBody>
                  <a:tcPr marT="36000" marB="36000"/>
                </a:tc>
              </a:tr>
              <a:tr h="370840">
                <a:tc>
                  <a:txBody>
                    <a:bodyPr/>
                    <a:lstStyle/>
                    <a:p>
                      <a:r>
                        <a:rPr sz="1150" b="1" lang="en-GB"/>
                        <a:t>5 Normal residuals</a:t>
                      </a:r>
                    </a:p>
                  </a:txBody>
                  <a:tcPr marT="36000" marB="36000"/>
                </a:tc>
                <a:tc>
                  <a:txBody>
                    <a:bodyPr/>
                    <a:lstStyle/>
                    <a:p>
                      <a:r>
                        <a:rPr sz="1150" lang="en-GB"/>
                        <a:t>tests unreliable in small samples</a:t>
                      </a:r>
                    </a:p>
                  </a:txBody>
                  <a:tcPr marT="36000" marB="36000"/>
                </a:tc>
                <a:tc>
                  <a:txBody>
                    <a:bodyPr/>
                    <a:lstStyle/>
                    <a:p>
                      <a:r>
                        <a:rPr sz="1150" lang="en-GB"/>
                        <a:t>histogram; Jarque-Bera</a:t>
                      </a:r>
                    </a:p>
                  </a:txBody>
                  <a:tcPr marT="36000" marB="36000"/>
                </a:tc>
              </a:tr>
              <a:tr h="370840">
                <a:tc>
                  <a:txBody>
                    <a:bodyPr/>
                    <a:lstStyle/>
                    <a:p>
                      <a:r>
                        <a:rPr sz="1150" b="1" lang="en-GB"/>
                        <a:t>6 No multicollinearity</a:t>
                      </a:r>
                    </a:p>
                  </a:txBody>
                  <a:tcPr marT="36000" marB="36000"/>
                </a:tc>
                <a:tc>
                  <a:txBody>
                    <a:bodyPr/>
                    <a:lstStyle/>
                    <a:p>
                      <a:r>
                        <a:rPr sz="1150" lang="en-GB"/>
                        <a:t>unstable b, large se</a:t>
                      </a:r>
                    </a:p>
                  </a:txBody>
                  <a:tcPr marT="36000" marB="36000"/>
                </a:tc>
                <a:tc>
                  <a:txBody>
                    <a:bodyPr/>
                    <a:lstStyle/>
                    <a:p>
                      <a:r>
                        <a:rPr sz="1150" lang="en-GB"/>
                        <a:t>correlations; VIF below 10 (better 5)</a:t>
                      </a:r>
                    </a:p>
                  </a:txBody>
                  <a:tcPr marT="36000" marB="36000"/>
                </a:tc>
              </a:tr>
              <a:tr h="370840">
                <a:tc>
                  <a:txBody>
                    <a:bodyPr/>
                    <a:lstStyle/>
                    <a:p>
                      <a:r>
                        <a:rPr sz="1150" b="1" lang="en-GB"/>
                        <a:t>7 Enough data, no dominant week</a:t>
                      </a:r>
                    </a:p>
                  </a:txBody>
                  <a:tcPr marT="36000" marB="36000"/>
                </a:tc>
                <a:tc>
                  <a:txBody>
                    <a:bodyPr/>
                    <a:lstStyle/>
                    <a:p>
                      <a:r>
                        <a:rPr sz="1150" lang="en-GB"/>
                        <a:t>fragile results</a:t>
                      </a:r>
                    </a:p>
                  </a:txBody>
                  <a:tcPr marT="36000" marB="36000"/>
                </a:tc>
                <a:tc>
                  <a:txBody>
                    <a:bodyPr/>
                    <a:lstStyle/>
                    <a:p>
                      <a:r>
                        <a:rPr sz="1150" lang="en-GB"/>
                        <a:t>n ≥ 3 to 5 × coefficients; Cook's distance</a:t>
                      </a:r>
                    </a:p>
                  </a:txBody>
                  <a:tcPr marT="36000" marB="36000"/>
                </a:tc>
              </a:tr>
            </a:tbl>
          </a:graphicData>
        </a:graphic>
      </p:graphicFrame>
      <p:sp>
        <p:nvSpPr>
          <p:cNvPr id="3" name="Title 2"/>
          <p:cNvSpPr>
            <a:spLocks noGrp="1"/>
          </p:cNvSpPr>
          <p:nvPr>
            <p:ph type="title"/>
          </p:nvPr>
        </p:nvSpPr>
        <p:spPr/>
        <p:txBody>
          <a:bodyPr/>
          <a:lstStyle/>
          <a:p>
            <a:r>
              <a:rPr sz="1600" lang="en-GB"/>
              <a:t>Seven assumptions behind OLS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Hair et al. 2019; Wooldridge 2025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Look first: two residual plots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resid_fitted.png" descr="Residuals against fitted values: a cloud around zero between -0.5 and 0.5, most fitted values near 4.5, a few near 6, no curve or funnel"/>
          <p:cNvPicPr>
            <a:picLocks noChangeAspect="1"/>
          </p:cNvPicPr>
          <p:nvPr/>
        </p:nvPicPr>
        <p:blipFill>
          <a:blip r:embed="rId3"/>
          <a:stretch>
            <a:fillRect/>
          </a:stretch>
        </p:blipFill>
        <p:spPr>
          <a:xfrm>
            <a:off x="457200" y="1234440"/>
            <a:ext cx="3977640" cy="2779776"/>
          </a:xfrm>
          <a:prstGeom prst="rect">
            <a:avLst/>
          </a:prstGeom>
        </p:spPr>
      </p:pic>
      <p:pic>
        <p:nvPicPr>
          <p:cNvPr id="11" name="Chart reg_resid_hist.png" descr="Histogram of the residuals: roughly bell-shaped around zero, a few residuals around 0.4 to 0.6"/>
          <p:cNvPicPr>
            <a:picLocks noChangeAspect="1"/>
          </p:cNvPicPr>
          <p:nvPr/>
        </p:nvPicPr>
        <p:blipFill>
          <a:blip r:embed="rId4"/>
          <a:stretch>
            <a:fillRect/>
          </a:stretch>
        </p:blipFill>
        <p:spPr>
          <a:xfrm>
            <a:off x="4709160" y="1234440"/>
            <a:ext cx="3977640" cy="2779776"/>
          </a:xfrm>
          <a:prstGeom prst="rect">
            <a:avLst/>
          </a:prstGeom>
        </p:spPr>
      </p:pic>
      <p:sp>
        <p:nvSpPr>
          <p:cNvPr id="12" name="Look left"/>
          <p:cNvSpPr txBox="1"/>
          <p:nvPr/>
        </p:nvSpPr>
        <p:spPr>
          <a:xfrm>
            <a:off x="457200" y="4041648"/>
            <a:ext cx="39776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for: </a:t>
            </a:r>
            <a:r>
              <a:rPr sz="1200" b="0" lang="en-GB">
                <a:solidFill>
                  <a:schemeClr val="tx1"/>
                </a:solidFill>
              </a:rPr>
              <a:t>a curve (wrong form) or a funnel (unequal variance)</a:t>
            </a:r>
          </a:p>
        </p:txBody>
      </p:sp>
      <p:sp>
        <p:nvSpPr>
          <p:cNvPr id="13" name="Look right"/>
          <p:cNvSpPr txBox="1"/>
          <p:nvPr/>
        </p:nvSpPr>
        <p:spPr>
          <a:xfrm>
            <a:off x="4709160" y="4041648"/>
            <a:ext cx="39776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for: </a:t>
            </a:r>
            <a:r>
              <a:rPr sz="1200" b="0" lang="en-GB">
                <a:solidFill>
                  <a:schemeClr val="tx1"/>
                </a:solidFill>
              </a:rPr>
              <a:t>a rough bell shape, no extreme weeks</a:t>
            </a:r>
          </a:p>
        </p:txBody>
      </p:sp>
      <p:sp>
        <p:nvSpPr>
          <p:cNvPr id="14" name="Look verdict box"/>
          <p:cNvSpPr/>
          <p:nvPr/>
        </p:nvSpPr>
        <p:spPr>
          <a:xfrm>
            <a:off x="457200" y="4526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Look verdict" descr=""/>
          <p:cNvPicPr>
            <a:picLocks noChangeAspect="1"/>
          </p:cNvPicPr>
          <p:nvPr/>
        </p:nvPicPr>
        <p:blipFill>
          <a:blip r:embed="rId5"/>
          <a:stretch>
            <a:fillRect/>
          </a:stretch>
        </p:blipFill>
        <p:spPr>
          <a:xfrm>
            <a:off x="658368" y="4572000"/>
            <a:ext cx="365760" cy="365760"/>
          </a:xfrm>
          <a:prstGeom prst="rect">
            <a:avLst/>
          </a:prstGeom>
        </p:spPr>
      </p:pic>
      <p:sp>
        <p:nvSpPr>
          <p:cNvPr id="16" name="Look verdict text"/>
          <p:cNvSpPr txBox="1"/>
          <p:nvPr/>
        </p:nvSpPr>
        <p:spPr>
          <a:xfrm>
            <a:off x="1207008" y="452628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Brand 1: </a:t>
            </a:r>
            <a:r>
              <a:rPr sz="1200" b="0" lang="en-GB">
                <a:solidFill>
                  <a:schemeClr val="tx1"/>
                </a:solidFill>
              </a:rPr>
              <a:t>no curve, no funnel, a roughly bell-shaped histogram.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test: four numbers for the brand 1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box 1"/>
          <p:cNvSpPr/>
          <p:nvPr/>
        </p:nvSpPr>
        <p:spPr>
          <a:xfrm>
            <a:off x="457200" y="123444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stat 1 bar"/>
          <p:cNvSpPr/>
          <p:nvPr/>
        </p:nvSpPr>
        <p:spPr>
          <a:xfrm>
            <a:off x="45720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st stat 1 figure"/>
          <p:cNvSpPr txBox="1"/>
          <p:nvPr/>
        </p:nvSpPr>
        <p:spPr>
          <a:xfrm>
            <a:off x="64008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1.41</a:t>
            </a:r>
          </a:p>
        </p:txBody>
      </p:sp>
      <p:sp>
        <p:nvSpPr>
          <p:cNvPr id="13" name="Test stat 1 label"/>
          <p:cNvSpPr txBox="1"/>
          <p:nvPr/>
        </p:nvSpPr>
        <p:spPr>
          <a:xfrm>
            <a:off x="1737360" y="123444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Durbin-Watson: below 2, some autocorrelation between weeks</a:t>
            </a:r>
          </a:p>
        </p:txBody>
      </p:sp>
      <p:sp>
        <p:nvSpPr>
          <p:cNvPr id="14" name="Test box 2"/>
          <p:cNvSpPr/>
          <p:nvPr/>
        </p:nvSpPr>
        <p:spPr>
          <a:xfrm>
            <a:off x="4640580" y="123444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stat 2 bar"/>
          <p:cNvSpPr/>
          <p:nvPr/>
        </p:nvSpPr>
        <p:spPr>
          <a:xfrm>
            <a:off x="464058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st stat 2 figure"/>
          <p:cNvSpPr txBox="1"/>
          <p:nvPr/>
        </p:nvSpPr>
        <p:spPr>
          <a:xfrm>
            <a:off x="482346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0.14</a:t>
            </a:r>
          </a:p>
        </p:txBody>
      </p:sp>
      <p:sp>
        <p:nvSpPr>
          <p:cNvPr id="17" name="Test stat 2 label"/>
          <p:cNvSpPr txBox="1"/>
          <p:nvPr/>
        </p:nvSpPr>
        <p:spPr>
          <a:xfrm>
            <a:off x="5920740" y="123444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Breusch-Pagan p: no evidence of unequal variance</a:t>
            </a:r>
          </a:p>
        </p:txBody>
      </p:sp>
      <p:sp>
        <p:nvSpPr>
          <p:cNvPr id="18" name="Test box 3"/>
          <p:cNvSpPr/>
          <p:nvPr/>
        </p:nvSpPr>
        <p:spPr>
          <a:xfrm>
            <a:off x="457200" y="22860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stat 3 bar"/>
          <p:cNvSpPr/>
          <p:nvPr/>
        </p:nvSpPr>
        <p:spPr>
          <a:xfrm>
            <a:off x="45720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st stat 3 figure"/>
          <p:cNvSpPr txBox="1"/>
          <p:nvPr/>
        </p:nvSpPr>
        <p:spPr>
          <a:xfrm>
            <a:off x="64008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0.07</a:t>
            </a:r>
          </a:p>
        </p:txBody>
      </p:sp>
      <p:sp>
        <p:nvSpPr>
          <p:cNvPr id="21" name="Test stat 3 label"/>
          <p:cNvSpPr txBox="1"/>
          <p:nvPr/>
        </p:nvSpPr>
        <p:spPr>
          <a:xfrm>
            <a:off x="1737360" y="228600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Jarque-Bera p: residuals roughly normal</a:t>
            </a:r>
          </a:p>
        </p:txBody>
      </p:sp>
      <p:sp>
        <p:nvSpPr>
          <p:cNvPr id="22" name="Test box 4"/>
          <p:cNvSpPr/>
          <p:nvPr/>
        </p:nvSpPr>
        <p:spPr>
          <a:xfrm>
            <a:off x="4640580" y="22860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stat 4 bar"/>
          <p:cNvSpPr/>
          <p:nvPr/>
        </p:nvSpPr>
        <p:spPr>
          <a:xfrm>
            <a:off x="464058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st stat 4 figure"/>
          <p:cNvSpPr txBox="1"/>
          <p:nvPr/>
        </p:nvSpPr>
        <p:spPr>
          <a:xfrm>
            <a:off x="482346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2.4</a:t>
            </a:r>
          </a:p>
        </p:txBody>
      </p:sp>
      <p:sp>
        <p:nvSpPr>
          <p:cNvPr id="25" name="Test stat 4 label"/>
          <p:cNvSpPr txBox="1"/>
          <p:nvPr/>
        </p:nvSpPr>
        <p:spPr>
          <a:xfrm>
            <a:off x="5920740" y="228600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largest VIF: no multicollinearity</a:t>
            </a:r>
          </a:p>
        </p:txBody>
      </p:sp>
      <p:pic>
        <p:nvPicPr>
          <p:cNvPr id="26" name="Chart reg_resid_time.png" descr="Bar chart of residuals by week: runs of positive and negative residuals, e.g. positive from week 35 to 50"/>
          <p:cNvPicPr>
            <a:picLocks noChangeAspect="1"/>
          </p:cNvPicPr>
          <p:nvPr/>
        </p:nvPicPr>
        <p:blipFill>
          <a:blip r:embed="rId3"/>
          <a:stretch>
            <a:fillRect/>
          </a:stretch>
        </p:blipFill>
        <p:spPr>
          <a:xfrm>
            <a:off x="457200" y="3291840"/>
            <a:ext cx="2377440" cy="1463040"/>
          </a:xfrm>
          <a:prstGeom prst="rect">
            <a:avLst/>
          </a:prstGeom>
        </p:spPr>
      </p:pic>
      <p:sp>
        <p:nvSpPr>
          <p:cNvPr id="27" name="Test verdict box"/>
          <p:cNvSpPr/>
          <p:nvPr/>
        </p:nvSpPr>
        <p:spPr>
          <a:xfrm>
            <a:off x="2971800" y="3291840"/>
            <a:ext cx="5715000" cy="14630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Test verdict" descr=""/>
          <p:cNvPicPr>
            <a:picLocks noChangeAspect="1"/>
          </p:cNvPicPr>
          <p:nvPr/>
        </p:nvPicPr>
        <p:blipFill>
          <a:blip r:embed="rId4"/>
          <a:stretch>
            <a:fillRect/>
          </a:stretch>
        </p:blipFill>
        <p:spPr>
          <a:xfrm>
            <a:off x="3172968" y="3840480"/>
            <a:ext cx="365760" cy="365760"/>
          </a:xfrm>
          <a:prstGeom prst="rect">
            <a:avLst/>
          </a:prstGeom>
        </p:spPr>
      </p:pic>
      <p:sp>
        <p:nvSpPr>
          <p:cNvPr id="29" name="Test verdict text"/>
          <p:cNvSpPr txBox="1"/>
          <p:nvPr/>
        </p:nvSpPr>
        <p:spPr>
          <a:xfrm>
            <a:off x="3721608" y="3291840"/>
            <a:ext cx="4800600" cy="1463040"/>
          </a:xfrm>
          <a:prstGeom prst="rect">
            <a:avLst/>
          </a:prstGeom>
          <a:noFill/>
        </p:spPr>
        <p:txBody>
          <a:bodyPr wrap="square" lIns="0" rIns="0" tIns="0" bIns="0" anchor="ctr">
            <a:noAutofit/>
          </a:bodyPr>
          <a:lstStyle/>
          <a:p>
            <a:pPr algn="l">
              <a:spcAft>
                <a:spcPts val="400"/>
              </a:spcAft>
            </a:pPr>
            <a:r>
              <a:rPr sz="1200" b="1" lang="en-GB">
                <a:solidFill>
                  <a:schemeClr val="bg1"/>
                </a:solidFill>
              </a:rPr>
              <a:t>Verdict: </a:t>
            </a:r>
            <a:r>
              <a:rPr sz="1200" b="0" lang="en-GB">
                <a:solidFill>
                  <a:schemeClr val="bg1"/>
                </a:solidFill>
              </a:rPr>
              <a:t>usable. Report Newey-West (HAC) standard errors because of the autocorrelation: 0.32 instead of 0.30 for own price.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emedy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2011680"/>
                <a:gridCol w="3108960"/>
                <a:gridCol w="3108960"/>
              </a:tblGrid>
              <a:tr h="370840">
                <a:tc>
                  <a:txBody>
                    <a:bodyPr/>
                    <a:lstStyle/>
                    <a:p>
                      <a:r>
                        <a:rPr sz="1300" lang="en-GB"/>
                        <a:t>Problem</a:t>
                      </a:r>
                    </a:p>
                  </a:txBody>
                  <a:tcPr marT="40000" marB="40000"/>
                </a:tc>
                <a:tc>
                  <a:txBody>
                    <a:bodyPr/>
                    <a:lstStyle/>
                    <a:p>
                      <a:r>
                        <a:rPr sz="1300" lang="en-GB"/>
                        <a:t>Remedy</a:t>
                      </a:r>
                    </a:p>
                  </a:txBody>
                  <a:tcPr marT="40000" marB="40000"/>
                </a:tc>
                <a:tc>
                  <a:txBody>
                    <a:bodyPr/>
                    <a:lstStyle/>
                    <a:p>
                      <a:r>
                        <a:rPr sz="1300" lang="en-GB"/>
                        <a:t>In statsmodels</a:t>
                      </a:r>
                    </a:p>
                  </a:txBody>
                  <a:tcPr marT="40000" marB="40000"/>
                </a:tc>
              </a:tr>
              <a:tr h="370840">
                <a:tc>
                  <a:txBody>
                    <a:bodyPr/>
                    <a:lstStyle/>
                    <a:p>
                      <a:r>
                        <a:rPr sz="1150" b="1" lang="en-GB"/>
                        <a:t>Curve in residuals</a:t>
                      </a:r>
                    </a:p>
                  </a:txBody>
                  <a:tcPr marT="40000" marB="40000"/>
                </a:tc>
                <a:tc>
                  <a:txBody>
                    <a:bodyPr/>
                    <a:lstStyle/>
                    <a:p>
                      <a:r>
                        <a:rPr sz="1150" lang="en-GB"/>
                        <a:t>logs, squares, interactions</a:t>
                      </a:r>
                    </a:p>
                  </a:txBody>
                  <a:tcPr marT="40000" marB="40000"/>
                </a:tc>
                <a:tc>
                  <a:txBody>
                    <a:bodyPr/>
                    <a:lstStyle/>
                    <a:p>
                      <a:r>
                        <a:rPr sz="1150" lang="en-GB"/>
                        <a:t>np.log(x), I(x**2)</a:t>
                      </a:r>
                    </a:p>
                  </a:txBody>
                  <a:tcPr marT="40000" marB="40000"/>
                </a:tc>
              </a:tr>
              <a:tr h="370840">
                <a:tc>
                  <a:txBody>
                    <a:bodyPr/>
                    <a:lstStyle/>
                    <a:p>
                      <a:r>
                        <a:rPr sz="1150" b="1" lang="en-GB"/>
                        <a:t>Unequal variance</a:t>
                      </a:r>
                    </a:p>
                  </a:txBody>
                  <a:tcPr marT="40000" marB="40000"/>
                </a:tc>
                <a:tc>
                  <a:txBody>
                    <a:bodyPr/>
                    <a:lstStyle/>
                    <a:p>
                      <a:r>
                        <a:rPr sz="1150" lang="en-GB"/>
                        <a:t>robust standard errors</a:t>
                      </a:r>
                    </a:p>
                  </a:txBody>
                  <a:tcPr marT="40000" marB="40000"/>
                </a:tc>
                <a:tc>
                  <a:txBody>
                    <a:bodyPr/>
                    <a:lstStyle/>
                    <a:p>
                      <a:r>
                        <a:rPr sz="1150" lang="en-GB"/>
                        <a:t>fit(cov_type="HC3")</a:t>
                      </a:r>
                    </a:p>
                  </a:txBody>
                  <a:tcPr marT="40000" marB="40000"/>
                </a:tc>
              </a:tr>
              <a:tr h="370840">
                <a:tc>
                  <a:txBody>
                    <a:bodyPr/>
                    <a:lstStyle/>
                    <a:p>
                      <a:r>
                        <a:rPr sz="1150" b="1" lang="en-GB"/>
                        <a:t>Autocorrelation</a:t>
                      </a:r>
                    </a:p>
                  </a:txBody>
                  <a:tcPr marT="40000" marB="40000"/>
                </a:tc>
                <a:tc>
                  <a:txBody>
                    <a:bodyPr/>
                    <a:lstStyle/>
                    <a:p>
                      <a:r>
                        <a:rPr sz="1150" lang="en-GB"/>
                        <a:t>HAC standard errors; lags; ARIMA errors (Session 4)</a:t>
                      </a:r>
                    </a:p>
                  </a:txBody>
                  <a:tcPr marT="40000" marB="40000"/>
                </a:tc>
                <a:tc>
                  <a:txBody>
                    <a:bodyPr/>
                    <a:lstStyle/>
                    <a:p>
                      <a:r>
                        <a:rPr sz="1150" lang="en-GB"/>
                        <a:t>fit(cov_type="HAC", cov_kwds={"maxlags": 1})</a:t>
                      </a:r>
                    </a:p>
                  </a:txBody>
                  <a:tcPr marT="40000" marB="40000"/>
                </a:tc>
              </a:tr>
              <a:tr h="370840">
                <a:tc>
                  <a:txBody>
                    <a:bodyPr/>
                    <a:lstStyle/>
                    <a:p>
                      <a:r>
                        <a:rPr sz="1150" b="1" lang="en-GB"/>
                        <a:t>Multicollinearity</a:t>
                      </a:r>
                    </a:p>
                  </a:txBody>
                  <a:tcPr marT="40000" marB="40000"/>
                </a:tc>
                <a:tc>
                  <a:txBody>
                    <a:bodyPr/>
                    <a:lstStyle/>
                    <a:p>
                      <a:r>
                        <a:rPr sz="1150" lang="en-GB"/>
                        <a:t>more variation, combine variables, experiments</a:t>
                      </a:r>
                    </a:p>
                  </a:txBody>
                  <a:tcPr marT="40000" marB="40000"/>
                </a:tc>
                <a:tc>
                  <a:txBody>
                    <a:bodyPr/>
                    <a:lstStyle/>
                    <a:p>
                      <a:r>
                        <a:rPr sz="1150" lang="en-GB"/>
                        <a:t>variance_inflation_factor</a:t>
                      </a:r>
                    </a:p>
                  </a:txBody>
                  <a:tcPr marT="40000" marB="40000"/>
                </a:tc>
              </a:tr>
              <a:tr h="370840">
                <a:tc>
                  <a:txBody>
                    <a:bodyPr/>
                    <a:lstStyle/>
                    <a:p>
                      <a:r>
                        <a:rPr sz="1150" b="1" lang="en-GB"/>
                        <a:t>Dominant weeks</a:t>
                      </a:r>
                    </a:p>
                  </a:txBody>
                  <a:tcPr marT="40000" marB="40000"/>
                </a:tc>
                <a:tc>
                  <a:txBody>
                    <a:bodyPr/>
                    <a:lstStyle/>
                    <a:p>
                      <a:r>
                        <a:rPr sz="1150" lang="en-GB"/>
                        <a:t>check data, report with and without</a:t>
                      </a:r>
                    </a:p>
                  </a:txBody>
                  <a:tcPr marT="40000" marB="40000"/>
                </a:tc>
                <a:tc>
                  <a:txBody>
                    <a:bodyPr/>
                    <a:lstStyle/>
                    <a:p>
                      <a:r>
                        <a:rPr sz="1150" lang="en-GB"/>
                        <a:t>get_influence().cooks_distance</a:t>
                      </a:r>
                    </a:p>
                  </a:txBody>
                  <a:tcPr marT="40000" marB="40000"/>
                </a:tc>
              </a:tr>
              <a:tr h="370840">
                <a:tc>
                  <a:txBody>
                    <a:bodyPr/>
                    <a:lstStyle/>
                    <a:p>
                      <a:r>
                        <a:rPr sz="1150" b="1" lang="en-GB"/>
                        <a:t>Endogeneity</a:t>
                      </a:r>
                    </a:p>
                  </a:txBody>
                  <a:tcPr marT="40000" marB="40000"/>
                </a:tc>
                <a:tc>
                  <a:txBody>
                    <a:bodyPr/>
                    <a:lstStyle/>
                    <a:p>
                      <a:r>
                        <a:rPr sz="1150" lang="en-GB"/>
                        <a:t>experiments, instruments, fixed effects</a:t>
                      </a:r>
                    </a:p>
                  </a:txBody>
                  <a:tcPr marT="40000" marB="40000"/>
                </a:tc>
                <a:tc>
                  <a:txBody>
                    <a:bodyPr/>
                    <a:lstStyle/>
                    <a:p>
                      <a:r>
                        <a:rPr sz="1150" lang="en-GB"/>
                        <a:t>Sessions 2 to 5</a:t>
                      </a:r>
                    </a:p>
                  </a:txBody>
                  <a:tcPr marT="40000" marB="40000"/>
                </a:tc>
              </a:tr>
            </a:tbl>
          </a:graphicData>
        </a:graphic>
      </p:graphicFrame>
      <p:sp>
        <p:nvSpPr>
          <p:cNvPr id="3" name="Title 2"/>
          <p:cNvSpPr>
            <a:spLocks noGrp="1"/>
          </p:cNvSpPr>
          <p:nvPr>
            <p:ph type="title"/>
          </p:nvPr>
        </p:nvSpPr>
        <p:spPr/>
        <p:txBody>
          <a:bodyPr/>
          <a:lstStyle/>
          <a:p>
            <a:r>
              <a:rPr sz="1600" lang="en-GB"/>
              <a:t>When a test fails: what to do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statsmodels documentation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warnings from real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arn 1 body"/>
          <p:cNvSpPr/>
          <p:nvPr/>
        </p:nvSpPr>
        <p:spPr>
          <a:xfrm>
            <a:off x="45720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arn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arn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Displays</a:t>
            </a:r>
          </a:p>
        </p:txBody>
      </p:sp>
      <p:pic>
        <p:nvPicPr>
          <p:cNvPr id="13" name="Icon Warn 1" descr=""/>
          <p:cNvPicPr>
            <a:picLocks noChangeAspect="1"/>
          </p:cNvPicPr>
          <p:nvPr/>
        </p:nvPicPr>
        <p:blipFill>
          <a:blip r:embed="rId3"/>
          <a:stretch>
            <a:fillRect/>
          </a:stretch>
        </p:blipFill>
        <p:spPr>
          <a:xfrm>
            <a:off x="2670048" y="1284732"/>
            <a:ext cx="310896" cy="310896"/>
          </a:xfrm>
          <a:prstGeom prst="rect">
            <a:avLst/>
          </a:prstGeom>
        </p:spPr>
      </p:pic>
      <p:sp>
        <p:nvSpPr>
          <p:cNvPr id="14" name="Warn 1 text"/>
          <p:cNvSpPr txBox="1"/>
          <p:nvPr/>
        </p:nvSpPr>
        <p:spPr>
          <a:xfrm>
            <a:off x="62179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Only 4 display weeks</a:t>
            </a:r>
          </a:p>
          <a:p>
            <a:pPr algn="l" marL="182880" indent="-182880">
              <a:spcAft>
                <a:spcPts val="600"/>
              </a:spcAft>
              <a:buClr>
                <a:schemeClr val="accent1"/>
              </a:buClr>
              <a:buFont typeface="Arial"/>
              <a:buChar char="▪"/>
            </a:pPr>
            <a:r>
              <a:rPr sz="1300" b="0" lang="en-GB">
                <a:solidFill>
                  <a:schemeClr val="tx1"/>
                </a:solidFill>
              </a:rPr>
              <a:t>VIF 11.4 and 10.9</a:t>
            </a:r>
          </a:p>
          <a:p>
            <a:pPr algn="l" marL="182880" indent="-182880">
              <a:spcAft>
                <a:spcPts val="600"/>
              </a:spcAft>
              <a:buClr>
                <a:schemeClr val="accent1"/>
              </a:buClr>
              <a:buFont typeface="Arial"/>
              <a:buChar char="▪"/>
            </a:pPr>
            <a:r>
              <a:rPr sz="1300" b="0" lang="en-GB">
                <a:solidFill>
                  <a:schemeClr val="tx1"/>
                </a:solidFill>
              </a:rPr>
              <a:t>Effects cannot be separated</a:t>
            </a:r>
          </a:p>
        </p:txBody>
      </p:sp>
      <p:sp>
        <p:nvSpPr>
          <p:cNvPr id="15" name="Warn 2 body"/>
          <p:cNvSpPr/>
          <p:nvPr/>
        </p:nvSpPr>
        <p:spPr>
          <a:xfrm>
            <a:off x="324612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arn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arn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One Easter week</a:t>
            </a:r>
          </a:p>
        </p:txBody>
      </p:sp>
      <p:pic>
        <p:nvPicPr>
          <p:cNvPr id="18" name="Icon Warn 2" descr=""/>
          <p:cNvPicPr>
            <a:picLocks noChangeAspect="1"/>
          </p:cNvPicPr>
          <p:nvPr/>
        </p:nvPicPr>
        <p:blipFill>
          <a:blip r:embed="rId4"/>
          <a:stretch>
            <a:fillRect/>
          </a:stretch>
        </p:blipFill>
        <p:spPr>
          <a:xfrm>
            <a:off x="5458968" y="1284732"/>
            <a:ext cx="310896" cy="310896"/>
          </a:xfrm>
          <a:prstGeom prst="rect">
            <a:avLst/>
          </a:prstGeom>
        </p:spPr>
      </p:pic>
      <p:sp>
        <p:nvSpPr>
          <p:cNvPr id="19" name="Warn 2 text"/>
          <p:cNvSpPr txBox="1"/>
          <p:nvPr/>
        </p:nvSpPr>
        <p:spPr>
          <a:xfrm>
            <a:off x="341071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dummy for one week fits it exactly</a:t>
            </a:r>
          </a:p>
          <a:p>
            <a:pPr algn="l" marL="182880" indent="-182880">
              <a:spcAft>
                <a:spcPts val="600"/>
              </a:spcAft>
              <a:buClr>
                <a:schemeClr val="accent1"/>
              </a:buClr>
              <a:buFont typeface="Arial"/>
              <a:buChar char="▪"/>
            </a:pPr>
            <a:r>
              <a:rPr sz="1300" b="0" lang="en-GB">
                <a:solidFill>
                  <a:schemeClr val="tx1"/>
                </a:solidFill>
              </a:rPr>
              <a:t>Leverage 1.00</a:t>
            </a:r>
          </a:p>
          <a:p>
            <a:pPr algn="l" marL="182880" indent="-182880">
              <a:spcAft>
                <a:spcPts val="600"/>
              </a:spcAft>
              <a:buClr>
                <a:schemeClr val="accent1"/>
              </a:buClr>
              <a:buFont typeface="Arial"/>
              <a:buChar char="▪"/>
            </a:pPr>
            <a:r>
              <a:rPr sz="1300" b="0" lang="en-GB">
                <a:solidFill>
                  <a:schemeClr val="tx1"/>
                </a:solidFill>
              </a:rPr>
              <a:t>No real estimate of Easter</a:t>
            </a:r>
          </a:p>
        </p:txBody>
      </p:sp>
      <p:sp>
        <p:nvSpPr>
          <p:cNvPr id="20" name="Warn 3 body"/>
          <p:cNvSpPr/>
          <p:nvPr/>
        </p:nvSpPr>
        <p:spPr>
          <a:xfrm>
            <a:off x="603504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Warn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arn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Mailings</a:t>
            </a:r>
          </a:p>
        </p:txBody>
      </p:sp>
      <p:pic>
        <p:nvPicPr>
          <p:cNvPr id="23" name="Icon Warn 3" descr=""/>
          <p:cNvPicPr>
            <a:picLocks noChangeAspect="1"/>
          </p:cNvPicPr>
          <p:nvPr/>
        </p:nvPicPr>
        <p:blipFill>
          <a:blip r:embed="rId5"/>
          <a:stretch>
            <a:fillRect/>
          </a:stretch>
        </p:blipFill>
        <p:spPr>
          <a:xfrm>
            <a:off x="8247888" y="1284732"/>
            <a:ext cx="310896" cy="310896"/>
          </a:xfrm>
          <a:prstGeom prst="rect">
            <a:avLst/>
          </a:prstGeom>
        </p:spPr>
      </p:pic>
      <p:sp>
        <p:nvSpPr>
          <p:cNvPr id="24" name="Warn 3 text"/>
          <p:cNvSpPr txBox="1"/>
          <p:nvPr/>
        </p:nvSpPr>
        <p:spPr>
          <a:xfrm>
            <a:off x="619963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Skiera et al.: mailings and salespersons r = 0.989</a:t>
            </a:r>
          </a:p>
          <a:p>
            <a:pPr algn="l" marL="182880" indent="-182880">
              <a:spcAft>
                <a:spcPts val="600"/>
              </a:spcAft>
              <a:buClr>
                <a:schemeClr val="accent1"/>
              </a:buClr>
              <a:buFont typeface="Arial"/>
              <a:buChar char="▪"/>
            </a:pPr>
            <a:r>
              <a:rPr sz="1300" b="0" lang="en-GB">
                <a:solidFill>
                  <a:schemeClr val="tx1"/>
                </a:solidFill>
              </a:rPr>
              <a:t>VIF 53</a:t>
            </a:r>
          </a:p>
          <a:p>
            <a:pPr algn="l" marL="182880" indent="-182880">
              <a:spcAft>
                <a:spcPts val="600"/>
              </a:spcAft>
              <a:buClr>
                <a:schemeClr val="accent1"/>
              </a:buClr>
              <a:buFont typeface="Arial"/>
              <a:buChar char="▪"/>
            </a:pPr>
            <a:r>
              <a:rPr sz="1300" b="0" lang="en-GB">
                <a:solidFill>
                  <a:schemeClr val="tx1"/>
                </a:solidFill>
              </a:rPr>
              <a:t>Salesperson effect flips sign</a:t>
            </a:r>
          </a:p>
        </p:txBody>
      </p:sp>
      <p:sp>
        <p:nvSpPr>
          <p:cNvPr id="25" name="Warn fix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Warn fix" descr=""/>
          <p:cNvPicPr>
            <a:picLocks noChangeAspect="1"/>
          </p:cNvPicPr>
          <p:nvPr/>
        </p:nvPicPr>
        <p:blipFill>
          <a:blip r:embed="rId6"/>
          <a:stretch>
            <a:fillRect/>
          </a:stretch>
        </p:blipFill>
        <p:spPr>
          <a:xfrm>
            <a:off x="658368" y="4114800"/>
            <a:ext cx="365760" cy="365760"/>
          </a:xfrm>
          <a:prstGeom prst="rect">
            <a:avLst/>
          </a:prstGeom>
        </p:spPr>
      </p:pic>
      <p:sp>
        <p:nvSpPr>
          <p:cNvPr id="27" name="Warn fix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300" b="1" lang="en-GB">
                <a:solidFill>
                  <a:schemeClr val="bg1"/>
                </a:solidFill>
              </a:rPr>
              <a:t>The real fix: </a:t>
            </a:r>
            <a:r>
              <a:rPr sz="1300" b="0" lang="en-GB">
                <a:solidFill>
                  <a:schemeClr val="bg1"/>
                </a:solidFill>
              </a:rPr>
              <a:t>vary the marketing instruments independently, ideally in a field experiment.</a:t>
            </a:r>
          </a:p>
        </p:txBody>
      </p:sp>
      <p:sp>
        <p:nvSpPr>
          <p:cNvPr id="28"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own calculation on the chocolate data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Endogeneity: when marketing follows demand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ndo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ndo bar 1"/>
          <p:cNvSpPr/>
          <p:nvPr/>
        </p:nvSpPr>
        <p:spPr>
          <a:xfrm>
            <a:off x="4572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ndo text 1"/>
          <p:cNvSpPr txBox="1"/>
          <p:nvPr/>
        </p:nvSpPr>
        <p:spPr>
          <a:xfrm>
            <a:off x="658368" y="1234440"/>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The assumption: </a:t>
            </a:r>
            <a:r>
              <a:rPr sz="1200" b="0" lang="en-GB">
                <a:solidFill>
                  <a:schemeClr val="tx1"/>
                </a:solidFill>
              </a:rPr>
              <a:t>explanatory variables are unrelated to the error term</a:t>
            </a:r>
          </a:p>
        </p:txBody>
      </p:sp>
      <p:sp>
        <p:nvSpPr>
          <p:cNvPr id="13" name="Endo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ndo bar 2"/>
          <p:cNvSpPr/>
          <p:nvPr/>
        </p:nvSpPr>
        <p:spPr>
          <a:xfrm>
            <a:off x="4572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ndo text 2"/>
          <p:cNvSpPr txBox="1"/>
          <p:nvPr/>
        </p:nvSpPr>
        <p:spPr>
          <a:xfrm>
            <a:off x="658368" y="1856232"/>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Marketing breaks it: </a:t>
            </a:r>
            <a:r>
              <a:rPr sz="1200" b="0" lang="en-GB">
                <a:solidFill>
                  <a:schemeClr val="tx1"/>
                </a:solidFill>
              </a:rPr>
              <a:t>budgets go where managers expect success, so spend and unexplained sales rise together</a:t>
            </a:r>
          </a:p>
        </p:txBody>
      </p:sp>
      <p:sp>
        <p:nvSpPr>
          <p:cNvPr id="16" name="Endo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ndo bar 3"/>
          <p:cNvSpPr/>
          <p:nvPr/>
        </p:nvSpPr>
        <p:spPr>
          <a:xfrm>
            <a:off x="4572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ndo text 3"/>
          <p:cNvSpPr txBox="1"/>
          <p:nvPr/>
        </p:nvSpPr>
        <p:spPr>
          <a:xfrm>
            <a:off x="658368" y="2478024"/>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Brand 1: </a:t>
            </a:r>
            <a:r>
              <a:rPr sz="1200" b="0" lang="en-GB">
                <a:solidFill>
                  <a:schemeClr val="tx1"/>
                </a:solidFill>
              </a:rPr>
              <a:t>price cuts come with features, so the price effect partly measures the feature</a:t>
            </a:r>
          </a:p>
        </p:txBody>
      </p:sp>
      <p:sp>
        <p:nvSpPr>
          <p:cNvPr id="19" name="Endo row 4"/>
          <p:cNvSpPr/>
          <p:nvPr/>
        </p:nvSpPr>
        <p:spPr>
          <a:xfrm>
            <a:off x="457200" y="3099816"/>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ndo bar 4"/>
          <p:cNvSpPr/>
          <p:nvPr/>
        </p:nvSpPr>
        <p:spPr>
          <a:xfrm>
            <a:off x="457200" y="3099816"/>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ndo text 4"/>
          <p:cNvSpPr txBox="1"/>
          <p:nvPr/>
        </p:nvSpPr>
        <p:spPr>
          <a:xfrm>
            <a:off x="658368" y="3099816"/>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Evidence: </a:t>
            </a:r>
            <a:r>
              <a:rPr sz="1200" b="0" lang="en-GB">
                <a:solidFill>
                  <a:schemeClr val="tx1"/>
                </a:solidFill>
              </a:rPr>
              <a:t>in 15 Facebook experiments, regression often overstated the true lift, sometimes 3 times</a:t>
            </a:r>
          </a:p>
        </p:txBody>
      </p:sp>
      <p:sp>
        <p:nvSpPr>
          <p:cNvPr id="22" name="Endo fix box"/>
          <p:cNvSpPr/>
          <p:nvPr/>
        </p:nvSpPr>
        <p:spPr>
          <a:xfrm>
            <a:off x="457200" y="388620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Endo fix" descr=""/>
          <p:cNvPicPr>
            <a:picLocks noChangeAspect="1"/>
          </p:cNvPicPr>
          <p:nvPr/>
        </p:nvPicPr>
        <p:blipFill>
          <a:blip r:embed="rId3"/>
          <a:stretch>
            <a:fillRect/>
          </a:stretch>
        </p:blipFill>
        <p:spPr>
          <a:xfrm>
            <a:off x="658368" y="4091940"/>
            <a:ext cx="365760" cy="365760"/>
          </a:xfrm>
          <a:prstGeom prst="rect">
            <a:avLst/>
          </a:prstGeom>
        </p:spPr>
      </p:pic>
      <p:sp>
        <p:nvSpPr>
          <p:cNvPr id="24" name="Endo fix text"/>
          <p:cNvSpPr txBox="1"/>
          <p:nvPr/>
        </p:nvSpPr>
        <p:spPr>
          <a:xfrm>
            <a:off x="1207008" y="3886200"/>
            <a:ext cx="7315200" cy="777240"/>
          </a:xfrm>
          <a:prstGeom prst="rect">
            <a:avLst/>
          </a:prstGeom>
          <a:noFill/>
        </p:spPr>
        <p:txBody>
          <a:bodyPr wrap="square" lIns="0" rIns="0" tIns="0" bIns="0" anchor="ctr">
            <a:noAutofit/>
          </a:bodyPr>
          <a:lstStyle/>
          <a:p>
            <a:pPr algn="l">
              <a:spcAft>
                <a:spcPts val="400"/>
              </a:spcAft>
            </a:pPr>
            <a:r>
              <a:rPr sz="1300" b="1" lang="en-GB">
                <a:solidFill>
                  <a:schemeClr val="bg1"/>
                </a:solidFill>
              </a:rPr>
              <a:t>Remedies: </a:t>
            </a:r>
            <a:r>
              <a:rPr sz="1300" b="0" lang="en-GB">
                <a:solidFill>
                  <a:schemeClr val="bg1"/>
                </a:solidFill>
              </a:rPr>
              <a:t>experiments (A/B, geo tests), instrumental variables such as cost shifters, panel data with fixed effects.</a:t>
            </a:r>
          </a:p>
        </p:txBody>
      </p:sp>
      <p:sp>
        <p:nvSpPr>
          <p:cNvPr id="25"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Gordon, Zettelmeyer, Bhargava &amp; Chapsky 2019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8 of 11 · benchmarks, companies, what transfers to MMM</a:t>
            </a:r>
          </a:p>
        </p:txBody>
      </p:sp>
      <p:sp>
        <p:nvSpPr>
          <p:cNvPr id="3" name="Title 2"/>
          <p:cNvSpPr>
            <a:spLocks noGrp="1"/>
          </p:cNvSpPr>
          <p:nvPr>
            <p:ph type="ctrTitle"/>
          </p:nvPr>
        </p:nvSpPr>
        <p:spPr/>
        <p:txBody>
          <a:bodyPr/>
          <a:lstStyle/>
          <a:p>
            <a:r>
              <a:rPr sz="1600" lang="en-GB"/>
              <a:t>Regression in the real world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Benchmarks from decades of regressions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ench row 1"/>
          <p:cNvSpPr/>
          <p:nvPr/>
        </p:nvSpPr>
        <p:spPr>
          <a:xfrm>
            <a:off x="457200" y="123444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ench stat 1 bar"/>
          <p:cNvSpPr/>
          <p:nvPr/>
        </p:nvSpPr>
        <p:spPr>
          <a:xfrm>
            <a:off x="4572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ench stat 1 figure"/>
          <p:cNvSpPr txBox="1"/>
          <p:nvPr/>
        </p:nvSpPr>
        <p:spPr>
          <a:xfrm>
            <a:off x="640080" y="123444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−2.62</a:t>
            </a:r>
          </a:p>
        </p:txBody>
      </p:sp>
      <p:sp>
        <p:nvSpPr>
          <p:cNvPr id="13" name="Bench stat 1 label"/>
          <p:cNvSpPr txBox="1"/>
          <p:nvPr/>
        </p:nvSpPr>
        <p:spPr>
          <a:xfrm>
            <a:off x="2103120" y="123444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1,851 estimates (Bijmolt et al. 2005)</a:t>
            </a:r>
          </a:p>
        </p:txBody>
      </p:sp>
      <p:sp>
        <p:nvSpPr>
          <p:cNvPr id="14" name="Bench row 2"/>
          <p:cNvSpPr/>
          <p:nvPr/>
        </p:nvSpPr>
        <p:spPr>
          <a:xfrm>
            <a:off x="457200" y="201168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ench stat 2 bar"/>
          <p:cNvSpPr/>
          <p:nvPr/>
        </p:nvSpPr>
        <p:spPr>
          <a:xfrm>
            <a:off x="457200" y="201168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ench stat 2 figure"/>
          <p:cNvSpPr txBox="1"/>
          <p:nvPr/>
        </p:nvSpPr>
        <p:spPr>
          <a:xfrm>
            <a:off x="640080" y="201168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0.12</a:t>
            </a:r>
          </a:p>
        </p:txBody>
      </p:sp>
      <p:sp>
        <p:nvSpPr>
          <p:cNvPr id="17" name="Bench stat 2 label"/>
          <p:cNvSpPr txBox="1"/>
          <p:nvPr/>
        </p:nvSpPr>
        <p:spPr>
          <a:xfrm>
            <a:off x="2103120" y="201168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short-term advertising elasticity (Sethuraman et al. 2011)</a:t>
            </a:r>
          </a:p>
        </p:txBody>
      </p:sp>
      <p:sp>
        <p:nvSpPr>
          <p:cNvPr id="18" name="Bench row 3"/>
          <p:cNvSpPr/>
          <p:nvPr/>
        </p:nvSpPr>
        <p:spPr>
          <a:xfrm>
            <a:off x="457200" y="278892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ench stat 3 bar"/>
          <p:cNvSpPr/>
          <p:nvPr/>
        </p:nvSpPr>
        <p:spPr>
          <a:xfrm>
            <a:off x="457200" y="278892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ench stat 3 figure"/>
          <p:cNvSpPr txBox="1"/>
          <p:nvPr/>
        </p:nvSpPr>
        <p:spPr>
          <a:xfrm>
            <a:off x="640080" y="278892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−0.42</a:t>
            </a:r>
          </a:p>
        </p:txBody>
      </p:sp>
      <p:sp>
        <p:nvSpPr>
          <p:cNvPr id="21" name="Bench stat 3 label"/>
          <p:cNvSpPr txBox="1"/>
          <p:nvPr/>
        </p:nvSpPr>
        <p:spPr>
          <a:xfrm>
            <a:off x="2103120" y="278892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in 14 Asia-Pacific countries, lower with high power distance (Datta et al. 2022)</a:t>
            </a:r>
          </a:p>
        </p:txBody>
      </p:sp>
      <p:sp>
        <p:nvSpPr>
          <p:cNvPr id="22" name="Bench row 4"/>
          <p:cNvSpPr/>
          <p:nvPr/>
        </p:nvSpPr>
        <p:spPr>
          <a:xfrm>
            <a:off x="457200" y="356616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ench stat 4 bar"/>
          <p:cNvSpPr/>
          <p:nvPr/>
        </p:nvSpPr>
        <p:spPr>
          <a:xfrm>
            <a:off x="457200" y="356616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ench stat 4 figure"/>
          <p:cNvSpPr txBox="1"/>
          <p:nvPr/>
        </p:nvSpPr>
        <p:spPr>
          <a:xfrm>
            <a:off x="640080" y="356616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−3.64</a:t>
            </a:r>
          </a:p>
        </p:txBody>
      </p:sp>
      <p:sp>
        <p:nvSpPr>
          <p:cNvPr id="25" name="Bench stat 4 label"/>
          <p:cNvSpPr txBox="1"/>
          <p:nvPr/>
        </p:nvSpPr>
        <p:spPr>
          <a:xfrm>
            <a:off x="2103120" y="356616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brand 1, chocolate: promotion-driven, many substitutes</a:t>
            </a:r>
          </a:p>
        </p:txBody>
      </p:sp>
      <p:sp>
        <p:nvSpPr>
          <p:cNvPr id="26" name="Bench use box"/>
          <p:cNvSpPr/>
          <p:nvPr/>
        </p:nvSpPr>
        <p:spPr>
          <a:xfrm>
            <a:off x="457200" y="4407408"/>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Bench use" descr=""/>
          <p:cNvPicPr>
            <a:picLocks noChangeAspect="1"/>
          </p:cNvPicPr>
          <p:nvPr/>
        </p:nvPicPr>
        <p:blipFill>
          <a:blip r:embed="rId3"/>
          <a:stretch>
            <a:fillRect/>
          </a:stretch>
        </p:blipFill>
        <p:spPr>
          <a:xfrm>
            <a:off x="658368" y="4430268"/>
            <a:ext cx="365760" cy="365760"/>
          </a:xfrm>
          <a:prstGeom prst="rect">
            <a:avLst/>
          </a:prstGeom>
        </p:spPr>
      </p:pic>
      <p:sp>
        <p:nvSpPr>
          <p:cNvPr id="28" name="Bench use text"/>
          <p:cNvSpPr txBox="1"/>
          <p:nvPr/>
        </p:nvSpPr>
        <p:spPr>
          <a:xfrm>
            <a:off x="1207008" y="4407408"/>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Use benchmarks </a:t>
            </a:r>
            <a:r>
              <a:rPr sz="1200" b="0" lang="en-GB">
                <a:solidFill>
                  <a:schemeClr val="bg1"/>
                </a:solidFill>
              </a:rPr>
              <a:t>to judge whether your own estimate is plausible.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companies use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Use 1 tile"/>
          <p:cNvSpPr/>
          <p:nvPr/>
        </p:nvSpPr>
        <p:spPr>
          <a:xfrm>
            <a:off x="45720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Use 1" descr=""/>
          <p:cNvPicPr>
            <a:picLocks noChangeAspect="1"/>
          </p:cNvPicPr>
          <p:nvPr/>
        </p:nvPicPr>
        <p:blipFill>
          <a:blip r:embed="rId3"/>
          <a:stretch>
            <a:fillRect/>
          </a:stretch>
        </p:blipFill>
        <p:spPr>
          <a:xfrm>
            <a:off x="594360" y="1371600"/>
            <a:ext cx="365760" cy="365760"/>
          </a:xfrm>
          <a:prstGeom prst="rect">
            <a:avLst/>
          </a:prstGeom>
        </p:spPr>
      </p:pic>
      <p:sp>
        <p:nvSpPr>
          <p:cNvPr id="12" name="Use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Meta Robyn</a:t>
            </a:r>
          </a:p>
        </p:txBody>
      </p:sp>
      <p:sp>
        <p:nvSpPr>
          <p:cNvPr id="13" name="Use 1 text"/>
          <p:cNvSpPr txBox="1"/>
          <p:nvPr/>
        </p:nvSpPr>
        <p:spPr>
          <a:xfrm>
            <a:off x="59436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MMM in production:</a:t>
            </a:r>
          </a:p>
          <a:p>
            <a:pPr algn="l">
              <a:spcAft>
                <a:spcPts val="400"/>
              </a:spcAft>
            </a:pPr>
            <a:r>
              <a:rPr sz="1200" b="0" lang="en-GB">
                <a:solidFill>
                  <a:schemeClr val="tx1"/>
                </a:solidFill>
              </a:rPr>
              <a:t>ridge regression on media</a:t>
            </a:r>
          </a:p>
        </p:txBody>
      </p:sp>
      <p:sp>
        <p:nvSpPr>
          <p:cNvPr id="14" name="Use 2 tile"/>
          <p:cNvSpPr/>
          <p:nvPr/>
        </p:nvSpPr>
        <p:spPr>
          <a:xfrm>
            <a:off x="324612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Use 2" descr=""/>
          <p:cNvPicPr>
            <a:picLocks noChangeAspect="1"/>
          </p:cNvPicPr>
          <p:nvPr/>
        </p:nvPicPr>
        <p:blipFill>
          <a:blip r:embed="rId4"/>
          <a:stretch>
            <a:fillRect/>
          </a:stretch>
        </p:blipFill>
        <p:spPr>
          <a:xfrm>
            <a:off x="3383280" y="1371600"/>
            <a:ext cx="365760" cy="365760"/>
          </a:xfrm>
          <a:prstGeom prst="rect">
            <a:avLst/>
          </a:prstGeom>
        </p:spPr>
      </p:pic>
      <p:sp>
        <p:nvSpPr>
          <p:cNvPr id="16" name="Use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Booking.com</a:t>
            </a:r>
          </a:p>
        </p:txBody>
      </p:sp>
      <p:sp>
        <p:nvSpPr>
          <p:cNvPr id="17" name="Use 2 text"/>
          <p:cNvSpPr txBox="1"/>
          <p:nvPr/>
        </p:nvSpPr>
        <p:spPr>
          <a:xfrm>
            <a:off x="338328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With Microsoft: CUPED,</a:t>
            </a:r>
          </a:p>
          <a:p>
            <a:pPr algn="l">
              <a:spcAft>
                <a:spcPts val="400"/>
              </a:spcAft>
            </a:pPr>
            <a:r>
              <a:rPr sz="1200" b="0" lang="en-GB">
                <a:solidFill>
                  <a:schemeClr val="tx1"/>
                </a:solidFill>
              </a:rPr>
              <a:t>regression makes A/B tests faster</a:t>
            </a:r>
          </a:p>
        </p:txBody>
      </p:sp>
      <p:sp>
        <p:nvSpPr>
          <p:cNvPr id="18" name="Use 3 tile"/>
          <p:cNvSpPr/>
          <p:nvPr/>
        </p:nvSpPr>
        <p:spPr>
          <a:xfrm>
            <a:off x="603504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Use 3" descr=""/>
          <p:cNvPicPr>
            <a:picLocks noChangeAspect="1"/>
          </p:cNvPicPr>
          <p:nvPr/>
        </p:nvPicPr>
        <p:blipFill>
          <a:blip r:embed="rId5"/>
          <a:stretch>
            <a:fillRect/>
          </a:stretch>
        </p:blipFill>
        <p:spPr>
          <a:xfrm>
            <a:off x="6172200" y="1371600"/>
            <a:ext cx="365760" cy="365760"/>
          </a:xfrm>
          <a:prstGeom prst="rect">
            <a:avLst/>
          </a:prstGeom>
        </p:spPr>
      </p:pic>
      <p:sp>
        <p:nvSpPr>
          <p:cNvPr id="20" name="Use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Google</a:t>
            </a:r>
          </a:p>
        </p:txBody>
      </p:sp>
      <p:sp>
        <p:nvSpPr>
          <p:cNvPr id="21" name="Use 3 text"/>
          <p:cNvSpPr txBox="1"/>
          <p:nvPr/>
        </p:nvSpPr>
        <p:spPr>
          <a:xfrm>
            <a:off x="617220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Geo experiments: test vs</a:t>
            </a:r>
          </a:p>
          <a:p>
            <a:pPr algn="l">
              <a:spcAft>
                <a:spcPts val="400"/>
              </a:spcAft>
            </a:pPr>
            <a:r>
              <a:rPr sz="1200" b="0" lang="en-GB">
                <a:solidFill>
                  <a:schemeClr val="tx1"/>
                </a:solidFill>
              </a:rPr>
              <a:t>control regions by regression</a:t>
            </a:r>
          </a:p>
        </p:txBody>
      </p:sp>
      <p:sp>
        <p:nvSpPr>
          <p:cNvPr id="22" name="Use 4 tile"/>
          <p:cNvSpPr/>
          <p:nvPr/>
        </p:nvSpPr>
        <p:spPr>
          <a:xfrm>
            <a:off x="45720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Use 4" descr=""/>
          <p:cNvPicPr>
            <a:picLocks noChangeAspect="1"/>
          </p:cNvPicPr>
          <p:nvPr/>
        </p:nvPicPr>
        <p:blipFill>
          <a:blip r:embed="rId6"/>
          <a:stretch>
            <a:fillRect/>
          </a:stretch>
        </p:blipFill>
        <p:spPr>
          <a:xfrm>
            <a:off x="594360" y="2944368"/>
            <a:ext cx="365760" cy="365760"/>
          </a:xfrm>
          <a:prstGeom prst="rect">
            <a:avLst/>
          </a:prstGeom>
        </p:spPr>
      </p:pic>
      <p:sp>
        <p:nvSpPr>
          <p:cNvPr id="24" name="Use 4 heading"/>
          <p:cNvSpPr txBox="1"/>
          <p:nvPr/>
        </p:nvSpPr>
        <p:spPr>
          <a:xfrm>
            <a:off x="105156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Walmart (M5)</a:t>
            </a:r>
          </a:p>
        </p:txBody>
      </p:sp>
      <p:sp>
        <p:nvSpPr>
          <p:cNvPr id="25" name="Use 4 text"/>
          <p:cNvSpPr txBox="1"/>
          <p:nvPr/>
        </p:nvSpPr>
        <p:spPr>
          <a:xfrm>
            <a:off x="59436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Sales forecasts need price,</a:t>
            </a:r>
          </a:p>
          <a:p>
            <a:pPr algn="l">
              <a:spcAft>
                <a:spcPts val="400"/>
              </a:spcAft>
            </a:pPr>
            <a:r>
              <a:rPr sz="1200" b="0" lang="en-GB">
                <a:solidFill>
                  <a:schemeClr val="tx1"/>
                </a:solidFill>
              </a:rPr>
              <a:t>promotion and event regressors</a:t>
            </a:r>
          </a:p>
        </p:txBody>
      </p:sp>
      <p:sp>
        <p:nvSpPr>
          <p:cNvPr id="26" name="Use 5 tile"/>
          <p:cNvSpPr/>
          <p:nvPr/>
        </p:nvSpPr>
        <p:spPr>
          <a:xfrm>
            <a:off x="324612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Use 5" descr=""/>
          <p:cNvPicPr>
            <a:picLocks noChangeAspect="1"/>
          </p:cNvPicPr>
          <p:nvPr/>
        </p:nvPicPr>
        <p:blipFill>
          <a:blip r:embed="rId7"/>
          <a:stretch>
            <a:fillRect/>
          </a:stretch>
        </p:blipFill>
        <p:spPr>
          <a:xfrm>
            <a:off x="3383280" y="2944368"/>
            <a:ext cx="365760" cy="365760"/>
          </a:xfrm>
          <a:prstGeom prst="rect">
            <a:avLst/>
          </a:prstGeom>
        </p:spPr>
      </p:pic>
      <p:sp>
        <p:nvSpPr>
          <p:cNvPr id="28" name="Use 5 heading"/>
          <p:cNvSpPr txBox="1"/>
          <p:nvPr/>
        </p:nvSpPr>
        <p:spPr>
          <a:xfrm>
            <a:off x="384048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statworx</a:t>
            </a:r>
          </a:p>
        </p:txBody>
      </p:sp>
      <p:sp>
        <p:nvSpPr>
          <p:cNvPr id="29" name="Use 5 text"/>
          <p:cNvSpPr txBox="1"/>
          <p:nvPr/>
        </p:nvSpPr>
        <p:spPr>
          <a:xfrm>
            <a:off x="338328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Frankfurt consultancy: price</a:t>
            </a:r>
          </a:p>
          <a:p>
            <a:pPr algn="l">
              <a:spcAft>
                <a:spcPts val="400"/>
              </a:spcAft>
            </a:pPr>
            <a:r>
              <a:rPr sz="1200" b="0" lang="en-GB">
                <a:solidFill>
                  <a:schemeClr val="tx1"/>
                </a:solidFill>
              </a:rPr>
              <a:t>elasticities, log-log</a:t>
            </a:r>
          </a:p>
        </p:txBody>
      </p:sp>
      <p:sp>
        <p:nvSpPr>
          <p:cNvPr id="30" name="Use 6 tile"/>
          <p:cNvSpPr/>
          <p:nvPr/>
        </p:nvSpPr>
        <p:spPr>
          <a:xfrm>
            <a:off x="603504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Use 6" descr=""/>
          <p:cNvPicPr>
            <a:picLocks noChangeAspect="1"/>
          </p:cNvPicPr>
          <p:nvPr/>
        </p:nvPicPr>
        <p:blipFill>
          <a:blip r:embed="rId8"/>
          <a:stretch>
            <a:fillRect/>
          </a:stretch>
        </p:blipFill>
        <p:spPr>
          <a:xfrm>
            <a:off x="6172200" y="2944368"/>
            <a:ext cx="365760" cy="365760"/>
          </a:xfrm>
          <a:prstGeom prst="rect">
            <a:avLst/>
          </a:prstGeom>
        </p:spPr>
      </p:pic>
      <p:sp>
        <p:nvSpPr>
          <p:cNvPr id="32" name="Use 6 heading"/>
          <p:cNvSpPr txBox="1"/>
          <p:nvPr/>
        </p:nvSpPr>
        <p:spPr>
          <a:xfrm>
            <a:off x="662940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Bayer</a:t>
            </a:r>
          </a:p>
        </p:txBody>
      </p:sp>
      <p:sp>
        <p:nvSpPr>
          <p:cNvPr id="33" name="Use 6 text"/>
          <p:cNvSpPr txBox="1"/>
          <p:nvPr/>
        </p:nvSpPr>
        <p:spPr>
          <a:xfrm>
            <a:off x="617220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Budget across countries</a:t>
            </a:r>
          </a:p>
          <a:p>
            <a:pPr algn="l">
              <a:spcAft>
                <a:spcPts val="400"/>
              </a:spcAft>
            </a:pPr>
            <a:r>
              <a:rPr sz="1200" b="0" lang="en-GB">
                <a:solidFill>
                  <a:schemeClr val="tx1"/>
                </a:solidFill>
              </a:rPr>
              <a:t>from estimated elasticities</a:t>
            </a:r>
          </a:p>
        </p:txBody>
      </p:sp>
      <p:sp>
        <p:nvSpPr>
          <p:cNvPr id="34" name="Use next box"/>
          <p:cNvSpPr/>
          <p:nvPr/>
        </p:nvSpPr>
        <p:spPr>
          <a:xfrm>
            <a:off x="457200" y="4407408"/>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Use next" descr=""/>
          <p:cNvPicPr>
            <a:picLocks noChangeAspect="1"/>
          </p:cNvPicPr>
          <p:nvPr/>
        </p:nvPicPr>
        <p:blipFill>
          <a:blip r:embed="rId9"/>
          <a:stretch>
            <a:fillRect/>
          </a:stretch>
        </p:blipFill>
        <p:spPr>
          <a:xfrm>
            <a:off x="658368" y="4416552"/>
            <a:ext cx="365760" cy="365760"/>
          </a:xfrm>
          <a:prstGeom prst="rect">
            <a:avLst/>
          </a:prstGeom>
        </p:spPr>
      </p:pic>
      <p:sp>
        <p:nvSpPr>
          <p:cNvPr id="36" name="Use next text"/>
          <p:cNvSpPr txBox="1"/>
          <p:nvPr/>
        </p:nvSpPr>
        <p:spPr>
          <a:xfrm>
            <a:off x="1207008" y="4407408"/>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Session 2: </a:t>
            </a:r>
            <a:r>
              <a:rPr sz="1200" b="0" lang="en-GB">
                <a:solidFill>
                  <a:schemeClr val="tx1"/>
                </a:solidFill>
              </a:rPr>
              <a:t>the marketing mix model is this regression with adstock and saturation.</a:t>
            </a:r>
          </a:p>
        </p:txBody>
      </p:sp>
      <p:sp>
        <p:nvSpPr>
          <p:cNvPr id="3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Robyn docs; Deng et al. 2013; Vaver &amp; Koehler 2011; Makridakis et al. 2022; Fischer et al. 2011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9 of 11 · load and plot, the first regression, the log-log model, the checks</a:t>
            </a:r>
          </a:p>
        </p:txBody>
      </p:sp>
      <p:sp>
        <p:nvSpPr>
          <p:cNvPr id="3" name="Title 2"/>
          <p:cNvSpPr>
            <a:spLocks noGrp="1"/>
          </p:cNvSpPr>
          <p:nvPr>
            <p:ph type="ctrTitle"/>
          </p:nvPr>
        </p:nvSpPr>
        <p:spPr/>
        <p:txBody>
          <a:bodyPr/>
          <a:lstStyle/>
          <a:p>
            <a:r>
              <a:rPr sz="1600" lang="en-GB"/>
              <a:t>The chocolate data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ata table"/>
          <p:cNvGraphicFramePr>
            <a:graphicFrameLocks noGrp="1"/>
          </p:cNvGraphicFramePr>
          <p:nvPr>
            <p:ph type="tbl" idx="1"/>
          </p:nvPr>
        </p:nvGraphicFramePr>
        <p:xfrm>
          <a:off x="457200" y="1234440"/>
          <a:ext cx="8229600" cy="3337560"/>
        </p:xfrm>
        <a:graphic>
          <a:graphicData uri="http://schemas.openxmlformats.org/drawingml/2006/table">
            <a:tbl>
              <a:tblPr firstRow="1" bandRow="1">
                <a:tableStyleId>{5C22544A-7EE6-4342-B048-85BDC9FD1C3A}</a:tableStyleId>
              </a:tblPr>
              <a:tblGrid>
                <a:gridCol w="2651760"/>
                <a:gridCol w="5577840"/>
              </a:tblGrid>
              <a:tr h="370840">
                <a:tc>
                  <a:txBody>
                    <a:bodyPr/>
                    <a:lstStyle/>
                    <a:p>
                      <a:r>
                        <a:rPr sz="1300" lang="en-GB"/>
                        <a:t>Column</a:t>
                      </a:r>
                    </a:p>
                  </a:txBody>
                  <a:tcPr marT="34000" marB="34000"/>
                </a:tc>
                <a:tc>
                  <a:txBody>
                    <a:bodyPr/>
                    <a:lstStyle/>
                    <a:p>
                      <a:r>
                        <a:rPr sz="1300" lang="en-GB"/>
                        <a:t>Meaning</a:t>
                      </a:r>
                    </a:p>
                  </a:txBody>
                  <a:tcPr marT="34000" marB="34000"/>
                </a:tc>
              </a:tr>
              <a:tr h="370840">
                <a:tc>
                  <a:txBody>
                    <a:bodyPr/>
                    <a:lstStyle/>
                    <a:p>
                      <a:r>
                        <a:rPr sz="1200" b="1" lang="en-GB"/>
                        <a:t>week</a:t>
                      </a:r>
                    </a:p>
                  </a:txBody>
                  <a:tcPr marT="34000" marB="34000"/>
                </a:tc>
                <a:tc>
                  <a:txBody>
                    <a:bodyPr/>
                    <a:lstStyle/>
                    <a:p>
                      <a:r>
                        <a:rPr sz="1200" lang="en-GB"/>
                        <a:t>1 to 68</a:t>
                      </a:r>
                    </a:p>
                  </a:txBody>
                  <a:tcPr marT="34000" marB="34000"/>
                </a:tc>
              </a:tr>
              <a:tr h="370840">
                <a:tc>
                  <a:txBody>
                    <a:bodyPr/>
                    <a:lstStyle/>
                    <a:p>
                      <a:r>
                        <a:rPr sz="1200" b="1" lang="en-GB"/>
                        <a:t>sales</a:t>
                      </a:r>
                    </a:p>
                  </a:txBody>
                  <a:tcPr marT="34000" marB="34000"/>
                </a:tc>
                <a:tc>
                  <a:txBody>
                    <a:bodyPr/>
                    <a:lstStyle/>
                    <a:p>
                      <a:r>
                        <a:rPr sz="1200" lang="en-GB"/>
                        <a:t>weekly unit sales of brand 1</a:t>
                      </a:r>
                    </a:p>
                  </a:txBody>
                  <a:tcPr marT="34000" marB="34000"/>
                </a:tc>
              </a:tr>
              <a:tr h="370840">
                <a:tc>
                  <a:txBody>
                    <a:bodyPr/>
                    <a:lstStyle/>
                    <a:p>
                      <a:r>
                        <a:rPr sz="1200" b="1" lang="en-GB"/>
                        <a:t>price1 to price4</a:t>
                      </a:r>
                    </a:p>
                  </a:txBody>
                  <a:tcPr marT="34000" marB="34000"/>
                </a:tc>
                <a:tc>
                  <a:txBody>
                    <a:bodyPr/>
                    <a:lstStyle/>
                    <a:p>
                      <a:r>
                        <a:rPr sz="1200" lang="en-GB"/>
                        <a:t>prices of brands 1 to 4</a:t>
                      </a:r>
                    </a:p>
                  </a:txBody>
                  <a:tcPr marT="34000" marB="34000"/>
                </a:tc>
              </a:tr>
              <a:tr h="370840">
                <a:tc>
                  <a:txBody>
                    <a:bodyPr/>
                    <a:lstStyle/>
                    <a:p>
                      <a:r>
                        <a:rPr sz="1200" b="1" lang="en-GB"/>
                        <a:t>feature1 to feature4</a:t>
                      </a:r>
                    </a:p>
                  </a:txBody>
                  <a:tcPr marT="34000" marB="34000"/>
                </a:tc>
                <a:tc>
                  <a:txBody>
                    <a:bodyPr/>
                    <a:lstStyle/>
                    <a:p>
                      <a:r>
                        <a:rPr sz="1200" lang="en-GB"/>
                        <a:t>share of stores with a feature ad, 0 to 1</a:t>
                      </a:r>
                    </a:p>
                  </a:txBody>
                  <a:tcPr marT="34000" marB="34000"/>
                </a:tc>
              </a:tr>
              <a:tr h="370840">
                <a:tc>
                  <a:txBody>
                    <a:bodyPr/>
                    <a:lstStyle/>
                    <a:p>
                      <a:r>
                        <a:rPr sz="1200" b="1" lang="en-GB"/>
                        <a:t>display1 to display4</a:t>
                      </a:r>
                    </a:p>
                  </a:txBody>
                  <a:tcPr marT="34000" marB="34000"/>
                </a:tc>
                <a:tc>
                  <a:txBody>
                    <a:bodyPr/>
                    <a:lstStyle/>
                    <a:p>
                      <a:r>
                        <a:rPr sz="1200" lang="en-GB"/>
                        <a:t>share of stores with an in-store display</a:t>
                      </a:r>
                    </a:p>
                  </a:txBody>
                  <a:tcPr marT="34000" marB="34000"/>
                </a:tc>
              </a:tr>
              <a:tr h="370840">
                <a:tc>
                  <a:txBody>
                    <a:bodyPr/>
                    <a:lstStyle/>
                    <a:p>
                      <a:r>
                        <a:rPr sz="1200" b="1" lang="en-GB"/>
                        <a:t>fand1, fand3, fand4</a:t>
                      </a:r>
                    </a:p>
                  </a:txBody>
                  <a:tcPr marT="34000" marB="34000"/>
                </a:tc>
                <a:tc>
                  <a:txBody>
                    <a:bodyPr/>
                    <a:lstStyle/>
                    <a:p>
                      <a:r>
                        <a:rPr sz="1200" lang="en-GB"/>
                        <a:t>share with feature and display together</a:t>
                      </a:r>
                    </a:p>
                  </a:txBody>
                  <a:tcPr marT="34000" marB="34000"/>
                </a:tc>
              </a:tr>
              <a:tr h="370840">
                <a:tc>
                  <a:txBody>
                    <a:bodyPr/>
                    <a:lstStyle/>
                    <a:p>
                      <a:r>
                        <a:rPr sz="1200" b="1" lang="en-GB"/>
                        <a:t>temp</a:t>
                      </a:r>
                    </a:p>
                  </a:txBody>
                  <a:tcPr marT="34000" marB="34000"/>
                </a:tc>
                <a:tc>
                  <a:txBody>
                    <a:bodyPr/>
                    <a:lstStyle/>
                    <a:p>
                      <a:r>
                        <a:rPr sz="1200" lang="en-GB"/>
                        <a:t>temperature, °C</a:t>
                      </a:r>
                    </a:p>
                  </a:txBody>
                  <a:tcPr marT="34000" marB="34000"/>
                </a:tc>
              </a:tr>
              <a:tr h="370840">
                <a:tc>
                  <a:txBody>
                    <a:bodyPr/>
                    <a:lstStyle/>
                    <a:p>
                      <a:r>
                        <a:rPr sz="1200" b="1" lang="en-GB"/>
                        <a:t>december, easter</a:t>
                      </a:r>
                    </a:p>
                  </a:txBody>
                  <a:tcPr marT="34000" marB="34000"/>
                </a:tc>
                <a:tc>
                  <a:txBody>
                    <a:bodyPr/>
                    <a:lstStyle/>
                    <a:p>
                      <a:r>
                        <a:rPr sz="1200" lang="en-GB"/>
                        <a:t>1 in December and Easter weeks</a:t>
                      </a:r>
                    </a:p>
                  </a:txBody>
                  <a:tcPr marT="34000" marB="34000"/>
                </a:tc>
              </a:tr>
            </a:tbl>
          </a:graphicData>
        </a:graphic>
      </p:graphicFrame>
      <p:sp>
        <p:nvSpPr>
          <p:cNvPr id="3" name="Title 2"/>
          <p:cNvSpPr>
            <a:spLocks noGrp="1"/>
          </p:cNvSpPr>
          <p:nvPr>
            <p:ph type="title"/>
          </p:nvPr>
        </p:nvSpPr>
        <p:spPr/>
        <p:txBody>
          <a:bodyPr/>
          <a:lstStyle/>
          <a:p>
            <a:r>
              <a:rPr sz="1600" lang="en-GB"/>
              <a:t>The data: 68 weeks of chocolate scanner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data/legacy/chocolate_dataset.csv</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look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ad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ad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 and plotnine</a:t>
            </a:r>
          </a:p>
        </p:txBody>
      </p:sp>
      <p:sp>
        <p:nvSpPr>
          <p:cNvPr id="12" name="Load code box"/>
          <p:cNvSpPr/>
          <p:nvPr/>
        </p:nvSpPr>
        <p:spPr>
          <a:xfrm>
            <a:off x="457200" y="1508760"/>
            <a:ext cx="4206240" cy="2743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ad code code"/>
          <p:cNvSpPr txBox="1"/>
          <p:nvPr/>
        </p:nvSpPr>
        <p:spPr>
          <a:xfrm>
            <a:off x="594360" y="1600200"/>
            <a:ext cx="3931920" cy="25603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polars as pl</a:t>
            </a:r>
          </a:p>
          <a:p>
            <a:pPr algn="l">
              <a:spcAft>
                <a:spcPts val="0"/>
              </a:spcAft>
            </a:pPr>
            <a:r>
              <a:rPr sz="1050" b="0" lang="en-GB">
                <a:solidFill>
                  <a:schemeClr val="bg1"/>
                </a:solidFill>
                <a:latin typeface="Consolas"/>
              </a:rPr>
              <a:t>from plotnine import (ggplot, aes, geom_point,</a:t>
            </a:r>
          </a:p>
          <a:p>
            <a:pPr algn="l">
              <a:spcAft>
                <a:spcPts val="0"/>
              </a:spcAft>
            </a:pPr>
            <a:r>
              <a:rPr sz="1050" b="0" lang="en-GB">
                <a:solidFill>
                  <a:schemeClr val="bg1"/>
                </a:solidFill>
                <a:latin typeface="Consolas"/>
              </a:rPr>
              <a:t>                      geom_smooth, labs)</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choc = pl.read_csv(</a:t>
            </a:r>
          </a:p>
          <a:p>
            <a:pPr algn="l">
              <a:spcAft>
                <a:spcPts val="0"/>
              </a:spcAft>
            </a:pPr>
            <a:r>
              <a:rPr sz="1050" b="0" lang="en-GB">
                <a:solidFill>
                  <a:schemeClr val="bg1"/>
                </a:solidFill>
                <a:latin typeface="Consolas"/>
              </a:rPr>
              <a:t>    "data/legacy/chocolate_dataset.csv")</a:t>
            </a:r>
          </a:p>
          <a:p>
            <a:pPr algn="l">
              <a:spcAft>
                <a:spcPts val="0"/>
              </a:spcAft>
            </a:pPr>
            <a:r>
              <a:rPr sz="1050" b="0" lang="en-GB">
                <a:solidFill>
                  <a:schemeClr val="bg1"/>
                </a:solidFill>
                <a:latin typeface="Consolas"/>
              </a:rPr>
              <a:t>choc.select("sales", "price1",</a:t>
            </a:r>
          </a:p>
          <a:p>
            <a:pPr algn="l">
              <a:spcAft>
                <a:spcPts val="0"/>
              </a:spcAft>
            </a:pPr>
            <a:r>
              <a:rPr sz="1050" b="0" lang="en-GB">
                <a:solidFill>
                  <a:schemeClr val="bg1"/>
                </a:solidFill>
                <a:latin typeface="Consolas"/>
              </a:rPr>
              <a:t>            "price2").describe()</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(ggplot(choc, aes("price1", "sales"))</a:t>
            </a:r>
          </a:p>
          <a:p>
            <a:pPr algn="l">
              <a:spcAft>
                <a:spcPts val="0"/>
              </a:spcAft>
            </a:pPr>
            <a:r>
              <a:rPr sz="1050" b="0" lang="en-GB">
                <a:solidFill>
                  <a:schemeClr val="bg1"/>
                </a:solidFill>
                <a:latin typeface="Consolas"/>
              </a:rPr>
              <a:t> + geom_point()</a:t>
            </a:r>
          </a:p>
          <a:p>
            <a:pPr algn="l">
              <a:spcAft>
                <a:spcPts val="0"/>
              </a:spcAft>
            </a:pPr>
            <a:r>
              <a:rPr sz="1050" b="0" lang="en-GB">
                <a:solidFill>
                  <a:schemeClr val="bg1"/>
                </a:solidFill>
                <a:latin typeface="Consolas"/>
              </a:rPr>
              <a:t> + geom_smooth(method="lm")</a:t>
            </a:r>
          </a:p>
          <a:p>
            <a:pPr algn="l">
              <a:spcAft>
                <a:spcPts val="0"/>
              </a:spcAft>
            </a:pPr>
            <a:r>
              <a:rPr sz="1050" b="0" lang="en-GB">
                <a:solidFill>
                  <a:schemeClr val="bg1"/>
                </a:solidFill>
                <a:latin typeface="Consolas"/>
              </a:rPr>
              <a:t> + labs(x="Price of brand 1",</a:t>
            </a:r>
          </a:p>
          <a:p>
            <a:pPr algn="l">
              <a:spcAft>
                <a:spcPts val="0"/>
              </a:spcAft>
            </a:pPr>
            <a:r>
              <a:rPr sz="1050" b="0" lang="en-GB">
                <a:solidFill>
                  <a:schemeClr val="bg1"/>
                </a:solidFill>
                <a:latin typeface="Consolas"/>
              </a:rPr>
              <a:t>        y="Weekly sales"))</a:t>
            </a:r>
          </a:p>
        </p:txBody>
      </p:sp>
      <p:pic>
        <p:nvPicPr>
          <p:cNvPr id="14" name="Chart reg_scatter.png" descr="The scatter plot of sales against price of brand 1 with the least-squares line"/>
          <p:cNvPicPr>
            <a:picLocks noChangeAspect="1"/>
          </p:cNvPicPr>
          <p:nvPr/>
        </p:nvPicPr>
        <p:blipFill>
          <a:blip r:embed="rId3"/>
          <a:stretch>
            <a:fillRect/>
          </a:stretch>
        </p:blipFill>
        <p:spPr>
          <a:xfrm>
            <a:off x="4800600" y="1234440"/>
            <a:ext cx="3886200" cy="2569464"/>
          </a:xfrm>
          <a:prstGeom prst="rect">
            <a:avLst/>
          </a:prstGeom>
        </p:spPr>
      </p:pic>
      <p:sp>
        <p:nvSpPr>
          <p:cNvPr id="15" name="Load look box"/>
          <p:cNvSpPr/>
          <p:nvPr/>
        </p:nvSpPr>
        <p:spPr>
          <a:xfrm>
            <a:off x="457200" y="438912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Load look" descr=""/>
          <p:cNvPicPr>
            <a:picLocks noChangeAspect="1"/>
          </p:cNvPicPr>
          <p:nvPr/>
        </p:nvPicPr>
        <p:blipFill>
          <a:blip r:embed="rId4"/>
          <a:stretch>
            <a:fillRect/>
          </a:stretch>
        </p:blipFill>
        <p:spPr>
          <a:xfrm>
            <a:off x="658368" y="4457700"/>
            <a:ext cx="365760" cy="365760"/>
          </a:xfrm>
          <a:prstGeom prst="rect">
            <a:avLst/>
          </a:prstGeom>
        </p:spPr>
      </p:pic>
      <p:sp>
        <p:nvSpPr>
          <p:cNvPr id="17" name="Load look text"/>
          <p:cNvSpPr txBox="1"/>
          <p:nvPr/>
        </p:nvSpPr>
        <p:spPr>
          <a:xfrm>
            <a:off x="1207008" y="438912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Look before you model: </a:t>
            </a:r>
            <a:r>
              <a:rPr sz="1200" b="0" lang="en-GB">
                <a:solidFill>
                  <a:schemeClr val="tx1"/>
                </a:solidFill>
              </a:rPr>
              <a:t>ranges, outliers, the shape of the relationship.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the first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mple code caption bar"/>
          <p:cNvSpPr/>
          <p:nvPr/>
        </p:nvSpPr>
        <p:spPr>
          <a:xfrm>
            <a:off x="457200" y="1234440"/>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mple code caption"/>
          <p:cNvSpPr txBox="1"/>
          <p:nvPr/>
        </p:nvSpPr>
        <p:spPr>
          <a:xfrm>
            <a:off x="566928" y="1234440"/>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Simple code box"/>
          <p:cNvSpPr/>
          <p:nvPr/>
        </p:nvSpPr>
        <p:spPr>
          <a:xfrm>
            <a:off x="457200" y="1508760"/>
            <a:ext cx="4480560" cy="1920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imple code code"/>
          <p:cNvSpPr txBox="1"/>
          <p:nvPr/>
        </p:nvSpPr>
        <p:spPr>
          <a:xfrm>
            <a:off x="594360" y="1600200"/>
            <a:ext cx="4206240" cy="173736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statsmodels.formula.api as smf</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df = choc.to_pandas()</a:t>
            </a:r>
          </a:p>
          <a:p>
            <a:pPr algn="l">
              <a:spcAft>
                <a:spcPts val="0"/>
              </a:spcAft>
            </a:pPr>
            <a:r>
              <a:rPr sz="1050" b="0" lang="en-GB">
                <a:solidFill>
                  <a:schemeClr val="bg1"/>
                </a:solidFill>
                <a:latin typeface="Consolas"/>
              </a:rPr>
              <a:t>simple = smf.ols("sales ~ price1",</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print(simple.summary())</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simple.params      # b0, b1</a:t>
            </a:r>
          </a:p>
          <a:p>
            <a:pPr algn="l">
              <a:spcAft>
                <a:spcPts val="0"/>
              </a:spcAft>
            </a:pPr>
            <a:r>
              <a:rPr sz="1050" b="0" lang="en-GB">
                <a:solidFill>
                  <a:schemeClr val="bg1"/>
                </a:solidFill>
                <a:latin typeface="Consolas"/>
              </a:rPr>
              <a:t>simple.rsquared    # 0.884</a:t>
            </a:r>
          </a:p>
        </p:txBody>
      </p:sp>
      <p:sp>
        <p:nvSpPr>
          <p:cNvPr id="14" name="Simple out 1-1"/>
          <p:cNvSpPr/>
          <p:nvPr/>
        </p:nvSpPr>
        <p:spPr>
          <a:xfrm>
            <a:off x="5074920" y="1234440"/>
            <a:ext cx="9784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imple out text 1-1"/>
          <p:cNvSpPr txBox="1"/>
          <p:nvPr/>
        </p:nvSpPr>
        <p:spPr>
          <a:xfrm>
            <a:off x="5166360" y="1234440"/>
            <a:ext cx="7955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
            </a:r>
          </a:p>
        </p:txBody>
      </p:sp>
      <p:sp>
        <p:nvSpPr>
          <p:cNvPr id="16" name="Simple out 1-2"/>
          <p:cNvSpPr/>
          <p:nvPr/>
        </p:nvSpPr>
        <p:spPr>
          <a:xfrm>
            <a:off x="608076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mple out text 1-2"/>
          <p:cNvSpPr txBox="1"/>
          <p:nvPr/>
        </p:nvSpPr>
        <p:spPr>
          <a:xfrm>
            <a:off x="6172200" y="1234440"/>
            <a:ext cx="65836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coef</a:t>
            </a:r>
          </a:p>
        </p:txBody>
      </p:sp>
      <p:sp>
        <p:nvSpPr>
          <p:cNvPr id="18" name="Simple out 1-3"/>
          <p:cNvSpPr/>
          <p:nvPr/>
        </p:nvSpPr>
        <p:spPr>
          <a:xfrm>
            <a:off x="694944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imple out text 1-3"/>
          <p:cNvSpPr txBox="1"/>
          <p:nvPr/>
        </p:nvSpPr>
        <p:spPr>
          <a:xfrm>
            <a:off x="7040880" y="1234440"/>
            <a:ext cx="65836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std err</a:t>
            </a:r>
          </a:p>
        </p:txBody>
      </p:sp>
      <p:sp>
        <p:nvSpPr>
          <p:cNvPr id="20" name="Simple out 1-4"/>
          <p:cNvSpPr/>
          <p:nvPr/>
        </p:nvSpPr>
        <p:spPr>
          <a:xfrm>
            <a:off x="7818120" y="1234440"/>
            <a:ext cx="7955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mple out text 1-4"/>
          <p:cNvSpPr txBox="1"/>
          <p:nvPr/>
        </p:nvSpPr>
        <p:spPr>
          <a:xfrm>
            <a:off x="7909560" y="1234440"/>
            <a:ext cx="61264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P&gt;|t|</a:t>
            </a:r>
          </a:p>
        </p:txBody>
      </p:sp>
      <p:sp>
        <p:nvSpPr>
          <p:cNvPr id="22" name="Simple out 2-1"/>
          <p:cNvSpPr/>
          <p:nvPr/>
        </p:nvSpPr>
        <p:spPr>
          <a:xfrm>
            <a:off x="5074920" y="164592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imple out text 2-1"/>
          <p:cNvSpPr txBox="1"/>
          <p:nvPr/>
        </p:nvSpPr>
        <p:spPr>
          <a:xfrm>
            <a:off x="5166360" y="1645920"/>
            <a:ext cx="7955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Intercept</a:t>
            </a:r>
          </a:p>
        </p:txBody>
      </p:sp>
      <p:sp>
        <p:nvSpPr>
          <p:cNvPr id="24" name="Simple out 2-2"/>
          <p:cNvSpPr/>
          <p:nvPr/>
        </p:nvSpPr>
        <p:spPr>
          <a:xfrm>
            <a:off x="608076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imple out text 2-2"/>
          <p:cNvSpPr txBox="1"/>
          <p:nvPr/>
        </p:nvSpPr>
        <p:spPr>
          <a:xfrm>
            <a:off x="6172200" y="164592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1,110.0</a:t>
            </a:r>
          </a:p>
        </p:txBody>
      </p:sp>
      <p:sp>
        <p:nvSpPr>
          <p:cNvPr id="26" name="Simple out 2-3"/>
          <p:cNvSpPr/>
          <p:nvPr/>
        </p:nvSpPr>
        <p:spPr>
          <a:xfrm>
            <a:off x="694944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imple out text 2-3"/>
          <p:cNvSpPr txBox="1"/>
          <p:nvPr/>
        </p:nvSpPr>
        <p:spPr>
          <a:xfrm>
            <a:off x="7040880" y="164592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44.0</a:t>
            </a:r>
          </a:p>
        </p:txBody>
      </p:sp>
      <p:sp>
        <p:nvSpPr>
          <p:cNvPr id="28" name="Simple out 2-4"/>
          <p:cNvSpPr/>
          <p:nvPr/>
        </p:nvSpPr>
        <p:spPr>
          <a:xfrm>
            <a:off x="7818120" y="1645920"/>
            <a:ext cx="7955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imple out text 2-4"/>
          <p:cNvSpPr txBox="1"/>
          <p:nvPr/>
        </p:nvSpPr>
        <p:spPr>
          <a:xfrm>
            <a:off x="7909560" y="1645920"/>
            <a:ext cx="6126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0.000</a:t>
            </a:r>
          </a:p>
        </p:txBody>
      </p:sp>
      <p:sp>
        <p:nvSpPr>
          <p:cNvPr id="30" name="Simple out 3-1"/>
          <p:cNvSpPr/>
          <p:nvPr/>
        </p:nvSpPr>
        <p:spPr>
          <a:xfrm>
            <a:off x="5074920" y="205740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imple out text 3-1"/>
          <p:cNvSpPr txBox="1"/>
          <p:nvPr/>
        </p:nvSpPr>
        <p:spPr>
          <a:xfrm>
            <a:off x="5166360" y="2057400"/>
            <a:ext cx="7955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price1</a:t>
            </a:r>
          </a:p>
        </p:txBody>
      </p:sp>
      <p:sp>
        <p:nvSpPr>
          <p:cNvPr id="32" name="Simple out 3-2"/>
          <p:cNvSpPr/>
          <p:nvPr/>
        </p:nvSpPr>
        <p:spPr>
          <a:xfrm>
            <a:off x="608076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imple out text 3-2"/>
          <p:cNvSpPr txBox="1"/>
          <p:nvPr/>
        </p:nvSpPr>
        <p:spPr>
          <a:xfrm>
            <a:off x="6172200" y="205740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−668.8</a:t>
            </a:r>
          </a:p>
        </p:txBody>
      </p:sp>
      <p:sp>
        <p:nvSpPr>
          <p:cNvPr id="34" name="Simple out 3-3"/>
          <p:cNvSpPr/>
          <p:nvPr/>
        </p:nvSpPr>
        <p:spPr>
          <a:xfrm>
            <a:off x="694944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imple out text 3-3"/>
          <p:cNvSpPr txBox="1"/>
          <p:nvPr/>
        </p:nvSpPr>
        <p:spPr>
          <a:xfrm>
            <a:off x="7040880" y="205740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29.8</a:t>
            </a:r>
          </a:p>
        </p:txBody>
      </p:sp>
      <p:sp>
        <p:nvSpPr>
          <p:cNvPr id="36" name="Simple out 3-4"/>
          <p:cNvSpPr/>
          <p:nvPr/>
        </p:nvSpPr>
        <p:spPr>
          <a:xfrm>
            <a:off x="7818120" y="2057400"/>
            <a:ext cx="7955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imple out text 3-4"/>
          <p:cNvSpPr txBox="1"/>
          <p:nvPr/>
        </p:nvSpPr>
        <p:spPr>
          <a:xfrm>
            <a:off x="7909560" y="2057400"/>
            <a:ext cx="6126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0.000</a:t>
            </a:r>
          </a:p>
        </p:txBody>
      </p:sp>
      <p:sp>
        <p:nvSpPr>
          <p:cNvPr id="38" name="Simple r2"/>
          <p:cNvSpPr txBox="1"/>
          <p:nvPr/>
        </p:nvSpPr>
        <p:spPr>
          <a:xfrm>
            <a:off x="5074920" y="2514600"/>
            <a:ext cx="361188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R² = 0.884, n = 68</a:t>
            </a:r>
          </a:p>
        </p:txBody>
      </p:sp>
      <p:sp>
        <p:nvSpPr>
          <p:cNvPr id="39" name="Simple read row 1"/>
          <p:cNvSpPr/>
          <p:nvPr/>
        </p:nvSpPr>
        <p:spPr>
          <a:xfrm>
            <a:off x="457200" y="36118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imple read bar 1"/>
          <p:cNvSpPr/>
          <p:nvPr/>
        </p:nvSpPr>
        <p:spPr>
          <a:xfrm>
            <a:off x="457200" y="3611880"/>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imple read text 1"/>
          <p:cNvSpPr txBox="1"/>
          <p:nvPr/>
        </p:nvSpPr>
        <p:spPr>
          <a:xfrm>
            <a:off x="658368" y="3611880"/>
            <a:ext cx="7936992"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t>
            </a:r>
            <a:r>
              <a:rPr sz="1200" b="0" lang="en-GB">
                <a:solidFill>
                  <a:schemeClr val="tx1"/>
                </a:solidFill>
              </a:rPr>
              <a:t>10 cents more price, about 67 units fewer per week; the price explains 88 % of the weekly variation.</a:t>
            </a:r>
          </a:p>
        </p:txBody>
      </p:sp>
      <p:sp>
        <p:nvSpPr>
          <p:cNvPr id="42" name="Simple next box"/>
          <p:cNvSpPr/>
          <p:nvPr/>
        </p:nvSpPr>
        <p:spPr>
          <a:xfrm>
            <a:off x="457200" y="42976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Icon Simple next" descr=""/>
          <p:cNvPicPr>
            <a:picLocks noChangeAspect="1"/>
          </p:cNvPicPr>
          <p:nvPr/>
        </p:nvPicPr>
        <p:blipFill>
          <a:blip r:embed="rId3"/>
          <a:stretch>
            <a:fillRect/>
          </a:stretch>
        </p:blipFill>
        <p:spPr>
          <a:xfrm>
            <a:off x="658368" y="4366260"/>
            <a:ext cx="365760" cy="365760"/>
          </a:xfrm>
          <a:prstGeom prst="rect">
            <a:avLst/>
          </a:prstGeom>
        </p:spPr>
      </p:pic>
      <p:sp>
        <p:nvSpPr>
          <p:cNvPr id="44" name="Simple next text"/>
          <p:cNvSpPr txBox="1"/>
          <p:nvPr/>
        </p:nvSpPr>
        <p:spPr>
          <a:xfrm>
            <a:off x="1207008" y="429768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But: </a:t>
            </a:r>
            <a:r>
              <a:rPr sz="1200" b="0" lang="en-GB">
                <a:solidFill>
                  <a:schemeClr val="bg1"/>
                </a:solidFill>
              </a:rPr>
              <a:t>the residuals curve. Next: the log-log model with the marketing mix.</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the log-log model with the marketing mix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glog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glog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Loglog code box"/>
          <p:cNvSpPr/>
          <p:nvPr/>
        </p:nvSpPr>
        <p:spPr>
          <a:xfrm>
            <a:off x="457200" y="1508760"/>
            <a:ext cx="4206240" cy="2194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glog code code"/>
          <p:cNvSpPr txBox="1"/>
          <p:nvPr/>
        </p:nvSpPr>
        <p:spPr>
          <a:xfrm>
            <a:off x="594360" y="1600200"/>
            <a:ext cx="3931920" cy="201168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numpy as np</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model = smf.ols(</a:t>
            </a:r>
          </a:p>
          <a:p>
            <a:pPr algn="l">
              <a:spcAft>
                <a:spcPts val="0"/>
              </a:spcAft>
            </a:pPr>
            <a:r>
              <a:rPr sz="1050" b="0" lang="en-GB">
                <a:solidFill>
                  <a:schemeClr val="bg1"/>
                </a:solidFill>
                <a:latin typeface="Consolas"/>
              </a:rPr>
              <a:t>    "np.log(sales) ~ np.log(price1)"</a:t>
            </a:r>
          </a:p>
          <a:p>
            <a:pPr algn="l">
              <a:spcAft>
                <a:spcPts val="0"/>
              </a:spcAft>
            </a:pPr>
            <a:r>
              <a:rPr sz="1050" b="0" lang="en-GB">
                <a:solidFill>
                  <a:schemeClr val="bg1"/>
                </a:solidFill>
                <a:latin typeface="Consolas"/>
              </a:rPr>
              <a:t>    " + np.log(price2) + np.log(price3)"</a:t>
            </a:r>
          </a:p>
          <a:p>
            <a:pPr algn="l">
              <a:spcAft>
                <a:spcPts val="0"/>
              </a:spcAft>
            </a:pPr>
            <a:r>
              <a:rPr sz="1050" b="0" lang="en-GB">
                <a:solidFill>
                  <a:schemeClr val="bg1"/>
                </a:solidFill>
                <a:latin typeface="Consolas"/>
              </a:rPr>
              <a:t>    " + np.log(price4) + feature1"</a:t>
            </a:r>
          </a:p>
          <a:p>
            <a:pPr algn="l">
              <a:spcAft>
                <a:spcPts val="0"/>
              </a:spcAft>
            </a:pPr>
            <a:r>
              <a:rPr sz="1050" b="0" lang="en-GB">
                <a:solidFill>
                  <a:schemeClr val="bg1"/>
                </a:solidFill>
                <a:latin typeface="Consolas"/>
              </a:rPr>
              <a:t>    " + temp + december",</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print(model.summary())</a:t>
            </a:r>
          </a:p>
        </p:txBody>
      </p:sp>
      <p:sp>
        <p:nvSpPr>
          <p:cNvPr id="14" name="Loglog out 1-1"/>
          <p:cNvSpPr/>
          <p:nvPr/>
        </p:nvSpPr>
        <p:spPr>
          <a:xfrm>
            <a:off x="4800600" y="1234440"/>
            <a:ext cx="143560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glog out text 1-1"/>
          <p:cNvSpPr txBox="1"/>
          <p:nvPr/>
        </p:nvSpPr>
        <p:spPr>
          <a:xfrm>
            <a:off x="4892040" y="1234440"/>
            <a:ext cx="125272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
            </a:r>
          </a:p>
        </p:txBody>
      </p:sp>
      <p:sp>
        <p:nvSpPr>
          <p:cNvPr id="16" name="Loglog out 1-2"/>
          <p:cNvSpPr/>
          <p:nvPr/>
        </p:nvSpPr>
        <p:spPr>
          <a:xfrm>
            <a:off x="6263640" y="1234440"/>
            <a:ext cx="102412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glog out text 1-2"/>
          <p:cNvSpPr txBox="1"/>
          <p:nvPr/>
        </p:nvSpPr>
        <p:spPr>
          <a:xfrm>
            <a:off x="6355080" y="1234440"/>
            <a:ext cx="84124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coef</a:t>
            </a:r>
          </a:p>
        </p:txBody>
      </p:sp>
      <p:sp>
        <p:nvSpPr>
          <p:cNvPr id="18" name="Loglog out 1-3"/>
          <p:cNvSpPr/>
          <p:nvPr/>
        </p:nvSpPr>
        <p:spPr>
          <a:xfrm>
            <a:off x="7315200" y="1234440"/>
            <a:ext cx="102412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oglog out text 1-3"/>
          <p:cNvSpPr txBox="1"/>
          <p:nvPr/>
        </p:nvSpPr>
        <p:spPr>
          <a:xfrm>
            <a:off x="7406640" y="1234440"/>
            <a:ext cx="84124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p</a:t>
            </a:r>
          </a:p>
        </p:txBody>
      </p:sp>
      <p:sp>
        <p:nvSpPr>
          <p:cNvPr id="20" name="Loglog out 2-1"/>
          <p:cNvSpPr/>
          <p:nvPr/>
        </p:nvSpPr>
        <p:spPr>
          <a:xfrm>
            <a:off x="4800600" y="1536192"/>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oglog out text 2-1"/>
          <p:cNvSpPr txBox="1"/>
          <p:nvPr/>
        </p:nvSpPr>
        <p:spPr>
          <a:xfrm>
            <a:off x="4892040" y="1536192"/>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price1</a:t>
            </a:r>
          </a:p>
        </p:txBody>
      </p:sp>
      <p:sp>
        <p:nvSpPr>
          <p:cNvPr id="22" name="Loglog out 2-2"/>
          <p:cNvSpPr/>
          <p:nvPr/>
        </p:nvSpPr>
        <p:spPr>
          <a:xfrm>
            <a:off x="6263640" y="153619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glog out text 2-2"/>
          <p:cNvSpPr txBox="1"/>
          <p:nvPr/>
        </p:nvSpPr>
        <p:spPr>
          <a:xfrm>
            <a:off x="6355080" y="153619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−3.64</a:t>
            </a:r>
          </a:p>
        </p:txBody>
      </p:sp>
      <p:sp>
        <p:nvSpPr>
          <p:cNvPr id="24" name="Loglog out 2-3"/>
          <p:cNvSpPr/>
          <p:nvPr/>
        </p:nvSpPr>
        <p:spPr>
          <a:xfrm>
            <a:off x="7315200" y="153619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oglog out text 2-3"/>
          <p:cNvSpPr txBox="1"/>
          <p:nvPr/>
        </p:nvSpPr>
        <p:spPr>
          <a:xfrm>
            <a:off x="7406640" y="153619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0.000</a:t>
            </a:r>
          </a:p>
        </p:txBody>
      </p:sp>
      <p:sp>
        <p:nvSpPr>
          <p:cNvPr id="26" name="Loglog out 3-1"/>
          <p:cNvSpPr/>
          <p:nvPr/>
        </p:nvSpPr>
        <p:spPr>
          <a:xfrm>
            <a:off x="4800600" y="1837944"/>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oglog out text 3-1"/>
          <p:cNvSpPr txBox="1"/>
          <p:nvPr/>
        </p:nvSpPr>
        <p:spPr>
          <a:xfrm>
            <a:off x="4892040" y="1837944"/>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price2</a:t>
            </a:r>
          </a:p>
        </p:txBody>
      </p:sp>
      <p:sp>
        <p:nvSpPr>
          <p:cNvPr id="28" name="Loglog out 3-2"/>
          <p:cNvSpPr/>
          <p:nvPr/>
        </p:nvSpPr>
        <p:spPr>
          <a:xfrm>
            <a:off x="6263640" y="183794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oglog out text 3-2"/>
          <p:cNvSpPr txBox="1"/>
          <p:nvPr/>
        </p:nvSpPr>
        <p:spPr>
          <a:xfrm>
            <a:off x="6355080" y="183794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−0.80</a:t>
            </a:r>
          </a:p>
        </p:txBody>
      </p:sp>
      <p:sp>
        <p:nvSpPr>
          <p:cNvPr id="30" name="Loglog out 3-3"/>
          <p:cNvSpPr/>
          <p:nvPr/>
        </p:nvSpPr>
        <p:spPr>
          <a:xfrm>
            <a:off x="7315200" y="183794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oglog out text 3-3"/>
          <p:cNvSpPr txBox="1"/>
          <p:nvPr/>
        </p:nvSpPr>
        <p:spPr>
          <a:xfrm>
            <a:off x="7406640" y="183794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0.076</a:t>
            </a:r>
          </a:p>
        </p:txBody>
      </p:sp>
      <p:sp>
        <p:nvSpPr>
          <p:cNvPr id="32" name="Loglog out 4-1"/>
          <p:cNvSpPr/>
          <p:nvPr/>
        </p:nvSpPr>
        <p:spPr>
          <a:xfrm>
            <a:off x="4800600" y="2139696"/>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oglog out text 4-1"/>
          <p:cNvSpPr txBox="1"/>
          <p:nvPr/>
        </p:nvSpPr>
        <p:spPr>
          <a:xfrm>
            <a:off x="4892040" y="2139696"/>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price3</a:t>
            </a:r>
          </a:p>
        </p:txBody>
      </p:sp>
      <p:sp>
        <p:nvSpPr>
          <p:cNvPr id="34" name="Loglog out 4-2"/>
          <p:cNvSpPr/>
          <p:nvPr/>
        </p:nvSpPr>
        <p:spPr>
          <a:xfrm>
            <a:off x="6263640" y="2139696"/>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oglog out text 4-2"/>
          <p:cNvSpPr txBox="1"/>
          <p:nvPr/>
        </p:nvSpPr>
        <p:spPr>
          <a:xfrm>
            <a:off x="6355080" y="2139696"/>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0.36</a:t>
            </a:r>
          </a:p>
        </p:txBody>
      </p:sp>
      <p:sp>
        <p:nvSpPr>
          <p:cNvPr id="36" name="Loglog out 4-3"/>
          <p:cNvSpPr/>
          <p:nvPr/>
        </p:nvSpPr>
        <p:spPr>
          <a:xfrm>
            <a:off x="7315200" y="2139696"/>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oglog out text 4-3"/>
          <p:cNvSpPr txBox="1"/>
          <p:nvPr/>
        </p:nvSpPr>
        <p:spPr>
          <a:xfrm>
            <a:off x="7406640" y="2139696"/>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0.109</a:t>
            </a:r>
          </a:p>
        </p:txBody>
      </p:sp>
      <p:sp>
        <p:nvSpPr>
          <p:cNvPr id="38" name="Loglog out 5-1"/>
          <p:cNvSpPr/>
          <p:nvPr/>
        </p:nvSpPr>
        <p:spPr>
          <a:xfrm>
            <a:off x="4800600" y="2441448"/>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oglog out text 5-1"/>
          <p:cNvSpPr txBox="1"/>
          <p:nvPr/>
        </p:nvSpPr>
        <p:spPr>
          <a:xfrm>
            <a:off x="4892040" y="2441448"/>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price4</a:t>
            </a:r>
          </a:p>
        </p:txBody>
      </p:sp>
      <p:sp>
        <p:nvSpPr>
          <p:cNvPr id="40" name="Loglog out 5-2"/>
          <p:cNvSpPr/>
          <p:nvPr/>
        </p:nvSpPr>
        <p:spPr>
          <a:xfrm>
            <a:off x="6263640" y="2441448"/>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oglog out text 5-2"/>
          <p:cNvSpPr txBox="1"/>
          <p:nvPr/>
        </p:nvSpPr>
        <p:spPr>
          <a:xfrm>
            <a:off x="6355080" y="2441448"/>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−0.03</a:t>
            </a:r>
          </a:p>
        </p:txBody>
      </p:sp>
      <p:sp>
        <p:nvSpPr>
          <p:cNvPr id="42" name="Loglog out 5-3"/>
          <p:cNvSpPr/>
          <p:nvPr/>
        </p:nvSpPr>
        <p:spPr>
          <a:xfrm>
            <a:off x="7315200" y="2441448"/>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oglog out text 5-3"/>
          <p:cNvSpPr txBox="1"/>
          <p:nvPr/>
        </p:nvSpPr>
        <p:spPr>
          <a:xfrm>
            <a:off x="7406640" y="2441448"/>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0.855</a:t>
            </a:r>
          </a:p>
        </p:txBody>
      </p:sp>
      <p:sp>
        <p:nvSpPr>
          <p:cNvPr id="44" name="Loglog out 6-1"/>
          <p:cNvSpPr/>
          <p:nvPr/>
        </p:nvSpPr>
        <p:spPr>
          <a:xfrm>
            <a:off x="4800600" y="2743200"/>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oglog out text 6-1"/>
          <p:cNvSpPr txBox="1"/>
          <p:nvPr/>
        </p:nvSpPr>
        <p:spPr>
          <a:xfrm>
            <a:off x="4892040" y="2743200"/>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feature1</a:t>
            </a:r>
          </a:p>
        </p:txBody>
      </p:sp>
      <p:sp>
        <p:nvSpPr>
          <p:cNvPr id="46" name="Loglog out 6-2"/>
          <p:cNvSpPr/>
          <p:nvPr/>
        </p:nvSpPr>
        <p:spPr>
          <a:xfrm>
            <a:off x="6263640" y="2743200"/>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oglog out text 6-2"/>
          <p:cNvSpPr txBox="1"/>
          <p:nvPr/>
        </p:nvSpPr>
        <p:spPr>
          <a:xfrm>
            <a:off x="6355080" y="2743200"/>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0.18</a:t>
            </a:r>
          </a:p>
        </p:txBody>
      </p:sp>
      <p:sp>
        <p:nvSpPr>
          <p:cNvPr id="48" name="Loglog out 6-3"/>
          <p:cNvSpPr/>
          <p:nvPr/>
        </p:nvSpPr>
        <p:spPr>
          <a:xfrm>
            <a:off x="7315200" y="2743200"/>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oglog out text 6-3"/>
          <p:cNvSpPr txBox="1"/>
          <p:nvPr/>
        </p:nvSpPr>
        <p:spPr>
          <a:xfrm>
            <a:off x="7406640" y="2743200"/>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0.307</a:t>
            </a:r>
          </a:p>
        </p:txBody>
      </p:sp>
      <p:sp>
        <p:nvSpPr>
          <p:cNvPr id="50" name="Loglog out 7-1"/>
          <p:cNvSpPr/>
          <p:nvPr/>
        </p:nvSpPr>
        <p:spPr>
          <a:xfrm>
            <a:off x="4800600" y="3044952"/>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oglog out text 7-1"/>
          <p:cNvSpPr txBox="1"/>
          <p:nvPr/>
        </p:nvSpPr>
        <p:spPr>
          <a:xfrm>
            <a:off x="4892040" y="3044952"/>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temp</a:t>
            </a:r>
          </a:p>
        </p:txBody>
      </p:sp>
      <p:sp>
        <p:nvSpPr>
          <p:cNvPr id="52" name="Loglog out 7-2"/>
          <p:cNvSpPr/>
          <p:nvPr/>
        </p:nvSpPr>
        <p:spPr>
          <a:xfrm>
            <a:off x="6263640" y="304495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oglog out text 7-2"/>
          <p:cNvSpPr txBox="1"/>
          <p:nvPr/>
        </p:nvSpPr>
        <p:spPr>
          <a:xfrm>
            <a:off x="6355080" y="304495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−0.007</a:t>
            </a:r>
          </a:p>
        </p:txBody>
      </p:sp>
      <p:sp>
        <p:nvSpPr>
          <p:cNvPr id="54" name="Loglog out 7-3"/>
          <p:cNvSpPr/>
          <p:nvPr/>
        </p:nvSpPr>
        <p:spPr>
          <a:xfrm>
            <a:off x="7315200" y="304495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oglog out text 7-3"/>
          <p:cNvSpPr txBox="1"/>
          <p:nvPr/>
        </p:nvSpPr>
        <p:spPr>
          <a:xfrm>
            <a:off x="7406640" y="304495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0.045</a:t>
            </a:r>
          </a:p>
        </p:txBody>
      </p:sp>
      <p:sp>
        <p:nvSpPr>
          <p:cNvPr id="56" name="Loglog out 8-1"/>
          <p:cNvSpPr/>
          <p:nvPr/>
        </p:nvSpPr>
        <p:spPr>
          <a:xfrm>
            <a:off x="4800600" y="3346704"/>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oglog out text 8-1"/>
          <p:cNvSpPr txBox="1"/>
          <p:nvPr/>
        </p:nvSpPr>
        <p:spPr>
          <a:xfrm>
            <a:off x="4892040" y="3346704"/>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a:t>
            </a:r>
          </a:p>
        </p:txBody>
      </p:sp>
      <p:sp>
        <p:nvSpPr>
          <p:cNvPr id="58" name="Loglog out 8-2"/>
          <p:cNvSpPr/>
          <p:nvPr/>
        </p:nvSpPr>
        <p:spPr>
          <a:xfrm>
            <a:off x="6263640" y="334670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Loglog out text 8-2"/>
          <p:cNvSpPr txBox="1"/>
          <p:nvPr/>
        </p:nvSpPr>
        <p:spPr>
          <a:xfrm>
            <a:off x="6355080" y="334670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−0.38</a:t>
            </a:r>
          </a:p>
        </p:txBody>
      </p:sp>
      <p:sp>
        <p:nvSpPr>
          <p:cNvPr id="60" name="Loglog out 8-3"/>
          <p:cNvSpPr/>
          <p:nvPr/>
        </p:nvSpPr>
        <p:spPr>
          <a:xfrm>
            <a:off x="7315200" y="334670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Loglog out text 8-3"/>
          <p:cNvSpPr txBox="1"/>
          <p:nvPr/>
        </p:nvSpPr>
        <p:spPr>
          <a:xfrm>
            <a:off x="7406640" y="334670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0.009</a:t>
            </a:r>
          </a:p>
        </p:txBody>
      </p:sp>
      <p:sp>
        <p:nvSpPr>
          <p:cNvPr id="62" name="Loglog r2"/>
          <p:cNvSpPr txBox="1"/>
          <p:nvPr/>
        </p:nvSpPr>
        <p:spPr>
          <a:xfrm>
            <a:off x="4800600" y="3767328"/>
            <a:ext cx="38862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R² = 0.874, adjusted 0.859, n = 68</a:t>
            </a:r>
          </a:p>
        </p:txBody>
      </p:sp>
      <p:sp>
        <p:nvSpPr>
          <p:cNvPr id="63" name="Loglog read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Icon Loglog read" descr=""/>
          <p:cNvPicPr>
            <a:picLocks noChangeAspect="1"/>
          </p:cNvPicPr>
          <p:nvPr/>
        </p:nvPicPr>
        <p:blipFill>
          <a:blip r:embed="rId3"/>
          <a:stretch>
            <a:fillRect/>
          </a:stretch>
        </p:blipFill>
        <p:spPr>
          <a:xfrm>
            <a:off x="658368" y="4320540"/>
            <a:ext cx="365760" cy="365760"/>
          </a:xfrm>
          <a:prstGeom prst="rect">
            <a:avLst/>
          </a:prstGeom>
        </p:spPr>
      </p:pic>
      <p:sp>
        <p:nvSpPr>
          <p:cNvPr id="65" name="Loglog read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Read it: </a:t>
            </a:r>
            <a:r>
              <a:rPr sz="1200" b="0" lang="en-GB">
                <a:solidFill>
                  <a:schemeClr val="bg1"/>
                </a:solidFill>
              </a:rPr>
              <a:t>1 % higher price, 3.6 % fewer sales; December weeks 32 % lower; each degree warmer 0.7 % lower.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check the assumptions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code caption bar"/>
          <p:cNvSpPr/>
          <p:nvPr/>
        </p:nvSpPr>
        <p:spPr>
          <a:xfrm>
            <a:off x="457200" y="1234440"/>
            <a:ext cx="48463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code caption"/>
          <p:cNvSpPr txBox="1"/>
          <p:nvPr/>
        </p:nvSpPr>
        <p:spPr>
          <a:xfrm>
            <a:off x="566928" y="1234440"/>
            <a:ext cx="46268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tests and robust errors</a:t>
            </a:r>
          </a:p>
        </p:txBody>
      </p:sp>
      <p:sp>
        <p:nvSpPr>
          <p:cNvPr id="12" name="Check code box"/>
          <p:cNvSpPr/>
          <p:nvPr/>
        </p:nvSpPr>
        <p:spPr>
          <a:xfrm>
            <a:off x="457200" y="1508760"/>
            <a:ext cx="4846320" cy="2514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heck code code"/>
          <p:cNvSpPr txBox="1"/>
          <p:nvPr/>
        </p:nvSpPr>
        <p:spPr>
          <a:xfrm>
            <a:off x="594360" y="1600200"/>
            <a:ext cx="4572000" cy="233172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statsmodels.stats.stattools import (</a:t>
            </a:r>
          </a:p>
          <a:p>
            <a:pPr algn="l">
              <a:spcAft>
                <a:spcPts val="0"/>
              </a:spcAft>
            </a:pPr>
            <a:r>
              <a:rPr sz="1000" b="0" lang="en-GB">
                <a:solidFill>
                  <a:schemeClr val="bg1"/>
                </a:solidFill>
                <a:latin typeface="Consolas"/>
              </a:rPr>
              <a:t>    durbin_watson, jarque_bera)</a:t>
            </a:r>
          </a:p>
          <a:p>
            <a:pPr algn="l">
              <a:spcAft>
                <a:spcPts val="0"/>
              </a:spcAft>
            </a:pPr>
            <a:r>
              <a:rPr sz="1000" b="0" lang="en-GB">
                <a:solidFill>
                  <a:schemeClr val="bg1"/>
                </a:solidFill>
                <a:latin typeface="Consolas"/>
              </a:rPr>
              <a:t>from statsmodels.stats.diagnostic import het_breuschpagan</a:t>
            </a:r>
          </a:p>
          <a:p>
            <a:pPr algn="l">
              <a:spcAft>
                <a:spcPts val="0"/>
              </a:spcAft>
            </a:pPr>
            <a:r>
              <a:rPr sz="1000" b="0" lang="en-GB">
                <a:solidFill>
                  <a:schemeClr val="bg1"/>
                </a:solidFill>
                <a:latin typeface="Consolas"/>
              </a:rPr>
              <a:t>from statsmodels.stats.outliers_influence import (</a:t>
            </a:r>
          </a:p>
          <a:p>
            <a:pPr algn="l">
              <a:spcAft>
                <a:spcPts val="0"/>
              </a:spcAft>
            </a:pPr>
            <a:r>
              <a:rPr sz="1000" b="0" lang="en-GB">
                <a:solidFill>
                  <a:schemeClr val="bg1"/>
                </a:solidFill>
                <a:latin typeface="Consolas"/>
              </a:rPr>
              <a:t>    variance_inflation_factor)</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durbin_watson(model.resid)                     # 1.41</a:t>
            </a:r>
          </a:p>
          <a:p>
            <a:pPr algn="l">
              <a:spcAft>
                <a:spcPts val="0"/>
              </a:spcAft>
            </a:pPr>
            <a:r>
              <a:rPr sz="1000" b="0" lang="en-GB">
                <a:solidFill>
                  <a:schemeClr val="bg1"/>
                </a:solidFill>
                <a:latin typeface="Consolas"/>
              </a:rPr>
              <a:t>het_breuschpagan(model.resid, model.model.exog)[1]  # 0.14</a:t>
            </a:r>
          </a:p>
          <a:p>
            <a:pPr algn="l">
              <a:spcAft>
                <a:spcPts val="0"/>
              </a:spcAft>
            </a:pPr>
            <a:r>
              <a:rPr sz="1000" b="0" lang="en-GB">
                <a:solidFill>
                  <a:schemeClr val="bg1"/>
                </a:solidFill>
                <a:latin typeface="Consolas"/>
              </a:rPr>
              <a:t>jarque_bera(model.resid)[1]                    # 0.07</a:t>
            </a:r>
          </a:p>
          <a:p>
            <a:pPr algn="l">
              <a:spcAft>
                <a:spcPts val="0"/>
              </a:spcAft>
            </a:pPr>
            <a:r>
              <a:rPr sz="1000" b="0" lang="en-GB">
                <a:solidFill>
                  <a:schemeClr val="bg1"/>
                </a:solidFill>
                <a:latin typeface="Consolas"/>
              </a:rPr>
              <a:t>X = model.model.exog</a:t>
            </a:r>
          </a:p>
          <a:p>
            <a:pPr algn="l">
              <a:spcAft>
                <a:spcPts val="0"/>
              </a:spcAft>
            </a:pPr>
            <a:r>
              <a:rPr sz="1000" b="0" lang="en-GB">
                <a:solidFill>
                  <a:schemeClr val="bg1"/>
                </a:solidFill>
                <a:latin typeface="Consolas"/>
              </a:rPr>
              <a:t>[variance_inflation_factor(X, i) for i in range(1, 8)]</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hac = model.model.fit(cov_type="HAC",</a:t>
            </a:r>
          </a:p>
          <a:p>
            <a:pPr algn="l">
              <a:spcAft>
                <a:spcPts val="0"/>
              </a:spcAft>
            </a:pPr>
            <a:r>
              <a:rPr sz="1000" b="0" lang="en-GB">
                <a:solidFill>
                  <a:schemeClr val="bg1"/>
                </a:solidFill>
                <a:latin typeface="Consolas"/>
              </a:rPr>
              <a:t>                      cov_kwds={"maxlags": 1})</a:t>
            </a:r>
          </a:p>
        </p:txBody>
      </p:sp>
      <p:sp>
        <p:nvSpPr>
          <p:cNvPr id="14" name="Plot code caption bar"/>
          <p:cNvSpPr/>
          <p:nvPr/>
        </p:nvSpPr>
        <p:spPr>
          <a:xfrm>
            <a:off x="5440680" y="1234440"/>
            <a:ext cx="32461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lot code caption"/>
          <p:cNvSpPr txBox="1"/>
          <p:nvPr/>
        </p:nvSpPr>
        <p:spPr>
          <a:xfrm>
            <a:off x="5550408" y="1234440"/>
            <a:ext cx="30266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Residual plot</a:t>
            </a:r>
          </a:p>
        </p:txBody>
      </p:sp>
      <p:sp>
        <p:nvSpPr>
          <p:cNvPr id="16" name="Plot code box"/>
          <p:cNvSpPr/>
          <p:nvPr/>
        </p:nvSpPr>
        <p:spPr>
          <a:xfrm>
            <a:off x="5440680" y="1508760"/>
            <a:ext cx="3246120" cy="12801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ot code code"/>
          <p:cNvSpPr txBox="1"/>
          <p:nvPr/>
        </p:nvSpPr>
        <p:spPr>
          <a:xfrm>
            <a:off x="5577840" y="1600200"/>
            <a:ext cx="2971800" cy="109728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plotnine import geom_hline</a:t>
            </a:r>
          </a:p>
          <a:p>
            <a:pPr algn="l">
              <a:spcAft>
                <a:spcPts val="0"/>
              </a:spcAft>
            </a:pPr>
            <a:r>
              <a:rPr sz="1000" b="0" lang="en-GB">
                <a:solidFill>
                  <a:schemeClr val="bg1"/>
                </a:solidFill>
                <a:latin typeface="Consolas"/>
              </a:rPr>
              <a:t>df["fit"] = model.fittedvalues</a:t>
            </a:r>
          </a:p>
          <a:p>
            <a:pPr algn="l">
              <a:spcAft>
                <a:spcPts val="0"/>
              </a:spcAft>
            </a:pPr>
            <a:r>
              <a:rPr sz="1000" b="0" lang="en-GB">
                <a:solidFill>
                  <a:schemeClr val="bg1"/>
                </a:solidFill>
                <a:latin typeface="Consolas"/>
              </a:rPr>
              <a:t>df["res"] = model.resid</a:t>
            </a:r>
          </a:p>
          <a:p>
            <a:pPr algn="l">
              <a:spcAft>
                <a:spcPts val="0"/>
              </a:spcAft>
            </a:pPr>
            <a:r>
              <a:rPr sz="1000" b="0" lang="en-GB">
                <a:solidFill>
                  <a:schemeClr val="bg1"/>
                </a:solidFill>
                <a:latin typeface="Consolas"/>
              </a:rPr>
              <a:t>(ggplot(df, aes("fit", "res"))</a:t>
            </a:r>
          </a:p>
          <a:p>
            <a:pPr algn="l">
              <a:spcAft>
                <a:spcPts val="0"/>
              </a:spcAft>
            </a:pPr>
            <a:r>
              <a:rPr sz="1000" b="0" lang="en-GB">
                <a:solidFill>
                  <a:schemeClr val="bg1"/>
                </a:solidFill>
                <a:latin typeface="Consolas"/>
              </a:rPr>
              <a:t> + geom_point()</a:t>
            </a:r>
          </a:p>
          <a:p>
            <a:pPr algn="l">
              <a:spcAft>
                <a:spcPts val="0"/>
              </a:spcAft>
            </a:pPr>
            <a:r>
              <a:rPr sz="1000" b="0" lang="en-GB">
                <a:solidFill>
                  <a:schemeClr val="bg1"/>
                </a:solidFill>
                <a:latin typeface="Consolas"/>
              </a:rPr>
              <a:t> + geom_hline(yintercept=0))</a:t>
            </a:r>
          </a:p>
        </p:txBody>
      </p:sp>
      <p:pic>
        <p:nvPicPr>
          <p:cNvPr id="18" name="Chart reg_resid_fitted.png" descr="Small residual plot of the main model"/>
          <p:cNvPicPr>
            <a:picLocks noChangeAspect="1"/>
          </p:cNvPicPr>
          <p:nvPr/>
        </p:nvPicPr>
        <p:blipFill>
          <a:blip r:embed="rId3"/>
          <a:stretch>
            <a:fillRect/>
          </a:stretch>
        </p:blipFill>
        <p:spPr>
          <a:xfrm>
            <a:off x="5440680" y="2852928"/>
            <a:ext cx="1691640" cy="1179576"/>
          </a:xfrm>
          <a:prstGeom prst="rect">
            <a:avLst/>
          </a:prstGeom>
        </p:spPr>
      </p:pic>
      <p:pic>
        <p:nvPicPr>
          <p:cNvPr id="19" name="Chart reg_resid_hist.png" descr="Small residual histogram of the main model"/>
          <p:cNvPicPr>
            <a:picLocks noChangeAspect="1"/>
          </p:cNvPicPr>
          <p:nvPr/>
        </p:nvPicPr>
        <p:blipFill>
          <a:blip r:embed="rId4"/>
          <a:stretch>
            <a:fillRect/>
          </a:stretch>
        </p:blipFill>
        <p:spPr>
          <a:xfrm>
            <a:off x="7178040" y="2852928"/>
            <a:ext cx="1508760" cy="1051560"/>
          </a:xfrm>
          <a:prstGeom prst="rect">
            <a:avLst/>
          </a:prstGeom>
        </p:spPr>
      </p:pic>
      <p:sp>
        <p:nvSpPr>
          <p:cNvPr id="20" name="Check decide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heck decide" descr=""/>
          <p:cNvPicPr>
            <a:picLocks noChangeAspect="1"/>
          </p:cNvPicPr>
          <p:nvPr/>
        </p:nvPicPr>
        <p:blipFill>
          <a:blip r:embed="rId5"/>
          <a:stretch>
            <a:fillRect/>
          </a:stretch>
        </p:blipFill>
        <p:spPr>
          <a:xfrm>
            <a:off x="658368" y="4320540"/>
            <a:ext cx="365760" cy="365760"/>
          </a:xfrm>
          <a:prstGeom prst="rect">
            <a:avLst/>
          </a:prstGeom>
        </p:spPr>
      </p:pic>
      <p:sp>
        <p:nvSpPr>
          <p:cNvPr id="22" name="Check decide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Decide: </a:t>
            </a:r>
            <a:r>
              <a:rPr sz="1200" b="0" lang="en-GB">
                <a:solidFill>
                  <a:schemeClr val="bg1"/>
                </a:solidFill>
              </a:rPr>
              <a:t>report the HAC result; the own-price elasticity stays −3.64, its standard error rises to 0.32.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Quiz 2: regression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What does OLS minimise?</a:t>
            </a:r>
          </a:p>
          <a:p>
            <a:pPr algn="l">
              <a:spcAft>
                <a:spcPts val="100"/>
              </a:spcAft>
            </a:pPr>
            <a:r>
              <a:rPr sz="1200" b="0" lang="en-GB">
                <a:solidFill>
                  <a:schemeClr val="tx1"/>
                </a:solidFill>
              </a:rPr>
              <a:t>A the sum of residuals     B the sum of absolute residuals     C the sum of squared residuals</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In ln sales = a + b · ln price, b = −3.64 means …</a:t>
            </a:r>
          </a:p>
          <a:p>
            <a:pPr algn="l">
              <a:spcAft>
                <a:spcPts val="100"/>
              </a:spcAft>
            </a:pPr>
            <a:r>
              <a:rPr sz="1200" b="0" lang="en-GB">
                <a:solidFill>
                  <a:schemeClr val="tx1"/>
                </a:solidFill>
              </a:rPr>
              <a:t>A 1 EUR more, 3.64 units fewer     B 1 % higher price, 3.6 % fewer sales     C 3.64 fewer per week</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A VIF of 11 signals …</a:t>
            </a:r>
          </a:p>
          <a:p>
            <a:pPr algn="l">
              <a:spcAft>
                <a:spcPts val="100"/>
              </a:spcAft>
            </a:pPr>
            <a:r>
              <a:rPr sz="1200" b="0" lang="en-GB">
                <a:solidFill>
                  <a:schemeClr val="tx1"/>
                </a:solidFill>
              </a:rPr>
              <a:t>A autocorrelation     B multicollinearity     C heteroscedasticity</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Weekly data, Durbin-Watson = 1.41. This suggests …</a:t>
            </a:r>
          </a:p>
          <a:p>
            <a:pPr algn="l">
              <a:spcAft>
                <a:spcPts val="100"/>
              </a:spcAft>
            </a:pPr>
            <a:r>
              <a:rPr sz="1200" b="0" lang="en-GB">
                <a:solidFill>
                  <a:schemeClr val="tx1"/>
                </a:solidFill>
              </a:rPr>
              <a:t>A positive autocorrelation     B no problem     C unequal variance</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R² rises from 0.85 to 0.86 after adding a variable. This shows …</a:t>
            </a:r>
          </a:p>
          <a:p>
            <a:pPr algn="l">
              <a:spcAft>
                <a:spcPts val="100"/>
              </a:spcAft>
            </a:pPr>
            <a:r>
              <a:rPr sz="1200" b="0" lang="en-GB">
                <a:solidFill>
                  <a:schemeClr val="tx1"/>
                </a:solidFill>
              </a:rPr>
              <a:t>A the variable matters     B nothing: R² never falls     C the model is causal</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3 minutes alone, </a:t>
            </a:r>
            <a:r>
              <a:rPr sz="1200" b="0" lang="en-GB">
                <a:solidFill>
                  <a:schemeClr val="bg1"/>
                </a:solidFill>
              </a:rPr>
              <a:t>then compare with your neighbour. Same format as the online quiz and the exam.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10 of 11 · groups of 3, 25 minutes, on the chocolate data</a:t>
            </a:r>
          </a:p>
        </p:txBody>
      </p:sp>
      <p:sp>
        <p:nvSpPr>
          <p:cNvPr id="3" name="Title 2"/>
          <p:cNvSpPr>
            <a:spLocks noGrp="1"/>
          </p:cNvSpPr>
          <p:nvPr>
            <p:ph type="ctrTitle"/>
          </p:nvPr>
        </p:nvSpPr>
        <p:spPr/>
        <p:txBody>
          <a:bodyPr/>
          <a:lstStyle/>
          <a:p>
            <a:r>
              <a:rPr sz="1600" lang="en-GB"/>
              <a:t>In-class assignment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assignment: pricing brand 1</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class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Groups of 3:</a:t>
            </a:r>
            <a:br/>
            <a:r>
              <a:rPr sz="1200" b="1" lang="en-GB">
                <a:solidFill>
                  <a:schemeClr val="tx2"/>
                </a:solidFill>
              </a:rPr>
              <a:t>20 minutes</a:t>
            </a:r>
          </a:p>
        </p:txBody>
      </p:sp>
      <p:sp>
        <p:nvSpPr>
          <p:cNvPr id="11" name="Inclass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5 minutes</a:t>
            </a:r>
          </a:p>
        </p:txBody>
      </p:sp>
      <p:sp>
        <p:nvSpPr>
          <p:cNvPr id="12" name="Inclass q row 1"/>
          <p:cNvSpPr/>
          <p:nvPr/>
        </p:nvSpPr>
        <p:spPr>
          <a:xfrm>
            <a:off x="457200" y="1828800"/>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nclass q number 1"/>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4" name="Inclass q text 1"/>
          <p:cNvSpPr txBox="1"/>
          <p:nvPr/>
        </p:nvSpPr>
        <p:spPr>
          <a:xfrm>
            <a:off x="1051560" y="1828800"/>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Competition: </a:t>
            </a:r>
            <a:r>
              <a:rPr sz="1200" b="0" lang="en-GB">
                <a:solidFill>
                  <a:schemeClr val="tx1"/>
                </a:solidFill>
              </a:rPr>
              <a:t>plot sales against price2, price3 and price4. Which brand competes most?</a:t>
            </a:r>
          </a:p>
        </p:txBody>
      </p:sp>
      <p:sp>
        <p:nvSpPr>
          <p:cNvPr id="15" name="Inclass q row 2"/>
          <p:cNvSpPr/>
          <p:nvPr/>
        </p:nvSpPr>
        <p:spPr>
          <a:xfrm>
            <a:off x="457200" y="2505456"/>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nclass q number 2"/>
          <p:cNvSpPr/>
          <p:nvPr/>
        </p:nvSpPr>
        <p:spPr>
          <a:xfrm>
            <a:off x="594360" y="26517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7" name="Inclass q text 2"/>
          <p:cNvSpPr txBox="1"/>
          <p:nvPr/>
        </p:nvSpPr>
        <p:spPr>
          <a:xfrm>
            <a:off x="1051560" y="2505456"/>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Displays: </a:t>
            </a:r>
            <a:r>
              <a:rPr sz="1200" b="0" lang="en-GB">
                <a:solidFill>
                  <a:schemeClr val="tx1"/>
                </a:solidFill>
              </a:rPr>
              <a:t>add display1 and fand1 to the log-log model. What happens to the VIFs and coefficients, and why?</a:t>
            </a:r>
          </a:p>
        </p:txBody>
      </p:sp>
      <p:sp>
        <p:nvSpPr>
          <p:cNvPr id="18" name="Inclass q row 3"/>
          <p:cNvSpPr/>
          <p:nvPr/>
        </p:nvSpPr>
        <p:spPr>
          <a:xfrm>
            <a:off x="457200" y="3182112"/>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nclass q number 3"/>
          <p:cNvSpPr/>
          <p:nvPr/>
        </p:nvSpPr>
        <p:spPr>
          <a:xfrm>
            <a:off x="594360" y="33284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0" name="Inclass q text 3"/>
          <p:cNvSpPr txBox="1"/>
          <p:nvPr/>
        </p:nvSpPr>
        <p:spPr>
          <a:xfrm>
            <a:off x="1051560" y="3182112"/>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Price: </a:t>
            </a:r>
            <a:r>
              <a:rPr sz="1200" b="0" lang="en-GB">
                <a:solidFill>
                  <a:schemeClr val="tx1"/>
                </a:solidFill>
              </a:rPr>
              <a:t>marginal cost is 0.80. What price does ε = −3.64 suggest? Why is the real price about 1.50?</a:t>
            </a:r>
          </a:p>
        </p:txBody>
      </p:sp>
      <p:sp>
        <p:nvSpPr>
          <p:cNvPr id="21" name="Inclass q row 4"/>
          <p:cNvSpPr/>
          <p:nvPr/>
        </p:nvSpPr>
        <p:spPr>
          <a:xfrm>
            <a:off x="457200" y="3858768"/>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nclass q number 4"/>
          <p:cNvSpPr/>
          <p:nvPr/>
        </p:nvSpPr>
        <p:spPr>
          <a:xfrm>
            <a:off x="594360" y="40050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3" name="Inclass q text 4"/>
          <p:cNvSpPr txBox="1"/>
          <p:nvPr/>
        </p:nvSpPr>
        <p:spPr>
          <a:xfrm>
            <a:off x="1051560" y="3858768"/>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The manager: </a:t>
            </a:r>
            <a:r>
              <a:rPr sz="1200" b="0" lang="en-GB">
                <a:solidFill>
                  <a:schemeClr val="tx1"/>
                </a:solidFill>
              </a:rPr>
              <a:t>write one sentence for the brand manager, with a number and one caveat.</a:t>
            </a:r>
          </a:p>
        </p:txBody>
      </p:sp>
      <p:sp>
        <p:nvSpPr>
          <p:cNvPr id="24" name="Inclass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sessions/01-foundations/regression_chocolate.qmd</a:t>
            </a:r>
            <a:r>
              <a:rPr sz="1200" b="0" lang="en-GB">
                <a:solidFill>
                  <a:schemeClr val="tx1"/>
                </a:solidFill>
              </a:rPr>
              <a:t>  (the code of Part 4 and these questions)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11 of 11 · individual, 5 % of the grade</a:t>
            </a:r>
          </a:p>
        </p:txBody>
      </p:sp>
      <p:sp>
        <p:nvSpPr>
          <p:cNvPr id="3" name="Title 2"/>
          <p:cNvSpPr>
            <a:spLocks noGrp="1"/>
          </p:cNvSpPr>
          <p:nvPr>
            <p:ph type="ctrTitle"/>
          </p:nvPr>
        </p:nvSpPr>
        <p:spPr/>
        <p:txBody>
          <a:bodyPr/>
          <a:lstStyle/>
          <a:p>
            <a:r>
              <a:rPr sz="1600" lang="en-GB"/>
              <a:t>Coding exercise 1</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Coding exercise 1: what to do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x tasks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 tasks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Ex tasks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Explore: </a:t>
            </a:r>
            <a:r>
              <a:rPr sz="1200" b="0" lang="en-GB">
                <a:solidFill>
                  <a:schemeClr val="tx1"/>
                </a:solidFill>
              </a:rPr>
              <a:t>a great_tables summary and two plotnine charts: sales over time, sales against price1</a:t>
            </a:r>
          </a:p>
        </p:txBody>
      </p:sp>
      <p:sp>
        <p:nvSpPr>
          <p:cNvPr id="13" name="Ex tasks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x tasks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Ex tasks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Simple model: </a:t>
            </a:r>
            <a:r>
              <a:rPr sz="1200" b="0" lang="en-GB">
                <a:solidFill>
                  <a:schemeClr val="tx1"/>
                </a:solidFill>
              </a:rPr>
              <a:t>sales ~ price1; interpret the slope for a 10-cent price change</a:t>
            </a:r>
          </a:p>
        </p:txBody>
      </p:sp>
      <p:sp>
        <p:nvSpPr>
          <p:cNvPr id="16" name="Ex tasks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x tasks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Ex tasks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Log-log model: </a:t>
            </a:r>
            <a:r>
              <a:rPr sz="1200" b="0" lang="en-GB">
                <a:solidFill>
                  <a:schemeClr val="tx1"/>
                </a:solidFill>
              </a:rPr>
              <a:t>own and competitor prices, feature1, display1, temp, december; interpret 3 coefficients</a:t>
            </a:r>
          </a:p>
        </p:txBody>
      </p:sp>
      <p:sp>
        <p:nvSpPr>
          <p:cNvPr id="19" name="Ex tasks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 tasks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Ex tasks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Assumptions: </a:t>
            </a:r>
            <a:r>
              <a:rPr sz="1200" b="0" lang="en-GB">
                <a:solidFill>
                  <a:schemeClr val="tx1"/>
                </a:solidFill>
              </a:rPr>
              <a:t>residual plot, histogram, Durbin-Watson, Breusch-Pagan, Jarque-Bera, VIF; one sentence each</a:t>
            </a:r>
          </a:p>
        </p:txBody>
      </p:sp>
      <p:sp>
        <p:nvSpPr>
          <p:cNvPr id="22" name="Ex tasks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 tasks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Ex tasks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Robust errors: </a:t>
            </a:r>
            <a:r>
              <a:rPr sz="1200" b="0" lang="en-GB">
                <a:solidFill>
                  <a:schemeClr val="tx1"/>
                </a:solidFill>
              </a:rPr>
              <a:t>refit with HAC standard errors; what changes and what does not?</a:t>
            </a:r>
          </a:p>
        </p:txBody>
      </p:sp>
      <p:sp>
        <p:nvSpPr>
          <p:cNvPr id="25" name="Ex tasks row 6"/>
          <p:cNvSpPr/>
          <p:nvPr/>
        </p:nvSpPr>
        <p:spPr>
          <a:xfrm>
            <a:off x="457200" y="411480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 tasks number 6"/>
          <p:cNvSpPr/>
          <p:nvPr/>
        </p:nvSpPr>
        <p:spPr>
          <a:xfrm>
            <a:off x="594360" y="42153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Ex tasks text 6"/>
          <p:cNvSpPr txBox="1"/>
          <p:nvPr/>
        </p:nvSpPr>
        <p:spPr>
          <a:xfrm>
            <a:off x="1051560" y="411480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Recommend: </a:t>
            </a:r>
            <a:r>
              <a:rPr sz="1200" b="0" lang="en-GB">
                <a:solidFill>
                  <a:schemeClr val="tx1"/>
                </a:solidFill>
              </a:rPr>
              <a:t>the optimal price for marginal cost 0.90, with two caveats, in at most 100 words</a:t>
            </a:r>
          </a:p>
        </p:txBody>
      </p:sp>
      <p:sp>
        <p:nvSpPr>
          <p:cNvPr id="28" name="Ex data"/>
          <p:cNvSpPr txBox="1"/>
          <p:nvPr/>
        </p:nvSpPr>
        <p:spPr>
          <a:xfrm>
            <a:off x="457200" y="470916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Brief: </a:t>
            </a:r>
            <a:r>
              <a:rPr sz="1200" b="0" lang="en-GB">
                <a:solidFill>
                  <a:schemeClr val="tx2"/>
                </a:solidFill>
                <a:latin typeface="Consolas"/>
              </a:rPr>
              <a:t>exercises/exercise-1.qmd</a:t>
            </a:r>
            <a:r>
              <a:rPr sz="1200" b="0" lang="en-GB">
                <a:solidFill>
                  <a:schemeClr val="tx1"/>
                </a:solidFill>
              </a:rPr>
              <a:t>  in the course repository and on Canvas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Coding exercise 1: submission and grading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x submit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 submit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x submit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Submit on Canvas</a:t>
            </a:r>
          </a:p>
        </p:txBody>
      </p:sp>
      <p:pic>
        <p:nvPicPr>
          <p:cNvPr id="13" name="Icon Ex submit" descr=""/>
          <p:cNvPicPr>
            <a:picLocks noChangeAspect="1"/>
          </p:cNvPicPr>
          <p:nvPr/>
        </p:nvPicPr>
        <p:blipFill>
          <a:blip r:embed="rId3"/>
          <a:stretch>
            <a:fillRect/>
          </a:stretch>
        </p:blipFill>
        <p:spPr>
          <a:xfrm>
            <a:off x="4064508" y="1284732"/>
            <a:ext cx="310896" cy="310896"/>
          </a:xfrm>
          <a:prstGeom prst="rect">
            <a:avLst/>
          </a:prstGeom>
        </p:spPr>
      </p:pic>
      <p:sp>
        <p:nvSpPr>
          <p:cNvPr id="14" name="Ex submit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exercise1_lastname.qmd and the rendered .html</a:t>
            </a:r>
          </a:p>
          <a:p>
            <a:pPr algn="l" marL="182880" indent="-182880">
              <a:spcAft>
                <a:spcPts val="600"/>
              </a:spcAft>
              <a:buClr>
                <a:schemeClr val="accent1"/>
              </a:buClr>
              <a:buFont typeface="Arial"/>
              <a:buChar char="▪"/>
            </a:pPr>
            <a:r>
              <a:rPr sz="1300" b="0" lang="en-GB">
                <a:solidFill>
                  <a:schemeClr val="tx1"/>
                </a:solidFill>
              </a:rPr>
              <a:t>Renders from top to bottom without errors</a:t>
            </a:r>
          </a:p>
          <a:p>
            <a:pPr algn="l" marL="182880" indent="-182880">
              <a:spcAft>
                <a:spcPts val="600"/>
              </a:spcAft>
              <a:buClr>
                <a:schemeClr val="accent1"/>
              </a:buClr>
              <a:buFont typeface="Arial"/>
              <a:buChar char="▪"/>
            </a:pPr>
            <a:r>
              <a:rPr sz="1300" b="0" lang="en-GB">
                <a:solidFill>
                  <a:schemeClr val="tx1"/>
                </a:solidFill>
              </a:rPr>
              <a:t>Every number in the text from code</a:t>
            </a:r>
          </a:p>
          <a:p>
            <a:pPr algn="l" marL="182880" indent="-182880">
              <a:spcAft>
                <a:spcPts val="600"/>
              </a:spcAft>
              <a:buClr>
                <a:schemeClr val="accent1"/>
              </a:buClr>
              <a:buFont typeface="Arial"/>
              <a:buChar char="▪"/>
            </a:pPr>
            <a:r>
              <a:rPr sz="1300" b="0" lang="en-GB">
                <a:solidFill>
                  <a:schemeClr val="tx1"/>
                </a:solidFill>
              </a:rPr>
              <a:t>Prompt log at the end: what you asked, what you changed</a:t>
            </a:r>
          </a:p>
          <a:p>
            <a:pPr algn="l" marL="182880" indent="-182880">
              <a:spcAft>
                <a:spcPts val="600"/>
              </a:spcAft>
              <a:buClr>
                <a:schemeClr val="accent1"/>
              </a:buClr>
              <a:buFont typeface="Arial"/>
              <a:buChar char="▪"/>
            </a:pPr>
            <a:r>
              <a:rPr sz="1300" b="0" lang="en-GB">
                <a:solidFill>
                  <a:schemeClr val="tx1"/>
                </a:solidFill>
              </a:rPr>
              <a:t>Deadline: see Canvas</a:t>
            </a:r>
          </a:p>
        </p:txBody>
      </p:sp>
      <p:sp>
        <p:nvSpPr>
          <p:cNvPr id="15" name="Ex grid 1-1"/>
          <p:cNvSpPr/>
          <p:nvPr/>
        </p:nvSpPr>
        <p:spPr>
          <a:xfrm>
            <a:off x="4640580" y="1234440"/>
            <a:ext cx="3035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x grid text 1-1"/>
          <p:cNvSpPr txBox="1"/>
          <p:nvPr/>
        </p:nvSpPr>
        <p:spPr>
          <a:xfrm>
            <a:off x="4732020" y="1234440"/>
            <a:ext cx="285292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Criterion</a:t>
            </a:r>
          </a:p>
        </p:txBody>
      </p:sp>
      <p:sp>
        <p:nvSpPr>
          <p:cNvPr id="17" name="Ex grid 1-2"/>
          <p:cNvSpPr/>
          <p:nvPr/>
        </p:nvSpPr>
        <p:spPr>
          <a:xfrm>
            <a:off x="7703820" y="1234440"/>
            <a:ext cx="96012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x grid text 1-2"/>
          <p:cNvSpPr txBox="1"/>
          <p:nvPr/>
        </p:nvSpPr>
        <p:spPr>
          <a:xfrm>
            <a:off x="7795260" y="1234440"/>
            <a:ext cx="777240"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Points</a:t>
            </a:r>
          </a:p>
        </p:txBody>
      </p:sp>
      <p:sp>
        <p:nvSpPr>
          <p:cNvPr id="19" name="Ex grid 2-1"/>
          <p:cNvSpPr/>
          <p:nvPr/>
        </p:nvSpPr>
        <p:spPr>
          <a:xfrm>
            <a:off x="4640580" y="1591056"/>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 grid text 2-1"/>
          <p:cNvSpPr txBox="1"/>
          <p:nvPr/>
        </p:nvSpPr>
        <p:spPr>
          <a:xfrm>
            <a:off x="4732020" y="1591056"/>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Code runs, charts and tables clean</a:t>
            </a:r>
          </a:p>
        </p:txBody>
      </p:sp>
      <p:sp>
        <p:nvSpPr>
          <p:cNvPr id="21" name="Ex grid 2-2"/>
          <p:cNvSpPr/>
          <p:nvPr/>
        </p:nvSpPr>
        <p:spPr>
          <a:xfrm>
            <a:off x="7703820" y="1591056"/>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x grid text 2-2"/>
          <p:cNvSpPr txBox="1"/>
          <p:nvPr/>
        </p:nvSpPr>
        <p:spPr>
          <a:xfrm>
            <a:off x="7795260" y="1591056"/>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5</a:t>
            </a:r>
          </a:p>
        </p:txBody>
      </p:sp>
      <p:sp>
        <p:nvSpPr>
          <p:cNvPr id="23" name="Ex grid 3-1"/>
          <p:cNvSpPr/>
          <p:nvPr/>
        </p:nvSpPr>
        <p:spPr>
          <a:xfrm>
            <a:off x="4640580" y="1947672"/>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x grid text 3-1"/>
          <p:cNvSpPr txBox="1"/>
          <p:nvPr/>
        </p:nvSpPr>
        <p:spPr>
          <a:xfrm>
            <a:off x="4732020" y="1947672"/>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Interpretation of the coefficients</a:t>
            </a:r>
          </a:p>
        </p:txBody>
      </p:sp>
      <p:sp>
        <p:nvSpPr>
          <p:cNvPr id="25" name="Ex grid 3-2"/>
          <p:cNvSpPr/>
          <p:nvPr/>
        </p:nvSpPr>
        <p:spPr>
          <a:xfrm>
            <a:off x="7703820" y="1947672"/>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 grid text 3-2"/>
          <p:cNvSpPr txBox="1"/>
          <p:nvPr/>
        </p:nvSpPr>
        <p:spPr>
          <a:xfrm>
            <a:off x="7795260" y="1947672"/>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6</a:t>
            </a:r>
          </a:p>
        </p:txBody>
      </p:sp>
      <p:sp>
        <p:nvSpPr>
          <p:cNvPr id="27" name="Ex grid 4-1"/>
          <p:cNvSpPr/>
          <p:nvPr/>
        </p:nvSpPr>
        <p:spPr>
          <a:xfrm>
            <a:off x="4640580" y="2304288"/>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x grid text 4-1"/>
          <p:cNvSpPr txBox="1"/>
          <p:nvPr/>
        </p:nvSpPr>
        <p:spPr>
          <a:xfrm>
            <a:off x="4732020" y="2304288"/>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Assumption checks and conclusion</a:t>
            </a:r>
          </a:p>
        </p:txBody>
      </p:sp>
      <p:sp>
        <p:nvSpPr>
          <p:cNvPr id="29" name="Ex grid 4-2"/>
          <p:cNvSpPr/>
          <p:nvPr/>
        </p:nvSpPr>
        <p:spPr>
          <a:xfrm>
            <a:off x="7703820" y="2304288"/>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x grid text 4-2"/>
          <p:cNvSpPr txBox="1"/>
          <p:nvPr/>
        </p:nvSpPr>
        <p:spPr>
          <a:xfrm>
            <a:off x="7795260" y="2304288"/>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5</a:t>
            </a:r>
          </a:p>
        </p:txBody>
      </p:sp>
      <p:sp>
        <p:nvSpPr>
          <p:cNvPr id="31" name="Ex grid 5-1"/>
          <p:cNvSpPr/>
          <p:nvPr/>
        </p:nvSpPr>
        <p:spPr>
          <a:xfrm>
            <a:off x="4640580" y="2660904"/>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Ex grid text 5-1"/>
          <p:cNvSpPr txBox="1"/>
          <p:nvPr/>
        </p:nvSpPr>
        <p:spPr>
          <a:xfrm>
            <a:off x="4732020" y="2660904"/>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Recommendation with caveats</a:t>
            </a:r>
          </a:p>
        </p:txBody>
      </p:sp>
      <p:sp>
        <p:nvSpPr>
          <p:cNvPr id="33" name="Ex grid 5-2"/>
          <p:cNvSpPr/>
          <p:nvPr/>
        </p:nvSpPr>
        <p:spPr>
          <a:xfrm>
            <a:off x="7703820" y="2660904"/>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x grid text 5-2"/>
          <p:cNvSpPr txBox="1"/>
          <p:nvPr/>
        </p:nvSpPr>
        <p:spPr>
          <a:xfrm>
            <a:off x="7795260" y="2660904"/>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a:t>
            </a:r>
          </a:p>
        </p:txBody>
      </p:sp>
      <p:sp>
        <p:nvSpPr>
          <p:cNvPr id="35" name="Ex grid 6-1"/>
          <p:cNvSpPr/>
          <p:nvPr/>
        </p:nvSpPr>
        <p:spPr>
          <a:xfrm>
            <a:off x="4640580" y="3017520"/>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Ex grid text 6-1"/>
          <p:cNvSpPr txBox="1"/>
          <p:nvPr/>
        </p:nvSpPr>
        <p:spPr>
          <a:xfrm>
            <a:off x="4732020" y="3017520"/>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a:t>
            </a:r>
          </a:p>
        </p:txBody>
      </p:sp>
      <p:sp>
        <p:nvSpPr>
          <p:cNvPr id="37" name="Ex grid 6-2"/>
          <p:cNvSpPr/>
          <p:nvPr/>
        </p:nvSpPr>
        <p:spPr>
          <a:xfrm>
            <a:off x="7703820" y="3017520"/>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Ex grid text 6-2"/>
          <p:cNvSpPr txBox="1"/>
          <p:nvPr/>
        </p:nvSpPr>
        <p:spPr>
          <a:xfrm>
            <a:off x="7795260" y="3017520"/>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a:t>
            </a:r>
          </a:p>
        </p:txBody>
      </p:sp>
      <p:sp>
        <p:nvSpPr>
          <p:cNvPr id="39" name="Ex grid 7-1"/>
          <p:cNvSpPr/>
          <p:nvPr/>
        </p:nvSpPr>
        <p:spPr>
          <a:xfrm>
            <a:off x="4640580" y="3374136"/>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Ex grid text 7-1"/>
          <p:cNvSpPr txBox="1"/>
          <p:nvPr/>
        </p:nvSpPr>
        <p:spPr>
          <a:xfrm>
            <a:off x="4732020" y="3374136"/>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Total (5 % of the grade)</a:t>
            </a:r>
          </a:p>
        </p:txBody>
      </p:sp>
      <p:sp>
        <p:nvSpPr>
          <p:cNvPr id="41" name="Ex grid 7-2"/>
          <p:cNvSpPr/>
          <p:nvPr/>
        </p:nvSpPr>
        <p:spPr>
          <a:xfrm>
            <a:off x="7703820" y="3374136"/>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Ex grid text 7-2"/>
          <p:cNvSpPr txBox="1"/>
          <p:nvPr/>
        </p:nvSpPr>
        <p:spPr>
          <a:xfrm>
            <a:off x="7795260" y="3374136"/>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20</a:t>
            </a:r>
          </a:p>
        </p:txBody>
      </p:sp>
      <p:sp>
        <p:nvSpPr>
          <p:cNvPr id="43" name="Ex rules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Icon Ex rules" descr=""/>
          <p:cNvPicPr>
            <a:picLocks noChangeAspect="1"/>
          </p:cNvPicPr>
          <p:nvPr/>
        </p:nvPicPr>
        <p:blipFill>
          <a:blip r:embed="rId4"/>
          <a:stretch>
            <a:fillRect/>
          </a:stretch>
        </p:blipFill>
        <p:spPr>
          <a:xfrm>
            <a:off x="658368" y="4114800"/>
            <a:ext cx="365760" cy="365760"/>
          </a:xfrm>
          <a:prstGeom prst="rect">
            <a:avLst/>
          </a:prstGeom>
        </p:spPr>
      </p:pic>
      <p:sp>
        <p:nvSpPr>
          <p:cNvPr id="45" name="Ex rules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Individual work: </a:t>
            </a:r>
            <a:r>
              <a:rPr sz="1200" b="0" lang="en-GB">
                <a:solidFill>
                  <a:schemeClr val="bg1"/>
                </a:solidFill>
              </a:rPr>
              <a:t>discuss ideas, but write and check your own code. AI assistants are allowed; you own every number.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Regression: 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OLS </a:t>
            </a:r>
            <a:r>
              <a:rPr sz="1200" b="0" lang="en-GB">
                <a:solidFill>
                  <a:schemeClr val="tx1"/>
                </a:solidFill>
              </a:rPr>
              <a:t>draws the line with the smallest squared errors; each b holds the other variables constant</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Logs </a:t>
            </a:r>
            <a:r>
              <a:rPr sz="1200" b="0" lang="en-GB">
                <a:solidFill>
                  <a:schemeClr val="tx1"/>
                </a:solidFill>
              </a:rPr>
              <a:t>turn coefficients into elasticities: brand 1, −3.64</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Look, then test: </a:t>
            </a:r>
            <a:r>
              <a:rPr sz="1200" b="0" lang="en-GB">
                <a:solidFill>
                  <a:schemeClr val="tx1"/>
                </a:solidFill>
              </a:rPr>
              <a:t>residual plots, Durbin-Watson, Breusch-Pagan, Jarque-Bera, VIF</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Fix what fails: </a:t>
            </a:r>
            <a:r>
              <a:rPr sz="1200" b="0" lang="en-GB">
                <a:solidFill>
                  <a:schemeClr val="tx1"/>
                </a:solidFill>
              </a:rPr>
              <a:t>robust or HAC errors, better form, more variation; experiments for causality</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Decide: </a:t>
            </a:r>
            <a:r>
              <a:rPr sz="1200" b="0" lang="en-GB">
                <a:solidFill>
                  <a:schemeClr val="tx1"/>
                </a:solidFill>
              </a:rPr>
              <a:t>p* = cost × ε / (1 + ε), with the caveats</a:t>
            </a:r>
          </a:p>
        </p:txBody>
      </p:sp>
      <p:sp>
        <p:nvSpPr>
          <p:cNvPr id="25" name="Takeaway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away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away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Next session: </a:t>
            </a:r>
            <a:r>
              <a:rPr sz="1200" b="0" lang="en-GB">
                <a:solidFill>
                  <a:schemeClr val="bg1"/>
                </a:solidFill>
              </a:rPr>
              <a:t>the marketing mix model, a regression with adstock and saturation.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 statistics refresher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Books and readings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600"/>
              </a:spcAft>
            </a:pPr>
            <a:r>
              <a:rPr sz="1150" b="1" lang="en-GB">
                <a:solidFill>
                  <a:schemeClr val="tx2"/>
                </a:solidFill>
              </a:rPr>
              <a:t>Field, A. (2024). </a:t>
            </a:r>
            <a:r>
              <a:rPr sz="1150" b="0" lang="en-GB">
                <a:solidFill>
                  <a:schemeClr val="tx1"/>
                </a:solidFill>
              </a:rPr>
              <a:t>Discovering Statistics Using IBM SPSS Statistics, 6th ed. SAGE. Chapters 1 to 2 and 8.</a:t>
            </a:r>
          </a:p>
          <a:p>
            <a:pPr algn="l">
              <a:spcAft>
                <a:spcPts val="600"/>
              </a:spcAft>
            </a:pPr>
            <a:r>
              <a:rPr sz="1150" b="1" lang="en-GB">
                <a:solidFill>
                  <a:schemeClr val="tx2"/>
                </a:solidFill>
              </a:rPr>
              <a:t>Hair, J. F. et al. (2019). </a:t>
            </a:r>
            <a:r>
              <a:rPr sz="1150" b="0" lang="en-GB">
                <a:solidFill>
                  <a:schemeClr val="tx1"/>
                </a:solidFill>
              </a:rPr>
              <a:t>Multivariate Data Analysis, 8th ed. Cengage. Chapter 2.</a:t>
            </a:r>
          </a:p>
          <a:p>
            <a:pPr algn="l">
              <a:spcAft>
                <a:spcPts val="600"/>
              </a:spcAft>
            </a:pPr>
            <a:r>
              <a:rPr sz="1150" b="1" lang="en-GB">
                <a:solidFill>
                  <a:schemeClr val="tx2"/>
                </a:solidFill>
              </a:rPr>
              <a:t>Stock, J. H. &amp; Watson, M. W. (2019). </a:t>
            </a:r>
            <a:r>
              <a:rPr sz="1150" b="0" lang="en-GB">
                <a:solidFill>
                  <a:schemeClr val="tx1"/>
                </a:solidFill>
              </a:rPr>
              <a:t>Introduction to Econometrics, 4th ed. Pearson. Chapters 2 to 3.</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Online</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600"/>
              </a:spcAft>
            </a:pPr>
            <a:r>
              <a:rPr sz="1150" b="1" lang="en-GB">
                <a:solidFill>
                  <a:schemeClr val="tx2"/>
                </a:solidFill>
              </a:rPr>
              <a:t>Seeing Theory. </a:t>
            </a:r>
            <a:r>
              <a:rPr sz="1150" b="0" lang="en-GB">
                <a:solidFill>
                  <a:schemeClr val="tx1"/>
                </a:solidFill>
              </a:rPr>
              <a:t>Brown University: interactive visual introduction to probability and statistics (free).</a:t>
            </a:r>
          </a:p>
          <a:p>
            <a:pPr algn="l">
              <a:spcAft>
                <a:spcPts val="600"/>
              </a:spcAft>
            </a:pPr>
            <a:r>
              <a:rPr sz="1150" b="1" lang="en-GB">
                <a:solidFill>
                  <a:schemeClr val="tx2"/>
                </a:solidFill>
              </a:rPr>
              <a:t>StatQuest. </a:t>
            </a:r>
            <a:r>
              <a:rPr sz="1150" b="0" lang="en-GB">
                <a:solidFill>
                  <a:schemeClr val="tx1"/>
                </a:solidFill>
              </a:rPr>
              <a:t>Videos on the normal distribution, standard deviation vs standard error, covariance and correlation (free).</a:t>
            </a:r>
          </a:p>
          <a:p>
            <a:pPr algn="l">
              <a:spcAft>
                <a:spcPts val="600"/>
              </a:spcAft>
            </a:pPr>
            <a:r>
              <a:rPr sz="1150" b="1" lang="en-GB">
                <a:solidFill>
                  <a:schemeClr val="tx2"/>
                </a:solidFill>
              </a:rPr>
              <a:t>polars documentation. </a:t>
            </a:r>
            <a:r>
              <a:rPr sz="1150" b="0" lang="en-GB">
                <a:solidFill>
                  <a:schemeClr val="tx1"/>
                </a:solidFill>
              </a:rPr>
              <a:t>mean, median, std, cov, corr.</a:t>
            </a:r>
          </a:p>
          <a:p>
            <a:pPr algn="l">
              <a:spcAft>
                <a:spcPts val="600"/>
              </a:spcAft>
            </a:pPr>
            <a:r>
              <a:rPr sz="1150" b="1" lang="en-GB">
                <a:solidFill>
                  <a:schemeClr val="tx2"/>
                </a:solidFill>
              </a:rPr>
              <a:t>Gelman, Hill &amp; Vehtari (2020). </a:t>
            </a:r>
            <a:r>
              <a:rPr sz="1150" b="0" lang="en-GB">
                <a:solidFill>
                  <a:schemeClr val="tx1"/>
                </a:solidFill>
              </a:rPr>
              <a:t>Regression and Other Stories, ch. 3 to 4 (free PDF).</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 linear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Academic</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Bojinov, I. I., Parzen, M. &amp; Hamilton, P. J. (2025). </a:t>
            </a:r>
            <a:r>
              <a:rPr sz="1100" b="0" lang="en-GB">
                <a:solidFill>
                  <a:schemeClr val="tx1"/>
                </a:solidFill>
              </a:rPr>
              <a:t>Linear Regression. HBS note 9-622-100 (Canvas).</a:t>
            </a:r>
          </a:p>
          <a:p>
            <a:pPr algn="l">
              <a:spcAft>
                <a:spcPts val="500"/>
              </a:spcAft>
            </a:pPr>
            <a:r>
              <a:rPr sz="1100" b="1" lang="en-GB">
                <a:solidFill>
                  <a:schemeClr val="tx2"/>
                </a:solidFill>
              </a:rPr>
              <a:t>Skiera, B., Reiner, J. &amp; Albers, S. (2022). </a:t>
            </a:r>
            <a:r>
              <a:rPr sz="1100" b="0" lang="en-GB">
                <a:solidFill>
                  <a:schemeClr val="tx1"/>
                </a:solidFill>
              </a:rPr>
              <a:t>Regression analysis. In Homburg et al. (eds), Handbook of Market Research, 299–327. Springer.</a:t>
            </a:r>
          </a:p>
          <a:p>
            <a:pPr algn="l">
              <a:spcAft>
                <a:spcPts val="500"/>
              </a:spcAft>
            </a:pPr>
            <a:r>
              <a:rPr sz="1100" b="1" lang="en-GB">
                <a:solidFill>
                  <a:schemeClr val="tx2"/>
                </a:solidFill>
              </a:rPr>
              <a:t>Wooldridge, J. M. (2025). </a:t>
            </a:r>
            <a:r>
              <a:rPr sz="1100" b="0" lang="en-GB">
                <a:solidFill>
                  <a:schemeClr val="tx1"/>
                </a:solidFill>
              </a:rPr>
              <a:t>Introductory Econometrics, 8th ed. Cengage.</a:t>
            </a:r>
          </a:p>
          <a:p>
            <a:pPr algn="l">
              <a:spcAft>
                <a:spcPts val="500"/>
              </a:spcAft>
            </a:pPr>
            <a:r>
              <a:rPr sz="1100" b="1" lang="en-GB">
                <a:solidFill>
                  <a:schemeClr val="tx2"/>
                </a:solidFill>
              </a:rPr>
              <a:t>Hanssens, D. M., Parsons, L. J. &amp; Schultz, R. L. (2001). </a:t>
            </a:r>
            <a:r>
              <a:rPr sz="1100" b="0" lang="en-GB">
                <a:solidFill>
                  <a:schemeClr val="tx1"/>
                </a:solidFill>
              </a:rPr>
              <a:t>Market Response Models. Kluwer.</a:t>
            </a:r>
          </a:p>
          <a:p>
            <a:pPr algn="l">
              <a:spcAft>
                <a:spcPts val="500"/>
              </a:spcAft>
            </a:pPr>
            <a:r>
              <a:rPr sz="1100" b="1" lang="en-GB">
                <a:solidFill>
                  <a:schemeClr val="tx2"/>
                </a:solidFill>
              </a:rPr>
              <a:t>Bijmolt, T., van Heerde, H. &amp; Pieters, R. (2005). </a:t>
            </a:r>
            <a:r>
              <a:rPr sz="1100" b="0" lang="en-GB">
                <a:solidFill>
                  <a:schemeClr val="tx1"/>
                </a:solidFill>
              </a:rPr>
              <a:t>Journal of Marketing Research 42(2).</a:t>
            </a:r>
          </a:p>
          <a:p>
            <a:pPr algn="l">
              <a:spcAft>
                <a:spcPts val="500"/>
              </a:spcAft>
            </a:pPr>
            <a:r>
              <a:rPr sz="1100" b="1" lang="en-GB">
                <a:solidFill>
                  <a:schemeClr val="tx2"/>
                </a:solidFill>
              </a:rPr>
              <a:t>Gordon, B. R. et al. (2019). </a:t>
            </a:r>
            <a:r>
              <a:rPr sz="1100" b="0" lang="en-GB">
                <a:solidFill>
                  <a:schemeClr val="tx1"/>
                </a:solidFill>
              </a:rPr>
              <a:t>Marketing Science 38(2).</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Learning resources</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James, G. et al. (2023). </a:t>
            </a:r>
            <a:r>
              <a:rPr sz="1100" b="0" lang="en-GB">
                <a:solidFill>
                  <a:schemeClr val="tx1"/>
                </a:solidFill>
              </a:rPr>
              <a:t>ISLP, ch. 3 and the Python lab (free).</a:t>
            </a:r>
          </a:p>
          <a:p>
            <a:pPr algn="l">
              <a:spcAft>
                <a:spcPts val="500"/>
              </a:spcAft>
            </a:pPr>
            <a:r>
              <a:rPr sz="1100" b="1" lang="en-GB">
                <a:solidFill>
                  <a:schemeClr val="tx2"/>
                </a:solidFill>
              </a:rPr>
              <a:t>Schwarz, Chapman &amp; Feit (2020). </a:t>
            </a:r>
            <a:r>
              <a:rPr sz="1100" b="0" lang="en-GB">
                <a:solidFill>
                  <a:schemeClr val="tx1"/>
                </a:solidFill>
              </a:rPr>
              <a:t>Python for Marketing Research and Analytics, ch. 7. Springer.</a:t>
            </a:r>
          </a:p>
          <a:p>
            <a:pPr algn="l">
              <a:spcAft>
                <a:spcPts val="500"/>
              </a:spcAft>
            </a:pPr>
            <a:r>
              <a:rPr sz="1100" b="1" lang="en-GB">
                <a:solidFill>
                  <a:schemeClr val="tx2"/>
                </a:solidFill>
              </a:rPr>
              <a:t>statsmodels. </a:t>
            </a:r>
            <a:r>
              <a:rPr sz="1100" b="0" lang="en-GB">
                <a:solidFill>
                  <a:schemeClr val="tx1"/>
                </a:solidFill>
              </a:rPr>
              <a:t>Documentation and example notebooks.</a:t>
            </a:r>
          </a:p>
          <a:p>
            <a:pPr algn="l">
              <a:spcAft>
                <a:spcPts val="500"/>
              </a:spcAft>
            </a:pPr>
            <a:r>
              <a:rPr sz="1100" b="1" lang="en-GB">
                <a:solidFill>
                  <a:schemeClr val="tx2"/>
                </a:solidFill>
              </a:rPr>
              <a:t>Turrell, A. </a:t>
            </a:r>
            <a:r>
              <a:rPr sz="1100" b="0" lang="en-GB">
                <a:solidFill>
                  <a:schemeClr val="tx1"/>
                </a:solidFill>
              </a:rPr>
              <a:t>Coding for Economists: regression and diagnostics (free).</a:t>
            </a:r>
          </a:p>
          <a:p>
            <a:pPr algn="l">
              <a:spcAft>
                <a:spcPts val="500"/>
              </a:spcAft>
            </a:pPr>
            <a:r>
              <a:rPr sz="1100" b="1" lang="en-GB">
                <a:solidFill>
                  <a:schemeClr val="tx2"/>
                </a:solidFill>
              </a:rPr>
              <a:t>StatQuest. </a:t>
            </a:r>
            <a:r>
              <a:rPr sz="1100" b="0" lang="en-GB">
                <a:solidFill>
                  <a:schemeClr val="tx1"/>
                </a:solidFill>
              </a:rPr>
              <a:t>Linear regression, clearly explained (video).</a:t>
            </a:r>
          </a:p>
          <a:p>
            <a:pPr algn="l">
              <a:spcAft>
                <a:spcPts val="500"/>
              </a:spcAft>
            </a:pPr>
            <a:r>
              <a:rPr sz="1100" b="1" lang="en-GB">
                <a:solidFill>
                  <a:schemeClr val="tx2"/>
                </a:solidFill>
              </a:rPr>
              <a:t>DataCamp. </a:t>
            </a:r>
            <a:r>
              <a:rPr sz="1100" b="0" lang="en-GB">
                <a:solidFill>
                  <a:schemeClr val="tx1"/>
                </a:solidFill>
              </a:rPr>
              <a:t>Introduction to Regression with statsmodels in Python.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