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set up every laptop together. Nothing had to be installed before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Start the GitHub Education application first, because approval can take a few days; everything else runs while it is pending.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Accounts first: they need e-mail confirmations and, for GitHub Education, an approval that can take days.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are free for students. Use the WU e-mail address everywhere, so the student benefits apply.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Two-factor authentication is required by GitHub for accounts that contribute code. GitHub Mobile is the easiest second factor.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Approval is often quick but can take several days, and benefits can take up to 72 hours more to appear. Check the Copilot Student plan status the week before term; it was paused once in 2026.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DataCamp for the Classroom gives students free premium access for six months. Nobody needs to pay.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overview first, so students know why each tool is there before they install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is the shared cloud copy. GitHub Desktop syncs it with a folder on the laptop. Positron is where students work on that folder, using Python, Quarto and an AI assistant.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3.13.16 (30 September 2026) is the last full maintenance release of 3.13 and runs every course package. Do not take the big yellow 3.14 button on python.org: PyMC-Marketing does not run on 3.14 yet. On Windows the box 'Add python.exe to PATH' is the step most often missed.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Python first, then these three. Current Positron: 2026.09 (September 2026); it updates monthly and offers updates itself. Its welcome page checks whether Python is ready. GitHub Desktop brings its own Git.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repository is read-only for students: they pull updates before each session. Group repositories for the case study come later and use the same clicks plus commit and push.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two lines in the Positron terminal, inside the course folder. The first line makes a private Python in the folder .venv, the second installs every package in requirements.txt into it. The first install takes a few minutes because PyMC is large. No activation step is needed, because the commands call the Python inside .venv directly.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script lives in setup/check_setup.py. Every line marked !! says what to fix. Alternatively open the file and press the Run button at the top right of the editor.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replaced Positron Assistant and Databot in Positron 2026.07; older videos show the old menus. GitHub Copilot gives chat and code completions and is the cheapest provider for students; in Positron it is still marked Preview.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 2026.09. A five-minute tour with the live application next to the slides works best.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Names as in the Positron documentation: Activity Bar and Primary Side Bar on the left, Editor in the middle with the Panel (Console, Terminal) below, Secondary Side Bar on the right with the Session pane (Variables, Plots). The Top Bar holds the project switcher and the Interpreter picker.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it live: write one line, press Ctrl+Enter, point at the console, the Variables pane and the plot. %view df opens a table in the Data Explorer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Positron a project is simply a folder opened with File &gt; Open Folder (a workspace). Positron finds the .venv at the folder root and remembers the interpreter for that folder. Open folders, not single files.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Folder from Template sets up the folder, a .venv, Git and a running session in one dialog. Open it from the New menu (top left), the project switcher or the Command Palette (Workspaces: New Folder from Template).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GitHub in the browser is where the repository is created and the group is invited; GitHub Desktop keeps each laptop's copy in sync; Positron is where the work happens.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labs and the case study report are Quarto files. Text, code and results stay in one file, so the report can be rerun when the data change. Since 2026.08, output appears inline under each cell, with Fix and Explain buttons on errors.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Positron-specific shortcuts from the Positron documentation, plus the Quarto preview. On macOS, Cmd replaces Ctrl except where noted. The Command Palette finds every other command by name.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has been Positron's built-in AI since 2026.07, replacing Positron Assistant and Databot. It uses session context (variable names and types, plots, console history). Permission modes: Normal asks before acting, Restricted allows less, YOLO runs without asking; we use Normal.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Export a conversation (Markdown) and attach it as the prompt log. Posit's FAQ: prompts and session information such as variable names and types go to the model provider; row-level data only when you ask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and load first, then one slide per package with code that runs on the course data.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install into the course .venv. The terminal lines call the Python inside .venv directly, so no activation is needed. %pip in the Positron console installs into the running session; restart the session afterwards if Positron asks.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Packages pane arrived in Positron 2026.07. It works on the active session's environment, uses the workspace requirements.txt to keep versions consistent, flags outdated packages and known security issues, and prompts for a session restart after changes.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Loading is the same on Windows and macOS. Installing happens once per laptop; importing in every file and every new session.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stages repeat in every lab and in the case study.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top to bottom: keep 2025, group by country, sum two columns, sort. statsmodels and PyMC expect pandas, so convert at the end with .to_pandas().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grammar as ggplot2 in R, so R tutorials transfer almost one to one. Each + adds one layer.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takes the polars summary from the polars slide directly. In a Quarto HTML report the table renders by itself; .save() writes a 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first look only: Sessions 1 and 2 explain how to read, check and improve such a model. The formula reads: sales explained by price, TV spend and paid search spend.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problems are an old terminal window or the wrong interpreter.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tick these off. Anything still open goes to the Q&amp;A forum on Canvas before Session 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hyperlink" Target="https://github.com/signup" TargetMode="External"/><Relationship Id="rId5" Type="http://schemas.openxmlformats.org/officeDocument/2006/relationships/image" Target="../media/image14.png"/><Relationship Id="rId6" Type="http://schemas.openxmlformats.org/officeDocument/2006/relationships/hyperlink" Target="https://education.github.com/pack" TargetMode="External"/><Relationship Id="rId7" Type="http://schemas.openxmlformats.org/officeDocument/2006/relationships/image" Target="../media/image15.png"/><Relationship Id="rId8"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signup" TargetMode="Externa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hyperlink" Target="https://education.github.com/pack" TargetMode="External"/><Relationship Id="rId5" Type="http://schemas.openxmlformats.org/officeDocument/2006/relationships/image" Target="../media/image19.png"/><Relationship Id="rId6" Type="http://schemas.openxmlformats.org/officeDocument/2006/relationships/hyperlink" Target="https://github.com/settings/copilot" TargetMode="External"/><Relationship Id="rId7"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29.png"/><Relationship Id="rId6" Type="http://schemas.openxmlformats.org/officeDocument/2006/relationships/hyperlink" Target="https://www.python.org/downloads/release/python-31316/"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hyperlink" Target="https://positron.posit.co/download" TargetMode="External"/><Relationship Id="rId5" Type="http://schemas.openxmlformats.org/officeDocument/2006/relationships/image" Target="../media/image30.png"/><Relationship Id="rId6" Type="http://schemas.openxmlformats.org/officeDocument/2006/relationships/hyperlink" Target="https://quarto.org/docs/get-started/" TargetMode="External"/><Relationship Id="rId7" Type="http://schemas.openxmlformats.org/officeDocument/2006/relationships/image" Target="../media/image31.png"/><Relationship Id="rId8" Type="http://schemas.openxmlformats.org/officeDocument/2006/relationships/hyperlink" Target="https://desktop.github.com" TargetMode="External"/><Relationship Id="rId9"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40.png"/><Relationship Id="rId4" Type="http://schemas.openxmlformats.org/officeDocument/2006/relationships/image" Target="../media/image4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42.png"/><Relationship Id="rId4" Type="http://schemas.openxmlformats.org/officeDocument/2006/relationships/image" Target="../media/image31.png"/><Relationship Id="rId5" Type="http://schemas.openxmlformats.org/officeDocument/2006/relationships/image" Target="../media/image28.png"/><Relationship Id="rId6"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47.png"/><Relationship Id="rId5" Type="http://schemas.openxmlformats.org/officeDocument/2006/relationships/image" Target="../media/image4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9.png"/><Relationship Id="rId4" Type="http://schemas.openxmlformats.org/officeDocument/2006/relationships/image" Target="../media/image49.png"/><Relationship Id="rId5" Type="http://schemas.openxmlformats.org/officeDocument/2006/relationships/image" Target="../media/image5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5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6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6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63.png"/><Relationship Id="rId4" Type="http://schemas.openxmlformats.org/officeDocument/2006/relationships/image" Target="../media/image9.png"/><Relationship Id="rId5" Type="http://schemas.openxmlformats.org/officeDocument/2006/relationships/image" Target="../media/image6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Set-up and registration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 from zero to a working set-up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Accounts</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Tools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Repo</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Packages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Check</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AI</a:t>
            </a:r>
          </a:p>
        </p:txBody>
      </p:sp>
      <p:sp>
        <p:nvSpPr>
          <p:cNvPr id="16" name="Plan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you need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laptop and charger</a:t>
            </a:r>
          </a:p>
          <a:p>
            <a:pPr algn="l" marL="182880" indent="-182880">
              <a:spcAft>
                <a:spcPts val="600"/>
              </a:spcAft>
              <a:buClr>
                <a:schemeClr val="accent1"/>
              </a:buClr>
              <a:buFont typeface="Arial"/>
              <a:buChar char="▪"/>
            </a:pPr>
            <a:r>
              <a:rPr sz="1300" b="0" lang="en-GB">
                <a:solidFill>
                  <a:schemeClr val="tx1"/>
                </a:solidFill>
              </a:rPr>
              <a:t>Windows 10/11 or a recent macOS</a:t>
            </a:r>
          </a:p>
          <a:p>
            <a:pPr algn="l" marL="182880" indent="-182880">
              <a:spcAft>
                <a:spcPts val="600"/>
              </a:spcAft>
              <a:buClr>
                <a:schemeClr val="accent1"/>
              </a:buClr>
              <a:buFont typeface="Arial"/>
              <a:buChar char="▪"/>
            </a:pPr>
            <a:r>
              <a:rPr sz="1300" b="0" lang="en-GB">
                <a:solidFill>
                  <a:schemeClr val="tx1"/>
                </a:solidFill>
              </a:rPr>
              <a:t>About 10 GB free disk space</a:t>
            </a:r>
          </a:p>
          <a:p>
            <a:pPr algn="l" marL="182880" indent="-182880">
              <a:spcAft>
                <a:spcPts val="600"/>
              </a:spcAft>
              <a:buClr>
                <a:schemeClr val="accent1"/>
              </a:buClr>
              <a:buFont typeface="Arial"/>
              <a:buChar char="▪"/>
            </a:pPr>
            <a:r>
              <a:rPr sz="1300" b="0" lang="en-GB">
                <a:solidFill>
                  <a:schemeClr val="tx1"/>
                </a:solidFill>
              </a:rPr>
              <a:t>Admin rights to install software</a:t>
            </a:r>
          </a:p>
        </p:txBody>
      </p:sp>
      <p:sp>
        <p:nvSpPr>
          <p:cNvPr id="21" name="Plan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Have at hand</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WU e-mail and its password</a:t>
            </a:r>
          </a:p>
          <a:p>
            <a:pPr algn="l" marL="182880" indent="-182880">
              <a:spcAft>
                <a:spcPts val="600"/>
              </a:spcAft>
              <a:buClr>
                <a:schemeClr val="accent1"/>
              </a:buClr>
              <a:buFont typeface="Arial"/>
              <a:buChar char="▪"/>
            </a:pPr>
            <a:r>
              <a:rPr sz="1300" b="0" lang="en-GB">
                <a:solidFill>
                  <a:schemeClr val="tx1"/>
                </a:solidFill>
              </a:rPr>
              <a:t>Your phone, for two-factor sign-in</a:t>
            </a:r>
          </a:p>
          <a:p>
            <a:pPr algn="l" marL="182880" indent="-182880">
              <a:spcAft>
                <a:spcPts val="600"/>
              </a:spcAft>
              <a:buClr>
                <a:schemeClr val="accent1"/>
              </a:buClr>
              <a:buFont typeface="Arial"/>
              <a:buChar char="▪"/>
            </a:pPr>
            <a:r>
              <a:rPr sz="1300" b="0" lang="en-GB">
                <a:solidFill>
                  <a:schemeClr val="tx1"/>
                </a:solidFill>
              </a:rPr>
              <a:t>Your student ID or enrolment confirmation</a:t>
            </a:r>
          </a:p>
        </p:txBody>
      </p:sp>
      <p:sp>
        <p:nvSpPr>
          <p:cNvPr id="26" name="Plan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we work</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step at a time, all together</a:t>
            </a:r>
          </a:p>
          <a:p>
            <a:pPr algn="l" marL="182880" indent="-182880">
              <a:spcAft>
                <a:spcPts val="600"/>
              </a:spcAft>
              <a:buClr>
                <a:schemeClr val="accent1"/>
              </a:buClr>
              <a:buFont typeface="Arial"/>
              <a:buChar char="▪"/>
            </a:pPr>
            <a:r>
              <a:rPr sz="1300" b="0" lang="en-GB">
                <a:solidFill>
                  <a:schemeClr val="tx1"/>
                </a:solidFill>
              </a:rPr>
              <a:t>Check your neighbour's screen</a:t>
            </a:r>
          </a:p>
          <a:p>
            <a:pPr algn="l" marL="182880" indent="-182880">
              <a:spcAft>
                <a:spcPts val="600"/>
              </a:spcAft>
              <a:buClr>
                <a:schemeClr val="accent1"/>
              </a:buClr>
              <a:buFont typeface="Arial"/>
              <a:buChar char="▪"/>
            </a:pPr>
            <a:r>
              <a:rPr sz="1300" b="0" lang="en-GB">
                <a:solidFill>
                  <a:schemeClr val="tx1"/>
                </a:solidFill>
              </a:rPr>
              <a:t>Stuck? Raise your hand, keep going with the next step</a:t>
            </a:r>
          </a:p>
        </p:txBody>
      </p:sp>
      <p:sp>
        <p:nvSpPr>
          <p:cNvPr id="31" name="Goal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Goal" descr=""/>
          <p:cNvPicPr>
            <a:picLocks noChangeAspect="1"/>
          </p:cNvPicPr>
          <p:nvPr/>
        </p:nvPicPr>
        <p:blipFill>
          <a:blip r:embed="rId6"/>
          <a:stretch>
            <a:fillRect/>
          </a:stretch>
        </p:blipFill>
        <p:spPr>
          <a:xfrm>
            <a:off x="658368" y="4539996"/>
            <a:ext cx="384048" cy="384048"/>
          </a:xfrm>
          <a:prstGeom prst="rect">
            <a:avLst/>
          </a:prstGeom>
        </p:spPr>
      </p:pic>
      <p:sp>
        <p:nvSpPr>
          <p:cNvPr id="33" name="Goal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Goal: </a:t>
            </a:r>
            <a:r>
              <a:rPr sz="1300" b="0" lang="en-GB">
                <a:solidFill>
                  <a:schemeClr val="bg1"/>
                </a:solidFill>
              </a:rPr>
              <a:t>by the end of today the check script prints “ready” on every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4 · GitHub, GitHub Education, DataCamp</a:t>
            </a:r>
          </a:p>
        </p:txBody>
      </p:sp>
      <p:sp>
        <p:nvSpPr>
          <p:cNvPr id="3" name="Title 2"/>
          <p:cNvSpPr>
            <a:spLocks noGrp="1"/>
          </p:cNvSpPr>
          <p:nvPr>
            <p:ph type="ctrTitle"/>
          </p:nvPr>
        </p:nvSpPr>
        <p:spPr/>
        <p:txBody>
          <a:bodyPr/>
          <a:lstStyle/>
          <a:p>
            <a:r>
              <a:rPr sz="1600" lang="en-GB"/>
              <a:t>Register your accounts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registrations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Account 1 tile"/>
          <p:cNvSpPr/>
          <p:nvPr/>
        </p:nvSpPr>
        <p:spPr>
          <a:xfrm>
            <a:off x="45720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Account 1" descr=""/>
          <p:cNvPicPr>
            <a:picLocks noChangeAspect="1"/>
          </p:cNvPicPr>
          <p:nvPr/>
        </p:nvPicPr>
        <p:blipFill>
          <a:blip r:embed="rId3"/>
          <a:stretch>
            <a:fillRect/>
          </a:stretch>
        </p:blipFill>
        <p:spPr>
          <a:xfrm>
            <a:off x="594360" y="1920240"/>
            <a:ext cx="365760" cy="365760"/>
          </a:xfrm>
          <a:prstGeom prst="rect">
            <a:avLst/>
          </a:prstGeom>
        </p:spPr>
      </p:pic>
      <p:sp>
        <p:nvSpPr>
          <p:cNvPr id="18" name="Account 1 text"/>
          <p:cNvSpPr txBox="1"/>
          <p:nvPr/>
        </p:nvSpPr>
        <p:spPr>
          <a:xfrm>
            <a:off x="59436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a:t>
            </a:r>
          </a:p>
          <a:p>
            <a:pPr algn="l">
              <a:spcAft>
                <a:spcPts val="300"/>
              </a:spcAft>
            </a:pPr>
            <a:r>
              <a:rPr sz="1300" b="0" lang="en-GB">
                <a:solidFill>
                  <a:schemeClr val="tx1"/>
                </a:solidFill>
              </a:rPr>
              <a:t>Stores code and its history; hosts the course and group repositories</a:t>
            </a:r>
          </a:p>
        </p:txBody>
      </p:sp>
      <p:sp>
        <p:nvSpPr>
          <p:cNvPr id="19" name="Account 1 where"/>
          <p:cNvSpPr txBox="1"/>
          <p:nvPr/>
        </p:nvSpPr>
        <p:spPr>
          <a:xfrm>
            <a:off x="59436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github.com/signup</a:t>
            </a:r>
          </a:p>
        </p:txBody>
      </p:sp>
      <p:sp>
        <p:nvSpPr>
          <p:cNvPr id="20" name="Account 2 tile"/>
          <p:cNvSpPr/>
          <p:nvPr/>
        </p:nvSpPr>
        <p:spPr>
          <a:xfrm>
            <a:off x="324612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Account 2" descr=""/>
          <p:cNvPicPr>
            <a:picLocks noChangeAspect="1"/>
          </p:cNvPicPr>
          <p:nvPr/>
        </p:nvPicPr>
        <p:blipFill>
          <a:blip r:embed="rId5"/>
          <a:stretch>
            <a:fillRect/>
          </a:stretch>
        </p:blipFill>
        <p:spPr>
          <a:xfrm>
            <a:off x="3383280" y="1920240"/>
            <a:ext cx="365760" cy="365760"/>
          </a:xfrm>
          <a:prstGeom prst="rect">
            <a:avLst/>
          </a:prstGeom>
        </p:spPr>
      </p:pic>
      <p:sp>
        <p:nvSpPr>
          <p:cNvPr id="22" name="Account 2 text"/>
          <p:cNvSpPr txBox="1"/>
          <p:nvPr/>
        </p:nvSpPr>
        <p:spPr>
          <a:xfrm>
            <a:off x="338328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GitHub Education</a:t>
            </a:r>
          </a:p>
          <a:p>
            <a:pPr algn="l">
              <a:spcAft>
                <a:spcPts val="300"/>
              </a:spcAft>
            </a:pPr>
            <a:r>
              <a:rPr sz="1300" b="0" lang="en-GB">
                <a:solidFill>
                  <a:schemeClr val="tx1"/>
                </a:solidFill>
              </a:rPr>
              <a:t>Free student benefits, including GitHub Copilot</a:t>
            </a:r>
          </a:p>
        </p:txBody>
      </p:sp>
      <p:sp>
        <p:nvSpPr>
          <p:cNvPr id="23" name="Account 2 where"/>
          <p:cNvSpPr txBox="1"/>
          <p:nvPr/>
        </p:nvSpPr>
        <p:spPr>
          <a:xfrm>
            <a:off x="3383280" y="3840480"/>
            <a:ext cx="2377440" cy="36576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education.github.com/pack</a:t>
            </a:r>
          </a:p>
        </p:txBody>
      </p:sp>
      <p:sp>
        <p:nvSpPr>
          <p:cNvPr id="24" name="Account 3 tile"/>
          <p:cNvSpPr/>
          <p:nvPr/>
        </p:nvSpPr>
        <p:spPr>
          <a:xfrm>
            <a:off x="6035040" y="1783080"/>
            <a:ext cx="2651760" cy="2514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Account 3" descr=""/>
          <p:cNvPicPr>
            <a:picLocks noChangeAspect="1"/>
          </p:cNvPicPr>
          <p:nvPr/>
        </p:nvPicPr>
        <p:blipFill>
          <a:blip r:embed="rId7"/>
          <a:stretch>
            <a:fillRect/>
          </a:stretch>
        </p:blipFill>
        <p:spPr>
          <a:xfrm>
            <a:off x="6172200" y="1920240"/>
            <a:ext cx="365760" cy="365760"/>
          </a:xfrm>
          <a:prstGeom prst="rect">
            <a:avLst/>
          </a:prstGeom>
        </p:spPr>
      </p:pic>
      <p:sp>
        <p:nvSpPr>
          <p:cNvPr id="26" name="Account 3 text"/>
          <p:cNvSpPr txBox="1"/>
          <p:nvPr/>
        </p:nvSpPr>
        <p:spPr>
          <a:xfrm>
            <a:off x="6172200" y="2377440"/>
            <a:ext cx="2377440" cy="1828800"/>
          </a:xfrm>
          <a:prstGeom prst="rect">
            <a:avLst/>
          </a:prstGeom>
          <a:noFill/>
        </p:spPr>
        <p:txBody>
          <a:bodyPr wrap="square" lIns="0" rIns="0" tIns="0" bIns="0" anchor="t">
            <a:noAutofit/>
          </a:bodyPr>
          <a:lstStyle/>
          <a:p>
            <a:pPr algn="l">
              <a:spcAft>
                <a:spcPts val="300"/>
              </a:spcAft>
            </a:pPr>
            <a:r>
              <a:rPr sz="1300" b="1" lang="en-GB">
                <a:solidFill>
                  <a:schemeClr val="tx2"/>
                </a:solidFill>
              </a:rPr>
              <a:t>DataCamp</a:t>
            </a:r>
          </a:p>
          <a:p>
            <a:pPr algn="l">
              <a:spcAft>
                <a:spcPts val="300"/>
              </a:spcAft>
            </a:pPr>
            <a:r>
              <a:rPr sz="1300" b="0" lang="en-GB">
                <a:solidFill>
                  <a:schemeClr val="tx1"/>
                </a:solidFill>
              </a:rPr>
              <a:t>Online Python courses; four certificates count 20 %</a:t>
            </a:r>
          </a:p>
        </p:txBody>
      </p:sp>
      <p:sp>
        <p:nvSpPr>
          <p:cNvPr id="27" name="Account 3 where"/>
          <p:cNvSpPr txBox="1"/>
          <p:nvPr/>
        </p:nvSpPr>
        <p:spPr>
          <a:xfrm>
            <a:off x="6172200" y="3840480"/>
            <a:ext cx="2377440" cy="365760"/>
          </a:xfrm>
          <a:prstGeom prst="rect">
            <a:avLst/>
          </a:prstGeom>
          <a:noFill/>
        </p:spPr>
        <p:txBody>
          <a:bodyPr wrap="square" lIns="0" rIns="0" tIns="0" bIns="0" anchor="b">
            <a:noAutofit/>
          </a:bodyPr>
          <a:lstStyle/>
          <a:p>
            <a:pPr algn="l">
              <a:spcAft>
                <a:spcPts val="400"/>
              </a:spcAft>
            </a:pPr>
            <a:r>
              <a:rPr sz="1200" b="1" lang="en-GB">
                <a:solidFill>
                  <a:schemeClr val="accent1"/>
                </a:solidFill>
              </a:rPr>
              <a:t>Invitation link on Canvas</a:t>
            </a:r>
          </a:p>
        </p:txBody>
      </p:sp>
      <p:sp>
        <p:nvSpPr>
          <p:cNvPr id="28" name="Email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Email" descr=""/>
          <p:cNvPicPr>
            <a:picLocks noChangeAspect="1"/>
          </p:cNvPicPr>
          <p:nvPr/>
        </p:nvPicPr>
        <p:blipFill>
          <a:blip r:embed="rId8"/>
          <a:stretch>
            <a:fillRect/>
          </a:stretch>
        </p:blipFill>
        <p:spPr>
          <a:xfrm>
            <a:off x="658368" y="4585716"/>
            <a:ext cx="384048" cy="384048"/>
          </a:xfrm>
          <a:prstGeom prst="rect">
            <a:avLst/>
          </a:prstGeom>
        </p:spPr>
      </p:pic>
      <p:sp>
        <p:nvSpPr>
          <p:cNvPr id="30" name="Email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Same e-mail everywhere: </a:t>
            </a:r>
            <a:r>
              <a:rPr sz="1300" b="0" lang="en-GB">
                <a:solidFill>
                  <a:schemeClr val="tx1"/>
                </a:solidFill>
              </a:rPr>
              <a:t>your WU student address unlocks the free plans.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account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GitHub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itHub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GitHub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0" lang="en-GB">
                <a:solidFill>
                  <a:schemeClr val="tx1"/>
                </a:solidFill>
              </a:rPr>
              <a:t>Open </a:t>
            </a:r>
            <a:r>
              <a:rPr sz="1300" b="0" lang="en-GB">
                <a:solidFill>
                  <a:schemeClr val="accent1"/>
                </a:solidFill>
                <a:hlinkClick r:id="rId3"/>
              </a:rPr>
              <a:t>github.com/signup</a:t>
            </a:r>
          </a:p>
        </p:txBody>
      </p:sp>
      <p:sp>
        <p:nvSpPr>
          <p:cNvPr id="19" name="GitHub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itHub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GitHub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WU e-mail: </a:t>
            </a:r>
            <a:r>
              <a:rPr sz="1300" b="0" lang="en-GB">
                <a:solidFill>
                  <a:schemeClr val="tx1"/>
                </a:solidFill>
              </a:rPr>
              <a:t>sign up with your student address</a:t>
            </a:r>
          </a:p>
        </p:txBody>
      </p:sp>
      <p:sp>
        <p:nvSpPr>
          <p:cNvPr id="22" name="GitHub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itHub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GitHub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Username: </a:t>
            </a:r>
            <a:r>
              <a:rPr sz="1300" b="0" lang="en-GB">
                <a:solidFill>
                  <a:schemeClr val="tx1"/>
                </a:solidFill>
              </a:rPr>
              <a:t>short and professional, e.g. anna-berger</a:t>
            </a:r>
          </a:p>
        </p:txBody>
      </p:sp>
      <p:sp>
        <p:nvSpPr>
          <p:cNvPr id="25" name="GitHub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Hub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GitHub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Verify </a:t>
            </a:r>
            <a:r>
              <a:rPr sz="1300" b="0" lang="en-GB">
                <a:solidFill>
                  <a:schemeClr val="tx1"/>
                </a:solidFill>
              </a:rPr>
              <a:t>the code GitHub sends to your inbox</a:t>
            </a:r>
          </a:p>
        </p:txBody>
      </p:sp>
      <p:sp>
        <p:nvSpPr>
          <p:cNvPr id="28" name="GitHub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Hub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GitHub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Two-factor sign-in: </a:t>
            </a:r>
            <a:r>
              <a:rPr sz="1300" b="0" lang="en-GB">
                <a:solidFill>
                  <a:schemeClr val="tx1"/>
                </a:solidFill>
              </a:rPr>
              <a:t>GitHub Mobile or an authenticator app</a:t>
            </a:r>
          </a:p>
        </p:txBody>
      </p:sp>
      <p:sp>
        <p:nvSpPr>
          <p:cNvPr id="31" name="GitHub why card body"/>
          <p:cNvSpPr/>
          <p:nvPr/>
        </p:nvSpPr>
        <p:spPr>
          <a:xfrm>
            <a:off x="5760720" y="2194560"/>
            <a:ext cx="2926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Hub why card header"/>
          <p:cNvSpPr/>
          <p:nvPr/>
        </p:nvSpPr>
        <p:spPr>
          <a:xfrm>
            <a:off x="5760720" y="178308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Hub why card heading"/>
          <p:cNvSpPr txBox="1"/>
          <p:nvPr/>
        </p:nvSpPr>
        <p:spPr>
          <a:xfrm>
            <a:off x="5897880" y="178308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Why it matters</a:t>
            </a:r>
          </a:p>
        </p:txBody>
      </p:sp>
      <p:pic>
        <p:nvPicPr>
          <p:cNvPr id="34" name="Icon GitHub why card" descr=""/>
          <p:cNvPicPr>
            <a:picLocks noChangeAspect="1"/>
          </p:cNvPicPr>
          <p:nvPr/>
        </p:nvPicPr>
        <p:blipFill>
          <a:blip r:embed="rId4"/>
          <a:stretch>
            <a:fillRect/>
          </a:stretch>
        </p:blipFill>
        <p:spPr>
          <a:xfrm>
            <a:off x="8247888" y="1833372"/>
            <a:ext cx="310896" cy="310896"/>
          </a:xfrm>
          <a:prstGeom prst="rect">
            <a:avLst/>
          </a:prstGeom>
        </p:spPr>
      </p:pic>
      <p:sp>
        <p:nvSpPr>
          <p:cNvPr id="35" name="GitHub why card text"/>
          <p:cNvSpPr txBox="1"/>
          <p:nvPr/>
        </p:nvSpPr>
        <p:spPr>
          <a:xfrm>
            <a:off x="5925312" y="2331720"/>
            <a:ext cx="2624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username appears on every commit you make</a:t>
            </a:r>
          </a:p>
          <a:p>
            <a:pPr algn="l" marL="182880" indent="-182880">
              <a:spcAft>
                <a:spcPts val="600"/>
              </a:spcAft>
              <a:buClr>
                <a:schemeClr val="accent1"/>
              </a:buClr>
              <a:buFont typeface="Arial"/>
              <a:buChar char="▪"/>
            </a:pPr>
            <a:r>
              <a:rPr sz="1300" b="0" lang="en-GB">
                <a:solidFill>
                  <a:schemeClr val="tx1"/>
                </a:solidFill>
              </a:rPr>
              <a:t>A clean GitHub profile is part of your CV</a:t>
            </a:r>
          </a:p>
          <a:p>
            <a:pPr algn="l" marL="182880" indent="-182880">
              <a:spcAft>
                <a:spcPts val="600"/>
              </a:spcAft>
              <a:buClr>
                <a:schemeClr val="accent1"/>
              </a:buClr>
              <a:buFont typeface="Arial"/>
              <a:buChar char="▪"/>
            </a:pPr>
            <a:r>
              <a:rPr sz="1300" b="0" lang="en-GB">
                <a:solidFill>
                  <a:schemeClr val="tx1"/>
                </a:solidFill>
              </a:rPr>
              <a:t>You need it for the group repository of the case study</a:t>
            </a:r>
          </a:p>
          <a:p>
            <a:pPr algn="l" marL="182880" indent="-182880">
              <a:spcAft>
                <a:spcPts val="600"/>
              </a:spcAft>
              <a:buClr>
                <a:schemeClr val="accent1"/>
              </a:buClr>
              <a:buFont typeface="Arial"/>
              <a:buChar char="▪"/>
            </a:pPr>
            <a:r>
              <a:rPr sz="1300" b="0" lang="en-GB">
                <a:solidFill>
                  <a:schemeClr val="tx1"/>
                </a:solidFill>
              </a:rPr>
              <a:t>The free plan is all you need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GitHub Education and Copilot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ducation steps step 1"/>
          <p:cNvSpPr/>
          <p:nvPr/>
        </p:nvSpPr>
        <p:spPr>
          <a:xfrm>
            <a:off x="457200" y="178308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Add WU e-mail</a:t>
            </a:r>
            <a:br/>
            <a:r>
              <a:rPr sz="1200" b="1" lang="en-GB">
                <a:solidFill>
                  <a:schemeClr val="tx2"/>
                </a:solidFill>
              </a:rPr>
              <a:t>to GitHub</a:t>
            </a:r>
          </a:p>
        </p:txBody>
      </p:sp>
      <p:sp>
        <p:nvSpPr>
          <p:cNvPr id="17" name="Education steps step 2"/>
          <p:cNvSpPr/>
          <p:nvPr/>
        </p:nvSpPr>
        <p:spPr>
          <a:xfrm>
            <a:off x="2081174"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Apply for</a:t>
            </a:r>
            <a:br/>
            <a:r>
              <a:rPr sz="1200" b="1" lang="en-GB">
                <a:solidFill>
                  <a:schemeClr val="tx2"/>
                </a:solidFill>
              </a:rPr>
              <a:t>benefits</a:t>
            </a:r>
          </a:p>
        </p:txBody>
      </p:sp>
      <p:sp>
        <p:nvSpPr>
          <p:cNvPr id="18" name="Education steps step 3"/>
          <p:cNvSpPr/>
          <p:nvPr/>
        </p:nvSpPr>
        <p:spPr>
          <a:xfrm>
            <a:off x="3705149"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Upload</a:t>
            </a:r>
            <a:br/>
            <a:r>
              <a:rPr sz="1200" b="1" lang="en-GB">
                <a:solidFill>
                  <a:schemeClr val="tx2"/>
                </a:solidFill>
              </a:rPr>
              <a:t>proof</a:t>
            </a:r>
          </a:p>
        </p:txBody>
      </p:sp>
      <p:sp>
        <p:nvSpPr>
          <p:cNvPr id="19" name="Education steps step 4"/>
          <p:cNvSpPr/>
          <p:nvPr/>
        </p:nvSpPr>
        <p:spPr>
          <a:xfrm>
            <a:off x="5329123"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Wait for</a:t>
            </a:r>
            <a:br/>
            <a:r>
              <a:rPr sz="1200" b="1" lang="en-GB">
                <a:solidFill>
                  <a:schemeClr val="tx2"/>
                </a:solidFill>
              </a:rPr>
              <a:t>approval</a:t>
            </a:r>
          </a:p>
        </p:txBody>
      </p:sp>
      <p:sp>
        <p:nvSpPr>
          <p:cNvPr id="20" name="Education steps step 5"/>
          <p:cNvSpPr/>
          <p:nvPr/>
        </p:nvSpPr>
        <p:spPr>
          <a:xfrm>
            <a:off x="6953098" y="178308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Turn on</a:t>
            </a:r>
            <a:br/>
            <a:r>
              <a:rPr sz="1200" b="1" lang="en-GB">
                <a:solidFill>
                  <a:schemeClr val="tx2"/>
                </a:solidFill>
              </a:rPr>
              <a:t>Copilot</a:t>
            </a:r>
          </a:p>
        </p:txBody>
      </p:sp>
      <p:sp>
        <p:nvSpPr>
          <p:cNvPr id="21" name="Apply card body"/>
          <p:cNvSpPr/>
          <p:nvPr/>
        </p:nvSpPr>
        <p:spPr>
          <a:xfrm>
            <a:off x="45720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pply card header"/>
          <p:cNvSpPr/>
          <p:nvPr/>
        </p:nvSpPr>
        <p:spPr>
          <a:xfrm>
            <a:off x="45720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pply card heading"/>
          <p:cNvSpPr txBox="1"/>
          <p:nvPr/>
        </p:nvSpPr>
        <p:spPr>
          <a:xfrm>
            <a:off x="59436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Apply</a:t>
            </a:r>
          </a:p>
        </p:txBody>
      </p:sp>
      <p:pic>
        <p:nvPicPr>
          <p:cNvPr id="24" name="Icon Apply card" descr=""/>
          <p:cNvPicPr>
            <a:picLocks noChangeAspect="1"/>
          </p:cNvPicPr>
          <p:nvPr/>
        </p:nvPicPr>
        <p:blipFill>
          <a:blip r:embed="rId3"/>
          <a:stretch>
            <a:fillRect/>
          </a:stretch>
        </p:blipFill>
        <p:spPr>
          <a:xfrm>
            <a:off x="4064508" y="2564892"/>
            <a:ext cx="310896" cy="310896"/>
          </a:xfrm>
          <a:prstGeom prst="rect">
            <a:avLst/>
          </a:prstGeom>
        </p:spPr>
      </p:pic>
      <p:sp>
        <p:nvSpPr>
          <p:cNvPr id="25" name="Apply card text"/>
          <p:cNvSpPr txBox="1"/>
          <p:nvPr/>
        </p:nvSpPr>
        <p:spPr>
          <a:xfrm>
            <a:off x="62179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Go to </a:t>
            </a:r>
            <a:r>
              <a:rPr sz="1300" b="0" lang="en-GB">
                <a:solidFill>
                  <a:schemeClr val="accent1"/>
                </a:solidFill>
                <a:hlinkClick r:id="rId4"/>
              </a:rPr>
              <a:t>education.github.com/pack</a:t>
            </a:r>
          </a:p>
          <a:p>
            <a:pPr algn="l" marL="182880" indent="-182880">
              <a:spcAft>
                <a:spcPts val="600"/>
              </a:spcAft>
              <a:buClr>
                <a:schemeClr val="accent1"/>
              </a:buClr>
              <a:buFont typeface="Arial"/>
              <a:buChar char="▪"/>
            </a:pPr>
            <a:r>
              <a:rPr sz="1300" b="0" lang="en-GB">
                <a:solidFill>
                  <a:schemeClr val="tx1"/>
                </a:solidFill>
              </a:rPr>
              <a:t>Your WU address must be verified in GitHub's e-mail settings</a:t>
            </a:r>
          </a:p>
          <a:p>
            <a:pPr algn="l" marL="182880" indent="-182880">
              <a:spcAft>
                <a:spcPts val="600"/>
              </a:spcAft>
              <a:buClr>
                <a:schemeClr val="accent1"/>
              </a:buClr>
              <a:buFont typeface="Arial"/>
              <a:buChar char="▪"/>
            </a:pPr>
            <a:r>
              <a:rPr sz="1300" b="0" lang="en-GB">
                <a:solidFill>
                  <a:schemeClr val="tx1"/>
                </a:solidFill>
              </a:rPr>
              <a:t>Proof: a photo of your student ID or enrolment confirmation</a:t>
            </a:r>
          </a:p>
        </p:txBody>
      </p:sp>
      <p:sp>
        <p:nvSpPr>
          <p:cNvPr id="26" name="Approval card body"/>
          <p:cNvSpPr/>
          <p:nvPr/>
        </p:nvSpPr>
        <p:spPr>
          <a:xfrm>
            <a:off x="4640580" y="292608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Approval card header"/>
          <p:cNvSpPr/>
          <p:nvPr/>
        </p:nvSpPr>
        <p:spPr>
          <a:xfrm>
            <a:off x="4640580" y="251460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Approval card heading"/>
          <p:cNvSpPr txBox="1"/>
          <p:nvPr/>
        </p:nvSpPr>
        <p:spPr>
          <a:xfrm>
            <a:off x="4777740" y="251460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After approval</a:t>
            </a:r>
          </a:p>
        </p:txBody>
      </p:sp>
      <p:pic>
        <p:nvPicPr>
          <p:cNvPr id="29" name="Icon Approval card" descr=""/>
          <p:cNvPicPr>
            <a:picLocks noChangeAspect="1"/>
          </p:cNvPicPr>
          <p:nvPr/>
        </p:nvPicPr>
        <p:blipFill>
          <a:blip r:embed="rId5"/>
          <a:stretch>
            <a:fillRect/>
          </a:stretch>
        </p:blipFill>
        <p:spPr>
          <a:xfrm>
            <a:off x="8247888" y="2564892"/>
            <a:ext cx="310896" cy="310896"/>
          </a:xfrm>
          <a:prstGeom prst="rect">
            <a:avLst/>
          </a:prstGeom>
        </p:spPr>
      </p:pic>
      <p:sp>
        <p:nvSpPr>
          <p:cNvPr id="30" name="Approval card text"/>
          <p:cNvSpPr txBox="1"/>
          <p:nvPr/>
        </p:nvSpPr>
        <p:spPr>
          <a:xfrm>
            <a:off x="4805172" y="3063240"/>
            <a:ext cx="3744468" cy="11430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 on Copilot at </a:t>
            </a:r>
            <a:r>
              <a:rPr sz="1300" b="0" lang="en-GB">
                <a:solidFill>
                  <a:schemeClr val="accent1"/>
                </a:solidFill>
                <a:hlinkClick r:id="rId6"/>
              </a:rPr>
              <a:t>github.com/settings/copilot</a:t>
            </a:r>
          </a:p>
          <a:p>
            <a:pPr algn="l" marL="182880" indent="-182880">
              <a:spcAft>
                <a:spcPts val="600"/>
              </a:spcAft>
              <a:buClr>
                <a:schemeClr val="accent1"/>
              </a:buClr>
              <a:buFont typeface="Arial"/>
              <a:buChar char="▪"/>
            </a:pPr>
            <a:r>
              <a:rPr sz="1300" b="0" lang="en-GB">
                <a:solidFill>
                  <a:schemeClr val="tx1"/>
                </a:solidFill>
              </a:rPr>
              <a:t>Copilot Student is free while you study</a:t>
            </a:r>
          </a:p>
          <a:p>
            <a:pPr algn="l" marL="182880" indent="-182880">
              <a:spcAft>
                <a:spcPts val="600"/>
              </a:spcAft>
              <a:buClr>
                <a:schemeClr val="accent1"/>
              </a:buClr>
              <a:buFont typeface="Arial"/>
              <a:buChar char="▪"/>
            </a:pPr>
            <a:r>
              <a:rPr sz="1300" b="0" lang="en-GB">
                <a:solidFill>
                  <a:schemeClr val="tx1"/>
                </a:solidFill>
              </a:rPr>
              <a:t>Until then, Copilot Free works with monthly limits</a:t>
            </a:r>
          </a:p>
        </p:txBody>
      </p:sp>
      <p:sp>
        <p:nvSpPr>
          <p:cNvPr id="31" name="Education box"/>
          <p:cNvSpPr/>
          <p:nvPr/>
        </p:nvSpPr>
        <p:spPr>
          <a:xfrm>
            <a:off x="457200" y="44805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Education" descr=""/>
          <p:cNvPicPr>
            <a:picLocks noChangeAspect="1"/>
          </p:cNvPicPr>
          <p:nvPr/>
        </p:nvPicPr>
        <p:blipFill>
          <a:blip r:embed="rId7"/>
          <a:stretch>
            <a:fillRect/>
          </a:stretch>
        </p:blipFill>
        <p:spPr>
          <a:xfrm>
            <a:off x="658368" y="4585716"/>
            <a:ext cx="384048" cy="384048"/>
          </a:xfrm>
          <a:prstGeom prst="rect">
            <a:avLst/>
          </a:prstGeom>
        </p:spPr>
      </p:pic>
      <p:sp>
        <p:nvSpPr>
          <p:cNvPr id="33" name="Education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bg1"/>
                </a:solidFill>
              </a:rPr>
              <a:t>Do this first: </a:t>
            </a:r>
            <a:r>
              <a:rPr sz="1300" b="0" lang="en-GB">
                <a:solidFill>
                  <a:schemeClr val="bg1"/>
                </a:solidFill>
              </a:rPr>
              <a:t>approval can take a few days, so apply today, then carry 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DataCamp classroom</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bg1"/>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DataCamp steps row 1"/>
          <p:cNvSpPr/>
          <p:nvPr/>
        </p:nvSpPr>
        <p:spPr>
          <a:xfrm>
            <a:off x="457200" y="178308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ataCamp steps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DataCamp steps text 1"/>
          <p:cNvSpPr txBox="1"/>
          <p:nvPr/>
        </p:nvSpPr>
        <p:spPr>
          <a:xfrm>
            <a:off x="1051560" y="178308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Open </a:t>
            </a:r>
            <a:r>
              <a:rPr sz="1300" b="0" lang="en-GB">
                <a:solidFill>
                  <a:schemeClr val="tx1"/>
                </a:solidFill>
              </a:rPr>
              <a:t>the invitation link on Canvas</a:t>
            </a:r>
          </a:p>
        </p:txBody>
      </p:sp>
      <p:sp>
        <p:nvSpPr>
          <p:cNvPr id="19" name="DataCamp steps row 2"/>
          <p:cNvSpPr/>
          <p:nvPr/>
        </p:nvSpPr>
        <p:spPr>
          <a:xfrm>
            <a:off x="457200" y="242316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ataCamp steps number 2"/>
          <p:cNvSpPr/>
          <p:nvPr/>
        </p:nvSpPr>
        <p:spPr>
          <a:xfrm>
            <a:off x="594360" y="25420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DataCamp steps text 2"/>
          <p:cNvSpPr txBox="1"/>
          <p:nvPr/>
        </p:nvSpPr>
        <p:spPr>
          <a:xfrm>
            <a:off x="1051560" y="242316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Sign up </a:t>
            </a:r>
            <a:r>
              <a:rPr sz="1300" b="0" lang="en-GB">
                <a:solidFill>
                  <a:schemeClr val="tx1"/>
                </a:solidFill>
              </a:rPr>
              <a:t>with your WU e-mail, or log in</a:t>
            </a:r>
          </a:p>
        </p:txBody>
      </p:sp>
      <p:sp>
        <p:nvSpPr>
          <p:cNvPr id="22" name="DataCamp steps row 3"/>
          <p:cNvSpPr/>
          <p:nvPr/>
        </p:nvSpPr>
        <p:spPr>
          <a:xfrm>
            <a:off x="457200" y="306324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ataCamp steps number 3"/>
          <p:cNvSpPr/>
          <p:nvPr/>
        </p:nvSpPr>
        <p:spPr>
          <a:xfrm>
            <a:off x="594360" y="3182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DataCamp steps text 3"/>
          <p:cNvSpPr txBox="1"/>
          <p:nvPr/>
        </p:nvSpPr>
        <p:spPr>
          <a:xfrm>
            <a:off x="1051560" y="306324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Join </a:t>
            </a:r>
            <a:r>
              <a:rPr sz="1300" b="0" lang="en-GB">
                <a:solidFill>
                  <a:schemeClr val="tx1"/>
                </a:solidFill>
              </a:rPr>
              <a:t>the classroom International Marketing Analytics</a:t>
            </a:r>
          </a:p>
        </p:txBody>
      </p:sp>
      <p:sp>
        <p:nvSpPr>
          <p:cNvPr id="25" name="DataCamp steps row 4"/>
          <p:cNvSpPr/>
          <p:nvPr/>
        </p:nvSpPr>
        <p:spPr>
          <a:xfrm>
            <a:off x="457200" y="370332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ataCamp steps number 4"/>
          <p:cNvSpPr/>
          <p:nvPr/>
        </p:nvSpPr>
        <p:spPr>
          <a:xfrm>
            <a:off x="594360" y="38221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7" name="DataCamp steps text 4"/>
          <p:cNvSpPr txBox="1"/>
          <p:nvPr/>
        </p:nvSpPr>
        <p:spPr>
          <a:xfrm>
            <a:off x="1051560" y="370332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Find </a:t>
            </a:r>
            <a:r>
              <a:rPr sz="1300" b="0" lang="en-GB">
                <a:solidFill>
                  <a:schemeClr val="tx1"/>
                </a:solidFill>
              </a:rPr>
              <a:t>the four assigned courses under Assignments</a:t>
            </a:r>
          </a:p>
        </p:txBody>
      </p:sp>
      <p:sp>
        <p:nvSpPr>
          <p:cNvPr id="28" name="DataCamp steps row 5"/>
          <p:cNvSpPr/>
          <p:nvPr/>
        </p:nvSpPr>
        <p:spPr>
          <a:xfrm>
            <a:off x="457200" y="4343400"/>
            <a:ext cx="512064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ataCamp steps number 5"/>
          <p:cNvSpPr/>
          <p:nvPr/>
        </p:nvSpPr>
        <p:spPr>
          <a:xfrm>
            <a:off x="594360" y="44622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0" name="DataCamp steps text 5"/>
          <p:cNvSpPr txBox="1"/>
          <p:nvPr/>
        </p:nvSpPr>
        <p:spPr>
          <a:xfrm>
            <a:off x="1051560" y="4343400"/>
            <a:ext cx="438912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Upload </a:t>
            </a:r>
            <a:r>
              <a:rPr sz="1300" b="0" lang="en-GB">
                <a:solidFill>
                  <a:schemeClr val="tx1"/>
                </a:solidFill>
              </a:rPr>
              <a:t>each certificate to Canvas by its deadline</a:t>
            </a:r>
          </a:p>
        </p:txBody>
      </p:sp>
      <p:sp>
        <p:nvSpPr>
          <p:cNvPr id="31" name="DataCamp facts"/>
          <p:cNvSpPr/>
          <p:nvPr/>
        </p:nvSpPr>
        <p:spPr>
          <a:xfrm>
            <a:off x="5760720" y="1783080"/>
            <a:ext cx="292608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DataCamp bar 1"/>
          <p:cNvSpPr/>
          <p:nvPr/>
        </p:nvSpPr>
        <p:spPr>
          <a:xfrm>
            <a:off x="5897880" y="1920240"/>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ataCamp fact 1"/>
          <p:cNvSpPr txBox="1"/>
          <p:nvPr/>
        </p:nvSpPr>
        <p:spPr>
          <a:xfrm>
            <a:off x="6126480" y="1920240"/>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6</a:t>
            </a:r>
          </a:p>
          <a:p>
            <a:pPr algn="l">
              <a:spcAft>
                <a:spcPts val="0"/>
              </a:spcAft>
            </a:pPr>
            <a:r>
              <a:rPr sz="1300" b="0" lang="en-GB">
                <a:solidFill>
                  <a:schemeClr val="tx1"/>
                </a:solidFill>
              </a:rPr>
              <a:t>months free premium access</a:t>
            </a:r>
          </a:p>
        </p:txBody>
      </p:sp>
      <p:sp>
        <p:nvSpPr>
          <p:cNvPr id="34" name="DataCamp bar 2"/>
          <p:cNvSpPr/>
          <p:nvPr/>
        </p:nvSpPr>
        <p:spPr>
          <a:xfrm>
            <a:off x="5897880" y="2898648"/>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ataCamp fact 2"/>
          <p:cNvSpPr txBox="1"/>
          <p:nvPr/>
        </p:nvSpPr>
        <p:spPr>
          <a:xfrm>
            <a:off x="6126480" y="2898648"/>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4</a:t>
            </a:r>
          </a:p>
          <a:p>
            <a:pPr algn="l">
              <a:spcAft>
                <a:spcPts val="0"/>
              </a:spcAft>
            </a:pPr>
            <a:r>
              <a:rPr sz="1300" b="0" lang="en-GB">
                <a:solidFill>
                  <a:schemeClr val="tx1"/>
                </a:solidFill>
              </a:rPr>
              <a:t>courses with certificates</a:t>
            </a:r>
          </a:p>
        </p:txBody>
      </p:sp>
      <p:sp>
        <p:nvSpPr>
          <p:cNvPr id="36" name="DataCamp bar 3"/>
          <p:cNvSpPr/>
          <p:nvPr/>
        </p:nvSpPr>
        <p:spPr>
          <a:xfrm>
            <a:off x="5897880" y="3877056"/>
            <a:ext cx="64008" cy="8229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ataCamp fact 3"/>
          <p:cNvSpPr txBox="1"/>
          <p:nvPr/>
        </p:nvSpPr>
        <p:spPr>
          <a:xfrm>
            <a:off x="6126480" y="3877056"/>
            <a:ext cx="2468880" cy="82296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20 %</a:t>
            </a:r>
          </a:p>
          <a:p>
            <a:pPr algn="l">
              <a:spcAft>
                <a:spcPts val="0"/>
              </a:spcAft>
            </a:pPr>
            <a:r>
              <a:rPr sz="1300" b="0" lang="en-GB">
                <a:solidFill>
                  <a:schemeClr val="tx1"/>
                </a:solidFill>
              </a:rPr>
              <a:t>of the final grade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4 · Python, Positron, Quarto, GitHub Desktop, the course repository</a:t>
            </a:r>
          </a:p>
        </p:txBody>
      </p:sp>
      <p:sp>
        <p:nvSpPr>
          <p:cNvPr id="3" name="Title 2"/>
          <p:cNvSpPr>
            <a:spLocks noGrp="1"/>
          </p:cNvSpPr>
          <p:nvPr>
            <p:ph type="ctrTitle"/>
          </p:nvPr>
        </p:nvSpPr>
        <p:spPr/>
        <p:txBody>
          <a:bodyPr/>
          <a:lstStyle/>
          <a:p>
            <a:r>
              <a:rPr sz="1600" lang="en-GB"/>
              <a:t>Install the tools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the pieces fit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itHub box"/>
          <p:cNvSpPr/>
          <p:nvPr/>
        </p:nvSpPr>
        <p:spPr>
          <a:xfrm>
            <a:off x="2971800" y="1234440"/>
            <a:ext cx="3200400"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cloud" descr=""/>
          <p:cNvPicPr>
            <a:picLocks noChangeAspect="1"/>
          </p:cNvPicPr>
          <p:nvPr/>
        </p:nvPicPr>
        <p:blipFill>
          <a:blip r:embed="rId3"/>
          <a:stretch>
            <a:fillRect/>
          </a:stretch>
        </p:blipFill>
        <p:spPr>
          <a:xfrm>
            <a:off x="3108960" y="1307592"/>
            <a:ext cx="402336" cy="402336"/>
          </a:xfrm>
          <a:prstGeom prst="rect">
            <a:avLst/>
          </a:prstGeom>
        </p:spPr>
      </p:pic>
      <p:sp>
        <p:nvSpPr>
          <p:cNvPr id="12" name="GitHub text"/>
          <p:cNvSpPr txBox="1"/>
          <p:nvPr/>
        </p:nvSpPr>
        <p:spPr>
          <a:xfrm>
            <a:off x="3611880" y="1234440"/>
            <a:ext cx="2514600" cy="548640"/>
          </a:xfrm>
          <a:prstGeom prst="rect">
            <a:avLst/>
          </a:prstGeom>
          <a:noFill/>
        </p:spPr>
        <p:txBody>
          <a:bodyPr wrap="square" lIns="0" rIns="0" tIns="0" bIns="0" anchor="ctr">
            <a:noAutofit/>
          </a:bodyPr>
          <a:lstStyle/>
          <a:p>
            <a:pPr algn="l">
              <a:spcAft>
                <a:spcPts val="0"/>
              </a:spcAft>
            </a:pPr>
            <a:r>
              <a:rPr sz="1300" b="1" lang="en-GB">
                <a:solidFill>
                  <a:schemeClr val="bg1"/>
                </a:solidFill>
              </a:rPr>
              <a:t>GitHub.com</a:t>
            </a:r>
          </a:p>
          <a:p>
            <a:pPr algn="l">
              <a:spcAft>
                <a:spcPts val="0"/>
              </a:spcAft>
            </a:pPr>
            <a:r>
              <a:rPr sz="1100" b="0" lang="en-GB">
                <a:solidFill>
                  <a:schemeClr val="bg1"/>
                </a:solidFill>
              </a:rPr>
              <a:t>course and group repositories</a:t>
            </a:r>
          </a:p>
        </p:txBody>
      </p:sp>
      <p:sp>
        <p:nvSpPr>
          <p:cNvPr id="13" name="Sync arrow"/>
          <p:cNvSpPr/>
          <p:nvPr/>
        </p:nvSpPr>
        <p:spPr>
          <a:xfrm>
            <a:off x="4407408" y="1801368"/>
            <a:ext cx="329184" cy="457200"/>
          </a:xfrm>
          <a:prstGeom prst="upDownArrow">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aptop area"/>
          <p:cNvSpPr/>
          <p:nvPr/>
        </p:nvSpPr>
        <p:spPr>
          <a:xfrm>
            <a:off x="457200" y="2286000"/>
            <a:ext cx="822960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ptop label"/>
          <p:cNvSpPr txBox="1"/>
          <p:nvPr/>
        </p:nvSpPr>
        <p:spPr>
          <a:xfrm>
            <a:off x="594360" y="2331720"/>
            <a:ext cx="27432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Your laptop</a:t>
            </a:r>
          </a:p>
        </p:txBody>
      </p:sp>
      <p:sp>
        <p:nvSpPr>
          <p:cNvPr id="16" name="Laptop box 1"/>
          <p:cNvSpPr/>
          <p:nvPr/>
        </p:nvSpPr>
        <p:spPr>
          <a:xfrm>
            <a:off x="68580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laptop 1" descr=""/>
          <p:cNvPicPr>
            <a:picLocks noChangeAspect="1"/>
          </p:cNvPicPr>
          <p:nvPr/>
        </p:nvPicPr>
        <p:blipFill>
          <a:blip r:embed="rId4"/>
          <a:stretch>
            <a:fillRect/>
          </a:stretch>
        </p:blipFill>
        <p:spPr>
          <a:xfrm>
            <a:off x="795528" y="2880360"/>
            <a:ext cx="411480" cy="411480"/>
          </a:xfrm>
          <a:prstGeom prst="rect">
            <a:avLst/>
          </a:prstGeom>
        </p:spPr>
      </p:pic>
      <p:sp>
        <p:nvSpPr>
          <p:cNvPr id="18" name="Laptop text 1"/>
          <p:cNvSpPr txBox="1"/>
          <p:nvPr/>
        </p:nvSpPr>
        <p:spPr>
          <a:xfrm>
            <a:off x="132588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GitHub Desktop</a:t>
            </a:r>
          </a:p>
          <a:p>
            <a:pPr algn="l">
              <a:spcAft>
                <a:spcPts val="0"/>
              </a:spcAft>
            </a:pPr>
            <a:r>
              <a:rPr sz="1100" b="0" lang="en-GB">
                <a:solidFill>
                  <a:schemeClr val="tx1"/>
                </a:solidFill>
              </a:rPr>
              <a:t>clone, pull and push</a:t>
            </a:r>
          </a:p>
        </p:txBody>
      </p:sp>
      <p:sp>
        <p:nvSpPr>
          <p:cNvPr id="19" name="Laptop box 2"/>
          <p:cNvSpPr/>
          <p:nvPr/>
        </p:nvSpPr>
        <p:spPr>
          <a:xfrm>
            <a:off x="338328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laptop 2" descr=""/>
          <p:cNvPicPr>
            <a:picLocks noChangeAspect="1"/>
          </p:cNvPicPr>
          <p:nvPr/>
        </p:nvPicPr>
        <p:blipFill>
          <a:blip r:embed="rId5"/>
          <a:stretch>
            <a:fillRect/>
          </a:stretch>
        </p:blipFill>
        <p:spPr>
          <a:xfrm>
            <a:off x="3493008" y="2880360"/>
            <a:ext cx="411480" cy="411480"/>
          </a:xfrm>
          <a:prstGeom prst="rect">
            <a:avLst/>
          </a:prstGeom>
        </p:spPr>
      </p:pic>
      <p:sp>
        <p:nvSpPr>
          <p:cNvPr id="21" name="Laptop text 2"/>
          <p:cNvSpPr txBox="1"/>
          <p:nvPr/>
        </p:nvSpPr>
        <p:spPr>
          <a:xfrm>
            <a:off x="402336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Course folder</a:t>
            </a:r>
          </a:p>
          <a:p>
            <a:pPr algn="l">
              <a:spcAft>
                <a:spcPts val="0"/>
              </a:spcAft>
            </a:pPr>
            <a:r>
              <a:rPr sz="1100" b="0" lang="en-GB">
                <a:solidFill>
                  <a:schemeClr val="tx1"/>
                </a:solidFill>
              </a:rPr>
              <a:t>data, code, requirements.txt</a:t>
            </a:r>
          </a:p>
        </p:txBody>
      </p:sp>
      <p:sp>
        <p:nvSpPr>
          <p:cNvPr id="22" name="Laptop box 3"/>
          <p:cNvSpPr/>
          <p:nvPr/>
        </p:nvSpPr>
        <p:spPr>
          <a:xfrm>
            <a:off x="6080760" y="269748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laptop 3" descr=""/>
          <p:cNvPicPr>
            <a:picLocks noChangeAspect="1"/>
          </p:cNvPicPr>
          <p:nvPr/>
        </p:nvPicPr>
        <p:blipFill>
          <a:blip r:embed="rId6"/>
          <a:stretch>
            <a:fillRect/>
          </a:stretch>
        </p:blipFill>
        <p:spPr>
          <a:xfrm>
            <a:off x="6190488" y="2880360"/>
            <a:ext cx="411480" cy="411480"/>
          </a:xfrm>
          <a:prstGeom prst="rect">
            <a:avLst/>
          </a:prstGeom>
        </p:spPr>
      </p:pic>
      <p:sp>
        <p:nvSpPr>
          <p:cNvPr id="24" name="Laptop text 3"/>
          <p:cNvSpPr txBox="1"/>
          <p:nvPr/>
        </p:nvSpPr>
        <p:spPr>
          <a:xfrm>
            <a:off x="6720840" y="269748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Positron</a:t>
            </a:r>
          </a:p>
          <a:p>
            <a:pPr algn="l">
              <a:spcAft>
                <a:spcPts val="0"/>
              </a:spcAft>
            </a:pPr>
            <a:r>
              <a:rPr sz="1100" b="0" lang="en-GB">
                <a:solidFill>
                  <a:schemeClr val="tx1"/>
                </a:solidFill>
              </a:rPr>
              <a:t>where you write and run code</a:t>
            </a:r>
          </a:p>
        </p:txBody>
      </p:sp>
      <p:sp>
        <p:nvSpPr>
          <p:cNvPr id="25" name="Laptop arrow 1"/>
          <p:cNvSpPr txBox="1"/>
          <p:nvPr/>
        </p:nvSpPr>
        <p:spPr>
          <a:xfrm>
            <a:off x="306324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6" name="Laptop arrow 2"/>
          <p:cNvSpPr txBox="1"/>
          <p:nvPr/>
        </p:nvSpPr>
        <p:spPr>
          <a:xfrm>
            <a:off x="5760720" y="2697480"/>
            <a:ext cx="320040" cy="777240"/>
          </a:xfrm>
          <a:prstGeom prst="rect">
            <a:avLst/>
          </a:prstGeom>
          <a:noFill/>
        </p:spPr>
        <p:txBody>
          <a:bodyPr wrap="square" lIns="0" rIns="0" tIns="0" bIns="0" anchor="ctr">
            <a:noAutofit/>
          </a:bodyPr>
          <a:lstStyle/>
          <a:p>
            <a:pPr algn="ctr">
              <a:spcAft>
                <a:spcPts val="400"/>
              </a:spcAft>
            </a:pPr>
            <a:r>
              <a:rPr sz="2200" b="1" lang="en-GB">
                <a:solidFill>
                  <a:schemeClr val="accent1"/>
                </a:solidFill>
              </a:rPr>
              <a:t>↔</a:t>
            </a:r>
          </a:p>
        </p:txBody>
      </p:sp>
      <p:sp>
        <p:nvSpPr>
          <p:cNvPr id="27" name="Inside label"/>
          <p:cNvSpPr txBox="1"/>
          <p:nvPr/>
        </p:nvSpPr>
        <p:spPr>
          <a:xfrm>
            <a:off x="685800" y="3611880"/>
            <a:ext cx="7772400" cy="274320"/>
          </a:xfrm>
          <a:prstGeom prst="rect">
            <a:avLst/>
          </a:prstGeom>
          <a:noFill/>
        </p:spPr>
        <p:txBody>
          <a:bodyPr wrap="square" lIns="0" rIns="0" tIns="0" bIns="0" anchor="t">
            <a:noAutofit/>
          </a:bodyPr>
          <a:lstStyle/>
          <a:p>
            <a:pPr algn="l">
              <a:spcAft>
                <a:spcPts val="400"/>
              </a:spcAft>
            </a:pPr>
            <a:r>
              <a:rPr sz="1200" b="1" lang="en-GB">
                <a:solidFill>
                  <a:schemeClr val="tx2"/>
                </a:solidFill>
              </a:rPr>
              <a:t>Inside Positron you use</a:t>
            </a:r>
          </a:p>
        </p:txBody>
      </p:sp>
      <p:sp>
        <p:nvSpPr>
          <p:cNvPr id="28" name="Inside box 1"/>
          <p:cNvSpPr/>
          <p:nvPr/>
        </p:nvSpPr>
        <p:spPr>
          <a:xfrm>
            <a:off x="68580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inside 1" descr=""/>
          <p:cNvPicPr>
            <a:picLocks noChangeAspect="1"/>
          </p:cNvPicPr>
          <p:nvPr/>
        </p:nvPicPr>
        <p:blipFill>
          <a:blip r:embed="rId7"/>
          <a:stretch>
            <a:fillRect/>
          </a:stretch>
        </p:blipFill>
        <p:spPr>
          <a:xfrm>
            <a:off x="795528" y="4114800"/>
            <a:ext cx="411480" cy="411480"/>
          </a:xfrm>
          <a:prstGeom prst="rect">
            <a:avLst/>
          </a:prstGeom>
        </p:spPr>
      </p:pic>
      <p:sp>
        <p:nvSpPr>
          <p:cNvPr id="30" name="Inside text 1"/>
          <p:cNvSpPr txBox="1"/>
          <p:nvPr/>
        </p:nvSpPr>
        <p:spPr>
          <a:xfrm>
            <a:off x="132588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Python + packages</a:t>
            </a:r>
          </a:p>
          <a:p>
            <a:pPr algn="l">
              <a:spcAft>
                <a:spcPts val="0"/>
              </a:spcAft>
            </a:pPr>
            <a:r>
              <a:rPr sz="1100" b="0" lang="en-GB">
                <a:solidFill>
                  <a:schemeClr val="tx1"/>
                </a:solidFill>
              </a:rPr>
              <a:t>in a private .venv folder</a:t>
            </a:r>
          </a:p>
        </p:txBody>
      </p:sp>
      <p:sp>
        <p:nvSpPr>
          <p:cNvPr id="31" name="Inside box 2"/>
          <p:cNvSpPr/>
          <p:nvPr/>
        </p:nvSpPr>
        <p:spPr>
          <a:xfrm>
            <a:off x="338328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inside 2" descr=""/>
          <p:cNvPicPr>
            <a:picLocks noChangeAspect="1"/>
          </p:cNvPicPr>
          <p:nvPr/>
        </p:nvPicPr>
        <p:blipFill>
          <a:blip r:embed="rId8"/>
          <a:stretch>
            <a:fillRect/>
          </a:stretch>
        </p:blipFill>
        <p:spPr>
          <a:xfrm>
            <a:off x="3493008" y="4114800"/>
            <a:ext cx="411480" cy="411480"/>
          </a:xfrm>
          <a:prstGeom prst="rect">
            <a:avLst/>
          </a:prstGeom>
        </p:spPr>
      </p:pic>
      <p:sp>
        <p:nvSpPr>
          <p:cNvPr id="33" name="Inside text 2"/>
          <p:cNvSpPr txBox="1"/>
          <p:nvPr/>
        </p:nvSpPr>
        <p:spPr>
          <a:xfrm>
            <a:off x="402336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Quarto</a:t>
            </a:r>
          </a:p>
          <a:p>
            <a:pPr algn="l">
              <a:spcAft>
                <a:spcPts val="0"/>
              </a:spcAft>
            </a:pPr>
            <a:r>
              <a:rPr sz="1100" b="0" lang="en-GB">
                <a:solidFill>
                  <a:schemeClr val="tx1"/>
                </a:solidFill>
              </a:rPr>
              <a:t>turns .qmd files into reports</a:t>
            </a:r>
          </a:p>
        </p:txBody>
      </p:sp>
      <p:sp>
        <p:nvSpPr>
          <p:cNvPr id="34" name="Inside box 3"/>
          <p:cNvSpPr/>
          <p:nvPr/>
        </p:nvSpPr>
        <p:spPr>
          <a:xfrm>
            <a:off x="6080760" y="3931920"/>
            <a:ext cx="237744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inside 3" descr=""/>
          <p:cNvPicPr>
            <a:picLocks noChangeAspect="1"/>
          </p:cNvPicPr>
          <p:nvPr/>
        </p:nvPicPr>
        <p:blipFill>
          <a:blip r:embed="rId9"/>
          <a:stretch>
            <a:fillRect/>
          </a:stretch>
        </p:blipFill>
        <p:spPr>
          <a:xfrm>
            <a:off x="6190488" y="4114800"/>
            <a:ext cx="411480" cy="411480"/>
          </a:xfrm>
          <a:prstGeom prst="rect">
            <a:avLst/>
          </a:prstGeom>
        </p:spPr>
      </p:pic>
      <p:sp>
        <p:nvSpPr>
          <p:cNvPr id="36" name="Inside text 3"/>
          <p:cNvSpPr txBox="1"/>
          <p:nvPr/>
        </p:nvSpPr>
        <p:spPr>
          <a:xfrm>
            <a:off x="6720840" y="3931920"/>
            <a:ext cx="1645920" cy="777240"/>
          </a:xfrm>
          <a:prstGeom prst="rect">
            <a:avLst/>
          </a:prstGeom>
          <a:noFill/>
        </p:spPr>
        <p:txBody>
          <a:bodyPr wrap="square" lIns="0" rIns="0" tIns="0" bIns="0" anchor="ctr">
            <a:noAutofit/>
          </a:bodyPr>
          <a:lstStyle/>
          <a:p>
            <a:pPr algn="l">
              <a:spcAft>
                <a:spcPts val="0"/>
              </a:spcAft>
            </a:pPr>
            <a:r>
              <a:rPr sz="1300" b="1" lang="en-GB">
                <a:solidFill>
                  <a:schemeClr val="tx2"/>
                </a:solidFill>
              </a:rPr>
              <a:t>AI assistant</a:t>
            </a:r>
          </a:p>
          <a:p>
            <a:pPr algn="l">
              <a:spcAft>
                <a:spcPts val="0"/>
              </a:spcAft>
            </a:pPr>
            <a:r>
              <a:rPr sz="1100" b="0" lang="en-GB">
                <a:solidFill>
                  <a:schemeClr val="tx1"/>
                </a:solidFill>
              </a:rPr>
              <a:t>writes and explains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download and install Python 3.13.16</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Windows card body"/>
          <p:cNvSpPr/>
          <p:nvPr/>
        </p:nvSpPr>
        <p:spPr>
          <a:xfrm>
            <a:off x="45720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indows card header"/>
          <p:cNvSpPr/>
          <p:nvPr/>
        </p:nvSpPr>
        <p:spPr>
          <a:xfrm>
            <a:off x="45720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indows card heading"/>
          <p:cNvSpPr txBox="1"/>
          <p:nvPr/>
        </p:nvSpPr>
        <p:spPr>
          <a:xfrm>
            <a:off x="59436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Windows</a:t>
            </a:r>
          </a:p>
        </p:txBody>
      </p:sp>
      <p:pic>
        <p:nvPicPr>
          <p:cNvPr id="19" name="Icon Windows card" descr=""/>
          <p:cNvPicPr>
            <a:picLocks noChangeAspect="1"/>
          </p:cNvPicPr>
          <p:nvPr/>
        </p:nvPicPr>
        <p:blipFill>
          <a:blip r:embed="rId3"/>
          <a:stretch>
            <a:fillRect/>
          </a:stretch>
        </p:blipFill>
        <p:spPr>
          <a:xfrm>
            <a:off x="4064508" y="1833372"/>
            <a:ext cx="310896" cy="310896"/>
          </a:xfrm>
          <a:prstGeom prst="rect">
            <a:avLst/>
          </a:prstGeom>
        </p:spPr>
      </p:pic>
      <p:sp>
        <p:nvSpPr>
          <p:cNvPr id="20" name="Windows card text"/>
          <p:cNvSpPr txBox="1"/>
          <p:nvPr/>
        </p:nvSpPr>
        <p:spPr>
          <a:xfrm>
            <a:off x="62179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Windows installer (64-bit)</a:t>
            </a:r>
          </a:p>
          <a:p>
            <a:pPr algn="l" marL="182880" indent="-182880">
              <a:spcAft>
                <a:spcPts val="600"/>
              </a:spcAft>
              <a:buClr>
                <a:schemeClr val="accent1"/>
              </a:buClr>
              <a:buFont typeface="Arial"/>
              <a:buChar char="▪"/>
            </a:pPr>
            <a:r>
              <a:rPr sz="1300" b="0" lang="en-GB">
                <a:solidFill>
                  <a:schemeClr val="tx1"/>
                </a:solidFill>
              </a:rPr>
              <a:t>Run the downloaded .exe</a:t>
            </a:r>
          </a:p>
          <a:p>
            <a:pPr algn="l" marL="182880" indent="-182880">
              <a:spcAft>
                <a:spcPts val="600"/>
              </a:spcAft>
              <a:buClr>
                <a:schemeClr val="accent1"/>
              </a:buClr>
              <a:buFont typeface="Arial"/>
              <a:buChar char="▪"/>
            </a:pPr>
            <a:r>
              <a:rPr sz="1300" b="0" lang="en-GB">
                <a:solidFill>
                  <a:schemeClr val="tx1"/>
                </a:solidFill>
              </a:rPr>
              <a:t>Tick “Add python.exe to PATH”</a:t>
            </a:r>
          </a:p>
          <a:p>
            <a:pPr algn="l" marL="182880" indent="-182880">
              <a:spcAft>
                <a:spcPts val="600"/>
              </a:spcAft>
              <a:buClr>
                <a:schemeClr val="accent1"/>
              </a:buClr>
              <a:buFont typeface="Arial"/>
              <a:buChar char="▪"/>
            </a:pPr>
            <a:r>
              <a:rPr sz="1300" b="0" lang="en-GB">
                <a:solidFill>
                  <a:schemeClr val="tx1"/>
                </a:solidFill>
              </a:rPr>
              <a:t>Click Install Now</a:t>
            </a:r>
          </a:p>
        </p:txBody>
      </p:sp>
      <p:sp>
        <p:nvSpPr>
          <p:cNvPr id="21" name="Windows check box"/>
          <p:cNvSpPr/>
          <p:nvPr/>
        </p:nvSpPr>
        <p:spPr>
          <a:xfrm>
            <a:off x="45720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indows check code"/>
          <p:cNvSpPr txBox="1"/>
          <p:nvPr/>
        </p:nvSpPr>
        <p:spPr>
          <a:xfrm>
            <a:off x="59436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 -3.13 --version</a:t>
            </a:r>
          </a:p>
        </p:txBody>
      </p:sp>
      <p:sp>
        <p:nvSpPr>
          <p:cNvPr id="23" name="macOS card body"/>
          <p:cNvSpPr/>
          <p:nvPr/>
        </p:nvSpPr>
        <p:spPr>
          <a:xfrm>
            <a:off x="4640580" y="2194560"/>
            <a:ext cx="404622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acOS card header"/>
          <p:cNvSpPr/>
          <p:nvPr/>
        </p:nvSpPr>
        <p:spPr>
          <a:xfrm>
            <a:off x="4640580" y="178308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acOS card heading"/>
          <p:cNvSpPr txBox="1"/>
          <p:nvPr/>
        </p:nvSpPr>
        <p:spPr>
          <a:xfrm>
            <a:off x="4777740" y="178308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macOS</a:t>
            </a:r>
          </a:p>
        </p:txBody>
      </p:sp>
      <p:pic>
        <p:nvPicPr>
          <p:cNvPr id="26" name="Icon macOS card" descr=""/>
          <p:cNvPicPr>
            <a:picLocks noChangeAspect="1"/>
          </p:cNvPicPr>
          <p:nvPr/>
        </p:nvPicPr>
        <p:blipFill>
          <a:blip r:embed="rId4"/>
          <a:stretch>
            <a:fillRect/>
          </a:stretch>
        </p:blipFill>
        <p:spPr>
          <a:xfrm>
            <a:off x="8247888" y="1833372"/>
            <a:ext cx="310896" cy="310896"/>
          </a:xfrm>
          <a:prstGeom prst="rect">
            <a:avLst/>
          </a:prstGeom>
        </p:spPr>
      </p:pic>
      <p:sp>
        <p:nvSpPr>
          <p:cNvPr id="27" name="macOS card text"/>
          <p:cNvSpPr txBox="1"/>
          <p:nvPr/>
        </p:nvSpPr>
        <p:spPr>
          <a:xfrm>
            <a:off x="4805172" y="2331720"/>
            <a:ext cx="374446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1" lang="en-GB">
                <a:solidFill>
                  <a:schemeClr val="tx2"/>
                </a:solidFill>
              </a:rPr>
              <a:t>Download: </a:t>
            </a:r>
            <a:r>
              <a:rPr sz="1300" b="0" lang="en-GB">
                <a:solidFill>
                  <a:schemeClr val="tx1"/>
                </a:solidFill>
              </a:rPr>
              <a:t>macOS 64-bit universal2 installer</a:t>
            </a:r>
          </a:p>
          <a:p>
            <a:pPr algn="l" marL="182880" indent="-182880">
              <a:spcAft>
                <a:spcPts val="600"/>
              </a:spcAft>
              <a:buClr>
                <a:schemeClr val="accent1"/>
              </a:buClr>
              <a:buFont typeface="Arial"/>
              <a:buChar char="▪"/>
            </a:pPr>
            <a:r>
              <a:rPr sz="1300" b="0" lang="en-GB">
                <a:solidFill>
                  <a:schemeClr val="tx1"/>
                </a:solidFill>
              </a:rPr>
              <a:t>Open the downloaded .pkg</a:t>
            </a:r>
          </a:p>
          <a:p>
            <a:pPr algn="l" marL="182880" indent="-182880">
              <a:spcAft>
                <a:spcPts val="600"/>
              </a:spcAft>
              <a:buClr>
                <a:schemeClr val="accent1"/>
              </a:buClr>
              <a:buFont typeface="Arial"/>
              <a:buChar char="▪"/>
            </a:pPr>
            <a:r>
              <a:rPr sz="1300" b="0" lang="en-GB">
                <a:solidFill>
                  <a:schemeClr val="tx1"/>
                </a:solidFill>
              </a:rPr>
              <a:t>Click through the installer</a:t>
            </a:r>
          </a:p>
          <a:p>
            <a:pPr algn="l" marL="182880" indent="-182880">
              <a:spcAft>
                <a:spcPts val="600"/>
              </a:spcAft>
              <a:buClr>
                <a:schemeClr val="accent1"/>
              </a:buClr>
              <a:buFont typeface="Arial"/>
              <a:buChar char="▪"/>
            </a:pPr>
            <a:r>
              <a:rPr sz="1300" b="0" lang="en-GB">
                <a:solidFill>
                  <a:schemeClr val="tx1"/>
                </a:solidFill>
              </a:rPr>
              <a:t>Works on Apple silicon and Intel</a:t>
            </a:r>
          </a:p>
        </p:txBody>
      </p:sp>
      <p:sp>
        <p:nvSpPr>
          <p:cNvPr id="28" name="macOS check box"/>
          <p:cNvSpPr/>
          <p:nvPr/>
        </p:nvSpPr>
        <p:spPr>
          <a:xfrm>
            <a:off x="4640580" y="3749040"/>
            <a:ext cx="4046220" cy="56692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acOS check code"/>
          <p:cNvSpPr txBox="1"/>
          <p:nvPr/>
        </p:nvSpPr>
        <p:spPr>
          <a:xfrm>
            <a:off x="4777740" y="3840480"/>
            <a:ext cx="3771900" cy="384048"/>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python3.13 --version</a:t>
            </a:r>
          </a:p>
        </p:txBody>
      </p:sp>
      <p:sp>
        <p:nvSpPr>
          <p:cNvPr id="30" name="Python link box"/>
          <p:cNvSpPr/>
          <p:nvPr/>
        </p:nvSpPr>
        <p:spPr>
          <a:xfrm>
            <a:off x="457200" y="4453128"/>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download" descr=""/>
          <p:cNvPicPr>
            <a:picLocks noChangeAspect="1"/>
          </p:cNvPicPr>
          <p:nvPr/>
        </p:nvPicPr>
        <p:blipFill>
          <a:blip r:embed="rId5"/>
          <a:stretch>
            <a:fillRect/>
          </a:stretch>
        </p:blipFill>
        <p:spPr>
          <a:xfrm>
            <a:off x="658368" y="4562856"/>
            <a:ext cx="384048" cy="384048"/>
          </a:xfrm>
          <a:prstGeom prst="rect">
            <a:avLst/>
          </a:prstGeom>
        </p:spPr>
      </p:pic>
      <p:sp>
        <p:nvSpPr>
          <p:cNvPr id="32" name="Python link text"/>
          <p:cNvSpPr txBox="1"/>
          <p:nvPr/>
        </p:nvSpPr>
        <p:spPr>
          <a:xfrm>
            <a:off x="1234440" y="4453128"/>
            <a:ext cx="7315200" cy="621792"/>
          </a:xfrm>
          <a:prstGeom prst="rect">
            <a:avLst/>
          </a:prstGeom>
          <a:noFill/>
        </p:spPr>
        <p:txBody>
          <a:bodyPr wrap="square" lIns="0" rIns="0" tIns="0" bIns="0" anchor="ctr">
            <a:noAutofit/>
          </a:bodyPr>
          <a:lstStyle/>
          <a:p>
            <a:pPr algn="l">
              <a:spcAft>
                <a:spcPts val="0"/>
              </a:spcAft>
            </a:pPr>
            <a:r>
              <a:rPr sz="1300" b="1" lang="en-GB">
                <a:solidFill>
                  <a:schemeClr val="tx2"/>
                </a:solidFill>
              </a:rPr>
              <a:t>Both installers: </a:t>
            </a:r>
            <a:r>
              <a:rPr sz="1300" b="0" lang="en-GB">
                <a:solidFill>
                  <a:schemeClr val="accent1"/>
                </a:solidFill>
                <a:hlinkClick r:id="rId6"/>
              </a:rPr>
              <a:t>python.org/downloads/release/python-31316</a:t>
            </a:r>
          </a:p>
          <a:p>
            <a:pPr algn="l">
              <a:spcAft>
                <a:spcPts val="0"/>
              </a:spcAft>
            </a:pPr>
            <a:r>
              <a:rPr sz="1200" b="0" lang="en-GB">
                <a:solidFill>
                  <a:schemeClr val="tx1"/>
                </a:solidFill>
              </a:rPr>
              <a:t>Not the yellow “Download Python 3.14” button: the course needs 3.13.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install Positron, Quarto and GitHub Desktop</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Tool card 1 body"/>
          <p:cNvSpPr/>
          <p:nvPr/>
        </p:nvSpPr>
        <p:spPr>
          <a:xfrm>
            <a:off x="45720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ol card 1 header"/>
          <p:cNvSpPr/>
          <p:nvPr/>
        </p:nvSpPr>
        <p:spPr>
          <a:xfrm>
            <a:off x="45720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ool card 1 heading"/>
          <p:cNvSpPr txBox="1"/>
          <p:nvPr/>
        </p:nvSpPr>
        <p:spPr>
          <a:xfrm>
            <a:off x="59436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19" name="Icon Tool card 1" descr=""/>
          <p:cNvPicPr>
            <a:picLocks noChangeAspect="1"/>
          </p:cNvPicPr>
          <p:nvPr/>
        </p:nvPicPr>
        <p:blipFill>
          <a:blip r:embed="rId3"/>
          <a:stretch>
            <a:fillRect/>
          </a:stretch>
        </p:blipFill>
        <p:spPr>
          <a:xfrm>
            <a:off x="2670048" y="1833372"/>
            <a:ext cx="310896" cy="310896"/>
          </a:xfrm>
          <a:prstGeom prst="rect">
            <a:avLst/>
          </a:prstGeom>
        </p:spPr>
      </p:pic>
      <p:sp>
        <p:nvSpPr>
          <p:cNvPr id="20" name="Tool card 1 text"/>
          <p:cNvSpPr txBox="1"/>
          <p:nvPr/>
        </p:nvSpPr>
        <p:spPr>
          <a:xfrm>
            <a:off x="62179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editor for code, data and charts</a:t>
            </a:r>
          </a:p>
          <a:p>
            <a:pPr algn="l" marL="182880" indent="-182880">
              <a:spcAft>
                <a:spcPts val="600"/>
              </a:spcAft>
              <a:buClr>
                <a:schemeClr val="accent1"/>
              </a:buClr>
              <a:buFont typeface="Arial"/>
              <a:buChar char="▪"/>
            </a:pPr>
            <a:r>
              <a:rPr sz="1300" b="0" lang="en-GB">
                <a:solidFill>
                  <a:schemeClr val="tx1"/>
                </a:solidFill>
              </a:rPr>
              <a:t>Version 2026.09, free</a:t>
            </a:r>
          </a:p>
          <a:p>
            <a:pPr algn="l" marL="182880" indent="-182880">
              <a:spcAft>
                <a:spcPts val="600"/>
              </a:spcAft>
              <a:buClr>
                <a:schemeClr val="accent1"/>
              </a:buClr>
              <a:buFont typeface="Arial"/>
              <a:buChar char="▪"/>
            </a:pPr>
            <a:r>
              <a:rPr sz="1300" b="0" lang="en-GB">
                <a:solidFill>
                  <a:schemeClr val="tx1"/>
                </a:solidFill>
              </a:rPr>
              <a:t>Welcome page checks that Python is ready</a:t>
            </a:r>
          </a:p>
        </p:txBody>
      </p:sp>
      <p:sp>
        <p:nvSpPr>
          <p:cNvPr id="21" name="Tool link 1"/>
          <p:cNvSpPr txBox="1"/>
          <p:nvPr/>
        </p:nvSpPr>
        <p:spPr>
          <a:xfrm>
            <a:off x="62179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4"/>
              </a:rPr>
              <a:t>positron.posit.co/download</a:t>
            </a:r>
          </a:p>
        </p:txBody>
      </p:sp>
      <p:sp>
        <p:nvSpPr>
          <p:cNvPr id="22" name="Tool card 2 body"/>
          <p:cNvSpPr/>
          <p:nvPr/>
        </p:nvSpPr>
        <p:spPr>
          <a:xfrm>
            <a:off x="324612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ol card 2 header"/>
          <p:cNvSpPr/>
          <p:nvPr/>
        </p:nvSpPr>
        <p:spPr>
          <a:xfrm>
            <a:off x="324612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ool card 2 heading"/>
          <p:cNvSpPr txBox="1"/>
          <p:nvPr/>
        </p:nvSpPr>
        <p:spPr>
          <a:xfrm>
            <a:off x="338328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Quarto</a:t>
            </a:r>
          </a:p>
        </p:txBody>
      </p:sp>
      <p:pic>
        <p:nvPicPr>
          <p:cNvPr id="25" name="Icon Tool card 2" descr=""/>
          <p:cNvPicPr>
            <a:picLocks noChangeAspect="1"/>
          </p:cNvPicPr>
          <p:nvPr/>
        </p:nvPicPr>
        <p:blipFill>
          <a:blip r:embed="rId5"/>
          <a:stretch>
            <a:fillRect/>
          </a:stretch>
        </p:blipFill>
        <p:spPr>
          <a:xfrm>
            <a:off x="5458968" y="1833372"/>
            <a:ext cx="310896" cy="310896"/>
          </a:xfrm>
          <a:prstGeom prst="rect">
            <a:avLst/>
          </a:prstGeom>
        </p:spPr>
      </p:pic>
      <p:sp>
        <p:nvSpPr>
          <p:cNvPr id="26" name="Tool card 2 text"/>
          <p:cNvSpPr txBox="1"/>
          <p:nvPr/>
        </p:nvSpPr>
        <p:spPr>
          <a:xfrm>
            <a:off x="341071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Turns text and code into reports and slides</a:t>
            </a:r>
          </a:p>
          <a:p>
            <a:pPr algn="l" marL="182880" indent="-182880">
              <a:spcAft>
                <a:spcPts val="600"/>
              </a:spcAft>
              <a:buClr>
                <a:schemeClr val="accent1"/>
              </a:buClr>
              <a:buFont typeface="Arial"/>
              <a:buChar char="▪"/>
            </a:pPr>
            <a:r>
              <a:rPr sz="1300" b="0" lang="en-GB">
                <a:solidFill>
                  <a:schemeClr val="tx1"/>
                </a:solidFill>
              </a:rPr>
              <a:t>Check in a terminal: quarto --version</a:t>
            </a:r>
          </a:p>
        </p:txBody>
      </p:sp>
      <p:sp>
        <p:nvSpPr>
          <p:cNvPr id="27" name="Tool link 2"/>
          <p:cNvSpPr txBox="1"/>
          <p:nvPr/>
        </p:nvSpPr>
        <p:spPr>
          <a:xfrm>
            <a:off x="341071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6"/>
              </a:rPr>
              <a:t>quarto.org/docs/get-started</a:t>
            </a:r>
          </a:p>
        </p:txBody>
      </p:sp>
      <p:sp>
        <p:nvSpPr>
          <p:cNvPr id="28" name="Tool card 3 body"/>
          <p:cNvSpPr/>
          <p:nvPr/>
        </p:nvSpPr>
        <p:spPr>
          <a:xfrm>
            <a:off x="6035040" y="2194560"/>
            <a:ext cx="2651760"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ool card 3 header"/>
          <p:cNvSpPr/>
          <p:nvPr/>
        </p:nvSpPr>
        <p:spPr>
          <a:xfrm>
            <a:off x="6035040" y="178308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ool card 3 heading"/>
          <p:cNvSpPr txBox="1"/>
          <p:nvPr/>
        </p:nvSpPr>
        <p:spPr>
          <a:xfrm>
            <a:off x="6172200" y="178308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31" name="Icon Tool card 3" descr=""/>
          <p:cNvPicPr>
            <a:picLocks noChangeAspect="1"/>
          </p:cNvPicPr>
          <p:nvPr/>
        </p:nvPicPr>
        <p:blipFill>
          <a:blip r:embed="rId7"/>
          <a:stretch>
            <a:fillRect/>
          </a:stretch>
        </p:blipFill>
        <p:spPr>
          <a:xfrm>
            <a:off x="8247888" y="1833372"/>
            <a:ext cx="310896" cy="310896"/>
          </a:xfrm>
          <a:prstGeom prst="rect">
            <a:avLst/>
          </a:prstGeom>
        </p:spPr>
      </p:pic>
      <p:sp>
        <p:nvSpPr>
          <p:cNvPr id="32" name="Tool card 3 text"/>
          <p:cNvSpPr txBox="1"/>
          <p:nvPr/>
        </p:nvSpPr>
        <p:spPr>
          <a:xfrm>
            <a:off x="6199632" y="2331720"/>
            <a:ext cx="2350008" cy="20574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Clone, pull and push with clicks</a:t>
            </a:r>
          </a:p>
          <a:p>
            <a:pPr algn="l" marL="182880" indent="-182880">
              <a:spcAft>
                <a:spcPts val="600"/>
              </a:spcAft>
              <a:buClr>
                <a:schemeClr val="accent1"/>
              </a:buClr>
              <a:buFont typeface="Arial"/>
              <a:buChar char="▪"/>
            </a:pPr>
            <a:r>
              <a:rPr sz="1300" b="0" lang="en-GB">
                <a:solidFill>
                  <a:schemeClr val="tx1"/>
                </a:solidFill>
              </a:rPr>
              <a:t>Installs Git for you</a:t>
            </a:r>
          </a:p>
          <a:p>
            <a:pPr algn="l" marL="182880" indent="-182880">
              <a:spcAft>
                <a:spcPts val="600"/>
              </a:spcAft>
              <a:buClr>
                <a:schemeClr val="accent1"/>
              </a:buClr>
              <a:buFont typeface="Arial"/>
              <a:buChar char="▪"/>
            </a:pPr>
            <a:r>
              <a:rPr sz="1300" b="0" lang="en-GB">
                <a:solidFill>
                  <a:schemeClr val="tx1"/>
                </a:solidFill>
              </a:rPr>
              <a:t>Sign in with your GitHub account</a:t>
            </a:r>
          </a:p>
        </p:txBody>
      </p:sp>
      <p:sp>
        <p:nvSpPr>
          <p:cNvPr id="33" name="Tool link 3"/>
          <p:cNvSpPr txBox="1"/>
          <p:nvPr/>
        </p:nvSpPr>
        <p:spPr>
          <a:xfrm>
            <a:off x="6199632" y="4069080"/>
            <a:ext cx="2350008" cy="320040"/>
          </a:xfrm>
          <a:prstGeom prst="rect">
            <a:avLst/>
          </a:prstGeom>
          <a:noFill/>
        </p:spPr>
        <p:txBody>
          <a:bodyPr wrap="square" lIns="0" rIns="0" tIns="0" bIns="0" anchor="b">
            <a:noAutofit/>
          </a:bodyPr>
          <a:lstStyle/>
          <a:p>
            <a:pPr algn="l">
              <a:spcAft>
                <a:spcPts val="400"/>
              </a:spcAft>
            </a:pPr>
            <a:r>
              <a:rPr sz="1200" b="0" lang="en-GB">
                <a:solidFill>
                  <a:schemeClr val="accent1"/>
                </a:solidFill>
                <a:hlinkClick r:id="rId8"/>
              </a:rPr>
              <a:t>desktop.github.com</a:t>
            </a:r>
          </a:p>
        </p:txBody>
      </p:sp>
      <p:sp>
        <p:nvSpPr>
          <p:cNvPr id="34" name="Restart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estart" descr=""/>
          <p:cNvPicPr>
            <a:picLocks noChangeAspect="1"/>
          </p:cNvPicPr>
          <p:nvPr/>
        </p:nvPicPr>
        <p:blipFill>
          <a:blip r:embed="rId9"/>
          <a:stretch>
            <a:fillRect/>
          </a:stretch>
        </p:blipFill>
        <p:spPr>
          <a:xfrm>
            <a:off x="658368" y="4654296"/>
            <a:ext cx="384048" cy="384048"/>
          </a:xfrm>
          <a:prstGeom prst="rect">
            <a:avLst/>
          </a:prstGeom>
        </p:spPr>
      </p:pic>
      <p:sp>
        <p:nvSpPr>
          <p:cNvPr id="36" name="Restart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Restart Positron </a:t>
            </a:r>
            <a:r>
              <a:rPr sz="1300" b="0" lang="en-GB">
                <a:solidFill>
                  <a:schemeClr val="tx1"/>
                </a:solidFill>
              </a:rPr>
              <a:t>after installing Quarto, so it finds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get the course repository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lone steps step 1"/>
          <p:cNvSpPr/>
          <p:nvPr/>
        </p:nvSpPr>
        <p:spPr>
          <a:xfrm>
            <a:off x="457200" y="178308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Copy the URL</a:t>
            </a:r>
            <a:br/>
            <a:r>
              <a:rPr sz="1200" b="1" lang="en-GB">
                <a:solidFill>
                  <a:schemeClr val="tx2"/>
                </a:solidFill>
              </a:rPr>
              <a:t>from Canvas</a:t>
            </a:r>
          </a:p>
        </p:txBody>
      </p:sp>
      <p:sp>
        <p:nvSpPr>
          <p:cNvPr id="17" name="Clone steps step 2"/>
          <p:cNvSpPr/>
          <p:nvPr/>
        </p:nvSpPr>
        <p:spPr>
          <a:xfrm>
            <a:off x="2487168"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GitHub Desktop:</a:t>
            </a:r>
            <a:br/>
            <a:r>
              <a:rPr sz="1200" b="1" lang="en-GB">
                <a:solidFill>
                  <a:schemeClr val="tx2"/>
                </a:solidFill>
              </a:rPr>
              <a:t>Clone repository</a:t>
            </a:r>
          </a:p>
        </p:txBody>
      </p:sp>
      <p:sp>
        <p:nvSpPr>
          <p:cNvPr id="18" name="Clone steps step 3"/>
          <p:cNvSpPr/>
          <p:nvPr/>
        </p:nvSpPr>
        <p:spPr>
          <a:xfrm>
            <a:off x="4517136"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Pick a folder</a:t>
            </a:r>
            <a:br/>
            <a:r>
              <a:rPr sz="1200" b="1" lang="en-GB">
                <a:solidFill>
                  <a:schemeClr val="tx2"/>
                </a:solidFill>
              </a:rPr>
              <a:t>without spaces</a:t>
            </a:r>
          </a:p>
        </p:txBody>
      </p:sp>
      <p:sp>
        <p:nvSpPr>
          <p:cNvPr id="19" name="Clone steps step 4"/>
          <p:cNvSpPr/>
          <p:nvPr/>
        </p:nvSpPr>
        <p:spPr>
          <a:xfrm>
            <a:off x="6547104" y="178308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20" name="Folder code caption bar"/>
          <p:cNvSpPr/>
          <p:nvPr/>
        </p:nvSpPr>
        <p:spPr>
          <a:xfrm>
            <a:off x="457200" y="2514600"/>
            <a:ext cx="40233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Folder code caption"/>
          <p:cNvSpPr txBox="1"/>
          <p:nvPr/>
        </p:nvSpPr>
        <p:spPr>
          <a:xfrm>
            <a:off x="566928" y="2514600"/>
            <a:ext cx="38039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Good folder names</a:t>
            </a:r>
          </a:p>
        </p:txBody>
      </p:sp>
      <p:sp>
        <p:nvSpPr>
          <p:cNvPr id="22" name="Folder code box"/>
          <p:cNvSpPr/>
          <p:nvPr/>
        </p:nvSpPr>
        <p:spPr>
          <a:xfrm>
            <a:off x="457200" y="2788920"/>
            <a:ext cx="402336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older code code"/>
          <p:cNvSpPr txBox="1"/>
          <p:nvPr/>
        </p:nvSpPr>
        <p:spPr>
          <a:xfrm>
            <a:off x="594360" y="2880360"/>
            <a:ext cx="3749040" cy="5029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C:\Users\anna\wu\ima</a:t>
            </a:r>
          </a:p>
          <a:p>
            <a:pPr algn="l">
              <a:spcAft>
                <a:spcPts val="0"/>
              </a:spcAft>
            </a:pPr>
            <a:r>
              <a:rPr sz="1100" b="0" lang="en-GB">
                <a:solidFill>
                  <a:schemeClr val="bg1"/>
                </a:solidFill>
                <a:latin typeface="Consolas"/>
              </a:rPr>
              <a:t>~/wu/ima</a:t>
            </a:r>
          </a:p>
        </p:txBody>
      </p:sp>
      <p:sp>
        <p:nvSpPr>
          <p:cNvPr id="24" name="Folder note"/>
          <p:cNvSpPr txBox="1"/>
          <p:nvPr/>
        </p:nvSpPr>
        <p:spPr>
          <a:xfrm>
            <a:off x="457200" y="3566160"/>
            <a:ext cx="4023360" cy="777240"/>
          </a:xfrm>
          <a:prstGeom prst="rect">
            <a:avLst/>
          </a:prstGeom>
          <a:noFill/>
        </p:spPr>
        <p:txBody>
          <a:bodyPr wrap="square" lIns="0" rIns="0" tIns="0" bIns="0" anchor="t">
            <a:noAutofit/>
          </a:bodyPr>
          <a:lstStyle/>
          <a:p>
            <a:pPr algn="l">
              <a:spcAft>
                <a:spcPts val="400"/>
              </a:spcAft>
            </a:pPr>
            <a:r>
              <a:rPr sz="1200" b="1" lang="en-GB">
                <a:solidFill>
                  <a:schemeClr val="tx2"/>
                </a:solidFill>
              </a:rPr>
              <a:t>Avoid </a:t>
            </a:r>
            <a:r>
              <a:rPr sz="1200" b="0" lang="en-GB">
                <a:solidFill>
                  <a:schemeClr val="tx1"/>
                </a:solidFill>
              </a:rPr>
              <a:t>spaces, umlauts and cloud folders such as OneDrive or iCloud: they break paths and syncing.</a:t>
            </a:r>
          </a:p>
        </p:txBody>
      </p:sp>
      <p:sp>
        <p:nvSpPr>
          <p:cNvPr id="25" name="Git word 1"/>
          <p:cNvSpPr/>
          <p:nvPr/>
        </p:nvSpPr>
        <p:spPr>
          <a:xfrm>
            <a:off x="4663440" y="2514600"/>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it word bar 1"/>
          <p:cNvSpPr/>
          <p:nvPr/>
        </p:nvSpPr>
        <p:spPr>
          <a:xfrm>
            <a:off x="4663440" y="251460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it word text 1"/>
          <p:cNvSpPr txBox="1"/>
          <p:nvPr/>
        </p:nvSpPr>
        <p:spPr>
          <a:xfrm>
            <a:off x="4864608" y="2514600"/>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Clone: </a:t>
            </a:r>
            <a:r>
              <a:rPr sz="1200" b="0" lang="en-GB">
                <a:solidFill>
                  <a:schemeClr val="tx1"/>
                </a:solidFill>
              </a:rPr>
              <a:t>your own copy of the repository, linked to GitHub</a:t>
            </a:r>
          </a:p>
        </p:txBody>
      </p:sp>
      <p:sp>
        <p:nvSpPr>
          <p:cNvPr id="28" name="Git word 2"/>
          <p:cNvSpPr/>
          <p:nvPr/>
        </p:nvSpPr>
        <p:spPr>
          <a:xfrm>
            <a:off x="4663440" y="3136392"/>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Git word bar 2"/>
          <p:cNvSpPr/>
          <p:nvPr/>
        </p:nvSpPr>
        <p:spPr>
          <a:xfrm>
            <a:off x="4663440" y="313639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Git word text 2"/>
          <p:cNvSpPr txBox="1"/>
          <p:nvPr/>
        </p:nvSpPr>
        <p:spPr>
          <a:xfrm>
            <a:off x="4864608" y="3136392"/>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Pull: </a:t>
            </a:r>
            <a:r>
              <a:rPr sz="1200" b="0" lang="en-GB">
                <a:solidFill>
                  <a:schemeClr val="tx1"/>
                </a:solidFill>
              </a:rPr>
              <a:t>get the latest materials; do it before every session</a:t>
            </a:r>
          </a:p>
        </p:txBody>
      </p:sp>
      <p:sp>
        <p:nvSpPr>
          <p:cNvPr id="31" name="Git word 3"/>
          <p:cNvSpPr/>
          <p:nvPr/>
        </p:nvSpPr>
        <p:spPr>
          <a:xfrm>
            <a:off x="4663440" y="3758184"/>
            <a:ext cx="402336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Git word bar 3"/>
          <p:cNvSpPr/>
          <p:nvPr/>
        </p:nvSpPr>
        <p:spPr>
          <a:xfrm>
            <a:off x="4663440" y="375818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Git word text 3"/>
          <p:cNvSpPr txBox="1"/>
          <p:nvPr/>
        </p:nvSpPr>
        <p:spPr>
          <a:xfrm>
            <a:off x="4864608" y="3758184"/>
            <a:ext cx="373075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Commit and push: </a:t>
            </a:r>
            <a:r>
              <a:rPr sz="1200" b="0" lang="en-GB">
                <a:solidFill>
                  <a:schemeClr val="tx1"/>
                </a:solidFill>
              </a:rPr>
              <a:t>save and upload your changes (group repository)</a:t>
            </a:r>
          </a:p>
        </p:txBody>
      </p:sp>
      <p:sp>
        <p:nvSpPr>
          <p:cNvPr id="34" name="Open folder box"/>
          <p:cNvSpPr/>
          <p:nvPr/>
        </p:nvSpPr>
        <p:spPr>
          <a:xfrm>
            <a:off x="457200" y="448056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Open folder" descr=""/>
          <p:cNvPicPr>
            <a:picLocks noChangeAspect="1"/>
          </p:cNvPicPr>
          <p:nvPr/>
        </p:nvPicPr>
        <p:blipFill>
          <a:blip r:embed="rId3"/>
          <a:stretch>
            <a:fillRect/>
          </a:stretch>
        </p:blipFill>
        <p:spPr>
          <a:xfrm>
            <a:off x="658368" y="4585716"/>
            <a:ext cx="384048" cy="384048"/>
          </a:xfrm>
          <a:prstGeom prst="rect">
            <a:avLst/>
          </a:prstGeom>
        </p:spPr>
      </p:pic>
      <p:sp>
        <p:nvSpPr>
          <p:cNvPr id="36" name="Open folder text"/>
          <p:cNvSpPr txBox="1"/>
          <p:nvPr/>
        </p:nvSpPr>
        <p:spPr>
          <a:xfrm>
            <a:off x="1234440" y="4480560"/>
            <a:ext cx="726948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In Positron: </a:t>
            </a:r>
            <a:r>
              <a:rPr sz="1300" b="0" lang="en-GB">
                <a:solidFill>
                  <a:schemeClr val="tx1"/>
                </a:solidFill>
              </a:rPr>
              <a:t>File → Open Folder and choose the cloned folder.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install the course packages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Env code win caption bar"/>
          <p:cNvSpPr/>
          <p:nvPr/>
        </p:nvSpPr>
        <p:spPr>
          <a:xfrm>
            <a:off x="457200" y="178308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v code win caption"/>
          <p:cNvSpPr txBox="1"/>
          <p:nvPr/>
        </p:nvSpPr>
        <p:spPr>
          <a:xfrm>
            <a:off x="566928" y="178308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Positron terminal (PowerShell)</a:t>
            </a:r>
          </a:p>
        </p:txBody>
      </p:sp>
      <p:sp>
        <p:nvSpPr>
          <p:cNvPr id="18" name="Env code win box"/>
          <p:cNvSpPr/>
          <p:nvPr/>
        </p:nvSpPr>
        <p:spPr>
          <a:xfrm>
            <a:off x="457200" y="2057400"/>
            <a:ext cx="512064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Env code win code"/>
          <p:cNvSpPr txBox="1"/>
          <p:nvPr/>
        </p:nvSpPr>
        <p:spPr>
          <a:xfrm>
            <a:off x="594360" y="2148840"/>
            <a:ext cx="484632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py -3.13 -m venv .venv</a:t>
            </a:r>
          </a:p>
          <a:p>
            <a:pPr algn="l">
              <a:spcAft>
                <a:spcPts val="0"/>
              </a:spcAft>
            </a:pPr>
            <a:r>
              <a:rPr sz="1100" b="0" lang="en-GB">
                <a:solidFill>
                  <a:schemeClr val="bg1"/>
                </a:solidFill>
                <a:latin typeface="Consolas"/>
              </a:rPr>
              <a:t>.venv\Scripts\python -m pip install -r requirements.txt</a:t>
            </a:r>
          </a:p>
        </p:txBody>
      </p:sp>
      <p:sp>
        <p:nvSpPr>
          <p:cNvPr id="20" name="Env code mac caption bar"/>
          <p:cNvSpPr/>
          <p:nvPr/>
        </p:nvSpPr>
        <p:spPr>
          <a:xfrm>
            <a:off x="457200" y="274320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v code mac caption"/>
          <p:cNvSpPr txBox="1"/>
          <p:nvPr/>
        </p:nvSpPr>
        <p:spPr>
          <a:xfrm>
            <a:off x="566928" y="274320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 Positron terminal</a:t>
            </a:r>
          </a:p>
        </p:txBody>
      </p:sp>
      <p:sp>
        <p:nvSpPr>
          <p:cNvPr id="22" name="Env code mac box"/>
          <p:cNvSpPr/>
          <p:nvPr/>
        </p:nvSpPr>
        <p:spPr>
          <a:xfrm>
            <a:off x="457200" y="3017520"/>
            <a:ext cx="512064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nv code mac code"/>
          <p:cNvSpPr txBox="1"/>
          <p:nvPr/>
        </p:nvSpPr>
        <p:spPr>
          <a:xfrm>
            <a:off x="594360" y="3108960"/>
            <a:ext cx="484632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python3.13 -m venv .venv</a:t>
            </a:r>
          </a:p>
          <a:p>
            <a:pPr algn="l">
              <a:spcAft>
                <a:spcPts val="0"/>
              </a:spcAft>
            </a:pPr>
            <a:r>
              <a:rPr sz="1100" b="0" lang="en-GB">
                <a:solidFill>
                  <a:schemeClr val="bg1"/>
                </a:solidFill>
                <a:latin typeface="Consolas"/>
              </a:rPr>
              <a:t>.venv/bin/python -m pip install -r requirements.txt</a:t>
            </a:r>
          </a:p>
        </p:txBody>
      </p:sp>
      <p:sp>
        <p:nvSpPr>
          <p:cNvPr id="24" name="Env lines"/>
          <p:cNvSpPr txBox="1"/>
          <p:nvPr/>
        </p:nvSpPr>
        <p:spPr>
          <a:xfrm>
            <a:off x="457200" y="3703320"/>
            <a:ext cx="5120640" cy="685800"/>
          </a:xfrm>
          <a:prstGeom prst="rect">
            <a:avLst/>
          </a:prstGeom>
          <a:noFill/>
        </p:spPr>
        <p:txBody>
          <a:bodyPr wrap="square" lIns="0" rIns="0" tIns="0" bIns="0" anchor="t">
            <a:noAutofit/>
          </a:bodyPr>
          <a:lstStyle/>
          <a:p>
            <a:pPr algn="l">
              <a:spcAft>
                <a:spcPts val="200"/>
              </a:spcAft>
            </a:pPr>
            <a:r>
              <a:rPr sz="1200" b="1" lang="en-GB">
                <a:solidFill>
                  <a:schemeClr val="tx2"/>
                </a:solidFill>
              </a:rPr>
              <a:t>Line 1 </a:t>
            </a:r>
            <a:r>
              <a:rPr sz="1200" b="0" lang="en-GB">
                <a:solidFill>
                  <a:schemeClr val="tx1"/>
                </a:solidFill>
              </a:rPr>
              <a:t>creates .venv, a private Python for this folder. </a:t>
            </a:r>
          </a:p>
          <a:p>
            <a:pPr algn="l">
              <a:spcAft>
                <a:spcPts val="200"/>
              </a:spcAft>
            </a:pPr>
            <a:r>
              <a:rPr sz="1200" b="1" lang="en-GB">
                <a:solidFill>
                  <a:schemeClr val="tx2"/>
                </a:solidFill>
              </a:rPr>
              <a:t>Line 2 </a:t>
            </a:r>
            <a:r>
              <a:rPr sz="1200" b="0" lang="en-GB">
                <a:solidFill>
                  <a:schemeClr val="tx1"/>
                </a:solidFill>
              </a:rPr>
              <a:t>installs all course packages into it.</a:t>
            </a:r>
          </a:p>
        </p:txBody>
      </p:sp>
      <p:sp>
        <p:nvSpPr>
          <p:cNvPr id="25" name="Interpreter panel"/>
          <p:cNvSpPr/>
          <p:nvPr/>
        </p:nvSpPr>
        <p:spPr>
          <a:xfrm>
            <a:off x="5760720" y="1783080"/>
            <a:ext cx="2926080"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nterpreter head"/>
          <p:cNvSpPr txBox="1"/>
          <p:nvPr/>
        </p:nvSpPr>
        <p:spPr>
          <a:xfrm>
            <a:off x="5897880" y="1874520"/>
            <a:ext cx="2697480" cy="320040"/>
          </a:xfrm>
          <a:prstGeom prst="rect">
            <a:avLst/>
          </a:prstGeom>
          <a:noFill/>
        </p:spPr>
        <p:txBody>
          <a:bodyPr wrap="square" lIns="0" rIns="0" tIns="0" bIns="0" anchor="t">
            <a:noAutofit/>
          </a:bodyPr>
          <a:lstStyle/>
          <a:p>
            <a:pPr algn="l">
              <a:spcAft>
                <a:spcPts val="400"/>
              </a:spcAft>
            </a:pPr>
            <a:r>
              <a:rPr sz="1300" b="1" lang="en-GB">
                <a:solidFill>
                  <a:schemeClr val="tx2"/>
                </a:solidFill>
              </a:rPr>
              <a:t>Then: Interpreter picker</a:t>
            </a:r>
          </a:p>
        </p:txBody>
      </p:sp>
      <p:sp>
        <p:nvSpPr>
          <p:cNvPr id="27" name="Interpreter pill"/>
          <p:cNvSpPr/>
          <p:nvPr/>
        </p:nvSpPr>
        <p:spPr>
          <a:xfrm>
            <a:off x="5897880" y="2286000"/>
            <a:ext cx="2651760" cy="384048"/>
          </a:xfrm>
          <a:prstGeom prst="roundRect">
            <a:avLst/>
          </a:prstGeom>
          <a:solidFill>
            <a:srgbClr val="FFFFFF"/>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ill text"/>
          <p:cNvSpPr txBox="1"/>
          <p:nvPr/>
        </p:nvSpPr>
        <p:spPr>
          <a:xfrm>
            <a:off x="5989320" y="2286000"/>
            <a:ext cx="2514600" cy="38404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Python 3.13.16 (.venv) ▾</a:t>
            </a:r>
          </a:p>
        </p:txBody>
      </p:sp>
      <p:sp>
        <p:nvSpPr>
          <p:cNvPr id="29" name="Interpreter text"/>
          <p:cNvSpPr txBox="1"/>
          <p:nvPr/>
        </p:nvSpPr>
        <p:spPr>
          <a:xfrm>
            <a:off x="5897880" y="2788920"/>
            <a:ext cx="2697480" cy="1554480"/>
          </a:xfrm>
          <a:prstGeom prst="rect">
            <a:avLst/>
          </a:prstGeom>
          <a:noFill/>
        </p:spPr>
        <p:txBody>
          <a:bodyPr wrap="square" lIns="0" rIns="0" tIns="0" bIns="0" anchor="t">
            <a:noAutofit/>
          </a:bodyPr>
          <a:lstStyle/>
          <a:p>
            <a:pPr algn="l" marL="182880" indent="-182880">
              <a:spcAft>
                <a:spcPts val="400"/>
              </a:spcAft>
              <a:buClr>
                <a:schemeClr val="accent1"/>
              </a:buClr>
              <a:buFont typeface="Arial"/>
              <a:buChar char="▪"/>
            </a:pPr>
            <a:r>
              <a:rPr sz="1200" b="0" lang="en-GB">
                <a:solidFill>
                  <a:schemeClr val="tx1"/>
                </a:solidFill>
              </a:rPr>
              <a:t>Top right in Positron</a:t>
            </a:r>
          </a:p>
          <a:p>
            <a:pPr algn="l" marL="182880" indent="-182880">
              <a:spcAft>
                <a:spcPts val="400"/>
              </a:spcAft>
              <a:buClr>
                <a:schemeClr val="accent1"/>
              </a:buClr>
              <a:buFont typeface="Arial"/>
              <a:buChar char="▪"/>
            </a:pPr>
            <a:r>
              <a:rPr sz="1200" b="0" lang="en-GB">
                <a:solidFill>
                  <a:schemeClr val="tx1"/>
                </a:solidFill>
              </a:rPr>
              <a:t>Pick the Python in .venv</a:t>
            </a:r>
          </a:p>
          <a:p>
            <a:pPr algn="l" marL="182880" indent="-182880">
              <a:spcAft>
                <a:spcPts val="400"/>
              </a:spcAft>
              <a:buClr>
                <a:schemeClr val="accent1"/>
              </a:buClr>
              <a:buFont typeface="Arial"/>
              <a:buChar char="▪"/>
            </a:pPr>
            <a:r>
              <a:rPr sz="1200" b="0" lang="en-GB">
                <a:solidFill>
                  <a:schemeClr val="tx1"/>
                </a:solidFill>
              </a:rPr>
              <a:t>Positron remembers it for this folder</a:t>
            </a:r>
          </a:p>
        </p:txBody>
      </p:sp>
      <p:sp>
        <p:nvSpPr>
          <p:cNvPr id="30" name="Create env box"/>
          <p:cNvSpPr/>
          <p:nvPr/>
        </p:nvSpPr>
        <p:spPr>
          <a:xfrm>
            <a:off x="457200" y="452628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Create env" descr=""/>
          <p:cNvPicPr>
            <a:picLocks noChangeAspect="1"/>
          </p:cNvPicPr>
          <p:nvPr/>
        </p:nvPicPr>
        <p:blipFill>
          <a:blip r:embed="rId3"/>
          <a:stretch>
            <a:fillRect/>
          </a:stretch>
        </p:blipFill>
        <p:spPr>
          <a:xfrm>
            <a:off x="658368" y="4608576"/>
            <a:ext cx="384048" cy="384048"/>
          </a:xfrm>
          <a:prstGeom prst="rect">
            <a:avLst/>
          </a:prstGeom>
        </p:spPr>
      </p:pic>
      <p:sp>
        <p:nvSpPr>
          <p:cNvPr id="32" name="Create env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tx2"/>
                </a:solidFill>
              </a:rPr>
              <a:t>No typing? </a:t>
            </a:r>
            <a:r>
              <a:rPr sz="1300" b="0" lang="en-GB">
                <a:solidFill>
                  <a:schemeClr val="tx1"/>
                </a:solidFill>
              </a:rPr>
              <a:t>Command Palette → Python: Create Environment → Venv → tick requirements.txt.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run the check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Check</a:t>
            </a:r>
          </a:p>
        </p:txBody>
      </p:sp>
      <p:sp>
        <p:nvSpPr>
          <p:cNvPr id="15" name="Progress step 6"/>
          <p:cNvSpPr/>
          <p:nvPr/>
        </p:nvSpPr>
        <p:spPr>
          <a:xfrm>
            <a:off x="7223760"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AI</a:t>
            </a:r>
          </a:p>
        </p:txBody>
      </p:sp>
      <p:sp>
        <p:nvSpPr>
          <p:cNvPr id="16" name="Check command win caption bar"/>
          <p:cNvSpPr/>
          <p:nvPr/>
        </p:nvSpPr>
        <p:spPr>
          <a:xfrm>
            <a:off x="457200" y="178308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 command win caption"/>
          <p:cNvSpPr txBox="1"/>
          <p:nvPr/>
        </p:nvSpPr>
        <p:spPr>
          <a:xfrm>
            <a:off x="566928" y="178308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a:t>
            </a:r>
          </a:p>
        </p:txBody>
      </p:sp>
      <p:sp>
        <p:nvSpPr>
          <p:cNvPr id="18" name="Check command win box"/>
          <p:cNvSpPr/>
          <p:nvPr/>
        </p:nvSpPr>
        <p:spPr>
          <a:xfrm>
            <a:off x="457200" y="2057400"/>
            <a:ext cx="404622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 command win code"/>
          <p:cNvSpPr txBox="1"/>
          <p:nvPr/>
        </p:nvSpPr>
        <p:spPr>
          <a:xfrm>
            <a:off x="594360" y="2148840"/>
            <a:ext cx="377190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setup\check_setup.py</a:t>
            </a:r>
          </a:p>
        </p:txBody>
      </p:sp>
      <p:sp>
        <p:nvSpPr>
          <p:cNvPr id="20" name="Check command mac caption bar"/>
          <p:cNvSpPr/>
          <p:nvPr/>
        </p:nvSpPr>
        <p:spPr>
          <a:xfrm>
            <a:off x="4640580" y="178308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 command mac caption"/>
          <p:cNvSpPr txBox="1"/>
          <p:nvPr/>
        </p:nvSpPr>
        <p:spPr>
          <a:xfrm>
            <a:off x="4750308" y="178308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macOS</a:t>
            </a:r>
          </a:p>
        </p:txBody>
      </p:sp>
      <p:sp>
        <p:nvSpPr>
          <p:cNvPr id="22" name="Check command mac box"/>
          <p:cNvSpPr/>
          <p:nvPr/>
        </p:nvSpPr>
        <p:spPr>
          <a:xfrm>
            <a:off x="4640580" y="2057400"/>
            <a:ext cx="404622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heck command mac code"/>
          <p:cNvSpPr txBox="1"/>
          <p:nvPr/>
        </p:nvSpPr>
        <p:spPr>
          <a:xfrm>
            <a:off x="4777740" y="2148840"/>
            <a:ext cx="3771900" cy="2286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setup/check_setup.py</a:t>
            </a:r>
          </a:p>
        </p:txBody>
      </p:sp>
      <p:sp>
        <p:nvSpPr>
          <p:cNvPr id="24" name="Check output caption bar"/>
          <p:cNvSpPr/>
          <p:nvPr/>
        </p:nvSpPr>
        <p:spPr>
          <a:xfrm>
            <a:off x="457200" y="2606040"/>
            <a:ext cx="51206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 output caption"/>
          <p:cNvSpPr txBox="1"/>
          <p:nvPr/>
        </p:nvSpPr>
        <p:spPr>
          <a:xfrm>
            <a:off x="566928" y="2606040"/>
            <a:ext cx="49011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Example output (shortened)</a:t>
            </a:r>
          </a:p>
        </p:txBody>
      </p:sp>
      <p:sp>
        <p:nvSpPr>
          <p:cNvPr id="26" name="Check output box"/>
          <p:cNvSpPr/>
          <p:nvPr/>
        </p:nvSpPr>
        <p:spPr>
          <a:xfrm>
            <a:off x="457200" y="2880360"/>
            <a:ext cx="5120640" cy="1645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 output code"/>
          <p:cNvSpPr txBox="1"/>
          <p:nvPr/>
        </p:nvSpPr>
        <p:spPr>
          <a:xfrm>
            <a:off x="594360" y="2971800"/>
            <a:ext cx="4846320" cy="14630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Packages</a:t>
            </a:r>
          </a:p>
          <a:p>
            <a:pPr algn="l">
              <a:spcAft>
                <a:spcPts val="0"/>
              </a:spcAft>
            </a:pPr>
            <a:r>
              <a:rPr sz="1100" b="0" lang="en-GB">
                <a:solidFill>
                  <a:schemeClr val="bg1"/>
                </a:solidFill>
                <a:latin typeface="Consolas"/>
              </a:rPr>
              <a:t>  [ok] polars           1.44.2     data wrangling</a:t>
            </a:r>
          </a:p>
          <a:p>
            <a:pPr algn="l">
              <a:spcAft>
                <a:spcPts val="0"/>
              </a:spcAft>
            </a:pPr>
            <a:r>
              <a:rPr sz="1100" b="0" lang="en-GB">
                <a:solidFill>
                  <a:schemeClr val="bg1"/>
                </a:solidFill>
                <a:latin typeface="Consolas"/>
              </a:rPr>
              <a:t>  [ok] plotnine         0.15.8     charts</a:t>
            </a:r>
          </a:p>
          <a:p>
            <a:pPr algn="l">
              <a:spcAft>
                <a:spcPts val="0"/>
              </a:spcAft>
            </a:pPr>
            <a:r>
              <a:rPr sz="1100" b="0" lang="en-GB">
                <a:solidFill>
                  <a:schemeClr val="bg1"/>
                </a:solidFill>
                <a:latin typeface="Consolas"/>
              </a:rPr>
              <a:t>  [ok] great_tables     1.0.0      tables</a:t>
            </a:r>
          </a:p>
          <a:p>
            <a:pPr algn="l">
              <a:spcAft>
                <a:spcPts val="0"/>
              </a:spcAft>
            </a:pPr>
            <a:r>
              <a:rPr sz="1100" b="0" lang="en-GB">
                <a:solidFill>
                  <a:schemeClr val="bg1"/>
                </a:solidFill>
                <a:latin typeface="Consolas"/>
              </a:rPr>
              <a:t>  [ok] statsmodels      0.15.0     regression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ready</a:t>
            </a:r>
          </a:p>
        </p:txBody>
      </p:sp>
      <p:sp>
        <p:nvSpPr>
          <p:cNvPr id="28" name="Check card body"/>
          <p:cNvSpPr/>
          <p:nvPr/>
        </p:nvSpPr>
        <p:spPr>
          <a:xfrm>
            <a:off x="5760720" y="3017520"/>
            <a:ext cx="292608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 card header"/>
          <p:cNvSpPr/>
          <p:nvPr/>
        </p:nvSpPr>
        <p:spPr>
          <a:xfrm>
            <a:off x="5760720" y="2606040"/>
            <a:ext cx="2926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heck card heading"/>
          <p:cNvSpPr txBox="1"/>
          <p:nvPr/>
        </p:nvSpPr>
        <p:spPr>
          <a:xfrm>
            <a:off x="5897880" y="2606040"/>
            <a:ext cx="2240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Reading it</a:t>
            </a:r>
          </a:p>
        </p:txBody>
      </p:sp>
      <p:pic>
        <p:nvPicPr>
          <p:cNvPr id="31" name="Icon Check card" descr=""/>
          <p:cNvPicPr>
            <a:picLocks noChangeAspect="1"/>
          </p:cNvPicPr>
          <p:nvPr/>
        </p:nvPicPr>
        <p:blipFill>
          <a:blip r:embed="rId3"/>
          <a:stretch>
            <a:fillRect/>
          </a:stretch>
        </p:blipFill>
        <p:spPr>
          <a:xfrm>
            <a:off x="8247888" y="2656332"/>
            <a:ext cx="310896" cy="310896"/>
          </a:xfrm>
          <a:prstGeom prst="rect">
            <a:avLst/>
          </a:prstGeom>
        </p:spPr>
      </p:pic>
      <p:sp>
        <p:nvSpPr>
          <p:cNvPr id="32" name="Check card text"/>
          <p:cNvSpPr txBox="1"/>
          <p:nvPr/>
        </p:nvSpPr>
        <p:spPr>
          <a:xfrm>
            <a:off x="5925312" y="3154680"/>
            <a:ext cx="2624328" cy="12344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[ok]: in place</a:t>
            </a:r>
          </a:p>
          <a:p>
            <a:pPr algn="l" marL="182880" indent="-182880">
              <a:spcAft>
                <a:spcPts val="600"/>
              </a:spcAft>
              <a:buClr>
                <a:schemeClr val="accent1"/>
              </a:buClr>
              <a:buFont typeface="Arial"/>
              <a:buChar char="▪"/>
            </a:pPr>
            <a:r>
              <a:rPr sz="1300" b="0" lang="en-GB">
                <a:solidFill>
                  <a:schemeClr val="tx1"/>
                </a:solidFill>
              </a:rPr>
              <a:t>[!!]: the line says what to fix</a:t>
            </a:r>
          </a:p>
          <a:p>
            <a:pPr algn="l" marL="182880" indent="-182880">
              <a:spcAft>
                <a:spcPts val="600"/>
              </a:spcAft>
              <a:buClr>
                <a:schemeClr val="accent1"/>
              </a:buClr>
              <a:buFont typeface="Arial"/>
              <a:buChar char="▪"/>
            </a:pPr>
            <a:r>
              <a:rPr sz="1300" b="0" lang="en-GB">
                <a:solidFill>
                  <a:schemeClr val="tx1"/>
                </a:solidFill>
              </a:rPr>
              <a:t>Ends with “ready”: done</a:t>
            </a:r>
          </a:p>
        </p:txBody>
      </p:sp>
      <p:sp>
        <p:nvSpPr>
          <p:cNvPr id="33" name="Run button box"/>
          <p:cNvSpPr/>
          <p:nvPr/>
        </p:nvSpPr>
        <p:spPr>
          <a:xfrm>
            <a:off x="457200" y="461772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Icon Run button" descr=""/>
          <p:cNvPicPr>
            <a:picLocks noChangeAspect="1"/>
          </p:cNvPicPr>
          <p:nvPr/>
        </p:nvPicPr>
        <p:blipFill>
          <a:blip r:embed="rId4"/>
          <a:stretch>
            <a:fillRect/>
          </a:stretch>
        </p:blipFill>
        <p:spPr>
          <a:xfrm>
            <a:off x="658368" y="4654296"/>
            <a:ext cx="384048" cy="384048"/>
          </a:xfrm>
          <a:prstGeom prst="rect">
            <a:avLst/>
          </a:prstGeom>
        </p:spPr>
      </p:pic>
      <p:sp>
        <p:nvSpPr>
          <p:cNvPr id="35" name="Run button text"/>
          <p:cNvSpPr txBox="1"/>
          <p:nvPr/>
        </p:nvSpPr>
        <p:spPr>
          <a:xfrm>
            <a:off x="1234440" y="4617720"/>
            <a:ext cx="7269480" cy="457200"/>
          </a:xfrm>
          <a:prstGeom prst="rect">
            <a:avLst/>
          </a:prstGeom>
          <a:noFill/>
        </p:spPr>
        <p:txBody>
          <a:bodyPr wrap="square" lIns="0" rIns="0" tIns="0" bIns="0" anchor="ctr">
            <a:noAutofit/>
          </a:bodyPr>
          <a:lstStyle/>
          <a:p>
            <a:pPr algn="l">
              <a:spcAft>
                <a:spcPts val="400"/>
              </a:spcAft>
            </a:pPr>
            <a:r>
              <a:rPr sz="1300" b="1" lang="en-GB">
                <a:solidFill>
                  <a:schemeClr val="tx2"/>
                </a:solidFill>
              </a:rPr>
              <a:t>No terminal? </a:t>
            </a:r>
            <a:r>
              <a:rPr sz="1300" b="0" lang="en-GB">
                <a:solidFill>
                  <a:schemeClr val="tx1"/>
                </a:solidFill>
              </a:rPr>
              <a:t>Open setup/check_setup.py in Positron and press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connect your AI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gress step 1"/>
          <p:cNvSpPr/>
          <p:nvPr/>
        </p:nvSpPr>
        <p:spPr>
          <a:xfrm>
            <a:off x="457200" y="1188720"/>
            <a:ext cx="1463040" cy="384048"/>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Accounts</a:t>
            </a:r>
          </a:p>
        </p:txBody>
      </p:sp>
      <p:sp>
        <p:nvSpPr>
          <p:cNvPr id="11" name="Progress step 2"/>
          <p:cNvSpPr/>
          <p:nvPr/>
        </p:nvSpPr>
        <p:spPr>
          <a:xfrm>
            <a:off x="1810512"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Tools</a:t>
            </a:r>
          </a:p>
        </p:txBody>
      </p:sp>
      <p:sp>
        <p:nvSpPr>
          <p:cNvPr id="12" name="Progress step 3"/>
          <p:cNvSpPr/>
          <p:nvPr/>
        </p:nvSpPr>
        <p:spPr>
          <a:xfrm>
            <a:off x="3163824"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Repo</a:t>
            </a:r>
          </a:p>
        </p:txBody>
      </p:sp>
      <p:sp>
        <p:nvSpPr>
          <p:cNvPr id="13" name="Progress step 4"/>
          <p:cNvSpPr/>
          <p:nvPr/>
        </p:nvSpPr>
        <p:spPr>
          <a:xfrm>
            <a:off x="4517136"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Packages</a:t>
            </a:r>
          </a:p>
        </p:txBody>
      </p:sp>
      <p:sp>
        <p:nvSpPr>
          <p:cNvPr id="14" name="Progress step 5"/>
          <p:cNvSpPr/>
          <p:nvPr/>
        </p:nvSpPr>
        <p:spPr>
          <a:xfrm>
            <a:off x="5870448" y="1188720"/>
            <a:ext cx="1463040" cy="384048"/>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Check</a:t>
            </a:r>
          </a:p>
        </p:txBody>
      </p:sp>
      <p:sp>
        <p:nvSpPr>
          <p:cNvPr id="15" name="Progress step 6"/>
          <p:cNvSpPr/>
          <p:nvPr/>
        </p:nvSpPr>
        <p:spPr>
          <a:xfrm>
            <a:off x="7223760" y="1188720"/>
            <a:ext cx="1463040" cy="384048"/>
          </a:xfrm>
          <a:prstGeom prst="chevron">
            <a:avLst>
              <a:gd name="adj" fmla="val 2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bg1"/>
                </a:solidFill>
              </a:rPr>
              <a:t>AI</a:t>
            </a:r>
          </a:p>
        </p:txBody>
      </p:sp>
      <p:sp>
        <p:nvSpPr>
          <p:cNvPr id="16" name="AI steps row 1"/>
          <p:cNvSpPr/>
          <p:nvPr/>
        </p:nvSpPr>
        <p:spPr>
          <a:xfrm>
            <a:off x="457200" y="1783080"/>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I steps number 1"/>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8" name="AI steps text 1"/>
          <p:cNvSpPr txBox="1"/>
          <p:nvPr/>
        </p:nvSpPr>
        <p:spPr>
          <a:xfrm>
            <a:off x="1051560" y="1783080"/>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Command Palette: </a:t>
            </a:r>
            <a:r>
              <a:rPr sz="1300" b="0" lang="en-GB">
                <a:solidFill>
                  <a:schemeClr val="tx1"/>
                </a:solidFill>
              </a:rPr>
              <a:t>Configure Language Model Providers</a:t>
            </a:r>
          </a:p>
        </p:txBody>
      </p:sp>
      <p:sp>
        <p:nvSpPr>
          <p:cNvPr id="19" name="AI steps row 2"/>
          <p:cNvSpPr/>
          <p:nvPr/>
        </p:nvSpPr>
        <p:spPr>
          <a:xfrm>
            <a:off x="457200" y="2441448"/>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AI steps number 2"/>
          <p:cNvSpPr/>
          <p:nvPr/>
        </p:nvSpPr>
        <p:spPr>
          <a:xfrm>
            <a:off x="594360" y="256946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1" name="AI steps text 2"/>
          <p:cNvSpPr txBox="1"/>
          <p:nvPr/>
        </p:nvSpPr>
        <p:spPr>
          <a:xfrm>
            <a:off x="1051560" y="2441448"/>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Choose GitHub Copilot </a:t>
            </a:r>
            <a:r>
              <a:rPr sz="1300" b="0" lang="en-GB">
                <a:solidFill>
                  <a:schemeClr val="tx1"/>
                </a:solidFill>
              </a:rPr>
              <a:t>and sign in with GitHub</a:t>
            </a:r>
          </a:p>
        </p:txBody>
      </p:sp>
      <p:sp>
        <p:nvSpPr>
          <p:cNvPr id="22" name="AI steps row 3"/>
          <p:cNvSpPr/>
          <p:nvPr/>
        </p:nvSpPr>
        <p:spPr>
          <a:xfrm>
            <a:off x="457200" y="3099816"/>
            <a:ext cx="45720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AI steps number 3"/>
          <p:cNvSpPr/>
          <p:nvPr/>
        </p:nvSpPr>
        <p:spPr>
          <a:xfrm>
            <a:off x="594360" y="322783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4" name="AI steps text 3"/>
          <p:cNvSpPr txBox="1"/>
          <p:nvPr/>
        </p:nvSpPr>
        <p:spPr>
          <a:xfrm>
            <a:off x="1051560" y="3099816"/>
            <a:ext cx="3840480" cy="566928"/>
          </a:xfrm>
          <a:prstGeom prst="rect">
            <a:avLst/>
          </a:prstGeom>
          <a:noFill/>
        </p:spPr>
        <p:txBody>
          <a:bodyPr wrap="square" lIns="0" rIns="0" tIns="0" bIns="0" anchor="ctr">
            <a:noAutofit/>
          </a:bodyPr>
          <a:lstStyle/>
          <a:p>
            <a:pPr algn="l">
              <a:spcAft>
                <a:spcPts val="400"/>
              </a:spcAft>
            </a:pPr>
            <a:r>
              <a:rPr sz="1300" b="1" lang="en-GB">
                <a:solidFill>
                  <a:schemeClr val="tx2"/>
                </a:solidFill>
              </a:rPr>
              <a:t>Open the chat: </a:t>
            </a:r>
            <a:r>
              <a:rPr sz="1300" b="0" lang="en-GB">
                <a:solidFill>
                  <a:schemeClr val="tx1"/>
                </a:solidFill>
              </a:rPr>
              <a:t>View: Show Posit Assistant</a:t>
            </a:r>
          </a:p>
        </p:txBody>
      </p:sp>
      <p:sp>
        <p:nvSpPr>
          <p:cNvPr id="25" name="Options panel"/>
          <p:cNvSpPr/>
          <p:nvPr/>
        </p:nvSpPr>
        <p:spPr>
          <a:xfrm>
            <a:off x="5212080" y="1783080"/>
            <a:ext cx="347472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ptions head"/>
          <p:cNvSpPr txBox="1"/>
          <p:nvPr/>
        </p:nvSpPr>
        <p:spPr>
          <a:xfrm>
            <a:off x="5394960" y="1828800"/>
            <a:ext cx="3108960" cy="320040"/>
          </a:xfrm>
          <a:prstGeom prst="rect">
            <a:avLst/>
          </a:prstGeom>
          <a:noFill/>
        </p:spPr>
        <p:txBody>
          <a:bodyPr wrap="square" lIns="0" rIns="0" tIns="0" bIns="0" anchor="t">
            <a:noAutofit/>
          </a:bodyPr>
          <a:lstStyle/>
          <a:p>
            <a:pPr algn="l">
              <a:spcAft>
                <a:spcPts val="400"/>
              </a:spcAft>
            </a:pPr>
            <a:r>
              <a:rPr sz="1300" b="1" lang="en-GB">
                <a:solidFill>
                  <a:schemeClr val="tx2"/>
                </a:solidFill>
              </a:rPr>
              <a:t>Providers</a:t>
            </a:r>
          </a:p>
        </p:txBody>
      </p:sp>
      <p:sp>
        <p:nvSpPr>
          <p:cNvPr id="27" name="Options text"/>
          <p:cNvSpPr txBox="1"/>
          <p:nvPr/>
        </p:nvSpPr>
        <p:spPr>
          <a:xfrm>
            <a:off x="5394960" y="2148840"/>
            <a:ext cx="3200400" cy="1463040"/>
          </a:xfrm>
          <a:prstGeom prst="rect">
            <a:avLst/>
          </a:prstGeom>
          <a:noFill/>
        </p:spPr>
        <p:txBody>
          <a:bodyPr wrap="square" lIns="0" rIns="0" tIns="0" bIns="0" anchor="t">
            <a:noAutofit/>
          </a:bodyPr>
          <a:lstStyle/>
          <a:p>
            <a:pPr algn="l">
              <a:spcAft>
                <a:spcPts val="400"/>
              </a:spcAft>
            </a:pPr>
            <a:r>
              <a:rPr sz="1200" b="1" lang="en-GB">
                <a:solidFill>
                  <a:schemeClr val="tx2"/>
                </a:solidFill>
              </a:rPr>
              <a:t>GitHub Copilot: </a:t>
            </a:r>
            <a:r>
              <a:rPr sz="1200" b="0" lang="en-GB">
                <a:solidFill>
                  <a:schemeClr val="tx1"/>
                </a:solidFill>
              </a:rPr>
              <a:t>chat and completions; free with Copilot Student or Copilot Free</a:t>
            </a:r>
          </a:p>
          <a:p>
            <a:pPr algn="l">
              <a:spcAft>
                <a:spcPts val="400"/>
              </a:spcAft>
            </a:pPr>
            <a:r>
              <a:rPr sz="1200" b="1" lang="en-GB">
                <a:solidFill>
                  <a:schemeClr val="tx2"/>
                </a:solidFill>
              </a:rPr>
              <a:t>Posit AI Pass: </a:t>
            </a:r>
            <a:r>
              <a:rPr sz="1200" b="0" lang="en-GB">
                <a:solidFill>
                  <a:schemeClr val="tx1"/>
                </a:solidFill>
              </a:rPr>
              <a:t>chat and completions; about USD 20 a month</a:t>
            </a:r>
          </a:p>
          <a:p>
            <a:pPr algn="l">
              <a:spcAft>
                <a:spcPts val="400"/>
              </a:spcAft>
            </a:pPr>
            <a:r>
              <a:rPr sz="1200" b="1" lang="en-GB">
                <a:solidFill>
                  <a:schemeClr val="tx2"/>
                </a:solidFill>
              </a:rPr>
              <a:t>Anthropic API key: </a:t>
            </a:r>
            <a:r>
              <a:rPr sz="1200" b="0" lang="en-GB">
                <a:solidFill>
                  <a:schemeClr val="tx1"/>
                </a:solidFill>
              </a:rPr>
              <a:t>chat; pay as you go</a:t>
            </a:r>
          </a:p>
        </p:txBody>
      </p:sp>
      <p:sp>
        <p:nvSpPr>
          <p:cNvPr id="28" name="AI rule box"/>
          <p:cNvSpPr/>
          <p:nvPr/>
        </p:nvSpPr>
        <p:spPr>
          <a:xfrm>
            <a:off x="457200" y="388620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Icon AI rule" descr=""/>
          <p:cNvPicPr>
            <a:picLocks noChangeAspect="1"/>
          </p:cNvPicPr>
          <p:nvPr/>
        </p:nvPicPr>
        <p:blipFill>
          <a:blip r:embed="rId3"/>
          <a:stretch>
            <a:fillRect/>
          </a:stretch>
        </p:blipFill>
        <p:spPr>
          <a:xfrm>
            <a:off x="658368" y="4242816"/>
            <a:ext cx="384048" cy="384048"/>
          </a:xfrm>
          <a:prstGeom prst="rect">
            <a:avLst/>
          </a:prstGeom>
        </p:spPr>
      </p:pic>
      <p:sp>
        <p:nvSpPr>
          <p:cNvPr id="30" name="AI rule text"/>
          <p:cNvSpPr txBox="1"/>
          <p:nvPr/>
        </p:nvSpPr>
        <p:spPr>
          <a:xfrm>
            <a:off x="1234440" y="388620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Our rule: </a:t>
            </a:r>
            <a:r>
              <a:rPr sz="1300" b="0" lang="en-GB">
                <a:solidFill>
                  <a:schemeClr val="bg1"/>
                </a:solidFill>
              </a:rPr>
              <a:t>the AI writes, you check. Run the code, read the output and keep a short prompt log for each submission.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4 · panes, running code, projects, Quarto, Posit Assistant</a:t>
            </a:r>
          </a:p>
        </p:txBody>
      </p:sp>
      <p:sp>
        <p:nvSpPr>
          <p:cNvPr id="3" name="Title 2"/>
          <p:cNvSpPr>
            <a:spLocks noGrp="1"/>
          </p:cNvSpPr>
          <p:nvPr>
            <p:ph type="ctrTitle"/>
          </p:nvPr>
        </p:nvSpPr>
        <p:spPr/>
        <p:txBody>
          <a:bodyPr/>
          <a:lstStyle/>
          <a:p>
            <a:r>
              <a:rPr sz="1600" lang="en-GB"/>
              <a:t>How Positron works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Positron at a glance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op Bar"/>
          <p:cNvSpPr/>
          <p:nvPr/>
        </p:nvSpPr>
        <p:spPr>
          <a:xfrm>
            <a:off x="457200" y="1234440"/>
            <a:ext cx="8229600" cy="32918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p Bar left"/>
          <p:cNvSpPr txBox="1"/>
          <p:nvPr/>
        </p:nvSpPr>
        <p:spPr>
          <a:xfrm>
            <a:off x="594360" y="1234440"/>
            <a:ext cx="2743200" cy="329184"/>
          </a:xfrm>
          <a:prstGeom prst="rect">
            <a:avLst/>
          </a:prstGeom>
          <a:noFill/>
        </p:spPr>
        <p:txBody>
          <a:bodyPr wrap="square" lIns="0" rIns="0" tIns="0" bIns="0" anchor="ctr">
            <a:noAutofit/>
          </a:bodyPr>
          <a:lstStyle/>
          <a:p>
            <a:pPr algn="l">
              <a:spcAft>
                <a:spcPts val="400"/>
              </a:spcAft>
            </a:pPr>
            <a:r>
              <a:rPr sz="1100" b="0" lang="en-GB">
                <a:solidFill>
                  <a:schemeClr val="bg1"/>
                </a:solidFill>
              </a:rPr>
              <a:t>New ▾   Open ▾</a:t>
            </a:r>
          </a:p>
        </p:txBody>
      </p:sp>
      <p:sp>
        <p:nvSpPr>
          <p:cNvPr id="12" name="Project switcher"/>
          <p:cNvSpPr/>
          <p:nvPr/>
        </p:nvSpPr>
        <p:spPr>
          <a:xfrm>
            <a:off x="4572000" y="1271016"/>
            <a:ext cx="15087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switcher text"/>
          <p:cNvSpPr txBox="1"/>
          <p:nvPr/>
        </p:nvSpPr>
        <p:spPr>
          <a:xfrm>
            <a:off x="4617720" y="1271016"/>
            <a:ext cx="1417320" cy="256032"/>
          </a:xfrm>
          <a:prstGeom prst="rect">
            <a:avLst/>
          </a:prstGeom>
          <a:noFill/>
        </p:spPr>
        <p:txBody>
          <a:bodyPr wrap="square" lIns="0" rIns="0" tIns="0" bIns="0" anchor="ctr">
            <a:noAutofit/>
          </a:bodyPr>
          <a:lstStyle/>
          <a:p>
            <a:pPr algn="ctr">
              <a:spcAft>
                <a:spcPts val="400"/>
              </a:spcAft>
            </a:pPr>
            <a:r>
              <a:rPr sz="1050" b="0" lang="en-GB">
                <a:solidFill>
                  <a:schemeClr val="tx2"/>
                </a:solidFill>
              </a:rPr>
              <a:t>case-study ▾</a:t>
            </a:r>
          </a:p>
        </p:txBody>
      </p:sp>
      <p:sp>
        <p:nvSpPr>
          <p:cNvPr id="14" name="Window pill"/>
          <p:cNvSpPr/>
          <p:nvPr/>
        </p:nvSpPr>
        <p:spPr>
          <a:xfrm>
            <a:off x="6172200" y="1271016"/>
            <a:ext cx="2423160" cy="256032"/>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Window pill text"/>
          <p:cNvSpPr txBox="1"/>
          <p:nvPr/>
        </p:nvSpPr>
        <p:spPr>
          <a:xfrm>
            <a:off x="6217920" y="1271016"/>
            <a:ext cx="2331720" cy="256032"/>
          </a:xfrm>
          <a:prstGeom prst="rect">
            <a:avLst/>
          </a:prstGeom>
          <a:noFill/>
        </p:spPr>
        <p:txBody>
          <a:bodyPr wrap="square" lIns="0" rIns="0" tIns="0" bIns="0" anchor="ctr">
            <a:noAutofit/>
          </a:bodyPr>
          <a:lstStyle/>
          <a:p>
            <a:pPr algn="ctr">
              <a:spcAft>
                <a:spcPts val="400"/>
              </a:spcAft>
            </a:pPr>
            <a:r>
              <a:rPr sz="1050" b="0" lang="en-GB">
                <a:solidFill>
                  <a:schemeClr val="tx2"/>
                </a:solidFill>
                <a:latin typeface="Consolas"/>
              </a:rPr>
              <a:t>Python 3.13.16 (.venv) ▾</a:t>
            </a:r>
          </a:p>
        </p:txBody>
      </p:sp>
      <p:sp>
        <p:nvSpPr>
          <p:cNvPr id="16" name="Activity bar"/>
          <p:cNvSpPr/>
          <p:nvPr/>
        </p:nvSpPr>
        <p:spPr>
          <a:xfrm>
            <a:off x="457200" y="1563624"/>
            <a:ext cx="274320" cy="351129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Explorer"/>
          <p:cNvSpPr/>
          <p:nvPr/>
        </p:nvSpPr>
        <p:spPr>
          <a:xfrm>
            <a:off x="768096" y="1600200"/>
            <a:ext cx="1700784" cy="3474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ne number 1"/>
          <p:cNvSpPr/>
          <p:nvPr/>
        </p:nvSpPr>
        <p:spPr>
          <a:xfrm>
            <a:off x="85953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9" name="Pane text 1"/>
          <p:cNvSpPr txBox="1"/>
          <p:nvPr/>
        </p:nvSpPr>
        <p:spPr>
          <a:xfrm>
            <a:off x="1225296" y="1673352"/>
            <a:ext cx="1152144" cy="548640"/>
          </a:xfrm>
          <a:prstGeom prst="rect">
            <a:avLst/>
          </a:prstGeom>
          <a:noFill/>
        </p:spPr>
        <p:txBody>
          <a:bodyPr wrap="square" lIns="0" rIns="0" tIns="0" bIns="0" anchor="t">
            <a:noAutofit/>
          </a:bodyPr>
          <a:lstStyle/>
          <a:p>
            <a:pPr algn="l">
              <a:spcAft>
                <a:spcPts val="0"/>
              </a:spcAft>
            </a:pPr>
            <a:r>
              <a:rPr sz="1200" b="1" lang="en-GB">
                <a:solidFill>
                  <a:schemeClr val="tx2"/>
                </a:solidFill>
              </a:rPr>
              <a:t>Explorer</a:t>
            </a:r>
          </a:p>
          <a:p>
            <a:pPr algn="l">
              <a:spcAft>
                <a:spcPts val="0"/>
              </a:spcAft>
            </a:pPr>
            <a:r>
              <a:rPr sz="1100" b="0" lang="en-GB">
                <a:solidFill>
                  <a:schemeClr val="tx1"/>
                </a:solidFill>
              </a:rPr>
              <a:t>files of the open folder</a:t>
            </a:r>
          </a:p>
        </p:txBody>
      </p:sp>
      <p:sp>
        <p:nvSpPr>
          <p:cNvPr id="20" name="Pane sample 1"/>
          <p:cNvSpPr txBox="1"/>
          <p:nvPr/>
        </p:nvSpPr>
        <p:spPr>
          <a:xfrm>
            <a:off x="905256" y="2377440"/>
            <a:ext cx="1426464" cy="260604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data/</a:t>
            </a:r>
          </a:p>
          <a:p>
            <a:pPr algn="l">
              <a:spcAft>
                <a:spcPts val="0"/>
              </a:spcAft>
            </a:pPr>
            <a:r>
              <a:rPr sz="1100" b="0" lang="en-GB">
                <a:solidFill>
                  <a:schemeClr val="tx2"/>
                </a:solidFill>
                <a:latin typeface="Consolas"/>
              </a:rPr>
              <a:t>analysis.py</a:t>
            </a:r>
          </a:p>
          <a:p>
            <a:pPr algn="l">
              <a:spcAft>
                <a:spcPts val="0"/>
              </a:spcAft>
            </a:pPr>
            <a:r>
              <a:rPr sz="1100" b="0" lang="en-GB">
                <a:solidFill>
                  <a:schemeClr val="tx2"/>
                </a:solidFill>
                <a:latin typeface="Consolas"/>
              </a:rPr>
              <a:t>report.qmd</a:t>
            </a:r>
          </a:p>
          <a:p>
            <a:pPr algn="l">
              <a:spcAft>
                <a:spcPts val="0"/>
              </a:spcAft>
            </a:pPr>
            <a:r>
              <a:rPr sz="1100" b="0" lang="en-GB">
                <a:solidFill>
                  <a:schemeClr val="tx2"/>
                </a:solidFill>
                <a:latin typeface="Consolas"/>
              </a:rPr>
              <a:t>requirements.txt</a:t>
            </a:r>
          </a:p>
        </p:txBody>
      </p:sp>
      <p:sp>
        <p:nvSpPr>
          <p:cNvPr id="21" name="Pane Editor"/>
          <p:cNvSpPr/>
          <p:nvPr/>
        </p:nvSpPr>
        <p:spPr>
          <a:xfrm>
            <a:off x="2505456" y="1600200"/>
            <a:ext cx="3529584" cy="19019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ane number 2"/>
          <p:cNvSpPr/>
          <p:nvPr/>
        </p:nvSpPr>
        <p:spPr>
          <a:xfrm>
            <a:off x="259689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23" name="Pane text 2"/>
          <p:cNvSpPr txBox="1"/>
          <p:nvPr/>
        </p:nvSpPr>
        <p:spPr>
          <a:xfrm>
            <a:off x="2962656" y="1673352"/>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Editor</a:t>
            </a:r>
          </a:p>
          <a:p>
            <a:pPr algn="l">
              <a:spcAft>
                <a:spcPts val="0"/>
              </a:spcAft>
            </a:pPr>
            <a:r>
              <a:rPr sz="1100" b="0" lang="en-GB">
                <a:solidFill>
                  <a:schemeClr val="tx1"/>
                </a:solidFill>
              </a:rPr>
              <a:t>write .py and .qmd files</a:t>
            </a:r>
          </a:p>
        </p:txBody>
      </p:sp>
      <p:sp>
        <p:nvSpPr>
          <p:cNvPr id="24" name="Pane sample 2"/>
          <p:cNvSpPr txBox="1"/>
          <p:nvPr/>
        </p:nvSpPr>
        <p:spPr>
          <a:xfrm>
            <a:off x="2642616" y="2377440"/>
            <a:ext cx="3255264" cy="103327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 %%</a:t>
            </a:r>
          </a:p>
          <a:p>
            <a:pPr algn="l">
              <a:spcAft>
                <a:spcPts val="0"/>
              </a:spcAft>
            </a:pPr>
            <a:r>
              <a:rPr sz="1100" b="0" lang="en-GB">
                <a:solidFill>
                  <a:schemeClr val="tx2"/>
                </a:solidFill>
                <a:latin typeface="Consolas"/>
              </a:rPr>
              <a:t>sales = pl.read_csv(...)</a:t>
            </a:r>
          </a:p>
          <a:p>
            <a:pPr algn="l">
              <a:spcAft>
                <a:spcPts val="0"/>
              </a:spcAft>
            </a:pPr>
            <a:r>
              <a:rPr sz="1100" b="0" lang="en-GB">
                <a:solidFill>
                  <a:schemeClr val="tx2"/>
                </a:solidFill>
                <a:latin typeface="Consolas"/>
              </a:rPr>
              <a:t>sales.head()</a:t>
            </a:r>
          </a:p>
        </p:txBody>
      </p:sp>
      <p:sp>
        <p:nvSpPr>
          <p:cNvPr id="25" name="Pane Console and Terminal"/>
          <p:cNvSpPr/>
          <p:nvPr/>
        </p:nvSpPr>
        <p:spPr>
          <a:xfrm>
            <a:off x="2505456" y="3538728"/>
            <a:ext cx="3529584" cy="15361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ane number 3"/>
          <p:cNvSpPr/>
          <p:nvPr/>
        </p:nvSpPr>
        <p:spPr>
          <a:xfrm>
            <a:off x="2596896" y="363016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7" name="Pane text 3"/>
          <p:cNvSpPr txBox="1"/>
          <p:nvPr/>
        </p:nvSpPr>
        <p:spPr>
          <a:xfrm>
            <a:off x="2962656" y="3611880"/>
            <a:ext cx="2980944" cy="548640"/>
          </a:xfrm>
          <a:prstGeom prst="rect">
            <a:avLst/>
          </a:prstGeom>
          <a:noFill/>
        </p:spPr>
        <p:txBody>
          <a:bodyPr wrap="square" lIns="0" rIns="0" tIns="0" bIns="0" anchor="t">
            <a:noAutofit/>
          </a:bodyPr>
          <a:lstStyle/>
          <a:p>
            <a:pPr algn="l">
              <a:spcAft>
                <a:spcPts val="0"/>
              </a:spcAft>
            </a:pPr>
            <a:r>
              <a:rPr sz="1200" b="1" lang="en-GB">
                <a:solidFill>
                  <a:schemeClr val="tx2"/>
                </a:solidFill>
              </a:rPr>
              <a:t>Console and Terminal</a:t>
            </a:r>
          </a:p>
          <a:p>
            <a:pPr algn="l">
              <a:spcAft>
                <a:spcPts val="0"/>
              </a:spcAft>
            </a:pPr>
            <a:r>
              <a:rPr sz="1100" b="0" lang="en-GB">
                <a:solidFill>
                  <a:schemeClr val="tx1"/>
                </a:solidFill>
              </a:rPr>
              <a:t>the Panel: code runs, results print</a:t>
            </a:r>
          </a:p>
        </p:txBody>
      </p:sp>
      <p:sp>
        <p:nvSpPr>
          <p:cNvPr id="28" name="Pane sample 3"/>
          <p:cNvSpPr txBox="1"/>
          <p:nvPr/>
        </p:nvSpPr>
        <p:spPr>
          <a:xfrm>
            <a:off x="2642616" y="4315968"/>
            <a:ext cx="3255264" cy="667512"/>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&gt;&gt;&gt; sales.height</a:t>
            </a:r>
          </a:p>
          <a:p>
            <a:pPr algn="l">
              <a:spcAft>
                <a:spcPts val="0"/>
              </a:spcAft>
            </a:pPr>
            <a:r>
              <a:rPr sz="1100" b="0" lang="en-GB">
                <a:solidFill>
                  <a:schemeClr val="tx2"/>
                </a:solidFill>
                <a:latin typeface="Consolas"/>
              </a:rPr>
              <a:t>936</a:t>
            </a:r>
          </a:p>
        </p:txBody>
      </p:sp>
      <p:sp>
        <p:nvSpPr>
          <p:cNvPr id="29" name="Pane Variables"/>
          <p:cNvSpPr/>
          <p:nvPr/>
        </p:nvSpPr>
        <p:spPr>
          <a:xfrm>
            <a:off x="6071616" y="1600200"/>
            <a:ext cx="2615184" cy="15819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Pane number 4"/>
          <p:cNvSpPr/>
          <p:nvPr/>
        </p:nvSpPr>
        <p:spPr>
          <a:xfrm>
            <a:off x="6163056" y="169164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31" name="Pane text 4"/>
          <p:cNvSpPr txBox="1"/>
          <p:nvPr/>
        </p:nvSpPr>
        <p:spPr>
          <a:xfrm>
            <a:off x="6528816" y="1673352"/>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Variables</a:t>
            </a:r>
          </a:p>
          <a:p>
            <a:pPr algn="l">
              <a:spcAft>
                <a:spcPts val="0"/>
              </a:spcAft>
            </a:pPr>
            <a:r>
              <a:rPr sz="1100" b="0" lang="en-GB">
                <a:solidFill>
                  <a:schemeClr val="tx1"/>
                </a:solidFill>
              </a:rPr>
              <a:t>Session pane: what is in memory</a:t>
            </a:r>
          </a:p>
        </p:txBody>
      </p:sp>
      <p:sp>
        <p:nvSpPr>
          <p:cNvPr id="32" name="Pane Plots"/>
          <p:cNvSpPr/>
          <p:nvPr/>
        </p:nvSpPr>
        <p:spPr>
          <a:xfrm>
            <a:off x="6071616" y="3218688"/>
            <a:ext cx="2615184" cy="1856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umber 5"/>
          <p:cNvSpPr/>
          <p:nvPr/>
        </p:nvSpPr>
        <p:spPr>
          <a:xfrm>
            <a:off x="6163056" y="3310128"/>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34" name="Pane text 5"/>
          <p:cNvSpPr txBox="1"/>
          <p:nvPr/>
        </p:nvSpPr>
        <p:spPr>
          <a:xfrm>
            <a:off x="6528816" y="3291840"/>
            <a:ext cx="2066544" cy="548640"/>
          </a:xfrm>
          <a:prstGeom prst="rect">
            <a:avLst/>
          </a:prstGeom>
          <a:noFill/>
        </p:spPr>
        <p:txBody>
          <a:bodyPr wrap="square" lIns="0" rIns="0" tIns="0" bIns="0" anchor="t">
            <a:noAutofit/>
          </a:bodyPr>
          <a:lstStyle/>
          <a:p>
            <a:pPr algn="l">
              <a:spcAft>
                <a:spcPts val="0"/>
              </a:spcAft>
            </a:pPr>
            <a:r>
              <a:rPr sz="1200" b="1" lang="en-GB">
                <a:solidFill>
                  <a:schemeClr val="tx2"/>
                </a:solidFill>
              </a:rPr>
              <a:t>Plots</a:t>
            </a:r>
          </a:p>
          <a:p>
            <a:pPr algn="l">
              <a:spcAft>
                <a:spcPts val="0"/>
              </a:spcAft>
            </a:pPr>
            <a:r>
              <a:rPr sz="1100" b="0" lang="en-GB">
                <a:solidFill>
                  <a:schemeClr val="tx1"/>
                </a:solidFill>
              </a:rPr>
              <a:t>Session pane: your charts</a:t>
            </a:r>
          </a:p>
        </p:txBody>
      </p:sp>
      <p:sp>
        <p:nvSpPr>
          <p:cNvPr id="35" name="Variable 1"/>
          <p:cNvSpPr txBox="1"/>
          <p:nvPr/>
        </p:nvSpPr>
        <p:spPr>
          <a:xfrm>
            <a:off x="6208776" y="224028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sales</a:t>
            </a:r>
            <a:r>
              <a:rPr sz="1100" b="0" lang="en-GB">
                <a:solidFill>
                  <a:schemeClr val="tx1"/>
                </a:solidFill>
              </a:rPr>
              <a:t>   936 × 18</a:t>
            </a:r>
          </a:p>
        </p:txBody>
      </p:sp>
      <p:sp>
        <p:nvSpPr>
          <p:cNvPr id="36" name="Variable 2"/>
          <p:cNvSpPr txBox="1"/>
          <p:nvPr/>
        </p:nvSpPr>
        <p:spPr>
          <a:xfrm>
            <a:off x="6208776" y="251460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summary</a:t>
            </a:r>
            <a:r>
              <a:rPr sz="1100" b="0" lang="en-GB">
                <a:solidFill>
                  <a:schemeClr val="tx1"/>
                </a:solidFill>
              </a:rPr>
              <a:t>   6 × 3</a:t>
            </a:r>
          </a:p>
        </p:txBody>
      </p:sp>
      <p:sp>
        <p:nvSpPr>
          <p:cNvPr id="37" name="Variable 3"/>
          <p:cNvSpPr txBox="1"/>
          <p:nvPr/>
        </p:nvSpPr>
        <p:spPr>
          <a:xfrm>
            <a:off x="6208776" y="2788920"/>
            <a:ext cx="2377440" cy="274320"/>
          </a:xfrm>
          <a:prstGeom prst="rect">
            <a:avLst/>
          </a:prstGeom>
          <a:noFill/>
        </p:spPr>
        <p:txBody>
          <a:bodyPr wrap="square" lIns="0" rIns="0" tIns="0" bIns="0" anchor="t">
            <a:noAutofit/>
          </a:bodyPr>
          <a:lstStyle/>
          <a:p>
            <a:pPr algn="l">
              <a:spcAft>
                <a:spcPts val="0"/>
              </a:spcAft>
            </a:pPr>
            <a:r>
              <a:rPr sz="1100" b="0" lang="en-GB">
                <a:solidFill>
                  <a:schemeClr val="tx2"/>
                </a:solidFill>
                <a:latin typeface="Consolas"/>
              </a:rPr>
              <a:t>model</a:t>
            </a:r>
            <a:r>
              <a:rPr sz="1100" b="0" lang="en-GB">
                <a:solidFill>
                  <a:schemeClr val="tx1"/>
                </a:solidFill>
              </a:rPr>
              <a:t>   OLS results</a:t>
            </a:r>
          </a:p>
        </p:txBody>
      </p:sp>
      <p:pic>
        <p:nvPicPr>
          <p:cNvPr id="38" name="Plot thumbnail" descr="Example line chart of weekly sales for Austria and Germany"/>
          <p:cNvPicPr>
            <a:picLocks noChangeAspect="1"/>
          </p:cNvPicPr>
          <p:nvPr/>
        </p:nvPicPr>
        <p:blipFill>
          <a:blip r:embed="rId3"/>
          <a:stretch>
            <a:fillRect/>
          </a:stretch>
        </p:blipFill>
        <p:spPr>
          <a:xfrm>
            <a:off x="6208776" y="3822192"/>
            <a:ext cx="2340864" cy="124843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code to result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u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Write code</a:t>
            </a:r>
            <a:br/>
            <a:r>
              <a:rPr sz="1200" b="1" lang="en-GB">
                <a:solidFill>
                  <a:schemeClr val="tx2"/>
                </a:solidFill>
              </a:rPr>
              <a:t>in the editor</a:t>
            </a:r>
          </a:p>
        </p:txBody>
      </p:sp>
      <p:sp>
        <p:nvSpPr>
          <p:cNvPr id="11" name="Ru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Ctrl/Cmd</a:t>
            </a:r>
            <a:br/>
            <a:r>
              <a:rPr sz="1200" b="1" lang="en-GB">
                <a:solidFill>
                  <a:schemeClr val="tx2"/>
                </a:solidFill>
              </a:rPr>
              <a:t>+ Enter</a:t>
            </a:r>
          </a:p>
        </p:txBody>
      </p:sp>
      <p:sp>
        <p:nvSpPr>
          <p:cNvPr id="12" name="Ru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It runs in</a:t>
            </a:r>
            <a:br/>
            <a:r>
              <a:rPr sz="1200" b="1" lang="en-GB">
                <a:solidFill>
                  <a:schemeClr val="tx2"/>
                </a:solidFill>
              </a:rPr>
              <a:t>the console</a:t>
            </a:r>
          </a:p>
        </p:txBody>
      </p:sp>
      <p:sp>
        <p:nvSpPr>
          <p:cNvPr id="13" name="Ru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Objects in</a:t>
            </a:r>
            <a:br/>
            <a:r>
              <a:rPr sz="1200" b="1" lang="en-GB">
                <a:solidFill>
                  <a:schemeClr val="tx2"/>
                </a:solidFill>
              </a:rPr>
              <a:t>Variables</a:t>
            </a:r>
          </a:p>
        </p:txBody>
      </p:sp>
      <p:sp>
        <p:nvSpPr>
          <p:cNvPr id="14" name="Ru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Charts in</a:t>
            </a:r>
            <a:br/>
            <a:r>
              <a:rPr sz="1200" b="1" lang="en-GB">
                <a:solidFill>
                  <a:schemeClr val="tx2"/>
                </a:solidFill>
              </a:rPr>
              <a:t>Plots</a:t>
            </a:r>
          </a:p>
        </p:txBody>
      </p:sp>
      <p:sp>
        <p:nvSpPr>
          <p:cNvPr id="15" name="Run card body"/>
          <p:cNvSpPr/>
          <p:nvPr/>
        </p:nvSpPr>
        <p:spPr>
          <a:xfrm>
            <a:off x="45720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n card header"/>
          <p:cNvSpPr/>
          <p:nvPr/>
        </p:nvSpPr>
        <p:spPr>
          <a:xfrm>
            <a:off x="45720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n card heading"/>
          <p:cNvSpPr txBox="1"/>
          <p:nvPr/>
        </p:nvSpPr>
        <p:spPr>
          <a:xfrm>
            <a:off x="59436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Run code</a:t>
            </a:r>
          </a:p>
        </p:txBody>
      </p:sp>
      <p:pic>
        <p:nvPicPr>
          <p:cNvPr id="18" name="Icon Run card" descr=""/>
          <p:cNvPicPr>
            <a:picLocks noChangeAspect="1"/>
          </p:cNvPicPr>
          <p:nvPr/>
        </p:nvPicPr>
        <p:blipFill>
          <a:blip r:embed="rId3"/>
          <a:stretch>
            <a:fillRect/>
          </a:stretch>
        </p:blipFill>
        <p:spPr>
          <a:xfrm>
            <a:off x="4064508" y="2016252"/>
            <a:ext cx="310896" cy="310896"/>
          </a:xfrm>
          <a:prstGeom prst="rect">
            <a:avLst/>
          </a:prstGeom>
        </p:spPr>
      </p:pic>
      <p:sp>
        <p:nvSpPr>
          <p:cNvPr id="19" name="Run card text"/>
          <p:cNvSpPr txBox="1"/>
          <p:nvPr/>
        </p:nvSpPr>
        <p:spPr>
          <a:xfrm>
            <a:off x="62179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Ctrl/Cmd + Enter: the selection or current statement</a:t>
            </a:r>
          </a:p>
          <a:p>
            <a:pPr algn="l" marL="182880" indent="-182880">
              <a:spcAft>
                <a:spcPts val="600"/>
              </a:spcAft>
              <a:buClr>
                <a:schemeClr val="accent1"/>
              </a:buClr>
              <a:buFont typeface="Arial"/>
              <a:buChar char="▪"/>
            </a:pPr>
            <a:r>
              <a:rPr sz="1300" b="0" lang="en-GB">
                <a:solidFill>
                  <a:schemeClr val="tx1"/>
                </a:solidFill>
              </a:rPr>
              <a:t>Ctrl/Cmd + Shift + Enter: the whole file, or the current cell</a:t>
            </a:r>
          </a:p>
          <a:p>
            <a:pPr algn="l" marL="182880" indent="-182880">
              <a:spcAft>
                <a:spcPts val="600"/>
              </a:spcAft>
              <a:buClr>
                <a:schemeClr val="accent1"/>
              </a:buClr>
              <a:buFont typeface="Arial"/>
              <a:buChar char="▪"/>
            </a:pPr>
            <a:r>
              <a:rPr sz="1300" b="0" lang="en-GB">
                <a:solidFill>
                  <a:schemeClr val="tx1"/>
                </a:solidFill>
              </a:rPr>
              <a:t># %% starts a cell in a .py file</a:t>
            </a:r>
          </a:p>
        </p:txBody>
      </p:sp>
      <p:sp>
        <p:nvSpPr>
          <p:cNvPr id="20" name="Results card body"/>
          <p:cNvSpPr/>
          <p:nvPr/>
        </p:nvSpPr>
        <p:spPr>
          <a:xfrm>
            <a:off x="4640580" y="2377440"/>
            <a:ext cx="404622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sults card header"/>
          <p:cNvSpPr/>
          <p:nvPr/>
        </p:nvSpPr>
        <p:spPr>
          <a:xfrm>
            <a:off x="4640580" y="196596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sults card heading"/>
          <p:cNvSpPr txBox="1"/>
          <p:nvPr/>
        </p:nvSpPr>
        <p:spPr>
          <a:xfrm>
            <a:off x="4777740" y="196596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Look at results</a:t>
            </a:r>
          </a:p>
        </p:txBody>
      </p:sp>
      <p:pic>
        <p:nvPicPr>
          <p:cNvPr id="23" name="Icon Results card" descr=""/>
          <p:cNvPicPr>
            <a:picLocks noChangeAspect="1"/>
          </p:cNvPicPr>
          <p:nvPr/>
        </p:nvPicPr>
        <p:blipFill>
          <a:blip r:embed="rId4"/>
          <a:stretch>
            <a:fillRect/>
          </a:stretch>
        </p:blipFill>
        <p:spPr>
          <a:xfrm>
            <a:off x="8247888" y="2016252"/>
            <a:ext cx="310896" cy="310896"/>
          </a:xfrm>
          <a:prstGeom prst="rect">
            <a:avLst/>
          </a:prstGeom>
        </p:spPr>
      </p:pic>
      <p:sp>
        <p:nvSpPr>
          <p:cNvPr id="24" name="Results card text"/>
          <p:cNvSpPr txBox="1"/>
          <p:nvPr/>
        </p:nvSpPr>
        <p:spPr>
          <a:xfrm>
            <a:off x="4805172" y="2514600"/>
            <a:ext cx="3744468" cy="14173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Variables: every object, its type and size</a:t>
            </a:r>
          </a:p>
          <a:p>
            <a:pPr algn="l" marL="182880" indent="-182880">
              <a:spcAft>
                <a:spcPts val="600"/>
              </a:spcAft>
              <a:buClr>
                <a:schemeClr val="accent1"/>
              </a:buClr>
              <a:buFont typeface="Arial"/>
              <a:buChar char="▪"/>
            </a:pPr>
            <a:r>
              <a:rPr sz="1300" b="0" lang="en-GB">
                <a:solidFill>
                  <a:schemeClr val="tx1"/>
                </a:solidFill>
              </a:rPr>
              <a:t>Data Explorer: click a table, or type %view sales</a:t>
            </a:r>
          </a:p>
          <a:p>
            <a:pPr algn="l" marL="182880" indent="-182880">
              <a:spcAft>
                <a:spcPts val="600"/>
              </a:spcAft>
              <a:buClr>
                <a:schemeClr val="accent1"/>
              </a:buClr>
              <a:buFont typeface="Arial"/>
              <a:buChar char="▪"/>
            </a:pPr>
            <a:r>
              <a:rPr sz="1300" b="0" lang="en-GB">
                <a:solidFill>
                  <a:schemeClr val="tx1"/>
                </a:solidFill>
              </a:rPr>
              <a:t>Plots: earlier charts, zoom, save as PNG</a:t>
            </a:r>
          </a:p>
        </p:txBody>
      </p:sp>
      <p:sp>
        <p:nvSpPr>
          <p:cNvPr id="25" name="Console box"/>
          <p:cNvSpPr/>
          <p:nvPr/>
        </p:nvSpPr>
        <p:spPr>
          <a:xfrm>
            <a:off x="457200" y="4251960"/>
            <a:ext cx="8229600" cy="822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Console" descr=""/>
          <p:cNvPicPr>
            <a:picLocks noChangeAspect="1"/>
          </p:cNvPicPr>
          <p:nvPr/>
        </p:nvPicPr>
        <p:blipFill>
          <a:blip r:embed="rId5"/>
          <a:stretch>
            <a:fillRect/>
          </a:stretch>
        </p:blipFill>
        <p:spPr>
          <a:xfrm>
            <a:off x="658368" y="4471416"/>
            <a:ext cx="384048" cy="384048"/>
          </a:xfrm>
          <a:prstGeom prst="rect">
            <a:avLst/>
          </a:prstGeom>
        </p:spPr>
      </p:pic>
      <p:sp>
        <p:nvSpPr>
          <p:cNvPr id="27" name="Console text"/>
          <p:cNvSpPr txBox="1"/>
          <p:nvPr/>
        </p:nvSpPr>
        <p:spPr>
          <a:xfrm>
            <a:off x="1234440" y="4251960"/>
            <a:ext cx="7269480" cy="822960"/>
          </a:xfrm>
          <a:prstGeom prst="rect">
            <a:avLst/>
          </a:prstGeom>
          <a:noFill/>
        </p:spPr>
        <p:txBody>
          <a:bodyPr wrap="square" lIns="0" rIns="0" tIns="0" bIns="0" anchor="ctr">
            <a:noAutofit/>
          </a:bodyPr>
          <a:lstStyle/>
          <a:p>
            <a:pPr algn="l">
              <a:spcAft>
                <a:spcPts val="400"/>
              </a:spcAft>
            </a:pPr>
            <a:r>
              <a:rPr sz="1300" b="1" lang="en-GB">
                <a:solidFill>
                  <a:schemeClr val="bg1"/>
                </a:solidFill>
              </a:rPr>
              <a:t>Console or terminal? </a:t>
            </a:r>
            <a:r>
              <a:rPr sz="1300" b="0" lang="en-GB">
                <a:solidFill>
                  <a:schemeClr val="bg1"/>
                </a:solidFill>
              </a:rPr>
              <a:t>The console speaks Python. The terminal speaks to your computer: pip, git and quarto commands go there.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Projects in Positron: one folder for everything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ject tre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ject tre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A project is a folder</a:t>
            </a:r>
          </a:p>
        </p:txBody>
      </p:sp>
      <p:sp>
        <p:nvSpPr>
          <p:cNvPr id="12" name="Project tree box"/>
          <p:cNvSpPr/>
          <p:nvPr/>
        </p:nvSpPr>
        <p:spPr>
          <a:xfrm>
            <a:off x="457200" y="1508760"/>
            <a:ext cx="4937760" cy="2240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ject tree code"/>
          <p:cNvSpPr txBox="1"/>
          <p:nvPr/>
        </p:nvSpPr>
        <p:spPr>
          <a:xfrm>
            <a:off x="594360" y="1600200"/>
            <a:ext cx="4663440" cy="20574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case-study/</a:t>
            </a:r>
          </a:p>
          <a:p>
            <a:pPr algn="l">
              <a:spcAft>
                <a:spcPts val="0"/>
              </a:spcAft>
            </a:pPr>
            <a:r>
              <a:rPr sz="1100" b="0" lang="en-GB">
                <a:solidFill>
                  <a:schemeClr val="bg1"/>
                </a:solidFill>
                <a:latin typeface="Consolas"/>
              </a:rPr>
              <a:t>├── .venv/            private Python + packages</a:t>
            </a:r>
          </a:p>
          <a:p>
            <a:pPr algn="l">
              <a:spcAft>
                <a:spcPts val="0"/>
              </a:spcAft>
            </a:pPr>
            <a:r>
              <a:rPr sz="1100" b="0" lang="en-GB">
                <a:solidFill>
                  <a:schemeClr val="bg1"/>
                </a:solidFill>
                <a:latin typeface="Consolas"/>
              </a:rPr>
              <a:t>├── .git/             version history</a:t>
            </a:r>
          </a:p>
          <a:p>
            <a:pPr algn="l">
              <a:spcAft>
                <a:spcPts val="0"/>
              </a:spcAft>
            </a:pPr>
            <a:r>
              <a:rPr sz="1100" b="0" lang="en-GB">
                <a:solidFill>
                  <a:schemeClr val="bg1"/>
                </a:solidFill>
                <a:latin typeface="Consolas"/>
              </a:rPr>
              <a:t>├── .gitignore        what Git leaves out</a:t>
            </a:r>
          </a:p>
          <a:p>
            <a:pPr algn="l">
              <a:spcAft>
                <a:spcPts val="0"/>
              </a:spcAft>
            </a:pPr>
            <a:r>
              <a:rPr sz="1100" b="0" lang="en-GB">
                <a:solidFill>
                  <a:schemeClr val="bg1"/>
                </a:solidFill>
                <a:latin typeface="Consolas"/>
              </a:rPr>
              <a:t>├── data/             raw data, never edit by hand</a:t>
            </a:r>
          </a:p>
          <a:p>
            <a:pPr algn="l">
              <a:spcAft>
                <a:spcPts val="0"/>
              </a:spcAft>
            </a:pPr>
            <a:r>
              <a:rPr sz="1100" b="0" lang="en-GB">
                <a:solidFill>
                  <a:schemeClr val="bg1"/>
                </a:solidFill>
                <a:latin typeface="Consolas"/>
              </a:rPr>
              <a:t>├── analysis.py       code, split into # %% cells</a:t>
            </a:r>
          </a:p>
          <a:p>
            <a:pPr algn="l">
              <a:spcAft>
                <a:spcPts val="0"/>
              </a:spcAft>
            </a:pPr>
            <a:r>
              <a:rPr sz="1100" b="0" lang="en-GB">
                <a:solidFill>
                  <a:schemeClr val="bg1"/>
                </a:solidFill>
                <a:latin typeface="Consolas"/>
              </a:rPr>
              <a:t>├── report.qmd        text, code and results</a:t>
            </a:r>
          </a:p>
          <a:p>
            <a:pPr algn="l">
              <a:spcAft>
                <a:spcPts val="0"/>
              </a:spcAft>
            </a:pPr>
            <a:r>
              <a:rPr sz="1100" b="0" lang="en-GB">
                <a:solidFill>
                  <a:schemeClr val="bg1"/>
                </a:solidFill>
                <a:latin typeface="Consolas"/>
              </a:rPr>
              <a:t>└── requirements.txt  packages and versions</a:t>
            </a:r>
          </a:p>
        </p:txBody>
      </p:sp>
      <p:sp>
        <p:nvSpPr>
          <p:cNvPr id="14" name="Project row 1"/>
          <p:cNvSpPr/>
          <p:nvPr/>
        </p:nvSpPr>
        <p:spPr>
          <a:xfrm>
            <a:off x="5577840" y="1234440"/>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ject bar 1"/>
          <p:cNvSpPr/>
          <p:nvPr/>
        </p:nvSpPr>
        <p:spPr>
          <a:xfrm>
            <a:off x="5577840" y="1234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roject text 1"/>
          <p:cNvSpPr txBox="1"/>
          <p:nvPr/>
        </p:nvSpPr>
        <p:spPr>
          <a:xfrm>
            <a:off x="5760720" y="1234440"/>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Open the folder, </a:t>
            </a:r>
            <a:r>
              <a:rPr sz="1150" b="0" lang="en-GB">
                <a:solidFill>
                  <a:schemeClr val="tx1"/>
                </a:solidFill>
              </a:rPr>
              <a:t>not single files: File → Open Folder</a:t>
            </a:r>
          </a:p>
        </p:txBody>
      </p:sp>
      <p:sp>
        <p:nvSpPr>
          <p:cNvPr id="17" name="Project row 2"/>
          <p:cNvSpPr/>
          <p:nvPr/>
        </p:nvSpPr>
        <p:spPr>
          <a:xfrm>
            <a:off x="5577840" y="1883664"/>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roject bar 2"/>
          <p:cNvSpPr/>
          <p:nvPr/>
        </p:nvSpPr>
        <p:spPr>
          <a:xfrm>
            <a:off x="5577840" y="1883664"/>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ject text 2"/>
          <p:cNvSpPr txBox="1"/>
          <p:nvPr/>
        </p:nvSpPr>
        <p:spPr>
          <a:xfrm>
            <a:off x="5760720" y="1883664"/>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Positron remembers </a:t>
            </a:r>
            <a:r>
              <a:rPr sz="1150" b="0" lang="en-GB">
                <a:solidFill>
                  <a:schemeClr val="tx1"/>
                </a:solidFill>
              </a:rPr>
              <a:t>the interpreter and open files per folder</a:t>
            </a:r>
          </a:p>
        </p:txBody>
      </p:sp>
      <p:sp>
        <p:nvSpPr>
          <p:cNvPr id="20" name="Project row 3"/>
          <p:cNvSpPr/>
          <p:nvPr/>
        </p:nvSpPr>
        <p:spPr>
          <a:xfrm>
            <a:off x="5577840" y="2532888"/>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oject bar 3"/>
          <p:cNvSpPr/>
          <p:nvPr/>
        </p:nvSpPr>
        <p:spPr>
          <a:xfrm>
            <a:off x="5577840" y="2532888"/>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ject text 3"/>
          <p:cNvSpPr txBox="1"/>
          <p:nvPr/>
        </p:nvSpPr>
        <p:spPr>
          <a:xfrm>
            <a:off x="5760720" y="2532888"/>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Relative paths: </a:t>
            </a:r>
            <a:r>
              <a:rPr sz="1150" b="0" lang="en-GB">
                <a:solidFill>
                  <a:schemeClr val="tx1"/>
                </a:solidFill>
              </a:rPr>
              <a:t>data/sales.csv works on every laptop</a:t>
            </a:r>
          </a:p>
        </p:txBody>
      </p:sp>
      <p:sp>
        <p:nvSpPr>
          <p:cNvPr id="23" name="Project row 4"/>
          <p:cNvSpPr/>
          <p:nvPr/>
        </p:nvSpPr>
        <p:spPr>
          <a:xfrm>
            <a:off x="5577840" y="3182112"/>
            <a:ext cx="310896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oject bar 4"/>
          <p:cNvSpPr/>
          <p:nvPr/>
        </p:nvSpPr>
        <p:spPr>
          <a:xfrm>
            <a:off x="5577840" y="3182112"/>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ject text 4"/>
          <p:cNvSpPr txBox="1"/>
          <p:nvPr/>
        </p:nvSpPr>
        <p:spPr>
          <a:xfrm>
            <a:off x="5760720" y="3182112"/>
            <a:ext cx="2852928" cy="566928"/>
          </a:xfrm>
          <a:prstGeom prst="rect">
            <a:avLst/>
          </a:prstGeom>
          <a:noFill/>
        </p:spPr>
        <p:txBody>
          <a:bodyPr wrap="square" lIns="0" rIns="0" tIns="0" bIns="0" anchor="ctr">
            <a:noAutofit/>
          </a:bodyPr>
          <a:lstStyle/>
          <a:p>
            <a:pPr algn="l">
              <a:spcAft>
                <a:spcPts val="400"/>
              </a:spcAft>
            </a:pPr>
            <a:r>
              <a:rPr sz="1150" b="1" lang="en-GB">
                <a:solidFill>
                  <a:schemeClr val="tx2"/>
                </a:solidFill>
              </a:rPr>
              <a:t>Switch projects </a:t>
            </a:r>
            <a:r>
              <a:rPr sz="1150" b="0" lang="en-GB">
                <a:solidFill>
                  <a:schemeClr val="tx1"/>
                </a:solidFill>
              </a:rPr>
              <a:t>with the project switcher, top right</a:t>
            </a:r>
          </a:p>
        </p:txBody>
      </p:sp>
      <p:sp>
        <p:nvSpPr>
          <p:cNvPr id="26" name="Venv note box"/>
          <p:cNvSpPr/>
          <p:nvPr/>
        </p:nvSpPr>
        <p:spPr>
          <a:xfrm>
            <a:off x="457200" y="3931920"/>
            <a:ext cx="8229600" cy="1143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Venv note" descr=""/>
          <p:cNvPicPr>
            <a:picLocks noChangeAspect="1"/>
          </p:cNvPicPr>
          <p:nvPr/>
        </p:nvPicPr>
        <p:blipFill>
          <a:blip r:embed="rId3"/>
          <a:stretch>
            <a:fillRect/>
          </a:stretch>
        </p:blipFill>
        <p:spPr>
          <a:xfrm>
            <a:off x="658368" y="4311396"/>
            <a:ext cx="384048" cy="384048"/>
          </a:xfrm>
          <a:prstGeom prst="rect">
            <a:avLst/>
          </a:prstGeom>
        </p:spPr>
      </p:pic>
      <p:sp>
        <p:nvSpPr>
          <p:cNvPr id="28" name="Venv note text"/>
          <p:cNvSpPr txBox="1"/>
          <p:nvPr/>
        </p:nvSpPr>
        <p:spPr>
          <a:xfrm>
            <a:off x="1234440" y="3931920"/>
            <a:ext cx="7269480" cy="1143000"/>
          </a:xfrm>
          <a:prstGeom prst="rect">
            <a:avLst/>
          </a:prstGeom>
          <a:noFill/>
        </p:spPr>
        <p:txBody>
          <a:bodyPr wrap="square" lIns="0" rIns="0" tIns="0" bIns="0" anchor="ctr">
            <a:noAutofit/>
          </a:bodyPr>
          <a:lstStyle/>
          <a:p>
            <a:pPr algn="l">
              <a:spcAft>
                <a:spcPts val="400"/>
              </a:spcAft>
            </a:pPr>
            <a:r>
              <a:rPr sz="1300" b="1" lang="en-GB">
                <a:solidFill>
                  <a:schemeClr val="bg1"/>
                </a:solidFill>
              </a:rPr>
              <a:t>.venv stays on your laptop: </a:t>
            </a:r>
            <a:r>
              <a:rPr sz="1300" b="0" lang="en-GB">
                <a:solidFill>
                  <a:schemeClr val="bg1"/>
                </a:solidFill>
              </a:rPr>
              <a:t>.gitignore keeps it out of GitHub. requirements.txt travels instead, so your group rebuilds the same environment with one command.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Start a new project from a template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mplate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New Folder</a:t>
            </a:r>
            <a:br/>
            <a:r>
              <a:rPr sz="1200" b="1" lang="en-GB">
                <a:solidFill>
                  <a:schemeClr val="tx2"/>
                </a:solidFill>
              </a:rPr>
              <a:t>from Template</a:t>
            </a:r>
          </a:p>
        </p:txBody>
      </p:sp>
      <p:sp>
        <p:nvSpPr>
          <p:cNvPr id="11" name="Template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a:t>
            </a:r>
            <a:br/>
            <a:r>
              <a:rPr sz="1200" b="1" lang="en-GB">
                <a:solidFill>
                  <a:schemeClr val="tx2"/>
                </a:solidFill>
              </a:rPr>
              <a:t>Project</a:t>
            </a:r>
          </a:p>
        </p:txBody>
      </p:sp>
      <p:sp>
        <p:nvSpPr>
          <p:cNvPr id="12" name="Template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Name and</a:t>
            </a:r>
            <a:br/>
            <a:r>
              <a:rPr sz="1200" b="1" lang="en-GB">
                <a:solidFill>
                  <a:schemeClr val="tx2"/>
                </a:solidFill>
              </a:rPr>
              <a:t>location</a:t>
            </a:r>
          </a:p>
        </p:txBody>
      </p:sp>
      <p:sp>
        <p:nvSpPr>
          <p:cNvPr id="13" name="Template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3.13</a:t>
            </a:r>
            <a:br/>
            <a:r>
              <a:rPr sz="1200" b="1" lang="en-GB">
                <a:solidFill>
                  <a:schemeClr val="tx2"/>
                </a:solidFill>
              </a:rPr>
              <a:t>+ venv</a:t>
            </a:r>
          </a:p>
        </p:txBody>
      </p:sp>
      <p:sp>
        <p:nvSpPr>
          <p:cNvPr id="14" name="Template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p>
        </p:txBody>
      </p:sp>
      <p:sp>
        <p:nvSpPr>
          <p:cNvPr id="15" name="Template card body"/>
          <p:cNvSpPr/>
          <p:nvPr/>
        </p:nvSpPr>
        <p:spPr>
          <a:xfrm>
            <a:off x="457200" y="2377440"/>
            <a:ext cx="393192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mplate card header"/>
          <p:cNvSpPr/>
          <p:nvPr/>
        </p:nvSpPr>
        <p:spPr>
          <a:xfrm>
            <a:off x="457200" y="1965960"/>
            <a:ext cx="39319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mplate card heading"/>
          <p:cNvSpPr txBox="1"/>
          <p:nvPr/>
        </p:nvSpPr>
        <p:spPr>
          <a:xfrm>
            <a:off x="594360" y="1965960"/>
            <a:ext cx="32461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 sets up</a:t>
            </a:r>
          </a:p>
        </p:txBody>
      </p:sp>
      <p:pic>
        <p:nvPicPr>
          <p:cNvPr id="18" name="Icon Template card" descr=""/>
          <p:cNvPicPr>
            <a:picLocks noChangeAspect="1"/>
          </p:cNvPicPr>
          <p:nvPr/>
        </p:nvPicPr>
        <p:blipFill>
          <a:blip r:embed="rId3"/>
          <a:stretch>
            <a:fillRect/>
          </a:stretch>
        </p:blipFill>
        <p:spPr>
          <a:xfrm>
            <a:off x="3950208" y="2016252"/>
            <a:ext cx="310896" cy="310896"/>
          </a:xfrm>
          <a:prstGeom prst="rect">
            <a:avLst/>
          </a:prstGeom>
        </p:spPr>
      </p:pic>
      <p:sp>
        <p:nvSpPr>
          <p:cNvPr id="19" name="Template card text"/>
          <p:cNvSpPr txBox="1"/>
          <p:nvPr/>
        </p:nvSpPr>
        <p:spPr>
          <a:xfrm>
            <a:off x="621792" y="2514600"/>
            <a:ext cx="363016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The folder with a .venv inside</a:t>
            </a:r>
          </a:p>
          <a:p>
            <a:pPr algn="l" marL="182880" indent="-182880">
              <a:spcAft>
                <a:spcPts val="600"/>
              </a:spcAft>
              <a:buClr>
                <a:schemeClr val="accent1"/>
              </a:buClr>
              <a:buFont typeface="Arial"/>
              <a:buChar char="▪"/>
            </a:pPr>
            <a:r>
              <a:rPr sz="1300" b="0" lang="en-GB">
                <a:solidFill>
                  <a:schemeClr val="tx1"/>
                </a:solidFill>
              </a:rPr>
              <a:t>Git: .git and a .gitignore</a:t>
            </a:r>
          </a:p>
          <a:p>
            <a:pPr algn="l" marL="182880" indent="-182880">
              <a:spcAft>
                <a:spcPts val="600"/>
              </a:spcAft>
              <a:buClr>
                <a:schemeClr val="accent1"/>
              </a:buClr>
              <a:buFont typeface="Arial"/>
              <a:buChar char="▪"/>
            </a:pPr>
            <a:r>
              <a:rPr sz="1300" b="0" lang="en-GB">
                <a:solidFill>
                  <a:schemeClr val="tx1"/>
                </a:solidFill>
              </a:rPr>
              <a:t>A running Python session</a:t>
            </a:r>
          </a:p>
          <a:p>
            <a:pPr algn="l" marL="182880" indent="-182880">
              <a:spcAft>
                <a:spcPts val="600"/>
              </a:spcAft>
              <a:buClr>
                <a:schemeClr val="accent1"/>
              </a:buClr>
              <a:buFont typeface="Arial"/>
              <a:buChar char="▪"/>
            </a:pPr>
            <a:r>
              <a:rPr sz="1300" b="0" lang="en-GB">
                <a:solidFill>
                  <a:schemeClr val="tx1"/>
                </a:solidFill>
              </a:rPr>
              <a:t>An empty file to start with</a:t>
            </a:r>
          </a:p>
        </p:txBody>
      </p:sp>
      <p:sp>
        <p:nvSpPr>
          <p:cNvPr id="20" name="Template code caption bar"/>
          <p:cNvSpPr/>
          <p:nvPr/>
        </p:nvSpPr>
        <p:spPr>
          <a:xfrm>
            <a:off x="4526280" y="1965960"/>
            <a:ext cx="41605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mplate code caption"/>
          <p:cNvSpPr txBox="1"/>
          <p:nvPr/>
        </p:nvSpPr>
        <p:spPr>
          <a:xfrm>
            <a:off x="4636008" y="1965960"/>
            <a:ext cx="39410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Then, in the Positron console</a:t>
            </a:r>
          </a:p>
        </p:txBody>
      </p:sp>
      <p:sp>
        <p:nvSpPr>
          <p:cNvPr id="22" name="Template code box"/>
          <p:cNvSpPr/>
          <p:nvPr/>
        </p:nvSpPr>
        <p:spPr>
          <a:xfrm>
            <a:off x="4526280" y="2240280"/>
            <a:ext cx="4160520" cy="1874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mplate code code"/>
          <p:cNvSpPr txBox="1"/>
          <p:nvPr/>
        </p:nvSpPr>
        <p:spPr>
          <a:xfrm>
            <a:off x="4663440" y="2331720"/>
            <a:ext cx="3886200" cy="169164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%pip freeze &gt; requirements.txt</a:t>
            </a:r>
          </a:p>
        </p:txBody>
      </p:sp>
      <p:sp>
        <p:nvSpPr>
          <p:cNvPr id="24" name="Template code note"/>
          <p:cNvSpPr txBox="1"/>
          <p:nvPr/>
        </p:nvSpPr>
        <p:spPr>
          <a:xfrm>
            <a:off x="4663440" y="3246120"/>
            <a:ext cx="3931920" cy="822960"/>
          </a:xfrm>
          <a:prstGeom prst="rect">
            <a:avLst/>
          </a:prstGeom>
          <a:noFill/>
        </p:spPr>
        <p:txBody>
          <a:bodyPr wrap="square" lIns="0" rIns="0" tIns="0" bIns="0" anchor="t">
            <a:noAutofit/>
          </a:bodyPr>
          <a:lstStyle/>
          <a:p>
            <a:pPr algn="l">
              <a:spcAft>
                <a:spcPts val="400"/>
              </a:spcAft>
            </a:pPr>
            <a:r>
              <a:rPr sz="1100" b="0" lang="en-GB">
                <a:solidFill>
                  <a:schemeClr val="bg1"/>
                </a:solidFill>
              </a:rPr>
              <a:t>Line 1 installs packages, line 2 writes their versions to requirements.txt.</a:t>
            </a:r>
          </a:p>
        </p:txBody>
      </p:sp>
      <p:sp>
        <p:nvSpPr>
          <p:cNvPr id="25" name="Template where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emplate where" descr=""/>
          <p:cNvPicPr>
            <a:picLocks noChangeAspect="1"/>
          </p:cNvPicPr>
          <p:nvPr/>
        </p:nvPicPr>
        <p:blipFill>
          <a:blip r:embed="rId4"/>
          <a:stretch>
            <a:fillRect/>
          </a:stretch>
        </p:blipFill>
        <p:spPr>
          <a:xfrm>
            <a:off x="658368" y="4494276"/>
            <a:ext cx="384048" cy="384048"/>
          </a:xfrm>
          <a:prstGeom prst="rect">
            <a:avLst/>
          </a:prstGeom>
        </p:spPr>
      </p:pic>
      <p:sp>
        <p:nvSpPr>
          <p:cNvPr id="27" name="Template where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Where: </a:t>
            </a:r>
            <a:r>
              <a:rPr sz="1300" b="0" lang="en-GB">
                <a:solidFill>
                  <a:schemeClr val="tx1"/>
                </a:solidFill>
              </a:rPr>
              <a:t>New ▾ (top left), the project switcher, or Command Palette → Workspaces: New Folder from Template.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case study as a shared project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roup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github.com:</a:t>
            </a:r>
            <a:br/>
            <a:r>
              <a:rPr sz="1200" b="1" lang="en-GB">
                <a:solidFill>
                  <a:schemeClr val="tx2"/>
                </a:solidFill>
              </a:rPr>
              <a:t>new repository</a:t>
            </a:r>
          </a:p>
        </p:txBody>
      </p:sp>
      <p:sp>
        <p:nvSpPr>
          <p:cNvPr id="11" name="Group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Invite</a:t>
            </a:r>
            <a:br/>
            <a:r>
              <a:rPr sz="1200" b="1" lang="en-GB">
                <a:solidFill>
                  <a:schemeClr val="tx2"/>
                </a:solidFill>
              </a:rPr>
              <a:t>the group</a:t>
            </a:r>
          </a:p>
        </p:txBody>
      </p:sp>
      <p:sp>
        <p:nvSpPr>
          <p:cNvPr id="12" name="Group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Desktop:</a:t>
            </a:r>
            <a:br/>
            <a:r>
              <a:rPr sz="1200" b="1" lang="en-GB">
                <a:solidFill>
                  <a:schemeClr val="tx2"/>
                </a:solidFill>
              </a:rPr>
              <a:t>clone</a:t>
            </a:r>
          </a:p>
        </p:txBody>
      </p:sp>
      <p:sp>
        <p:nvSpPr>
          <p:cNvPr id="13" name="Group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Positron:</a:t>
            </a:r>
            <a:br/>
            <a:r>
              <a:rPr sz="1200" b="1" lang="en-GB">
                <a:solidFill>
                  <a:schemeClr val="tx2"/>
                </a:solidFill>
              </a:rPr>
              <a:t>Open Folder</a:t>
            </a:r>
          </a:p>
        </p:txBody>
      </p:sp>
      <p:sp>
        <p:nvSpPr>
          <p:cNvPr id="14" name="Group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Create</a:t>
            </a:r>
            <a:br/>
            <a:r>
              <a:rPr sz="1200" b="1" lang="en-GB">
                <a:solidFill>
                  <a:schemeClr val="tx2"/>
                </a:solidFill>
              </a:rPr>
              <a:t>.venv</a:t>
            </a:r>
          </a:p>
        </p:txBody>
      </p:sp>
      <p:sp>
        <p:nvSpPr>
          <p:cNvPr id="15" name="Group card 1 body"/>
          <p:cNvSpPr/>
          <p:nvPr/>
        </p:nvSpPr>
        <p:spPr>
          <a:xfrm>
            <a:off x="45720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roup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oup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github.com</a:t>
            </a:r>
          </a:p>
        </p:txBody>
      </p:sp>
      <p:pic>
        <p:nvPicPr>
          <p:cNvPr id="18" name="Icon Group card 1" descr=""/>
          <p:cNvPicPr>
            <a:picLocks noChangeAspect="1"/>
          </p:cNvPicPr>
          <p:nvPr/>
        </p:nvPicPr>
        <p:blipFill>
          <a:blip r:embed="rId3"/>
          <a:stretch>
            <a:fillRect/>
          </a:stretch>
        </p:blipFill>
        <p:spPr>
          <a:xfrm>
            <a:off x="2670048" y="2016252"/>
            <a:ext cx="310896" cy="310896"/>
          </a:xfrm>
          <a:prstGeom prst="rect">
            <a:avLst/>
          </a:prstGeom>
        </p:spPr>
      </p:pic>
      <p:sp>
        <p:nvSpPr>
          <p:cNvPr id="19" name="Group card 1 text"/>
          <p:cNvSpPr txBox="1"/>
          <p:nvPr/>
        </p:nvSpPr>
        <p:spPr>
          <a:xfrm>
            <a:off x="62179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member creates the repository: Python .gitignore, README</a:t>
            </a:r>
          </a:p>
          <a:p>
            <a:pPr algn="l" marL="182880" indent="-182880">
              <a:spcAft>
                <a:spcPts val="600"/>
              </a:spcAft>
              <a:buClr>
                <a:schemeClr val="accent1"/>
              </a:buClr>
              <a:buFont typeface="Arial"/>
              <a:buChar char="▪"/>
            </a:pPr>
            <a:r>
              <a:rPr sz="1300" b="0" lang="en-GB">
                <a:solidFill>
                  <a:schemeClr val="tx1"/>
                </a:solidFill>
              </a:rPr>
              <a:t>Settings → Collaborators: invite the group</a:t>
            </a:r>
          </a:p>
        </p:txBody>
      </p:sp>
      <p:sp>
        <p:nvSpPr>
          <p:cNvPr id="20" name="Group card 2 body"/>
          <p:cNvSpPr/>
          <p:nvPr/>
        </p:nvSpPr>
        <p:spPr>
          <a:xfrm>
            <a:off x="324612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oup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roup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GitHub Desktop</a:t>
            </a:r>
          </a:p>
        </p:txBody>
      </p:sp>
      <p:pic>
        <p:nvPicPr>
          <p:cNvPr id="23" name="Icon Group card 2" descr=""/>
          <p:cNvPicPr>
            <a:picLocks noChangeAspect="1"/>
          </p:cNvPicPr>
          <p:nvPr/>
        </p:nvPicPr>
        <p:blipFill>
          <a:blip r:embed="rId4"/>
          <a:stretch>
            <a:fillRect/>
          </a:stretch>
        </p:blipFill>
        <p:spPr>
          <a:xfrm>
            <a:off x="5458968" y="2016252"/>
            <a:ext cx="310896" cy="310896"/>
          </a:xfrm>
          <a:prstGeom prst="rect">
            <a:avLst/>
          </a:prstGeom>
        </p:spPr>
      </p:pic>
      <p:sp>
        <p:nvSpPr>
          <p:cNvPr id="24" name="Group card 2 text"/>
          <p:cNvSpPr txBox="1"/>
          <p:nvPr/>
        </p:nvSpPr>
        <p:spPr>
          <a:xfrm>
            <a:off x="341071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Pull before you start</a:t>
            </a:r>
          </a:p>
          <a:p>
            <a:pPr algn="l" marL="182880" indent="-182880">
              <a:spcAft>
                <a:spcPts val="600"/>
              </a:spcAft>
              <a:buClr>
                <a:schemeClr val="accent1"/>
              </a:buClr>
              <a:buFont typeface="Arial"/>
              <a:buChar char="▪"/>
            </a:pPr>
            <a:r>
              <a:rPr sz="1300" b="0" lang="en-GB">
                <a:solidFill>
                  <a:schemeClr val="tx1"/>
                </a:solidFill>
              </a:rPr>
              <a:t>Commit small steps with a clear message</a:t>
            </a:r>
          </a:p>
          <a:p>
            <a:pPr algn="l" marL="182880" indent="-182880">
              <a:spcAft>
                <a:spcPts val="600"/>
              </a:spcAft>
              <a:buClr>
                <a:schemeClr val="accent1"/>
              </a:buClr>
              <a:buFont typeface="Arial"/>
              <a:buChar char="▪"/>
            </a:pPr>
            <a:r>
              <a:rPr sz="1300" b="0" lang="en-GB">
                <a:solidFill>
                  <a:schemeClr val="tx1"/>
                </a:solidFill>
              </a:rPr>
              <a:t>Push when you stop</a:t>
            </a:r>
          </a:p>
        </p:txBody>
      </p:sp>
      <p:sp>
        <p:nvSpPr>
          <p:cNvPr id="25" name="Group card 3 body"/>
          <p:cNvSpPr/>
          <p:nvPr/>
        </p:nvSpPr>
        <p:spPr>
          <a:xfrm>
            <a:off x="6035040" y="2377440"/>
            <a:ext cx="2651760" cy="1828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Group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Group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Positron</a:t>
            </a:r>
          </a:p>
        </p:txBody>
      </p:sp>
      <p:pic>
        <p:nvPicPr>
          <p:cNvPr id="28" name="Icon Group card 3" descr=""/>
          <p:cNvPicPr>
            <a:picLocks noChangeAspect="1"/>
          </p:cNvPicPr>
          <p:nvPr/>
        </p:nvPicPr>
        <p:blipFill>
          <a:blip r:embed="rId5"/>
          <a:stretch>
            <a:fillRect/>
          </a:stretch>
        </p:blipFill>
        <p:spPr>
          <a:xfrm>
            <a:off x="8247888" y="2016252"/>
            <a:ext cx="310896" cy="310896"/>
          </a:xfrm>
          <a:prstGeom prst="rect">
            <a:avLst/>
          </a:prstGeom>
        </p:spPr>
      </p:pic>
      <p:sp>
        <p:nvSpPr>
          <p:cNvPr id="29" name="Group card 3 text"/>
          <p:cNvSpPr txBox="1"/>
          <p:nvPr/>
        </p:nvSpPr>
        <p:spPr>
          <a:xfrm>
            <a:off x="6199632" y="2514600"/>
            <a:ext cx="2350008" cy="155448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Open the cloned folder</a:t>
            </a:r>
          </a:p>
          <a:p>
            <a:pPr algn="l" marL="182880" indent="-182880">
              <a:spcAft>
                <a:spcPts val="600"/>
              </a:spcAft>
              <a:buClr>
                <a:schemeClr val="accent1"/>
              </a:buClr>
              <a:buFont typeface="Arial"/>
              <a:buChar char="▪"/>
            </a:pPr>
            <a:r>
              <a:rPr sz="1300" b="0" lang="en-GB">
                <a:solidFill>
                  <a:schemeClr val="tx1"/>
                </a:solidFill>
              </a:rPr>
              <a:t>Create .venv from requirements.txt (Step 4)</a:t>
            </a:r>
          </a:p>
          <a:p>
            <a:pPr algn="l" marL="182880" indent="-182880">
              <a:spcAft>
                <a:spcPts val="600"/>
              </a:spcAft>
              <a:buClr>
                <a:schemeClr val="accent1"/>
              </a:buClr>
              <a:buFont typeface="Arial"/>
              <a:buChar char="▪"/>
            </a:pPr>
            <a:r>
              <a:rPr sz="1300" b="0" lang="en-GB">
                <a:solidFill>
                  <a:schemeClr val="tx1"/>
                </a:solidFill>
              </a:rPr>
              <a:t>Work, save, then back to Desktop</a:t>
            </a:r>
          </a:p>
        </p:txBody>
      </p:sp>
      <p:sp>
        <p:nvSpPr>
          <p:cNvPr id="30" name="Group rule box"/>
          <p:cNvSpPr/>
          <p:nvPr/>
        </p:nvSpPr>
        <p:spPr>
          <a:xfrm>
            <a:off x="457200" y="4389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Group rule" descr=""/>
          <p:cNvPicPr>
            <a:picLocks noChangeAspect="1"/>
          </p:cNvPicPr>
          <p:nvPr/>
        </p:nvPicPr>
        <p:blipFill>
          <a:blip r:embed="rId6"/>
          <a:stretch>
            <a:fillRect/>
          </a:stretch>
        </p:blipFill>
        <p:spPr>
          <a:xfrm>
            <a:off x="658368" y="4539996"/>
            <a:ext cx="384048" cy="384048"/>
          </a:xfrm>
          <a:prstGeom prst="rect">
            <a:avLst/>
          </a:prstGeom>
        </p:spPr>
      </p:pic>
      <p:sp>
        <p:nvSpPr>
          <p:cNvPr id="32" name="Group rul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Fewer conflicts: </a:t>
            </a:r>
            <a:r>
              <a:rPr sz="1300" b="0" lang="en-GB">
                <a:solidFill>
                  <a:schemeClr val="bg1"/>
                </a:solidFill>
              </a:rPr>
              <a:t>pull first, push often, and one person per file where you can.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Quarto documents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md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md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report.qmd</a:t>
            </a:r>
          </a:p>
        </p:txBody>
      </p:sp>
      <p:sp>
        <p:nvSpPr>
          <p:cNvPr id="12" name="Qmd code box"/>
          <p:cNvSpPr/>
          <p:nvPr/>
        </p:nvSpPr>
        <p:spPr>
          <a:xfrm>
            <a:off x="457200" y="1508760"/>
            <a:ext cx="4846320" cy="2697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md code code"/>
          <p:cNvSpPr txBox="1"/>
          <p:nvPr/>
        </p:nvSpPr>
        <p:spPr>
          <a:xfrm>
            <a:off x="594360" y="1600200"/>
            <a:ext cx="4572000" cy="2514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title: "Sales by country"</a:t>
            </a:r>
          </a:p>
          <a:p>
            <a:pPr algn="l">
              <a:spcAft>
                <a:spcPts val="0"/>
              </a:spcAft>
            </a:pPr>
            <a:r>
              <a:rPr sz="1050" b="0" lang="en-GB">
                <a:solidFill>
                  <a:schemeClr val="bg1"/>
                </a:solidFill>
                <a:latin typeface="Consolas"/>
              </a:rPr>
              <a:t>format: html</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 Revenue in 2025</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```{python}</a:t>
            </a:r>
          </a:p>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Germany has the highest revenue.</a:t>
            </a:r>
          </a:p>
        </p:txBody>
      </p:sp>
      <p:sp>
        <p:nvSpPr>
          <p:cNvPr id="14" name="Quarto row 1"/>
          <p:cNvSpPr/>
          <p:nvPr/>
        </p:nvSpPr>
        <p:spPr>
          <a:xfrm>
            <a:off x="5486400" y="1234440"/>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quarto 1" descr=""/>
          <p:cNvPicPr>
            <a:picLocks noChangeAspect="1"/>
          </p:cNvPicPr>
          <p:nvPr/>
        </p:nvPicPr>
        <p:blipFill>
          <a:blip r:embed="rId3"/>
          <a:stretch>
            <a:fillRect/>
          </a:stretch>
        </p:blipFill>
        <p:spPr>
          <a:xfrm>
            <a:off x="5623560" y="1380744"/>
            <a:ext cx="365760" cy="365760"/>
          </a:xfrm>
          <a:prstGeom prst="rect">
            <a:avLst/>
          </a:prstGeom>
        </p:spPr>
      </p:pic>
      <p:sp>
        <p:nvSpPr>
          <p:cNvPr id="16" name="Quarto text 1"/>
          <p:cNvSpPr txBox="1"/>
          <p:nvPr/>
        </p:nvSpPr>
        <p:spPr>
          <a:xfrm>
            <a:off x="6144768" y="1234440"/>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Text </a:t>
            </a:r>
            <a:r>
              <a:rPr sz="1200" b="0" lang="en-GB">
                <a:solidFill>
                  <a:schemeClr val="tx1"/>
                </a:solidFill>
              </a:rPr>
              <a:t>in Markdown: headings, bold, lists</a:t>
            </a:r>
          </a:p>
        </p:txBody>
      </p:sp>
      <p:sp>
        <p:nvSpPr>
          <p:cNvPr id="17" name="Quarto row 2"/>
          <p:cNvSpPr/>
          <p:nvPr/>
        </p:nvSpPr>
        <p:spPr>
          <a:xfrm>
            <a:off x="5486400" y="1993392"/>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Icon quarto 2" descr=""/>
          <p:cNvPicPr>
            <a:picLocks noChangeAspect="1"/>
          </p:cNvPicPr>
          <p:nvPr/>
        </p:nvPicPr>
        <p:blipFill>
          <a:blip r:embed="rId4"/>
          <a:stretch>
            <a:fillRect/>
          </a:stretch>
        </p:blipFill>
        <p:spPr>
          <a:xfrm>
            <a:off x="5623560" y="2139696"/>
            <a:ext cx="365760" cy="365760"/>
          </a:xfrm>
          <a:prstGeom prst="rect">
            <a:avLst/>
          </a:prstGeom>
        </p:spPr>
      </p:pic>
      <p:sp>
        <p:nvSpPr>
          <p:cNvPr id="19" name="Quarto text 2"/>
          <p:cNvSpPr txBox="1"/>
          <p:nvPr/>
        </p:nvSpPr>
        <p:spPr>
          <a:xfrm>
            <a:off x="6144768" y="1993392"/>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Code cells </a:t>
            </a:r>
            <a:r>
              <a:rPr sz="1200" b="0" lang="en-GB">
                <a:solidFill>
                  <a:schemeClr val="tx1"/>
                </a:solidFill>
              </a:rPr>
              <a:t>run one by one; output shows below</a:t>
            </a:r>
          </a:p>
        </p:txBody>
      </p:sp>
      <p:sp>
        <p:nvSpPr>
          <p:cNvPr id="20" name="Quarto row 3"/>
          <p:cNvSpPr/>
          <p:nvPr/>
        </p:nvSpPr>
        <p:spPr>
          <a:xfrm>
            <a:off x="5486400" y="2752344"/>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quarto 3" descr=""/>
          <p:cNvPicPr>
            <a:picLocks noChangeAspect="1"/>
          </p:cNvPicPr>
          <p:nvPr/>
        </p:nvPicPr>
        <p:blipFill>
          <a:blip r:embed="rId5"/>
          <a:stretch>
            <a:fillRect/>
          </a:stretch>
        </p:blipFill>
        <p:spPr>
          <a:xfrm>
            <a:off x="5623560" y="2898648"/>
            <a:ext cx="365760" cy="365760"/>
          </a:xfrm>
          <a:prstGeom prst="rect">
            <a:avLst/>
          </a:prstGeom>
        </p:spPr>
      </p:pic>
      <p:sp>
        <p:nvSpPr>
          <p:cNvPr id="22" name="Quarto text 3"/>
          <p:cNvSpPr txBox="1"/>
          <p:nvPr/>
        </p:nvSpPr>
        <p:spPr>
          <a:xfrm>
            <a:off x="6144768" y="2752344"/>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Preview: </a:t>
            </a:r>
            <a:r>
              <a:rPr sz="1200" b="0" lang="en-GB">
                <a:solidFill>
                  <a:schemeClr val="tx1"/>
                </a:solidFill>
              </a:rPr>
              <a:t>Ctrl/Cmd + Shift + K shows the report next to your code</a:t>
            </a:r>
          </a:p>
        </p:txBody>
      </p:sp>
      <p:sp>
        <p:nvSpPr>
          <p:cNvPr id="23" name="Quarto row 4"/>
          <p:cNvSpPr/>
          <p:nvPr/>
        </p:nvSpPr>
        <p:spPr>
          <a:xfrm>
            <a:off x="5486400" y="3511296"/>
            <a:ext cx="3200400" cy="6675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quarto 4" descr=""/>
          <p:cNvPicPr>
            <a:picLocks noChangeAspect="1"/>
          </p:cNvPicPr>
          <p:nvPr/>
        </p:nvPicPr>
        <p:blipFill>
          <a:blip r:embed="rId6"/>
          <a:stretch>
            <a:fillRect/>
          </a:stretch>
        </p:blipFill>
        <p:spPr>
          <a:xfrm>
            <a:off x="5623560" y="3657600"/>
            <a:ext cx="365760" cy="365760"/>
          </a:xfrm>
          <a:prstGeom prst="rect">
            <a:avLst/>
          </a:prstGeom>
        </p:spPr>
      </p:pic>
      <p:sp>
        <p:nvSpPr>
          <p:cNvPr id="25" name="Quarto text 4"/>
          <p:cNvSpPr txBox="1"/>
          <p:nvPr/>
        </p:nvSpPr>
        <p:spPr>
          <a:xfrm>
            <a:off x="6144768" y="3511296"/>
            <a:ext cx="2468880" cy="667512"/>
          </a:xfrm>
          <a:prstGeom prst="rect">
            <a:avLst/>
          </a:prstGeom>
          <a:noFill/>
        </p:spPr>
        <p:txBody>
          <a:bodyPr wrap="square" lIns="0" rIns="0" tIns="0" bIns="0" anchor="ctr">
            <a:noAutofit/>
          </a:bodyPr>
          <a:lstStyle/>
          <a:p>
            <a:pPr algn="l">
              <a:spcAft>
                <a:spcPts val="400"/>
              </a:spcAft>
            </a:pPr>
            <a:r>
              <a:rPr sz="1200" b="1" lang="en-GB">
                <a:solidFill>
                  <a:schemeClr val="tx2"/>
                </a:solidFill>
              </a:rPr>
              <a:t>Render </a:t>
            </a:r>
            <a:r>
              <a:rPr sz="1200" b="0" lang="en-GB">
                <a:solidFill>
                  <a:schemeClr val="tx1"/>
                </a:solidFill>
              </a:rPr>
              <a:t>to HTML, PDF, Word or slides</a:t>
            </a:r>
          </a:p>
        </p:txBody>
      </p:sp>
      <p:sp>
        <p:nvSpPr>
          <p:cNvPr id="26" name="Quarto use box"/>
          <p:cNvSpPr/>
          <p:nvPr/>
        </p:nvSpPr>
        <p:spPr>
          <a:xfrm>
            <a:off x="457200" y="438912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Quarto use" descr=""/>
          <p:cNvPicPr>
            <a:picLocks noChangeAspect="1"/>
          </p:cNvPicPr>
          <p:nvPr/>
        </p:nvPicPr>
        <p:blipFill>
          <a:blip r:embed="rId7"/>
          <a:stretch>
            <a:fillRect/>
          </a:stretch>
        </p:blipFill>
        <p:spPr>
          <a:xfrm>
            <a:off x="658368" y="4539996"/>
            <a:ext cx="384048" cy="384048"/>
          </a:xfrm>
          <a:prstGeom prst="rect">
            <a:avLst/>
          </a:prstGeom>
        </p:spPr>
      </p:pic>
      <p:sp>
        <p:nvSpPr>
          <p:cNvPr id="28" name="Quarto use text"/>
          <p:cNvSpPr txBox="1"/>
          <p:nvPr/>
        </p:nvSpPr>
        <p:spPr>
          <a:xfrm>
            <a:off x="1234440" y="4389120"/>
            <a:ext cx="7269480" cy="685800"/>
          </a:xfrm>
          <a:prstGeom prst="rect">
            <a:avLst/>
          </a:prstGeom>
          <a:noFill/>
        </p:spPr>
        <p:txBody>
          <a:bodyPr wrap="square" lIns="0" rIns="0" tIns="0" bIns="0" anchor="ctr">
            <a:noAutofit/>
          </a:bodyPr>
          <a:lstStyle/>
          <a:p>
            <a:pPr algn="l">
              <a:spcAft>
                <a:spcPts val="400"/>
              </a:spcAft>
            </a:pPr>
            <a:r>
              <a:rPr sz="1300" b="1" lang="en-GB">
                <a:solidFill>
                  <a:schemeClr val="tx2"/>
                </a:solidFill>
              </a:rPr>
              <a:t>One file, rerun any time: </a:t>
            </a:r>
            <a:r>
              <a:rPr sz="1300" b="0" lang="en-GB">
                <a:solidFill>
                  <a:schemeClr val="tx1"/>
                </a:solidFill>
              </a:rPr>
              <a:t>the labs and your case study report are Quarto documents.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3708400"/>
        </p:xfrm>
        <a:graphic>
          <a:graphicData uri="http://schemas.openxmlformats.org/drawingml/2006/table">
            <a:tbl>
              <a:tblPr firstRow="1" bandRow="1">
                <a:tableStyleId>{5C22544A-7EE6-4342-B048-85BDC9FD1C3A}</a:tableStyleId>
              </a:tblPr>
              <a:tblGrid>
                <a:gridCol w="3657600"/>
                <a:gridCol w="2286000"/>
                <a:gridCol w="2286000"/>
              </a:tblGrid>
              <a:tr h="370840">
                <a:tc>
                  <a:txBody>
                    <a:bodyPr/>
                    <a:lstStyle/>
                    <a:p>
                      <a:r>
                        <a:rPr sz="1500" lang="en-GB"/>
                        <a:t>Action</a:t>
                      </a:r>
                    </a:p>
                  </a:txBody>
                  <a:tcPr marT="45000" marB="45000"/>
                </a:tc>
                <a:tc>
                  <a:txBody>
                    <a:bodyPr/>
                    <a:lstStyle/>
                    <a:p>
                      <a:r>
                        <a:rPr sz="1500" lang="en-GB"/>
                        <a:t>Windows</a:t>
                      </a:r>
                    </a:p>
                  </a:txBody>
                  <a:tcPr marT="45000" marB="45000"/>
                </a:tc>
                <a:tc>
                  <a:txBody>
                    <a:bodyPr/>
                    <a:lstStyle/>
                    <a:p>
                      <a:r>
                        <a:rPr sz="1500" lang="en-GB"/>
                        <a:t>macOS</a:t>
                      </a:r>
                    </a:p>
                  </a:txBody>
                  <a:tcPr marT="45000" marB="45000"/>
                </a:tc>
              </a:tr>
              <a:tr h="370840">
                <a:tc>
                  <a:txBody>
                    <a:bodyPr/>
                    <a:lstStyle/>
                    <a:p>
                      <a:r>
                        <a:rPr sz="1300" lang="en-GB"/>
                        <a:t>Run selection or current statement</a:t>
                      </a:r>
                    </a:p>
                  </a:txBody>
                  <a:tcPr marT="45000" marB="45000"/>
                </a:tc>
                <a:tc>
                  <a:txBody>
                    <a:bodyPr/>
                    <a:lstStyle/>
                    <a:p>
                      <a:r>
                        <a:rPr sz="1300" lang="en-GB">
                          <a:latin typeface="Consolas"/>
                        </a:rPr>
                        <a:t>Ctrl + Enter</a:t>
                      </a:r>
                    </a:p>
                  </a:txBody>
                  <a:tcPr marT="45000" marB="45000"/>
                </a:tc>
                <a:tc>
                  <a:txBody>
                    <a:bodyPr/>
                    <a:lstStyle/>
                    <a:p>
                      <a:r>
                        <a:rPr sz="1300" lang="en-GB">
                          <a:latin typeface="Consolas"/>
                        </a:rPr>
                        <a:t>Cmd + Enter</a:t>
                      </a:r>
                    </a:p>
                  </a:txBody>
                  <a:tcPr marT="45000" marB="45000"/>
                </a:tc>
              </a:tr>
              <a:tr h="370840">
                <a:tc>
                  <a:txBody>
                    <a:bodyPr/>
                    <a:lstStyle/>
                    <a:p>
                      <a:r>
                        <a:rPr sz="1300" lang="en-GB"/>
                        <a:t>Run the file or current cell</a:t>
                      </a:r>
                    </a:p>
                  </a:txBody>
                  <a:tcPr marT="45000" marB="45000"/>
                </a:tc>
                <a:tc>
                  <a:txBody>
                    <a:bodyPr/>
                    <a:lstStyle/>
                    <a:p>
                      <a:r>
                        <a:rPr sz="1300" lang="en-GB">
                          <a:latin typeface="Consolas"/>
                        </a:rPr>
                        <a:t>Ctrl + Shift + Enter</a:t>
                      </a:r>
                    </a:p>
                  </a:txBody>
                  <a:tcPr marT="45000" marB="45000"/>
                </a:tc>
                <a:tc>
                  <a:txBody>
                    <a:bodyPr/>
                    <a:lstStyle/>
                    <a:p>
                      <a:r>
                        <a:rPr sz="1300" lang="en-GB">
                          <a:latin typeface="Consolas"/>
                        </a:rPr>
                        <a:t>Cmd + Shift + Enter</a:t>
                      </a:r>
                    </a:p>
                  </a:txBody>
                  <a:tcPr marT="45000" marB="45000"/>
                </a:tc>
              </a:tr>
              <a:tr h="370840">
                <a:tc>
                  <a:txBody>
                    <a:bodyPr/>
                    <a:lstStyle/>
                    <a:p>
                      <a:r>
                        <a:rPr sz="1300" lang="en-GB"/>
                        <a:t>Insert a code cell (# %%)</a:t>
                      </a:r>
                    </a:p>
                  </a:txBody>
                  <a:tcPr marT="45000" marB="45000"/>
                </a:tc>
                <a:tc>
                  <a:txBody>
                    <a:bodyPr/>
                    <a:lstStyle/>
                    <a:p>
                      <a:r>
                        <a:rPr sz="1300" lang="en-GB">
                          <a:latin typeface="Consolas"/>
                        </a:rPr>
                        <a:t>Ctrl + Shift + I</a:t>
                      </a:r>
                    </a:p>
                  </a:txBody>
                  <a:tcPr marT="45000" marB="45000"/>
                </a:tc>
                <a:tc>
                  <a:txBody>
                    <a:bodyPr/>
                    <a:lstStyle/>
                    <a:p>
                      <a:r>
                        <a:rPr sz="1300" lang="en-GB">
                          <a:latin typeface="Consolas"/>
                        </a:rPr>
                        <a:t>Cmd + Shift + I</a:t>
                      </a:r>
                    </a:p>
                  </a:txBody>
                  <a:tcPr marT="45000" marB="45000"/>
                </a:tc>
              </a:tr>
              <a:tr h="370840">
                <a:tc>
                  <a:txBody>
                    <a:bodyPr/>
                    <a:lstStyle/>
                    <a:p>
                      <a:r>
                        <a:rPr sz="1300" lang="en-GB"/>
                        <a:t>Restart the Python session</a:t>
                      </a:r>
                    </a:p>
                  </a:txBody>
                  <a:tcPr marT="45000" marB="45000"/>
                </a:tc>
                <a:tc>
                  <a:txBody>
                    <a:bodyPr/>
                    <a:lstStyle/>
                    <a:p>
                      <a:r>
                        <a:rPr sz="1300" lang="en-GB">
                          <a:latin typeface="Consolas"/>
                        </a:rPr>
                        <a:t>Ctrl + Shift + 0</a:t>
                      </a:r>
                    </a:p>
                  </a:txBody>
                  <a:tcPr marT="45000" marB="45000"/>
                </a:tc>
                <a:tc>
                  <a:txBody>
                    <a:bodyPr/>
                    <a:lstStyle/>
                    <a:p>
                      <a:r>
                        <a:rPr sz="1300" lang="en-GB">
                          <a:latin typeface="Consolas"/>
                        </a:rPr>
                        <a:t>Cmd + Shift + 0</a:t>
                      </a:r>
                    </a:p>
                  </a:txBody>
                  <a:tcPr marT="45000" marB="45000"/>
                </a:tc>
              </a:tr>
              <a:tr h="370840">
                <a:tc>
                  <a:txBody>
                    <a:bodyPr/>
                    <a:lstStyle/>
                    <a:p>
                      <a:r>
                        <a:rPr sz="1300" lang="en-GB"/>
                        <a:t>Clear the console</a:t>
                      </a:r>
                    </a:p>
                  </a:txBody>
                  <a:tcPr marT="45000" marB="45000"/>
                </a:tc>
                <a:tc>
                  <a:txBody>
                    <a:bodyPr/>
                    <a:lstStyle/>
                    <a:p>
                      <a:r>
                        <a:rPr sz="1300" lang="en-GB">
                          <a:latin typeface="Consolas"/>
                        </a:rPr>
                        <a:t>Ctrl + L</a:t>
                      </a:r>
                    </a:p>
                  </a:txBody>
                  <a:tcPr marT="45000" marB="45000"/>
                </a:tc>
                <a:tc>
                  <a:txBody>
                    <a:bodyPr/>
                    <a:lstStyle/>
                    <a:p>
                      <a:r>
                        <a:rPr sz="1300" lang="en-GB">
                          <a:latin typeface="Consolas"/>
                        </a:rPr>
                        <a:t>Ctrl + L</a:t>
                      </a:r>
                    </a:p>
                  </a:txBody>
                  <a:tcPr marT="45000" marB="45000"/>
                </a:tc>
              </a:tr>
              <a:tr h="370840">
                <a:tc>
                  <a:txBody>
                    <a:bodyPr/>
                    <a:lstStyle/>
                    <a:p>
                      <a:r>
                        <a:rPr sz="1300" lang="en-GB"/>
                        <a:t>Preview a Quarto document</a:t>
                      </a:r>
                    </a:p>
                  </a:txBody>
                  <a:tcPr marT="45000" marB="45000"/>
                </a:tc>
                <a:tc>
                  <a:txBody>
                    <a:bodyPr/>
                    <a:lstStyle/>
                    <a:p>
                      <a:r>
                        <a:rPr sz="1300" lang="en-GB">
                          <a:latin typeface="Consolas"/>
                        </a:rPr>
                        <a:t>Ctrl + Shift + K</a:t>
                      </a:r>
                    </a:p>
                  </a:txBody>
                  <a:tcPr marT="45000" marB="45000"/>
                </a:tc>
                <a:tc>
                  <a:txBody>
                    <a:bodyPr/>
                    <a:lstStyle/>
                    <a:p>
                      <a:r>
                        <a:rPr sz="1300" lang="en-GB">
                          <a:latin typeface="Consolas"/>
                        </a:rPr>
                        <a:t>Cmd + Shift + K</a:t>
                      </a:r>
                    </a:p>
                  </a:txBody>
                  <a:tcPr marT="45000" marB="45000"/>
                </a:tc>
              </a:tr>
              <a:tr h="370840">
                <a:tc>
                  <a:txBody>
                    <a:bodyPr/>
                    <a:lstStyle/>
                    <a:p>
                      <a:r>
                        <a:rPr sz="1300" lang="en-GB"/>
                        <a:t>Command Palette</a:t>
                      </a:r>
                    </a:p>
                  </a:txBody>
                  <a:tcPr marT="45000" marB="45000"/>
                </a:tc>
                <a:tc>
                  <a:txBody>
                    <a:bodyPr/>
                    <a:lstStyle/>
                    <a:p>
                      <a:r>
                        <a:rPr sz="1300" lang="en-GB">
                          <a:latin typeface="Consolas"/>
                        </a:rPr>
                        <a:t>Ctrl + Shift + P</a:t>
                      </a:r>
                    </a:p>
                  </a:txBody>
                  <a:tcPr marT="45000" marB="45000"/>
                </a:tc>
                <a:tc>
                  <a:txBody>
                    <a:bodyPr/>
                    <a:lstStyle/>
                    <a:p>
                      <a:r>
                        <a:rPr sz="1300" lang="en-GB">
                          <a:latin typeface="Consolas"/>
                        </a:rPr>
                        <a:t>Cmd + Shift + P</a:t>
                      </a:r>
                    </a:p>
                  </a:txBody>
                  <a:tcPr marT="45000" marB="45000"/>
                </a:tc>
              </a:tr>
              <a:tr h="370840">
                <a:tc>
                  <a:txBody>
                    <a:bodyPr/>
                    <a:lstStyle/>
                    <a:p>
                      <a:r>
                        <a:rPr sz="1300" lang="en-GB"/>
                        <a:t>Help for the word under the cursor</a:t>
                      </a:r>
                    </a:p>
                  </a:txBody>
                  <a:tcPr marT="45000" marB="45000"/>
                </a:tc>
                <a:tc>
                  <a:txBody>
                    <a:bodyPr/>
                    <a:lstStyle/>
                    <a:p>
                      <a:r>
                        <a:rPr sz="1300" lang="en-GB">
                          <a:latin typeface="Consolas"/>
                        </a:rPr>
                        <a:t>F1</a:t>
                      </a:r>
                    </a:p>
                  </a:txBody>
                  <a:tcPr marT="45000" marB="45000"/>
                </a:tc>
                <a:tc>
                  <a:txBody>
                    <a:bodyPr/>
                    <a:lstStyle/>
                    <a:p>
                      <a:r>
                        <a:rPr sz="1300" lang="en-GB">
                          <a:latin typeface="Consolas"/>
                        </a:rPr>
                        <a:t>F1</a:t>
                      </a:r>
                    </a:p>
                  </a:txBody>
                  <a:tcPr marT="45000" marB="45000"/>
                </a:tc>
              </a:tr>
              <a:tr h="370840">
                <a:tc>
                  <a:txBody>
                    <a:bodyPr/>
                    <a:lstStyle/>
                    <a:p>
                      <a:r>
                        <a:rPr sz="1300" lang="en-GB"/>
                        <a:t>Accept an AI suggestion</a:t>
                      </a:r>
                    </a:p>
                  </a:txBody>
                  <a:tcPr marT="45000" marB="45000"/>
                </a:tc>
                <a:tc>
                  <a:txBody>
                    <a:bodyPr/>
                    <a:lstStyle/>
                    <a:p>
                      <a:r>
                        <a:rPr sz="1300" lang="en-GB">
                          <a:latin typeface="Consolas"/>
                        </a:rPr>
                        <a:t>Tab</a:t>
                      </a:r>
                    </a:p>
                  </a:txBody>
                  <a:tcPr marT="45000" marB="45000"/>
                </a:tc>
                <a:tc>
                  <a:txBody>
                    <a:bodyPr/>
                    <a:lstStyle/>
                    <a:p>
                      <a:r>
                        <a:rPr sz="1300" lang="en-GB">
                          <a:latin typeface="Consolas"/>
                        </a:rPr>
                        <a:t>Tab</a:t>
                      </a:r>
                    </a:p>
                  </a:txBody>
                  <a:tcPr marT="45000" marB="45000"/>
                </a:tc>
              </a:tr>
            </a:tbl>
          </a:graphicData>
        </a:graphic>
      </p:graphicFrame>
      <p:sp>
        <p:nvSpPr>
          <p:cNvPr id="3" name="Title 2"/>
          <p:cNvSpPr>
            <a:spLocks noGrp="1"/>
          </p:cNvSpPr>
          <p:nvPr>
            <p:ph type="title"/>
          </p:nvPr>
        </p:nvSpPr>
        <p:spPr/>
        <p:txBody>
          <a:bodyPr/>
          <a:lstStyle/>
          <a:p>
            <a:r>
              <a:rPr sz="1600" lang="en-GB"/>
              <a:t>Shortcuts worth knowing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Posit Assistant: the AI inside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Assistant card 1 body"/>
          <p:cNvSpPr/>
          <p:nvPr/>
        </p:nvSpPr>
        <p:spPr>
          <a:xfrm>
            <a:off x="45720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Assistant card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Assistant card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sees</a:t>
            </a:r>
          </a:p>
        </p:txBody>
      </p:sp>
      <p:pic>
        <p:nvPicPr>
          <p:cNvPr id="13" name="Icon Assistant card 1" descr=""/>
          <p:cNvPicPr>
            <a:picLocks noChangeAspect="1"/>
          </p:cNvPicPr>
          <p:nvPr/>
        </p:nvPicPr>
        <p:blipFill>
          <a:blip r:embed="rId3"/>
          <a:stretch>
            <a:fillRect/>
          </a:stretch>
        </p:blipFill>
        <p:spPr>
          <a:xfrm>
            <a:off x="2670048" y="1284732"/>
            <a:ext cx="310896" cy="310896"/>
          </a:xfrm>
          <a:prstGeom prst="rect">
            <a:avLst/>
          </a:prstGeom>
        </p:spPr>
      </p:pic>
      <p:sp>
        <p:nvSpPr>
          <p:cNvPr id="14" name="Assistant card 1 text"/>
          <p:cNvSpPr txBox="1"/>
          <p:nvPr/>
        </p:nvSpPr>
        <p:spPr>
          <a:xfrm>
            <a:off x="62179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Your open files and project</a:t>
            </a:r>
          </a:p>
          <a:p>
            <a:pPr algn="l" marL="182880" indent="-182880">
              <a:spcAft>
                <a:spcPts val="600"/>
              </a:spcAft>
              <a:buClr>
                <a:schemeClr val="accent1"/>
              </a:buClr>
              <a:buFont typeface="Arial"/>
              <a:buChar char="▪"/>
            </a:pPr>
            <a:r>
              <a:rPr sz="1300" b="0" lang="en-GB">
                <a:solidFill>
                  <a:schemeClr val="tx1"/>
                </a:solidFill>
              </a:rPr>
              <a:t>Loaded data, variables and plots</a:t>
            </a:r>
          </a:p>
          <a:p>
            <a:pPr algn="l" marL="182880" indent="-182880">
              <a:spcAft>
                <a:spcPts val="600"/>
              </a:spcAft>
              <a:buClr>
                <a:schemeClr val="accent1"/>
              </a:buClr>
              <a:buFont typeface="Arial"/>
              <a:buChar char="▪"/>
            </a:pPr>
            <a:r>
              <a:rPr sz="1300" b="0" lang="en-GB">
                <a:solidFill>
                  <a:schemeClr val="tx1"/>
                </a:solidFill>
              </a:rPr>
              <a:t>Console history</a:t>
            </a:r>
          </a:p>
        </p:txBody>
      </p:sp>
      <p:sp>
        <p:nvSpPr>
          <p:cNvPr id="15" name="Assistant card 2 body"/>
          <p:cNvSpPr/>
          <p:nvPr/>
        </p:nvSpPr>
        <p:spPr>
          <a:xfrm>
            <a:off x="324612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ard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ard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it does</a:t>
            </a:r>
          </a:p>
        </p:txBody>
      </p:sp>
      <p:pic>
        <p:nvPicPr>
          <p:cNvPr id="18" name="Icon Assistant card 2" descr=""/>
          <p:cNvPicPr>
            <a:picLocks noChangeAspect="1"/>
          </p:cNvPicPr>
          <p:nvPr/>
        </p:nvPicPr>
        <p:blipFill>
          <a:blip r:embed="rId4"/>
          <a:stretch>
            <a:fillRect/>
          </a:stretch>
        </p:blipFill>
        <p:spPr>
          <a:xfrm>
            <a:off x="5458968" y="1284732"/>
            <a:ext cx="310896" cy="310896"/>
          </a:xfrm>
          <a:prstGeom prst="rect">
            <a:avLst/>
          </a:prstGeom>
        </p:spPr>
      </p:pic>
      <p:sp>
        <p:nvSpPr>
          <p:cNvPr id="19" name="Assistant card 2 text"/>
          <p:cNvSpPr txBox="1"/>
          <p:nvPr/>
        </p:nvSpPr>
        <p:spPr>
          <a:xfrm>
            <a:off x="341071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Explains, writes and fixes code</a:t>
            </a:r>
          </a:p>
          <a:p>
            <a:pPr algn="l" marL="182880" indent="-182880">
              <a:spcAft>
                <a:spcPts val="600"/>
              </a:spcAft>
              <a:buClr>
                <a:schemeClr val="accent1"/>
              </a:buClr>
              <a:buFont typeface="Arial"/>
              <a:buChar char="▪"/>
            </a:pPr>
            <a:r>
              <a:rPr sz="1300" b="0" lang="en-GB">
                <a:solidFill>
                  <a:schemeClr val="tx1"/>
                </a:solidFill>
              </a:rPr>
              <a:t>Runs code after you approve</a:t>
            </a:r>
          </a:p>
          <a:p>
            <a:pPr algn="l" marL="182880" indent="-182880">
              <a:spcAft>
                <a:spcPts val="600"/>
              </a:spcAft>
              <a:buClr>
                <a:schemeClr val="accent1"/>
              </a:buClr>
              <a:buFont typeface="Arial"/>
              <a:buChar char="▪"/>
            </a:pPr>
            <a:r>
              <a:rPr sz="1300" b="0" lang="en-GB">
                <a:solidFill>
                  <a:schemeClr val="tx1"/>
                </a:solidFill>
              </a:rPr>
              <a:t>Fix and Explain on any error</a:t>
            </a:r>
          </a:p>
        </p:txBody>
      </p:sp>
      <p:sp>
        <p:nvSpPr>
          <p:cNvPr id="20" name="Assistant card 3 body"/>
          <p:cNvSpPr/>
          <p:nvPr/>
        </p:nvSpPr>
        <p:spPr>
          <a:xfrm>
            <a:off x="6035040" y="1645920"/>
            <a:ext cx="265176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Assistant card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ssistant card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How you steer it</a:t>
            </a:r>
          </a:p>
        </p:txBody>
      </p:sp>
      <p:pic>
        <p:nvPicPr>
          <p:cNvPr id="23" name="Icon Assistant card 3" descr=""/>
          <p:cNvPicPr>
            <a:picLocks noChangeAspect="1"/>
          </p:cNvPicPr>
          <p:nvPr/>
        </p:nvPicPr>
        <p:blipFill>
          <a:blip r:embed="rId5"/>
          <a:stretch>
            <a:fillRect/>
          </a:stretch>
        </p:blipFill>
        <p:spPr>
          <a:xfrm>
            <a:off x="8247888" y="1284732"/>
            <a:ext cx="310896" cy="310896"/>
          </a:xfrm>
          <a:prstGeom prst="rect">
            <a:avLst/>
          </a:prstGeom>
        </p:spPr>
      </p:pic>
      <p:sp>
        <p:nvSpPr>
          <p:cNvPr id="24" name="Assistant card 3 text"/>
          <p:cNvSpPr txBox="1"/>
          <p:nvPr/>
        </p:nvSpPr>
        <p:spPr>
          <a:xfrm>
            <a:off x="6199632" y="1783080"/>
            <a:ext cx="2350008" cy="14630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/plan: a plan before any code</a:t>
            </a:r>
          </a:p>
          <a:p>
            <a:pPr algn="l" marL="182880" indent="-182880">
              <a:spcAft>
                <a:spcPts val="600"/>
              </a:spcAft>
              <a:buClr>
                <a:schemeClr val="accent1"/>
              </a:buClr>
              <a:buFont typeface="Arial"/>
              <a:buChar char="▪"/>
            </a:pPr>
            <a:r>
              <a:rPr sz="1300" b="0" lang="en-GB">
                <a:solidFill>
                  <a:schemeClr val="tx1"/>
                </a:solidFill>
              </a:rPr>
              <a:t>@file: point it to a file</a:t>
            </a:r>
          </a:p>
          <a:p>
            <a:pPr algn="l" marL="182880" indent="-182880">
              <a:spcAft>
                <a:spcPts val="600"/>
              </a:spcAft>
              <a:buClr>
                <a:schemeClr val="accent1"/>
              </a:buClr>
              <a:buFont typeface="Arial"/>
              <a:buChar char="▪"/>
            </a:pPr>
            <a:r>
              <a:rPr sz="1300" b="0" lang="en-GB">
                <a:solidFill>
                  <a:schemeClr val="tx1"/>
                </a:solidFill>
              </a:rPr>
              <a:t>Permission mode: keep Normal</a:t>
            </a:r>
          </a:p>
        </p:txBody>
      </p:sp>
      <p:sp>
        <p:nvSpPr>
          <p:cNvPr id="25" name="Open label"/>
          <p:cNvSpPr txBox="1"/>
          <p:nvPr/>
        </p:nvSpPr>
        <p:spPr>
          <a:xfrm>
            <a:off x="457200" y="35204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Open it</a:t>
            </a:r>
          </a:p>
        </p:txBody>
      </p:sp>
      <p:sp>
        <p:nvSpPr>
          <p:cNvPr id="26" name="Open command box"/>
          <p:cNvSpPr/>
          <p:nvPr/>
        </p:nvSpPr>
        <p:spPr>
          <a:xfrm>
            <a:off x="457200" y="3840480"/>
            <a:ext cx="402336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pen command code"/>
          <p:cNvSpPr txBox="1"/>
          <p:nvPr/>
        </p:nvSpPr>
        <p:spPr>
          <a:xfrm>
            <a:off x="594360" y="3931920"/>
            <a:ext cx="3749040" cy="36576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View: Show Posit Assistant</a:t>
            </a:r>
          </a:p>
        </p:txBody>
      </p:sp>
      <p:sp>
        <p:nvSpPr>
          <p:cNvPr id="28" name="Open note"/>
          <p:cNvSpPr txBox="1"/>
          <p:nvPr/>
        </p:nvSpPr>
        <p:spPr>
          <a:xfrm>
            <a:off x="4617720" y="3840480"/>
            <a:ext cx="4069080" cy="548640"/>
          </a:xfrm>
          <a:prstGeom prst="rect">
            <a:avLst/>
          </a:prstGeom>
          <a:noFill/>
        </p:spPr>
        <p:txBody>
          <a:bodyPr wrap="square" lIns="0" rIns="0" tIns="0" bIns="0" anchor="ctr">
            <a:noAutofit/>
          </a:bodyPr>
          <a:lstStyle/>
          <a:p>
            <a:pPr algn="l">
              <a:spcAft>
                <a:spcPts val="400"/>
              </a:spcAft>
            </a:pPr>
            <a:r>
              <a:rPr sz="1200" b="0" lang="en-GB">
                <a:solidFill>
                  <a:schemeClr val="tx1"/>
                </a:solidFill>
              </a:rPr>
              <a:t>Command Palette, or the Assistant icon in the Activity Bar</a:t>
            </a:r>
          </a:p>
        </p:txBody>
      </p:sp>
      <p:sp>
        <p:nvSpPr>
          <p:cNvPr id="29" name="Memory note"/>
          <p:cNvSpPr txBox="1"/>
          <p:nvPr/>
        </p:nvSpPr>
        <p:spPr>
          <a:xfrm>
            <a:off x="457200" y="4526280"/>
            <a:ext cx="82296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Memory: </a:t>
            </a:r>
            <a:r>
              <a:rPr sz="1200" b="0" lang="en-GB">
                <a:solidFill>
                  <a:schemeClr val="tx1"/>
                </a:solidFill>
              </a:rPr>
              <a:t>an AGENTS.md file in your project tells it your conventions, for example “use polars and plotnine”.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Working with AI in Positron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host card body"/>
          <p:cNvSpPr/>
          <p:nvPr/>
        </p:nvSpPr>
        <p:spPr>
          <a:xfrm>
            <a:off x="45720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host card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Ghost card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Completions: ghost text</a:t>
            </a:r>
          </a:p>
        </p:txBody>
      </p:sp>
      <p:pic>
        <p:nvPicPr>
          <p:cNvPr id="13" name="Icon Ghost card" descr=""/>
          <p:cNvPicPr>
            <a:picLocks noChangeAspect="1"/>
          </p:cNvPicPr>
          <p:nvPr/>
        </p:nvPicPr>
        <p:blipFill>
          <a:blip r:embed="rId3"/>
          <a:stretch>
            <a:fillRect/>
          </a:stretch>
        </p:blipFill>
        <p:spPr>
          <a:xfrm>
            <a:off x="4064508" y="1284732"/>
            <a:ext cx="310896" cy="310896"/>
          </a:xfrm>
          <a:prstGeom prst="rect">
            <a:avLst/>
          </a:prstGeom>
        </p:spPr>
      </p:pic>
      <p:sp>
        <p:nvSpPr>
          <p:cNvPr id="14" name="Ghost card text"/>
          <p:cNvSpPr txBox="1"/>
          <p:nvPr/>
        </p:nvSpPr>
        <p:spPr>
          <a:xfrm>
            <a:off x="62179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Grey suggestions appear as you type</a:t>
            </a:r>
          </a:p>
          <a:p>
            <a:pPr algn="l" marL="182880" indent="-182880">
              <a:spcAft>
                <a:spcPts val="600"/>
              </a:spcAft>
              <a:buClr>
                <a:schemeClr val="accent1"/>
              </a:buClr>
              <a:buFont typeface="Arial"/>
              <a:buChar char="▪"/>
            </a:pPr>
            <a:r>
              <a:rPr sz="1300" b="0" lang="en-GB">
                <a:solidFill>
                  <a:schemeClr val="tx1"/>
                </a:solidFill>
              </a:rPr>
              <a:t>Tab accepts, Ctrl/Cmd + → word by word</a:t>
            </a:r>
          </a:p>
          <a:p>
            <a:pPr algn="l" marL="182880" indent="-182880">
              <a:spcAft>
                <a:spcPts val="600"/>
              </a:spcAft>
              <a:buClr>
                <a:schemeClr val="accent1"/>
              </a:buClr>
              <a:buFont typeface="Arial"/>
              <a:buChar char="▪"/>
            </a:pPr>
            <a:r>
              <a:rPr sz="1300" b="0" lang="en-GB">
                <a:solidFill>
                  <a:schemeClr val="tx1"/>
                </a:solidFill>
              </a:rPr>
              <a:t>Esc or keep typing to dismiss</a:t>
            </a:r>
          </a:p>
        </p:txBody>
      </p:sp>
      <p:sp>
        <p:nvSpPr>
          <p:cNvPr id="15" name="Assistant chat card body"/>
          <p:cNvSpPr/>
          <p:nvPr/>
        </p:nvSpPr>
        <p:spPr>
          <a:xfrm>
            <a:off x="4640580" y="1645920"/>
            <a:ext cx="4046220" cy="1280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Assistant chat card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Assistant chat card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Chat: Posit Assistant</a:t>
            </a:r>
          </a:p>
        </p:txBody>
      </p:sp>
      <p:pic>
        <p:nvPicPr>
          <p:cNvPr id="18" name="Icon Assistant chat card" descr=""/>
          <p:cNvPicPr>
            <a:picLocks noChangeAspect="1"/>
          </p:cNvPicPr>
          <p:nvPr/>
        </p:nvPicPr>
        <p:blipFill>
          <a:blip r:embed="rId4"/>
          <a:stretch>
            <a:fillRect/>
          </a:stretch>
        </p:blipFill>
        <p:spPr>
          <a:xfrm>
            <a:off x="8247888" y="1284732"/>
            <a:ext cx="310896" cy="310896"/>
          </a:xfrm>
          <a:prstGeom prst="rect">
            <a:avLst/>
          </a:prstGeom>
        </p:spPr>
      </p:pic>
      <p:sp>
        <p:nvSpPr>
          <p:cNvPr id="19" name="Assistant chat card text"/>
          <p:cNvSpPr txBox="1"/>
          <p:nvPr/>
        </p:nvSpPr>
        <p:spPr>
          <a:xfrm>
            <a:off x="4805172" y="1783080"/>
            <a:ext cx="3744468" cy="100584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Ask in plain English, one step at a time</a:t>
            </a:r>
          </a:p>
          <a:p>
            <a:pPr algn="l" marL="182880" indent="-182880">
              <a:spcAft>
                <a:spcPts val="600"/>
              </a:spcAft>
              <a:buClr>
                <a:schemeClr val="accent1"/>
              </a:buClr>
              <a:buFont typeface="Arial"/>
              <a:buChar char="▪"/>
            </a:pPr>
            <a:r>
              <a:rPr sz="1300" b="0" lang="en-GB">
                <a:solidFill>
                  <a:schemeClr val="tx1"/>
                </a:solidFill>
              </a:rPr>
              <a:t>Check every result it reports</a:t>
            </a:r>
          </a:p>
          <a:p>
            <a:pPr algn="l" marL="182880" indent="-182880">
              <a:spcAft>
                <a:spcPts val="600"/>
              </a:spcAft>
              <a:buClr>
                <a:schemeClr val="accent1"/>
              </a:buClr>
              <a:buFont typeface="Arial"/>
              <a:buChar char="▪"/>
            </a:pPr>
            <a:r>
              <a:rPr sz="1300" b="0" lang="en-GB">
                <a:solidFill>
                  <a:schemeClr val="tx1"/>
                </a:solidFill>
              </a:rPr>
              <a:t>Export the chat: your prompt log</a:t>
            </a:r>
          </a:p>
        </p:txBody>
      </p:sp>
      <p:sp>
        <p:nvSpPr>
          <p:cNvPr id="20" name="Prompt label"/>
          <p:cNvSpPr txBox="1"/>
          <p:nvPr/>
        </p:nvSpPr>
        <p:spPr>
          <a:xfrm>
            <a:off x="457200" y="3063240"/>
            <a:ext cx="8229600" cy="274320"/>
          </a:xfrm>
          <a:prstGeom prst="rect">
            <a:avLst/>
          </a:prstGeom>
          <a:noFill/>
        </p:spPr>
        <p:txBody>
          <a:bodyPr wrap="square" lIns="0" rIns="0" tIns="0" bIns="0" anchor="t">
            <a:noAutofit/>
          </a:bodyPr>
          <a:lstStyle/>
          <a:p>
            <a:pPr algn="l">
              <a:spcAft>
                <a:spcPts val="400"/>
              </a:spcAft>
            </a:pPr>
            <a:r>
              <a:rPr sz="1300" b="1" lang="en-GB">
                <a:solidFill>
                  <a:schemeClr val="tx2"/>
                </a:solidFill>
              </a:rPr>
              <a:t>Good prompts</a:t>
            </a:r>
          </a:p>
        </p:txBody>
      </p:sp>
      <p:sp>
        <p:nvSpPr>
          <p:cNvPr id="21" name="Prompt code box"/>
          <p:cNvSpPr/>
          <p:nvPr/>
        </p:nvSpPr>
        <p:spPr>
          <a:xfrm>
            <a:off x="457200" y="338328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code code"/>
          <p:cNvSpPr txBox="1"/>
          <p:nvPr/>
        </p:nvSpPr>
        <p:spPr>
          <a:xfrm>
            <a:off x="594360" y="3474720"/>
            <a:ext cx="7955280" cy="548640"/>
          </a:xfrm>
          <a:prstGeom prst="rect">
            <a:avLst/>
          </a:prstGeom>
          <a:noFill/>
        </p:spPr>
        <p:txBody>
          <a:bodyPr wrap="square" lIns="0" rIns="0" tIns="0" bIns="0" anchor="t">
            <a:noAutofit/>
          </a:bodyPr>
          <a:lstStyle/>
          <a:p>
            <a:pPr algn="l">
              <a:spcAft>
                <a:spcPts val="0"/>
              </a:spcAft>
            </a:pPr>
            <a:r>
              <a:rPr sz="1150" b="0" lang="en-GB">
                <a:solidFill>
                  <a:schemeClr val="bg1"/>
                </a:solidFill>
                <a:latin typeface="Consolas"/>
              </a:rPr>
              <a:t>"Sum revenue by country for 2025 with polars and sort it."</a:t>
            </a:r>
          </a:p>
          <a:p>
            <a:pPr algn="l">
              <a:spcAft>
                <a:spcPts val="0"/>
              </a:spcAft>
            </a:pPr>
            <a:r>
              <a:rPr sz="1150" b="0" lang="en-GB">
                <a:solidFill>
                  <a:schemeClr val="bg1"/>
                </a:solidFill>
                <a:latin typeface="Consolas"/>
              </a:rPr>
              <a:t>"Explain this error in two sentences, then fix it."</a:t>
            </a:r>
          </a:p>
        </p:txBody>
      </p:sp>
      <p:sp>
        <p:nvSpPr>
          <p:cNvPr id="23" name="Privacy box"/>
          <p:cNvSpPr/>
          <p:nvPr/>
        </p:nvSpPr>
        <p:spPr>
          <a:xfrm>
            <a:off x="457200" y="4297680"/>
            <a:ext cx="82296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Privacy" descr=""/>
          <p:cNvPicPr>
            <a:picLocks noChangeAspect="1"/>
          </p:cNvPicPr>
          <p:nvPr/>
        </p:nvPicPr>
        <p:blipFill>
          <a:blip r:embed="rId5"/>
          <a:stretch>
            <a:fillRect/>
          </a:stretch>
        </p:blipFill>
        <p:spPr>
          <a:xfrm>
            <a:off x="658368" y="4494276"/>
            <a:ext cx="384048" cy="384048"/>
          </a:xfrm>
          <a:prstGeom prst="rect">
            <a:avLst/>
          </a:prstGeom>
        </p:spPr>
      </p:pic>
      <p:sp>
        <p:nvSpPr>
          <p:cNvPr id="25" name="Privacy text"/>
          <p:cNvSpPr txBox="1"/>
          <p:nvPr/>
        </p:nvSpPr>
        <p:spPr>
          <a:xfrm>
            <a:off x="1234440" y="4297680"/>
            <a:ext cx="7269480" cy="777240"/>
          </a:xfrm>
          <a:prstGeom prst="rect">
            <a:avLst/>
          </a:prstGeom>
          <a:noFill/>
        </p:spPr>
        <p:txBody>
          <a:bodyPr wrap="square" lIns="0" rIns="0" tIns="0" bIns="0" anchor="ctr">
            <a:noAutofit/>
          </a:bodyPr>
          <a:lstStyle/>
          <a:p>
            <a:pPr algn="l">
              <a:spcAft>
                <a:spcPts val="400"/>
              </a:spcAft>
            </a:pPr>
            <a:r>
              <a:rPr sz="1300" b="1" lang="en-GB">
                <a:solidFill>
                  <a:schemeClr val="tx2"/>
                </a:solidFill>
              </a:rPr>
              <a:t>Privacy: </a:t>
            </a:r>
            <a:r>
              <a:rPr sz="1300" b="0" lang="en-GB">
                <a:solidFill>
                  <a:schemeClr val="tx1"/>
                </a:solidFill>
              </a:rPr>
              <a:t>prompts, variable names and types go to the model provider; rows of data only if you ask. Never paste personal data.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4 · install and load; polars, plotnine, Great Tables, statsmodels</a:t>
            </a:r>
          </a:p>
        </p:txBody>
      </p:sp>
      <p:sp>
        <p:nvSpPr>
          <p:cNvPr id="3" name="Title 2"/>
          <p:cNvSpPr>
            <a:spLocks noGrp="1"/>
          </p:cNvSpPr>
          <p:nvPr>
            <p:ph type="ctrTitle"/>
          </p:nvPr>
        </p:nvSpPr>
        <p:spPr/>
        <p:txBody>
          <a:bodyPr/>
          <a:lstStyle/>
          <a:p>
            <a:r>
              <a:rPr sz="1600" lang="en-GB"/>
              <a:t>Python packages for this course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packages: three 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win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win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Windows: Positron terminal</a:t>
            </a:r>
          </a:p>
        </p:txBody>
      </p:sp>
      <p:sp>
        <p:nvSpPr>
          <p:cNvPr id="12" name="Install win box"/>
          <p:cNvSpPr/>
          <p:nvPr/>
        </p:nvSpPr>
        <p:spPr>
          <a:xfrm>
            <a:off x="457200" y="150876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win code"/>
          <p:cNvSpPr txBox="1"/>
          <p:nvPr/>
        </p:nvSpPr>
        <p:spPr>
          <a:xfrm>
            <a:off x="594360" y="1600200"/>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.venv\Scripts\python -m pip install -r requirements.txt   # all course packages</a:t>
            </a:r>
          </a:p>
          <a:p>
            <a:pPr algn="l">
              <a:spcAft>
                <a:spcPts val="0"/>
              </a:spcAft>
            </a:pPr>
            <a:r>
              <a:rPr sz="1100" b="0" lang="en-GB">
                <a:solidFill>
                  <a:schemeClr val="bg1"/>
                </a:solidFill>
                <a:latin typeface="Consolas"/>
              </a:rPr>
              <a:t>.venv\Scripts\python -m pip install polars                # one package</a:t>
            </a:r>
          </a:p>
        </p:txBody>
      </p:sp>
      <p:sp>
        <p:nvSpPr>
          <p:cNvPr id="14" name="Install mac caption bar"/>
          <p:cNvSpPr/>
          <p:nvPr/>
        </p:nvSpPr>
        <p:spPr>
          <a:xfrm>
            <a:off x="457200" y="2212848"/>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Install mac caption"/>
          <p:cNvSpPr txBox="1"/>
          <p:nvPr/>
        </p:nvSpPr>
        <p:spPr>
          <a:xfrm>
            <a:off x="566928" y="2212848"/>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macOS: Positron terminal</a:t>
            </a:r>
          </a:p>
        </p:txBody>
      </p:sp>
      <p:sp>
        <p:nvSpPr>
          <p:cNvPr id="16" name="Install mac box"/>
          <p:cNvSpPr/>
          <p:nvPr/>
        </p:nvSpPr>
        <p:spPr>
          <a:xfrm>
            <a:off x="457200" y="2487168"/>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nstall mac code"/>
          <p:cNvSpPr txBox="1"/>
          <p:nvPr/>
        </p:nvSpPr>
        <p:spPr>
          <a:xfrm>
            <a:off x="594360" y="2578608"/>
            <a:ext cx="7955280" cy="411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.venv/bin/python -m pip install -r requirements.txt       # all course packages</a:t>
            </a:r>
          </a:p>
          <a:p>
            <a:pPr algn="l">
              <a:spcAft>
                <a:spcPts val="0"/>
              </a:spcAft>
            </a:pPr>
            <a:r>
              <a:rPr sz="1100" b="0" lang="en-GB">
                <a:solidFill>
                  <a:schemeClr val="bg1"/>
                </a:solidFill>
                <a:latin typeface="Consolas"/>
              </a:rPr>
              <a:t>.venv/bin/python -m pip install polars                    # one package</a:t>
            </a:r>
          </a:p>
        </p:txBody>
      </p:sp>
      <p:sp>
        <p:nvSpPr>
          <p:cNvPr id="18" name="Install console caption bar"/>
          <p:cNvSpPr/>
          <p:nvPr/>
        </p:nvSpPr>
        <p:spPr>
          <a:xfrm>
            <a:off x="457200" y="3191256"/>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stall console caption"/>
          <p:cNvSpPr txBox="1"/>
          <p:nvPr/>
        </p:nvSpPr>
        <p:spPr>
          <a:xfrm>
            <a:off x="566928" y="3191256"/>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3  Windows and macOS: Positron console</a:t>
            </a:r>
          </a:p>
        </p:txBody>
      </p:sp>
      <p:sp>
        <p:nvSpPr>
          <p:cNvPr id="20" name="Install console box"/>
          <p:cNvSpPr/>
          <p:nvPr/>
        </p:nvSpPr>
        <p:spPr>
          <a:xfrm>
            <a:off x="457200" y="3465576"/>
            <a:ext cx="8229600" cy="3657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nstall console code"/>
          <p:cNvSpPr txBox="1"/>
          <p:nvPr/>
        </p:nvSpPr>
        <p:spPr>
          <a:xfrm>
            <a:off x="594360" y="3557016"/>
            <a:ext cx="7955280" cy="1828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%pip install polars plotnine great-tables</a:t>
            </a:r>
          </a:p>
        </p:txBody>
      </p:sp>
      <p:sp>
        <p:nvSpPr>
          <p:cNvPr id="22" name="Names box"/>
          <p:cNvSpPr/>
          <p:nvPr/>
        </p:nvSpPr>
        <p:spPr>
          <a:xfrm>
            <a:off x="457200" y="3977640"/>
            <a:ext cx="8229600" cy="1097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Names" descr=""/>
          <p:cNvPicPr>
            <a:picLocks noChangeAspect="1"/>
          </p:cNvPicPr>
          <p:nvPr/>
        </p:nvPicPr>
        <p:blipFill>
          <a:blip r:embed="rId3"/>
          <a:stretch>
            <a:fillRect/>
          </a:stretch>
        </p:blipFill>
        <p:spPr>
          <a:xfrm>
            <a:off x="658368" y="4334256"/>
            <a:ext cx="384048" cy="384048"/>
          </a:xfrm>
          <a:prstGeom prst="rect">
            <a:avLst/>
          </a:prstGeom>
        </p:spPr>
      </p:pic>
      <p:sp>
        <p:nvSpPr>
          <p:cNvPr id="24" name="Names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tx2"/>
                </a:solidFill>
              </a:rPr>
              <a:t>Install name and import name can differ: </a:t>
            </a:r>
            <a:r>
              <a:rPr sz="1300" b="0" lang="en-GB">
                <a:solidFill>
                  <a:schemeClr val="tx1"/>
                </a:solidFill>
              </a:rPr>
              <a:t>pip install great-tables → import great_tables; scikit-learn → sklearn; pymc-marketing → pymc_marketing.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pane: install without code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ne steps step 1"/>
          <p:cNvSpPr/>
          <p:nvPr/>
        </p:nvSpPr>
        <p:spPr>
          <a:xfrm>
            <a:off x="457200" y="1234440"/>
            <a:ext cx="2139696"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Packages icon</a:t>
            </a:r>
            <a:br/>
            <a:r>
              <a:rPr sz="1200" b="1" lang="en-GB">
                <a:solidFill>
                  <a:schemeClr val="tx2"/>
                </a:solidFill>
              </a:rPr>
              <a:t>(Activity Bar)</a:t>
            </a:r>
          </a:p>
        </p:txBody>
      </p:sp>
      <p:sp>
        <p:nvSpPr>
          <p:cNvPr id="11" name="Pane steps step 2"/>
          <p:cNvSpPr/>
          <p:nvPr/>
        </p:nvSpPr>
        <p:spPr>
          <a:xfrm>
            <a:off x="2487168"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Install</a:t>
            </a:r>
            <a:br/>
            <a:r>
              <a:rPr sz="1200" b="1" lang="en-GB">
                <a:solidFill>
                  <a:schemeClr val="tx2"/>
                </a:solidFill>
              </a:rPr>
              <a:t>Package</a:t>
            </a:r>
          </a:p>
        </p:txBody>
      </p:sp>
      <p:sp>
        <p:nvSpPr>
          <p:cNvPr id="12" name="Pane steps step 3"/>
          <p:cNvSpPr/>
          <p:nvPr/>
        </p:nvSpPr>
        <p:spPr>
          <a:xfrm>
            <a:off x="4517136"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Search name,</a:t>
            </a:r>
            <a:br/>
            <a:r>
              <a:rPr sz="1200" b="1" lang="en-GB">
                <a:solidFill>
                  <a:schemeClr val="tx2"/>
                </a:solidFill>
              </a:rPr>
              <a:t>pick version</a:t>
            </a:r>
          </a:p>
        </p:txBody>
      </p:sp>
      <p:sp>
        <p:nvSpPr>
          <p:cNvPr id="13" name="Pane steps step 4"/>
          <p:cNvSpPr/>
          <p:nvPr/>
        </p:nvSpPr>
        <p:spPr>
          <a:xfrm>
            <a:off x="6547104" y="1234440"/>
            <a:ext cx="2139696"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Restart session</a:t>
            </a:r>
            <a:br/>
            <a:r>
              <a:rPr sz="1200" b="1" lang="en-GB">
                <a:solidFill>
                  <a:schemeClr val="tx2"/>
                </a:solidFill>
              </a:rPr>
              <a:t>when asked</a:t>
            </a:r>
          </a:p>
        </p:txBody>
      </p:sp>
      <p:sp>
        <p:nvSpPr>
          <p:cNvPr id="14" name="Pane mock"/>
          <p:cNvSpPr/>
          <p:nvPr/>
        </p:nvSpPr>
        <p:spPr>
          <a:xfrm>
            <a:off x="457200" y="1965960"/>
            <a:ext cx="4023360" cy="31089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ane mock head"/>
          <p:cNvSpPr txBox="1"/>
          <p:nvPr/>
        </p:nvSpPr>
        <p:spPr>
          <a:xfrm>
            <a:off x="594360" y="2029968"/>
            <a:ext cx="3749040" cy="320040"/>
          </a:xfrm>
          <a:prstGeom prst="rect">
            <a:avLst/>
          </a:prstGeom>
          <a:noFill/>
        </p:spPr>
        <p:txBody>
          <a:bodyPr wrap="square" lIns="0" rIns="0" tIns="0" bIns="0" anchor="ctr">
            <a:noAutofit/>
          </a:bodyPr>
          <a:lstStyle/>
          <a:p>
            <a:pPr algn="l">
              <a:spcAft>
                <a:spcPts val="400"/>
              </a:spcAft>
            </a:pPr>
            <a:r>
              <a:rPr sz="1100" b="1" lang="en-GB">
                <a:solidFill>
                  <a:schemeClr val="tx2"/>
                </a:solidFill>
              </a:rPr>
              <a:t>PACKAGES</a:t>
            </a:r>
            <a:r>
              <a:rPr sz="1100" b="0" lang="en-GB">
                <a:solidFill>
                  <a:schemeClr val="tx1"/>
                </a:solidFill>
              </a:rPr>
              <a:t>     Python 3.13.16 (.venv)</a:t>
            </a:r>
          </a:p>
        </p:txBody>
      </p:sp>
      <p:sp>
        <p:nvSpPr>
          <p:cNvPr id="16" name="Pane row 1"/>
          <p:cNvSpPr/>
          <p:nvPr/>
        </p:nvSpPr>
        <p:spPr>
          <a:xfrm>
            <a:off x="594360" y="24231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ane name 1"/>
          <p:cNvSpPr txBox="1"/>
          <p:nvPr/>
        </p:nvSpPr>
        <p:spPr>
          <a:xfrm>
            <a:off x="713232" y="24231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great-tables</a:t>
            </a:r>
          </a:p>
        </p:txBody>
      </p:sp>
      <p:sp>
        <p:nvSpPr>
          <p:cNvPr id="18" name="Pane version 1"/>
          <p:cNvSpPr txBox="1"/>
          <p:nvPr/>
        </p:nvSpPr>
        <p:spPr>
          <a:xfrm>
            <a:off x="2331720" y="24231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1.0.0</a:t>
            </a:r>
          </a:p>
        </p:txBody>
      </p:sp>
      <p:sp>
        <p:nvSpPr>
          <p:cNvPr id="19" name="Pane attached 1"/>
          <p:cNvSpPr txBox="1"/>
          <p:nvPr/>
        </p:nvSpPr>
        <p:spPr>
          <a:xfrm>
            <a:off x="3154680" y="24231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0" name="Pane row 2"/>
          <p:cNvSpPr/>
          <p:nvPr/>
        </p:nvSpPr>
        <p:spPr>
          <a:xfrm>
            <a:off x="594360" y="283464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ane name 2"/>
          <p:cNvSpPr txBox="1"/>
          <p:nvPr/>
        </p:nvSpPr>
        <p:spPr>
          <a:xfrm>
            <a:off x="713232" y="283464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pandas</a:t>
            </a:r>
          </a:p>
        </p:txBody>
      </p:sp>
      <p:sp>
        <p:nvSpPr>
          <p:cNvPr id="22" name="Pane version 2"/>
          <p:cNvSpPr txBox="1"/>
          <p:nvPr/>
        </p:nvSpPr>
        <p:spPr>
          <a:xfrm>
            <a:off x="2331720" y="283464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3.0.6</a:t>
            </a:r>
          </a:p>
        </p:txBody>
      </p:sp>
      <p:sp>
        <p:nvSpPr>
          <p:cNvPr id="23" name="Pane attached 2"/>
          <p:cNvSpPr txBox="1"/>
          <p:nvPr/>
        </p:nvSpPr>
        <p:spPr>
          <a:xfrm>
            <a:off x="3154680" y="283464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24" name="Pane row 3"/>
          <p:cNvSpPr/>
          <p:nvPr/>
        </p:nvSpPr>
        <p:spPr>
          <a:xfrm>
            <a:off x="594360" y="324612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ane name 3"/>
          <p:cNvSpPr txBox="1"/>
          <p:nvPr/>
        </p:nvSpPr>
        <p:spPr>
          <a:xfrm>
            <a:off x="713232" y="324612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plotnine</a:t>
            </a:r>
          </a:p>
        </p:txBody>
      </p:sp>
      <p:sp>
        <p:nvSpPr>
          <p:cNvPr id="26" name="Pane version 3"/>
          <p:cNvSpPr txBox="1"/>
          <p:nvPr/>
        </p:nvSpPr>
        <p:spPr>
          <a:xfrm>
            <a:off x="2331720" y="324612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0.15.8</a:t>
            </a:r>
          </a:p>
        </p:txBody>
      </p:sp>
      <p:sp>
        <p:nvSpPr>
          <p:cNvPr id="27" name="Pane attached 3"/>
          <p:cNvSpPr txBox="1"/>
          <p:nvPr/>
        </p:nvSpPr>
        <p:spPr>
          <a:xfrm>
            <a:off x="3154680" y="324612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28" name="Pane row 4"/>
          <p:cNvSpPr/>
          <p:nvPr/>
        </p:nvSpPr>
        <p:spPr>
          <a:xfrm>
            <a:off x="594360" y="365760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ne name 4"/>
          <p:cNvSpPr txBox="1"/>
          <p:nvPr/>
        </p:nvSpPr>
        <p:spPr>
          <a:xfrm>
            <a:off x="713232" y="365760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polars</a:t>
            </a:r>
          </a:p>
        </p:txBody>
      </p:sp>
      <p:sp>
        <p:nvSpPr>
          <p:cNvPr id="30" name="Pane version 4"/>
          <p:cNvSpPr txBox="1"/>
          <p:nvPr/>
        </p:nvSpPr>
        <p:spPr>
          <a:xfrm>
            <a:off x="2331720" y="365760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1.44.2</a:t>
            </a:r>
          </a:p>
        </p:txBody>
      </p:sp>
      <p:sp>
        <p:nvSpPr>
          <p:cNvPr id="31" name="Pane attached 4"/>
          <p:cNvSpPr txBox="1"/>
          <p:nvPr/>
        </p:nvSpPr>
        <p:spPr>
          <a:xfrm>
            <a:off x="3154680" y="365760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2" name="Pane row 5"/>
          <p:cNvSpPr/>
          <p:nvPr/>
        </p:nvSpPr>
        <p:spPr>
          <a:xfrm>
            <a:off x="594360" y="406908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ne name 5"/>
          <p:cNvSpPr txBox="1"/>
          <p:nvPr/>
        </p:nvSpPr>
        <p:spPr>
          <a:xfrm>
            <a:off x="713232" y="406908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statsmodels</a:t>
            </a:r>
          </a:p>
        </p:txBody>
      </p:sp>
      <p:sp>
        <p:nvSpPr>
          <p:cNvPr id="34" name="Pane version 5"/>
          <p:cNvSpPr txBox="1"/>
          <p:nvPr/>
        </p:nvSpPr>
        <p:spPr>
          <a:xfrm>
            <a:off x="2331720" y="406908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0.15.0</a:t>
            </a:r>
          </a:p>
        </p:txBody>
      </p:sp>
      <p:sp>
        <p:nvSpPr>
          <p:cNvPr id="35" name="Pane attached 5"/>
          <p:cNvSpPr txBox="1"/>
          <p:nvPr/>
        </p:nvSpPr>
        <p:spPr>
          <a:xfrm>
            <a:off x="3154680" y="406908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attached</a:t>
            </a:r>
          </a:p>
        </p:txBody>
      </p:sp>
      <p:sp>
        <p:nvSpPr>
          <p:cNvPr id="36" name="Pane row 6"/>
          <p:cNvSpPr/>
          <p:nvPr/>
        </p:nvSpPr>
        <p:spPr>
          <a:xfrm>
            <a:off x="594360" y="4480560"/>
            <a:ext cx="374904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ane name 6"/>
          <p:cNvSpPr txBox="1"/>
          <p:nvPr/>
        </p:nvSpPr>
        <p:spPr>
          <a:xfrm>
            <a:off x="713232" y="4480560"/>
            <a:ext cx="1737360" cy="347472"/>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a:t>
            </a:r>
          </a:p>
        </p:txBody>
      </p:sp>
      <p:sp>
        <p:nvSpPr>
          <p:cNvPr id="38" name="Pane version 6"/>
          <p:cNvSpPr txBox="1"/>
          <p:nvPr/>
        </p:nvSpPr>
        <p:spPr>
          <a:xfrm>
            <a:off x="2331720" y="4480560"/>
            <a:ext cx="822960" cy="347472"/>
          </a:xfrm>
          <a:prstGeom prst="rect">
            <a:avLst/>
          </a:prstGeom>
          <a:noFill/>
        </p:spPr>
        <p:txBody>
          <a:bodyPr wrap="square" lIns="0" rIns="0" tIns="0" bIns="0" anchor="ctr">
            <a:noAutofit/>
          </a:bodyPr>
          <a:lstStyle/>
          <a:p>
            <a:pPr algn="l">
              <a:spcAft>
                <a:spcPts val="400"/>
              </a:spcAft>
            </a:pPr>
            <a:r>
              <a:rPr sz="1100" b="0" lang="en-GB">
                <a:solidFill>
                  <a:schemeClr val="tx1"/>
                </a:solidFill>
                <a:latin typeface="Consolas"/>
              </a:rPr>
              <a:t/>
            </a:r>
          </a:p>
        </p:txBody>
      </p:sp>
      <p:sp>
        <p:nvSpPr>
          <p:cNvPr id="39" name="Pane attached 6"/>
          <p:cNvSpPr txBox="1"/>
          <p:nvPr/>
        </p:nvSpPr>
        <p:spPr>
          <a:xfrm>
            <a:off x="3154680" y="4480560"/>
            <a:ext cx="1143000" cy="347472"/>
          </a:xfrm>
          <a:prstGeom prst="rect">
            <a:avLst/>
          </a:prstGeom>
          <a:noFill/>
        </p:spPr>
        <p:txBody>
          <a:bodyPr wrap="square" lIns="0" rIns="0" tIns="0" bIns="0" anchor="ctr">
            <a:noAutofit/>
          </a:bodyPr>
          <a:lstStyle/>
          <a:p>
            <a:pPr algn="l">
              <a:spcAft>
                <a:spcPts val="400"/>
              </a:spcAft>
            </a:pPr>
            <a:r>
              <a:rPr sz="1050" b="0" lang="en-GB">
                <a:solidFill>
                  <a:schemeClr val="accent1"/>
                </a:solidFill>
              </a:rPr>
              <a:t/>
            </a:r>
          </a:p>
        </p:txBody>
      </p:sp>
      <p:sp>
        <p:nvSpPr>
          <p:cNvPr id="40" name="Pane card body"/>
          <p:cNvSpPr/>
          <p:nvPr/>
        </p:nvSpPr>
        <p:spPr>
          <a:xfrm>
            <a:off x="4617720" y="2377440"/>
            <a:ext cx="4069080" cy="2697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ane card header"/>
          <p:cNvSpPr/>
          <p:nvPr/>
        </p:nvSpPr>
        <p:spPr>
          <a:xfrm>
            <a:off x="4617720" y="196596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Pane card heading"/>
          <p:cNvSpPr txBox="1"/>
          <p:nvPr/>
        </p:nvSpPr>
        <p:spPr>
          <a:xfrm>
            <a:off x="4754880" y="1965960"/>
            <a:ext cx="33832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What else it does</a:t>
            </a:r>
          </a:p>
        </p:txBody>
      </p:sp>
      <p:pic>
        <p:nvPicPr>
          <p:cNvPr id="43" name="Icon Pane card" descr=""/>
          <p:cNvPicPr>
            <a:picLocks noChangeAspect="1"/>
          </p:cNvPicPr>
          <p:nvPr/>
        </p:nvPicPr>
        <p:blipFill>
          <a:blip r:embed="rId3"/>
          <a:stretch>
            <a:fillRect/>
          </a:stretch>
        </p:blipFill>
        <p:spPr>
          <a:xfrm>
            <a:off x="8247888" y="2016252"/>
            <a:ext cx="310896" cy="310896"/>
          </a:xfrm>
          <a:prstGeom prst="rect">
            <a:avLst/>
          </a:prstGeom>
        </p:spPr>
      </p:pic>
      <p:sp>
        <p:nvSpPr>
          <p:cNvPr id="44" name="Pane card text"/>
          <p:cNvSpPr txBox="1"/>
          <p:nvPr/>
        </p:nvSpPr>
        <p:spPr>
          <a:xfrm>
            <a:off x="4782312" y="2514600"/>
            <a:ext cx="3767328" cy="24231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Shows which packages are loaded (attached)</a:t>
            </a:r>
          </a:p>
          <a:p>
            <a:pPr algn="l" marL="182880" indent="-182880">
              <a:spcAft>
                <a:spcPts val="600"/>
              </a:spcAft>
              <a:buClr>
                <a:schemeClr val="accent1"/>
              </a:buClr>
              <a:buFont typeface="Arial"/>
              <a:buChar char="▪"/>
            </a:pPr>
            <a:r>
              <a:rPr sz="1300" b="0" lang="en-GB">
                <a:solidFill>
                  <a:schemeClr val="tx1"/>
                </a:solidFill>
              </a:rPr>
              <a:t>Update one, or Update All Packages</a:t>
            </a:r>
          </a:p>
          <a:p>
            <a:pPr algn="l" marL="182880" indent="-182880">
              <a:spcAft>
                <a:spcPts val="600"/>
              </a:spcAft>
              <a:buClr>
                <a:schemeClr val="accent1"/>
              </a:buClr>
              <a:buFont typeface="Arial"/>
              <a:buChar char="▪"/>
            </a:pPr>
            <a:r>
              <a:rPr sz="1300" b="0" lang="en-GB">
                <a:solidFill>
                  <a:schemeClr val="tx1"/>
                </a:solidFill>
              </a:rPr>
              <a:t>Flags known security issues</a:t>
            </a:r>
          </a:p>
          <a:p>
            <a:pPr algn="l" marL="182880" indent="-182880">
              <a:spcAft>
                <a:spcPts val="600"/>
              </a:spcAft>
              <a:buClr>
                <a:schemeClr val="accent1"/>
              </a:buClr>
              <a:buFont typeface="Arial"/>
              <a:buChar char="▪"/>
            </a:pPr>
            <a:r>
              <a:rPr sz="1300" b="0" lang="en-GB">
                <a:solidFill>
                  <a:schemeClr val="tx1"/>
                </a:solidFill>
              </a:rPr>
              <a:t>Keeps versions in line with requirements.txt</a:t>
            </a:r>
          </a:p>
          <a:p>
            <a:pPr algn="l" marL="182880" indent="-182880">
              <a:spcAft>
                <a:spcPts val="600"/>
              </a:spcAft>
              <a:buClr>
                <a:schemeClr val="accent1"/>
              </a:buClr>
              <a:buFont typeface="Arial"/>
              <a:buChar char="▪"/>
            </a:pPr>
            <a:r>
              <a:rPr sz="1300" b="0" lang="en-GB">
                <a:solidFill>
                  <a:schemeClr val="tx1"/>
                </a:solidFill>
              </a:rPr>
              <a:t>Offers to install a missing package after an error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Load packages: import at the top of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ackage steps step 1"/>
          <p:cNvSpPr/>
          <p:nvPr/>
        </p:nvSpPr>
        <p:spPr>
          <a:xfrm>
            <a:off x="457200" y="1234440"/>
            <a:ext cx="281635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Install once</a:t>
            </a:r>
            <a:br/>
            <a:r>
              <a:rPr sz="1200" b="1" lang="en-GB">
                <a:solidFill>
                  <a:schemeClr val="tx2"/>
                </a:solidFill>
              </a:rPr>
              <a:t>per laptop</a:t>
            </a:r>
          </a:p>
        </p:txBody>
      </p:sp>
      <p:sp>
        <p:nvSpPr>
          <p:cNvPr id="11" name="Package steps step 2"/>
          <p:cNvSpPr/>
          <p:nvPr/>
        </p:nvSpPr>
        <p:spPr>
          <a:xfrm>
            <a:off x="3163824"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Import in every</a:t>
            </a:r>
            <a:br/>
            <a:r>
              <a:rPr sz="1200" b="1" lang="en-GB">
                <a:solidFill>
                  <a:schemeClr val="tx2"/>
                </a:solidFill>
              </a:rPr>
              <a:t>file and session</a:t>
            </a:r>
          </a:p>
        </p:txBody>
      </p:sp>
      <p:sp>
        <p:nvSpPr>
          <p:cNvPr id="12" name="Package steps step 3"/>
          <p:cNvSpPr/>
          <p:nvPr/>
        </p:nvSpPr>
        <p:spPr>
          <a:xfrm>
            <a:off x="5870448" y="1234440"/>
            <a:ext cx="281635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Use the short</a:t>
            </a:r>
            <a:br/>
            <a:r>
              <a:rPr sz="1200" b="1" lang="en-GB">
                <a:solidFill>
                  <a:schemeClr val="tx2"/>
                </a:solidFill>
              </a:rPr>
              <a:t>name: pl.read_csv()</a:t>
            </a:r>
          </a:p>
        </p:txBody>
      </p:sp>
      <p:sp>
        <p:nvSpPr>
          <p:cNvPr id="13" name="Import code caption bar"/>
          <p:cNvSpPr/>
          <p:nvPr/>
        </p:nvSpPr>
        <p:spPr>
          <a:xfrm>
            <a:off x="457200" y="196596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mport code caption"/>
          <p:cNvSpPr txBox="1"/>
          <p:nvPr/>
        </p:nvSpPr>
        <p:spPr>
          <a:xfrm>
            <a:off x="566928" y="196596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Windows and macOS: the same code</a:t>
            </a:r>
          </a:p>
        </p:txBody>
      </p:sp>
      <p:sp>
        <p:nvSpPr>
          <p:cNvPr id="15" name="Import code box"/>
          <p:cNvSpPr/>
          <p:nvPr/>
        </p:nvSpPr>
        <p:spPr>
          <a:xfrm>
            <a:off x="457200" y="2240280"/>
            <a:ext cx="484632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mport code code"/>
          <p:cNvSpPr txBox="1"/>
          <p:nvPr/>
        </p:nvSpPr>
        <p:spPr>
          <a:xfrm>
            <a:off x="594360" y="2331720"/>
            <a:ext cx="457200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plotnine import ggplot, aes, geom_line</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print(pl.__version__)    # 1.44.2</a:t>
            </a:r>
          </a:p>
        </p:txBody>
      </p:sp>
      <p:sp>
        <p:nvSpPr>
          <p:cNvPr id="17" name="Conventions card body"/>
          <p:cNvSpPr/>
          <p:nvPr/>
        </p:nvSpPr>
        <p:spPr>
          <a:xfrm>
            <a:off x="5486400" y="2377440"/>
            <a:ext cx="3200400" cy="1463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nventions card header"/>
          <p:cNvSpPr/>
          <p:nvPr/>
        </p:nvSpPr>
        <p:spPr>
          <a:xfrm>
            <a:off x="5486400" y="1965960"/>
            <a:ext cx="320040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nventions card heading"/>
          <p:cNvSpPr txBox="1"/>
          <p:nvPr/>
        </p:nvSpPr>
        <p:spPr>
          <a:xfrm>
            <a:off x="5623560" y="1965960"/>
            <a:ext cx="251460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Conventions</a:t>
            </a:r>
          </a:p>
        </p:txBody>
      </p:sp>
      <p:pic>
        <p:nvPicPr>
          <p:cNvPr id="20" name="Icon Conventions card" descr=""/>
          <p:cNvPicPr>
            <a:picLocks noChangeAspect="1"/>
          </p:cNvPicPr>
          <p:nvPr/>
        </p:nvPicPr>
        <p:blipFill>
          <a:blip r:embed="rId3"/>
          <a:stretch>
            <a:fillRect/>
          </a:stretch>
        </p:blipFill>
        <p:spPr>
          <a:xfrm>
            <a:off x="8247888" y="2016252"/>
            <a:ext cx="310896" cy="310896"/>
          </a:xfrm>
          <a:prstGeom prst="rect">
            <a:avLst/>
          </a:prstGeom>
        </p:spPr>
      </p:pic>
      <p:sp>
        <p:nvSpPr>
          <p:cNvPr id="21" name="Conventions card text"/>
          <p:cNvSpPr txBox="1"/>
          <p:nvPr/>
        </p:nvSpPr>
        <p:spPr>
          <a:xfrm>
            <a:off x="5650992" y="2514600"/>
            <a:ext cx="2898648" cy="11887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pl and smf are the usual short names</a:t>
            </a:r>
          </a:p>
          <a:p>
            <a:pPr algn="l" marL="182880" indent="-182880">
              <a:spcAft>
                <a:spcPts val="600"/>
              </a:spcAft>
              <a:buClr>
                <a:schemeClr val="accent1"/>
              </a:buClr>
              <a:buFont typeface="Arial"/>
              <a:buChar char="▪"/>
            </a:pPr>
            <a:r>
              <a:rPr sz="1300" b="0" lang="en-GB">
                <a:solidFill>
                  <a:schemeClr val="tx1"/>
                </a:solidFill>
              </a:rPr>
              <a:t>Imports go at the top</a:t>
            </a:r>
          </a:p>
          <a:p>
            <a:pPr algn="l" marL="182880" indent="-182880">
              <a:spcAft>
                <a:spcPts val="600"/>
              </a:spcAft>
              <a:buClr>
                <a:schemeClr val="accent1"/>
              </a:buClr>
              <a:buFont typeface="Arial"/>
              <a:buChar char="▪"/>
            </a:pPr>
            <a:r>
              <a:rPr sz="1300" b="0" lang="en-GB">
                <a:solidFill>
                  <a:schemeClr val="tx1"/>
                </a:solidFill>
              </a:rPr>
              <a:t>Import only what you use</a:t>
            </a:r>
          </a:p>
        </p:txBody>
      </p:sp>
      <p:sp>
        <p:nvSpPr>
          <p:cNvPr id="22" name="Error box"/>
          <p:cNvSpPr/>
          <p:nvPr/>
        </p:nvSpPr>
        <p:spPr>
          <a:xfrm>
            <a:off x="457200" y="3977640"/>
            <a:ext cx="8229600" cy="10972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rror" descr=""/>
          <p:cNvPicPr>
            <a:picLocks noChangeAspect="1"/>
          </p:cNvPicPr>
          <p:nvPr/>
        </p:nvPicPr>
        <p:blipFill>
          <a:blip r:embed="rId4"/>
          <a:stretch>
            <a:fillRect/>
          </a:stretch>
        </p:blipFill>
        <p:spPr>
          <a:xfrm>
            <a:off x="658368" y="4334256"/>
            <a:ext cx="384048" cy="384048"/>
          </a:xfrm>
          <a:prstGeom prst="rect">
            <a:avLst/>
          </a:prstGeom>
        </p:spPr>
      </p:pic>
      <p:sp>
        <p:nvSpPr>
          <p:cNvPr id="24" name="Error text"/>
          <p:cNvSpPr txBox="1"/>
          <p:nvPr/>
        </p:nvSpPr>
        <p:spPr>
          <a:xfrm>
            <a:off x="1234440" y="3977640"/>
            <a:ext cx="7269480" cy="1097280"/>
          </a:xfrm>
          <a:prstGeom prst="rect">
            <a:avLst/>
          </a:prstGeom>
          <a:noFill/>
        </p:spPr>
        <p:txBody>
          <a:bodyPr wrap="square" lIns="0" rIns="0" tIns="0" bIns="0" anchor="ctr">
            <a:noAutofit/>
          </a:bodyPr>
          <a:lstStyle/>
          <a:p>
            <a:pPr algn="l">
              <a:spcAft>
                <a:spcPts val="400"/>
              </a:spcAft>
            </a:pPr>
            <a:r>
              <a:rPr sz="1300" b="1" lang="en-GB">
                <a:solidFill>
                  <a:schemeClr val="bg1"/>
                </a:solidFill>
              </a:rPr>
              <a:t>ModuleNotFoundError? </a:t>
            </a:r>
            <a:r>
              <a:rPr sz="1300" b="0" lang="en-GB">
                <a:solidFill>
                  <a:schemeClr val="bg1"/>
                </a:solidFill>
              </a:rPr>
              <a:t>Either the wrong interpreter is selected (pick the one in .venv) or the package is missing: %pip install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toolkit, from data to report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Kit card 1 body"/>
          <p:cNvSpPr/>
          <p:nvPr/>
        </p:nvSpPr>
        <p:spPr>
          <a:xfrm>
            <a:off x="45720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Kit card 1 header"/>
          <p:cNvSpPr/>
          <p:nvPr/>
        </p:nvSpPr>
        <p:spPr>
          <a:xfrm>
            <a:off x="45720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Kit card 1 heading"/>
          <p:cNvSpPr txBox="1"/>
          <p:nvPr/>
        </p:nvSpPr>
        <p:spPr>
          <a:xfrm>
            <a:off x="59436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1  Wrangle</a:t>
            </a:r>
          </a:p>
        </p:txBody>
      </p:sp>
      <p:pic>
        <p:nvPicPr>
          <p:cNvPr id="13" name="Icon Kit card 1" descr=""/>
          <p:cNvPicPr>
            <a:picLocks noChangeAspect="1"/>
          </p:cNvPicPr>
          <p:nvPr/>
        </p:nvPicPr>
        <p:blipFill>
          <a:blip r:embed="rId3"/>
          <a:stretch>
            <a:fillRect/>
          </a:stretch>
        </p:blipFill>
        <p:spPr>
          <a:xfrm>
            <a:off x="1972818" y="1307592"/>
            <a:ext cx="310896" cy="310896"/>
          </a:xfrm>
          <a:prstGeom prst="rect">
            <a:avLst/>
          </a:prstGeom>
        </p:spPr>
      </p:pic>
      <p:sp>
        <p:nvSpPr>
          <p:cNvPr id="14" name="Kit card 1 text"/>
          <p:cNvSpPr txBox="1"/>
          <p:nvPr/>
        </p:nvSpPr>
        <p:spPr>
          <a:xfrm>
            <a:off x="62179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polars </a:t>
            </a:r>
            <a:r>
              <a:rPr sz="1300" b="0" lang="en-GB">
                <a:solidFill>
                  <a:schemeClr val="tx1"/>
                </a:solidFill>
              </a:rPr>
              <a:t>fast tables</a:t>
            </a:r>
          </a:p>
          <a:p>
            <a:pPr algn="l">
              <a:spcAft>
                <a:spcPts val="600"/>
              </a:spcAft>
            </a:pPr>
            <a:r>
              <a:rPr sz="1300" b="1" lang="en-GB">
                <a:solidFill>
                  <a:schemeClr val="tx2"/>
                </a:solidFill>
                <a:latin typeface="Consolas"/>
              </a:rPr>
              <a:t>pandas </a:t>
            </a:r>
            <a:r>
              <a:rPr sz="1300" b="0" lang="en-GB">
                <a:solidFill>
                  <a:schemeClr val="tx1"/>
                </a:solidFill>
              </a:rPr>
              <a:t>for model packages</a:t>
            </a:r>
          </a:p>
        </p:txBody>
      </p:sp>
      <p:sp>
        <p:nvSpPr>
          <p:cNvPr id="15" name="Kit arrow 1"/>
          <p:cNvSpPr/>
          <p:nvPr/>
        </p:nvSpPr>
        <p:spPr>
          <a:xfrm>
            <a:off x="239344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Kit card 2 body"/>
          <p:cNvSpPr/>
          <p:nvPr/>
        </p:nvSpPr>
        <p:spPr>
          <a:xfrm>
            <a:off x="254889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Kit card 2 header"/>
          <p:cNvSpPr/>
          <p:nvPr/>
        </p:nvSpPr>
        <p:spPr>
          <a:xfrm>
            <a:off x="254889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Kit card 2 heading"/>
          <p:cNvSpPr txBox="1"/>
          <p:nvPr/>
        </p:nvSpPr>
        <p:spPr>
          <a:xfrm>
            <a:off x="268605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2  Visualise</a:t>
            </a:r>
          </a:p>
        </p:txBody>
      </p:sp>
      <p:pic>
        <p:nvPicPr>
          <p:cNvPr id="19" name="Icon Kit card 2" descr=""/>
          <p:cNvPicPr>
            <a:picLocks noChangeAspect="1"/>
          </p:cNvPicPr>
          <p:nvPr/>
        </p:nvPicPr>
        <p:blipFill>
          <a:blip r:embed="rId4"/>
          <a:stretch>
            <a:fillRect/>
          </a:stretch>
        </p:blipFill>
        <p:spPr>
          <a:xfrm>
            <a:off x="4064508" y="1307592"/>
            <a:ext cx="310896" cy="310896"/>
          </a:xfrm>
          <a:prstGeom prst="rect">
            <a:avLst/>
          </a:prstGeom>
        </p:spPr>
      </p:pic>
      <p:sp>
        <p:nvSpPr>
          <p:cNvPr id="20" name="Kit card 2 text"/>
          <p:cNvSpPr txBox="1"/>
          <p:nvPr/>
        </p:nvSpPr>
        <p:spPr>
          <a:xfrm>
            <a:off x="271348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plotnine </a:t>
            </a:r>
            <a:r>
              <a:rPr sz="1300" b="0" lang="en-GB">
                <a:solidFill>
                  <a:schemeClr val="tx1"/>
                </a:solidFill>
              </a:rPr>
              <a:t>charts by grammar</a:t>
            </a:r>
          </a:p>
        </p:txBody>
      </p:sp>
      <p:sp>
        <p:nvSpPr>
          <p:cNvPr id="21" name="Kit arrow 2"/>
          <p:cNvSpPr/>
          <p:nvPr/>
        </p:nvSpPr>
        <p:spPr>
          <a:xfrm>
            <a:off x="448513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Kit card 3 body"/>
          <p:cNvSpPr/>
          <p:nvPr/>
        </p:nvSpPr>
        <p:spPr>
          <a:xfrm>
            <a:off x="464058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Kit card 3 header"/>
          <p:cNvSpPr/>
          <p:nvPr/>
        </p:nvSpPr>
        <p:spPr>
          <a:xfrm>
            <a:off x="464058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Kit card 3 heading"/>
          <p:cNvSpPr txBox="1"/>
          <p:nvPr/>
        </p:nvSpPr>
        <p:spPr>
          <a:xfrm>
            <a:off x="477774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3  Model</a:t>
            </a:r>
          </a:p>
        </p:txBody>
      </p:sp>
      <p:pic>
        <p:nvPicPr>
          <p:cNvPr id="25" name="Icon Kit card 3" descr=""/>
          <p:cNvPicPr>
            <a:picLocks noChangeAspect="1"/>
          </p:cNvPicPr>
          <p:nvPr/>
        </p:nvPicPr>
        <p:blipFill>
          <a:blip r:embed="rId5"/>
          <a:stretch>
            <a:fillRect/>
          </a:stretch>
        </p:blipFill>
        <p:spPr>
          <a:xfrm>
            <a:off x="6156198" y="1307592"/>
            <a:ext cx="310896" cy="310896"/>
          </a:xfrm>
          <a:prstGeom prst="rect">
            <a:avLst/>
          </a:prstGeom>
        </p:spPr>
      </p:pic>
      <p:sp>
        <p:nvSpPr>
          <p:cNvPr id="26" name="Kit card 3 text"/>
          <p:cNvSpPr txBox="1"/>
          <p:nvPr/>
        </p:nvSpPr>
        <p:spPr>
          <a:xfrm>
            <a:off x="480517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statsmodels </a:t>
            </a:r>
            <a:r>
              <a:rPr sz="1300" b="0" lang="en-GB">
                <a:solidFill>
                  <a:schemeClr val="tx1"/>
                </a:solidFill>
              </a:rPr>
              <a:t>regression</a:t>
            </a:r>
          </a:p>
          <a:p>
            <a:pPr algn="l">
              <a:spcAft>
                <a:spcPts val="600"/>
              </a:spcAft>
            </a:pPr>
            <a:r>
              <a:rPr sz="1300" b="1" lang="en-GB">
                <a:solidFill>
                  <a:schemeClr val="tx2"/>
                </a:solidFill>
                <a:latin typeface="Consolas"/>
              </a:rPr>
              <a:t>pymc-marketing </a:t>
            </a:r>
            <a:r>
              <a:rPr sz="1300" b="0" lang="en-GB">
                <a:solidFill>
                  <a:schemeClr val="tx1"/>
                </a:solidFill>
              </a:rPr>
              <a:t>Bayesian MMM</a:t>
            </a:r>
          </a:p>
        </p:txBody>
      </p:sp>
      <p:sp>
        <p:nvSpPr>
          <p:cNvPr id="27" name="Kit arrow 3"/>
          <p:cNvSpPr/>
          <p:nvPr/>
        </p:nvSpPr>
        <p:spPr>
          <a:xfrm>
            <a:off x="6576822" y="2011680"/>
            <a:ext cx="173736" cy="27432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Kit card 4 body"/>
          <p:cNvSpPr/>
          <p:nvPr/>
        </p:nvSpPr>
        <p:spPr>
          <a:xfrm>
            <a:off x="6732270" y="1691640"/>
            <a:ext cx="1954530" cy="1325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Kit card 4 header"/>
          <p:cNvSpPr/>
          <p:nvPr/>
        </p:nvSpPr>
        <p:spPr>
          <a:xfrm>
            <a:off x="6732270" y="1234440"/>
            <a:ext cx="195453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Kit card 4 heading"/>
          <p:cNvSpPr txBox="1"/>
          <p:nvPr/>
        </p:nvSpPr>
        <p:spPr>
          <a:xfrm>
            <a:off x="6869430" y="1234440"/>
            <a:ext cx="1268730" cy="45720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4  Report</a:t>
            </a:r>
          </a:p>
        </p:txBody>
      </p:sp>
      <p:pic>
        <p:nvPicPr>
          <p:cNvPr id="31" name="Icon Kit card 4" descr=""/>
          <p:cNvPicPr>
            <a:picLocks noChangeAspect="1"/>
          </p:cNvPicPr>
          <p:nvPr/>
        </p:nvPicPr>
        <p:blipFill>
          <a:blip r:embed="rId6"/>
          <a:stretch>
            <a:fillRect/>
          </a:stretch>
        </p:blipFill>
        <p:spPr>
          <a:xfrm>
            <a:off x="8247888" y="1307592"/>
            <a:ext cx="310896" cy="310896"/>
          </a:xfrm>
          <a:prstGeom prst="rect">
            <a:avLst/>
          </a:prstGeom>
        </p:spPr>
      </p:pic>
      <p:sp>
        <p:nvSpPr>
          <p:cNvPr id="32" name="Kit card 4 text"/>
          <p:cNvSpPr txBox="1"/>
          <p:nvPr/>
        </p:nvSpPr>
        <p:spPr>
          <a:xfrm>
            <a:off x="6896862" y="1828800"/>
            <a:ext cx="1652778" cy="1051560"/>
          </a:xfrm>
          <a:prstGeom prst="rect">
            <a:avLst/>
          </a:prstGeom>
          <a:noFill/>
        </p:spPr>
        <p:txBody>
          <a:bodyPr wrap="square" lIns="0" rIns="0" tIns="0" bIns="0" anchor="t">
            <a:noAutofit/>
          </a:bodyPr>
          <a:lstStyle/>
          <a:p>
            <a:pPr algn="l">
              <a:spcAft>
                <a:spcPts val="600"/>
              </a:spcAft>
            </a:pPr>
            <a:r>
              <a:rPr sz="1300" b="1" lang="en-GB">
                <a:solidFill>
                  <a:schemeClr val="tx2"/>
                </a:solidFill>
                <a:latin typeface="Consolas"/>
              </a:rPr>
              <a:t>great_tables </a:t>
            </a:r>
            <a:r>
              <a:rPr sz="1300" b="0" lang="en-GB">
                <a:solidFill>
                  <a:schemeClr val="tx1"/>
                </a:solidFill>
              </a:rPr>
              <a:t>tables</a:t>
            </a:r>
          </a:p>
          <a:p>
            <a:pPr algn="l">
              <a:spcAft>
                <a:spcPts val="600"/>
              </a:spcAft>
            </a:pPr>
            <a:r>
              <a:rPr sz="1300" b="1" lang="en-GB">
                <a:solidFill>
                  <a:schemeClr val="tx2"/>
                </a:solidFill>
                <a:latin typeface="Consolas"/>
              </a:rPr>
              <a:t>Quarto </a:t>
            </a:r>
            <a:r>
              <a:rPr sz="1300" b="0" lang="en-GB">
                <a:solidFill>
                  <a:schemeClr val="tx1"/>
                </a:solidFill>
              </a:rPr>
              <a:t>documents</a:t>
            </a:r>
          </a:p>
        </p:txBody>
      </p:sp>
      <p:sp>
        <p:nvSpPr>
          <p:cNvPr id="33" name="Kit fact 1"/>
          <p:cNvSpPr/>
          <p:nvPr/>
        </p:nvSpPr>
        <p:spPr>
          <a:xfrm>
            <a:off x="45720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Kit fact bar 1"/>
          <p:cNvSpPr/>
          <p:nvPr/>
        </p:nvSpPr>
        <p:spPr>
          <a:xfrm>
            <a:off x="45720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Kit fact text 1"/>
          <p:cNvSpPr txBox="1"/>
          <p:nvPr/>
        </p:nvSpPr>
        <p:spPr>
          <a:xfrm>
            <a:off x="68580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22</a:t>
            </a:r>
          </a:p>
          <a:p>
            <a:pPr algn="l">
              <a:spcAft>
                <a:spcPts val="0"/>
              </a:spcAft>
            </a:pPr>
            <a:r>
              <a:rPr sz="1300" b="0" lang="en-GB">
                <a:solidFill>
                  <a:schemeClr val="tx1"/>
                </a:solidFill>
              </a:rPr>
              <a:t>packages pinned in requirements.txt</a:t>
            </a:r>
          </a:p>
        </p:txBody>
      </p:sp>
      <p:sp>
        <p:nvSpPr>
          <p:cNvPr id="36" name="Kit fact 2"/>
          <p:cNvSpPr/>
          <p:nvPr/>
        </p:nvSpPr>
        <p:spPr>
          <a:xfrm>
            <a:off x="324612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Kit fact bar 2"/>
          <p:cNvSpPr/>
          <p:nvPr/>
        </p:nvSpPr>
        <p:spPr>
          <a:xfrm>
            <a:off x="324612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Kit fact text 2"/>
          <p:cNvSpPr txBox="1"/>
          <p:nvPr/>
        </p:nvSpPr>
        <p:spPr>
          <a:xfrm>
            <a:off x="347472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1</a:t>
            </a:r>
          </a:p>
          <a:p>
            <a:pPr algn="l">
              <a:spcAft>
                <a:spcPts val="0"/>
              </a:spcAft>
            </a:pPr>
            <a:r>
              <a:rPr sz="1300" b="0" lang="en-GB">
                <a:solidFill>
                  <a:schemeClr val="tx1"/>
                </a:solidFill>
              </a:rPr>
              <a:t>command installs them all</a:t>
            </a:r>
          </a:p>
        </p:txBody>
      </p:sp>
      <p:sp>
        <p:nvSpPr>
          <p:cNvPr id="39" name="Kit fact 3"/>
          <p:cNvSpPr/>
          <p:nvPr/>
        </p:nvSpPr>
        <p:spPr>
          <a:xfrm>
            <a:off x="6035040" y="3154680"/>
            <a:ext cx="2651760" cy="1005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Kit fact bar 3"/>
          <p:cNvSpPr/>
          <p:nvPr/>
        </p:nvSpPr>
        <p:spPr>
          <a:xfrm>
            <a:off x="6035040" y="3154680"/>
            <a:ext cx="64008" cy="1005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Kit fact text 3"/>
          <p:cNvSpPr txBox="1"/>
          <p:nvPr/>
        </p:nvSpPr>
        <p:spPr>
          <a:xfrm>
            <a:off x="6263640" y="3154680"/>
            <a:ext cx="2331720" cy="1005840"/>
          </a:xfrm>
          <a:prstGeom prst="rect">
            <a:avLst/>
          </a:prstGeom>
          <a:noFill/>
        </p:spPr>
        <p:txBody>
          <a:bodyPr wrap="square" lIns="0" rIns="0" tIns="0" bIns="0" anchor="ctr">
            <a:noAutofit/>
          </a:bodyPr>
          <a:lstStyle/>
          <a:p>
            <a:pPr algn="l">
              <a:spcAft>
                <a:spcPts val="0"/>
              </a:spcAft>
            </a:pPr>
            <a:r>
              <a:rPr sz="2800" b="1" lang="en-GB">
                <a:solidFill>
                  <a:schemeClr val="tx2"/>
                </a:solidFill>
                <a:latin typeface="+mj-lt"/>
              </a:rPr>
              <a:t>0</a:t>
            </a:r>
          </a:p>
          <a:p>
            <a:pPr algn="l">
              <a:spcAft>
                <a:spcPts val="0"/>
              </a:spcAft>
            </a:pPr>
            <a:r>
              <a:rPr sz="1300" b="0" lang="en-GB">
                <a:solidFill>
                  <a:schemeClr val="tx1"/>
                </a:solidFill>
              </a:rPr>
              <a:t>euros: all open source</a:t>
            </a:r>
          </a:p>
        </p:txBody>
      </p:sp>
      <p:sp>
        <p:nvSpPr>
          <p:cNvPr id="42" name="Older tools box"/>
          <p:cNvSpPr/>
          <p:nvPr/>
        </p:nvSpPr>
        <p:spPr>
          <a:xfrm>
            <a:off x="457200" y="434340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Older tools" descr=""/>
          <p:cNvPicPr>
            <a:picLocks noChangeAspect="1"/>
          </p:cNvPicPr>
          <p:nvPr/>
        </p:nvPicPr>
        <p:blipFill>
          <a:blip r:embed="rId7"/>
          <a:stretch>
            <a:fillRect/>
          </a:stretch>
        </p:blipFill>
        <p:spPr>
          <a:xfrm>
            <a:off x="658368" y="4517136"/>
            <a:ext cx="384048" cy="384048"/>
          </a:xfrm>
          <a:prstGeom prst="rect">
            <a:avLst/>
          </a:prstGeom>
        </p:spPr>
      </p:pic>
      <p:sp>
        <p:nvSpPr>
          <p:cNvPr id="44" name="Older tools text"/>
          <p:cNvSpPr txBox="1"/>
          <p:nvPr/>
        </p:nvSpPr>
        <p:spPr>
          <a:xfrm>
            <a:off x="1234440" y="434340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Online you will also meet pandas and matplotlib: </a:t>
            </a:r>
            <a:r>
              <a:rPr sz="1300" b="0" lang="en-GB">
                <a:solidFill>
                  <a:schemeClr val="tx1"/>
                </a:solidFill>
              </a:rPr>
              <a:t>older but common; the ideas carry over.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polars: data wrangling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lar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lar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Revenue and TV spend per country, 2025</a:t>
            </a:r>
          </a:p>
        </p:txBody>
      </p:sp>
      <p:sp>
        <p:nvSpPr>
          <p:cNvPr id="12" name="Polars code box"/>
          <p:cNvSpPr/>
          <p:nvPr/>
        </p:nvSpPr>
        <p:spPr>
          <a:xfrm>
            <a:off x="457200" y="1508760"/>
            <a:ext cx="4937760" cy="25603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olars code code"/>
          <p:cNvSpPr txBox="1"/>
          <p:nvPr/>
        </p:nvSpPr>
        <p:spPr>
          <a:xfrm>
            <a:off x="594360" y="1600200"/>
            <a:ext cx="4663440" cy="23774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sales = pl.read_csv("data/mmm/alpenglow_weekly.csv",</a:t>
            </a:r>
          </a:p>
          <a:p>
            <a:pPr algn="l">
              <a:spcAft>
                <a:spcPts val="0"/>
              </a:spcAft>
            </a:pPr>
            <a:r>
              <a:rPr sz="1050" b="0" lang="en-GB">
                <a:solidFill>
                  <a:schemeClr val="bg1"/>
                </a:solidFill>
                <a:latin typeface="Consolas"/>
              </a:rPr>
              <a:t>                    try_parse_dates=True)</a:t>
            </a:r>
          </a:p>
          <a:p>
            <a:pPr algn="l">
              <a:spcAft>
                <a:spcPts val="0"/>
              </a:spcAft>
            </a:pPr>
            <a:r>
              <a:rPr sz="1050" b="0" lang="en-GB">
                <a:solidFill>
                  <a:schemeClr val="bg1"/>
                </a:solidFill>
                <a:latin typeface="Consolas"/>
              </a:rPr>
              <a:t>summary = (</a:t>
            </a:r>
          </a:p>
          <a:p>
            <a:pPr algn="l">
              <a:spcAft>
                <a:spcPts val="0"/>
              </a:spcAft>
            </a:pPr>
            <a:r>
              <a:rPr sz="1050" b="0" lang="en-GB">
                <a:solidFill>
                  <a:schemeClr val="bg1"/>
                </a:solidFill>
                <a:latin typeface="Consolas"/>
              </a:rPr>
              <a:t>    sales</a:t>
            </a:r>
          </a:p>
          <a:p>
            <a:pPr algn="l">
              <a:spcAft>
                <a:spcPts val="0"/>
              </a:spcAft>
            </a:pPr>
            <a:r>
              <a:rPr sz="1050" b="0" lang="en-GB">
                <a:solidFill>
                  <a:schemeClr val="bg1"/>
                </a:solidFill>
                <a:latin typeface="Consolas"/>
              </a:rPr>
              <a:t>    .filter(pl.col("week").dt.year() == 2025)</a:t>
            </a:r>
          </a:p>
          <a:p>
            <a:pPr algn="l">
              <a:spcAft>
                <a:spcPts val="0"/>
              </a:spcAft>
            </a:pPr>
            <a:r>
              <a:rPr sz="1050" b="0" lang="en-GB">
                <a:solidFill>
                  <a:schemeClr val="bg1"/>
                </a:solidFill>
                <a:latin typeface="Consolas"/>
              </a:rPr>
              <a:t>    .group_by("country")</a:t>
            </a:r>
          </a:p>
          <a:p>
            <a:pPr algn="l">
              <a:spcAft>
                <a:spcPts val="0"/>
              </a:spcAft>
            </a:pPr>
            <a:r>
              <a:rPr sz="1050" b="0" lang="en-GB">
                <a:solidFill>
                  <a:schemeClr val="bg1"/>
                </a:solidFill>
                <a:latin typeface="Consolas"/>
              </a:rPr>
              <a:t>    .agg(pl.col("revenue_eur_k").sum().alias("revenue"),</a:t>
            </a:r>
          </a:p>
          <a:p>
            <a:pPr algn="l">
              <a:spcAft>
                <a:spcPts val="0"/>
              </a:spcAft>
            </a:pPr>
            <a:r>
              <a:rPr sz="1050" b="0" lang="en-GB">
                <a:solidFill>
                  <a:schemeClr val="bg1"/>
                </a:solidFill>
                <a:latin typeface="Consolas"/>
              </a:rPr>
              <a:t>         pl.col("spend_tv_k").sum().alias("tv"))</a:t>
            </a:r>
          </a:p>
          <a:p>
            <a:pPr algn="l">
              <a:spcAft>
                <a:spcPts val="0"/>
              </a:spcAft>
            </a:pPr>
            <a:r>
              <a:rPr sz="1050" b="0" lang="en-GB">
                <a:solidFill>
                  <a:schemeClr val="bg1"/>
                </a:solidFill>
                <a:latin typeface="Consolas"/>
              </a:rPr>
              <a:t>    .sort("revenue", descending=True)</a:t>
            </a:r>
          </a:p>
          <a:p>
            <a:pPr algn="l">
              <a:spcAft>
                <a:spcPts val="0"/>
              </a:spcAft>
            </a:pPr>
            <a:r>
              <a:rPr sz="1050" b="0" lang="en-GB">
                <a:solidFill>
                  <a:schemeClr val="bg1"/>
                </a:solidFill>
                <a:latin typeface="Consolas"/>
              </a:rPr>
              <a:t>)</a:t>
            </a:r>
          </a:p>
        </p:txBody>
      </p:sp>
      <p:sp>
        <p:nvSpPr>
          <p:cNvPr id="14" name="Polars row 1"/>
          <p:cNvSpPr/>
          <p:nvPr/>
        </p:nvSpPr>
        <p:spPr>
          <a:xfrm>
            <a:off x="5577840" y="123444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olars bar 1"/>
          <p:cNvSpPr/>
          <p:nvPr/>
        </p:nvSpPr>
        <p:spPr>
          <a:xfrm>
            <a:off x="5577840" y="123444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Polars text 1"/>
          <p:cNvSpPr txBox="1"/>
          <p:nvPr/>
        </p:nvSpPr>
        <p:spPr>
          <a:xfrm>
            <a:off x="5760720" y="123444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DataFrame: </a:t>
            </a:r>
            <a:r>
              <a:rPr sz="1200" b="0" lang="en-GB">
                <a:solidFill>
                  <a:schemeClr val="tx1"/>
                </a:solidFill>
              </a:rPr>
              <a:t>a table with typed columns</a:t>
            </a:r>
          </a:p>
        </p:txBody>
      </p:sp>
      <p:sp>
        <p:nvSpPr>
          <p:cNvPr id="17" name="Polars row 2"/>
          <p:cNvSpPr/>
          <p:nvPr/>
        </p:nvSpPr>
        <p:spPr>
          <a:xfrm>
            <a:off x="5577840" y="196596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olars bar 2"/>
          <p:cNvSpPr/>
          <p:nvPr/>
        </p:nvSpPr>
        <p:spPr>
          <a:xfrm>
            <a:off x="5577840" y="196596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olars text 2"/>
          <p:cNvSpPr txBox="1"/>
          <p:nvPr/>
        </p:nvSpPr>
        <p:spPr>
          <a:xfrm>
            <a:off x="5760720" y="196596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Expressions: </a:t>
            </a:r>
            <a:r>
              <a:rPr sz="1200" b="0" lang="en-GB">
                <a:solidFill>
                  <a:schemeClr val="tx1"/>
                </a:solidFill>
              </a:rPr>
              <a:t>pl.col("tv").sum() says what to compute</a:t>
            </a:r>
          </a:p>
        </p:txBody>
      </p:sp>
      <p:sp>
        <p:nvSpPr>
          <p:cNvPr id="20" name="Polars row 3"/>
          <p:cNvSpPr/>
          <p:nvPr/>
        </p:nvSpPr>
        <p:spPr>
          <a:xfrm>
            <a:off x="5577840" y="269748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olars bar 3"/>
          <p:cNvSpPr/>
          <p:nvPr/>
        </p:nvSpPr>
        <p:spPr>
          <a:xfrm>
            <a:off x="5577840" y="269748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olars text 3"/>
          <p:cNvSpPr txBox="1"/>
          <p:nvPr/>
        </p:nvSpPr>
        <p:spPr>
          <a:xfrm>
            <a:off x="5760720" y="269748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Chaining: </a:t>
            </a:r>
            <a:r>
              <a:rPr sz="1200" b="0" lang="en-GB">
                <a:solidFill>
                  <a:schemeClr val="tx1"/>
                </a:solidFill>
              </a:rPr>
              <a:t>one step per line, read top to bottom</a:t>
            </a:r>
          </a:p>
        </p:txBody>
      </p:sp>
      <p:sp>
        <p:nvSpPr>
          <p:cNvPr id="23" name="Polars row 4"/>
          <p:cNvSpPr/>
          <p:nvPr/>
        </p:nvSpPr>
        <p:spPr>
          <a:xfrm>
            <a:off x="5577840" y="3429000"/>
            <a:ext cx="3108960" cy="640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olars bar 4"/>
          <p:cNvSpPr/>
          <p:nvPr/>
        </p:nvSpPr>
        <p:spPr>
          <a:xfrm>
            <a:off x="5577840" y="3429000"/>
            <a:ext cx="64008" cy="6400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olars text 4"/>
          <p:cNvSpPr txBox="1"/>
          <p:nvPr/>
        </p:nvSpPr>
        <p:spPr>
          <a:xfrm>
            <a:off x="5760720" y="3429000"/>
            <a:ext cx="2834640" cy="640080"/>
          </a:xfrm>
          <a:prstGeom prst="rect">
            <a:avLst/>
          </a:prstGeom>
          <a:noFill/>
        </p:spPr>
        <p:txBody>
          <a:bodyPr wrap="square" lIns="0" rIns="0" tIns="0" bIns="0" anchor="ctr">
            <a:noAutofit/>
          </a:bodyPr>
          <a:lstStyle/>
          <a:p>
            <a:pPr algn="l">
              <a:spcAft>
                <a:spcPts val="400"/>
              </a:spcAft>
            </a:pPr>
            <a:r>
              <a:rPr sz="1200" b="1" lang="en-GB">
                <a:solidFill>
                  <a:schemeClr val="tx2"/>
                </a:solidFill>
              </a:rPr>
              <a:t>Fast: </a:t>
            </a:r>
            <a:r>
              <a:rPr sz="1200" b="0" lang="en-GB">
                <a:solidFill>
                  <a:schemeClr val="tx1"/>
                </a:solidFill>
              </a:rPr>
              <a:t>multi-threaded, written in Rust</a:t>
            </a:r>
          </a:p>
        </p:txBody>
      </p:sp>
      <p:sp>
        <p:nvSpPr>
          <p:cNvPr id="26" name="Polars result box"/>
          <p:cNvSpPr/>
          <p:nvPr/>
        </p:nvSpPr>
        <p:spPr>
          <a:xfrm>
            <a:off x="457200" y="4206240"/>
            <a:ext cx="8229600" cy="8686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Polars result" descr=""/>
          <p:cNvPicPr>
            <a:picLocks noChangeAspect="1"/>
          </p:cNvPicPr>
          <p:nvPr/>
        </p:nvPicPr>
        <p:blipFill>
          <a:blip r:embed="rId3"/>
          <a:stretch>
            <a:fillRect/>
          </a:stretch>
        </p:blipFill>
        <p:spPr>
          <a:xfrm>
            <a:off x="658368" y="4448556"/>
            <a:ext cx="384048" cy="384048"/>
          </a:xfrm>
          <a:prstGeom prst="rect">
            <a:avLst/>
          </a:prstGeom>
        </p:spPr>
      </p:pic>
      <p:sp>
        <p:nvSpPr>
          <p:cNvPr id="28" name="Polars result text"/>
          <p:cNvSpPr txBox="1"/>
          <p:nvPr/>
        </p:nvSpPr>
        <p:spPr>
          <a:xfrm>
            <a:off x="1234440" y="4206240"/>
            <a:ext cx="7269480" cy="868680"/>
          </a:xfrm>
          <a:prstGeom prst="rect">
            <a:avLst/>
          </a:prstGeom>
          <a:noFill/>
        </p:spPr>
        <p:txBody>
          <a:bodyPr wrap="square" lIns="0" rIns="0" tIns="0" bIns="0" anchor="ctr">
            <a:noAutofit/>
          </a:bodyPr>
          <a:lstStyle/>
          <a:p>
            <a:pPr algn="l">
              <a:spcAft>
                <a:spcPts val="400"/>
              </a:spcAft>
            </a:pPr>
            <a:r>
              <a:rPr sz="1300" b="1" lang="en-GB">
                <a:solidFill>
                  <a:schemeClr val="tx2"/>
                </a:solidFill>
              </a:rPr>
              <a:t>Result: </a:t>
            </a:r>
            <a:r>
              <a:rPr sz="1300" b="0" lang="en-GB">
                <a:solidFill>
                  <a:schemeClr val="tx1"/>
                </a:solidFill>
              </a:rPr>
              <a:t>six rows, one per country. Germany leads with about EUR 131 million revenue in 2025. Need pandas? Add .to_pandas().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plotnine: charts with the grammar of graphics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nine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nine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Austria and Germany</a:t>
            </a:r>
          </a:p>
        </p:txBody>
      </p:sp>
      <p:sp>
        <p:nvSpPr>
          <p:cNvPr id="12" name="Plotnine code box"/>
          <p:cNvSpPr/>
          <p:nvPr/>
        </p:nvSpPr>
        <p:spPr>
          <a:xfrm>
            <a:off x="457200" y="1508760"/>
            <a:ext cx="4206240" cy="2103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nine code code"/>
          <p:cNvSpPr txBox="1"/>
          <p:nvPr/>
        </p:nvSpPr>
        <p:spPr>
          <a:xfrm>
            <a:off x="594360" y="1600200"/>
            <a:ext cx="3931920" cy="192024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(ggplot(sales.filter(</a:t>
            </a:r>
          </a:p>
          <a:p>
            <a:pPr algn="l">
              <a:spcAft>
                <a:spcPts val="0"/>
              </a:spcAft>
            </a:pPr>
            <a:r>
              <a:rPr sz="1050" b="0" lang="en-GB">
                <a:solidFill>
                  <a:schemeClr val="bg1"/>
                </a:solidFill>
                <a:latin typeface="Consolas"/>
              </a:rPr>
              <a:t>         pl.col("country").is_in(["AT", "DE"])),</a:t>
            </a:r>
          </a:p>
          <a:p>
            <a:pPr algn="l">
              <a:spcAft>
                <a:spcPts val="0"/>
              </a:spcAft>
            </a:pPr>
            <a:r>
              <a:rPr sz="1050" b="0" lang="en-GB">
                <a:solidFill>
                  <a:schemeClr val="bg1"/>
                </a:solidFill>
                <a:latin typeface="Consolas"/>
              </a:rPr>
              <a:t>        aes(x="week", y="sales_units_k"))</a:t>
            </a:r>
          </a:p>
          <a:p>
            <a:pPr algn="l">
              <a:spcAft>
                <a:spcPts val="0"/>
              </a:spcAft>
            </a:pPr>
            <a:r>
              <a:rPr sz="1050" b="0" lang="en-GB">
                <a:solidFill>
                  <a:schemeClr val="bg1"/>
                </a:solidFill>
                <a:latin typeface="Consolas"/>
              </a:rPr>
              <a:t> + geom_line(color="#0096D3")</a:t>
            </a:r>
          </a:p>
          <a:p>
            <a:pPr algn="l">
              <a:spcAft>
                <a:spcPts val="0"/>
              </a:spcAft>
            </a:pPr>
            <a:r>
              <a:rPr sz="1050" b="0" lang="en-GB">
                <a:solidFill>
                  <a:schemeClr val="bg1"/>
                </a:solidFill>
                <a:latin typeface="Consolas"/>
              </a:rPr>
              <a:t> + facet_wrap("country")</a:t>
            </a:r>
          </a:p>
          <a:p>
            <a:pPr algn="l">
              <a:spcAft>
                <a:spcPts val="0"/>
              </a:spcAft>
            </a:pPr>
            <a:r>
              <a:rPr sz="1050" b="0" lang="en-GB">
                <a:solidFill>
                  <a:schemeClr val="bg1"/>
                </a:solidFill>
                <a:latin typeface="Consolas"/>
              </a:rPr>
              <a:t> + scale_x_date(date_breaks="1 year",</a:t>
            </a:r>
          </a:p>
          <a:p>
            <a:pPr algn="l">
              <a:spcAft>
                <a:spcPts val="0"/>
              </a:spcAft>
            </a:pPr>
            <a:r>
              <a:rPr sz="1050" b="0" lang="en-GB">
                <a:solidFill>
                  <a:schemeClr val="bg1"/>
                </a:solidFill>
                <a:latin typeface="Consolas"/>
              </a:rPr>
              <a:t>                date_labels="%Y")</a:t>
            </a:r>
          </a:p>
          <a:p>
            <a:pPr algn="l">
              <a:spcAft>
                <a:spcPts val="0"/>
              </a:spcAft>
            </a:pPr>
            <a:r>
              <a:rPr sz="1050" b="0" lang="en-GB">
                <a:solidFill>
                  <a:schemeClr val="bg1"/>
                </a:solidFill>
                <a:latin typeface="Consolas"/>
              </a:rPr>
              <a:t> + labs(x="", y="Sales (k units)")</a:t>
            </a:r>
          </a:p>
          <a:p>
            <a:pPr algn="l">
              <a:spcAft>
                <a:spcPts val="0"/>
              </a:spcAft>
            </a:pPr>
            <a:r>
              <a:rPr sz="1050" b="0" lang="en-GB">
                <a:solidFill>
                  <a:schemeClr val="bg1"/>
                </a:solidFill>
                <a:latin typeface="Consolas"/>
              </a:rPr>
              <a:t> + theme_minimal())</a:t>
            </a:r>
          </a:p>
        </p:txBody>
      </p:sp>
      <p:pic>
        <p:nvPicPr>
          <p:cNvPr id="14" name="Plotnine chart" descr="Line chart of weekly sales in thousand units, 2023 to 2025, Austria (about 100 to 200) and Germany (about 500 to 1,700), with a Christmas peak every year"/>
          <p:cNvPicPr>
            <a:picLocks noChangeAspect="1"/>
          </p:cNvPicPr>
          <p:nvPr/>
        </p:nvPicPr>
        <p:blipFill>
          <a:blip r:embed="rId3"/>
          <a:stretch>
            <a:fillRect/>
          </a:stretch>
        </p:blipFill>
        <p:spPr>
          <a:xfrm>
            <a:off x="4800600" y="1234440"/>
            <a:ext cx="3886200" cy="2072670"/>
          </a:xfrm>
          <a:prstGeom prst="rect">
            <a:avLst/>
          </a:prstGeom>
        </p:spPr>
      </p:pic>
      <p:sp>
        <p:nvSpPr>
          <p:cNvPr id="15" name="Chart caption"/>
          <p:cNvSpPr txBox="1"/>
          <p:nvPr/>
        </p:nvSpPr>
        <p:spPr>
          <a:xfrm>
            <a:off x="4800600" y="3337560"/>
            <a:ext cx="3886200" cy="274320"/>
          </a:xfrm>
          <a:prstGeom prst="rect">
            <a:avLst/>
          </a:prstGeom>
          <a:noFill/>
        </p:spPr>
        <p:txBody>
          <a:bodyPr wrap="square" lIns="0" rIns="0" tIns="0" bIns="0" anchor="t">
            <a:noAutofit/>
          </a:bodyPr>
          <a:lstStyle/>
          <a:p>
            <a:pPr algn="l">
              <a:spcAft>
                <a:spcPts val="400"/>
              </a:spcAft>
            </a:pPr>
            <a:r>
              <a:rPr sz="1100" b="0" lang="en-GB">
                <a:solidFill>
                  <a:srgbClr val="595959"/>
                </a:solidFill>
              </a:rPr>
              <a:t>The output of the code on the left</a:t>
            </a:r>
          </a:p>
        </p:txBody>
      </p:sp>
      <p:sp>
        <p:nvSpPr>
          <p:cNvPr id="16" name="Grammar chip 1"/>
          <p:cNvSpPr/>
          <p:nvPr/>
        </p:nvSpPr>
        <p:spPr>
          <a:xfrm>
            <a:off x="457200"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rammar text 1"/>
          <p:cNvSpPr txBox="1"/>
          <p:nvPr/>
        </p:nvSpPr>
        <p:spPr>
          <a:xfrm>
            <a:off x="548640"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ggplot()</a:t>
            </a:r>
          </a:p>
          <a:p>
            <a:pPr algn="ctr">
              <a:spcAft>
                <a:spcPts val="0"/>
              </a:spcAft>
            </a:pPr>
            <a:r>
              <a:rPr sz="1200" b="0" lang="en-GB">
                <a:solidFill>
                  <a:schemeClr val="tx1"/>
                </a:solidFill>
              </a:rPr>
              <a:t>the data</a:t>
            </a:r>
          </a:p>
        </p:txBody>
      </p:sp>
      <p:sp>
        <p:nvSpPr>
          <p:cNvPr id="18" name="Grammar chip 2"/>
          <p:cNvSpPr/>
          <p:nvPr/>
        </p:nvSpPr>
        <p:spPr>
          <a:xfrm>
            <a:off x="2121408"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rammar text 2"/>
          <p:cNvSpPr txBox="1"/>
          <p:nvPr/>
        </p:nvSpPr>
        <p:spPr>
          <a:xfrm>
            <a:off x="2212848"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aes()</a:t>
            </a:r>
          </a:p>
          <a:p>
            <a:pPr algn="ctr">
              <a:spcAft>
                <a:spcPts val="0"/>
              </a:spcAft>
            </a:pPr>
            <a:r>
              <a:rPr sz="1200" b="0" lang="en-GB">
                <a:solidFill>
                  <a:schemeClr val="tx1"/>
                </a:solidFill>
              </a:rPr>
              <a:t>columns to x, y</a:t>
            </a:r>
          </a:p>
        </p:txBody>
      </p:sp>
      <p:sp>
        <p:nvSpPr>
          <p:cNvPr id="20" name="Grammar chip 3"/>
          <p:cNvSpPr/>
          <p:nvPr/>
        </p:nvSpPr>
        <p:spPr>
          <a:xfrm>
            <a:off x="3785616"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Grammar text 3"/>
          <p:cNvSpPr txBox="1"/>
          <p:nvPr/>
        </p:nvSpPr>
        <p:spPr>
          <a:xfrm>
            <a:off x="3877056"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geom_</a:t>
            </a:r>
          </a:p>
          <a:p>
            <a:pPr algn="ctr">
              <a:spcAft>
                <a:spcPts val="0"/>
              </a:spcAft>
            </a:pPr>
            <a:r>
              <a:rPr sz="1200" b="0" lang="en-GB">
                <a:solidFill>
                  <a:schemeClr val="tx1"/>
                </a:solidFill>
              </a:rPr>
              <a:t>the marks</a:t>
            </a:r>
          </a:p>
        </p:txBody>
      </p:sp>
      <p:sp>
        <p:nvSpPr>
          <p:cNvPr id="22" name="Grammar chip 4"/>
          <p:cNvSpPr/>
          <p:nvPr/>
        </p:nvSpPr>
        <p:spPr>
          <a:xfrm>
            <a:off x="5449824"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rammar text 4"/>
          <p:cNvSpPr txBox="1"/>
          <p:nvPr/>
        </p:nvSpPr>
        <p:spPr>
          <a:xfrm>
            <a:off x="5541264"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facet_</a:t>
            </a:r>
          </a:p>
          <a:p>
            <a:pPr algn="ctr">
              <a:spcAft>
                <a:spcPts val="0"/>
              </a:spcAft>
            </a:pPr>
            <a:r>
              <a:rPr sz="1200" b="0" lang="en-GB">
                <a:solidFill>
                  <a:schemeClr val="tx1"/>
                </a:solidFill>
              </a:rPr>
              <a:t>one panel per group</a:t>
            </a:r>
          </a:p>
        </p:txBody>
      </p:sp>
      <p:sp>
        <p:nvSpPr>
          <p:cNvPr id="24" name="Grammar chip 5"/>
          <p:cNvSpPr/>
          <p:nvPr/>
        </p:nvSpPr>
        <p:spPr>
          <a:xfrm>
            <a:off x="7114032" y="3794760"/>
            <a:ext cx="1572768"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Grammar text 5"/>
          <p:cNvSpPr txBox="1"/>
          <p:nvPr/>
        </p:nvSpPr>
        <p:spPr>
          <a:xfrm>
            <a:off x="7205472" y="3794760"/>
            <a:ext cx="1389888" cy="777240"/>
          </a:xfrm>
          <a:prstGeom prst="rect">
            <a:avLst/>
          </a:prstGeom>
          <a:noFill/>
        </p:spPr>
        <p:txBody>
          <a:bodyPr wrap="square" lIns="0" rIns="0" tIns="0" bIns="0" anchor="ctr">
            <a:noAutofit/>
          </a:bodyPr>
          <a:lstStyle/>
          <a:p>
            <a:pPr algn="ctr">
              <a:spcAft>
                <a:spcPts val="0"/>
              </a:spcAft>
            </a:pPr>
            <a:r>
              <a:rPr sz="1300" b="1" lang="en-GB">
                <a:solidFill>
                  <a:schemeClr val="tx2"/>
                </a:solidFill>
                <a:latin typeface="Consolas"/>
              </a:rPr>
              <a:t>theme_</a:t>
            </a:r>
          </a:p>
          <a:p>
            <a:pPr algn="ctr">
              <a:spcAft>
                <a:spcPts val="0"/>
              </a:spcAft>
            </a:pPr>
            <a:r>
              <a:rPr sz="1200" b="0" lang="en-GB">
                <a:solidFill>
                  <a:schemeClr val="tx1"/>
                </a:solidFill>
              </a:rPr>
              <a:t>the look</a:t>
            </a:r>
          </a:p>
        </p:txBody>
      </p:sp>
      <p:sp>
        <p:nvSpPr>
          <p:cNvPr id="26" name="Grammar note"/>
          <p:cNvSpPr txBox="1"/>
          <p:nvPr/>
        </p:nvSpPr>
        <p:spPr>
          <a:xfrm>
            <a:off x="457200" y="4663440"/>
            <a:ext cx="8229600" cy="411480"/>
          </a:xfrm>
          <a:prstGeom prst="rect">
            <a:avLst/>
          </a:prstGeom>
          <a:noFill/>
        </p:spPr>
        <p:txBody>
          <a:bodyPr wrap="square" lIns="0" rIns="0" tIns="0" bIns="0" anchor="ctr">
            <a:noAutofit/>
          </a:bodyPr>
          <a:lstStyle/>
          <a:p>
            <a:pPr algn="l">
              <a:spcAft>
                <a:spcPts val="400"/>
              </a:spcAft>
            </a:pPr>
            <a:r>
              <a:rPr sz="1300" b="1" lang="en-GB">
                <a:solidFill>
                  <a:schemeClr val="tx2"/>
                </a:solidFill>
              </a:rPr>
              <a:t>Data + mapping + marks + panels + theme: </a:t>
            </a:r>
            <a:r>
              <a:rPr sz="1300" b="0" lang="en-GB">
                <a:solidFill>
                  <a:schemeClr val="tx1"/>
                </a:solidFill>
              </a:rPr>
              <a:t>each + adds one layer.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Great Tables: tables for reports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GT code caption bar"/>
          <p:cNvSpPr/>
          <p:nvPr/>
        </p:nvSpPr>
        <p:spPr>
          <a:xfrm>
            <a:off x="457200" y="1234440"/>
            <a:ext cx="475488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GT code caption"/>
          <p:cNvSpPr txBox="1"/>
          <p:nvPr/>
        </p:nvSpPr>
        <p:spPr>
          <a:xfrm>
            <a:off x="566928" y="1234440"/>
            <a:ext cx="453542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The polars summary as a table</a:t>
            </a:r>
          </a:p>
        </p:txBody>
      </p:sp>
      <p:sp>
        <p:nvSpPr>
          <p:cNvPr id="12" name="GT code box"/>
          <p:cNvSpPr/>
          <p:nvPr/>
        </p:nvSpPr>
        <p:spPr>
          <a:xfrm>
            <a:off x="457200" y="1508760"/>
            <a:ext cx="4754880" cy="1554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GT code code"/>
          <p:cNvSpPr txBox="1"/>
          <p:nvPr/>
        </p:nvSpPr>
        <p:spPr>
          <a:xfrm>
            <a:off x="594360" y="1600200"/>
            <a:ext cx="4480560" cy="137160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from great_tables import GT</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(GT(summary)</a:t>
            </a:r>
          </a:p>
          <a:p>
            <a:pPr algn="l">
              <a:spcAft>
                <a:spcPts val="0"/>
              </a:spcAft>
            </a:pPr>
            <a:r>
              <a:rPr sz="1050" b="0" lang="en-GB">
                <a:solidFill>
                  <a:schemeClr val="bg1"/>
                </a:solidFill>
                <a:latin typeface="Consolas"/>
              </a:rPr>
              <a:t> .tab_header(title="Revenue and TV spend, 2025")</a:t>
            </a:r>
          </a:p>
          <a:p>
            <a:pPr algn="l">
              <a:spcAft>
                <a:spcPts val="0"/>
              </a:spcAft>
            </a:pPr>
            <a:r>
              <a:rPr sz="1050" b="0" lang="en-GB">
                <a:solidFill>
                  <a:schemeClr val="bg1"/>
                </a:solidFill>
                <a:latin typeface="Consolas"/>
              </a:rPr>
              <a:t> .fmt_number(columns=["revenue", "tv"], decimals=0)</a:t>
            </a:r>
          </a:p>
          <a:p>
            <a:pPr algn="l">
              <a:spcAft>
                <a:spcPts val="0"/>
              </a:spcAft>
            </a:pPr>
            <a:r>
              <a:rPr sz="1050" b="0" lang="en-GB">
                <a:solidFill>
                  <a:schemeClr val="bg1"/>
                </a:solidFill>
                <a:latin typeface="Consolas"/>
              </a:rPr>
              <a:t> .cols_label(country="Country",</a:t>
            </a:r>
          </a:p>
          <a:p>
            <a:pPr algn="l">
              <a:spcAft>
                <a:spcPts val="0"/>
              </a:spcAft>
            </a:pPr>
            <a:r>
              <a:rPr sz="1050" b="0" lang="en-GB">
                <a:solidFill>
                  <a:schemeClr val="bg1"/>
                </a:solidFill>
                <a:latin typeface="Consolas"/>
              </a:rPr>
              <a:t>             revenue="Revenue (k EUR)",</a:t>
            </a:r>
          </a:p>
          <a:p>
            <a:pPr algn="l">
              <a:spcAft>
                <a:spcPts val="0"/>
              </a:spcAft>
            </a:pPr>
            <a:r>
              <a:rPr sz="1050" b="0" lang="en-GB">
                <a:solidFill>
                  <a:schemeClr val="bg1"/>
                </a:solidFill>
                <a:latin typeface="Consolas"/>
              </a:rPr>
              <a:t>             tv="TV spend (k EUR)"))</a:t>
            </a:r>
          </a:p>
        </p:txBody>
      </p:sp>
      <p:pic>
        <p:nvPicPr>
          <p:cNvPr id="14" name="Great Tables output" descr="Table of revenue and TV spend in 2025 by country, Germany first with 130,650 thousand euros revenue"/>
          <p:cNvPicPr>
            <a:picLocks noChangeAspect="1"/>
          </p:cNvPicPr>
          <p:nvPr/>
        </p:nvPicPr>
        <p:blipFill>
          <a:blip r:embed="rId3"/>
          <a:stretch>
            <a:fillRect/>
          </a:stretch>
        </p:blipFill>
        <p:spPr>
          <a:xfrm>
            <a:off x="5486400" y="1234440"/>
            <a:ext cx="2926080" cy="2417909"/>
          </a:xfrm>
          <a:prstGeom prst="rect">
            <a:avLst/>
          </a:prstGeom>
        </p:spPr>
      </p:pic>
      <p:sp>
        <p:nvSpPr>
          <p:cNvPr id="15" name="GT row 1"/>
          <p:cNvSpPr/>
          <p:nvPr/>
        </p:nvSpPr>
        <p:spPr>
          <a:xfrm>
            <a:off x="457200" y="3246120"/>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GT bar 1"/>
          <p:cNvSpPr/>
          <p:nvPr/>
        </p:nvSpPr>
        <p:spPr>
          <a:xfrm>
            <a:off x="457200" y="324612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GT text 1"/>
          <p:cNvSpPr txBox="1"/>
          <p:nvPr/>
        </p:nvSpPr>
        <p:spPr>
          <a:xfrm>
            <a:off x="658368" y="3246120"/>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Header and labels: </a:t>
            </a:r>
            <a:r>
              <a:rPr sz="1200" b="0" lang="en-GB">
                <a:solidFill>
                  <a:schemeClr val="tx1"/>
                </a:solidFill>
              </a:rPr>
              <a:t>readable names instead of column codes</a:t>
            </a:r>
          </a:p>
        </p:txBody>
      </p:sp>
      <p:sp>
        <p:nvSpPr>
          <p:cNvPr id="18" name="GT row 2"/>
          <p:cNvSpPr/>
          <p:nvPr/>
        </p:nvSpPr>
        <p:spPr>
          <a:xfrm>
            <a:off x="457200" y="3867912"/>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GT bar 2"/>
          <p:cNvSpPr/>
          <p:nvPr/>
        </p:nvSpPr>
        <p:spPr>
          <a:xfrm>
            <a:off x="457200" y="3867912"/>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GT text 2"/>
          <p:cNvSpPr txBox="1"/>
          <p:nvPr/>
        </p:nvSpPr>
        <p:spPr>
          <a:xfrm>
            <a:off x="658368" y="3867912"/>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Number formats: </a:t>
            </a:r>
            <a:r>
              <a:rPr sz="1200" b="0" lang="en-GB">
                <a:solidFill>
                  <a:schemeClr val="tx1"/>
                </a:solidFill>
              </a:rPr>
              <a:t>thousands separators, currency, percent</a:t>
            </a:r>
          </a:p>
        </p:txBody>
      </p:sp>
      <p:sp>
        <p:nvSpPr>
          <p:cNvPr id="21" name="GT row 3"/>
          <p:cNvSpPr/>
          <p:nvPr/>
        </p:nvSpPr>
        <p:spPr>
          <a:xfrm>
            <a:off x="457200" y="4489704"/>
            <a:ext cx="475488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GT bar 3"/>
          <p:cNvSpPr/>
          <p:nvPr/>
        </p:nvSpPr>
        <p:spPr>
          <a:xfrm>
            <a:off x="457200" y="448970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GT text 3"/>
          <p:cNvSpPr txBox="1"/>
          <p:nvPr/>
        </p:nvSpPr>
        <p:spPr>
          <a:xfrm>
            <a:off x="658368" y="4489704"/>
            <a:ext cx="4480560"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Works with polars </a:t>
            </a:r>
            <a:r>
              <a:rPr sz="1200" b="0" lang="en-GB">
                <a:solidFill>
                  <a:schemeClr val="tx1"/>
                </a:solidFill>
              </a:rPr>
              <a:t>and pandas; renders in Quarto reports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statsmodels: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OLS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LS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Weekly sales in Austria, 2023 to 2025</a:t>
            </a:r>
          </a:p>
        </p:txBody>
      </p:sp>
      <p:sp>
        <p:nvSpPr>
          <p:cNvPr id="12" name="OLS code box"/>
          <p:cNvSpPr/>
          <p:nvPr/>
        </p:nvSpPr>
        <p:spPr>
          <a:xfrm>
            <a:off x="457200" y="1508760"/>
            <a:ext cx="49377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LS code code"/>
          <p:cNvSpPr txBox="1"/>
          <p:nvPr/>
        </p:nvSpPr>
        <p:spPr>
          <a:xfrm>
            <a:off x="594360" y="1600200"/>
            <a:ext cx="46634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at = sales.filter(pl.col("country") == "AT").to_pandas()</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"sales_units_k ~ price_eur + spend_tv_k"</a:t>
            </a:r>
          </a:p>
          <a:p>
            <a:pPr algn="l">
              <a:spcAft>
                <a:spcPts val="0"/>
              </a:spcAft>
            </a:pPr>
            <a:r>
              <a:rPr sz="1050" b="0" lang="en-GB">
                <a:solidFill>
                  <a:schemeClr val="bg1"/>
                </a:solidFill>
                <a:latin typeface="Consolas"/>
              </a:rPr>
              <a:t>    " + spend_paid_search_k",</a:t>
            </a:r>
          </a:p>
          <a:p>
            <a:pPr algn="l">
              <a:spcAft>
                <a:spcPts val="0"/>
              </a:spcAft>
            </a:pPr>
            <a:r>
              <a:rPr sz="1050" b="0" lang="en-GB">
                <a:solidFill>
                  <a:schemeClr val="bg1"/>
                </a:solidFill>
                <a:latin typeface="Consolas"/>
              </a:rPr>
              <a:t>    data=at).fit()</a:t>
            </a:r>
          </a:p>
          <a:p>
            <a:pPr algn="l">
              <a:spcAft>
                <a:spcPts val="0"/>
              </a:spcAft>
            </a:pPr>
            <a:r>
              <a:rPr sz="1050" b="0" lang="en-GB">
                <a:solidFill>
                  <a:schemeClr val="bg1"/>
                </a:solidFill>
                <a:latin typeface="Consolas"/>
              </a:rPr>
              <a:t>print(model.summary())</a:t>
            </a:r>
          </a:p>
        </p:txBody>
      </p:sp>
      <p:sp>
        <p:nvSpPr>
          <p:cNvPr id="14" name="Coefficient panel"/>
          <p:cNvSpPr/>
          <p:nvPr/>
        </p:nvSpPr>
        <p:spPr>
          <a:xfrm>
            <a:off x="5577840" y="1234440"/>
            <a:ext cx="3108960" cy="21945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ef name 1"/>
          <p:cNvSpPr txBox="1"/>
          <p:nvPr/>
        </p:nvSpPr>
        <p:spPr>
          <a:xfrm>
            <a:off x="5715000" y="1325880"/>
            <a:ext cx="2011680" cy="338328"/>
          </a:xfrm>
          <a:prstGeom prst="rect">
            <a:avLst/>
          </a:prstGeom>
          <a:noFill/>
        </p:spPr>
        <p:txBody>
          <a:bodyPr wrap="square" lIns="0" rIns="0" tIns="0" bIns="0" anchor="ctr">
            <a:noAutofit/>
          </a:bodyPr>
          <a:lstStyle/>
          <a:p>
            <a:pPr algn="l">
              <a:spcAft>
                <a:spcPts val="400"/>
              </a:spcAft>
            </a:pPr>
            <a:r>
              <a:rPr sz="1200" b="1" lang="en-GB">
                <a:solidFill>
                  <a:schemeClr val="tx2"/>
                </a:solidFill>
              </a:rPr>
              <a:t>Coefficient</a:t>
            </a:r>
          </a:p>
        </p:txBody>
      </p:sp>
      <p:sp>
        <p:nvSpPr>
          <p:cNvPr id="16" name="Coef value 1"/>
          <p:cNvSpPr txBox="1"/>
          <p:nvPr/>
        </p:nvSpPr>
        <p:spPr>
          <a:xfrm>
            <a:off x="7635240" y="1325880"/>
            <a:ext cx="914400" cy="338328"/>
          </a:xfrm>
          <a:prstGeom prst="rect">
            <a:avLst/>
          </a:prstGeom>
          <a:noFill/>
        </p:spPr>
        <p:txBody>
          <a:bodyPr wrap="square" lIns="0" rIns="0" tIns="0" bIns="0" anchor="ctr">
            <a:noAutofit/>
          </a:bodyPr>
          <a:lstStyle/>
          <a:p>
            <a:pPr algn="r">
              <a:spcAft>
                <a:spcPts val="400"/>
              </a:spcAft>
            </a:pPr>
            <a:r>
              <a:rPr sz="1200" b="1" lang="en-GB">
                <a:solidFill>
                  <a:schemeClr val="tx2"/>
                </a:solidFill>
              </a:rPr>
              <a:t>Estimate</a:t>
            </a:r>
          </a:p>
        </p:txBody>
      </p:sp>
      <p:sp>
        <p:nvSpPr>
          <p:cNvPr id="17" name="Coef name 2"/>
          <p:cNvSpPr txBox="1"/>
          <p:nvPr/>
        </p:nvSpPr>
        <p:spPr>
          <a:xfrm>
            <a:off x="5715000" y="1664208"/>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Intercept</a:t>
            </a:r>
          </a:p>
        </p:txBody>
      </p:sp>
      <p:sp>
        <p:nvSpPr>
          <p:cNvPr id="18" name="Coef value 2"/>
          <p:cNvSpPr txBox="1"/>
          <p:nvPr/>
        </p:nvSpPr>
        <p:spPr>
          <a:xfrm>
            <a:off x="7635240" y="1664208"/>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250.63</a:t>
            </a:r>
          </a:p>
        </p:txBody>
      </p:sp>
      <p:sp>
        <p:nvSpPr>
          <p:cNvPr id="19" name="Coef name 3"/>
          <p:cNvSpPr txBox="1"/>
          <p:nvPr/>
        </p:nvSpPr>
        <p:spPr>
          <a:xfrm>
            <a:off x="5715000" y="2002536"/>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price_eur</a:t>
            </a:r>
          </a:p>
        </p:txBody>
      </p:sp>
      <p:sp>
        <p:nvSpPr>
          <p:cNvPr id="20" name="Coef value 3"/>
          <p:cNvSpPr txBox="1"/>
          <p:nvPr/>
        </p:nvSpPr>
        <p:spPr>
          <a:xfrm>
            <a:off x="7635240" y="2002536"/>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−48.31</a:t>
            </a:r>
          </a:p>
        </p:txBody>
      </p:sp>
      <p:sp>
        <p:nvSpPr>
          <p:cNvPr id="21" name="Coef name 4"/>
          <p:cNvSpPr txBox="1"/>
          <p:nvPr/>
        </p:nvSpPr>
        <p:spPr>
          <a:xfrm>
            <a:off x="5715000" y="2340864"/>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spend_tv_k</a:t>
            </a:r>
          </a:p>
        </p:txBody>
      </p:sp>
      <p:sp>
        <p:nvSpPr>
          <p:cNvPr id="22" name="Coef value 4"/>
          <p:cNvSpPr txBox="1"/>
          <p:nvPr/>
        </p:nvSpPr>
        <p:spPr>
          <a:xfrm>
            <a:off x="7635240" y="2340864"/>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0.41</a:t>
            </a:r>
          </a:p>
        </p:txBody>
      </p:sp>
      <p:sp>
        <p:nvSpPr>
          <p:cNvPr id="23" name="Coef name 5"/>
          <p:cNvSpPr txBox="1"/>
          <p:nvPr/>
        </p:nvSpPr>
        <p:spPr>
          <a:xfrm>
            <a:off x="5715000" y="2679192"/>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spend_paid_search_k</a:t>
            </a:r>
          </a:p>
        </p:txBody>
      </p:sp>
      <p:sp>
        <p:nvSpPr>
          <p:cNvPr id="24" name="Coef value 5"/>
          <p:cNvSpPr txBox="1"/>
          <p:nvPr/>
        </p:nvSpPr>
        <p:spPr>
          <a:xfrm>
            <a:off x="7635240" y="2679192"/>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4.03</a:t>
            </a:r>
          </a:p>
        </p:txBody>
      </p:sp>
      <p:sp>
        <p:nvSpPr>
          <p:cNvPr id="25" name="Coef name 6"/>
          <p:cNvSpPr txBox="1"/>
          <p:nvPr/>
        </p:nvSpPr>
        <p:spPr>
          <a:xfrm>
            <a:off x="5715000" y="3017520"/>
            <a:ext cx="2011680" cy="338328"/>
          </a:xfrm>
          <a:prstGeom prst="rect">
            <a:avLst/>
          </a:prstGeom>
          <a:noFill/>
        </p:spPr>
        <p:txBody>
          <a:bodyPr wrap="square" lIns="0" rIns="0" tIns="0" bIns="0" anchor="ctr">
            <a:noAutofit/>
          </a:bodyPr>
          <a:lstStyle/>
          <a:p>
            <a:pPr algn="l">
              <a:spcAft>
                <a:spcPts val="400"/>
              </a:spcAft>
            </a:pPr>
            <a:r>
              <a:rPr sz="1100" b="0" lang="en-GB">
                <a:solidFill>
                  <a:schemeClr val="tx2"/>
                </a:solidFill>
                <a:latin typeface="Consolas"/>
              </a:rPr>
              <a:t>R²  (n = 156)</a:t>
            </a:r>
          </a:p>
        </p:txBody>
      </p:sp>
      <p:sp>
        <p:nvSpPr>
          <p:cNvPr id="26" name="Coef value 6"/>
          <p:cNvSpPr txBox="1"/>
          <p:nvPr/>
        </p:nvSpPr>
        <p:spPr>
          <a:xfrm>
            <a:off x="7635240" y="3017520"/>
            <a:ext cx="914400" cy="338328"/>
          </a:xfrm>
          <a:prstGeom prst="rect">
            <a:avLst/>
          </a:prstGeom>
          <a:noFill/>
        </p:spPr>
        <p:txBody>
          <a:bodyPr wrap="square" lIns="0" rIns="0" tIns="0" bIns="0" anchor="ctr">
            <a:noAutofit/>
          </a:bodyPr>
          <a:lstStyle/>
          <a:p>
            <a:pPr algn="r">
              <a:spcAft>
                <a:spcPts val="400"/>
              </a:spcAft>
            </a:pPr>
            <a:r>
              <a:rPr sz="1200" b="0" lang="en-GB">
                <a:solidFill>
                  <a:schemeClr val="tx2"/>
                </a:solidFill>
              </a:rPr>
              <a:t>0.43</a:t>
            </a:r>
          </a:p>
        </p:txBody>
      </p:sp>
      <p:sp>
        <p:nvSpPr>
          <p:cNvPr id="27" name="OLS reading box"/>
          <p:cNvSpPr/>
          <p:nvPr/>
        </p:nvSpPr>
        <p:spPr>
          <a:xfrm>
            <a:off x="457200" y="3611880"/>
            <a:ext cx="82296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OLS reading" descr=""/>
          <p:cNvPicPr>
            <a:picLocks noChangeAspect="1"/>
          </p:cNvPicPr>
          <p:nvPr/>
        </p:nvPicPr>
        <p:blipFill>
          <a:blip r:embed="rId3"/>
          <a:stretch>
            <a:fillRect/>
          </a:stretch>
        </p:blipFill>
        <p:spPr>
          <a:xfrm>
            <a:off x="658368" y="3785616"/>
            <a:ext cx="384048" cy="384048"/>
          </a:xfrm>
          <a:prstGeom prst="rect">
            <a:avLst/>
          </a:prstGeom>
        </p:spPr>
      </p:pic>
      <p:sp>
        <p:nvSpPr>
          <p:cNvPr id="29" name="OLS reading text"/>
          <p:cNvSpPr txBox="1"/>
          <p:nvPr/>
        </p:nvSpPr>
        <p:spPr>
          <a:xfrm>
            <a:off x="1234440" y="3611880"/>
            <a:ext cx="7269480" cy="731520"/>
          </a:xfrm>
          <a:prstGeom prst="rect">
            <a:avLst/>
          </a:prstGeom>
          <a:noFill/>
        </p:spPr>
        <p:txBody>
          <a:bodyPr wrap="square" lIns="0" rIns="0" tIns="0" bIns="0" anchor="ctr">
            <a:noAutofit/>
          </a:bodyPr>
          <a:lstStyle/>
          <a:p>
            <a:pPr algn="l">
              <a:spcAft>
                <a:spcPts val="400"/>
              </a:spcAft>
            </a:pPr>
            <a:r>
              <a:rPr sz="1300" b="1" lang="en-GB">
                <a:solidFill>
                  <a:schemeClr val="tx2"/>
                </a:solidFill>
              </a:rPr>
              <a:t>Reading it: </a:t>
            </a:r>
            <a:r>
              <a:rPr sz="1300" b="0" lang="en-GB">
                <a:solidFill>
                  <a:schemeClr val="tx1"/>
                </a:solidFill>
              </a:rPr>
              <a:t>EUR 1,000 more paid search in a week goes with about 4,000 more units sold, holding price and TV constant.</a:t>
            </a:r>
          </a:p>
        </p:txBody>
      </p:sp>
      <p:sp>
        <p:nvSpPr>
          <p:cNvPr id="30" name="Later note"/>
          <p:cNvSpPr txBox="1"/>
          <p:nvPr/>
        </p:nvSpPr>
        <p:spPr>
          <a:xfrm>
            <a:off x="457200" y="4480560"/>
            <a:ext cx="8229600" cy="594360"/>
          </a:xfrm>
          <a:prstGeom prst="rect">
            <a:avLst/>
          </a:prstGeom>
          <a:noFill/>
        </p:spPr>
        <p:txBody>
          <a:bodyPr wrap="square" lIns="0" rIns="0" tIns="0" bIns="0" anchor="ctr">
            <a:noAutofit/>
          </a:bodyPr>
          <a:lstStyle/>
          <a:p>
            <a:pPr algn="l">
              <a:spcAft>
                <a:spcPts val="400"/>
              </a:spcAft>
            </a:pPr>
            <a:r>
              <a:rPr sz="1300" b="1" lang="en-GB">
                <a:solidFill>
                  <a:schemeClr val="tx2"/>
                </a:solidFill>
              </a:rPr>
              <a:t>Later in the course: </a:t>
            </a:r>
            <a:r>
              <a:rPr sz="1300" b="0" lang="en-GB">
                <a:solidFill>
                  <a:schemeClr val="tx1"/>
                </a:solidFill>
              </a:rPr>
              <a:t>scikit-learn for logistic regression and pymc-marketing for Bayesian MMM.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Table Placeholder 1"/>
          <p:cNvGraphicFramePr>
            <a:graphicFrameLocks noGrp="1"/>
          </p:cNvGraphicFramePr>
          <p:nvPr>
            <p:ph type="tbl" idx="1"/>
          </p:nvPr>
        </p:nvGraphicFramePr>
        <p:xfrm>
          <a:off x="462019" y="1344613"/>
          <a:ext cx="8229600" cy="2966720"/>
        </p:xfrm>
        <a:graphic>
          <a:graphicData uri="http://schemas.openxmlformats.org/drawingml/2006/table">
            <a:tbl>
              <a:tblPr firstRow="1" bandRow="1">
                <a:tableStyleId>{5C22544A-7EE6-4342-B048-85BDC9FD1C3A}</a:tableStyleId>
              </a:tblPr>
              <a:tblGrid>
                <a:gridCol w="3108960"/>
                <a:gridCol w="5120640"/>
              </a:tblGrid>
              <a:tr h="370840">
                <a:tc>
                  <a:txBody>
                    <a:bodyPr/>
                    <a:lstStyle/>
                    <a:p>
                      <a:r>
                        <a:rPr sz="1500" lang="en-GB"/>
                        <a:t>Problem</a:t>
                      </a:r>
                    </a:p>
                  </a:txBody>
                  <a:tcPr marT="54000" marB="54000"/>
                </a:tc>
                <a:tc>
                  <a:txBody>
                    <a:bodyPr/>
                    <a:lstStyle/>
                    <a:p>
                      <a:r>
                        <a:rPr sz="1500" lang="en-GB"/>
                        <a:t>Fix</a:t>
                      </a:r>
                    </a:p>
                  </a:txBody>
                  <a:tcPr marT="54000" marB="54000"/>
                </a:tc>
              </a:tr>
              <a:tr h="370840">
                <a:tc>
                  <a:txBody>
                    <a:bodyPr/>
                    <a:lstStyle/>
                    <a:p>
                      <a:r>
                        <a:rPr sz="1300" b="1" lang="en-GB"/>
                        <a:t>Windows: python or py is not recognised</a:t>
                      </a:r>
                    </a:p>
                  </a:txBody>
                  <a:tcPr marT="54000" marB="54000"/>
                </a:tc>
                <a:tc>
                  <a:txBody>
                    <a:bodyPr/>
                    <a:lstStyle/>
                    <a:p>
                      <a:r>
                        <a:rPr sz="1300" lang="en-GB"/>
                        <a:t>Reinstall Python 3.13 with “Add python.exe to PATH” ticked</a:t>
                      </a:r>
                    </a:p>
                  </a:txBody>
                  <a:tcPr marT="54000" marB="54000"/>
                </a:tc>
              </a:tr>
              <a:tr h="370840">
                <a:tc>
                  <a:txBody>
                    <a:bodyPr/>
                    <a:lstStyle/>
                    <a:p>
                      <a:r>
                        <a:rPr sz="1300" b="1" lang="en-GB"/>
                        <a:t>No .venv in the Interpreter picker</a:t>
                      </a:r>
                    </a:p>
                  </a:txBody>
                  <a:tcPr marT="54000" marB="54000"/>
                </a:tc>
                <a:tc>
                  <a:txBody>
                    <a:bodyPr/>
                    <a:lstStyle/>
                    <a:p>
                      <a:r>
                        <a:rPr sz="1300" lang="en-GB"/>
                        <a:t>Open the course folder, not a single file; then pick Python 3.13.16 (.venv)</a:t>
                      </a:r>
                    </a:p>
                  </a:txBody>
                  <a:tcPr marT="54000" marB="54000"/>
                </a:tc>
              </a:tr>
              <a:tr h="370840">
                <a:tc>
                  <a:txBody>
                    <a:bodyPr/>
                    <a:lstStyle/>
                    <a:p>
                      <a:r>
                        <a:rPr sz="1300" b="1" lang="en-GB"/>
                        <a:t>ModuleNotFoundError</a:t>
                      </a:r>
                    </a:p>
                  </a:txBody>
                  <a:tcPr marT="54000" marB="54000"/>
                </a:tc>
                <a:tc>
                  <a:txBody>
                    <a:bodyPr/>
                    <a:lstStyle/>
                    <a:p>
                      <a:r>
                        <a:rPr sz="1300" lang="en-GB"/>
                        <a:t>Select the .venv interpreter, then %pip install the package</a:t>
                      </a:r>
                    </a:p>
                  </a:txBody>
                  <a:tcPr marT="54000" marB="54000"/>
                </a:tc>
              </a:tr>
              <a:tr h="370840">
                <a:tc>
                  <a:txBody>
                    <a:bodyPr/>
                    <a:lstStyle/>
                    <a:p>
                      <a:r>
                        <a:rPr sz="1300" b="1" lang="en-GB"/>
                        <a:t>macOS: externally-managed-environment</a:t>
                      </a:r>
                    </a:p>
                  </a:txBody>
                  <a:tcPr marT="54000" marB="54000"/>
                </a:tc>
                <a:tc>
                  <a:txBody>
                    <a:bodyPr/>
                    <a:lstStyle/>
                    <a:p>
                      <a:r>
                        <a:rPr sz="1300" lang="en-GB"/>
                        <a:t>You used the system Python: use the .venv/bin/python commands</a:t>
                      </a:r>
                    </a:p>
                  </a:txBody>
                  <a:tcPr marT="54000" marB="54000"/>
                </a:tc>
              </a:tr>
              <a:tr h="370840">
                <a:tc>
                  <a:txBody>
                    <a:bodyPr/>
                    <a:lstStyle/>
                    <a:p>
                      <a:r>
                        <a:rPr sz="1300" b="1" lang="en-GB"/>
                        <a:t>Quarto preview does not start</a:t>
                      </a:r>
                    </a:p>
                  </a:txBody>
                  <a:tcPr marT="54000" marB="54000"/>
                </a:tc>
                <a:tc>
                  <a:txBody>
                    <a:bodyPr/>
                    <a:lstStyle/>
                    <a:p>
                      <a:r>
                        <a:rPr sz="1300" lang="en-GB"/>
                        <a:t>Restart Positron; run quarto check in the terminal</a:t>
                      </a:r>
                    </a:p>
                  </a:txBody>
                  <a:tcPr marT="54000" marB="54000"/>
                </a:tc>
              </a:tr>
              <a:tr h="370840">
                <a:tc>
                  <a:txBody>
                    <a:bodyPr/>
                    <a:lstStyle/>
                    <a:p>
                      <a:r>
                        <a:rPr sz="1300" b="1" lang="en-GB"/>
                        <a:t>Clone fails in GitHub Desktop</a:t>
                      </a:r>
                    </a:p>
                  </a:txBody>
                  <a:tcPr marT="54000" marB="54000"/>
                </a:tc>
                <a:tc>
                  <a:txBody>
                    <a:bodyPr/>
                    <a:lstStyle/>
                    <a:p>
                      <a:r>
                        <a:rPr sz="1300" lang="en-GB"/>
                        <a:t>Sign in again under Accounts in the settings; check the URL</a:t>
                      </a:r>
                    </a:p>
                  </a:txBody>
                  <a:tcPr marT="54000" marB="54000"/>
                </a:tc>
              </a:tr>
              <a:tr h="370840">
                <a:tc>
                  <a:txBody>
                    <a:bodyPr/>
                    <a:lstStyle/>
                    <a:p>
                      <a:r>
                        <a:rPr sz="1300" b="1" lang="en-GB"/>
                        <a:t>Copilot is not offered</a:t>
                      </a:r>
                    </a:p>
                  </a:txBody>
                  <a:tcPr marT="54000" marB="54000"/>
                </a:tc>
                <a:tc>
                  <a:txBody>
                    <a:bodyPr/>
                    <a:lstStyle/>
                    <a:p>
                      <a:r>
                        <a:rPr sz="1300" lang="en-GB"/>
                        <a:t>GitHub Education still pending: use Copilot Free meanwhile</a:t>
                      </a:r>
                    </a:p>
                  </a:txBody>
                  <a:tcPr marT="54000" marB="54000"/>
                </a:tc>
              </a:tr>
            </a:tbl>
          </a:graphicData>
        </a:graphic>
      </p:graphicFrame>
      <p:sp>
        <p:nvSpPr>
          <p:cNvPr id="3" name="Title 2"/>
          <p:cNvSpPr>
            <a:spLocks noGrp="1"/>
          </p:cNvSpPr>
          <p:nvPr>
            <p:ph type="title"/>
          </p:nvPr>
        </p:nvSpPr>
        <p:spPr/>
        <p:txBody>
          <a:bodyPr/>
          <a:lstStyle/>
          <a:p>
            <a:r>
              <a:rPr sz="1600" lang="en-GB"/>
              <a:t>When something goes wrong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Checklist: before you leave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list Accounts body"/>
          <p:cNvSpPr/>
          <p:nvPr/>
        </p:nvSpPr>
        <p:spPr>
          <a:xfrm>
            <a:off x="45720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list Accounts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ecklist Accounts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Accounts</a:t>
            </a:r>
          </a:p>
        </p:txBody>
      </p:sp>
      <p:pic>
        <p:nvPicPr>
          <p:cNvPr id="13" name="Icon checklist Accounts" descr=""/>
          <p:cNvPicPr>
            <a:picLocks noChangeAspect="1"/>
          </p:cNvPicPr>
          <p:nvPr/>
        </p:nvPicPr>
        <p:blipFill>
          <a:blip r:embed="rId3"/>
          <a:stretch>
            <a:fillRect/>
          </a:stretch>
        </p:blipFill>
        <p:spPr>
          <a:xfrm>
            <a:off x="4064508" y="1280160"/>
            <a:ext cx="310896" cy="310896"/>
          </a:xfrm>
          <a:prstGeom prst="rect">
            <a:avLst/>
          </a:prstGeom>
        </p:spPr>
      </p:pic>
      <p:sp>
        <p:nvSpPr>
          <p:cNvPr id="14" name="Checkbox Accounts 1"/>
          <p:cNvSpPr/>
          <p:nvPr/>
        </p:nvSpPr>
        <p:spPr>
          <a:xfrm>
            <a:off x="64008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hecklist Accounts item 1"/>
          <p:cNvSpPr txBox="1"/>
          <p:nvPr/>
        </p:nvSpPr>
        <p:spPr>
          <a:xfrm>
            <a:off x="100584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account with two-factor sign-in</a:t>
            </a:r>
          </a:p>
        </p:txBody>
      </p:sp>
      <p:sp>
        <p:nvSpPr>
          <p:cNvPr id="16" name="Checkbox Accounts 2"/>
          <p:cNvSpPr/>
          <p:nvPr/>
        </p:nvSpPr>
        <p:spPr>
          <a:xfrm>
            <a:off x="64008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hecklist Accounts item 2"/>
          <p:cNvSpPr txBox="1"/>
          <p:nvPr/>
        </p:nvSpPr>
        <p:spPr>
          <a:xfrm>
            <a:off x="100584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GitHub Education application sent</a:t>
            </a:r>
          </a:p>
        </p:txBody>
      </p:sp>
      <p:sp>
        <p:nvSpPr>
          <p:cNvPr id="18" name="Checkbox Accounts 3"/>
          <p:cNvSpPr/>
          <p:nvPr/>
        </p:nvSpPr>
        <p:spPr>
          <a:xfrm>
            <a:off x="64008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hecklist Accounts item 3"/>
          <p:cNvSpPr txBox="1"/>
          <p:nvPr/>
        </p:nvSpPr>
        <p:spPr>
          <a:xfrm>
            <a:off x="100584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DataCamp classroom joined</a:t>
            </a:r>
          </a:p>
        </p:txBody>
      </p:sp>
      <p:sp>
        <p:nvSpPr>
          <p:cNvPr id="20" name="Checklist Laptop body"/>
          <p:cNvSpPr/>
          <p:nvPr/>
        </p:nvSpPr>
        <p:spPr>
          <a:xfrm>
            <a:off x="4640580" y="1645920"/>
            <a:ext cx="4046220" cy="2743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hecklist Laptop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hecklist Laptop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Laptop</a:t>
            </a:r>
          </a:p>
        </p:txBody>
      </p:sp>
      <p:pic>
        <p:nvPicPr>
          <p:cNvPr id="23" name="Icon checklist Laptop" descr=""/>
          <p:cNvPicPr>
            <a:picLocks noChangeAspect="1"/>
          </p:cNvPicPr>
          <p:nvPr/>
        </p:nvPicPr>
        <p:blipFill>
          <a:blip r:embed="rId4"/>
          <a:stretch>
            <a:fillRect/>
          </a:stretch>
        </p:blipFill>
        <p:spPr>
          <a:xfrm>
            <a:off x="8247888" y="1280160"/>
            <a:ext cx="310896" cy="310896"/>
          </a:xfrm>
          <a:prstGeom prst="rect">
            <a:avLst/>
          </a:prstGeom>
        </p:spPr>
      </p:pic>
      <p:sp>
        <p:nvSpPr>
          <p:cNvPr id="24" name="Checkbox Laptop 1"/>
          <p:cNvSpPr/>
          <p:nvPr/>
        </p:nvSpPr>
        <p:spPr>
          <a:xfrm>
            <a:off x="4823460" y="185623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hecklist Laptop item 1"/>
          <p:cNvSpPr txBox="1"/>
          <p:nvPr/>
        </p:nvSpPr>
        <p:spPr>
          <a:xfrm>
            <a:off x="5189220" y="178308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Python 3.13, Positron, Quarto, GitHub Desktop</a:t>
            </a:r>
          </a:p>
        </p:txBody>
      </p:sp>
      <p:sp>
        <p:nvSpPr>
          <p:cNvPr id="26" name="Checkbox Laptop 2"/>
          <p:cNvSpPr/>
          <p:nvPr/>
        </p:nvSpPr>
        <p:spPr>
          <a:xfrm>
            <a:off x="4823460" y="235915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hecklist Laptop item 2"/>
          <p:cNvSpPr txBox="1"/>
          <p:nvPr/>
        </p:nvSpPr>
        <p:spPr>
          <a:xfrm>
            <a:off x="5189220" y="228600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Course repository cloned and open</a:t>
            </a:r>
          </a:p>
        </p:txBody>
      </p:sp>
      <p:sp>
        <p:nvSpPr>
          <p:cNvPr id="28" name="Checkbox Laptop 3"/>
          <p:cNvSpPr/>
          <p:nvPr/>
        </p:nvSpPr>
        <p:spPr>
          <a:xfrm>
            <a:off x="4823460" y="286207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hecklist Laptop item 3"/>
          <p:cNvSpPr txBox="1"/>
          <p:nvPr/>
        </p:nvSpPr>
        <p:spPr>
          <a:xfrm>
            <a:off x="5189220" y="278892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.venv created and selected</a:t>
            </a:r>
          </a:p>
        </p:txBody>
      </p:sp>
      <p:sp>
        <p:nvSpPr>
          <p:cNvPr id="30" name="Checkbox Laptop 4"/>
          <p:cNvSpPr/>
          <p:nvPr/>
        </p:nvSpPr>
        <p:spPr>
          <a:xfrm>
            <a:off x="4823460" y="336499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hecklist Laptop item 4"/>
          <p:cNvSpPr txBox="1"/>
          <p:nvPr/>
        </p:nvSpPr>
        <p:spPr>
          <a:xfrm>
            <a:off x="5189220" y="329184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Check script prints “ready”</a:t>
            </a:r>
          </a:p>
        </p:txBody>
      </p:sp>
      <p:sp>
        <p:nvSpPr>
          <p:cNvPr id="32" name="Checkbox Laptop 5"/>
          <p:cNvSpPr/>
          <p:nvPr/>
        </p:nvSpPr>
        <p:spPr>
          <a:xfrm>
            <a:off x="4823460" y="3867912"/>
            <a:ext cx="237744" cy="237744"/>
          </a:xfrm>
          <a:prstGeom prst="rect">
            <a:avLst/>
          </a:prstGeom>
          <a:solidFill>
            <a:srgbClr val="FFFFFF"/>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hecklist Laptop item 5"/>
          <p:cNvSpPr txBox="1"/>
          <p:nvPr/>
        </p:nvSpPr>
        <p:spPr>
          <a:xfrm>
            <a:off x="5189220" y="3794760"/>
            <a:ext cx="3360420" cy="411480"/>
          </a:xfrm>
          <a:prstGeom prst="rect">
            <a:avLst/>
          </a:prstGeom>
          <a:noFill/>
        </p:spPr>
        <p:txBody>
          <a:bodyPr wrap="square" lIns="0" rIns="0" tIns="0" bIns="0" anchor="ctr">
            <a:noAutofit/>
          </a:bodyPr>
          <a:lstStyle/>
          <a:p>
            <a:pPr algn="l">
              <a:spcAft>
                <a:spcPts val="400"/>
              </a:spcAft>
            </a:pPr>
            <a:r>
              <a:rPr sz="1200" b="0" lang="en-GB">
                <a:solidFill>
                  <a:schemeClr val="tx1"/>
                </a:solidFill>
              </a:rPr>
              <a:t>Posit Assistant connected</a:t>
            </a:r>
          </a:p>
        </p:txBody>
      </p:sp>
      <p:sp>
        <p:nvSpPr>
          <p:cNvPr id="34" name="Help box"/>
          <p:cNvSpPr/>
          <p:nvPr/>
        </p:nvSpPr>
        <p:spPr>
          <a:xfrm>
            <a:off x="457200" y="452628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Help" descr=""/>
          <p:cNvPicPr>
            <a:picLocks noChangeAspect="1"/>
          </p:cNvPicPr>
          <p:nvPr/>
        </p:nvPicPr>
        <p:blipFill>
          <a:blip r:embed="rId5"/>
          <a:stretch>
            <a:fillRect/>
          </a:stretch>
        </p:blipFill>
        <p:spPr>
          <a:xfrm>
            <a:off x="658368" y="4608576"/>
            <a:ext cx="384048" cy="384048"/>
          </a:xfrm>
          <a:prstGeom prst="rect">
            <a:avLst/>
          </a:prstGeom>
        </p:spPr>
      </p:pic>
      <p:sp>
        <p:nvSpPr>
          <p:cNvPr id="36" name="Help text"/>
          <p:cNvSpPr txBox="1"/>
          <p:nvPr/>
        </p:nvSpPr>
        <p:spPr>
          <a:xfrm>
            <a:off x="1234440" y="4526280"/>
            <a:ext cx="726948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Not ready yet? </a:t>
            </a:r>
            <a:r>
              <a:rPr sz="1300" b="0" lang="en-GB">
                <a:solidFill>
                  <a:schemeClr val="bg1"/>
                </a:solidFill>
              </a:rPr>
              <a:t>Post the failing step in the Q&amp;A forum on Canvas before Session 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