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test_stack.qmd is a single file: it installs the packages, loads them and reads the data from the course repository on GitHub, so it also works outside the course folder (internet needed). Run cell 1 once with Ctrl/Cmd + Enter, because Quarto cannot install its own helpers (jupyter) while it renders; pyarrow lets polars hand data to plotnine and statsmodels. Then press Preview: a table, a chart and the regression coefficients appear, and the text says the model explains 43 % of the weekly variation. If the folder has a .venv, Quarto runs the file with it, so pick Python 3.14.8 (.venv) before running cell 1. Error 'No module named yaml' or 'unactivated Python environment in .venv': the packages went to another Python. Fix in Positron's terminal: Windows .venv\Scripts\python -m pip install polars plotnine great-tables statsmodels pyarrow jupyter; macOS .venv/bin/python -m pip install (same list).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the course default stays GitHub Copilot in Posit Assistant, free with GitHub Education. Way 1 uses Claude as the model behind Posit Assistant: Authentication, Configure Language Model Providers, Anthropic, and an API key from the Claude Console (console.anthropic.com, API keys, Create Key). API use is paid per token; a Claude Pro or Max subscription does not include API access. Way 2 is Claude Code, Anthropic's coding agent: the Claude Code extension from the Extensions view (Positron uses the Open VSX registry), or the command-line tool in Positron's terminal. It needs a paid Claude plan or a Claude Console account. It works on the open project folder, runs code and proposes edits you approve.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starts in the open project folder. It reads the files, explains code, writes and runs it, and asks before it changes a file or runs a command. A CLAUDE.md file in the project holds standing instructions, like AGENTS.md for Posit Assistant. Installation in the terminal, as documented by Anthropic: macOS curl -fsSL https://claude.ai/install.sh | bash; Windows PowerShell irm https://claude.ai/install.ps1 | iex. The course rules apply unchanged: you own every number, and the prompts go into your prompt log.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the bridge between the folder on the laptop and GitHub. Show it live with the course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GitHub Desktop: the toolbar shows Current repository, Current branch and the sync button, which reads Fetch origin, Pull origin or Push origin depending on what is waiting. The Changes tab lists edited files; the diff on the right shows removed lines in red and added lines in green.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pull the course repository before every session and work in your own folder, not inside the course repository, so your edits never clash with our updates. Optional: a group repository with commit and push. A merge conflict happens only there, when two people change the same lines; GitHub Desktop lists the files, and Posit Assistant can explain the markers.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for everyone: pull the course repository, copy the case material into the group's own project folder and create the environment there. Groups then choose how to combine their work: the simple way (one member keeps report.qmd, the others send code chunks and text) or a private GitHub repository published from GitHub Desktop. Only the two files uploaded to Canvas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documents. One file holds text, code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Quarto runs the Python cells through Jupyter, writes the results into Markdown and lets Pandoc turn it into HTML, PDF, Word or slides. Since Positron 2026.08 cell output also shows inline in the editor,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YAML is key: value pairs. Nesting is done by indentation, two spaces per level, never tabs. Options for one format sit under that format's name.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options start with #| at the top of a cell. A label starting with fig- makes the chart a numbered figure that @fig-sales refers to. Inline code puts a computed number into the sentence, so the text updates when the data change.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pictures are the same report.qmd rendered four ways (slides/quarto_demo/report.qmd). Typst makes PDFs without installing LaTeX. Positron's Preview shows the first format listed.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can be kept up to date from inside Positron. Course materials still come with a pull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for updates by itself: on Mac and Windows (user installation) it downloads new versions in the background and applies them on restart; Help, Check for Updates checks by hand. Python: Command Palette, Python: Install Python via uv lists the supported versions (3.9 to 3.14) and installs the one you pick; the Start Session button offers the same. A project's .venv cannot be upgraded to a new Python: it is rebuilt (next slide). Packages: when the course requirements.txt changes after a pull, install it again from the console; single packages with --upgrade, or in the Packages pane.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anyone whose check shows Python 3.13 or older, or whose .venv was made with an older Python. All steps stay inside Positron. Stop the Python session first (power icon in the Console), otherwise .venv is in use and cannot be deleted. If the folder sits in OneDrive or Dropbox, pause syncing, or better, move the course folder out of synced folders. Terminal alternative on Windows: py install 3.14, then Remove-Item -Recurse -Force .venv; on macOS the python.org installer and rm -rf .venv.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hyperlink" Target="https://github.com/arnefloh-wu/international-marketing-analytics-teaching/blob/main/test_stack.q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41.png"/><Relationship Id="rId5"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5.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11.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6.png"/><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6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29.png"/><Relationship Id="rId5" Type="http://schemas.openxmlformats.org/officeDocument/2006/relationships/image" Target="../media/image23.png"/><Relationship Id="rId6" Type="http://schemas.openxmlformats.org/officeDocument/2006/relationships/image" Target="../media/image54.png"/><Relationship Id="rId7"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65.png"/><Relationship Id="rId4" Type="http://schemas.openxmlformats.org/officeDocument/2006/relationships/image" Target="../media/image9.png"/><Relationship Id="rId5" Type="http://schemas.openxmlformats.org/officeDocument/2006/relationships/image" Target="../media/image6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7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repository</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Optional: share your group's case study in a repository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7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the course repository</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and pull; push optional</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Start menu →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and pull with clicks; push if your group shares a repository</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(below)</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Repo URL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 URL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Course repository (public)</a:t>
            </a:r>
          </a:p>
        </p:txBody>
      </p:sp>
      <p:sp>
        <p:nvSpPr>
          <p:cNvPr id="22" name="Repo URL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po URL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https://github.com/arnefloh-wu/</a:t>
            </a:r>
          </a:p>
          <a:p>
            <a:pPr algn="l">
              <a:spcAft>
                <a:spcPts val="0"/>
              </a:spcAft>
            </a:pPr>
            <a:r>
              <a:rPr sz="1050" b="0" lang="en-GB">
                <a:solidFill>
                  <a:schemeClr val="bg1"/>
                </a:solidFill>
                <a:latin typeface="Consolas"/>
              </a:rPr>
              <a:t>  international-marketing-analytics-teaching</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Folder: </a:t>
            </a:r>
            <a:r>
              <a:rPr sz="1200" b="0" lang="en-GB">
                <a:solidFill>
                  <a:schemeClr val="tx1"/>
                </a:solidFill>
              </a:rPr>
              <a:t>e.g. C:\Users\anna\wu\ima or ~/wu/ima. Avoid spaces, umlauts and OneDrive or iCloud folders.</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optional: share work in a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Next: </a:t>
            </a:r>
            <a:r>
              <a:rPr sz="1300" b="0" lang="en-GB">
                <a:solidFill>
                  <a:schemeClr val="tx1"/>
                </a:solidFill>
              </a:rPr>
              <a:t>the full test with test_stack.qmd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test the whole stack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install caption bar"/>
          <p:cNvSpPr/>
          <p:nvPr/>
        </p:nvSpPr>
        <p:spPr>
          <a:xfrm>
            <a:off x="457200" y="123444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install caption"/>
          <p:cNvSpPr txBox="1"/>
          <p:nvPr/>
        </p:nvSpPr>
        <p:spPr>
          <a:xfrm>
            <a:off x="566928" y="123444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test_stack.qmd · cells 1 and 2</a:t>
            </a:r>
          </a:p>
        </p:txBody>
      </p:sp>
      <p:sp>
        <p:nvSpPr>
          <p:cNvPr id="12" name="Test install box"/>
          <p:cNvSpPr/>
          <p:nvPr/>
        </p:nvSpPr>
        <p:spPr>
          <a:xfrm>
            <a:off x="457200" y="1508760"/>
            <a:ext cx="411480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install code"/>
          <p:cNvSpPr txBox="1"/>
          <p:nvPr/>
        </p:nvSpPr>
        <p:spPr>
          <a:xfrm>
            <a:off x="594360" y="1600200"/>
            <a:ext cx="3840480" cy="1234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 Install: run once with Ctrl/Cmd + Enter</a:t>
            </a:r>
          </a:p>
          <a:p>
            <a:pPr algn="l">
              <a:spcAft>
                <a:spcPts val="0"/>
              </a:spcAft>
            </a:pPr>
            <a:r>
              <a:rPr sz="1000" b="0" lang="en-GB">
                <a:solidFill>
                  <a:schemeClr val="bg1"/>
                </a:solidFill>
                <a:latin typeface="Consolas"/>
              </a:rPr>
              <a:t>%pip install polars plotnine great-tables \</a:t>
            </a:r>
          </a:p>
          <a:p>
            <a:pPr algn="l">
              <a:spcAft>
                <a:spcPts val="0"/>
              </a:spcAft>
            </a:pPr>
            <a:r>
              <a:rPr sz="1000" b="0" lang="en-GB">
                <a:solidFill>
                  <a:schemeClr val="bg1"/>
                </a:solidFill>
                <a:latin typeface="Consolas"/>
              </a:rPr>
              <a:t>    statsmodels pyarrow jupyter</a:t>
            </a:r>
          </a:p>
          <a:p>
            <a:pPr algn="l">
              <a:spcAft>
                <a:spcPts val="0"/>
              </a:spcAft>
            </a:pPr>
            <a:r>
              <a:rPr sz="1000" b="0" lang="en-GB">
                <a:solidFill>
                  <a:schemeClr val="bg1"/>
                </a:solidFill>
                <a:latin typeface="Consolas"/>
              </a:rPr>
              <a:t># 2 Load</a:t>
            </a:r>
          </a:p>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from great_tables import GT</a:t>
            </a:r>
          </a:p>
          <a:p>
            <a:pPr algn="l">
              <a:spcAft>
                <a:spcPts val="0"/>
              </a:spcAft>
            </a:pPr>
            <a:r>
              <a:rPr sz="1000" b="0" lang="en-GB">
                <a:solidFill>
                  <a:schemeClr val="bg1"/>
                </a:solidFill>
                <a:latin typeface="Consolas"/>
              </a:rPr>
              <a:t>from plotnine import ggplot, aes, geom_line</a:t>
            </a:r>
          </a:p>
        </p:txBody>
      </p:sp>
      <p:sp>
        <p:nvSpPr>
          <p:cNvPr id="14" name="Test polars caption bar"/>
          <p:cNvSpPr/>
          <p:nvPr/>
        </p:nvSpPr>
        <p:spPr>
          <a:xfrm>
            <a:off x="457200" y="301752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polars caption"/>
          <p:cNvSpPr txBox="1"/>
          <p:nvPr/>
        </p:nvSpPr>
        <p:spPr>
          <a:xfrm>
            <a:off x="566928" y="301752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cells 3 and 4</a:t>
            </a:r>
          </a:p>
        </p:txBody>
      </p:sp>
      <p:sp>
        <p:nvSpPr>
          <p:cNvPr id="16" name="Test polars box"/>
          <p:cNvSpPr/>
          <p:nvPr/>
        </p:nvSpPr>
        <p:spPr>
          <a:xfrm>
            <a:off x="457200" y="3291840"/>
            <a:ext cx="411480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polars code"/>
          <p:cNvSpPr txBox="1"/>
          <p:nvPr/>
        </p:nvSpPr>
        <p:spPr>
          <a:xfrm>
            <a:off x="594360" y="3383280"/>
            <a:ext cx="384048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3-4 polars and great_tables</a:t>
            </a:r>
          </a:p>
          <a:p>
            <a:pPr algn="l">
              <a:spcAft>
                <a:spcPts val="0"/>
              </a:spcAft>
            </a:pPr>
            <a:r>
              <a:rPr sz="1000" b="0" lang="en-GB">
                <a:solidFill>
                  <a:schemeClr val="bg1"/>
                </a:solidFill>
                <a:latin typeface="Consolas"/>
              </a:rPr>
              <a:t>sales = pl.read_csv(URL, try_parse_dates=True)</a:t>
            </a:r>
          </a:p>
          <a:p>
            <a:pPr algn="l">
              <a:spcAft>
                <a:spcPts val="0"/>
              </a:spcAft>
            </a:pPr>
            <a:r>
              <a:rPr sz="1000" b="0" lang="en-GB">
                <a:solidFill>
                  <a:schemeClr val="bg1"/>
                </a:solidFill>
                <a:latin typeface="Consolas"/>
              </a:rPr>
              <a:t>summary = (sales</a:t>
            </a:r>
          </a:p>
          <a:p>
            <a:pPr algn="l">
              <a:spcAft>
                <a:spcPts val="0"/>
              </a:spcAft>
            </a:pPr>
            <a:r>
              <a:rPr sz="1000" b="0" lang="en-GB">
                <a:solidFill>
                  <a:schemeClr val="bg1"/>
                </a:solidFill>
                <a:latin typeface="Consolas"/>
              </a:rPr>
              <a:t>  .filter(pl.col("week").dt.year() == 2025)</a:t>
            </a:r>
          </a:p>
          <a:p>
            <a:pPr algn="l">
              <a:spcAft>
                <a:spcPts val="0"/>
              </a:spcAft>
            </a:pPr>
            <a:r>
              <a:rPr sz="1000" b="0" lang="en-GB">
                <a:solidFill>
                  <a:schemeClr val="bg1"/>
                </a:solidFill>
                <a:latin typeface="Consolas"/>
              </a:rPr>
              <a:t>  .group_by("country")</a:t>
            </a:r>
          </a:p>
          <a:p>
            <a:pPr algn="l">
              <a:spcAft>
                <a:spcPts val="0"/>
              </a:spcAft>
            </a:pPr>
            <a:r>
              <a:rPr sz="1000" b="0" lang="en-GB">
                <a:solidFill>
                  <a:schemeClr val="bg1"/>
                </a:solidFill>
                <a:latin typeface="Consolas"/>
              </a:rPr>
              <a:t>  .agg(pl.col("revenue_eur_k").sum()))</a:t>
            </a:r>
          </a:p>
          <a:p>
            <a:pPr algn="l">
              <a:spcAft>
                <a:spcPts val="0"/>
              </a:spcAft>
            </a:pPr>
            <a:r>
              <a:rPr sz="1000" b="0" lang="en-GB">
                <a:solidFill>
                  <a:schemeClr val="bg1"/>
                </a:solidFill>
                <a:latin typeface="Consolas"/>
              </a:rPr>
              <a:t>GT(summary)</a:t>
            </a:r>
          </a:p>
        </p:txBody>
      </p:sp>
      <p:sp>
        <p:nvSpPr>
          <p:cNvPr id="18" name="Test plotnine caption bar"/>
          <p:cNvSpPr/>
          <p:nvPr/>
        </p:nvSpPr>
        <p:spPr>
          <a:xfrm>
            <a:off x="4709160" y="123444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plotnine caption"/>
          <p:cNvSpPr txBox="1"/>
          <p:nvPr/>
        </p:nvSpPr>
        <p:spPr>
          <a:xfrm>
            <a:off x="4818888" y="123444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5</a:t>
            </a:r>
          </a:p>
        </p:txBody>
      </p:sp>
      <p:sp>
        <p:nvSpPr>
          <p:cNvPr id="20" name="Test plotnine box"/>
          <p:cNvSpPr/>
          <p:nvPr/>
        </p:nvSpPr>
        <p:spPr>
          <a:xfrm>
            <a:off x="4709160" y="1508760"/>
            <a:ext cx="3977640" cy="10058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plotnine code"/>
          <p:cNvSpPr txBox="1"/>
          <p:nvPr/>
        </p:nvSpPr>
        <p:spPr>
          <a:xfrm>
            <a:off x="4846320" y="1600200"/>
            <a:ext cx="3703320" cy="82296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5 plotnine: weekly sales, AT and DE</a:t>
            </a:r>
          </a:p>
          <a:p>
            <a:pPr algn="l">
              <a:spcAft>
                <a:spcPts val="0"/>
              </a:spcAft>
            </a:pPr>
            <a:r>
              <a:rPr sz="1000" b="0" lang="en-GB">
                <a:solidFill>
                  <a:schemeClr val="bg1"/>
                </a:solidFill>
                <a:latin typeface="Consolas"/>
              </a:rPr>
              <a:t>two = sales.filter(</a:t>
            </a:r>
          </a:p>
          <a:p>
            <a:pPr algn="l">
              <a:spcAft>
                <a:spcPts val="0"/>
              </a:spcAft>
            </a:pPr>
            <a:r>
              <a:rPr sz="1000" b="0" lang="en-GB">
                <a:solidFill>
                  <a:schemeClr val="bg1"/>
                </a:solidFill>
                <a:latin typeface="Consolas"/>
              </a:rPr>
              <a:t>    pl.col("country").is_in(["AT", "DE"]))</a:t>
            </a:r>
          </a:p>
          <a:p>
            <a:pPr algn="l">
              <a:spcAft>
                <a:spcPts val="0"/>
              </a:spcAft>
            </a:pPr>
            <a:r>
              <a:rPr sz="1000" b="0" lang="en-GB">
                <a:solidFill>
                  <a:schemeClr val="bg1"/>
                </a:solidFill>
                <a:latin typeface="Consolas"/>
              </a:rPr>
              <a:t>ggplot(two, aes("week", "sales_units_k",</a:t>
            </a:r>
          </a:p>
          <a:p>
            <a:pPr algn="l">
              <a:spcAft>
                <a:spcPts val="0"/>
              </a:spcAft>
            </a:pPr>
            <a:r>
              <a:rPr sz="1000" b="0" lang="en-GB">
                <a:solidFill>
                  <a:schemeClr val="bg1"/>
                </a:solidFill>
                <a:latin typeface="Consolas"/>
              </a:rPr>
              <a:t>                color="country")) + geom_line()</a:t>
            </a:r>
          </a:p>
        </p:txBody>
      </p:sp>
      <p:sp>
        <p:nvSpPr>
          <p:cNvPr id="22" name="Test statsmodels caption bar"/>
          <p:cNvSpPr/>
          <p:nvPr/>
        </p:nvSpPr>
        <p:spPr>
          <a:xfrm>
            <a:off x="4709160" y="2587752"/>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smodels caption"/>
          <p:cNvSpPr txBox="1"/>
          <p:nvPr/>
        </p:nvSpPr>
        <p:spPr>
          <a:xfrm>
            <a:off x="4818888" y="2587752"/>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6</a:t>
            </a:r>
          </a:p>
        </p:txBody>
      </p:sp>
      <p:sp>
        <p:nvSpPr>
          <p:cNvPr id="24" name="Test statsmodels box"/>
          <p:cNvSpPr/>
          <p:nvPr/>
        </p:nvSpPr>
        <p:spPr>
          <a:xfrm>
            <a:off x="4709160" y="2862072"/>
            <a:ext cx="397764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statsmodels code"/>
          <p:cNvSpPr txBox="1"/>
          <p:nvPr/>
        </p:nvSpPr>
        <p:spPr>
          <a:xfrm>
            <a:off x="4846320" y="2953512"/>
            <a:ext cx="3703320" cy="8686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6 statsmodels: regression for Austria</a:t>
            </a:r>
          </a:p>
          <a:p>
            <a:pPr algn="l">
              <a:spcAft>
                <a:spcPts val="0"/>
              </a:spcAft>
            </a:pPr>
            <a:r>
              <a:rPr sz="1000" b="0" lang="en-GB">
                <a:solidFill>
                  <a:schemeClr val="bg1"/>
                </a:solidFill>
                <a:latin typeface="Consolas"/>
              </a:rPr>
              <a:t>at = sales.filter(</a:t>
            </a:r>
          </a:p>
          <a:p>
            <a:pPr algn="l">
              <a:spcAft>
                <a:spcPts val="0"/>
              </a:spcAft>
            </a:pPr>
            <a:r>
              <a:rPr sz="1000" b="0" lang="en-GB">
                <a:solidFill>
                  <a:schemeClr val="bg1"/>
                </a:solidFill>
                <a:latin typeface="Consolas"/>
              </a:rPr>
              <a:t>    pl.col("country") == "AT").to_pandas()</a:t>
            </a:r>
          </a:p>
          <a:p>
            <a:pPr algn="l">
              <a:spcAft>
                <a:spcPts val="0"/>
              </a:spcAft>
            </a:pPr>
            <a:r>
              <a:rPr sz="1000" b="0" lang="en-GB">
                <a:solidFill>
                  <a:schemeClr val="bg1"/>
                </a:solidFill>
                <a:latin typeface="Consolas"/>
              </a:rPr>
              <a:t>model = smf.ols("sales_units_k ~ price_eur"</a:t>
            </a:r>
          </a:p>
          <a:p>
            <a:pPr algn="l">
              <a:spcAft>
                <a:spcPts val="0"/>
              </a:spcAft>
            </a:pPr>
            <a:r>
              <a:rPr sz="1000" b="0" lang="en-GB">
                <a:solidFill>
                  <a:schemeClr val="bg1"/>
                </a:solidFill>
                <a:latin typeface="Consolas"/>
              </a:rPr>
              <a:t>    " + spend_tv_k + spend_paid_search_k",</a:t>
            </a:r>
          </a:p>
          <a:p>
            <a:pPr algn="l">
              <a:spcAft>
                <a:spcPts val="0"/>
              </a:spcAft>
            </a:pPr>
            <a:r>
              <a:rPr sz="1000" b="0" lang="en-GB">
                <a:solidFill>
                  <a:schemeClr val="bg1"/>
                </a:solidFill>
                <a:latin typeface="Consolas"/>
              </a:rPr>
              <a:t>    data=at).fit()</a:t>
            </a:r>
          </a:p>
        </p:txBody>
      </p:sp>
      <p:sp>
        <p:nvSpPr>
          <p:cNvPr id="26" name="Venv fix box"/>
          <p:cNvSpPr/>
          <p:nvPr/>
        </p:nvSpPr>
        <p:spPr>
          <a:xfrm>
            <a:off x="4709160" y="3986784"/>
            <a:ext cx="397764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env fix bar"/>
          <p:cNvSpPr/>
          <p:nvPr/>
        </p:nvSpPr>
        <p:spPr>
          <a:xfrm>
            <a:off x="4709160" y="398678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Venv fix text"/>
          <p:cNvSpPr txBox="1"/>
          <p:nvPr/>
        </p:nvSpPr>
        <p:spPr>
          <a:xfrm>
            <a:off x="4864608" y="3986784"/>
            <a:ext cx="3776472" cy="585216"/>
          </a:xfrm>
          <a:prstGeom prst="rect">
            <a:avLst/>
          </a:prstGeom>
          <a:noFill/>
        </p:spPr>
        <p:txBody>
          <a:bodyPr wrap="square" lIns="0" rIns="0" tIns="0" bIns="0" anchor="ctr">
            <a:noAutofit/>
          </a:bodyPr>
          <a:lstStyle/>
          <a:p>
            <a:pPr algn="l">
              <a:spcAft>
                <a:spcPts val="200"/>
              </a:spcAft>
            </a:pPr>
            <a:r>
              <a:rPr sz="1100" b="1" lang="en-GB">
                <a:solidFill>
                  <a:schemeClr val="tx2"/>
                </a:solidFill>
              </a:rPr>
              <a:t>No module named 'yaml'? </a:t>
            </a:r>
            <a:r>
              <a:rPr sz="1100" b="0" lang="en-GB">
                <a:solidFill>
                  <a:schemeClr val="tx1"/>
                </a:solidFill>
              </a:rPr>
              <a:t>Install into the .venv:</a:t>
            </a:r>
          </a:p>
          <a:p>
            <a:pPr algn="l">
              <a:spcAft>
                <a:spcPts val="200"/>
              </a:spcAft>
            </a:pPr>
            <a:r>
              <a:rPr sz="1050" b="0" lang="en-GB">
                <a:solidFill>
                  <a:schemeClr val="tx2"/>
                </a:solidFill>
                <a:latin typeface="Consolas"/>
              </a:rPr>
              <a:t>.venv\Scripts\python -m pip install …</a:t>
            </a:r>
          </a:p>
        </p:txBody>
      </p:sp>
      <p:sp>
        <p:nvSpPr>
          <p:cNvPr id="29" name="Test run box"/>
          <p:cNvSpPr/>
          <p:nvPr/>
        </p:nvSpPr>
        <p:spPr>
          <a:xfrm>
            <a:off x="457200" y="4645152"/>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test download" descr=""/>
          <p:cNvPicPr>
            <a:picLocks noChangeAspect="1"/>
          </p:cNvPicPr>
          <p:nvPr/>
        </p:nvPicPr>
        <p:blipFill>
          <a:blip r:embed="rId3"/>
          <a:stretch>
            <a:fillRect/>
          </a:stretch>
        </p:blipFill>
        <p:spPr>
          <a:xfrm>
            <a:off x="621792" y="4700016"/>
            <a:ext cx="365760" cy="365760"/>
          </a:xfrm>
          <a:prstGeom prst="rect">
            <a:avLst/>
          </a:prstGeom>
        </p:spPr>
      </p:pic>
      <p:sp>
        <p:nvSpPr>
          <p:cNvPr id="31" name="Test run text"/>
          <p:cNvSpPr txBox="1"/>
          <p:nvPr/>
        </p:nvSpPr>
        <p:spPr>
          <a:xfrm>
            <a:off x="1143000" y="4645152"/>
            <a:ext cx="7452360" cy="475488"/>
          </a:xfrm>
          <a:prstGeom prst="rect">
            <a:avLst/>
          </a:prstGeom>
          <a:noFill/>
        </p:spPr>
        <p:txBody>
          <a:bodyPr wrap="square" lIns="0" rIns="0" tIns="0" bIns="0" anchor="ctr">
            <a:noAutofit/>
          </a:bodyPr>
          <a:lstStyle/>
          <a:p>
            <a:pPr algn="l">
              <a:spcAft>
                <a:spcPts val="0"/>
              </a:spcAft>
            </a:pPr>
            <a:r>
              <a:rPr sz="1150" b="1" lang="en-GB">
                <a:solidFill>
                  <a:schemeClr val="tx2"/>
                </a:solidFill>
              </a:rPr>
              <a:t>Download: </a:t>
            </a:r>
            <a:r>
              <a:rPr sz="1150" b="0" lang="en-GB">
                <a:solidFill>
                  <a:schemeClr val="accent1"/>
                </a:solidFill>
                <a:hlinkClick r:id="rId4"/>
              </a:rPr>
              <a:t>test_stack.qmd on GitHub</a:t>
            </a:r>
            <a:r>
              <a:rPr sz="1150" b="0" lang="en-GB">
                <a:solidFill>
                  <a:schemeClr val="tx1"/>
                </a:solidFill>
              </a:rPr>
              <a:t> (button Download raw file) or on Canvas</a:t>
            </a:r>
          </a:p>
          <a:p>
            <a:pPr algn="l">
              <a:spcAft>
                <a:spcPts val="0"/>
              </a:spcAft>
            </a:pPr>
            <a:r>
              <a:rPr sz="1150" b="1" lang="en-GB">
                <a:solidFill>
                  <a:schemeClr val="tx2"/>
                </a:solidFill>
              </a:rPr>
              <a:t>Run it: </a:t>
            </a:r>
            <a:r>
              <a:rPr sz="1150" b="0" lang="en-GB">
                <a:solidFill>
                  <a:schemeClr val="tx1"/>
                </a:solidFill>
              </a:rPr>
              <a:t>pick Python 3.14.8 (.venv), run cell 1 once, then Preview (Ctrl/Cmd + Shift + 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7 · panes, running code, projects, shortcuts, Posit Assistant, Claude</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Positron: two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way 1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aude way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aude way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Claude in Posit Assistant</a:t>
            </a:r>
          </a:p>
        </p:txBody>
      </p:sp>
      <p:pic>
        <p:nvPicPr>
          <p:cNvPr id="13" name="Icon Claude way 1" descr=""/>
          <p:cNvPicPr>
            <a:picLocks noChangeAspect="1"/>
          </p:cNvPicPr>
          <p:nvPr/>
        </p:nvPicPr>
        <p:blipFill>
          <a:blip r:embed="rId3"/>
          <a:stretch>
            <a:fillRect/>
          </a:stretch>
        </p:blipFill>
        <p:spPr>
          <a:xfrm>
            <a:off x="4064508" y="1284732"/>
            <a:ext cx="310896" cy="310896"/>
          </a:xfrm>
          <a:prstGeom prst="rect">
            <a:avLst/>
          </a:prstGeom>
        </p:spPr>
      </p:pic>
      <p:sp>
        <p:nvSpPr>
          <p:cNvPr id="14" name="Claude way 1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Command Palette → Authentication: Configure Language Model Providers → Anthropic</a:t>
            </a:r>
          </a:p>
          <a:p>
            <a:pPr algn="l" marL="182880" indent="-182880">
              <a:spcAft>
                <a:spcPts val="600"/>
              </a:spcAft>
              <a:buClr>
                <a:schemeClr val="accent1"/>
              </a:buClr>
              <a:buFont typeface="Arial"/>
              <a:buChar char="▪"/>
            </a:pPr>
            <a:r>
              <a:rPr sz="1300" b="0" lang="en-GB">
                <a:solidFill>
                  <a:schemeClr val="tx1"/>
                </a:solidFill>
              </a:rPr>
              <a:t>Paste an API key from the Claude Console</a:t>
            </a:r>
          </a:p>
          <a:p>
            <a:pPr algn="l" marL="182880" indent="-182880">
              <a:spcAft>
                <a:spcPts val="600"/>
              </a:spcAft>
              <a:buClr>
                <a:schemeClr val="accent1"/>
              </a:buClr>
              <a:buFont typeface="Arial"/>
              <a:buChar char="▪"/>
            </a:pPr>
            <a:r>
              <a:rPr sz="1300" b="0" lang="en-GB">
                <a:solidFill>
                  <a:schemeClr val="tx1"/>
                </a:solidFill>
              </a:rPr>
              <a:t>Pick a Claude model in the chat</a:t>
            </a:r>
          </a:p>
        </p:txBody>
      </p:sp>
      <p:sp>
        <p:nvSpPr>
          <p:cNvPr id="15" name="Claude way 2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way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aude way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Claude Code, the agent</a:t>
            </a:r>
          </a:p>
        </p:txBody>
      </p:sp>
      <p:pic>
        <p:nvPicPr>
          <p:cNvPr id="18" name="Icon Claude way 2" descr=""/>
          <p:cNvPicPr>
            <a:picLocks noChangeAspect="1"/>
          </p:cNvPicPr>
          <p:nvPr/>
        </p:nvPicPr>
        <p:blipFill>
          <a:blip r:embed="rId4"/>
          <a:stretch>
            <a:fillRect/>
          </a:stretch>
        </p:blipFill>
        <p:spPr>
          <a:xfrm>
            <a:off x="8247888" y="1284732"/>
            <a:ext cx="310896" cy="310896"/>
          </a:xfrm>
          <a:prstGeom prst="rect">
            <a:avLst/>
          </a:prstGeom>
        </p:spPr>
      </p:pic>
      <p:sp>
        <p:nvSpPr>
          <p:cNvPr id="19" name="Claude way 2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Extensions view: search Claude Code (Anthropic), Install</a:t>
            </a:r>
          </a:p>
          <a:p>
            <a:pPr algn="l" marL="182880" indent="-182880">
              <a:spcAft>
                <a:spcPts val="600"/>
              </a:spcAft>
              <a:buClr>
                <a:schemeClr val="accent1"/>
              </a:buClr>
              <a:buFont typeface="Arial"/>
              <a:buChar char="▪"/>
            </a:pPr>
            <a:r>
              <a:rPr sz="1300" b="0" lang="en-GB">
                <a:solidFill>
                  <a:schemeClr val="tx1"/>
                </a:solidFill>
              </a:rPr>
              <a:t>Or run claude in the Positron terminal</a:t>
            </a:r>
          </a:p>
          <a:p>
            <a:pPr algn="l" marL="182880" indent="-182880">
              <a:spcAft>
                <a:spcPts val="600"/>
              </a:spcAft>
              <a:buClr>
                <a:schemeClr val="accent1"/>
              </a:buClr>
              <a:buFont typeface="Arial"/>
              <a:buChar char="▪"/>
            </a:pPr>
            <a:r>
              <a:rPr sz="1300" b="0" lang="en-GB">
                <a:solidFill>
                  <a:schemeClr val="tx1"/>
                </a:solidFill>
              </a:rPr>
              <a:t>Sign in with a paid Claude plan or Console account</a:t>
            </a:r>
          </a:p>
        </p:txBody>
      </p:sp>
      <p:sp>
        <p:nvSpPr>
          <p:cNvPr id="20" name="Claude cost box"/>
          <p:cNvSpPr/>
          <p:nvPr/>
        </p:nvSpPr>
        <p:spPr>
          <a:xfrm>
            <a:off x="457200" y="38862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laude cost text"/>
          <p:cNvSpPr txBox="1"/>
          <p:nvPr/>
        </p:nvSpPr>
        <p:spPr>
          <a:xfrm>
            <a:off x="640080" y="3886200"/>
            <a:ext cx="795528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Costs: </a:t>
            </a:r>
            <a:r>
              <a:rPr sz="1200" b="0" lang="en-GB">
                <a:solidFill>
                  <a:schemeClr val="tx1"/>
                </a:solidFill>
              </a:rPr>
              <a:t>API keys are paid per use; Claude Pro or Max does not include API access.</a:t>
            </a:r>
          </a:p>
        </p:txBody>
      </p:sp>
      <p:sp>
        <p:nvSpPr>
          <p:cNvPr id="22" name="Claude optional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laude optional" descr=""/>
          <p:cNvPicPr>
            <a:picLocks noChangeAspect="1"/>
          </p:cNvPicPr>
          <p:nvPr/>
        </p:nvPicPr>
        <p:blipFill>
          <a:blip r:embed="rId5"/>
          <a:stretch>
            <a:fillRect/>
          </a:stretch>
        </p:blipFill>
        <p:spPr>
          <a:xfrm>
            <a:off x="658368" y="4608576"/>
            <a:ext cx="384048" cy="384048"/>
          </a:xfrm>
          <a:prstGeom prst="rect">
            <a:avLst/>
          </a:prstGeom>
        </p:spPr>
      </p:pic>
      <p:sp>
        <p:nvSpPr>
          <p:cNvPr id="24" name="Claude optional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Optional: </a:t>
            </a:r>
            <a:r>
              <a:rPr sz="1300" b="0" lang="en-GB">
                <a:solidFill>
                  <a:schemeClr val="bg1"/>
                </a:solidFill>
              </a:rPr>
              <a:t>the course default is GitHub Copilot, free with GitHub Education. Never share your API key.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Claude Code in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Open your</a:t>
            </a:r>
            <a:br/>
            <a:r>
              <a:rPr sz="1200" b="1" lang="en-GB">
                <a:solidFill>
                  <a:schemeClr val="tx2"/>
                </a:solidFill>
              </a:rPr>
              <a:t>project</a:t>
            </a:r>
          </a:p>
        </p:txBody>
      </p:sp>
      <p:sp>
        <p:nvSpPr>
          <p:cNvPr id="11" name="Claud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Start</a:t>
            </a:r>
            <a:br/>
            <a:r>
              <a:rPr sz="1200" b="1" lang="en-GB">
                <a:solidFill>
                  <a:schemeClr val="tx2"/>
                </a:solidFill>
              </a:rPr>
              <a:t>Claude</a:t>
            </a:r>
          </a:p>
        </p:txBody>
      </p:sp>
      <p:sp>
        <p:nvSpPr>
          <p:cNvPr id="12" name="Claud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Ask in plain</a:t>
            </a:r>
            <a:br/>
            <a:r>
              <a:rPr sz="1200" b="1" lang="en-GB">
                <a:solidFill>
                  <a:schemeClr val="tx2"/>
                </a:solidFill>
              </a:rPr>
              <a:t>English</a:t>
            </a:r>
          </a:p>
        </p:txBody>
      </p:sp>
      <p:sp>
        <p:nvSpPr>
          <p:cNvPr id="13" name="Claud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Approve</a:t>
            </a:r>
            <a:br/>
            <a:r>
              <a:rPr sz="1200" b="1" lang="en-GB">
                <a:solidFill>
                  <a:schemeClr val="tx2"/>
                </a:solidFill>
              </a:rPr>
              <a:t>changes</a:t>
            </a:r>
          </a:p>
        </p:txBody>
      </p:sp>
      <p:sp>
        <p:nvSpPr>
          <p:cNvPr id="14" name="Claud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Run and</a:t>
            </a:r>
            <a:br/>
            <a:r>
              <a:rPr sz="1200" b="1" lang="en-GB">
                <a:solidFill>
                  <a:schemeClr val="tx2"/>
                </a:solidFill>
              </a:rPr>
              <a:t>check</a:t>
            </a:r>
          </a:p>
        </p:txBody>
      </p:sp>
      <p:sp>
        <p:nvSpPr>
          <p:cNvPr id="15" name="Claude install caption bar"/>
          <p:cNvSpPr/>
          <p:nvPr/>
        </p:nvSpPr>
        <p:spPr>
          <a:xfrm>
            <a:off x="457200" y="19202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install caption"/>
          <p:cNvSpPr txBox="1"/>
          <p:nvPr/>
        </p:nvSpPr>
        <p:spPr>
          <a:xfrm>
            <a:off x="566928" y="19202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terminal: Windows, macOS, then start</a:t>
            </a:r>
          </a:p>
        </p:txBody>
      </p:sp>
      <p:sp>
        <p:nvSpPr>
          <p:cNvPr id="17" name="Claude install box"/>
          <p:cNvSpPr/>
          <p:nvPr/>
        </p:nvSpPr>
        <p:spPr>
          <a:xfrm>
            <a:off x="457200" y="2194560"/>
            <a:ext cx="406908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laude install code"/>
          <p:cNvSpPr txBox="1"/>
          <p:nvPr/>
        </p:nvSpPr>
        <p:spPr>
          <a:xfrm>
            <a:off x="594360" y="2286000"/>
            <a:ext cx="379476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irm https://claude.ai/install.ps1 | iex</a:t>
            </a:r>
          </a:p>
          <a:p>
            <a:pPr algn="l">
              <a:spcAft>
                <a:spcPts val="0"/>
              </a:spcAft>
            </a:pPr>
            <a:r>
              <a:rPr sz="1050" b="0" lang="en-GB">
                <a:solidFill>
                  <a:schemeClr val="bg1"/>
                </a:solidFill>
                <a:latin typeface="Consolas"/>
              </a:rPr>
              <a:t>curl -fsSL https://claude.ai/install.sh | bash</a:t>
            </a:r>
          </a:p>
          <a:p>
            <a:pPr algn="l">
              <a:spcAft>
                <a:spcPts val="0"/>
              </a:spcAft>
            </a:pPr>
            <a:r>
              <a:rPr sz="1050" b="0" lang="en-GB">
                <a:solidFill>
                  <a:schemeClr val="bg1"/>
                </a:solidFill>
                <a:latin typeface="Consolas"/>
              </a:rPr>
              <a:t>claude</a:t>
            </a:r>
          </a:p>
        </p:txBody>
      </p:sp>
      <p:sp>
        <p:nvSpPr>
          <p:cNvPr id="19" name="Claude memory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laude memory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standing instructions</a:t>
            </a:r>
          </a:p>
        </p:txBody>
      </p:sp>
      <p:sp>
        <p:nvSpPr>
          <p:cNvPr id="21" name="Claude memory box"/>
          <p:cNvSpPr/>
          <p:nvPr/>
        </p:nvSpPr>
        <p:spPr>
          <a:xfrm>
            <a:off x="4663440" y="2194560"/>
            <a:ext cx="402336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laude memory code"/>
          <p:cNvSpPr txBox="1"/>
          <p:nvPr/>
        </p:nvSpPr>
        <p:spPr>
          <a:xfrm>
            <a:off x="4800600" y="2286000"/>
            <a:ext cx="374904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use polars, plotnine, great_tables and</a:t>
            </a:r>
          </a:p>
          <a:p>
            <a:pPr algn="l">
              <a:spcAft>
                <a:spcPts val="0"/>
              </a:spcAft>
            </a:pPr>
            <a:r>
              <a:rPr sz="1050" b="0" lang="en-GB">
                <a:solidFill>
                  <a:schemeClr val="bg1"/>
                </a:solidFill>
                <a:latin typeface="Consolas"/>
              </a:rPr>
              <a:t>statsmodels only; explain every model</a:t>
            </a:r>
          </a:p>
          <a:p>
            <a:pPr algn="l">
              <a:spcAft>
                <a:spcPts val="0"/>
              </a:spcAft>
            </a:pPr>
            <a:r>
              <a:rPr sz="1050" b="0" lang="en-GB">
                <a:solidFill>
                  <a:schemeClr val="bg1"/>
                </a:solidFill>
                <a:latin typeface="Consolas"/>
              </a:rPr>
              <a:t>in two sentences</a:t>
            </a:r>
          </a:p>
        </p:txBody>
      </p:sp>
      <p:sp>
        <p:nvSpPr>
          <p:cNvPr id="23" name="Claude prompts caption bar"/>
          <p:cNvSpPr/>
          <p:nvPr/>
        </p:nvSpPr>
        <p:spPr>
          <a:xfrm>
            <a:off x="457200" y="320040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laude prompts caption"/>
          <p:cNvSpPr txBox="1"/>
          <p:nvPr/>
        </p:nvSpPr>
        <p:spPr>
          <a:xfrm>
            <a:off x="566928" y="320040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Good prompts</a:t>
            </a:r>
          </a:p>
        </p:txBody>
      </p:sp>
      <p:sp>
        <p:nvSpPr>
          <p:cNvPr id="25" name="Claude prompts box"/>
          <p:cNvSpPr/>
          <p:nvPr/>
        </p:nvSpPr>
        <p:spPr>
          <a:xfrm>
            <a:off x="457200" y="347472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laude prompts code"/>
          <p:cNvSpPr txBox="1"/>
          <p:nvPr/>
        </p:nvSpPr>
        <p:spPr>
          <a:xfrm>
            <a:off x="594360" y="3566160"/>
            <a:ext cx="795528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"Read test_stack.qmd and explain each cell in one sentence."</a:t>
            </a:r>
          </a:p>
          <a:p>
            <a:pPr algn="l">
              <a:spcAft>
                <a:spcPts val="0"/>
              </a:spcAft>
            </a:pPr>
            <a:r>
              <a:rPr sz="1050" b="0" lang="en-GB">
                <a:solidFill>
                  <a:schemeClr val="bg1"/>
                </a:solidFill>
                <a:latin typeface="Consolas"/>
              </a:rPr>
              <a:t>"Add a residual plot to my regression; do not change the data."</a:t>
            </a:r>
          </a:p>
        </p:txBody>
      </p:sp>
      <p:sp>
        <p:nvSpPr>
          <p:cNvPr id="27" name="Claude rules box"/>
          <p:cNvSpPr/>
          <p:nvPr/>
        </p:nvSpPr>
        <p:spPr>
          <a:xfrm>
            <a:off x="457200" y="42062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laude rules" descr=""/>
          <p:cNvPicPr>
            <a:picLocks noChangeAspect="1"/>
          </p:cNvPicPr>
          <p:nvPr/>
        </p:nvPicPr>
        <p:blipFill>
          <a:blip r:embed="rId3"/>
          <a:stretch>
            <a:fillRect/>
          </a:stretch>
        </p:blipFill>
        <p:spPr>
          <a:xfrm>
            <a:off x="658368" y="4357116"/>
            <a:ext cx="384048" cy="384048"/>
          </a:xfrm>
          <a:prstGeom prst="rect">
            <a:avLst/>
          </a:prstGeom>
        </p:spPr>
      </p:pic>
      <p:sp>
        <p:nvSpPr>
          <p:cNvPr id="29" name="Claude rules text"/>
          <p:cNvSpPr txBox="1"/>
          <p:nvPr/>
        </p:nvSpPr>
        <p:spPr>
          <a:xfrm>
            <a:off x="1234440" y="420624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Same rules as for any AI: </a:t>
            </a:r>
            <a:r>
              <a:rPr sz="1300" b="0" lang="en-GB">
                <a:solidFill>
                  <a:schemeClr val="bg1"/>
                </a:solidFill>
              </a:rPr>
              <a:t>you own every number, keep a prompt log, and never paste personal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7 · the window, the everyday workflow, working as a group</a:t>
            </a:r>
          </a:p>
        </p:txBody>
      </p:sp>
      <p:sp>
        <p:nvSpPr>
          <p:cNvPr id="3" name="Title 2"/>
          <p:cNvSpPr>
            <a:spLocks noGrp="1"/>
          </p:cNvSpPr>
          <p:nvPr>
            <p:ph type="ctrTitle"/>
          </p:nvPr>
        </p:nvSpPr>
        <p:spPr/>
        <p:txBody>
          <a:bodyPr/>
          <a:lstStyle/>
          <a:p>
            <a:r>
              <a:rPr sz="1600" lang="en-GB"/>
              <a:t>Work with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Desktop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D toolbar"/>
          <p:cNvSpPr/>
          <p:nvPr/>
        </p:nvSpPr>
        <p:spPr>
          <a:xfrm>
            <a:off x="457200" y="1234440"/>
            <a:ext cx="530352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D seg 1"/>
          <p:cNvSpPr txBox="1"/>
          <p:nvPr/>
        </p:nvSpPr>
        <p:spPr>
          <a:xfrm>
            <a:off x="868680" y="1234440"/>
            <a:ext cx="182880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repository</a:t>
            </a:r>
          </a:p>
          <a:p>
            <a:pPr algn="l">
              <a:spcAft>
                <a:spcPts val="0"/>
              </a:spcAft>
            </a:pPr>
            <a:r>
              <a:rPr sz="1050" b="1" lang="en-GB">
                <a:solidFill>
                  <a:schemeClr val="bg1"/>
                </a:solidFill>
              </a:rPr>
              <a:t>ima-teaching ▾</a:t>
            </a:r>
          </a:p>
        </p:txBody>
      </p:sp>
      <p:sp>
        <p:nvSpPr>
          <p:cNvPr id="12" name="GD badge 1"/>
          <p:cNvSpPr/>
          <p:nvPr/>
        </p:nvSpPr>
        <p:spPr>
          <a:xfrm>
            <a:off x="54864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3" name="GD seg 2"/>
          <p:cNvSpPr txBox="1"/>
          <p:nvPr/>
        </p:nvSpPr>
        <p:spPr>
          <a:xfrm>
            <a:off x="3063240" y="1234440"/>
            <a:ext cx="105156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branch</a:t>
            </a:r>
          </a:p>
          <a:p>
            <a:pPr algn="l">
              <a:spcAft>
                <a:spcPts val="0"/>
              </a:spcAft>
            </a:pPr>
            <a:r>
              <a:rPr sz="1050" b="1" lang="en-GB">
                <a:solidFill>
                  <a:schemeClr val="bg1"/>
                </a:solidFill>
              </a:rPr>
              <a:t>main ▾</a:t>
            </a:r>
          </a:p>
        </p:txBody>
      </p:sp>
      <p:sp>
        <p:nvSpPr>
          <p:cNvPr id="14" name="GD badge 2"/>
          <p:cNvSpPr/>
          <p:nvPr/>
        </p:nvSpPr>
        <p:spPr>
          <a:xfrm>
            <a:off x="274320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GD seg 3"/>
          <p:cNvSpPr txBox="1"/>
          <p:nvPr/>
        </p:nvSpPr>
        <p:spPr>
          <a:xfrm>
            <a:off x="4480560" y="1234440"/>
            <a:ext cx="1234440" cy="548640"/>
          </a:xfrm>
          <a:prstGeom prst="rect">
            <a:avLst/>
          </a:prstGeom>
          <a:noFill/>
        </p:spPr>
        <p:txBody>
          <a:bodyPr wrap="square" lIns="0" rIns="0" tIns="0" bIns="0" anchor="ctr">
            <a:noAutofit/>
          </a:bodyPr>
          <a:lstStyle/>
          <a:p>
            <a:pPr algn="l">
              <a:spcAft>
                <a:spcPts val="0"/>
              </a:spcAft>
            </a:pPr>
            <a:r>
              <a:rPr sz="1050" b="0" lang="en-GB">
                <a:solidFill>
                  <a:schemeClr val="bg1"/>
                </a:solidFill>
              </a:rPr>
              <a:t>Fetch origin</a:t>
            </a:r>
          </a:p>
          <a:p>
            <a:pPr algn="l">
              <a:spcAft>
                <a:spcPts val="0"/>
              </a:spcAft>
            </a:pPr>
            <a:r>
              <a:rPr sz="1050" b="1" lang="en-GB">
                <a:solidFill>
                  <a:schemeClr val="bg1"/>
                </a:solidFill>
              </a:rPr>
              <a:t>↻ now</a:t>
            </a:r>
          </a:p>
        </p:txBody>
      </p:sp>
      <p:sp>
        <p:nvSpPr>
          <p:cNvPr id="16" name="GD badge 3"/>
          <p:cNvSpPr/>
          <p:nvPr/>
        </p:nvSpPr>
        <p:spPr>
          <a:xfrm>
            <a:off x="416052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7" name="GD left"/>
          <p:cNvSpPr/>
          <p:nvPr/>
        </p:nvSpPr>
        <p:spPr>
          <a:xfrm>
            <a:off x="457200" y="1828800"/>
            <a:ext cx="219456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GD tabs"/>
          <p:cNvSpPr txBox="1"/>
          <p:nvPr/>
        </p:nvSpPr>
        <p:spPr>
          <a:xfrm>
            <a:off x="868680" y="1874520"/>
            <a:ext cx="173736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Changes (2)</a:t>
            </a:r>
            <a:r>
              <a:rPr sz="1100" b="0" lang="en-GB">
                <a:solidFill>
                  <a:schemeClr val="tx1"/>
                </a:solidFill>
              </a:rPr>
              <a:t>   History</a:t>
            </a:r>
          </a:p>
        </p:txBody>
      </p:sp>
      <p:sp>
        <p:nvSpPr>
          <p:cNvPr id="19" name="GD badge 4"/>
          <p:cNvSpPr/>
          <p:nvPr/>
        </p:nvSpPr>
        <p:spPr>
          <a:xfrm>
            <a:off x="53035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0" name="GD check 1"/>
          <p:cNvSpPr/>
          <p:nvPr/>
        </p:nvSpPr>
        <p:spPr>
          <a:xfrm>
            <a:off x="594360" y="2350008"/>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D file 1"/>
          <p:cNvSpPr txBox="1"/>
          <p:nvPr/>
        </p:nvSpPr>
        <p:spPr>
          <a:xfrm>
            <a:off x="868680" y="2286000"/>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analysis.py</a:t>
            </a:r>
          </a:p>
        </p:txBody>
      </p:sp>
      <p:sp>
        <p:nvSpPr>
          <p:cNvPr id="22" name="GD check 2"/>
          <p:cNvSpPr/>
          <p:nvPr/>
        </p:nvSpPr>
        <p:spPr>
          <a:xfrm>
            <a:off x="594360" y="2697480"/>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D file 2"/>
          <p:cNvSpPr txBox="1"/>
          <p:nvPr/>
        </p:nvSpPr>
        <p:spPr>
          <a:xfrm>
            <a:off x="868680" y="2633472"/>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report.qmd</a:t>
            </a:r>
          </a:p>
        </p:txBody>
      </p:sp>
      <p:sp>
        <p:nvSpPr>
          <p:cNvPr id="24" name="GD summary"/>
          <p:cNvSpPr/>
          <p:nvPr/>
        </p:nvSpPr>
        <p:spPr>
          <a:xfrm>
            <a:off x="548640" y="3154680"/>
            <a:ext cx="20116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D summary text"/>
          <p:cNvSpPr txBox="1"/>
          <p:nvPr/>
        </p:nvSpPr>
        <p:spPr>
          <a:xfrm>
            <a:off x="621792" y="3154680"/>
            <a:ext cx="1920240" cy="384048"/>
          </a:xfrm>
          <a:prstGeom prst="rect">
            <a:avLst/>
          </a:prstGeom>
          <a:noFill/>
        </p:spPr>
        <p:txBody>
          <a:bodyPr wrap="square" lIns="0" rIns="0" tIns="0" bIns="0" anchor="ctr">
            <a:noAutofit/>
          </a:bodyPr>
          <a:lstStyle/>
          <a:p>
            <a:pPr algn="l">
              <a:spcAft>
                <a:spcPts val="400"/>
              </a:spcAft>
            </a:pPr>
            <a:r>
              <a:rPr sz="1050" b="0" lang="en-GB">
                <a:solidFill>
                  <a:schemeClr val="tx1"/>
                </a:solidFill>
              </a:rPr>
              <a:t>Add Austria sales chart</a:t>
            </a:r>
          </a:p>
        </p:txBody>
      </p:sp>
      <p:sp>
        <p:nvSpPr>
          <p:cNvPr id="26" name="GD commit"/>
          <p:cNvSpPr/>
          <p:nvPr/>
        </p:nvSpPr>
        <p:spPr>
          <a:xfrm>
            <a:off x="548640" y="3657600"/>
            <a:ext cx="2011680" cy="384048"/>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D commit text"/>
          <p:cNvSpPr txBox="1"/>
          <p:nvPr/>
        </p:nvSpPr>
        <p:spPr>
          <a:xfrm>
            <a:off x="548640" y="3657600"/>
            <a:ext cx="2011680" cy="384048"/>
          </a:xfrm>
          <a:prstGeom prst="rect">
            <a:avLst/>
          </a:prstGeom>
          <a:noFill/>
        </p:spPr>
        <p:txBody>
          <a:bodyPr wrap="square" lIns="0" rIns="0" tIns="0" bIns="0" anchor="ctr">
            <a:noAutofit/>
          </a:bodyPr>
          <a:lstStyle/>
          <a:p>
            <a:pPr algn="ctr">
              <a:spcAft>
                <a:spcPts val="400"/>
              </a:spcAft>
            </a:pPr>
            <a:r>
              <a:rPr sz="1100" b="1" lang="en-GB">
                <a:solidFill>
                  <a:schemeClr val="bg1"/>
                </a:solidFill>
              </a:rPr>
              <a:t>Commit to main</a:t>
            </a:r>
          </a:p>
        </p:txBody>
      </p:sp>
      <p:sp>
        <p:nvSpPr>
          <p:cNvPr id="28" name="GD badge 5"/>
          <p:cNvSpPr/>
          <p:nvPr/>
        </p:nvSpPr>
        <p:spPr>
          <a:xfrm>
            <a:off x="530352" y="41148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9" name="GD commit note"/>
          <p:cNvSpPr txBox="1"/>
          <p:nvPr/>
        </p:nvSpPr>
        <p:spPr>
          <a:xfrm>
            <a:off x="868680" y="4069080"/>
            <a:ext cx="1737360" cy="365760"/>
          </a:xfrm>
          <a:prstGeom prst="rect">
            <a:avLst/>
          </a:prstGeom>
          <a:noFill/>
        </p:spPr>
        <p:txBody>
          <a:bodyPr wrap="square" lIns="0" rIns="0" tIns="0" bIns="0" anchor="ctr">
            <a:noAutofit/>
          </a:bodyPr>
          <a:lstStyle/>
          <a:p>
            <a:pPr algn="l">
              <a:spcAft>
                <a:spcPts val="400"/>
              </a:spcAft>
            </a:pPr>
            <a:r>
              <a:rPr sz="1050" b="0" lang="en-GB">
                <a:solidFill>
                  <a:schemeClr val="tx1"/>
                </a:solidFill>
              </a:rPr>
              <a:t>summary, then commit</a:t>
            </a:r>
          </a:p>
        </p:txBody>
      </p:sp>
      <p:sp>
        <p:nvSpPr>
          <p:cNvPr id="30" name="GD diff"/>
          <p:cNvSpPr/>
          <p:nvPr/>
        </p:nvSpPr>
        <p:spPr>
          <a:xfrm>
            <a:off x="2697480" y="1828800"/>
            <a:ext cx="3063240" cy="2697480"/>
          </a:xfrm>
          <a:prstGeom prst="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GD badge 6"/>
          <p:cNvSpPr/>
          <p:nvPr/>
        </p:nvSpPr>
        <p:spPr>
          <a:xfrm>
            <a:off x="277063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32" name="GD diff head"/>
          <p:cNvSpPr txBox="1"/>
          <p:nvPr/>
        </p:nvSpPr>
        <p:spPr>
          <a:xfrm>
            <a:off x="3108960" y="1874520"/>
            <a:ext cx="2560320" cy="32004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report.qmd</a:t>
            </a:r>
          </a:p>
        </p:txBody>
      </p:sp>
      <p:sp>
        <p:nvSpPr>
          <p:cNvPr id="33" name="GD diff line 1"/>
          <p:cNvSpPr txBox="1"/>
          <p:nvPr/>
        </p:nvSpPr>
        <p:spPr>
          <a:xfrm>
            <a:off x="2816352" y="2331720"/>
            <a:ext cx="2880360" cy="310896"/>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  at = sales.filter(...)</a:t>
            </a:r>
          </a:p>
        </p:txBody>
      </p:sp>
      <p:sp>
        <p:nvSpPr>
          <p:cNvPr id="34" name="GD diff bg 2"/>
          <p:cNvSpPr/>
          <p:nvPr/>
        </p:nvSpPr>
        <p:spPr>
          <a:xfrm>
            <a:off x="2743200" y="2660904"/>
            <a:ext cx="2971800" cy="310896"/>
          </a:xfrm>
          <a:prstGeom prst="rect">
            <a:avLst/>
          </a:prstGeom>
          <a:solidFill>
            <a:srgbClr val="FB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GD diff line 2"/>
          <p:cNvSpPr txBox="1"/>
          <p:nvPr/>
        </p:nvSpPr>
        <p:spPr>
          <a:xfrm>
            <a:off x="2816352" y="2660904"/>
            <a:ext cx="2880360" cy="310896"/>
          </a:xfrm>
          <a:prstGeom prst="rect">
            <a:avLst/>
          </a:prstGeom>
          <a:noFill/>
        </p:spPr>
        <p:txBody>
          <a:bodyPr wrap="square" lIns="0" rIns="0" tIns="0" bIns="0" anchor="ctr">
            <a:noAutofit/>
          </a:bodyPr>
          <a:lstStyle/>
          <a:p>
            <a:pPr algn="l">
              <a:spcAft>
                <a:spcPts val="400"/>
              </a:spcAft>
            </a:pPr>
            <a:r>
              <a:rPr sz="1050" b="0" lang="en-GB">
                <a:solidFill>
                  <a:srgbClr val="9F1D1D"/>
                </a:solidFill>
                <a:latin typeface="Consolas"/>
              </a:rPr>
              <a:t>- at.head()</a:t>
            </a:r>
          </a:p>
        </p:txBody>
      </p:sp>
      <p:sp>
        <p:nvSpPr>
          <p:cNvPr id="36" name="GD diff bg 3"/>
          <p:cNvSpPr/>
          <p:nvPr/>
        </p:nvSpPr>
        <p:spPr>
          <a:xfrm>
            <a:off x="2743200" y="2990088"/>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D diff line 3"/>
          <p:cNvSpPr txBox="1"/>
          <p:nvPr/>
        </p:nvSpPr>
        <p:spPr>
          <a:xfrm>
            <a:off x="2816352" y="2990088"/>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ggplot(at, aes("week",</a:t>
            </a:r>
          </a:p>
        </p:txBody>
      </p:sp>
      <p:sp>
        <p:nvSpPr>
          <p:cNvPr id="38" name="GD diff bg 4"/>
          <p:cNvSpPr/>
          <p:nvPr/>
        </p:nvSpPr>
        <p:spPr>
          <a:xfrm>
            <a:off x="2743200" y="3319272"/>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GD diff line 4"/>
          <p:cNvSpPr txBox="1"/>
          <p:nvPr/>
        </p:nvSpPr>
        <p:spPr>
          <a:xfrm>
            <a:off x="2816352" y="3319272"/>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"sales_units_k"))</a:t>
            </a:r>
          </a:p>
        </p:txBody>
      </p:sp>
      <p:sp>
        <p:nvSpPr>
          <p:cNvPr id="40" name="GD diff bg 5"/>
          <p:cNvSpPr/>
          <p:nvPr/>
        </p:nvSpPr>
        <p:spPr>
          <a:xfrm>
            <a:off x="2743200" y="3648456"/>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D diff line 5"/>
          <p:cNvSpPr txBox="1"/>
          <p:nvPr/>
        </p:nvSpPr>
        <p:spPr>
          <a:xfrm>
            <a:off x="2816352" y="3648456"/>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 geom_line()</a:t>
            </a:r>
          </a:p>
        </p:txBody>
      </p:sp>
      <p:sp>
        <p:nvSpPr>
          <p:cNvPr id="42" name="GD legend 1"/>
          <p:cNvSpPr/>
          <p:nvPr/>
        </p:nvSpPr>
        <p:spPr>
          <a:xfrm>
            <a:off x="5897880" y="123444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GD legend badge 1"/>
          <p:cNvSpPr/>
          <p:nvPr/>
        </p:nvSpPr>
        <p:spPr>
          <a:xfrm>
            <a:off x="5989320" y="1344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4" name="GD legend text 1"/>
          <p:cNvSpPr txBox="1"/>
          <p:nvPr/>
        </p:nvSpPr>
        <p:spPr>
          <a:xfrm>
            <a:off x="6355080" y="123444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repository</a:t>
            </a:r>
          </a:p>
          <a:p>
            <a:pPr algn="l">
              <a:spcAft>
                <a:spcPts val="0"/>
              </a:spcAft>
            </a:pPr>
            <a:r>
              <a:rPr sz="1050" b="0" lang="en-GB">
                <a:solidFill>
                  <a:schemeClr val="tx1"/>
                </a:solidFill>
              </a:rPr>
              <a:t>which project you work on</a:t>
            </a:r>
          </a:p>
        </p:txBody>
      </p:sp>
      <p:sp>
        <p:nvSpPr>
          <p:cNvPr id="45" name="GD legend 2"/>
          <p:cNvSpPr/>
          <p:nvPr/>
        </p:nvSpPr>
        <p:spPr>
          <a:xfrm>
            <a:off x="5897880" y="1792224"/>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D legend badge 2"/>
          <p:cNvSpPr/>
          <p:nvPr/>
        </p:nvSpPr>
        <p:spPr>
          <a:xfrm>
            <a:off x="5989320" y="1901952"/>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7" name="GD legend text 2"/>
          <p:cNvSpPr txBox="1"/>
          <p:nvPr/>
        </p:nvSpPr>
        <p:spPr>
          <a:xfrm>
            <a:off x="6355080" y="1792224"/>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branch</a:t>
            </a:r>
          </a:p>
          <a:p>
            <a:pPr algn="l">
              <a:spcAft>
                <a:spcPts val="0"/>
              </a:spcAft>
            </a:pPr>
            <a:r>
              <a:rPr sz="1050" b="0" lang="en-GB">
                <a:solidFill>
                  <a:schemeClr val="tx1"/>
                </a:solidFill>
              </a:rPr>
              <a:t>main is all we need</a:t>
            </a:r>
          </a:p>
        </p:txBody>
      </p:sp>
      <p:sp>
        <p:nvSpPr>
          <p:cNvPr id="48" name="GD legend 3"/>
          <p:cNvSpPr/>
          <p:nvPr/>
        </p:nvSpPr>
        <p:spPr>
          <a:xfrm>
            <a:off x="5897880" y="2350008"/>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D legend badge 3"/>
          <p:cNvSpPr/>
          <p:nvPr/>
        </p:nvSpPr>
        <p:spPr>
          <a:xfrm>
            <a:off x="5989320" y="245973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0" name="GD legend text 3"/>
          <p:cNvSpPr txBox="1"/>
          <p:nvPr/>
        </p:nvSpPr>
        <p:spPr>
          <a:xfrm>
            <a:off x="6355080" y="2350008"/>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Fetch / Pull / Push origin</a:t>
            </a:r>
          </a:p>
          <a:p>
            <a:pPr algn="l">
              <a:spcAft>
                <a:spcPts val="0"/>
              </a:spcAft>
            </a:pPr>
            <a:r>
              <a:rPr sz="1050" b="0" lang="en-GB">
                <a:solidFill>
                  <a:schemeClr val="tx1"/>
                </a:solidFill>
              </a:rPr>
              <a:t>sync with GitHub</a:t>
            </a:r>
          </a:p>
        </p:txBody>
      </p:sp>
      <p:sp>
        <p:nvSpPr>
          <p:cNvPr id="51" name="GD legend 4"/>
          <p:cNvSpPr/>
          <p:nvPr/>
        </p:nvSpPr>
        <p:spPr>
          <a:xfrm>
            <a:off x="5897880" y="2907792"/>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D legend badge 4"/>
          <p:cNvSpPr/>
          <p:nvPr/>
        </p:nvSpPr>
        <p:spPr>
          <a:xfrm>
            <a:off x="5989320" y="30175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3" name="GD legend text 4"/>
          <p:cNvSpPr txBox="1"/>
          <p:nvPr/>
        </p:nvSpPr>
        <p:spPr>
          <a:xfrm>
            <a:off x="6355080" y="2907792"/>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Changes</a:t>
            </a:r>
          </a:p>
          <a:p>
            <a:pPr algn="l">
              <a:spcAft>
                <a:spcPts val="0"/>
              </a:spcAft>
            </a:pPr>
            <a:r>
              <a:rPr sz="1050" b="0" lang="en-GB">
                <a:solidFill>
                  <a:schemeClr val="tx1"/>
                </a:solidFill>
              </a:rPr>
              <a:t>files edited since last commit</a:t>
            </a:r>
          </a:p>
        </p:txBody>
      </p:sp>
      <p:sp>
        <p:nvSpPr>
          <p:cNvPr id="54" name="GD legend 5"/>
          <p:cNvSpPr/>
          <p:nvPr/>
        </p:nvSpPr>
        <p:spPr>
          <a:xfrm>
            <a:off x="5897880" y="3465576"/>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D legend badge 5"/>
          <p:cNvSpPr/>
          <p:nvPr/>
        </p:nvSpPr>
        <p:spPr>
          <a:xfrm>
            <a:off x="5989320" y="357530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56" name="GD legend text 5"/>
          <p:cNvSpPr txBox="1"/>
          <p:nvPr/>
        </p:nvSpPr>
        <p:spPr>
          <a:xfrm>
            <a:off x="6355080" y="3465576"/>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Summary + Commit</a:t>
            </a:r>
          </a:p>
          <a:p>
            <a:pPr algn="l">
              <a:spcAft>
                <a:spcPts val="0"/>
              </a:spcAft>
            </a:pPr>
            <a:r>
              <a:rPr sz="1050" b="0" lang="en-GB">
                <a:solidFill>
                  <a:schemeClr val="tx1"/>
                </a:solidFill>
              </a:rPr>
              <a:t>save a snapshot with a message</a:t>
            </a:r>
          </a:p>
        </p:txBody>
      </p:sp>
      <p:sp>
        <p:nvSpPr>
          <p:cNvPr id="57" name="GD legend 6"/>
          <p:cNvSpPr/>
          <p:nvPr/>
        </p:nvSpPr>
        <p:spPr>
          <a:xfrm>
            <a:off x="5897880" y="402336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D legend badge 6"/>
          <p:cNvSpPr/>
          <p:nvPr/>
        </p:nvSpPr>
        <p:spPr>
          <a:xfrm>
            <a:off x="5989320" y="413308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59" name="GD legend text 6"/>
          <p:cNvSpPr txBox="1"/>
          <p:nvPr/>
        </p:nvSpPr>
        <p:spPr>
          <a:xfrm>
            <a:off x="6355080" y="402336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Diff</a:t>
            </a:r>
          </a:p>
          <a:p>
            <a:pPr algn="l">
              <a:spcAft>
                <a:spcPts val="0"/>
              </a:spcAft>
            </a:pPr>
            <a:r>
              <a:rPr sz="1050" b="0" lang="en-GB">
                <a:solidFill>
                  <a:schemeClr val="tx1"/>
                </a:solidFill>
              </a:rPr>
              <a:t>red removed, green added</a:t>
            </a:r>
          </a:p>
        </p:txBody>
      </p:sp>
      <p:sp>
        <p:nvSpPr>
          <p:cNvPr id="60" name="GD note"/>
          <p:cNvSpPr txBox="1"/>
          <p:nvPr/>
        </p:nvSpPr>
        <p:spPr>
          <a:xfrm>
            <a:off x="457200" y="4617720"/>
            <a:ext cx="82296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you only pull. Work in your own folder; a group repository is optional.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workflow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low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Fetch, then</a:t>
            </a:r>
            <a:br/>
            <a:r>
              <a:rPr sz="1200" b="1" lang="en-GB">
                <a:solidFill>
                  <a:schemeClr val="tx2"/>
                </a:solidFill>
              </a:rPr>
              <a:t>Pull origin</a:t>
            </a:r>
          </a:p>
        </p:txBody>
      </p:sp>
      <p:sp>
        <p:nvSpPr>
          <p:cNvPr id="11" name="Flow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files into</a:t>
            </a:r>
            <a:br/>
            <a:r>
              <a:rPr sz="1200" b="1" lang="en-GB">
                <a:solidFill>
                  <a:schemeClr val="tx2"/>
                </a:solidFill>
              </a:rPr>
              <a:t>your own folder</a:t>
            </a:r>
          </a:p>
        </p:txBody>
      </p:sp>
      <p:sp>
        <p:nvSpPr>
          <p:cNvPr id="12" name="Flow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Work in</a:t>
            </a:r>
            <a:br/>
            <a:r>
              <a:rPr sz="1200" b="1" lang="en-GB">
                <a:solidFill>
                  <a:schemeClr val="tx2"/>
                </a:solidFill>
              </a:rPr>
              <a:t>Positron</a:t>
            </a:r>
          </a:p>
        </p:txBody>
      </p:sp>
      <p:sp>
        <p:nvSpPr>
          <p:cNvPr id="13" name="Flow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Optional:</a:t>
            </a:r>
            <a:br/>
            <a:r>
              <a:rPr sz="1200" b="1" lang="en-GB">
                <a:solidFill>
                  <a:schemeClr val="tx2"/>
                </a:solidFill>
              </a:rPr>
              <a:t>commit, push</a:t>
            </a:r>
          </a:p>
        </p:txBody>
      </p:sp>
      <p:sp>
        <p:nvSpPr>
          <p:cNvPr id="14" name="Flow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low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ow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repository</a:t>
            </a:r>
          </a:p>
        </p:txBody>
      </p:sp>
      <p:pic>
        <p:nvPicPr>
          <p:cNvPr id="17" name="Icon Flow card 1" descr=""/>
          <p:cNvPicPr>
            <a:picLocks noChangeAspect="1"/>
          </p:cNvPicPr>
          <p:nvPr/>
        </p:nvPicPr>
        <p:blipFill>
          <a:blip r:embed="rId3"/>
          <a:stretch>
            <a:fillRect/>
          </a:stretch>
        </p:blipFill>
        <p:spPr>
          <a:xfrm>
            <a:off x="2670048" y="2016252"/>
            <a:ext cx="310896" cy="310896"/>
          </a:xfrm>
          <a:prstGeom prst="rect">
            <a:avLst/>
          </a:prstGeom>
        </p:spPr>
      </p:pic>
      <p:sp>
        <p:nvSpPr>
          <p:cNvPr id="18" name="Flow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Required: pull before every session</a:t>
            </a:r>
          </a:p>
          <a:p>
            <a:pPr algn="l" marL="182880" indent="-182880">
              <a:spcAft>
                <a:spcPts val="600"/>
              </a:spcAft>
              <a:buClr>
                <a:schemeClr val="accent1"/>
              </a:buClr>
              <a:buFont typeface="Arial"/>
              <a:buChar char="▪"/>
            </a:pPr>
            <a:r>
              <a:rPr sz="1300" b="0" lang="en-GB">
                <a:solidFill>
                  <a:schemeClr val="tx1"/>
                </a:solidFill>
              </a:rPr>
              <a:t>Read-only for you: copy files into your own folder before editing</a:t>
            </a:r>
          </a:p>
        </p:txBody>
      </p:sp>
      <p:sp>
        <p:nvSpPr>
          <p:cNvPr id="19" name="Flow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low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Group repository</a:t>
            </a:r>
          </a:p>
        </p:txBody>
      </p:sp>
      <p:pic>
        <p:nvPicPr>
          <p:cNvPr id="22" name="Icon Flow card 2" descr=""/>
          <p:cNvPicPr>
            <a:picLocks noChangeAspect="1"/>
          </p:cNvPicPr>
          <p:nvPr/>
        </p:nvPicPr>
        <p:blipFill>
          <a:blip r:embed="rId4"/>
          <a:stretch>
            <a:fillRect/>
          </a:stretch>
        </p:blipFill>
        <p:spPr>
          <a:xfrm>
            <a:off x="5458968" y="2016252"/>
            <a:ext cx="310896" cy="310896"/>
          </a:xfrm>
          <a:prstGeom prst="rect">
            <a:avLst/>
          </a:prstGeom>
        </p:spPr>
      </p:pic>
      <p:sp>
        <p:nvSpPr>
          <p:cNvPr id="23" name="Flow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one member publishes a private repository</a:t>
            </a:r>
          </a:p>
          <a:p>
            <a:pPr algn="l" marL="182880" indent="-182880">
              <a:spcAft>
                <a:spcPts val="600"/>
              </a:spcAft>
              <a:buClr>
                <a:schemeClr val="accent1"/>
              </a:buClr>
              <a:buFont typeface="Arial"/>
              <a:buChar char="▪"/>
            </a:pPr>
            <a:r>
              <a:rPr sz="1300" b="0" lang="en-GB">
                <a:solidFill>
                  <a:schemeClr val="tx1"/>
                </a:solidFill>
              </a:rPr>
              <a:t>Pull, work, commit, push</a:t>
            </a:r>
          </a:p>
          <a:p>
            <a:pPr algn="l" marL="182880" indent="-182880">
              <a:spcAft>
                <a:spcPts val="600"/>
              </a:spcAft>
              <a:buClr>
                <a:schemeClr val="accent1"/>
              </a:buClr>
              <a:buFont typeface="Arial"/>
              <a:buChar char="▪"/>
            </a:pPr>
            <a:r>
              <a:rPr sz="1300" b="0" lang="en-GB">
                <a:solidFill>
                  <a:schemeClr val="tx1"/>
                </a:solidFill>
              </a:rPr>
              <a:t>One person per file where you can</a:t>
            </a:r>
          </a:p>
        </p:txBody>
      </p:sp>
      <p:sp>
        <p:nvSpPr>
          <p:cNvPr id="24" name="Flow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low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27" name="Icon Flow card 3" descr=""/>
          <p:cNvPicPr>
            <a:picLocks noChangeAspect="1"/>
          </p:cNvPicPr>
          <p:nvPr/>
        </p:nvPicPr>
        <p:blipFill>
          <a:blip r:embed="rId5"/>
          <a:stretch>
            <a:fillRect/>
          </a:stretch>
        </p:blipFill>
        <p:spPr>
          <a:xfrm>
            <a:off x="8247888" y="2016252"/>
            <a:ext cx="310896" cy="310896"/>
          </a:xfrm>
          <a:prstGeom prst="rect">
            <a:avLst/>
          </a:prstGeom>
        </p:spPr>
      </p:pic>
      <p:sp>
        <p:nvSpPr>
          <p:cNvPr id="28" name="Flow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If you commit: small steps, often</a:t>
            </a:r>
          </a:p>
          <a:p>
            <a:pPr algn="l" marL="182880" indent="-182880">
              <a:spcAft>
                <a:spcPts val="600"/>
              </a:spcAft>
              <a:buClr>
                <a:schemeClr val="accent1"/>
              </a:buClr>
              <a:buFont typeface="Arial"/>
              <a:buChar char="▪"/>
            </a:pPr>
            <a:r>
              <a:rPr sz="1300" b="0" lang="en-GB">
                <a:solidFill>
                  <a:schemeClr val="tx1"/>
                </a:solidFill>
              </a:rPr>
              <a:t>Summary says what changed: “Add AT sales chart”</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9" name="Conflict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onflict" descr=""/>
          <p:cNvPicPr>
            <a:picLocks noChangeAspect="1"/>
          </p:cNvPicPr>
          <p:nvPr/>
        </p:nvPicPr>
        <p:blipFill>
          <a:blip r:embed="rId6"/>
          <a:stretch>
            <a:fillRect/>
          </a:stretch>
        </p:blipFill>
        <p:spPr>
          <a:xfrm>
            <a:off x="658368" y="4517136"/>
            <a:ext cx="384048" cy="384048"/>
          </a:xfrm>
          <a:prstGeom prst="rect">
            <a:avLst/>
          </a:prstGeom>
        </p:spPr>
      </p:pic>
      <p:sp>
        <p:nvSpPr>
          <p:cNvPr id="31" name="Conflict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Merge conflict in a group repository? </a:t>
            </a:r>
            <a:r>
              <a:rPr sz="1300" b="0" lang="en-GB">
                <a:solidFill>
                  <a:schemeClr val="bg1"/>
                </a:solidFill>
              </a:rPr>
              <a:t>Open the file, keep the lines you want, delete the markers (&lt;&lt;&lt; === &gt;&gt;&gt;), then commit and push.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on the case study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Pull course</a:t>
            </a:r>
            <a:br/>
            <a:r>
              <a:rPr sz="1200" b="1" lang="en-GB">
                <a:solidFill>
                  <a:schemeClr val="tx2"/>
                </a:solidFill>
              </a:rPr>
              <a:t>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into</a:t>
            </a:r>
            <a:br/>
            <a:r>
              <a:rPr sz="1200" b="1" lang="en-GB">
                <a:solidFill>
                  <a:schemeClr val="tx2"/>
                </a:solidFill>
              </a:rPr>
              <a:t>your folder</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.venv</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Combine:</a:t>
            </a:r>
            <a:br/>
            <a:r>
              <a:rPr sz="1200" b="1" lang="en-GB">
                <a:solidFill>
                  <a:schemeClr val="tx2"/>
                </a:solidFill>
              </a:rPr>
              <a:t>2 ways</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to Canvas</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Project folder</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Copy data/case, report.qmd and requirements.txt</a:t>
            </a:r>
          </a:p>
          <a:p>
            <a:pPr algn="l" marL="182880" indent="-182880">
              <a:spcAft>
                <a:spcPts val="600"/>
              </a:spcAft>
              <a:buClr>
                <a:schemeClr val="accent1"/>
              </a:buClr>
              <a:buFont typeface="Arial"/>
              <a:buChar char="▪"/>
            </a:pPr>
            <a:r>
              <a:rPr sz="1300" b="0" lang="en-GB">
                <a:solidFill>
                  <a:schemeClr val="tx1"/>
                </a:solidFill>
              </a:rPr>
              <a:t>report.qmd next to the data folder</a:t>
            </a:r>
          </a:p>
          <a:p>
            <a:pPr algn="l" marL="182880" indent="-182880">
              <a:spcAft>
                <a:spcPts val="600"/>
              </a:spcAft>
              <a:buClr>
                <a:schemeClr val="accent1"/>
              </a:buClr>
              <a:buFont typeface="Arial"/>
              <a:buChar char="▪"/>
            </a:pPr>
            <a:r>
              <a:rPr sz="1300" b="0" lang="en-GB">
                <a:solidFill>
                  <a:schemeClr val="tx1"/>
                </a:solidFill>
              </a:rPr>
              <a:t>Create Environment from requirements.txt</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1: simple</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keeps report.qmd</a:t>
            </a:r>
          </a:p>
          <a:p>
            <a:pPr algn="l" marL="182880" indent="-182880">
              <a:spcAft>
                <a:spcPts val="600"/>
              </a:spcAft>
              <a:buClr>
                <a:schemeClr val="accent1"/>
              </a:buClr>
              <a:buFont typeface="Arial"/>
              <a:buChar char="▪"/>
            </a:pPr>
            <a:r>
              <a:rPr sz="1300" b="0" lang="en-GB">
                <a:solidFill>
                  <a:schemeClr val="tx1"/>
                </a:solidFill>
              </a:rPr>
              <a:t>The others send code chunks and text</a:t>
            </a:r>
          </a:p>
          <a:p>
            <a:pPr algn="l" marL="182880" indent="-182880">
              <a:spcAft>
                <a:spcPts val="600"/>
              </a:spcAft>
              <a:buClr>
                <a:schemeClr val="accent1"/>
              </a:buClr>
              <a:buFont typeface="Arial"/>
              <a:buChar char="▪"/>
            </a:pPr>
            <a:r>
              <a:rPr sz="1300" b="0" lang="en-GB">
                <a:solidFill>
                  <a:schemeClr val="tx1"/>
                </a:solidFill>
              </a:rPr>
              <a:t>Render the combined file every week</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2: GitHub</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Publish repository, private</a:t>
            </a:r>
          </a:p>
          <a:p>
            <a:pPr algn="l" marL="182880" indent="-182880">
              <a:spcAft>
                <a:spcPts val="600"/>
              </a:spcAft>
              <a:buClr>
                <a:schemeClr val="accent1"/>
              </a:buClr>
              <a:buFont typeface="Arial"/>
              <a:buChar char="▪"/>
            </a:pPr>
            <a:r>
              <a:rPr sz="1300" b="0" lang="en-GB">
                <a:solidFill>
                  <a:schemeClr val="tx1"/>
                </a:solidFill>
              </a:rPr>
              <a:t>Invite on github.com: Collaborators</a:t>
            </a:r>
          </a:p>
          <a:p>
            <a:pPr algn="l" marL="182880" indent="-182880">
              <a:spcAft>
                <a:spcPts val="600"/>
              </a:spcAft>
              <a:buClr>
                <a:schemeClr val="accent1"/>
              </a:buClr>
              <a:buFont typeface="Arial"/>
              <a:buChar char="▪"/>
            </a:pPr>
            <a:r>
              <a:rPr sz="1300" b="0" lang="en-GB">
                <a:solidFill>
                  <a:schemeClr val="tx1"/>
                </a:solidFill>
              </a:rPr>
              <a:t>Pull, commit, push</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4"/>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Only Canvas counts: </a:t>
            </a:r>
            <a:r>
              <a:rPr sz="1300" b="0" lang="en-GB">
                <a:solidFill>
                  <a:schemeClr val="bg1"/>
                </a:solidFill>
              </a:rPr>
              <a:t>upload report.qmd and report.html; your commit history is not assessed.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7 · how it works, the YAML header, code cells, output formats</a:t>
            </a:r>
          </a:p>
        </p:txBody>
      </p:sp>
      <p:sp>
        <p:nvSpPr>
          <p:cNvPr id="3" name="Title 2"/>
          <p:cNvSpPr>
            <a:spLocks noGrp="1"/>
          </p:cNvSpPr>
          <p:nvPr>
            <p:ph type="ctrTitle"/>
          </p:nvPr>
        </p:nvSpPr>
        <p:spPr/>
        <p:txBody>
          <a:bodyPr/>
          <a:lstStyle/>
          <a:p>
            <a:r>
              <a:rPr sz="1600" lang="en-GB"/>
              <a:t>Write reports with Quarto</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text, code and results in one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rto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report.qmd</a:t>
            </a:r>
          </a:p>
        </p:txBody>
      </p:sp>
      <p:sp>
        <p:nvSpPr>
          <p:cNvPr id="11" name="Quarto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runs</a:t>
            </a:r>
            <a:br/>
            <a:r>
              <a:rPr sz="1200" b="1" lang="en-GB">
                <a:solidFill>
                  <a:schemeClr val="tx2"/>
                </a:solidFill>
              </a:rPr>
              <a:t>the cells</a:t>
            </a:r>
          </a:p>
        </p:txBody>
      </p:sp>
      <p:sp>
        <p:nvSpPr>
          <p:cNvPr id="12" name="Quarto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Markdown</a:t>
            </a:r>
            <a:br/>
            <a:r>
              <a:rPr sz="1200" b="1" lang="en-GB">
                <a:solidFill>
                  <a:schemeClr val="tx2"/>
                </a:solidFill>
              </a:rPr>
              <a:t>+ results</a:t>
            </a:r>
          </a:p>
        </p:txBody>
      </p:sp>
      <p:sp>
        <p:nvSpPr>
          <p:cNvPr id="13" name="Quarto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Pandoc</a:t>
            </a:r>
            <a:br/>
            <a:r>
              <a:rPr sz="1200" b="1" lang="en-GB">
                <a:solidFill>
                  <a:schemeClr val="tx2"/>
                </a:solidFill>
              </a:rPr>
              <a:t>converts</a:t>
            </a:r>
          </a:p>
        </p:txBody>
      </p:sp>
      <p:sp>
        <p:nvSpPr>
          <p:cNvPr id="14" name="Quarto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HTML, PDF,</a:t>
            </a:r>
            <a:br/>
            <a:r>
              <a:rPr sz="1200" b="1" lang="en-GB">
                <a:solidFill>
                  <a:schemeClr val="tx2"/>
                </a:solidFill>
              </a:rPr>
              <a:t>Word, slides</a:t>
            </a:r>
          </a:p>
        </p:txBody>
      </p:sp>
      <p:sp>
        <p:nvSpPr>
          <p:cNvPr id="15" name="Anatomy code caption bar"/>
          <p:cNvSpPr/>
          <p:nvPr/>
        </p:nvSpPr>
        <p:spPr>
          <a:xfrm>
            <a:off x="457200" y="1920240"/>
            <a:ext cx="45720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atomy code caption"/>
          <p:cNvSpPr txBox="1"/>
          <p:nvPr/>
        </p:nvSpPr>
        <p:spPr>
          <a:xfrm>
            <a:off x="566928" y="1920240"/>
            <a:ext cx="43525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7" name="Anatomy code box"/>
          <p:cNvSpPr/>
          <p:nvPr/>
        </p:nvSpPr>
        <p:spPr>
          <a:xfrm>
            <a:off x="457200" y="2194560"/>
            <a:ext cx="4572000" cy="2331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atomy code code"/>
          <p:cNvSpPr txBox="1"/>
          <p:nvPr/>
        </p:nvSpPr>
        <p:spPr>
          <a:xfrm>
            <a:off x="594360" y="2286000"/>
            <a:ext cx="4297680" cy="21488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title: "Alpenglow: sales in Austria"</a:t>
            </a:r>
          </a:p>
          <a:p>
            <a:pPr algn="l">
              <a:spcAft>
                <a:spcPts val="0"/>
              </a:spcAft>
            </a:pPr>
            <a:r>
              <a:rPr sz="1000" b="0" lang="en-GB">
                <a:solidFill>
                  <a:schemeClr val="bg1"/>
                </a:solidFill>
                <a:latin typeface="Consolas"/>
              </a:rPr>
              <a:t>author: "Anna Berger"</a:t>
            </a:r>
          </a:p>
          <a:p>
            <a:pPr algn="l">
              <a:spcAft>
                <a:spcPts val="0"/>
              </a:spcAft>
            </a:pPr>
            <a:r>
              <a:rPr sz="1000" b="0" lang="en-GB">
                <a:solidFill>
                  <a:schemeClr val="bg1"/>
                </a:solidFill>
                <a:latin typeface="Consolas"/>
              </a:rPr>
              <a:t>format: html</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Weekly sales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```{python}</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at.head()</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Austria is our smallest market.</a:t>
            </a:r>
          </a:p>
        </p:txBody>
      </p:sp>
      <p:sp>
        <p:nvSpPr>
          <p:cNvPr id="19" name="Anatomy row 1"/>
          <p:cNvSpPr/>
          <p:nvPr/>
        </p:nvSpPr>
        <p:spPr>
          <a:xfrm>
            <a:off x="5166360" y="1920240"/>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atomy bar 1"/>
          <p:cNvSpPr/>
          <p:nvPr/>
        </p:nvSpPr>
        <p:spPr>
          <a:xfrm>
            <a:off x="5166360" y="1920240"/>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atomy text 1"/>
          <p:cNvSpPr txBox="1"/>
          <p:nvPr/>
        </p:nvSpPr>
        <p:spPr>
          <a:xfrm>
            <a:off x="5349240" y="1920240"/>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1  YAML header: </a:t>
            </a:r>
            <a:r>
              <a:rPr sz="1200" b="0" lang="en-GB">
                <a:solidFill>
                  <a:schemeClr val="tx1"/>
                </a:solidFill>
              </a:rPr>
              <a:t>settings between the two --- lines</a:t>
            </a:r>
          </a:p>
        </p:txBody>
      </p:sp>
      <p:sp>
        <p:nvSpPr>
          <p:cNvPr id="22" name="Anatomy row 2"/>
          <p:cNvSpPr/>
          <p:nvPr/>
        </p:nvSpPr>
        <p:spPr>
          <a:xfrm>
            <a:off x="5166360" y="2816352"/>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atomy bar 2"/>
          <p:cNvSpPr/>
          <p:nvPr/>
        </p:nvSpPr>
        <p:spPr>
          <a:xfrm>
            <a:off x="5166360" y="2816352"/>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atomy text 2"/>
          <p:cNvSpPr txBox="1"/>
          <p:nvPr/>
        </p:nvSpPr>
        <p:spPr>
          <a:xfrm>
            <a:off x="5349240" y="2816352"/>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2  Markdown: </a:t>
            </a:r>
            <a:r>
              <a:rPr sz="1200" b="0" lang="en-GB">
                <a:solidFill>
                  <a:schemeClr val="tx1"/>
                </a:solidFill>
              </a:rPr>
              <a:t>headings (##), **bold**, lists, links</a:t>
            </a:r>
          </a:p>
        </p:txBody>
      </p:sp>
      <p:sp>
        <p:nvSpPr>
          <p:cNvPr id="25" name="Anatomy row 3"/>
          <p:cNvSpPr/>
          <p:nvPr/>
        </p:nvSpPr>
        <p:spPr>
          <a:xfrm>
            <a:off x="5166360" y="3712464"/>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natomy bar 3"/>
          <p:cNvSpPr/>
          <p:nvPr/>
        </p:nvSpPr>
        <p:spPr>
          <a:xfrm>
            <a:off x="5166360" y="3712464"/>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natomy text 3"/>
          <p:cNvSpPr txBox="1"/>
          <p:nvPr/>
        </p:nvSpPr>
        <p:spPr>
          <a:xfrm>
            <a:off x="5349240" y="3712464"/>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3  Code cells: </a:t>
            </a:r>
            <a:r>
              <a:rPr sz="1200" b="0" lang="en-GB">
                <a:solidFill>
                  <a:schemeClr val="tx1"/>
                </a:solidFill>
              </a:rPr>
              <a:t>```{python} … ``` run Python; the output lands under the cell</a:t>
            </a:r>
          </a:p>
        </p:txBody>
      </p:sp>
      <p:sp>
        <p:nvSpPr>
          <p:cNvPr id="28" name="Quarto preview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Quarto preview" descr=""/>
          <p:cNvPicPr>
            <a:picLocks noChangeAspect="1"/>
          </p:cNvPicPr>
          <p:nvPr/>
        </p:nvPicPr>
        <p:blipFill>
          <a:blip r:embed="rId3"/>
          <a:stretch>
            <a:fillRect/>
          </a:stretch>
        </p:blipFill>
        <p:spPr>
          <a:xfrm>
            <a:off x="658368" y="4654296"/>
            <a:ext cx="384048" cy="384048"/>
          </a:xfrm>
          <a:prstGeom prst="rect">
            <a:avLst/>
          </a:prstGeom>
        </p:spPr>
      </p:pic>
      <p:sp>
        <p:nvSpPr>
          <p:cNvPr id="30" name="Quarto preview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Preview: </a:t>
            </a:r>
            <a:r>
              <a:rPr sz="1300" b="0" lang="en-GB">
                <a:solidFill>
                  <a:schemeClr val="tx1"/>
                </a:solidFill>
              </a:rPr>
              <a:t>Ctrl/Cmd + Shift + K in Positron.   Render: quarto render report.qmd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YAML header: settings for the whole document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AML code caption bar"/>
          <p:cNvSpPr/>
          <p:nvPr/>
        </p:nvSpPr>
        <p:spPr>
          <a:xfrm>
            <a:off x="457200" y="1234440"/>
            <a:ext cx="39319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YAML code caption"/>
          <p:cNvSpPr txBox="1"/>
          <p:nvPr/>
        </p:nvSpPr>
        <p:spPr>
          <a:xfrm>
            <a:off x="566928" y="1234440"/>
            <a:ext cx="37124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Top of report.qmd</a:t>
            </a:r>
          </a:p>
        </p:txBody>
      </p:sp>
      <p:sp>
        <p:nvSpPr>
          <p:cNvPr id="12" name="YAML code box"/>
          <p:cNvSpPr/>
          <p:nvPr/>
        </p:nvSpPr>
        <p:spPr>
          <a:xfrm>
            <a:off x="457200" y="1508760"/>
            <a:ext cx="39319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YAML code code"/>
          <p:cNvSpPr txBox="1"/>
          <p:nvPr/>
        </p:nvSpPr>
        <p:spPr>
          <a:xfrm>
            <a:off x="594360" y="1600200"/>
            <a:ext cx="3657600" cy="26060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a:t>
            </a:r>
          </a:p>
          <a:p>
            <a:pPr algn="l">
              <a:spcAft>
                <a:spcPts val="0"/>
              </a:spcAft>
            </a:pPr>
            <a:r>
              <a:rPr sz="1150" b="0" lang="en-GB">
                <a:solidFill>
                  <a:schemeClr val="bg1"/>
                </a:solidFill>
                <a:latin typeface="Consolas"/>
              </a:rPr>
              <a:t>title: "Alpenglow: sales in Austria"</a:t>
            </a:r>
          </a:p>
          <a:p>
            <a:pPr algn="l">
              <a:spcAft>
                <a:spcPts val="0"/>
              </a:spcAft>
            </a:pPr>
            <a:r>
              <a:rPr sz="1150" b="0" lang="en-GB">
                <a:solidFill>
                  <a:schemeClr val="bg1"/>
                </a:solidFill>
                <a:latin typeface="Consolas"/>
              </a:rPr>
              <a:t>author: "Anna Berger"</a:t>
            </a:r>
          </a:p>
          <a:p>
            <a:pPr algn="l">
              <a:spcAft>
                <a:spcPts val="0"/>
              </a:spcAft>
            </a:pPr>
            <a:r>
              <a:rPr sz="1150" b="0" lang="en-GB">
                <a:solidFill>
                  <a:schemeClr val="bg1"/>
                </a:solidFill>
                <a:latin typeface="Consolas"/>
              </a:rPr>
              <a:t>date: today</a:t>
            </a:r>
          </a:p>
          <a:p>
            <a:pPr algn="l">
              <a:spcAft>
                <a:spcPts val="0"/>
              </a:spcAft>
            </a:pPr>
            <a:r>
              <a:rPr sz="1150" b="0" lang="en-GB">
                <a:solidFill>
                  <a:schemeClr val="bg1"/>
                </a:solidFill>
                <a:latin typeface="Consolas"/>
              </a:rPr>
              <a:t>format:</a:t>
            </a:r>
          </a:p>
          <a:p>
            <a:pPr algn="l">
              <a:spcAft>
                <a:spcPts val="0"/>
              </a:spcAft>
            </a:pPr>
            <a:r>
              <a:rPr sz="1150" b="0" lang="en-GB">
                <a:solidFill>
                  <a:schemeClr val="bg1"/>
                </a:solidFill>
                <a:latin typeface="Consolas"/>
              </a:rPr>
              <a:t>  html:</a:t>
            </a:r>
          </a:p>
          <a:p>
            <a:pPr algn="l">
              <a:spcAft>
                <a:spcPts val="0"/>
              </a:spcAft>
            </a:pPr>
            <a:r>
              <a:rPr sz="1150" b="0" lang="en-GB">
                <a:solidFill>
                  <a:schemeClr val="bg1"/>
                </a:solidFill>
                <a:latin typeface="Consolas"/>
              </a:rPr>
              <a:t>    toc: true</a:t>
            </a:r>
          </a:p>
          <a:p>
            <a:pPr algn="l">
              <a:spcAft>
                <a:spcPts val="0"/>
              </a:spcAft>
            </a:pPr>
            <a:r>
              <a:rPr sz="1150" b="0" lang="en-GB">
                <a:solidFill>
                  <a:schemeClr val="bg1"/>
                </a:solidFill>
                <a:latin typeface="Consolas"/>
              </a:rPr>
              <a:t>    code-fold: true</a:t>
            </a:r>
          </a:p>
          <a:p>
            <a:pPr algn="l">
              <a:spcAft>
                <a:spcPts val="0"/>
              </a:spcAft>
            </a:pPr>
            <a:r>
              <a:rPr sz="1150" b="0" lang="en-GB">
                <a:solidFill>
                  <a:schemeClr val="bg1"/>
                </a:solidFill>
                <a:latin typeface="Consolas"/>
              </a:rPr>
              <a:t>execute:</a:t>
            </a:r>
          </a:p>
          <a:p>
            <a:pPr algn="l">
              <a:spcAft>
                <a:spcPts val="0"/>
              </a:spcAft>
            </a:pPr>
            <a:r>
              <a:rPr sz="1150" b="0" lang="en-GB">
                <a:solidFill>
                  <a:schemeClr val="bg1"/>
                </a:solidFill>
                <a:latin typeface="Consolas"/>
              </a:rPr>
              <a:t>  warning: false</a:t>
            </a:r>
          </a:p>
          <a:p>
            <a:pPr algn="l">
              <a:spcAft>
                <a:spcPts val="0"/>
              </a:spcAft>
            </a:pPr>
            <a:r>
              <a:rPr sz="1150" b="0" lang="en-GB">
                <a:solidFill>
                  <a:schemeClr val="bg1"/>
                </a:solidFill>
                <a:latin typeface="Consolas"/>
              </a:rPr>
              <a:t>---</a:t>
            </a:r>
          </a:p>
        </p:txBody>
      </p:sp>
      <p:sp>
        <p:nvSpPr>
          <p:cNvPr id="14" name="YAML row 1"/>
          <p:cNvSpPr/>
          <p:nvPr/>
        </p:nvSpPr>
        <p:spPr>
          <a:xfrm>
            <a:off x="4526280" y="123444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YAML key 1"/>
          <p:cNvSpPr txBox="1"/>
          <p:nvPr/>
        </p:nvSpPr>
        <p:spPr>
          <a:xfrm>
            <a:off x="4663440" y="123444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title, author</a:t>
            </a:r>
          </a:p>
        </p:txBody>
      </p:sp>
      <p:sp>
        <p:nvSpPr>
          <p:cNvPr id="16" name="YAML value 1"/>
          <p:cNvSpPr txBox="1"/>
          <p:nvPr/>
        </p:nvSpPr>
        <p:spPr>
          <a:xfrm>
            <a:off x="6629400" y="123444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shown at the top</a:t>
            </a:r>
          </a:p>
        </p:txBody>
      </p:sp>
      <p:sp>
        <p:nvSpPr>
          <p:cNvPr id="17" name="YAML row 2"/>
          <p:cNvSpPr/>
          <p:nvPr/>
        </p:nvSpPr>
        <p:spPr>
          <a:xfrm>
            <a:off x="4526280" y="1746504"/>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YAML key 2"/>
          <p:cNvSpPr txBox="1"/>
          <p:nvPr/>
        </p:nvSpPr>
        <p:spPr>
          <a:xfrm>
            <a:off x="4663440" y="1746504"/>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date: today</a:t>
            </a:r>
          </a:p>
        </p:txBody>
      </p:sp>
      <p:sp>
        <p:nvSpPr>
          <p:cNvPr id="19" name="YAML value 2"/>
          <p:cNvSpPr txBox="1"/>
          <p:nvPr/>
        </p:nvSpPr>
        <p:spPr>
          <a:xfrm>
            <a:off x="6629400" y="1746504"/>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day you render</a:t>
            </a:r>
          </a:p>
        </p:txBody>
      </p:sp>
      <p:sp>
        <p:nvSpPr>
          <p:cNvPr id="20" name="YAML row 3"/>
          <p:cNvSpPr/>
          <p:nvPr/>
        </p:nvSpPr>
        <p:spPr>
          <a:xfrm>
            <a:off x="4526280" y="2258568"/>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YAML key 3"/>
          <p:cNvSpPr txBox="1"/>
          <p:nvPr/>
        </p:nvSpPr>
        <p:spPr>
          <a:xfrm>
            <a:off x="4663440" y="2258568"/>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format: html</a:t>
            </a:r>
          </a:p>
        </p:txBody>
      </p:sp>
      <p:sp>
        <p:nvSpPr>
          <p:cNvPr id="22" name="YAML value 3"/>
          <p:cNvSpPr txBox="1"/>
          <p:nvPr/>
        </p:nvSpPr>
        <p:spPr>
          <a:xfrm>
            <a:off x="6629400" y="2258568"/>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output; its options indented below</a:t>
            </a:r>
          </a:p>
        </p:txBody>
      </p:sp>
      <p:sp>
        <p:nvSpPr>
          <p:cNvPr id="23" name="YAML row 4"/>
          <p:cNvSpPr/>
          <p:nvPr/>
        </p:nvSpPr>
        <p:spPr>
          <a:xfrm>
            <a:off x="4526280" y="2770632"/>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YAML key 4"/>
          <p:cNvSpPr txBox="1"/>
          <p:nvPr/>
        </p:nvSpPr>
        <p:spPr>
          <a:xfrm>
            <a:off x="4663440" y="2770632"/>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toc: true</a:t>
            </a:r>
          </a:p>
        </p:txBody>
      </p:sp>
      <p:sp>
        <p:nvSpPr>
          <p:cNvPr id="25" name="YAML value 4"/>
          <p:cNvSpPr txBox="1"/>
          <p:nvPr/>
        </p:nvSpPr>
        <p:spPr>
          <a:xfrm>
            <a:off x="6629400" y="2770632"/>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table of contents</a:t>
            </a:r>
          </a:p>
        </p:txBody>
      </p:sp>
      <p:sp>
        <p:nvSpPr>
          <p:cNvPr id="26" name="YAML row 5"/>
          <p:cNvSpPr/>
          <p:nvPr/>
        </p:nvSpPr>
        <p:spPr>
          <a:xfrm>
            <a:off x="4526280" y="3282696"/>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YAML key 5"/>
          <p:cNvSpPr txBox="1"/>
          <p:nvPr/>
        </p:nvSpPr>
        <p:spPr>
          <a:xfrm>
            <a:off x="4663440" y="3282696"/>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code-fold: true</a:t>
            </a:r>
          </a:p>
        </p:txBody>
      </p:sp>
      <p:sp>
        <p:nvSpPr>
          <p:cNvPr id="28" name="YAML value 5"/>
          <p:cNvSpPr txBox="1"/>
          <p:nvPr/>
        </p:nvSpPr>
        <p:spPr>
          <a:xfrm>
            <a:off x="6629400" y="3282696"/>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code hidden behind a “Code” button</a:t>
            </a:r>
          </a:p>
        </p:txBody>
      </p:sp>
      <p:sp>
        <p:nvSpPr>
          <p:cNvPr id="29" name="YAML row 6"/>
          <p:cNvSpPr/>
          <p:nvPr/>
        </p:nvSpPr>
        <p:spPr>
          <a:xfrm>
            <a:off x="4526280" y="379476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YAML key 6"/>
          <p:cNvSpPr txBox="1"/>
          <p:nvPr/>
        </p:nvSpPr>
        <p:spPr>
          <a:xfrm>
            <a:off x="4663440" y="379476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warning: false</a:t>
            </a:r>
          </a:p>
        </p:txBody>
      </p:sp>
      <p:sp>
        <p:nvSpPr>
          <p:cNvPr id="31" name="YAML value 6"/>
          <p:cNvSpPr txBox="1"/>
          <p:nvPr/>
        </p:nvSpPr>
        <p:spPr>
          <a:xfrm>
            <a:off x="6629400" y="379476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no warnings in the output</a:t>
            </a:r>
          </a:p>
        </p:txBody>
      </p:sp>
      <p:sp>
        <p:nvSpPr>
          <p:cNvPr id="32" name="YAML rule box"/>
          <p:cNvSpPr/>
          <p:nvPr/>
        </p:nvSpPr>
        <p:spPr>
          <a:xfrm>
            <a:off x="457200" y="44348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YAML rule" descr=""/>
          <p:cNvPicPr>
            <a:picLocks noChangeAspect="1"/>
          </p:cNvPicPr>
          <p:nvPr/>
        </p:nvPicPr>
        <p:blipFill>
          <a:blip r:embed="rId3"/>
          <a:stretch>
            <a:fillRect/>
          </a:stretch>
        </p:blipFill>
        <p:spPr>
          <a:xfrm>
            <a:off x="658368" y="4562856"/>
            <a:ext cx="384048" cy="384048"/>
          </a:xfrm>
          <a:prstGeom prst="rect">
            <a:avLst/>
          </a:prstGeom>
        </p:spPr>
      </p:pic>
      <p:sp>
        <p:nvSpPr>
          <p:cNvPr id="34" name="YAML rule text"/>
          <p:cNvSpPr txBox="1"/>
          <p:nvPr/>
        </p:nvSpPr>
        <p:spPr>
          <a:xfrm>
            <a:off x="1234440" y="4434840"/>
            <a:ext cx="726948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Indentation matters: </a:t>
            </a:r>
            <a:r>
              <a:rPr sz="1300" b="0" lang="en-GB">
                <a:solidFill>
                  <a:schemeClr val="bg1"/>
                </a:solidFill>
              </a:rPr>
              <a:t>two spaces per level, no tabs, and a space after every colon.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 cells: options and numbers in the text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Inside report.qmd</a:t>
            </a:r>
          </a:p>
        </p:txBody>
      </p:sp>
      <p:sp>
        <p:nvSpPr>
          <p:cNvPr id="12" name="Cell code box"/>
          <p:cNvSpPr/>
          <p:nvPr/>
        </p:nvSpPr>
        <p:spPr>
          <a:xfrm>
            <a:off x="457200" y="1508760"/>
            <a:ext cx="484632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code code"/>
          <p:cNvSpPr txBox="1"/>
          <p:nvPr/>
        </p:nvSpPr>
        <p:spPr>
          <a:xfrm>
            <a:off x="594360" y="1600200"/>
            <a:ext cx="4572000" cy="20574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 label: fig-sales</a:t>
            </a:r>
          </a:p>
          <a:p>
            <a:pPr algn="l">
              <a:spcAft>
                <a:spcPts val="0"/>
              </a:spcAft>
            </a:pPr>
            <a:r>
              <a:rPr sz="1050" b="0" lang="en-GB">
                <a:solidFill>
                  <a:schemeClr val="bg1"/>
                </a:solidFill>
                <a:latin typeface="Consolas"/>
              </a:rPr>
              <a:t>#| fig-cap: "Weekly sales in Austria"</a:t>
            </a:r>
          </a:p>
          <a:p>
            <a:pPr algn="l">
              <a:spcAft>
                <a:spcPts val="0"/>
              </a:spcAft>
            </a:pPr>
            <a:r>
              <a:rPr sz="1050" b="0" lang="en-GB">
                <a:solidFill>
                  <a:schemeClr val="bg1"/>
                </a:solidFill>
                <a:latin typeface="Consolas"/>
              </a:rPr>
              <a:t>#| echo: false</a:t>
            </a:r>
          </a:p>
          <a:p>
            <a:pPr algn="l">
              <a:spcAft>
                <a:spcPts val="0"/>
              </a:spcAft>
            </a:pPr>
            <a:r>
              <a:rPr sz="1050" b="0" lang="en-GB">
                <a:solidFill>
                  <a:schemeClr val="bg1"/>
                </a:solidFill>
                <a:latin typeface="Consolas"/>
              </a:rPr>
              <a:t>ggplot(at, aes("week", "sales_units_k")) + geom_line()</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The chart covers `{python} at.height` weeks (@fig-sales).</a:t>
            </a:r>
          </a:p>
        </p:txBody>
      </p:sp>
      <p:sp>
        <p:nvSpPr>
          <p:cNvPr id="14" name="Opt row 1"/>
          <p:cNvSpPr/>
          <p:nvPr/>
        </p:nvSpPr>
        <p:spPr>
          <a:xfrm>
            <a:off x="5440680" y="1234440"/>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pt text 1"/>
          <p:cNvSpPr txBox="1"/>
          <p:nvPr/>
        </p:nvSpPr>
        <p:spPr>
          <a:xfrm>
            <a:off x="5559552" y="1234440"/>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label: fig-sales</a:t>
            </a:r>
          </a:p>
          <a:p>
            <a:pPr algn="l">
              <a:spcAft>
                <a:spcPts val="0"/>
              </a:spcAft>
            </a:pPr>
            <a:r>
              <a:rPr sz="1050" b="0" lang="en-GB">
                <a:solidFill>
                  <a:schemeClr val="tx1"/>
                </a:solidFill>
              </a:rPr>
              <a:t>names the cell; fig- makes it a figure</a:t>
            </a:r>
          </a:p>
        </p:txBody>
      </p:sp>
      <p:sp>
        <p:nvSpPr>
          <p:cNvPr id="16" name="Opt row 2"/>
          <p:cNvSpPr/>
          <p:nvPr/>
        </p:nvSpPr>
        <p:spPr>
          <a:xfrm>
            <a:off x="5440680" y="1746504"/>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 text 2"/>
          <p:cNvSpPr txBox="1"/>
          <p:nvPr/>
        </p:nvSpPr>
        <p:spPr>
          <a:xfrm>
            <a:off x="5559552" y="1746504"/>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fig-cap:</a:t>
            </a:r>
          </a:p>
          <a:p>
            <a:pPr algn="l">
              <a:spcAft>
                <a:spcPts val="0"/>
              </a:spcAft>
            </a:pPr>
            <a:r>
              <a:rPr sz="1050" b="0" lang="en-GB">
                <a:solidFill>
                  <a:schemeClr val="tx1"/>
                </a:solidFill>
              </a:rPr>
              <a:t>the caption under the chart</a:t>
            </a:r>
          </a:p>
        </p:txBody>
      </p:sp>
      <p:sp>
        <p:nvSpPr>
          <p:cNvPr id="18" name="Opt row 3"/>
          <p:cNvSpPr/>
          <p:nvPr/>
        </p:nvSpPr>
        <p:spPr>
          <a:xfrm>
            <a:off x="5440680" y="2258568"/>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pt text 3"/>
          <p:cNvSpPr txBox="1"/>
          <p:nvPr/>
        </p:nvSpPr>
        <p:spPr>
          <a:xfrm>
            <a:off x="5559552" y="2258568"/>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echo: false</a:t>
            </a:r>
          </a:p>
          <a:p>
            <a:pPr algn="l">
              <a:spcAft>
                <a:spcPts val="0"/>
              </a:spcAft>
            </a:pPr>
            <a:r>
              <a:rPr sz="1050" b="0" lang="en-GB">
                <a:solidFill>
                  <a:schemeClr val="tx1"/>
                </a:solidFill>
              </a:rPr>
              <a:t>show the result, hide the code</a:t>
            </a:r>
          </a:p>
        </p:txBody>
      </p:sp>
      <p:sp>
        <p:nvSpPr>
          <p:cNvPr id="20" name="Opt row 4"/>
          <p:cNvSpPr/>
          <p:nvPr/>
        </p:nvSpPr>
        <p:spPr>
          <a:xfrm>
            <a:off x="5440680" y="2770632"/>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pt text 4"/>
          <p:cNvSpPr txBox="1"/>
          <p:nvPr/>
        </p:nvSpPr>
        <p:spPr>
          <a:xfrm>
            <a:off x="5559552" y="2770632"/>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`{python} …`</a:t>
            </a:r>
          </a:p>
          <a:p>
            <a:pPr algn="l">
              <a:spcAft>
                <a:spcPts val="0"/>
              </a:spcAft>
            </a:pPr>
            <a:r>
              <a:rPr sz="1050" b="0" lang="en-GB">
                <a:solidFill>
                  <a:schemeClr val="tx1"/>
                </a:solidFill>
              </a:rPr>
              <a:t>a computed number in the text</a:t>
            </a:r>
          </a:p>
        </p:txBody>
      </p:sp>
      <p:sp>
        <p:nvSpPr>
          <p:cNvPr id="22" name="Opt row 5"/>
          <p:cNvSpPr/>
          <p:nvPr/>
        </p:nvSpPr>
        <p:spPr>
          <a:xfrm>
            <a:off x="5440680" y="3282696"/>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pt text 5"/>
          <p:cNvSpPr txBox="1"/>
          <p:nvPr/>
        </p:nvSpPr>
        <p:spPr>
          <a:xfrm>
            <a:off x="5559552" y="3282696"/>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@fig-sales</a:t>
            </a:r>
          </a:p>
          <a:p>
            <a:pPr algn="l">
              <a:spcAft>
                <a:spcPts val="0"/>
              </a:spcAft>
            </a:pPr>
            <a:r>
              <a:rPr sz="1050" b="0" lang="en-GB">
                <a:solidFill>
                  <a:schemeClr val="tx1"/>
                </a:solidFill>
              </a:rPr>
              <a:t>“Figure 1”, with a link</a:t>
            </a:r>
          </a:p>
        </p:txBody>
      </p:sp>
      <p:sp>
        <p:nvSpPr>
          <p:cNvPr id="24" name="Cell why box"/>
          <p:cNvSpPr/>
          <p:nvPr/>
        </p:nvSpPr>
        <p:spPr>
          <a:xfrm>
            <a:off x="457200" y="393192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ll why" descr=""/>
          <p:cNvPicPr>
            <a:picLocks noChangeAspect="1"/>
          </p:cNvPicPr>
          <p:nvPr/>
        </p:nvPicPr>
        <p:blipFill>
          <a:blip r:embed="rId3"/>
          <a:stretch>
            <a:fillRect/>
          </a:stretch>
        </p:blipFill>
        <p:spPr>
          <a:xfrm>
            <a:off x="658368" y="4288536"/>
            <a:ext cx="384048" cy="384048"/>
          </a:xfrm>
          <a:prstGeom prst="rect">
            <a:avLst/>
          </a:prstGeom>
        </p:spPr>
      </p:pic>
      <p:sp>
        <p:nvSpPr>
          <p:cNvPr id="26" name="Cell why text"/>
          <p:cNvSpPr txBox="1"/>
          <p:nvPr/>
        </p:nvSpPr>
        <p:spPr>
          <a:xfrm>
            <a:off x="1234440" y="393192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Why it matters: </a:t>
            </a:r>
            <a:r>
              <a:rPr sz="1300" b="0" lang="en-GB">
                <a:solidFill>
                  <a:schemeClr val="bg1"/>
                </a:solidFill>
              </a:rPr>
              <a:t>when the data change, you render again and every chart, table and number in the text updates. No copy and paste into Word.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source, many output formats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Quarto html thumbnail" descr="The demo report rendered as web page (default)"/>
          <p:cNvPicPr>
            <a:picLocks noChangeAspect="1"/>
          </p:cNvPicPr>
          <p:nvPr/>
        </p:nvPicPr>
        <p:blipFill>
          <a:blip r:embed="rId3"/>
          <a:stretch>
            <a:fillRect/>
          </a:stretch>
        </p:blipFill>
        <p:spPr>
          <a:xfrm>
            <a:off x="457200" y="1234440"/>
            <a:ext cx="2194560" cy="1645920"/>
          </a:xfrm>
          <a:prstGeom prst="rect">
            <a:avLst/>
          </a:prstGeom>
          <a:ln w="9525">
            <a:solidFill>
              <a:schemeClr val="accent1"/>
            </a:solidFill>
          </a:ln>
        </p:spPr>
      </p:pic>
      <p:sp>
        <p:nvSpPr>
          <p:cNvPr id="11" name="Quarto html label"/>
          <p:cNvSpPr txBox="1"/>
          <p:nvPr/>
        </p:nvSpPr>
        <p:spPr>
          <a:xfrm>
            <a:off x="457200" y="2926080"/>
            <a:ext cx="2286000"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html</a:t>
            </a:r>
          </a:p>
          <a:p>
            <a:pPr algn="l">
              <a:spcAft>
                <a:spcPts val="0"/>
              </a:spcAft>
            </a:pPr>
            <a:r>
              <a:rPr sz="1050" b="0" lang="en-GB">
                <a:solidFill>
                  <a:schemeClr val="tx1"/>
                </a:solidFill>
              </a:rPr>
              <a:t>web page (default)</a:t>
            </a:r>
          </a:p>
        </p:txBody>
      </p:sp>
      <p:pic>
        <p:nvPicPr>
          <p:cNvPr id="12" name="Quarto revealjs thumbnail" descr="The demo report rendered as slides in the browser"/>
          <p:cNvPicPr>
            <a:picLocks noChangeAspect="1"/>
          </p:cNvPicPr>
          <p:nvPr/>
        </p:nvPicPr>
        <p:blipFill>
          <a:blip r:embed="rId4"/>
          <a:stretch>
            <a:fillRect/>
          </a:stretch>
        </p:blipFill>
        <p:spPr>
          <a:xfrm>
            <a:off x="2938186" y="1234440"/>
            <a:ext cx="2632068" cy="1645920"/>
          </a:xfrm>
          <a:prstGeom prst="rect">
            <a:avLst/>
          </a:prstGeom>
          <a:ln w="9525">
            <a:solidFill>
              <a:schemeClr val="accent1"/>
            </a:solidFill>
          </a:ln>
        </p:spPr>
      </p:pic>
      <p:sp>
        <p:nvSpPr>
          <p:cNvPr id="13" name="Quarto revealjs label"/>
          <p:cNvSpPr txBox="1"/>
          <p:nvPr/>
        </p:nvSpPr>
        <p:spPr>
          <a:xfrm>
            <a:off x="2938186" y="2926080"/>
            <a:ext cx="2723508"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revealjs</a:t>
            </a:r>
          </a:p>
          <a:p>
            <a:pPr algn="l">
              <a:spcAft>
                <a:spcPts val="0"/>
              </a:spcAft>
            </a:pPr>
            <a:r>
              <a:rPr sz="1050" b="0" lang="en-GB">
                <a:solidFill>
                  <a:schemeClr val="tx1"/>
                </a:solidFill>
              </a:rPr>
              <a:t>slides in the browser</a:t>
            </a:r>
          </a:p>
        </p:txBody>
      </p:sp>
      <p:pic>
        <p:nvPicPr>
          <p:cNvPr id="14" name="Quarto typst thumbnail" descr="The demo report rendered as PDF, no LaTeX needed"/>
          <p:cNvPicPr>
            <a:picLocks noChangeAspect="1"/>
          </p:cNvPicPr>
          <p:nvPr/>
        </p:nvPicPr>
        <p:blipFill>
          <a:blip r:embed="rId5"/>
          <a:stretch>
            <a:fillRect/>
          </a:stretch>
        </p:blipFill>
        <p:spPr>
          <a:xfrm>
            <a:off x="5856680" y="1234440"/>
            <a:ext cx="1271847" cy="1645920"/>
          </a:xfrm>
          <a:prstGeom prst="rect">
            <a:avLst/>
          </a:prstGeom>
          <a:ln w="9525">
            <a:solidFill>
              <a:schemeClr val="accent1"/>
            </a:solidFill>
          </a:ln>
        </p:spPr>
      </p:pic>
      <p:sp>
        <p:nvSpPr>
          <p:cNvPr id="15" name="Quarto typst label"/>
          <p:cNvSpPr txBox="1"/>
          <p:nvPr/>
        </p:nvSpPr>
        <p:spPr>
          <a:xfrm>
            <a:off x="5856680"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typst</a:t>
            </a:r>
          </a:p>
          <a:p>
            <a:pPr algn="l">
              <a:spcAft>
                <a:spcPts val="0"/>
              </a:spcAft>
            </a:pPr>
            <a:r>
              <a:rPr sz="1050" b="0" lang="en-GB">
                <a:solidFill>
                  <a:schemeClr val="tx1"/>
                </a:solidFill>
              </a:rPr>
              <a:t>PDF, no LaTeX needed</a:t>
            </a:r>
          </a:p>
        </p:txBody>
      </p:sp>
      <p:pic>
        <p:nvPicPr>
          <p:cNvPr id="16" name="Quarto docx thumbnail" descr="The demo report rendered as Word, to edit further"/>
          <p:cNvPicPr>
            <a:picLocks noChangeAspect="1"/>
          </p:cNvPicPr>
          <p:nvPr/>
        </p:nvPicPr>
        <p:blipFill>
          <a:blip r:embed="rId6"/>
          <a:stretch>
            <a:fillRect/>
          </a:stretch>
        </p:blipFill>
        <p:spPr>
          <a:xfrm>
            <a:off x="7414953" y="1234440"/>
            <a:ext cx="1271847" cy="1645920"/>
          </a:xfrm>
          <a:prstGeom prst="rect">
            <a:avLst/>
          </a:prstGeom>
          <a:ln w="9525">
            <a:solidFill>
              <a:schemeClr val="accent1"/>
            </a:solidFill>
          </a:ln>
        </p:spPr>
      </p:pic>
      <p:sp>
        <p:nvSpPr>
          <p:cNvPr id="17" name="Quarto docx label"/>
          <p:cNvSpPr txBox="1"/>
          <p:nvPr/>
        </p:nvSpPr>
        <p:spPr>
          <a:xfrm>
            <a:off x="7414953"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docx</a:t>
            </a:r>
          </a:p>
          <a:p>
            <a:pPr algn="l">
              <a:spcAft>
                <a:spcPts val="0"/>
              </a:spcAft>
            </a:pPr>
            <a:r>
              <a:rPr sz="1050" b="0" lang="en-GB">
                <a:solidFill>
                  <a:schemeClr val="tx1"/>
                </a:solidFill>
              </a:rPr>
              <a:t>Word, to edit further</a:t>
            </a:r>
          </a:p>
        </p:txBody>
      </p:sp>
      <p:sp>
        <p:nvSpPr>
          <p:cNvPr id="18" name="Formats code caption bar"/>
          <p:cNvSpPr/>
          <p:nvPr/>
        </p:nvSpPr>
        <p:spPr>
          <a:xfrm>
            <a:off x="457200" y="3520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ormats code caption"/>
          <p:cNvSpPr txBox="1"/>
          <p:nvPr/>
        </p:nvSpPr>
        <p:spPr>
          <a:xfrm>
            <a:off x="566928" y="3520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YAML: several formats</a:t>
            </a:r>
          </a:p>
        </p:txBody>
      </p:sp>
      <p:sp>
        <p:nvSpPr>
          <p:cNvPr id="20" name="Formats code box"/>
          <p:cNvSpPr/>
          <p:nvPr/>
        </p:nvSpPr>
        <p:spPr>
          <a:xfrm>
            <a:off x="457200" y="3794760"/>
            <a:ext cx="402336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ats code code"/>
          <p:cNvSpPr txBox="1"/>
          <p:nvPr/>
        </p:nvSpPr>
        <p:spPr>
          <a:xfrm>
            <a:off x="594360" y="3886200"/>
            <a:ext cx="374904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format:</a:t>
            </a:r>
          </a:p>
          <a:p>
            <a:pPr algn="l">
              <a:spcAft>
                <a:spcPts val="0"/>
              </a:spcAft>
            </a:pPr>
            <a:r>
              <a:rPr sz="1100" b="0" lang="en-GB">
                <a:solidFill>
                  <a:schemeClr val="bg1"/>
                </a:solidFill>
                <a:latin typeface="Consolas"/>
              </a:rPr>
              <a:t>  html: default</a:t>
            </a:r>
          </a:p>
          <a:p>
            <a:pPr algn="l">
              <a:spcAft>
                <a:spcPts val="0"/>
              </a:spcAft>
            </a:pPr>
            <a:r>
              <a:rPr sz="1100" b="0" lang="en-GB">
                <a:solidFill>
                  <a:schemeClr val="bg1"/>
                </a:solidFill>
                <a:latin typeface="Consolas"/>
              </a:rPr>
              <a:t>  revealjs: default</a:t>
            </a:r>
          </a:p>
          <a:p>
            <a:pPr algn="l">
              <a:spcAft>
                <a:spcPts val="0"/>
              </a:spcAft>
            </a:pPr>
            <a:r>
              <a:rPr sz="1100" b="0" lang="en-GB">
                <a:solidFill>
                  <a:schemeClr val="bg1"/>
                </a:solidFill>
                <a:latin typeface="Consolas"/>
              </a:rPr>
              <a:t>  typst: default</a:t>
            </a:r>
          </a:p>
          <a:p>
            <a:pPr algn="l">
              <a:spcAft>
                <a:spcPts val="0"/>
              </a:spcAft>
            </a:pPr>
            <a:r>
              <a:rPr sz="1100" b="0" lang="en-GB">
                <a:solidFill>
                  <a:schemeClr val="bg1"/>
                </a:solidFill>
                <a:latin typeface="Consolas"/>
              </a:rPr>
              <a:t>  docx: default</a:t>
            </a:r>
          </a:p>
        </p:txBody>
      </p:sp>
      <p:sp>
        <p:nvSpPr>
          <p:cNvPr id="22" name="Render code caption bar"/>
          <p:cNvSpPr/>
          <p:nvPr/>
        </p:nvSpPr>
        <p:spPr>
          <a:xfrm>
            <a:off x="4617720" y="35204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nder code caption"/>
          <p:cNvSpPr txBox="1"/>
          <p:nvPr/>
        </p:nvSpPr>
        <p:spPr>
          <a:xfrm>
            <a:off x="4727448" y="35204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Terminal: all formats, or one</a:t>
            </a:r>
          </a:p>
        </p:txBody>
      </p:sp>
      <p:sp>
        <p:nvSpPr>
          <p:cNvPr id="24" name="Render code box"/>
          <p:cNvSpPr/>
          <p:nvPr/>
        </p:nvSpPr>
        <p:spPr>
          <a:xfrm>
            <a:off x="4617720" y="3794760"/>
            <a:ext cx="406908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nder code code"/>
          <p:cNvSpPr txBox="1"/>
          <p:nvPr/>
        </p:nvSpPr>
        <p:spPr>
          <a:xfrm>
            <a:off x="4754880" y="3886200"/>
            <a:ext cx="379476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quarto render report.qmd</a:t>
            </a:r>
          </a:p>
          <a:p>
            <a:pPr algn="l">
              <a:spcAft>
                <a:spcPts val="0"/>
              </a:spcAft>
            </a:pPr>
            <a:r>
              <a:rPr sz="1100" b="0" lang="en-GB">
                <a:solidFill>
                  <a:schemeClr val="bg1"/>
                </a:solidFill>
                <a:latin typeface="Consolas"/>
              </a:rPr>
              <a:t>quarto render report.qmd --to docx</a:t>
            </a:r>
          </a:p>
        </p:txBody>
      </p:sp>
      <p:sp>
        <p:nvSpPr>
          <p:cNvPr id="26" name="Formats also"/>
          <p:cNvSpPr txBox="1"/>
          <p:nvPr/>
        </p:nvSpPr>
        <p:spPr>
          <a:xfrm>
            <a:off x="4754880" y="4480560"/>
            <a:ext cx="3840480" cy="548640"/>
          </a:xfrm>
          <a:prstGeom prst="rect">
            <a:avLst/>
          </a:prstGeom>
          <a:noFill/>
        </p:spPr>
        <p:txBody>
          <a:bodyPr wrap="square" lIns="0" rIns="0" tIns="0" bIns="0" anchor="t">
            <a:noAutofit/>
          </a:bodyPr>
          <a:lstStyle/>
          <a:p>
            <a:pPr algn="l">
              <a:spcAft>
                <a:spcPts val="400"/>
              </a:spcAft>
            </a:pPr>
            <a:r>
              <a:rPr sz="1100" b="0" lang="en-GB">
                <a:solidFill>
                  <a:schemeClr val="bg1"/>
                </a:solidFill>
              </a:rPr>
              <a:t>Also: pptx, dashboard, pdf (LaTeX)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7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7 · Positron, Python, the project's .venv, packages</a:t>
            </a:r>
          </a:p>
        </p:txBody>
      </p:sp>
      <p:sp>
        <p:nvSpPr>
          <p:cNvPr id="3" name="Title 2"/>
          <p:cNvSpPr>
            <a:spLocks noGrp="1"/>
          </p:cNvSpPr>
          <p:nvPr>
            <p:ph type="ctrTitle"/>
          </p:nvPr>
        </p:nvSpPr>
        <p:spPr/>
        <p:txBody>
          <a:bodyPr/>
          <a:lstStyle/>
          <a:p>
            <a:r>
              <a:rPr sz="1600" lang="en-GB"/>
              <a:t>Update within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set-up up to date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pdate tile 1 tile"/>
          <p:cNvSpPr/>
          <p:nvPr/>
        </p:nvSpPr>
        <p:spPr>
          <a:xfrm>
            <a:off x="45720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pdate tile 1" descr=""/>
          <p:cNvPicPr>
            <a:picLocks noChangeAspect="1"/>
          </p:cNvPicPr>
          <p:nvPr/>
        </p:nvPicPr>
        <p:blipFill>
          <a:blip r:embed="rId3"/>
          <a:stretch>
            <a:fillRect/>
          </a:stretch>
        </p:blipFill>
        <p:spPr>
          <a:xfrm>
            <a:off x="594360" y="1371600"/>
            <a:ext cx="365760" cy="365760"/>
          </a:xfrm>
          <a:prstGeom prst="rect">
            <a:avLst/>
          </a:prstGeom>
        </p:spPr>
      </p:pic>
      <p:sp>
        <p:nvSpPr>
          <p:cNvPr id="12" name="Update tile 1 text"/>
          <p:cNvSpPr txBox="1"/>
          <p:nvPr/>
        </p:nvSpPr>
        <p:spPr>
          <a:xfrm>
            <a:off x="59436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Positron itself</a:t>
            </a:r>
          </a:p>
          <a:p>
            <a:pPr algn="l">
              <a:spcAft>
                <a:spcPts val="300"/>
              </a:spcAft>
            </a:pPr>
            <a:r>
              <a:rPr sz="1300" b="0" lang="en-GB">
                <a:solidFill>
                  <a:schemeClr val="tx1"/>
                </a:solidFill>
              </a:rPr>
              <a:t>Updates itself; restart to apply</a:t>
            </a:r>
          </a:p>
          <a:p>
            <a:pPr algn="l">
              <a:spcAft>
                <a:spcPts val="300"/>
              </a:spcAft>
            </a:pPr>
            <a:r>
              <a:rPr sz="1300" b="0" lang="en-GB">
                <a:solidFill>
                  <a:schemeClr val="tx1"/>
                </a:solidFill>
              </a:rPr>
              <a:t>By hand: Help → Check for Updates</a:t>
            </a:r>
          </a:p>
        </p:txBody>
      </p:sp>
      <p:sp>
        <p:nvSpPr>
          <p:cNvPr id="13" name="Update tile 2 tile"/>
          <p:cNvSpPr/>
          <p:nvPr/>
        </p:nvSpPr>
        <p:spPr>
          <a:xfrm>
            <a:off x="464058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Update tile 2" descr=""/>
          <p:cNvPicPr>
            <a:picLocks noChangeAspect="1"/>
          </p:cNvPicPr>
          <p:nvPr/>
        </p:nvPicPr>
        <p:blipFill>
          <a:blip r:embed="rId4"/>
          <a:stretch>
            <a:fillRect/>
          </a:stretch>
        </p:blipFill>
        <p:spPr>
          <a:xfrm>
            <a:off x="4777740" y="1371600"/>
            <a:ext cx="365760" cy="365760"/>
          </a:xfrm>
          <a:prstGeom prst="rect">
            <a:avLst/>
          </a:prstGeom>
        </p:spPr>
      </p:pic>
      <p:sp>
        <p:nvSpPr>
          <p:cNvPr id="15" name="Update tile 2 text"/>
          <p:cNvSpPr txBox="1"/>
          <p:nvPr/>
        </p:nvSpPr>
        <p:spPr>
          <a:xfrm>
            <a:off x="477774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Python</a:t>
            </a:r>
          </a:p>
          <a:p>
            <a:pPr algn="l">
              <a:spcAft>
                <a:spcPts val="300"/>
              </a:spcAft>
            </a:pPr>
            <a:r>
              <a:rPr sz="1300" b="0" lang="en-GB">
                <a:solidFill>
                  <a:schemeClr val="tx1"/>
                </a:solidFill>
              </a:rPr>
              <a:t>Python: Install Python via uv</a:t>
            </a:r>
          </a:p>
          <a:p>
            <a:pPr algn="l">
              <a:spcAft>
                <a:spcPts val="300"/>
              </a:spcAft>
            </a:pPr>
            <a:r>
              <a:rPr sz="1300" b="0" lang="en-GB">
                <a:solidFill>
                  <a:schemeClr val="tx1"/>
                </a:solidFill>
              </a:rPr>
              <a:t>Command Palette; pick 3.14</a:t>
            </a:r>
          </a:p>
        </p:txBody>
      </p:sp>
      <p:sp>
        <p:nvSpPr>
          <p:cNvPr id="16" name="Update tile 3 tile"/>
          <p:cNvSpPr/>
          <p:nvPr/>
        </p:nvSpPr>
        <p:spPr>
          <a:xfrm>
            <a:off x="45720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pdate tile 3" descr=""/>
          <p:cNvPicPr>
            <a:picLocks noChangeAspect="1"/>
          </p:cNvPicPr>
          <p:nvPr/>
        </p:nvPicPr>
        <p:blipFill>
          <a:blip r:embed="rId5"/>
          <a:stretch>
            <a:fillRect/>
          </a:stretch>
        </p:blipFill>
        <p:spPr>
          <a:xfrm>
            <a:off x="594360" y="2880360"/>
            <a:ext cx="365760" cy="365760"/>
          </a:xfrm>
          <a:prstGeom prst="rect">
            <a:avLst/>
          </a:prstGeom>
        </p:spPr>
      </p:pic>
      <p:sp>
        <p:nvSpPr>
          <p:cNvPr id="18" name="Update tile 3 text"/>
          <p:cNvSpPr txBox="1"/>
          <p:nvPr/>
        </p:nvSpPr>
        <p:spPr>
          <a:xfrm>
            <a:off x="59436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The project's .venv</a:t>
            </a:r>
          </a:p>
          <a:p>
            <a:pPr algn="l">
              <a:spcAft>
                <a:spcPts val="300"/>
              </a:spcAft>
            </a:pPr>
            <a:r>
              <a:rPr sz="1300" b="0" lang="en-GB">
                <a:solidFill>
                  <a:schemeClr val="tx1"/>
                </a:solidFill>
              </a:rPr>
              <a:t>Tied to the Python that made it</a:t>
            </a:r>
          </a:p>
          <a:p>
            <a:pPr algn="l">
              <a:spcAft>
                <a:spcPts val="300"/>
              </a:spcAft>
            </a:pPr>
            <a:r>
              <a:rPr sz="1300" b="0" lang="en-GB">
                <a:solidFill>
                  <a:schemeClr val="tx1"/>
                </a:solidFill>
              </a:rPr>
              <a:t>New Python? Rebuild the .venv (next slide)</a:t>
            </a:r>
          </a:p>
        </p:txBody>
      </p:sp>
      <p:sp>
        <p:nvSpPr>
          <p:cNvPr id="19" name="Update tile 4 tile"/>
          <p:cNvSpPr/>
          <p:nvPr/>
        </p:nvSpPr>
        <p:spPr>
          <a:xfrm>
            <a:off x="464058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Update tile 4" descr=""/>
          <p:cNvPicPr>
            <a:picLocks noChangeAspect="1"/>
          </p:cNvPicPr>
          <p:nvPr/>
        </p:nvPicPr>
        <p:blipFill>
          <a:blip r:embed="rId6"/>
          <a:stretch>
            <a:fillRect/>
          </a:stretch>
        </p:blipFill>
        <p:spPr>
          <a:xfrm>
            <a:off x="4777740" y="2880360"/>
            <a:ext cx="365760" cy="365760"/>
          </a:xfrm>
          <a:prstGeom prst="rect">
            <a:avLst/>
          </a:prstGeom>
        </p:spPr>
      </p:pic>
      <p:sp>
        <p:nvSpPr>
          <p:cNvPr id="21" name="Update tile 4 text"/>
          <p:cNvSpPr txBox="1"/>
          <p:nvPr/>
        </p:nvSpPr>
        <p:spPr>
          <a:xfrm>
            <a:off x="477774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Packages</a:t>
            </a:r>
          </a:p>
          <a:p>
            <a:pPr algn="l">
              <a:spcAft>
                <a:spcPts val="300"/>
              </a:spcAft>
            </a:pPr>
            <a:r>
              <a:rPr sz="1300" b="0" lang="en-GB">
                <a:solidFill>
                  <a:schemeClr val="tx1"/>
                </a:solidFill>
              </a:rPr>
              <a:t>After a pull: %pip install -r requirements.txt</a:t>
            </a:r>
          </a:p>
          <a:p>
            <a:pPr algn="l">
              <a:spcAft>
                <a:spcPts val="300"/>
              </a:spcAft>
            </a:pPr>
            <a:r>
              <a:rPr sz="1300" b="0" lang="en-GB">
                <a:solidFill>
                  <a:schemeClr val="tx1"/>
                </a:solidFill>
              </a:rPr>
              <a:t>One package: %pip install --upgrade polars</a:t>
            </a:r>
          </a:p>
        </p:txBody>
      </p:sp>
      <p:sp>
        <p:nvSpPr>
          <p:cNvPr id="22" name="Update materials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pdate materials" descr=""/>
          <p:cNvPicPr>
            <a:picLocks noChangeAspect="1"/>
          </p:cNvPicPr>
          <p:nvPr/>
        </p:nvPicPr>
        <p:blipFill>
          <a:blip r:embed="rId7"/>
          <a:stretch>
            <a:fillRect/>
          </a:stretch>
        </p:blipFill>
        <p:spPr>
          <a:xfrm>
            <a:off x="658368" y="4448556"/>
            <a:ext cx="384048" cy="384048"/>
          </a:xfrm>
          <a:prstGeom prst="rect">
            <a:avLst/>
          </a:prstGeom>
        </p:spPr>
      </p:pic>
      <p:sp>
        <p:nvSpPr>
          <p:cNvPr id="24" name="Update materials text"/>
          <p:cNvSpPr txBox="1"/>
          <p:nvPr/>
        </p:nvSpPr>
        <p:spPr>
          <a:xfrm>
            <a:off x="1234440" y="429768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Course materials: </a:t>
            </a:r>
            <a:r>
              <a:rPr sz="1300" b="0" lang="en-GB">
                <a:solidFill>
                  <a:schemeClr val="bg1"/>
                </a:solidFill>
              </a:rPr>
              <a:t>not in Positron. Pull in GitHub Desktop before every session.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Move a project to Python 3.14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e steps row 1"/>
          <p:cNvSpPr/>
          <p:nvPr/>
        </p:nvSpPr>
        <p:spPr>
          <a:xfrm>
            <a:off x="457200" y="123444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e steps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Move steps text 1"/>
          <p:cNvSpPr txBox="1"/>
          <p:nvPr/>
        </p:nvSpPr>
        <p:spPr>
          <a:xfrm>
            <a:off x="1051560" y="123444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Install 3.14: </a:t>
            </a:r>
            <a:r>
              <a:rPr sz="1300" b="0" lang="en-GB">
                <a:solidFill>
                  <a:schemeClr val="tx1"/>
                </a:solidFill>
              </a:rPr>
              <a:t>Command Palette → Python: Install Python via uv → 3.14</a:t>
            </a:r>
          </a:p>
        </p:txBody>
      </p:sp>
      <p:sp>
        <p:nvSpPr>
          <p:cNvPr id="13" name="Move steps row 2"/>
          <p:cNvSpPr/>
          <p:nvPr/>
        </p:nvSpPr>
        <p:spPr>
          <a:xfrm>
            <a:off x="457200" y="187452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ove steps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Move steps text 2"/>
          <p:cNvSpPr txBox="1"/>
          <p:nvPr/>
        </p:nvSpPr>
        <p:spPr>
          <a:xfrm>
            <a:off x="1051560" y="187452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Stop Python: </a:t>
            </a:r>
            <a:r>
              <a:rPr sz="1300" b="0" lang="en-GB">
                <a:solidFill>
                  <a:schemeClr val="tx1"/>
                </a:solidFill>
              </a:rPr>
              <a:t>power icon in the Console</a:t>
            </a:r>
          </a:p>
        </p:txBody>
      </p:sp>
      <p:sp>
        <p:nvSpPr>
          <p:cNvPr id="16" name="Move steps row 3"/>
          <p:cNvSpPr/>
          <p:nvPr/>
        </p:nvSpPr>
        <p:spPr>
          <a:xfrm>
            <a:off x="457200" y="251460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e steps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Move steps text 3"/>
          <p:cNvSpPr txBox="1"/>
          <p:nvPr/>
        </p:nvSpPr>
        <p:spPr>
          <a:xfrm>
            <a:off x="1051560" y="251460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Delete .venv: </a:t>
            </a:r>
            <a:r>
              <a:rPr sz="1300" b="0" lang="en-GB">
                <a:solidFill>
                  <a:schemeClr val="tx1"/>
                </a:solidFill>
              </a:rPr>
              <a:t>Explorer, right-click the .venv folder → Delete</a:t>
            </a:r>
          </a:p>
        </p:txBody>
      </p:sp>
      <p:sp>
        <p:nvSpPr>
          <p:cNvPr id="19" name="Move steps row 4"/>
          <p:cNvSpPr/>
          <p:nvPr/>
        </p:nvSpPr>
        <p:spPr>
          <a:xfrm>
            <a:off x="457200" y="315468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ove steps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Move steps text 4"/>
          <p:cNvSpPr txBox="1"/>
          <p:nvPr/>
        </p:nvSpPr>
        <p:spPr>
          <a:xfrm>
            <a:off x="1051560" y="315468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Create Environment: </a:t>
            </a:r>
            <a:r>
              <a:rPr sz="1300" b="0" lang="en-GB">
                <a:solidFill>
                  <a:schemeClr val="tx1"/>
                </a:solidFill>
              </a:rPr>
              <a:t>Venv → Python 3.14.8, tick requirements.txt</a:t>
            </a:r>
          </a:p>
        </p:txBody>
      </p:sp>
      <p:sp>
        <p:nvSpPr>
          <p:cNvPr id="22" name="Move steps row 5"/>
          <p:cNvSpPr/>
          <p:nvPr/>
        </p:nvSpPr>
        <p:spPr>
          <a:xfrm>
            <a:off x="457200" y="379476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e steps number 5"/>
          <p:cNvSpPr/>
          <p:nvPr/>
        </p:nvSpPr>
        <p:spPr>
          <a:xfrm>
            <a:off x="594360" y="39227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Move steps text 5"/>
          <p:cNvSpPr txBox="1"/>
          <p:nvPr/>
        </p:nvSpPr>
        <p:spPr>
          <a:xfrm>
            <a:off x="1051560" y="379476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Check: </a:t>
            </a:r>
            <a:r>
              <a:rPr sz="1300" b="0" lang="en-GB">
                <a:solidFill>
                  <a:schemeClr val="tx1"/>
                </a:solidFill>
              </a:rPr>
              <a:t>pick Python 3.14.8 (.venv), then %run setup/check_setup.py</a:t>
            </a:r>
          </a:p>
        </p:txBody>
      </p:sp>
      <p:sp>
        <p:nvSpPr>
          <p:cNvPr id="25" name="Move picker panel"/>
          <p:cNvSpPr/>
          <p:nvPr/>
        </p:nvSpPr>
        <p:spPr>
          <a:xfrm>
            <a:off x="5760720" y="1234440"/>
            <a:ext cx="2926080" cy="3127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ove picker head"/>
          <p:cNvSpPr txBox="1"/>
          <p:nvPr/>
        </p:nvSpPr>
        <p:spPr>
          <a:xfrm>
            <a:off x="5897880" y="1325880"/>
            <a:ext cx="265176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Interpreter picker</a:t>
            </a:r>
          </a:p>
        </p:txBody>
      </p:sp>
      <p:sp>
        <p:nvSpPr>
          <p:cNvPr id="27" name="Move pill 1"/>
          <p:cNvSpPr/>
          <p:nvPr/>
        </p:nvSpPr>
        <p:spPr>
          <a:xfrm>
            <a:off x="5897880" y="1783080"/>
            <a:ext cx="265176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ove pill text 1"/>
          <p:cNvSpPr txBox="1"/>
          <p:nvPr/>
        </p:nvSpPr>
        <p:spPr>
          <a:xfrm>
            <a:off x="5961888" y="1783080"/>
            <a:ext cx="256032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3.13.5 (.venv)</a:t>
            </a:r>
          </a:p>
        </p:txBody>
      </p:sp>
      <p:sp>
        <p:nvSpPr>
          <p:cNvPr id="29" name="Move pill label 1"/>
          <p:cNvSpPr txBox="1"/>
          <p:nvPr/>
        </p:nvSpPr>
        <p:spPr>
          <a:xfrm>
            <a:off x="5897880" y="216712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before</a:t>
            </a:r>
          </a:p>
        </p:txBody>
      </p:sp>
      <p:sp>
        <p:nvSpPr>
          <p:cNvPr id="30" name="Move pill 2"/>
          <p:cNvSpPr/>
          <p:nvPr/>
        </p:nvSpPr>
        <p:spPr>
          <a:xfrm>
            <a:off x="5897880" y="2560320"/>
            <a:ext cx="2651760" cy="384048"/>
          </a:xfrm>
          <a:prstGeom prst="roundRect">
            <a:avLst/>
          </a:prstGeom>
          <a:solidFill>
            <a:schemeClr val="tx2"/>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e pill text 2"/>
          <p:cNvSpPr txBox="1"/>
          <p:nvPr/>
        </p:nvSpPr>
        <p:spPr>
          <a:xfrm>
            <a:off x="5961888" y="2560320"/>
            <a:ext cx="2560320" cy="384048"/>
          </a:xfrm>
          <a:prstGeom prst="rect">
            <a:avLst/>
          </a:prstGeom>
          <a:noFill/>
        </p:spPr>
        <p:txBody>
          <a:bodyPr wrap="square" lIns="0" rIns="0" tIns="0" bIns="0" anchor="ctr">
            <a:noAutofit/>
          </a:bodyPr>
          <a:lstStyle/>
          <a:p>
            <a:pPr algn="l">
              <a:spcAft>
                <a:spcPts val="400"/>
              </a:spcAft>
            </a:pPr>
            <a:r>
              <a:rPr sz="1100" b="0" lang="en-GB">
                <a:solidFill>
                  <a:schemeClr val="bg1"/>
                </a:solidFill>
                <a:latin typeface="Consolas"/>
              </a:rPr>
              <a:t>Python 3.14.8 (.venv) ✓</a:t>
            </a:r>
          </a:p>
        </p:txBody>
      </p:sp>
      <p:sp>
        <p:nvSpPr>
          <p:cNvPr id="32" name="Move pill label 2"/>
          <p:cNvSpPr txBox="1"/>
          <p:nvPr/>
        </p:nvSpPr>
        <p:spPr>
          <a:xfrm>
            <a:off x="5897880" y="294436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after</a:t>
            </a:r>
          </a:p>
        </p:txBody>
      </p:sp>
      <p:sp>
        <p:nvSpPr>
          <p:cNvPr id="33" name="Move result"/>
          <p:cNvSpPr txBox="1"/>
          <p:nvPr/>
        </p:nvSpPr>
        <p:spPr>
          <a:xfrm>
            <a:off x="5897880" y="3383280"/>
            <a:ext cx="265176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The check then reports </a:t>
            </a:r>
            <a:r>
              <a:rPr sz="1200" b="1" lang="en-GB">
                <a:solidFill>
                  <a:schemeClr val="tx2"/>
                </a:solidFill>
              </a:rPr>
              <a:t>3.14.8</a:t>
            </a:r>
            <a:r>
              <a:rPr sz="1200" b="0" lang="en-GB">
                <a:solidFill>
                  <a:schemeClr val="tx1"/>
                </a:solidFill>
              </a:rPr>
              <a:t> and ends with </a:t>
            </a:r>
            <a:r>
              <a:rPr sz="1200" b="1" lang="en-GB">
                <a:solidFill>
                  <a:schemeClr val="tx2"/>
                </a:solidFill>
              </a:rPr>
              <a:t>ready</a:t>
            </a:r>
            <a:r>
              <a:rPr sz="1200" b="0" lang="en-GB">
                <a:solidFill>
                  <a:schemeClr val="tx1"/>
                </a:solidFill>
              </a:rPr>
              <a:t>.</a:t>
            </a:r>
          </a:p>
        </p:txBody>
      </p:sp>
      <p:sp>
        <p:nvSpPr>
          <p:cNvPr id="34" name="Move why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Move why" descr=""/>
          <p:cNvPicPr>
            <a:picLocks noChangeAspect="1"/>
          </p:cNvPicPr>
          <p:nvPr/>
        </p:nvPicPr>
        <p:blipFill>
          <a:blip r:embed="rId3"/>
          <a:stretch>
            <a:fillRect/>
          </a:stretch>
        </p:blipFill>
        <p:spPr>
          <a:xfrm>
            <a:off x="658368" y="4608576"/>
            <a:ext cx="384048" cy="384048"/>
          </a:xfrm>
          <a:prstGeom prst="rect">
            <a:avLst/>
          </a:prstGeom>
        </p:spPr>
      </p:pic>
      <p:sp>
        <p:nvSpPr>
          <p:cNvPr id="36" name="Move why text"/>
          <p:cNvSpPr txBox="1"/>
          <p:nvPr/>
        </p:nvSpPr>
        <p:spPr>
          <a:xfrm>
            <a:off x="1234440" y="4572000"/>
            <a:ext cx="7269480" cy="457200"/>
          </a:xfrm>
          <a:prstGeom prst="rect">
            <a:avLst/>
          </a:prstGeom>
          <a:noFill/>
        </p:spPr>
        <p:txBody>
          <a:bodyPr wrap="square" lIns="0" rIns="0" tIns="0" bIns="0" anchor="ctr">
            <a:noAutofit/>
          </a:bodyPr>
          <a:lstStyle/>
          <a:p>
            <a:pPr algn="l">
              <a:spcAft>
                <a:spcPts val="400"/>
              </a:spcAft>
            </a:pPr>
            <a:r>
              <a:rPr sz="1300" b="1" lang="en-GB">
                <a:solidFill>
                  <a:schemeClr val="bg1"/>
                </a:solidFill>
              </a:rPr>
              <a:t>Why rebuild? </a:t>
            </a:r>
            <a:r>
              <a:rPr sz="1300" b="0" lang="en-GB">
                <a:solidFill>
                  <a:schemeClr val="bg1"/>
                </a:solidFill>
              </a:rPr>
              <a:t>a .venv cannot be upgraded; the old Python can stay installed.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33756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 is not recognised</a:t>
                      </a:r>
                    </a:p>
                  </a:txBody>
                  <a:tcPr marT="54000" marB="54000"/>
                </a:tc>
                <a:tc>
                  <a:txBody>
                    <a:bodyPr/>
                    <a:lstStyle/>
                    <a:p>
                      <a:r>
                        <a:rPr sz="1300" lang="en-GB"/>
                        <a:t>Reinstall the Python install manager; py install 3.14</a:t>
                      </a:r>
                    </a:p>
                  </a:txBody>
                  <a:tcPr marT="54000" marB="54000"/>
                </a:tc>
              </a:tr>
              <a:tr h="370840">
                <a:tc>
                  <a:txBody>
                    <a:bodyPr/>
                    <a:lstStyle/>
                    <a:p>
                      <a:r>
                        <a:rPr sz="1300" b="1" lang="en-GB"/>
                        <a:t>No .venv in the picker</a:t>
                      </a:r>
                    </a:p>
                  </a:txBody>
                  <a:tcPr marT="54000" marB="54000"/>
                </a:tc>
                <a:tc>
                  <a:txBody>
                    <a:bodyPr/>
                    <a:lstStyle/>
                    <a:p>
                      <a:r>
                        <a:rPr sz="1300" lang="en-GB"/>
                        <a:t>Open the course folder, not a file; pick Python 3.14.8 (.venv)</a:t>
                      </a:r>
                    </a:p>
                  </a:txBody>
                  <a:tcPr marT="54000" marB="54000"/>
                </a:tc>
              </a:tr>
              <a:tr h="370840">
                <a:tc>
                  <a:txBody>
                    <a:bodyPr/>
                    <a:lstStyle/>
                    <a:p>
                      <a:r>
                        <a:rPr sz="1300" b="1" lang="en-GB"/>
                        <a:t>Check shows Python 3.13 or older</a:t>
                      </a:r>
                    </a:p>
                  </a:txBody>
                  <a:tcPr marT="54000" marB="54000"/>
                </a:tc>
                <a:tc>
                  <a:txBody>
                    <a:bodyPr/>
                    <a:lstStyle/>
                    <a:p>
                      <a:r>
                        <a:rPr sz="1300" lang="en-GB"/>
                        <a:t>Move the project to Python 3.14 (Part 7)</a:t>
                      </a:r>
                    </a:p>
                  </a:txBody>
                  <a:tcPr marT="54000" marB="54000"/>
                </a:tc>
              </a:tr>
              <a:tr h="370840">
                <a:tc>
                  <a:txBody>
                    <a:bodyPr/>
                    <a:lstStyle/>
                    <a:p>
                      <a:r>
                        <a:rPr sz="1300" b="1" lang="en-GB"/>
                        <a:t>No module named … (also 'yaml')</a:t>
                      </a:r>
                    </a:p>
                  </a:txBody>
                  <a:tcPr marT="54000" marB="54000"/>
                </a:tc>
                <a:tc>
                  <a:txBody>
                    <a:bodyPr/>
                    <a:lstStyle/>
                    <a:p>
                      <a:r>
                        <a:rPr sz="1300" lang="en-GB"/>
                        <a:t>Not in the .venv: select it, then %pip install the package</a:t>
                      </a:r>
                    </a:p>
                  </a:txBody>
                  <a:tcPr marT="54000" marB="54000"/>
                </a:tc>
              </a:tr>
              <a:tr h="370840">
                <a:tc>
                  <a:txBody>
                    <a:bodyPr/>
                    <a:lstStyle/>
                    <a:p>
                      <a:r>
                        <a:rPr sz="1300" b="1" lang="en-GB"/>
                        <a:t>macOS: externally-managed</a:t>
                      </a:r>
                    </a:p>
                  </a:txBody>
                  <a:tcPr marT="54000" marB="54000"/>
                </a:tc>
                <a:tc>
                  <a:txBody>
                    <a:bodyPr/>
                    <a:lstStyle/>
                    <a:p>
                      <a:r>
                        <a:rPr sz="1300" lang="en-GB"/>
                        <a:t>System Python in use: select the project's .venv</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a:t>
                      </a:r>
                    </a:p>
                  </a:txBody>
                  <a:tcPr marT="54000" marB="54000"/>
                </a:tc>
              </a:tr>
              <a:tr h="370840">
                <a:tc>
                  <a:txBody>
                    <a:bodyPr/>
                    <a:lstStyle/>
                    <a:p>
                      <a:r>
                        <a:rPr sz="1300" b="1" lang="en-GB"/>
                        <a:t>Copilot is not offered</a:t>
                      </a:r>
                    </a:p>
                  </a:txBody>
                  <a:tcPr marT="54000" marB="54000"/>
                </a:tc>
                <a:tc>
                  <a:txBody>
                    <a:bodyPr/>
                    <a:lstStyle/>
                    <a:p>
                      <a:r>
                        <a:rPr sz="1300" lang="en-GB"/>
                        <a:t>GitHub Education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