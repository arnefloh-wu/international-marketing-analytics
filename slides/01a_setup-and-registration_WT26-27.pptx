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set up every laptop together. Nothing had to be installed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Start the GitHub Education application first, because approval can take a few days; everything else runs while it is pending.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Accounts first: they need e-mail confirmations and, for GitHub Education, an approval that can take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for students. Use the WU e-mail address everywhere, so the student benefits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Two-factor authentication is required by GitHub for accounts that contribute code. GitHub Mobile is the easiest second factor.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is often quick but can take several days, and benefits can take up to 72 hours more to appear. Check the Copilot Student plan status the week before term; it was paused once in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DataCamp for the Classroom gives students free premium access for six months. Nobody needs to pay.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overview first, so students know why each tool is there before they install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the shared cloud copy. GitHub Desktop syncs it with a folder on the laptop. Positron is where students work on that folder, using Python, Quarto and an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3.14.8 (30 September 2026) is the latest release; every course package installs and runs on it. Windows and macOS do not come with Python, so it is always installed once. On Windows, python.org now distributes Python through the Python install manager, which installs and updates Python itself. Positron can also install Python for you: Command Palette, Python: Install Python via uv.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Python first, then these three. Current Positron: 2026.09 (September 2026); it updates monthly and offers updates itself. Its welcome page checks whether Python is ready. GitHub Desktop brings its own Git.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repository is public: anyone can clone it without sign-in or access rights. Students pull updates before each session. The cloned folder is the project they open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Create Environment makes a .venv inside the open project folder with the chosen Python, offers to install the packages from requirements.txt, and selects the new interpreter. The first install takes a few minutes because PyMC is large. If packages were not installed, the console line does it, on Windows and macOS alike.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lives in setup/check_setup.py. Every line marked !! says what to fix. setup/test_stack.qmd then runs polars, plotnine and statsmodels on the course data and renders with Quarto. Alternatively open the file and press the Run button at the top right of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replaced Positron Assistant and Databot in Positron 2026.07; older videos show the old menus. GitHub Copilot gives chat and code completions and is the cheapest provider for students; in Positron it is still marked Preview.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2026.09. A five-minute tour with the live application next to the slides works best.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the Positron documentation: Activity Bar and Primary Side Bar on the left, Editor in the middle with the Panel (Console, Terminal) below, Secondary Side Bar on the right with the Session pane (Variables, Plots). The Top Bar holds the project switcher and the Interpreter picker.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live: write one line, press Ctrl+Enter, point at the console, the Variables pane and the plot. %view df opens a table in the Data Explorer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Positron a project is simply a folder opened with File &gt; Open Folder (a workspace). Positron finds the .venv at the folder root and remembers the interpreter for that folder. Open folders, not single files.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Folder from Template sets up the folder, a .venv, Git and a running session in one dialog. Open it from the New menu (top left), the project switcher or the Command Palette (Workspaces: New Folder from Template).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in the browser is where the repository is created and the group is invited; GitHub Desktop keeps each laptop's copy in sync; Positron is where the work happens.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labs and the case study report are Quarto files. Text, code and results stay in one file, so the report can be rerun when the data change. Since 2026.08, output appears inline under each cell, with Fix and Explain buttons on errors.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Positron-specific shortcuts from the Positron documentation, plus the Quarto preview. On macOS, Cmd replaces Ctrl except where noted. The Command Palette finds every other command by name.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has been Positron's built-in AI since 2026.07, replacing Positron Assistant and Databot. It uses session context (variable names and types, plots, console history). Permission modes: Normal asks before acting, Restricted allows less, YOLO runs without asking; we use Normal.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 a conversation (Markdown) and attach it as the prompt log. Posit's FAQ: prompts and session information such as variable names and types go to the model provider; row-level data only when you ask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and load first, then one slide per package with code that runs on the course data.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install into the course .venv. The terminal lines call the Python inside .venv directly, so no activation is needed. %pip in the Positron console installs into the running session; restart the session afterwards if Positron asks.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pane arrived in Positron 2026.07. It works on the active session's environment, uses the workspace requirements.txt to keep versions consistent, flags outdated packages and known security issues, and prompts for a session restart after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Loading is the same on Windows and macOS. Installing happens once per laptop; importing in every file and every new session.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stages repeat in every lab and in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top to bottom: keep 2025, group by country, sum two columns, sort. statsmodels and PyMC expect pandas, so convert at the end with .to_pandas().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grammar as ggplot2 in R, so R tutorials transfer almost one to one. Each + adds one layer.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takes the polars summary from the polars slide directly. In a Quarto HTML report the table renders by itself; .save() writes a 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look only: Sessions 1 and 2 explain how to read, check and improve such a model. The formula reads: sales explained by price, TV spend and paid search spend.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an old terminal window or the wrong interpreter.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Anything still open goes to the Q&amp;A forum on Canvas before Session 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hyperlink" Target="https://github.com/signup" TargetMode="External"/><Relationship Id="rId5" Type="http://schemas.openxmlformats.org/officeDocument/2006/relationships/image" Target="../media/image14.png"/><Relationship Id="rId6" Type="http://schemas.openxmlformats.org/officeDocument/2006/relationships/hyperlink" Target="https://education.github.com/pack" TargetMode="External"/><Relationship Id="rId7" Type="http://schemas.openxmlformats.org/officeDocument/2006/relationships/image" Target="../media/image15.png"/><Relationship Id="rId8"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hyperlink" Target="https://education.github.com/pack" TargetMode="External"/><Relationship Id="rId5" Type="http://schemas.openxmlformats.org/officeDocument/2006/relationships/image" Target="../media/image19.png"/><Relationship Id="rId6" Type="http://schemas.openxmlformats.org/officeDocument/2006/relationships/hyperlink" Target="https://github.com/settings/copilot" TargetMode="External"/><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29.png"/><Relationship Id="rId6" Type="http://schemas.openxmlformats.org/officeDocument/2006/relationships/hyperlink" Target="https://www.python.org/download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hyperlink" Target="https://positron.posit.co/download" TargetMode="External"/><Relationship Id="rId5" Type="http://schemas.openxmlformats.org/officeDocument/2006/relationships/image" Target="../media/image30.png"/><Relationship Id="rId6" Type="http://schemas.openxmlformats.org/officeDocument/2006/relationships/hyperlink" Target="https://quarto.org/docs/get-started/" TargetMode="External"/><Relationship Id="rId7" Type="http://schemas.openxmlformats.org/officeDocument/2006/relationships/image" Target="../media/image31.png"/><Relationship Id="rId8" Type="http://schemas.openxmlformats.org/officeDocument/2006/relationships/hyperlink" Target="https://desktop.github.com" TargetMode="External"/><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31.png"/><Relationship Id="rId5" Type="http://schemas.openxmlformats.org/officeDocument/2006/relationships/image" Target="../media/image28.png"/><Relationship Id="rId6"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46.png"/><Relationship Id="rId5" Type="http://schemas.openxmlformats.org/officeDocument/2006/relationships/image" Target="../media/image4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9.png"/><Relationship Id="rId4" Type="http://schemas.openxmlformats.org/officeDocument/2006/relationships/image" Target="../media/image48.png"/><Relationship Id="rId5"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5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52.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5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6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6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62.png"/><Relationship Id="rId4" Type="http://schemas.openxmlformats.org/officeDocument/2006/relationships/image" Target="../media/image9.png"/><Relationship Id="rId5" Type="http://schemas.openxmlformats.org/officeDocument/2006/relationships/image" Target="../media/image6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Set-up and registration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from zero to a working set-up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Tools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Repo</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Project</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Check</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AI</a:t>
            </a:r>
          </a:p>
        </p:txBody>
      </p:sp>
      <p:sp>
        <p:nvSpPr>
          <p:cNvPr id="16" name="Plan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you need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laptop and charger</a:t>
            </a:r>
          </a:p>
          <a:p>
            <a:pPr algn="l" marL="182880" indent="-182880">
              <a:spcAft>
                <a:spcPts val="600"/>
              </a:spcAft>
              <a:buClr>
                <a:schemeClr val="accent1"/>
              </a:buClr>
              <a:buFont typeface="Arial"/>
              <a:buChar char="▪"/>
            </a:pPr>
            <a:r>
              <a:rPr sz="1300" b="0" lang="en-GB">
                <a:solidFill>
                  <a:schemeClr val="tx1"/>
                </a:solidFill>
              </a:rPr>
              <a:t>Windows 10/11 or a recent macOS</a:t>
            </a:r>
          </a:p>
          <a:p>
            <a:pPr algn="l" marL="182880" indent="-182880">
              <a:spcAft>
                <a:spcPts val="600"/>
              </a:spcAft>
              <a:buClr>
                <a:schemeClr val="accent1"/>
              </a:buClr>
              <a:buFont typeface="Arial"/>
              <a:buChar char="▪"/>
            </a:pPr>
            <a:r>
              <a:rPr sz="1300" b="0" lang="en-GB">
                <a:solidFill>
                  <a:schemeClr val="tx1"/>
                </a:solidFill>
              </a:rPr>
              <a:t>About 10 GB free disk space</a:t>
            </a:r>
          </a:p>
          <a:p>
            <a:pPr algn="l" marL="182880" indent="-182880">
              <a:spcAft>
                <a:spcPts val="600"/>
              </a:spcAft>
              <a:buClr>
                <a:schemeClr val="accent1"/>
              </a:buClr>
              <a:buFont typeface="Arial"/>
              <a:buChar char="▪"/>
            </a:pPr>
            <a:r>
              <a:rPr sz="1300" b="0" lang="en-GB">
                <a:solidFill>
                  <a:schemeClr val="tx1"/>
                </a:solidFill>
              </a:rPr>
              <a:t>Admin rights to install software</a:t>
            </a:r>
          </a:p>
        </p:txBody>
      </p:sp>
      <p:sp>
        <p:nvSpPr>
          <p:cNvPr id="21" name="Plan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Have at hand</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WU e-mail and its password</a:t>
            </a:r>
          </a:p>
          <a:p>
            <a:pPr algn="l" marL="182880" indent="-182880">
              <a:spcAft>
                <a:spcPts val="600"/>
              </a:spcAft>
              <a:buClr>
                <a:schemeClr val="accent1"/>
              </a:buClr>
              <a:buFont typeface="Arial"/>
              <a:buChar char="▪"/>
            </a:pPr>
            <a:r>
              <a:rPr sz="1300" b="0" lang="en-GB">
                <a:solidFill>
                  <a:schemeClr val="tx1"/>
                </a:solidFill>
              </a:rPr>
              <a:t>Your phone, for two-factor sign-in</a:t>
            </a:r>
          </a:p>
          <a:p>
            <a:pPr algn="l" marL="182880" indent="-182880">
              <a:spcAft>
                <a:spcPts val="600"/>
              </a:spcAft>
              <a:buClr>
                <a:schemeClr val="accent1"/>
              </a:buClr>
              <a:buFont typeface="Arial"/>
              <a:buChar char="▪"/>
            </a:pPr>
            <a:r>
              <a:rPr sz="1300" b="0" lang="en-GB">
                <a:solidFill>
                  <a:schemeClr val="tx1"/>
                </a:solidFill>
              </a:rPr>
              <a:t>Your student ID or enrolment confirmation</a:t>
            </a:r>
          </a:p>
        </p:txBody>
      </p:sp>
      <p:sp>
        <p:nvSpPr>
          <p:cNvPr id="26" name="Plan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we work</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step at a time, all together</a:t>
            </a:r>
          </a:p>
          <a:p>
            <a:pPr algn="l" marL="182880" indent="-182880">
              <a:spcAft>
                <a:spcPts val="600"/>
              </a:spcAft>
              <a:buClr>
                <a:schemeClr val="accent1"/>
              </a:buClr>
              <a:buFont typeface="Arial"/>
              <a:buChar char="▪"/>
            </a:pPr>
            <a:r>
              <a:rPr sz="1300" b="0" lang="en-GB">
                <a:solidFill>
                  <a:schemeClr val="tx1"/>
                </a:solidFill>
              </a:rPr>
              <a:t>Check your neighbour's screen</a:t>
            </a:r>
          </a:p>
          <a:p>
            <a:pPr algn="l" marL="182880" indent="-182880">
              <a:spcAft>
                <a:spcPts val="600"/>
              </a:spcAft>
              <a:buClr>
                <a:schemeClr val="accent1"/>
              </a:buClr>
              <a:buFont typeface="Arial"/>
              <a:buChar char="▪"/>
            </a:pPr>
            <a:r>
              <a:rPr sz="1300" b="0" lang="en-GB">
                <a:solidFill>
                  <a:schemeClr val="tx1"/>
                </a:solidFill>
              </a:rPr>
              <a:t>Stuck? Raise your hand, keep going with the next step</a:t>
            </a:r>
          </a:p>
        </p:txBody>
      </p:sp>
      <p:sp>
        <p:nvSpPr>
          <p:cNvPr id="31" name="Goal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Goal" descr=""/>
          <p:cNvPicPr>
            <a:picLocks noChangeAspect="1"/>
          </p:cNvPicPr>
          <p:nvPr/>
        </p:nvPicPr>
        <p:blipFill>
          <a:blip r:embed="rId6"/>
          <a:stretch>
            <a:fillRect/>
          </a:stretch>
        </p:blipFill>
        <p:spPr>
          <a:xfrm>
            <a:off x="658368" y="4539996"/>
            <a:ext cx="384048" cy="384048"/>
          </a:xfrm>
          <a:prstGeom prst="rect">
            <a:avLst/>
          </a:prstGeom>
        </p:spPr>
      </p:pic>
      <p:sp>
        <p:nvSpPr>
          <p:cNvPr id="33" name="Goal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Goal: </a:t>
            </a:r>
            <a:r>
              <a:rPr sz="1300" b="0" lang="en-GB">
                <a:solidFill>
                  <a:schemeClr val="bg1"/>
                </a:solidFill>
              </a:rPr>
              <a:t>by the end of today the check script prints “ready” on every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4 · GitHub, GitHub Education, DataCamp</a:t>
            </a:r>
          </a:p>
        </p:txBody>
      </p:sp>
      <p:sp>
        <p:nvSpPr>
          <p:cNvPr id="3" name="Title 2"/>
          <p:cNvSpPr>
            <a:spLocks noGrp="1"/>
          </p:cNvSpPr>
          <p:nvPr>
            <p:ph type="ctrTitle"/>
          </p:nvPr>
        </p:nvSpPr>
        <p:spPr/>
        <p:txBody>
          <a:bodyPr/>
          <a:lstStyle/>
          <a:p>
            <a:r>
              <a:rPr sz="1600" lang="en-GB"/>
              <a:t>Register your accounts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registrations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Account 1 tile"/>
          <p:cNvSpPr/>
          <p:nvPr/>
        </p:nvSpPr>
        <p:spPr>
          <a:xfrm>
            <a:off x="45720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Account 1" descr=""/>
          <p:cNvPicPr>
            <a:picLocks noChangeAspect="1"/>
          </p:cNvPicPr>
          <p:nvPr/>
        </p:nvPicPr>
        <p:blipFill>
          <a:blip r:embed="rId3"/>
          <a:stretch>
            <a:fillRect/>
          </a:stretch>
        </p:blipFill>
        <p:spPr>
          <a:xfrm>
            <a:off x="594360" y="1920240"/>
            <a:ext cx="365760" cy="365760"/>
          </a:xfrm>
          <a:prstGeom prst="rect">
            <a:avLst/>
          </a:prstGeom>
        </p:spPr>
      </p:pic>
      <p:sp>
        <p:nvSpPr>
          <p:cNvPr id="18" name="Account 1 text"/>
          <p:cNvSpPr txBox="1"/>
          <p:nvPr/>
        </p:nvSpPr>
        <p:spPr>
          <a:xfrm>
            <a:off x="59436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a:t>
            </a:r>
          </a:p>
          <a:p>
            <a:pPr algn="l">
              <a:spcAft>
                <a:spcPts val="300"/>
              </a:spcAft>
            </a:pPr>
            <a:r>
              <a:rPr sz="1300" b="0" lang="en-GB">
                <a:solidFill>
                  <a:schemeClr val="tx1"/>
                </a:solidFill>
              </a:rPr>
              <a:t>Stores code and its history; hosts the course and group repositories</a:t>
            </a:r>
          </a:p>
        </p:txBody>
      </p:sp>
      <p:sp>
        <p:nvSpPr>
          <p:cNvPr id="19" name="Account 1 where"/>
          <p:cNvSpPr txBox="1"/>
          <p:nvPr/>
        </p:nvSpPr>
        <p:spPr>
          <a:xfrm>
            <a:off x="59436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github.com/signup</a:t>
            </a:r>
          </a:p>
        </p:txBody>
      </p:sp>
      <p:sp>
        <p:nvSpPr>
          <p:cNvPr id="20" name="Account 2 tile"/>
          <p:cNvSpPr/>
          <p:nvPr/>
        </p:nvSpPr>
        <p:spPr>
          <a:xfrm>
            <a:off x="324612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count 2" descr=""/>
          <p:cNvPicPr>
            <a:picLocks noChangeAspect="1"/>
          </p:cNvPicPr>
          <p:nvPr/>
        </p:nvPicPr>
        <p:blipFill>
          <a:blip r:embed="rId5"/>
          <a:stretch>
            <a:fillRect/>
          </a:stretch>
        </p:blipFill>
        <p:spPr>
          <a:xfrm>
            <a:off x="3383280" y="1920240"/>
            <a:ext cx="365760" cy="365760"/>
          </a:xfrm>
          <a:prstGeom prst="rect">
            <a:avLst/>
          </a:prstGeom>
        </p:spPr>
      </p:pic>
      <p:sp>
        <p:nvSpPr>
          <p:cNvPr id="22" name="Account 2 text"/>
          <p:cNvSpPr txBox="1"/>
          <p:nvPr/>
        </p:nvSpPr>
        <p:spPr>
          <a:xfrm>
            <a:off x="338328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 Education</a:t>
            </a:r>
          </a:p>
          <a:p>
            <a:pPr algn="l">
              <a:spcAft>
                <a:spcPts val="300"/>
              </a:spcAft>
            </a:pPr>
            <a:r>
              <a:rPr sz="1300" b="0" lang="en-GB">
                <a:solidFill>
                  <a:schemeClr val="tx1"/>
                </a:solidFill>
              </a:rPr>
              <a:t>Free student benefits, including GitHub Copilot</a:t>
            </a:r>
          </a:p>
        </p:txBody>
      </p:sp>
      <p:sp>
        <p:nvSpPr>
          <p:cNvPr id="23" name="Account 2 where"/>
          <p:cNvSpPr txBox="1"/>
          <p:nvPr/>
        </p:nvSpPr>
        <p:spPr>
          <a:xfrm>
            <a:off x="338328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education.github.com/pack</a:t>
            </a:r>
          </a:p>
        </p:txBody>
      </p:sp>
      <p:sp>
        <p:nvSpPr>
          <p:cNvPr id="24" name="Account 3 tile"/>
          <p:cNvSpPr/>
          <p:nvPr/>
        </p:nvSpPr>
        <p:spPr>
          <a:xfrm>
            <a:off x="603504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ccount 3" descr=""/>
          <p:cNvPicPr>
            <a:picLocks noChangeAspect="1"/>
          </p:cNvPicPr>
          <p:nvPr/>
        </p:nvPicPr>
        <p:blipFill>
          <a:blip r:embed="rId7"/>
          <a:stretch>
            <a:fillRect/>
          </a:stretch>
        </p:blipFill>
        <p:spPr>
          <a:xfrm>
            <a:off x="6172200" y="1920240"/>
            <a:ext cx="365760" cy="365760"/>
          </a:xfrm>
          <a:prstGeom prst="rect">
            <a:avLst/>
          </a:prstGeom>
        </p:spPr>
      </p:pic>
      <p:sp>
        <p:nvSpPr>
          <p:cNvPr id="26" name="Account 3 text"/>
          <p:cNvSpPr txBox="1"/>
          <p:nvPr/>
        </p:nvSpPr>
        <p:spPr>
          <a:xfrm>
            <a:off x="617220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DataCamp</a:t>
            </a:r>
          </a:p>
          <a:p>
            <a:pPr algn="l">
              <a:spcAft>
                <a:spcPts val="300"/>
              </a:spcAft>
            </a:pPr>
            <a:r>
              <a:rPr sz="1300" b="0" lang="en-GB">
                <a:solidFill>
                  <a:schemeClr val="tx1"/>
                </a:solidFill>
              </a:rPr>
              <a:t>Online Python courses; four certificates count 20 %</a:t>
            </a:r>
          </a:p>
        </p:txBody>
      </p:sp>
      <p:sp>
        <p:nvSpPr>
          <p:cNvPr id="27" name="Account 3 where"/>
          <p:cNvSpPr txBox="1"/>
          <p:nvPr/>
        </p:nvSpPr>
        <p:spPr>
          <a:xfrm>
            <a:off x="6172200" y="3840480"/>
            <a:ext cx="2377440" cy="365760"/>
          </a:xfrm>
          <a:prstGeom prst="rect">
            <a:avLst/>
          </a:prstGeom>
          <a:noFill/>
        </p:spPr>
        <p:txBody>
          <a:bodyPr wrap="square" lIns="0" rIns="0" tIns="0" bIns="0" anchor="b">
            <a:noAutofit/>
          </a:bodyPr>
          <a:lstStyle/>
          <a:p>
            <a:pPr algn="l">
              <a:spcAft>
                <a:spcPts val="400"/>
              </a:spcAft>
            </a:pPr>
            <a:r>
              <a:rPr sz="1200" b="1" lang="en-GB">
                <a:solidFill>
                  <a:schemeClr val="accent1"/>
                </a:solidFill>
              </a:rPr>
              <a:t>Invitation link on Canvas</a:t>
            </a:r>
          </a:p>
        </p:txBody>
      </p:sp>
      <p:sp>
        <p:nvSpPr>
          <p:cNvPr id="28" name="Email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Email" descr=""/>
          <p:cNvPicPr>
            <a:picLocks noChangeAspect="1"/>
          </p:cNvPicPr>
          <p:nvPr/>
        </p:nvPicPr>
        <p:blipFill>
          <a:blip r:embed="rId8"/>
          <a:stretch>
            <a:fillRect/>
          </a:stretch>
        </p:blipFill>
        <p:spPr>
          <a:xfrm>
            <a:off x="658368" y="4585716"/>
            <a:ext cx="384048" cy="384048"/>
          </a:xfrm>
          <a:prstGeom prst="rect">
            <a:avLst/>
          </a:prstGeom>
        </p:spPr>
      </p:pic>
      <p:sp>
        <p:nvSpPr>
          <p:cNvPr id="30" name="Email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Same e-mail everywhere: </a:t>
            </a:r>
            <a:r>
              <a:rPr sz="1300" b="0" lang="en-GB">
                <a:solidFill>
                  <a:schemeClr val="tx1"/>
                </a:solidFill>
              </a:rPr>
              <a:t>your WU student address unlocks the free plans.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GitHub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tHub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GitHub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Open </a:t>
            </a:r>
            <a:r>
              <a:rPr sz="1300" b="0" lang="en-GB">
                <a:solidFill>
                  <a:schemeClr val="accent1"/>
                </a:solidFill>
                <a:hlinkClick r:id="rId3"/>
              </a:rPr>
              <a:t>github.com/signup</a:t>
            </a:r>
          </a:p>
        </p:txBody>
      </p:sp>
      <p:sp>
        <p:nvSpPr>
          <p:cNvPr id="19" name="GitHub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itHub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GitHub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WU e-mail: </a:t>
            </a:r>
            <a:r>
              <a:rPr sz="1300" b="0" lang="en-GB">
                <a:solidFill>
                  <a:schemeClr val="tx1"/>
                </a:solidFill>
              </a:rPr>
              <a:t>sign up with your student address</a:t>
            </a:r>
          </a:p>
        </p:txBody>
      </p:sp>
      <p:sp>
        <p:nvSpPr>
          <p:cNvPr id="22" name="GitHub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Hub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GitHub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Username: </a:t>
            </a:r>
            <a:r>
              <a:rPr sz="1300" b="0" lang="en-GB">
                <a:solidFill>
                  <a:schemeClr val="tx1"/>
                </a:solidFill>
              </a:rPr>
              <a:t>short and professional, e.g. anna-berger</a:t>
            </a:r>
          </a:p>
        </p:txBody>
      </p:sp>
      <p:sp>
        <p:nvSpPr>
          <p:cNvPr id="25" name="GitHub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Hub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GitHub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Verify </a:t>
            </a:r>
            <a:r>
              <a:rPr sz="1300" b="0" lang="en-GB">
                <a:solidFill>
                  <a:schemeClr val="tx1"/>
                </a:solidFill>
              </a:rPr>
              <a:t>the code GitHub sends to your inbox</a:t>
            </a:r>
          </a:p>
        </p:txBody>
      </p:sp>
      <p:sp>
        <p:nvSpPr>
          <p:cNvPr id="28" name="GitHub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Hub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GitHub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Two-factor sign-in: </a:t>
            </a:r>
            <a:r>
              <a:rPr sz="1300" b="0" lang="en-GB">
                <a:solidFill>
                  <a:schemeClr val="tx1"/>
                </a:solidFill>
              </a:rPr>
              <a:t>GitHub Mobile or an authenticator app</a:t>
            </a:r>
          </a:p>
        </p:txBody>
      </p:sp>
      <p:sp>
        <p:nvSpPr>
          <p:cNvPr id="31" name="GitHub why card body"/>
          <p:cNvSpPr/>
          <p:nvPr/>
        </p:nvSpPr>
        <p:spPr>
          <a:xfrm>
            <a:off x="5760720" y="2194560"/>
            <a:ext cx="2926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Hub why card header"/>
          <p:cNvSpPr/>
          <p:nvPr/>
        </p:nvSpPr>
        <p:spPr>
          <a:xfrm>
            <a:off x="5760720" y="178308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Hub why card heading"/>
          <p:cNvSpPr txBox="1"/>
          <p:nvPr/>
        </p:nvSpPr>
        <p:spPr>
          <a:xfrm>
            <a:off x="5897880" y="178308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matters</a:t>
            </a:r>
          </a:p>
        </p:txBody>
      </p:sp>
      <p:pic>
        <p:nvPicPr>
          <p:cNvPr id="34" name="Icon GitHub why card" descr=""/>
          <p:cNvPicPr>
            <a:picLocks noChangeAspect="1"/>
          </p:cNvPicPr>
          <p:nvPr/>
        </p:nvPicPr>
        <p:blipFill>
          <a:blip r:embed="rId4"/>
          <a:stretch>
            <a:fillRect/>
          </a:stretch>
        </p:blipFill>
        <p:spPr>
          <a:xfrm>
            <a:off x="8247888" y="1833372"/>
            <a:ext cx="310896" cy="310896"/>
          </a:xfrm>
          <a:prstGeom prst="rect">
            <a:avLst/>
          </a:prstGeom>
        </p:spPr>
      </p:pic>
      <p:sp>
        <p:nvSpPr>
          <p:cNvPr id="35" name="GitHub why card text"/>
          <p:cNvSpPr txBox="1"/>
          <p:nvPr/>
        </p:nvSpPr>
        <p:spPr>
          <a:xfrm>
            <a:off x="5925312" y="2331720"/>
            <a:ext cx="2624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username appears on every commit you make</a:t>
            </a:r>
          </a:p>
          <a:p>
            <a:pPr algn="l" marL="182880" indent="-182880">
              <a:spcAft>
                <a:spcPts val="600"/>
              </a:spcAft>
              <a:buClr>
                <a:schemeClr val="accent1"/>
              </a:buClr>
              <a:buFont typeface="Arial"/>
              <a:buChar char="▪"/>
            </a:pPr>
            <a:r>
              <a:rPr sz="1300" b="0" lang="en-GB">
                <a:solidFill>
                  <a:schemeClr val="tx1"/>
                </a:solidFill>
              </a:rPr>
              <a:t>A clean GitHub profile is part of your CV</a:t>
            </a:r>
          </a:p>
          <a:p>
            <a:pPr algn="l" marL="182880" indent="-182880">
              <a:spcAft>
                <a:spcPts val="600"/>
              </a:spcAft>
              <a:buClr>
                <a:schemeClr val="accent1"/>
              </a:buClr>
              <a:buFont typeface="Arial"/>
              <a:buChar char="▪"/>
            </a:pPr>
            <a:r>
              <a:rPr sz="1300" b="0" lang="en-GB">
                <a:solidFill>
                  <a:schemeClr val="tx1"/>
                </a:solidFill>
              </a:rPr>
              <a:t>You need it for the group repository of the case study</a:t>
            </a:r>
          </a:p>
          <a:p>
            <a:pPr algn="l" marL="182880" indent="-182880">
              <a:spcAft>
                <a:spcPts val="600"/>
              </a:spcAft>
              <a:buClr>
                <a:schemeClr val="accent1"/>
              </a:buClr>
              <a:buFont typeface="Arial"/>
              <a:buChar char="▪"/>
            </a:pPr>
            <a:r>
              <a:rPr sz="1300" b="0" lang="en-GB">
                <a:solidFill>
                  <a:schemeClr val="tx1"/>
                </a:solidFill>
              </a:rPr>
              <a:t>The free plan is all you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and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ducation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Add WU e-mail</a:t>
            </a:r>
            <a:br/>
            <a:r>
              <a:rPr sz="1200" b="1" lang="en-GB">
                <a:solidFill>
                  <a:schemeClr val="tx2"/>
                </a:solidFill>
              </a:rPr>
              <a:t>to GitHub</a:t>
            </a:r>
          </a:p>
        </p:txBody>
      </p:sp>
      <p:sp>
        <p:nvSpPr>
          <p:cNvPr id="17" name="Education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Apply for</a:t>
            </a:r>
            <a:br/>
            <a:r>
              <a:rPr sz="1200" b="1" lang="en-GB">
                <a:solidFill>
                  <a:schemeClr val="tx2"/>
                </a:solidFill>
              </a:rPr>
              <a:t>benefits</a:t>
            </a:r>
          </a:p>
        </p:txBody>
      </p:sp>
      <p:sp>
        <p:nvSpPr>
          <p:cNvPr id="18" name="Education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proof</a:t>
            </a:r>
          </a:p>
        </p:txBody>
      </p:sp>
      <p:sp>
        <p:nvSpPr>
          <p:cNvPr id="19" name="Education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Wait for</a:t>
            </a:r>
            <a:br/>
            <a:r>
              <a:rPr sz="1200" b="1" lang="en-GB">
                <a:solidFill>
                  <a:schemeClr val="tx2"/>
                </a:solidFill>
              </a:rPr>
              <a:t>approval</a:t>
            </a:r>
          </a:p>
        </p:txBody>
      </p:sp>
      <p:sp>
        <p:nvSpPr>
          <p:cNvPr id="20" name="Education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Turn on</a:t>
            </a:r>
            <a:br/>
            <a:r>
              <a:rPr sz="1200" b="1" lang="en-GB">
                <a:solidFill>
                  <a:schemeClr val="tx2"/>
                </a:solidFill>
              </a:rPr>
              <a:t>Copilot</a:t>
            </a:r>
          </a:p>
        </p:txBody>
      </p:sp>
      <p:sp>
        <p:nvSpPr>
          <p:cNvPr id="21" name="Apply card body"/>
          <p:cNvSpPr/>
          <p:nvPr/>
        </p:nvSpPr>
        <p:spPr>
          <a:xfrm>
            <a:off x="45720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pply card header"/>
          <p:cNvSpPr/>
          <p:nvPr/>
        </p:nvSpPr>
        <p:spPr>
          <a:xfrm>
            <a:off x="45720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card heading"/>
          <p:cNvSpPr txBox="1"/>
          <p:nvPr/>
        </p:nvSpPr>
        <p:spPr>
          <a:xfrm>
            <a:off x="59436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Apply</a:t>
            </a:r>
          </a:p>
        </p:txBody>
      </p:sp>
      <p:pic>
        <p:nvPicPr>
          <p:cNvPr id="24" name="Icon Apply card" descr=""/>
          <p:cNvPicPr>
            <a:picLocks noChangeAspect="1"/>
          </p:cNvPicPr>
          <p:nvPr/>
        </p:nvPicPr>
        <p:blipFill>
          <a:blip r:embed="rId3"/>
          <a:stretch>
            <a:fillRect/>
          </a:stretch>
        </p:blipFill>
        <p:spPr>
          <a:xfrm>
            <a:off x="4064508" y="2564892"/>
            <a:ext cx="310896" cy="310896"/>
          </a:xfrm>
          <a:prstGeom prst="rect">
            <a:avLst/>
          </a:prstGeom>
        </p:spPr>
      </p:pic>
      <p:sp>
        <p:nvSpPr>
          <p:cNvPr id="25" name="Apply card text"/>
          <p:cNvSpPr txBox="1"/>
          <p:nvPr/>
        </p:nvSpPr>
        <p:spPr>
          <a:xfrm>
            <a:off x="62179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Go to </a:t>
            </a:r>
            <a:r>
              <a:rPr sz="1300" b="0" lang="en-GB">
                <a:solidFill>
                  <a:schemeClr val="accent1"/>
                </a:solidFill>
                <a:hlinkClick r:id="rId4"/>
              </a:rPr>
              <a:t>education.github.com/pack</a:t>
            </a:r>
          </a:p>
          <a:p>
            <a:pPr algn="l" marL="182880" indent="-182880">
              <a:spcAft>
                <a:spcPts val="600"/>
              </a:spcAft>
              <a:buClr>
                <a:schemeClr val="accent1"/>
              </a:buClr>
              <a:buFont typeface="Arial"/>
              <a:buChar char="▪"/>
            </a:pPr>
            <a:r>
              <a:rPr sz="1300" b="0" lang="en-GB">
                <a:solidFill>
                  <a:schemeClr val="tx1"/>
                </a:solidFill>
              </a:rPr>
              <a:t>Your WU address must be verified in GitHub's e-mail settings</a:t>
            </a:r>
          </a:p>
          <a:p>
            <a:pPr algn="l" marL="182880" indent="-182880">
              <a:spcAft>
                <a:spcPts val="600"/>
              </a:spcAft>
              <a:buClr>
                <a:schemeClr val="accent1"/>
              </a:buClr>
              <a:buFont typeface="Arial"/>
              <a:buChar char="▪"/>
            </a:pPr>
            <a:r>
              <a:rPr sz="1300" b="0" lang="en-GB">
                <a:solidFill>
                  <a:schemeClr val="tx1"/>
                </a:solidFill>
              </a:rPr>
              <a:t>Proof: a photo of your student ID or enrolment confirmation</a:t>
            </a:r>
          </a:p>
        </p:txBody>
      </p:sp>
      <p:sp>
        <p:nvSpPr>
          <p:cNvPr id="26" name="Approval card body"/>
          <p:cNvSpPr/>
          <p:nvPr/>
        </p:nvSpPr>
        <p:spPr>
          <a:xfrm>
            <a:off x="464058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pproval card header"/>
          <p:cNvSpPr/>
          <p:nvPr/>
        </p:nvSpPr>
        <p:spPr>
          <a:xfrm>
            <a:off x="464058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pproval card heading"/>
          <p:cNvSpPr txBox="1"/>
          <p:nvPr/>
        </p:nvSpPr>
        <p:spPr>
          <a:xfrm>
            <a:off x="477774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After approval</a:t>
            </a:r>
          </a:p>
        </p:txBody>
      </p:sp>
      <p:pic>
        <p:nvPicPr>
          <p:cNvPr id="29" name="Icon Approval card" descr=""/>
          <p:cNvPicPr>
            <a:picLocks noChangeAspect="1"/>
          </p:cNvPicPr>
          <p:nvPr/>
        </p:nvPicPr>
        <p:blipFill>
          <a:blip r:embed="rId5"/>
          <a:stretch>
            <a:fillRect/>
          </a:stretch>
        </p:blipFill>
        <p:spPr>
          <a:xfrm>
            <a:off x="8247888" y="2564892"/>
            <a:ext cx="310896" cy="310896"/>
          </a:xfrm>
          <a:prstGeom prst="rect">
            <a:avLst/>
          </a:prstGeom>
        </p:spPr>
      </p:pic>
      <p:sp>
        <p:nvSpPr>
          <p:cNvPr id="30" name="Approval card text"/>
          <p:cNvSpPr txBox="1"/>
          <p:nvPr/>
        </p:nvSpPr>
        <p:spPr>
          <a:xfrm>
            <a:off x="480517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 on Copilot at </a:t>
            </a:r>
            <a:r>
              <a:rPr sz="1300" b="0" lang="en-GB">
                <a:solidFill>
                  <a:schemeClr val="accent1"/>
                </a:solidFill>
                <a:hlinkClick r:id="rId6"/>
              </a:rPr>
              <a:t>github.com/settings/copilot</a:t>
            </a:r>
          </a:p>
          <a:p>
            <a:pPr algn="l" marL="182880" indent="-182880">
              <a:spcAft>
                <a:spcPts val="600"/>
              </a:spcAft>
              <a:buClr>
                <a:schemeClr val="accent1"/>
              </a:buClr>
              <a:buFont typeface="Arial"/>
              <a:buChar char="▪"/>
            </a:pPr>
            <a:r>
              <a:rPr sz="1300" b="0" lang="en-GB">
                <a:solidFill>
                  <a:schemeClr val="tx1"/>
                </a:solidFill>
              </a:rPr>
              <a:t>Copilot Student is free while you study</a:t>
            </a:r>
          </a:p>
          <a:p>
            <a:pPr algn="l" marL="182880" indent="-182880">
              <a:spcAft>
                <a:spcPts val="600"/>
              </a:spcAft>
              <a:buClr>
                <a:schemeClr val="accent1"/>
              </a:buClr>
              <a:buFont typeface="Arial"/>
              <a:buChar char="▪"/>
            </a:pPr>
            <a:r>
              <a:rPr sz="1300" b="0" lang="en-GB">
                <a:solidFill>
                  <a:schemeClr val="tx1"/>
                </a:solidFill>
              </a:rPr>
              <a:t>Until then, Copilot Free works with monthly limits</a:t>
            </a:r>
          </a:p>
        </p:txBody>
      </p:sp>
      <p:sp>
        <p:nvSpPr>
          <p:cNvPr id="31" name="Education box"/>
          <p:cNvSpPr/>
          <p:nvPr/>
        </p:nvSpPr>
        <p:spPr>
          <a:xfrm>
            <a:off x="457200" y="44805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Education" descr=""/>
          <p:cNvPicPr>
            <a:picLocks noChangeAspect="1"/>
          </p:cNvPicPr>
          <p:nvPr/>
        </p:nvPicPr>
        <p:blipFill>
          <a:blip r:embed="rId7"/>
          <a:stretch>
            <a:fillRect/>
          </a:stretch>
        </p:blipFill>
        <p:spPr>
          <a:xfrm>
            <a:off x="658368" y="4585716"/>
            <a:ext cx="384048" cy="384048"/>
          </a:xfrm>
          <a:prstGeom prst="rect">
            <a:avLst/>
          </a:prstGeom>
        </p:spPr>
      </p:pic>
      <p:sp>
        <p:nvSpPr>
          <p:cNvPr id="33" name="Education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bg1"/>
                </a:solidFill>
              </a:rPr>
              <a:t>Do this first: </a:t>
            </a:r>
            <a:r>
              <a:rPr sz="1300" b="0" lang="en-GB">
                <a:solidFill>
                  <a:schemeClr val="bg1"/>
                </a:solidFill>
              </a:rPr>
              <a:t>approval can take a few days, so apply today, then carry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DataCamp classroom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DataCamp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Camp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DataCamp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Open </a:t>
            </a:r>
            <a:r>
              <a:rPr sz="1300" b="0" lang="en-GB">
                <a:solidFill>
                  <a:schemeClr val="tx1"/>
                </a:solidFill>
              </a:rPr>
              <a:t>the invitation link on Canvas</a:t>
            </a:r>
          </a:p>
        </p:txBody>
      </p:sp>
      <p:sp>
        <p:nvSpPr>
          <p:cNvPr id="19" name="DataCamp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Camp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DataCamp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Sign up </a:t>
            </a:r>
            <a:r>
              <a:rPr sz="1300" b="0" lang="en-GB">
                <a:solidFill>
                  <a:schemeClr val="tx1"/>
                </a:solidFill>
              </a:rPr>
              <a:t>with your WU e-mail, or log in</a:t>
            </a:r>
          </a:p>
        </p:txBody>
      </p:sp>
      <p:sp>
        <p:nvSpPr>
          <p:cNvPr id="22" name="DataCamp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Camp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DataCamp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Join </a:t>
            </a:r>
            <a:r>
              <a:rPr sz="1300" b="0" lang="en-GB">
                <a:solidFill>
                  <a:schemeClr val="tx1"/>
                </a:solidFill>
              </a:rPr>
              <a:t>the classroom International Marketing Analytics</a:t>
            </a:r>
          </a:p>
        </p:txBody>
      </p:sp>
      <p:sp>
        <p:nvSpPr>
          <p:cNvPr id="25" name="DataCamp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Camp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DataCamp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Find </a:t>
            </a:r>
            <a:r>
              <a:rPr sz="1300" b="0" lang="en-GB">
                <a:solidFill>
                  <a:schemeClr val="tx1"/>
                </a:solidFill>
              </a:rPr>
              <a:t>the four assigned courses under Assignments</a:t>
            </a:r>
          </a:p>
        </p:txBody>
      </p:sp>
      <p:sp>
        <p:nvSpPr>
          <p:cNvPr id="28" name="DataCamp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ataCamp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DataCamp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Upload </a:t>
            </a:r>
            <a:r>
              <a:rPr sz="1300" b="0" lang="en-GB">
                <a:solidFill>
                  <a:schemeClr val="tx1"/>
                </a:solidFill>
              </a:rPr>
              <a:t>each certificate to Canvas by its deadline</a:t>
            </a:r>
          </a:p>
        </p:txBody>
      </p:sp>
      <p:sp>
        <p:nvSpPr>
          <p:cNvPr id="31" name="DataCamp facts"/>
          <p:cNvSpPr/>
          <p:nvPr/>
        </p:nvSpPr>
        <p:spPr>
          <a:xfrm>
            <a:off x="5760720" y="1783080"/>
            <a:ext cx="292608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Camp bar 1"/>
          <p:cNvSpPr/>
          <p:nvPr/>
        </p:nvSpPr>
        <p:spPr>
          <a:xfrm>
            <a:off x="5897880" y="1920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ataCamp fact 1"/>
          <p:cNvSpPr txBox="1"/>
          <p:nvPr/>
        </p:nvSpPr>
        <p:spPr>
          <a:xfrm>
            <a:off x="6126480" y="1920240"/>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6</a:t>
            </a:r>
          </a:p>
          <a:p>
            <a:pPr algn="l">
              <a:spcAft>
                <a:spcPts val="0"/>
              </a:spcAft>
            </a:pPr>
            <a:r>
              <a:rPr sz="1300" b="0" lang="en-GB">
                <a:solidFill>
                  <a:schemeClr val="tx1"/>
                </a:solidFill>
              </a:rPr>
              <a:t>months free premium access</a:t>
            </a:r>
          </a:p>
        </p:txBody>
      </p:sp>
      <p:sp>
        <p:nvSpPr>
          <p:cNvPr id="34" name="DataCamp bar 2"/>
          <p:cNvSpPr/>
          <p:nvPr/>
        </p:nvSpPr>
        <p:spPr>
          <a:xfrm>
            <a:off x="5897880" y="2898648"/>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ataCamp fact 2"/>
          <p:cNvSpPr txBox="1"/>
          <p:nvPr/>
        </p:nvSpPr>
        <p:spPr>
          <a:xfrm>
            <a:off x="6126480" y="2898648"/>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4</a:t>
            </a:r>
          </a:p>
          <a:p>
            <a:pPr algn="l">
              <a:spcAft>
                <a:spcPts val="0"/>
              </a:spcAft>
            </a:pPr>
            <a:r>
              <a:rPr sz="1300" b="0" lang="en-GB">
                <a:solidFill>
                  <a:schemeClr val="tx1"/>
                </a:solidFill>
              </a:rPr>
              <a:t>courses with certificates</a:t>
            </a:r>
          </a:p>
        </p:txBody>
      </p:sp>
      <p:sp>
        <p:nvSpPr>
          <p:cNvPr id="36" name="DataCamp bar 3"/>
          <p:cNvSpPr/>
          <p:nvPr/>
        </p:nvSpPr>
        <p:spPr>
          <a:xfrm>
            <a:off x="5897880" y="3877056"/>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ataCamp fact 3"/>
          <p:cNvSpPr txBox="1"/>
          <p:nvPr/>
        </p:nvSpPr>
        <p:spPr>
          <a:xfrm>
            <a:off x="6126480" y="3877056"/>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20 %</a:t>
            </a:r>
          </a:p>
          <a:p>
            <a:pPr algn="l">
              <a:spcAft>
                <a:spcPts val="0"/>
              </a:spcAft>
            </a:pPr>
            <a:r>
              <a:rPr sz="1300" b="0" lang="en-GB">
                <a:solidFill>
                  <a:schemeClr val="tx1"/>
                </a:solidFill>
              </a:rPr>
              <a:t>of the final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4 · Python, Positron, Quarto, GitHub Desktop, the course repository</a:t>
            </a:r>
          </a:p>
        </p:txBody>
      </p:sp>
      <p:sp>
        <p:nvSpPr>
          <p:cNvPr id="3" name="Title 2"/>
          <p:cNvSpPr>
            <a:spLocks noGrp="1"/>
          </p:cNvSpPr>
          <p:nvPr>
            <p:ph type="ctrTitle"/>
          </p:nvPr>
        </p:nvSpPr>
        <p:spPr/>
        <p:txBody>
          <a:bodyPr/>
          <a:lstStyle/>
          <a:p>
            <a:r>
              <a:rPr sz="1600" lang="en-GB"/>
              <a:t>Install the tools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the pieces fit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Hub box"/>
          <p:cNvSpPr/>
          <p:nvPr/>
        </p:nvSpPr>
        <p:spPr>
          <a:xfrm>
            <a:off x="2971800" y="1234440"/>
            <a:ext cx="320040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loud" descr=""/>
          <p:cNvPicPr>
            <a:picLocks noChangeAspect="1"/>
          </p:cNvPicPr>
          <p:nvPr/>
        </p:nvPicPr>
        <p:blipFill>
          <a:blip r:embed="rId3"/>
          <a:stretch>
            <a:fillRect/>
          </a:stretch>
        </p:blipFill>
        <p:spPr>
          <a:xfrm>
            <a:off x="3108960" y="1307592"/>
            <a:ext cx="402336" cy="402336"/>
          </a:xfrm>
          <a:prstGeom prst="rect">
            <a:avLst/>
          </a:prstGeom>
        </p:spPr>
      </p:pic>
      <p:sp>
        <p:nvSpPr>
          <p:cNvPr id="12" name="GitHub text"/>
          <p:cNvSpPr txBox="1"/>
          <p:nvPr/>
        </p:nvSpPr>
        <p:spPr>
          <a:xfrm>
            <a:off x="3611880" y="1234440"/>
            <a:ext cx="2514600" cy="548640"/>
          </a:xfrm>
          <a:prstGeom prst="rect">
            <a:avLst/>
          </a:prstGeom>
          <a:noFill/>
        </p:spPr>
        <p:txBody>
          <a:bodyPr wrap="square" lIns="0" rIns="0" tIns="0" bIns="0" anchor="ctr">
            <a:noAutofit/>
          </a:bodyPr>
          <a:lstStyle/>
          <a:p>
            <a:pPr algn="l">
              <a:spcAft>
                <a:spcPts val="0"/>
              </a:spcAft>
            </a:pPr>
            <a:r>
              <a:rPr sz="1300" b="1" lang="en-GB">
                <a:solidFill>
                  <a:schemeClr val="bg1"/>
                </a:solidFill>
              </a:rPr>
              <a:t>GitHub.com</a:t>
            </a:r>
          </a:p>
          <a:p>
            <a:pPr algn="l">
              <a:spcAft>
                <a:spcPts val="0"/>
              </a:spcAft>
            </a:pPr>
            <a:r>
              <a:rPr sz="1100" b="0" lang="en-GB">
                <a:solidFill>
                  <a:schemeClr val="bg1"/>
                </a:solidFill>
              </a:rPr>
              <a:t>course and group repositories</a:t>
            </a:r>
          </a:p>
        </p:txBody>
      </p:sp>
      <p:sp>
        <p:nvSpPr>
          <p:cNvPr id="13" name="Sync arrow"/>
          <p:cNvSpPr/>
          <p:nvPr/>
        </p:nvSpPr>
        <p:spPr>
          <a:xfrm>
            <a:off x="4407408" y="1801368"/>
            <a:ext cx="329184" cy="457200"/>
          </a:xfrm>
          <a:prstGeom prst="upDownArrow">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ptop area"/>
          <p:cNvSpPr/>
          <p:nvPr/>
        </p:nvSpPr>
        <p:spPr>
          <a:xfrm>
            <a:off x="457200" y="2286000"/>
            <a:ext cx="822960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ptop label"/>
          <p:cNvSpPr txBox="1"/>
          <p:nvPr/>
        </p:nvSpPr>
        <p:spPr>
          <a:xfrm>
            <a:off x="594360" y="2331720"/>
            <a:ext cx="27432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Your laptop</a:t>
            </a:r>
          </a:p>
        </p:txBody>
      </p:sp>
      <p:sp>
        <p:nvSpPr>
          <p:cNvPr id="16" name="Laptop box 1"/>
          <p:cNvSpPr/>
          <p:nvPr/>
        </p:nvSpPr>
        <p:spPr>
          <a:xfrm>
            <a:off x="68580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laptop 1" descr=""/>
          <p:cNvPicPr>
            <a:picLocks noChangeAspect="1"/>
          </p:cNvPicPr>
          <p:nvPr/>
        </p:nvPicPr>
        <p:blipFill>
          <a:blip r:embed="rId4"/>
          <a:stretch>
            <a:fillRect/>
          </a:stretch>
        </p:blipFill>
        <p:spPr>
          <a:xfrm>
            <a:off x="795528" y="2880360"/>
            <a:ext cx="411480" cy="411480"/>
          </a:xfrm>
          <a:prstGeom prst="rect">
            <a:avLst/>
          </a:prstGeom>
        </p:spPr>
      </p:pic>
      <p:sp>
        <p:nvSpPr>
          <p:cNvPr id="18" name="Laptop text 1"/>
          <p:cNvSpPr txBox="1"/>
          <p:nvPr/>
        </p:nvSpPr>
        <p:spPr>
          <a:xfrm>
            <a:off x="132588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GitHub Desktop</a:t>
            </a:r>
          </a:p>
          <a:p>
            <a:pPr algn="l">
              <a:spcAft>
                <a:spcPts val="0"/>
              </a:spcAft>
            </a:pPr>
            <a:r>
              <a:rPr sz="1100" b="0" lang="en-GB">
                <a:solidFill>
                  <a:schemeClr val="tx1"/>
                </a:solidFill>
              </a:rPr>
              <a:t>clone, pull and push</a:t>
            </a:r>
          </a:p>
        </p:txBody>
      </p:sp>
      <p:sp>
        <p:nvSpPr>
          <p:cNvPr id="19" name="Laptop box 2"/>
          <p:cNvSpPr/>
          <p:nvPr/>
        </p:nvSpPr>
        <p:spPr>
          <a:xfrm>
            <a:off x="338328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laptop 2" descr=""/>
          <p:cNvPicPr>
            <a:picLocks noChangeAspect="1"/>
          </p:cNvPicPr>
          <p:nvPr/>
        </p:nvPicPr>
        <p:blipFill>
          <a:blip r:embed="rId5"/>
          <a:stretch>
            <a:fillRect/>
          </a:stretch>
        </p:blipFill>
        <p:spPr>
          <a:xfrm>
            <a:off x="3493008" y="2880360"/>
            <a:ext cx="411480" cy="411480"/>
          </a:xfrm>
          <a:prstGeom prst="rect">
            <a:avLst/>
          </a:prstGeom>
        </p:spPr>
      </p:pic>
      <p:sp>
        <p:nvSpPr>
          <p:cNvPr id="21" name="Laptop text 2"/>
          <p:cNvSpPr txBox="1"/>
          <p:nvPr/>
        </p:nvSpPr>
        <p:spPr>
          <a:xfrm>
            <a:off x="402336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Course folder</a:t>
            </a:r>
          </a:p>
          <a:p>
            <a:pPr algn="l">
              <a:spcAft>
                <a:spcPts val="0"/>
              </a:spcAft>
            </a:pPr>
            <a:r>
              <a:rPr sz="1100" b="0" lang="en-GB">
                <a:solidFill>
                  <a:schemeClr val="tx1"/>
                </a:solidFill>
              </a:rPr>
              <a:t>data, code, requirements.txt</a:t>
            </a:r>
          </a:p>
        </p:txBody>
      </p:sp>
      <p:sp>
        <p:nvSpPr>
          <p:cNvPr id="22" name="Laptop box 3"/>
          <p:cNvSpPr/>
          <p:nvPr/>
        </p:nvSpPr>
        <p:spPr>
          <a:xfrm>
            <a:off x="608076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laptop 3" descr=""/>
          <p:cNvPicPr>
            <a:picLocks noChangeAspect="1"/>
          </p:cNvPicPr>
          <p:nvPr/>
        </p:nvPicPr>
        <p:blipFill>
          <a:blip r:embed="rId6"/>
          <a:stretch>
            <a:fillRect/>
          </a:stretch>
        </p:blipFill>
        <p:spPr>
          <a:xfrm>
            <a:off x="6190488" y="2880360"/>
            <a:ext cx="411480" cy="411480"/>
          </a:xfrm>
          <a:prstGeom prst="rect">
            <a:avLst/>
          </a:prstGeom>
        </p:spPr>
      </p:pic>
      <p:sp>
        <p:nvSpPr>
          <p:cNvPr id="24" name="Laptop text 3"/>
          <p:cNvSpPr txBox="1"/>
          <p:nvPr/>
        </p:nvSpPr>
        <p:spPr>
          <a:xfrm>
            <a:off x="672084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Positron</a:t>
            </a:r>
          </a:p>
          <a:p>
            <a:pPr algn="l">
              <a:spcAft>
                <a:spcPts val="0"/>
              </a:spcAft>
            </a:pPr>
            <a:r>
              <a:rPr sz="1100" b="0" lang="en-GB">
                <a:solidFill>
                  <a:schemeClr val="tx1"/>
                </a:solidFill>
              </a:rPr>
              <a:t>where you write and run code</a:t>
            </a:r>
          </a:p>
        </p:txBody>
      </p:sp>
      <p:sp>
        <p:nvSpPr>
          <p:cNvPr id="25" name="Laptop arrow 1"/>
          <p:cNvSpPr txBox="1"/>
          <p:nvPr/>
        </p:nvSpPr>
        <p:spPr>
          <a:xfrm>
            <a:off x="306324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6" name="Laptop arrow 2"/>
          <p:cNvSpPr txBox="1"/>
          <p:nvPr/>
        </p:nvSpPr>
        <p:spPr>
          <a:xfrm>
            <a:off x="576072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7" name="Inside label"/>
          <p:cNvSpPr txBox="1"/>
          <p:nvPr/>
        </p:nvSpPr>
        <p:spPr>
          <a:xfrm>
            <a:off x="685800" y="3611880"/>
            <a:ext cx="77724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Inside Positron you use</a:t>
            </a:r>
          </a:p>
        </p:txBody>
      </p:sp>
      <p:sp>
        <p:nvSpPr>
          <p:cNvPr id="28" name="Inside box 1"/>
          <p:cNvSpPr/>
          <p:nvPr/>
        </p:nvSpPr>
        <p:spPr>
          <a:xfrm>
            <a:off x="68580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inside 1" descr=""/>
          <p:cNvPicPr>
            <a:picLocks noChangeAspect="1"/>
          </p:cNvPicPr>
          <p:nvPr/>
        </p:nvPicPr>
        <p:blipFill>
          <a:blip r:embed="rId7"/>
          <a:stretch>
            <a:fillRect/>
          </a:stretch>
        </p:blipFill>
        <p:spPr>
          <a:xfrm>
            <a:off x="795528" y="4114800"/>
            <a:ext cx="411480" cy="411480"/>
          </a:xfrm>
          <a:prstGeom prst="rect">
            <a:avLst/>
          </a:prstGeom>
        </p:spPr>
      </p:pic>
      <p:sp>
        <p:nvSpPr>
          <p:cNvPr id="30" name="Inside text 1"/>
          <p:cNvSpPr txBox="1"/>
          <p:nvPr/>
        </p:nvSpPr>
        <p:spPr>
          <a:xfrm>
            <a:off x="132588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Python + packages</a:t>
            </a:r>
          </a:p>
          <a:p>
            <a:pPr algn="l">
              <a:spcAft>
                <a:spcPts val="0"/>
              </a:spcAft>
            </a:pPr>
            <a:r>
              <a:rPr sz="1100" b="0" lang="en-GB">
                <a:solidFill>
                  <a:schemeClr val="tx1"/>
                </a:solidFill>
              </a:rPr>
              <a:t>in a private .venv folder</a:t>
            </a:r>
          </a:p>
        </p:txBody>
      </p:sp>
      <p:sp>
        <p:nvSpPr>
          <p:cNvPr id="31" name="Inside box 2"/>
          <p:cNvSpPr/>
          <p:nvPr/>
        </p:nvSpPr>
        <p:spPr>
          <a:xfrm>
            <a:off x="338328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inside 2" descr=""/>
          <p:cNvPicPr>
            <a:picLocks noChangeAspect="1"/>
          </p:cNvPicPr>
          <p:nvPr/>
        </p:nvPicPr>
        <p:blipFill>
          <a:blip r:embed="rId8"/>
          <a:stretch>
            <a:fillRect/>
          </a:stretch>
        </p:blipFill>
        <p:spPr>
          <a:xfrm>
            <a:off x="3493008" y="4114800"/>
            <a:ext cx="411480" cy="411480"/>
          </a:xfrm>
          <a:prstGeom prst="rect">
            <a:avLst/>
          </a:prstGeom>
        </p:spPr>
      </p:pic>
      <p:sp>
        <p:nvSpPr>
          <p:cNvPr id="33" name="Inside text 2"/>
          <p:cNvSpPr txBox="1"/>
          <p:nvPr/>
        </p:nvSpPr>
        <p:spPr>
          <a:xfrm>
            <a:off x="402336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Quarto</a:t>
            </a:r>
          </a:p>
          <a:p>
            <a:pPr algn="l">
              <a:spcAft>
                <a:spcPts val="0"/>
              </a:spcAft>
            </a:pPr>
            <a:r>
              <a:rPr sz="1100" b="0" lang="en-GB">
                <a:solidFill>
                  <a:schemeClr val="tx1"/>
                </a:solidFill>
              </a:rPr>
              <a:t>turns .qmd files into reports</a:t>
            </a:r>
          </a:p>
        </p:txBody>
      </p:sp>
      <p:sp>
        <p:nvSpPr>
          <p:cNvPr id="34" name="Inside box 3"/>
          <p:cNvSpPr/>
          <p:nvPr/>
        </p:nvSpPr>
        <p:spPr>
          <a:xfrm>
            <a:off x="608076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inside 3" descr=""/>
          <p:cNvPicPr>
            <a:picLocks noChangeAspect="1"/>
          </p:cNvPicPr>
          <p:nvPr/>
        </p:nvPicPr>
        <p:blipFill>
          <a:blip r:embed="rId9"/>
          <a:stretch>
            <a:fillRect/>
          </a:stretch>
        </p:blipFill>
        <p:spPr>
          <a:xfrm>
            <a:off x="6190488" y="4114800"/>
            <a:ext cx="411480" cy="411480"/>
          </a:xfrm>
          <a:prstGeom prst="rect">
            <a:avLst/>
          </a:prstGeom>
        </p:spPr>
      </p:pic>
      <p:sp>
        <p:nvSpPr>
          <p:cNvPr id="36" name="Inside text 3"/>
          <p:cNvSpPr txBox="1"/>
          <p:nvPr/>
        </p:nvSpPr>
        <p:spPr>
          <a:xfrm>
            <a:off x="672084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AI assistant</a:t>
            </a:r>
          </a:p>
          <a:p>
            <a:pPr algn="l">
              <a:spcAft>
                <a:spcPts val="0"/>
              </a:spcAft>
            </a:pPr>
            <a:r>
              <a:rPr sz="1100" b="0" lang="en-GB">
                <a:solidFill>
                  <a:schemeClr val="tx1"/>
                </a:solidFill>
              </a:rPr>
              <a:t>writes and explains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Python 3.14.8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Windows card body"/>
          <p:cNvSpPr/>
          <p:nvPr/>
        </p:nvSpPr>
        <p:spPr>
          <a:xfrm>
            <a:off x="45720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indows card header"/>
          <p:cNvSpPr/>
          <p:nvPr/>
        </p:nvSpPr>
        <p:spPr>
          <a:xfrm>
            <a:off x="45720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indows card heading"/>
          <p:cNvSpPr txBox="1"/>
          <p:nvPr/>
        </p:nvSpPr>
        <p:spPr>
          <a:xfrm>
            <a:off x="59436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a:t>
            </a:r>
          </a:p>
        </p:txBody>
      </p:sp>
      <p:pic>
        <p:nvPicPr>
          <p:cNvPr id="19" name="Icon Windows card" descr=""/>
          <p:cNvPicPr>
            <a:picLocks noChangeAspect="1"/>
          </p:cNvPicPr>
          <p:nvPr/>
        </p:nvPicPr>
        <p:blipFill>
          <a:blip r:embed="rId3"/>
          <a:stretch>
            <a:fillRect/>
          </a:stretch>
        </p:blipFill>
        <p:spPr>
          <a:xfrm>
            <a:off x="4064508" y="1833372"/>
            <a:ext cx="310896" cy="310896"/>
          </a:xfrm>
          <a:prstGeom prst="rect">
            <a:avLst/>
          </a:prstGeom>
        </p:spPr>
      </p:pic>
      <p:sp>
        <p:nvSpPr>
          <p:cNvPr id="20" name="Windows card text"/>
          <p:cNvSpPr txBox="1"/>
          <p:nvPr/>
        </p:nvSpPr>
        <p:spPr>
          <a:xfrm>
            <a:off x="62179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Python install manager</a:t>
            </a:r>
          </a:p>
          <a:p>
            <a:pPr algn="l" marL="182880" indent="-182880">
              <a:spcAft>
                <a:spcPts val="600"/>
              </a:spcAft>
              <a:buClr>
                <a:schemeClr val="accent1"/>
              </a:buClr>
              <a:buFont typeface="Arial"/>
              <a:buChar char="▪"/>
            </a:pPr>
            <a:r>
              <a:rPr sz="1300" b="0" lang="en-GB">
                <a:solidFill>
                  <a:schemeClr val="tx1"/>
                </a:solidFill>
              </a:rPr>
              <a:t>Install it with a double-click</a:t>
            </a:r>
          </a:p>
          <a:p>
            <a:pPr algn="l" marL="182880" indent="-182880">
              <a:spcAft>
                <a:spcPts val="600"/>
              </a:spcAft>
              <a:buClr>
                <a:schemeClr val="accent1"/>
              </a:buClr>
              <a:buFont typeface="Arial"/>
              <a:buChar char="▪"/>
            </a:pPr>
            <a:r>
              <a:rPr sz="1300" b="0" lang="en-GB">
                <a:solidFill>
                  <a:schemeClr val="tx1"/>
                </a:solidFill>
              </a:rPr>
              <a:t>Then in a terminal: py install 3.14</a:t>
            </a:r>
          </a:p>
        </p:txBody>
      </p:sp>
      <p:sp>
        <p:nvSpPr>
          <p:cNvPr id="21" name="Windows check box"/>
          <p:cNvSpPr/>
          <p:nvPr/>
        </p:nvSpPr>
        <p:spPr>
          <a:xfrm>
            <a:off x="45720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indows check code"/>
          <p:cNvSpPr txBox="1"/>
          <p:nvPr/>
        </p:nvSpPr>
        <p:spPr>
          <a:xfrm>
            <a:off x="59436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 -3.14 --version</a:t>
            </a:r>
          </a:p>
        </p:txBody>
      </p:sp>
      <p:sp>
        <p:nvSpPr>
          <p:cNvPr id="23" name="macOS card body"/>
          <p:cNvSpPr/>
          <p:nvPr/>
        </p:nvSpPr>
        <p:spPr>
          <a:xfrm>
            <a:off x="464058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cOS card header"/>
          <p:cNvSpPr/>
          <p:nvPr/>
        </p:nvSpPr>
        <p:spPr>
          <a:xfrm>
            <a:off x="464058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cOS card heading"/>
          <p:cNvSpPr txBox="1"/>
          <p:nvPr/>
        </p:nvSpPr>
        <p:spPr>
          <a:xfrm>
            <a:off x="477774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a:t>
            </a:r>
          </a:p>
        </p:txBody>
      </p:sp>
      <p:pic>
        <p:nvPicPr>
          <p:cNvPr id="26" name="Icon macOS card" descr=""/>
          <p:cNvPicPr>
            <a:picLocks noChangeAspect="1"/>
          </p:cNvPicPr>
          <p:nvPr/>
        </p:nvPicPr>
        <p:blipFill>
          <a:blip r:embed="rId4"/>
          <a:stretch>
            <a:fillRect/>
          </a:stretch>
        </p:blipFill>
        <p:spPr>
          <a:xfrm>
            <a:off x="8247888" y="1833372"/>
            <a:ext cx="310896" cy="310896"/>
          </a:xfrm>
          <a:prstGeom prst="rect">
            <a:avLst/>
          </a:prstGeom>
        </p:spPr>
      </p:pic>
      <p:sp>
        <p:nvSpPr>
          <p:cNvPr id="27" name="macOS card text"/>
          <p:cNvSpPr txBox="1"/>
          <p:nvPr/>
        </p:nvSpPr>
        <p:spPr>
          <a:xfrm>
            <a:off x="480517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macOS installer (Python 3.14.8)</a:t>
            </a:r>
          </a:p>
          <a:p>
            <a:pPr algn="l" marL="182880" indent="-182880">
              <a:spcAft>
                <a:spcPts val="600"/>
              </a:spcAft>
              <a:buClr>
                <a:schemeClr val="accent1"/>
              </a:buClr>
              <a:buFont typeface="Arial"/>
              <a:buChar char="▪"/>
            </a:pPr>
            <a:r>
              <a:rPr sz="1300" b="0" lang="en-GB">
                <a:solidFill>
                  <a:schemeClr val="tx1"/>
                </a:solidFill>
              </a:rPr>
              <a:t>Open the .pkg and click through</a:t>
            </a:r>
          </a:p>
          <a:p>
            <a:pPr algn="l" marL="182880" indent="-182880">
              <a:spcAft>
                <a:spcPts val="600"/>
              </a:spcAft>
              <a:buClr>
                <a:schemeClr val="accent1"/>
              </a:buClr>
              <a:buFont typeface="Arial"/>
              <a:buChar char="▪"/>
            </a:pPr>
            <a:r>
              <a:rPr sz="1300" b="0" lang="en-GB">
                <a:solidFill>
                  <a:schemeClr val="tx1"/>
                </a:solidFill>
              </a:rPr>
              <a:t>Apple silicon and Intel</a:t>
            </a:r>
          </a:p>
        </p:txBody>
      </p:sp>
      <p:sp>
        <p:nvSpPr>
          <p:cNvPr id="28" name="macOS check box"/>
          <p:cNvSpPr/>
          <p:nvPr/>
        </p:nvSpPr>
        <p:spPr>
          <a:xfrm>
            <a:off x="464058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cOS check code"/>
          <p:cNvSpPr txBox="1"/>
          <p:nvPr/>
        </p:nvSpPr>
        <p:spPr>
          <a:xfrm>
            <a:off x="477774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python3.14 --version</a:t>
            </a:r>
          </a:p>
        </p:txBody>
      </p:sp>
      <p:sp>
        <p:nvSpPr>
          <p:cNvPr id="30" name="Python link box"/>
          <p:cNvSpPr/>
          <p:nvPr/>
        </p:nvSpPr>
        <p:spPr>
          <a:xfrm>
            <a:off x="457200" y="44531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download" descr=""/>
          <p:cNvPicPr>
            <a:picLocks noChangeAspect="1"/>
          </p:cNvPicPr>
          <p:nvPr/>
        </p:nvPicPr>
        <p:blipFill>
          <a:blip r:embed="rId5"/>
          <a:stretch>
            <a:fillRect/>
          </a:stretch>
        </p:blipFill>
        <p:spPr>
          <a:xfrm>
            <a:off x="658368" y="4562856"/>
            <a:ext cx="384048" cy="384048"/>
          </a:xfrm>
          <a:prstGeom prst="rect">
            <a:avLst/>
          </a:prstGeom>
        </p:spPr>
      </p:pic>
      <p:sp>
        <p:nvSpPr>
          <p:cNvPr id="32" name="Python link text"/>
          <p:cNvSpPr txBox="1"/>
          <p:nvPr/>
        </p:nvSpPr>
        <p:spPr>
          <a:xfrm>
            <a:off x="1234440" y="4453128"/>
            <a:ext cx="7315200" cy="621792"/>
          </a:xfrm>
          <a:prstGeom prst="rect">
            <a:avLst/>
          </a:prstGeom>
          <a:noFill/>
        </p:spPr>
        <p:txBody>
          <a:bodyPr wrap="square" lIns="0" rIns="0" tIns="0" bIns="0" anchor="ctr">
            <a:noAutofit/>
          </a:bodyPr>
          <a:lstStyle/>
          <a:p>
            <a:pPr algn="l">
              <a:spcAft>
                <a:spcPts val="0"/>
              </a:spcAft>
            </a:pPr>
            <a:r>
              <a:rPr sz="1300" b="1" lang="en-GB">
                <a:solidFill>
                  <a:schemeClr val="tx2"/>
                </a:solidFill>
              </a:rPr>
              <a:t>Both downloads: </a:t>
            </a:r>
            <a:r>
              <a:rPr sz="1300" b="0" lang="en-GB">
                <a:solidFill>
                  <a:schemeClr val="accent1"/>
                </a:solidFill>
                <a:hlinkClick r:id="rId6"/>
              </a:rPr>
              <a:t>python.org/downloads</a:t>
            </a:r>
          </a:p>
          <a:p>
            <a:pPr algn="l">
              <a:spcAft>
                <a:spcPts val="0"/>
              </a:spcAft>
            </a:pPr>
            <a:r>
              <a:rPr sz="1200" b="0" lang="en-GB">
                <a:solidFill>
                  <a:schemeClr val="tx1"/>
                </a:solidFill>
              </a:rPr>
              <a:t>Or let Positron install it: Command Palette → Python: Install Python via uv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Positron, Quarto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Tool card 1 body"/>
          <p:cNvSpPr/>
          <p:nvPr/>
        </p:nvSpPr>
        <p:spPr>
          <a:xfrm>
            <a:off x="45720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ol card 1 header"/>
          <p:cNvSpPr/>
          <p:nvPr/>
        </p:nvSpPr>
        <p:spPr>
          <a:xfrm>
            <a:off x="45720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ool card 1 heading"/>
          <p:cNvSpPr txBox="1"/>
          <p:nvPr/>
        </p:nvSpPr>
        <p:spPr>
          <a:xfrm>
            <a:off x="59436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19" name="Icon Tool card 1" descr=""/>
          <p:cNvPicPr>
            <a:picLocks noChangeAspect="1"/>
          </p:cNvPicPr>
          <p:nvPr/>
        </p:nvPicPr>
        <p:blipFill>
          <a:blip r:embed="rId3"/>
          <a:stretch>
            <a:fillRect/>
          </a:stretch>
        </p:blipFill>
        <p:spPr>
          <a:xfrm>
            <a:off x="2670048" y="1833372"/>
            <a:ext cx="310896" cy="310896"/>
          </a:xfrm>
          <a:prstGeom prst="rect">
            <a:avLst/>
          </a:prstGeom>
        </p:spPr>
      </p:pic>
      <p:sp>
        <p:nvSpPr>
          <p:cNvPr id="20" name="Tool card 1 text"/>
          <p:cNvSpPr txBox="1"/>
          <p:nvPr/>
        </p:nvSpPr>
        <p:spPr>
          <a:xfrm>
            <a:off x="62179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editor for code, data and charts</a:t>
            </a:r>
          </a:p>
          <a:p>
            <a:pPr algn="l" marL="182880" indent="-182880">
              <a:spcAft>
                <a:spcPts val="600"/>
              </a:spcAft>
              <a:buClr>
                <a:schemeClr val="accent1"/>
              </a:buClr>
              <a:buFont typeface="Arial"/>
              <a:buChar char="▪"/>
            </a:pPr>
            <a:r>
              <a:rPr sz="1300" b="0" lang="en-GB">
                <a:solidFill>
                  <a:schemeClr val="tx1"/>
                </a:solidFill>
              </a:rPr>
              <a:t>Version 2026.09, free</a:t>
            </a:r>
          </a:p>
          <a:p>
            <a:pPr algn="l" marL="182880" indent="-182880">
              <a:spcAft>
                <a:spcPts val="600"/>
              </a:spcAft>
              <a:buClr>
                <a:schemeClr val="accent1"/>
              </a:buClr>
              <a:buFont typeface="Arial"/>
              <a:buChar char="▪"/>
            </a:pPr>
            <a:r>
              <a:rPr sz="1300" b="0" lang="en-GB">
                <a:solidFill>
                  <a:schemeClr val="tx1"/>
                </a:solidFill>
              </a:rPr>
              <a:t>Welcome page checks that Python is ready</a:t>
            </a:r>
          </a:p>
        </p:txBody>
      </p:sp>
      <p:sp>
        <p:nvSpPr>
          <p:cNvPr id="21" name="Tool link 1"/>
          <p:cNvSpPr txBox="1"/>
          <p:nvPr/>
        </p:nvSpPr>
        <p:spPr>
          <a:xfrm>
            <a:off x="62179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positron.posit.co/download</a:t>
            </a:r>
          </a:p>
        </p:txBody>
      </p:sp>
      <p:sp>
        <p:nvSpPr>
          <p:cNvPr id="22" name="Tool card 2 body"/>
          <p:cNvSpPr/>
          <p:nvPr/>
        </p:nvSpPr>
        <p:spPr>
          <a:xfrm>
            <a:off x="324612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ol card 2 header"/>
          <p:cNvSpPr/>
          <p:nvPr/>
        </p:nvSpPr>
        <p:spPr>
          <a:xfrm>
            <a:off x="324612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ool card 2 heading"/>
          <p:cNvSpPr txBox="1"/>
          <p:nvPr/>
        </p:nvSpPr>
        <p:spPr>
          <a:xfrm>
            <a:off x="338328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Quarto</a:t>
            </a:r>
          </a:p>
        </p:txBody>
      </p:sp>
      <p:pic>
        <p:nvPicPr>
          <p:cNvPr id="25" name="Icon Tool card 2" descr=""/>
          <p:cNvPicPr>
            <a:picLocks noChangeAspect="1"/>
          </p:cNvPicPr>
          <p:nvPr/>
        </p:nvPicPr>
        <p:blipFill>
          <a:blip r:embed="rId5"/>
          <a:stretch>
            <a:fillRect/>
          </a:stretch>
        </p:blipFill>
        <p:spPr>
          <a:xfrm>
            <a:off x="5458968" y="1833372"/>
            <a:ext cx="310896" cy="310896"/>
          </a:xfrm>
          <a:prstGeom prst="rect">
            <a:avLst/>
          </a:prstGeom>
        </p:spPr>
      </p:pic>
      <p:sp>
        <p:nvSpPr>
          <p:cNvPr id="26" name="Tool card 2 text"/>
          <p:cNvSpPr txBox="1"/>
          <p:nvPr/>
        </p:nvSpPr>
        <p:spPr>
          <a:xfrm>
            <a:off x="341071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Turns text and code into reports and slides</a:t>
            </a:r>
          </a:p>
          <a:p>
            <a:pPr algn="l" marL="182880" indent="-182880">
              <a:spcAft>
                <a:spcPts val="600"/>
              </a:spcAft>
              <a:buClr>
                <a:schemeClr val="accent1"/>
              </a:buClr>
              <a:buFont typeface="Arial"/>
              <a:buChar char="▪"/>
            </a:pPr>
            <a:r>
              <a:rPr sz="1300" b="0" lang="en-GB">
                <a:solidFill>
                  <a:schemeClr val="tx1"/>
                </a:solidFill>
              </a:rPr>
              <a:t>Check in a terminal: quarto --version</a:t>
            </a:r>
          </a:p>
        </p:txBody>
      </p:sp>
      <p:sp>
        <p:nvSpPr>
          <p:cNvPr id="27" name="Tool link 2"/>
          <p:cNvSpPr txBox="1"/>
          <p:nvPr/>
        </p:nvSpPr>
        <p:spPr>
          <a:xfrm>
            <a:off x="341071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quarto.org/docs/get-started</a:t>
            </a:r>
          </a:p>
        </p:txBody>
      </p:sp>
      <p:sp>
        <p:nvSpPr>
          <p:cNvPr id="28" name="Tool card 3 body"/>
          <p:cNvSpPr/>
          <p:nvPr/>
        </p:nvSpPr>
        <p:spPr>
          <a:xfrm>
            <a:off x="603504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ool card 3 header"/>
          <p:cNvSpPr/>
          <p:nvPr/>
        </p:nvSpPr>
        <p:spPr>
          <a:xfrm>
            <a:off x="603504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ool card 3 heading"/>
          <p:cNvSpPr txBox="1"/>
          <p:nvPr/>
        </p:nvSpPr>
        <p:spPr>
          <a:xfrm>
            <a:off x="617220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31" name="Icon Tool card 3" descr=""/>
          <p:cNvPicPr>
            <a:picLocks noChangeAspect="1"/>
          </p:cNvPicPr>
          <p:nvPr/>
        </p:nvPicPr>
        <p:blipFill>
          <a:blip r:embed="rId7"/>
          <a:stretch>
            <a:fillRect/>
          </a:stretch>
        </p:blipFill>
        <p:spPr>
          <a:xfrm>
            <a:off x="8247888" y="1833372"/>
            <a:ext cx="310896" cy="310896"/>
          </a:xfrm>
          <a:prstGeom prst="rect">
            <a:avLst/>
          </a:prstGeom>
        </p:spPr>
      </p:pic>
      <p:sp>
        <p:nvSpPr>
          <p:cNvPr id="32" name="Tool card 3 text"/>
          <p:cNvSpPr txBox="1"/>
          <p:nvPr/>
        </p:nvSpPr>
        <p:spPr>
          <a:xfrm>
            <a:off x="619963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Clone, pull and push with clicks</a:t>
            </a:r>
          </a:p>
          <a:p>
            <a:pPr algn="l" marL="182880" indent="-182880">
              <a:spcAft>
                <a:spcPts val="600"/>
              </a:spcAft>
              <a:buClr>
                <a:schemeClr val="accent1"/>
              </a:buClr>
              <a:buFont typeface="Arial"/>
              <a:buChar char="▪"/>
            </a:pPr>
            <a:r>
              <a:rPr sz="1300" b="0" lang="en-GB">
                <a:solidFill>
                  <a:schemeClr val="tx1"/>
                </a:solidFill>
              </a:rPr>
              <a:t>Installs Git for you</a:t>
            </a:r>
          </a:p>
          <a:p>
            <a:pPr algn="l" marL="182880" indent="-182880">
              <a:spcAft>
                <a:spcPts val="600"/>
              </a:spcAft>
              <a:buClr>
                <a:schemeClr val="accent1"/>
              </a:buClr>
              <a:buFont typeface="Arial"/>
              <a:buChar char="▪"/>
            </a:pPr>
            <a:r>
              <a:rPr sz="1300" b="0" lang="en-GB">
                <a:solidFill>
                  <a:schemeClr val="tx1"/>
                </a:solidFill>
              </a:rPr>
              <a:t>Sign in with your GitHub account</a:t>
            </a:r>
          </a:p>
        </p:txBody>
      </p:sp>
      <p:sp>
        <p:nvSpPr>
          <p:cNvPr id="33" name="Tool link 3"/>
          <p:cNvSpPr txBox="1"/>
          <p:nvPr/>
        </p:nvSpPr>
        <p:spPr>
          <a:xfrm>
            <a:off x="619963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8"/>
              </a:rPr>
              <a:t>desktop.github.com</a:t>
            </a:r>
          </a:p>
        </p:txBody>
      </p:sp>
      <p:sp>
        <p:nvSpPr>
          <p:cNvPr id="34" name="Restart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start" descr=""/>
          <p:cNvPicPr>
            <a:picLocks noChangeAspect="1"/>
          </p:cNvPicPr>
          <p:nvPr/>
        </p:nvPicPr>
        <p:blipFill>
          <a:blip r:embed="rId9"/>
          <a:stretch>
            <a:fillRect/>
          </a:stretch>
        </p:blipFill>
        <p:spPr>
          <a:xfrm>
            <a:off x="658368" y="4654296"/>
            <a:ext cx="384048" cy="384048"/>
          </a:xfrm>
          <a:prstGeom prst="rect">
            <a:avLst/>
          </a:prstGeom>
        </p:spPr>
      </p:pic>
      <p:sp>
        <p:nvSpPr>
          <p:cNvPr id="36" name="Restart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Restart Positron </a:t>
            </a:r>
            <a:r>
              <a:rPr sz="1300" b="0" lang="en-GB">
                <a:solidFill>
                  <a:schemeClr val="tx1"/>
                </a:solidFill>
              </a:rPr>
              <a:t>after installing Quarto, so it finds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get the course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lone steps step 1"/>
          <p:cNvSpPr/>
          <p:nvPr/>
        </p:nvSpPr>
        <p:spPr>
          <a:xfrm>
            <a:off x="457200" y="178308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Copy the URL</a:t>
            </a:r>
            <a:br/>
            <a:r>
              <a:rPr sz="1200" b="1" lang="en-GB">
                <a:solidFill>
                  <a:schemeClr val="tx2"/>
                </a:solidFill>
              </a:rPr>
              <a:t>from Canvas</a:t>
            </a:r>
          </a:p>
        </p:txBody>
      </p:sp>
      <p:sp>
        <p:nvSpPr>
          <p:cNvPr id="17" name="Clone steps step 2"/>
          <p:cNvSpPr/>
          <p:nvPr/>
        </p:nvSpPr>
        <p:spPr>
          <a:xfrm>
            <a:off x="2487168"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GitHub Desktop:</a:t>
            </a:r>
            <a:br/>
            <a:r>
              <a:rPr sz="1200" b="1" lang="en-GB">
                <a:solidFill>
                  <a:schemeClr val="tx2"/>
                </a:solidFill>
              </a:rPr>
              <a:t>Clone repository</a:t>
            </a:r>
          </a:p>
        </p:txBody>
      </p:sp>
      <p:sp>
        <p:nvSpPr>
          <p:cNvPr id="18" name="Clone steps step 3"/>
          <p:cNvSpPr/>
          <p:nvPr/>
        </p:nvSpPr>
        <p:spPr>
          <a:xfrm>
            <a:off x="4517136"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Pick a folder</a:t>
            </a:r>
            <a:br/>
            <a:r>
              <a:rPr sz="1200" b="1" lang="en-GB">
                <a:solidFill>
                  <a:schemeClr val="tx2"/>
                </a:solidFill>
              </a:rPr>
              <a:t>without spaces</a:t>
            </a:r>
          </a:p>
        </p:txBody>
      </p:sp>
      <p:sp>
        <p:nvSpPr>
          <p:cNvPr id="19" name="Clone steps step 4"/>
          <p:cNvSpPr/>
          <p:nvPr/>
        </p:nvSpPr>
        <p:spPr>
          <a:xfrm>
            <a:off x="6547104"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20" name="Folder code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lder code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Good folder names</a:t>
            </a:r>
          </a:p>
        </p:txBody>
      </p:sp>
      <p:sp>
        <p:nvSpPr>
          <p:cNvPr id="22" name="Folder code box"/>
          <p:cNvSpPr/>
          <p:nvPr/>
        </p:nvSpPr>
        <p:spPr>
          <a:xfrm>
            <a:off x="457200" y="2788920"/>
            <a:ext cx="402336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older code code"/>
          <p:cNvSpPr txBox="1"/>
          <p:nvPr/>
        </p:nvSpPr>
        <p:spPr>
          <a:xfrm>
            <a:off x="594360" y="2880360"/>
            <a:ext cx="374904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C:\Users\anna\wu\ima</a:t>
            </a:r>
          </a:p>
          <a:p>
            <a:pPr algn="l">
              <a:spcAft>
                <a:spcPts val="0"/>
              </a:spcAft>
            </a:pPr>
            <a:r>
              <a:rPr sz="1100" b="0" lang="en-GB">
                <a:solidFill>
                  <a:schemeClr val="bg1"/>
                </a:solidFill>
                <a:latin typeface="Consolas"/>
              </a:rPr>
              <a:t>~/wu/ima</a:t>
            </a:r>
          </a:p>
        </p:txBody>
      </p:sp>
      <p:sp>
        <p:nvSpPr>
          <p:cNvPr id="24" name="Folder note"/>
          <p:cNvSpPr txBox="1"/>
          <p:nvPr/>
        </p:nvSpPr>
        <p:spPr>
          <a:xfrm>
            <a:off x="457200" y="3566160"/>
            <a:ext cx="4023360" cy="777240"/>
          </a:xfrm>
          <a:prstGeom prst="rect">
            <a:avLst/>
          </a:prstGeom>
          <a:noFill/>
        </p:spPr>
        <p:txBody>
          <a:bodyPr wrap="square" lIns="0" rIns="0" tIns="0" bIns="0" anchor="t">
            <a:noAutofit/>
          </a:bodyPr>
          <a:lstStyle/>
          <a:p>
            <a:pPr algn="l">
              <a:spcAft>
                <a:spcPts val="400"/>
              </a:spcAft>
            </a:pPr>
            <a:r>
              <a:rPr sz="1200" b="1" lang="en-GB">
                <a:solidFill>
                  <a:schemeClr val="tx2"/>
                </a:solidFill>
              </a:rPr>
              <a:t>Avoid </a:t>
            </a:r>
            <a:r>
              <a:rPr sz="1200" b="0" lang="en-GB">
                <a:solidFill>
                  <a:schemeClr val="tx1"/>
                </a:solidFill>
              </a:rPr>
              <a:t>spaces, umlauts and cloud folders such as OneDrive or iCloud: they break paths and syncing.</a:t>
            </a:r>
          </a:p>
        </p:txBody>
      </p:sp>
      <p:sp>
        <p:nvSpPr>
          <p:cNvPr id="25" name="Git word 1"/>
          <p:cNvSpPr/>
          <p:nvPr/>
        </p:nvSpPr>
        <p:spPr>
          <a:xfrm>
            <a:off x="4663440" y="2514600"/>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 word bar 1"/>
          <p:cNvSpPr/>
          <p:nvPr/>
        </p:nvSpPr>
        <p:spPr>
          <a:xfrm>
            <a:off x="4663440" y="251460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it word text 1"/>
          <p:cNvSpPr txBox="1"/>
          <p:nvPr/>
        </p:nvSpPr>
        <p:spPr>
          <a:xfrm>
            <a:off x="4864608" y="2514600"/>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Clone: </a:t>
            </a:r>
            <a:r>
              <a:rPr sz="1200" b="0" lang="en-GB">
                <a:solidFill>
                  <a:schemeClr val="tx1"/>
                </a:solidFill>
              </a:rPr>
              <a:t>your own copy of a repository; a public one needs no sign-in</a:t>
            </a:r>
          </a:p>
        </p:txBody>
      </p:sp>
      <p:sp>
        <p:nvSpPr>
          <p:cNvPr id="28" name="Git word 2"/>
          <p:cNvSpPr/>
          <p:nvPr/>
        </p:nvSpPr>
        <p:spPr>
          <a:xfrm>
            <a:off x="4663440" y="3136392"/>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 word bar 2"/>
          <p:cNvSpPr/>
          <p:nvPr/>
        </p:nvSpPr>
        <p:spPr>
          <a:xfrm>
            <a:off x="4663440" y="313639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it word text 2"/>
          <p:cNvSpPr txBox="1"/>
          <p:nvPr/>
        </p:nvSpPr>
        <p:spPr>
          <a:xfrm>
            <a:off x="4864608" y="3136392"/>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Pull: </a:t>
            </a:r>
            <a:r>
              <a:rPr sz="1200" b="0" lang="en-GB">
                <a:solidFill>
                  <a:schemeClr val="tx1"/>
                </a:solidFill>
              </a:rPr>
              <a:t>get the latest materials; do it before every session</a:t>
            </a:r>
          </a:p>
        </p:txBody>
      </p:sp>
      <p:sp>
        <p:nvSpPr>
          <p:cNvPr id="31" name="Git word 3"/>
          <p:cNvSpPr/>
          <p:nvPr/>
        </p:nvSpPr>
        <p:spPr>
          <a:xfrm>
            <a:off x="4663440" y="3758184"/>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 word bar 3"/>
          <p:cNvSpPr/>
          <p:nvPr/>
        </p:nvSpPr>
        <p:spPr>
          <a:xfrm>
            <a:off x="4663440" y="375818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 word text 3"/>
          <p:cNvSpPr txBox="1"/>
          <p:nvPr/>
        </p:nvSpPr>
        <p:spPr>
          <a:xfrm>
            <a:off x="4864608" y="3758184"/>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Commit and push: </a:t>
            </a:r>
            <a:r>
              <a:rPr sz="1200" b="0" lang="en-GB">
                <a:solidFill>
                  <a:schemeClr val="tx1"/>
                </a:solidFill>
              </a:rPr>
              <a:t>save and upload your changes (group repository)</a:t>
            </a:r>
          </a:p>
        </p:txBody>
      </p:sp>
      <p:sp>
        <p:nvSpPr>
          <p:cNvPr id="34" name="Open folder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pen folder" descr=""/>
          <p:cNvPicPr>
            <a:picLocks noChangeAspect="1"/>
          </p:cNvPicPr>
          <p:nvPr/>
        </p:nvPicPr>
        <p:blipFill>
          <a:blip r:embed="rId3"/>
          <a:stretch>
            <a:fillRect/>
          </a:stretch>
        </p:blipFill>
        <p:spPr>
          <a:xfrm>
            <a:off x="658368" y="4585716"/>
            <a:ext cx="384048" cy="384048"/>
          </a:xfrm>
          <a:prstGeom prst="rect">
            <a:avLst/>
          </a:prstGeom>
        </p:spPr>
      </p:pic>
      <p:sp>
        <p:nvSpPr>
          <p:cNvPr id="36" name="Open folder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In Positron: </a:t>
            </a:r>
            <a:r>
              <a:rPr sz="1300" b="0" lang="en-GB">
                <a:solidFill>
                  <a:schemeClr val="tx1"/>
                </a:solidFill>
              </a:rPr>
              <a:t>File → Open Folder. The cloned folder is now your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set up the project's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nv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Create</a:t>
            </a:r>
            <a:br/>
            <a:r>
              <a:rPr sz="1200" b="1" lang="en-GB">
                <a:solidFill>
                  <a:schemeClr val="tx2"/>
                </a:solidFill>
              </a:rPr>
              <a:t>Environment</a:t>
            </a:r>
          </a:p>
        </p:txBody>
      </p:sp>
      <p:sp>
        <p:nvSpPr>
          <p:cNvPr id="17" name="Env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p>
        </p:txBody>
      </p:sp>
      <p:sp>
        <p:nvSpPr>
          <p:cNvPr id="18" name="Env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3.14.8</a:t>
            </a:r>
          </a:p>
        </p:txBody>
      </p:sp>
      <p:sp>
        <p:nvSpPr>
          <p:cNvPr id="19" name="Env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packages</a:t>
            </a:r>
          </a:p>
        </p:txBody>
      </p:sp>
      <p:sp>
        <p:nvSpPr>
          <p:cNvPr id="20" name="Env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br/>
            <a:r>
              <a:rPr sz="1200" b="1" lang="en-GB">
                <a:solidFill>
                  <a:schemeClr val="tx2"/>
                </a:solidFill>
              </a:rPr>
              <a:t>selected</a:t>
            </a:r>
          </a:p>
        </p:txBody>
      </p:sp>
      <p:sp>
        <p:nvSpPr>
          <p:cNvPr id="21" name="Env card body"/>
          <p:cNvSpPr/>
          <p:nvPr/>
        </p:nvSpPr>
        <p:spPr>
          <a:xfrm>
            <a:off x="457200" y="2926080"/>
            <a:ext cx="39319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v card header"/>
          <p:cNvSpPr/>
          <p:nvPr/>
        </p:nvSpPr>
        <p:spPr>
          <a:xfrm>
            <a:off x="457200" y="251460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nv card heading"/>
          <p:cNvSpPr txBox="1"/>
          <p:nvPr/>
        </p:nvSpPr>
        <p:spPr>
          <a:xfrm>
            <a:off x="594360" y="251460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then</a:t>
            </a:r>
          </a:p>
        </p:txBody>
      </p:sp>
      <p:pic>
        <p:nvPicPr>
          <p:cNvPr id="24" name="Icon Env card" descr=""/>
          <p:cNvPicPr>
            <a:picLocks noChangeAspect="1"/>
          </p:cNvPicPr>
          <p:nvPr/>
        </p:nvPicPr>
        <p:blipFill>
          <a:blip r:embed="rId3"/>
          <a:stretch>
            <a:fillRect/>
          </a:stretch>
        </p:blipFill>
        <p:spPr>
          <a:xfrm>
            <a:off x="3950208" y="2564892"/>
            <a:ext cx="310896" cy="310896"/>
          </a:xfrm>
          <a:prstGeom prst="rect">
            <a:avLst/>
          </a:prstGeom>
        </p:spPr>
      </p:pic>
      <p:sp>
        <p:nvSpPr>
          <p:cNvPr id="25" name="Env card text"/>
          <p:cNvSpPr txBox="1"/>
          <p:nvPr/>
        </p:nvSpPr>
        <p:spPr>
          <a:xfrm>
            <a:off x="621792" y="3063240"/>
            <a:ext cx="36301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Start: Command Palette → Python: Create Environment</a:t>
            </a:r>
          </a:p>
          <a:p>
            <a:pPr algn="l" marL="182880" indent="-182880">
              <a:spcAft>
                <a:spcPts val="600"/>
              </a:spcAft>
              <a:buClr>
                <a:schemeClr val="accent1"/>
              </a:buClr>
              <a:buFont typeface="Arial"/>
              <a:buChar char="▪"/>
            </a:pPr>
            <a:r>
              <a:rPr sz="1300" b="0" lang="en-GB">
                <a:solidFill>
                  <a:schemeClr val="tx1"/>
                </a:solidFill>
              </a:rPr>
              <a:t>Creates .venv inside the project</a:t>
            </a:r>
          </a:p>
          <a:p>
            <a:pPr algn="l" marL="182880" indent="-182880">
              <a:spcAft>
                <a:spcPts val="600"/>
              </a:spcAft>
              <a:buClr>
                <a:schemeClr val="accent1"/>
              </a:buClr>
              <a:buFont typeface="Arial"/>
              <a:buChar char="▪"/>
            </a:pPr>
            <a:r>
              <a:rPr sz="1300" b="0" lang="en-GB">
                <a:solidFill>
                  <a:schemeClr val="tx1"/>
                </a:solidFill>
              </a:rPr>
              <a:t>Installs all course packages</a:t>
            </a:r>
          </a:p>
          <a:p>
            <a:pPr algn="l" marL="182880" indent="-182880">
              <a:spcAft>
                <a:spcPts val="600"/>
              </a:spcAft>
              <a:buClr>
                <a:schemeClr val="accent1"/>
              </a:buClr>
              <a:buFont typeface="Arial"/>
              <a:buChar char="▪"/>
            </a:pPr>
            <a:r>
              <a:rPr sz="1300" b="0" lang="en-GB">
                <a:solidFill>
                  <a:schemeClr val="tx1"/>
                </a:solidFill>
              </a:rPr>
              <a:t>Starts Python from .venv</a:t>
            </a:r>
          </a:p>
        </p:txBody>
      </p:sp>
      <p:sp>
        <p:nvSpPr>
          <p:cNvPr id="26" name="Interpreter panel"/>
          <p:cNvSpPr/>
          <p:nvPr/>
        </p:nvSpPr>
        <p:spPr>
          <a:xfrm>
            <a:off x="4526280" y="2514600"/>
            <a:ext cx="416052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nterpreter head"/>
          <p:cNvSpPr txBox="1"/>
          <p:nvPr/>
        </p:nvSpPr>
        <p:spPr>
          <a:xfrm>
            <a:off x="4663440" y="2514600"/>
            <a:ext cx="1463040" cy="868680"/>
          </a:xfrm>
          <a:prstGeom prst="rect">
            <a:avLst/>
          </a:prstGeom>
          <a:noFill/>
        </p:spPr>
        <p:txBody>
          <a:bodyPr wrap="square" lIns="0" rIns="0" tIns="0" bIns="0" anchor="ctr">
            <a:noAutofit/>
          </a:bodyPr>
          <a:lstStyle/>
          <a:p>
            <a:pPr algn="l">
              <a:spcAft>
                <a:spcPts val="0"/>
              </a:spcAft>
            </a:pPr>
            <a:r>
              <a:rPr sz="1200" b="1" lang="en-GB">
                <a:solidFill>
                  <a:schemeClr val="tx2"/>
                </a:solidFill>
              </a:rPr>
              <a:t>Interpreter picker</a:t>
            </a:r>
          </a:p>
          <a:p>
            <a:pPr algn="l">
              <a:spcAft>
                <a:spcPts val="0"/>
              </a:spcAft>
            </a:pPr>
            <a:r>
              <a:rPr sz="1100" b="0" lang="en-GB">
                <a:solidFill>
                  <a:schemeClr val="tx1"/>
                </a:solidFill>
              </a:rPr>
              <a:t>top right</a:t>
            </a:r>
          </a:p>
        </p:txBody>
      </p:sp>
      <p:sp>
        <p:nvSpPr>
          <p:cNvPr id="28" name="Interpreter pill"/>
          <p:cNvSpPr/>
          <p:nvPr/>
        </p:nvSpPr>
        <p:spPr>
          <a:xfrm>
            <a:off x="6080760" y="2761488"/>
            <a:ext cx="246888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ill text"/>
          <p:cNvSpPr txBox="1"/>
          <p:nvPr/>
        </p:nvSpPr>
        <p:spPr>
          <a:xfrm>
            <a:off x="6144768" y="2761488"/>
            <a:ext cx="237744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3.14.8 (.venv) ▾</a:t>
            </a:r>
          </a:p>
        </p:txBody>
      </p:sp>
      <p:sp>
        <p:nvSpPr>
          <p:cNvPr id="30" name="Env console caption bar"/>
          <p:cNvSpPr/>
          <p:nvPr/>
        </p:nvSpPr>
        <p:spPr>
          <a:xfrm>
            <a:off x="4526280" y="352044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nv console caption"/>
          <p:cNvSpPr txBox="1"/>
          <p:nvPr/>
        </p:nvSpPr>
        <p:spPr>
          <a:xfrm>
            <a:off x="4636008" y="352044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Packages missing? Positron console</a:t>
            </a:r>
          </a:p>
        </p:txBody>
      </p:sp>
      <p:sp>
        <p:nvSpPr>
          <p:cNvPr id="32" name="Env console box"/>
          <p:cNvSpPr/>
          <p:nvPr/>
        </p:nvSpPr>
        <p:spPr>
          <a:xfrm>
            <a:off x="4526280" y="3794760"/>
            <a:ext cx="416052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nv console code"/>
          <p:cNvSpPr txBox="1"/>
          <p:nvPr/>
        </p:nvSpPr>
        <p:spPr>
          <a:xfrm>
            <a:off x="4663440" y="3886200"/>
            <a:ext cx="388620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-r requirements.txt</a:t>
            </a:r>
          </a:p>
        </p:txBody>
      </p:sp>
      <p:sp>
        <p:nvSpPr>
          <p:cNvPr id="34" name="Once note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nce note" descr=""/>
          <p:cNvPicPr>
            <a:picLocks noChangeAspect="1"/>
          </p:cNvPicPr>
          <p:nvPr/>
        </p:nvPicPr>
        <p:blipFill>
          <a:blip r:embed="rId4"/>
          <a:stretch>
            <a:fillRect/>
          </a:stretch>
        </p:blipFill>
        <p:spPr>
          <a:xfrm>
            <a:off x="658368" y="4608576"/>
            <a:ext cx="384048" cy="384048"/>
          </a:xfrm>
          <a:prstGeom prst="rect">
            <a:avLst/>
          </a:prstGeom>
        </p:spPr>
      </p:pic>
      <p:sp>
        <p:nvSpPr>
          <p:cNvPr id="36" name="Once note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Once per project: </a:t>
            </a:r>
            <a:r>
              <a:rPr sz="1300" b="0" lang="en-GB">
                <a:solidFill>
                  <a:schemeClr val="tx1"/>
                </a:solidFill>
              </a:rPr>
              <a:t>Positron remembers the .venv and starts it whenever you open the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run the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heck command caption bar"/>
          <p:cNvSpPr/>
          <p:nvPr/>
        </p:nvSpPr>
        <p:spPr>
          <a:xfrm>
            <a:off x="457200" y="17830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command caption"/>
          <p:cNvSpPr txBox="1"/>
          <p:nvPr/>
        </p:nvSpPr>
        <p:spPr>
          <a:xfrm>
            <a:off x="566928" y="17830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console (Windows and macOS)</a:t>
            </a:r>
          </a:p>
        </p:txBody>
      </p:sp>
      <p:sp>
        <p:nvSpPr>
          <p:cNvPr id="18" name="Check command box"/>
          <p:cNvSpPr/>
          <p:nvPr/>
        </p:nvSpPr>
        <p:spPr>
          <a:xfrm>
            <a:off x="457200" y="20574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 command code"/>
          <p:cNvSpPr txBox="1"/>
          <p:nvPr/>
        </p:nvSpPr>
        <p:spPr>
          <a:xfrm>
            <a:off x="594360" y="214884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%run setup/check_setup.py</a:t>
            </a:r>
          </a:p>
        </p:txBody>
      </p:sp>
      <p:sp>
        <p:nvSpPr>
          <p:cNvPr id="20" name="Check output caption bar"/>
          <p:cNvSpPr/>
          <p:nvPr/>
        </p:nvSpPr>
        <p:spPr>
          <a:xfrm>
            <a:off x="457200" y="26060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 output caption"/>
          <p:cNvSpPr txBox="1"/>
          <p:nvPr/>
        </p:nvSpPr>
        <p:spPr>
          <a:xfrm>
            <a:off x="566928" y="26060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Example output (shortened)</a:t>
            </a:r>
          </a:p>
        </p:txBody>
      </p:sp>
      <p:sp>
        <p:nvSpPr>
          <p:cNvPr id="22" name="Check output box"/>
          <p:cNvSpPr/>
          <p:nvPr/>
        </p:nvSpPr>
        <p:spPr>
          <a:xfrm>
            <a:off x="457200" y="2880360"/>
            <a:ext cx="5120640" cy="1645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output code"/>
          <p:cNvSpPr txBox="1"/>
          <p:nvPr/>
        </p:nvSpPr>
        <p:spPr>
          <a:xfrm>
            <a:off x="594360" y="2971800"/>
            <a:ext cx="4846320" cy="14630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Packages</a:t>
            </a:r>
          </a:p>
          <a:p>
            <a:pPr algn="l">
              <a:spcAft>
                <a:spcPts val="0"/>
              </a:spcAft>
            </a:pPr>
            <a:r>
              <a:rPr sz="1100" b="0" lang="en-GB">
                <a:solidFill>
                  <a:schemeClr val="bg1"/>
                </a:solidFill>
                <a:latin typeface="Consolas"/>
              </a:rPr>
              <a:t>  [ok] polars           1.44.2     data wrangling</a:t>
            </a:r>
          </a:p>
          <a:p>
            <a:pPr algn="l">
              <a:spcAft>
                <a:spcPts val="0"/>
              </a:spcAft>
            </a:pPr>
            <a:r>
              <a:rPr sz="1100" b="0" lang="en-GB">
                <a:solidFill>
                  <a:schemeClr val="bg1"/>
                </a:solidFill>
                <a:latin typeface="Consolas"/>
              </a:rPr>
              <a:t>  [ok] plotnine         0.15.8     charts</a:t>
            </a:r>
          </a:p>
          <a:p>
            <a:pPr algn="l">
              <a:spcAft>
                <a:spcPts val="0"/>
              </a:spcAft>
            </a:pPr>
            <a:r>
              <a:rPr sz="1100" b="0" lang="en-GB">
                <a:solidFill>
                  <a:schemeClr val="bg1"/>
                </a:solidFill>
                <a:latin typeface="Consolas"/>
              </a:rPr>
              <a:t>  [ok] great_tables     1.0.0      tables</a:t>
            </a:r>
          </a:p>
          <a:p>
            <a:pPr algn="l">
              <a:spcAft>
                <a:spcPts val="0"/>
              </a:spcAft>
            </a:pPr>
            <a:r>
              <a:rPr sz="1100" b="0" lang="en-GB">
                <a:solidFill>
                  <a:schemeClr val="bg1"/>
                </a:solidFill>
                <a:latin typeface="Consolas"/>
              </a:rPr>
              <a:t>  [ok] statsmodels      0.15.0     regression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ready</a:t>
            </a:r>
          </a:p>
        </p:txBody>
      </p:sp>
      <p:sp>
        <p:nvSpPr>
          <p:cNvPr id="24" name="Check card body"/>
          <p:cNvSpPr/>
          <p:nvPr/>
        </p:nvSpPr>
        <p:spPr>
          <a:xfrm>
            <a:off x="5760720" y="3017520"/>
            <a:ext cx="292608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 card header"/>
          <p:cNvSpPr/>
          <p:nvPr/>
        </p:nvSpPr>
        <p:spPr>
          <a:xfrm>
            <a:off x="5760720" y="260604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card heading"/>
          <p:cNvSpPr txBox="1"/>
          <p:nvPr/>
        </p:nvSpPr>
        <p:spPr>
          <a:xfrm>
            <a:off x="5897880" y="260604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Reading it</a:t>
            </a:r>
          </a:p>
        </p:txBody>
      </p:sp>
      <p:pic>
        <p:nvPicPr>
          <p:cNvPr id="27" name="Icon Check card" descr=""/>
          <p:cNvPicPr>
            <a:picLocks noChangeAspect="1"/>
          </p:cNvPicPr>
          <p:nvPr/>
        </p:nvPicPr>
        <p:blipFill>
          <a:blip r:embed="rId3"/>
          <a:stretch>
            <a:fillRect/>
          </a:stretch>
        </p:blipFill>
        <p:spPr>
          <a:xfrm>
            <a:off x="8247888" y="2656332"/>
            <a:ext cx="310896" cy="310896"/>
          </a:xfrm>
          <a:prstGeom prst="rect">
            <a:avLst/>
          </a:prstGeom>
        </p:spPr>
      </p:pic>
      <p:sp>
        <p:nvSpPr>
          <p:cNvPr id="28" name="Check card text"/>
          <p:cNvSpPr txBox="1"/>
          <p:nvPr/>
        </p:nvSpPr>
        <p:spPr>
          <a:xfrm>
            <a:off x="5925312" y="3154680"/>
            <a:ext cx="262432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[ok]: in place</a:t>
            </a:r>
          </a:p>
          <a:p>
            <a:pPr algn="l" marL="182880" indent="-182880">
              <a:spcAft>
                <a:spcPts val="600"/>
              </a:spcAft>
              <a:buClr>
                <a:schemeClr val="accent1"/>
              </a:buClr>
              <a:buFont typeface="Arial"/>
              <a:buChar char="▪"/>
            </a:pPr>
            <a:r>
              <a:rPr sz="1300" b="0" lang="en-GB">
                <a:solidFill>
                  <a:schemeClr val="tx1"/>
                </a:solidFill>
              </a:rPr>
              <a:t>[!!]: the line says what to fix</a:t>
            </a:r>
          </a:p>
          <a:p>
            <a:pPr algn="l" marL="182880" indent="-182880">
              <a:spcAft>
                <a:spcPts val="600"/>
              </a:spcAft>
              <a:buClr>
                <a:schemeClr val="accent1"/>
              </a:buClr>
              <a:buFont typeface="Arial"/>
              <a:buChar char="▪"/>
            </a:pPr>
            <a:r>
              <a:rPr sz="1300" b="0" lang="en-GB">
                <a:solidFill>
                  <a:schemeClr val="tx1"/>
                </a:solidFill>
              </a:rPr>
              <a:t>Ends with “ready”: done</a:t>
            </a:r>
          </a:p>
        </p:txBody>
      </p:sp>
      <p:sp>
        <p:nvSpPr>
          <p:cNvPr id="29" name="Run button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Run button" descr=""/>
          <p:cNvPicPr>
            <a:picLocks noChangeAspect="1"/>
          </p:cNvPicPr>
          <p:nvPr/>
        </p:nvPicPr>
        <p:blipFill>
          <a:blip r:embed="rId4"/>
          <a:stretch>
            <a:fillRect/>
          </a:stretch>
        </p:blipFill>
        <p:spPr>
          <a:xfrm>
            <a:off x="658368" y="4654296"/>
            <a:ext cx="384048" cy="384048"/>
          </a:xfrm>
          <a:prstGeom prst="rect">
            <a:avLst/>
          </a:prstGeom>
        </p:spPr>
      </p:pic>
      <p:sp>
        <p:nvSpPr>
          <p:cNvPr id="31" name="Run button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Full test: </a:t>
            </a:r>
            <a:r>
              <a:rPr sz="1300" b="0" lang="en-GB">
                <a:solidFill>
                  <a:schemeClr val="tx1"/>
                </a:solidFill>
              </a:rPr>
              <a:t>open setup/test_stack.qmd and press Preview (Ctrl/Cmd + Shift + 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connect your AI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AI</a:t>
            </a:r>
          </a:p>
        </p:txBody>
      </p:sp>
      <p:sp>
        <p:nvSpPr>
          <p:cNvPr id="16" name="AI steps row 1"/>
          <p:cNvSpPr/>
          <p:nvPr/>
        </p:nvSpPr>
        <p:spPr>
          <a:xfrm>
            <a:off x="457200" y="1783080"/>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I steps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AI steps text 1"/>
          <p:cNvSpPr txBox="1"/>
          <p:nvPr/>
        </p:nvSpPr>
        <p:spPr>
          <a:xfrm>
            <a:off x="1051560" y="1783080"/>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Command Palette: </a:t>
            </a:r>
            <a:r>
              <a:rPr sz="1300" b="0" lang="en-GB">
                <a:solidFill>
                  <a:schemeClr val="tx1"/>
                </a:solidFill>
              </a:rPr>
              <a:t>Configure Language Model Providers</a:t>
            </a:r>
          </a:p>
        </p:txBody>
      </p:sp>
      <p:sp>
        <p:nvSpPr>
          <p:cNvPr id="19" name="AI steps row 2"/>
          <p:cNvSpPr/>
          <p:nvPr/>
        </p:nvSpPr>
        <p:spPr>
          <a:xfrm>
            <a:off x="457200" y="2441448"/>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I steps number 2"/>
          <p:cNvSpPr/>
          <p:nvPr/>
        </p:nvSpPr>
        <p:spPr>
          <a:xfrm>
            <a:off x="594360" y="25694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AI steps text 2"/>
          <p:cNvSpPr txBox="1"/>
          <p:nvPr/>
        </p:nvSpPr>
        <p:spPr>
          <a:xfrm>
            <a:off x="1051560" y="2441448"/>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Choose GitHub Copilot </a:t>
            </a:r>
            <a:r>
              <a:rPr sz="1300" b="0" lang="en-GB">
                <a:solidFill>
                  <a:schemeClr val="tx1"/>
                </a:solidFill>
              </a:rPr>
              <a:t>and sign in with GitHub</a:t>
            </a:r>
          </a:p>
        </p:txBody>
      </p:sp>
      <p:sp>
        <p:nvSpPr>
          <p:cNvPr id="22" name="AI steps row 3"/>
          <p:cNvSpPr/>
          <p:nvPr/>
        </p:nvSpPr>
        <p:spPr>
          <a:xfrm>
            <a:off x="457200" y="3099816"/>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I steps number 3"/>
          <p:cNvSpPr/>
          <p:nvPr/>
        </p:nvSpPr>
        <p:spPr>
          <a:xfrm>
            <a:off x="594360" y="32278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AI steps text 3"/>
          <p:cNvSpPr txBox="1"/>
          <p:nvPr/>
        </p:nvSpPr>
        <p:spPr>
          <a:xfrm>
            <a:off x="1051560" y="3099816"/>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Open the chat: </a:t>
            </a:r>
            <a:r>
              <a:rPr sz="1300" b="0" lang="en-GB">
                <a:solidFill>
                  <a:schemeClr val="tx1"/>
                </a:solidFill>
              </a:rPr>
              <a:t>View: Show Posit Assistant</a:t>
            </a:r>
          </a:p>
        </p:txBody>
      </p:sp>
      <p:sp>
        <p:nvSpPr>
          <p:cNvPr id="25" name="Options panel"/>
          <p:cNvSpPr/>
          <p:nvPr/>
        </p:nvSpPr>
        <p:spPr>
          <a:xfrm>
            <a:off x="5212080" y="1783080"/>
            <a:ext cx="347472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ptions head"/>
          <p:cNvSpPr txBox="1"/>
          <p:nvPr/>
        </p:nvSpPr>
        <p:spPr>
          <a:xfrm>
            <a:off x="5394960" y="1828800"/>
            <a:ext cx="3108960" cy="320040"/>
          </a:xfrm>
          <a:prstGeom prst="rect">
            <a:avLst/>
          </a:prstGeom>
          <a:noFill/>
        </p:spPr>
        <p:txBody>
          <a:bodyPr wrap="square" lIns="0" rIns="0" tIns="0" bIns="0" anchor="t">
            <a:noAutofit/>
          </a:bodyPr>
          <a:lstStyle/>
          <a:p>
            <a:pPr algn="l">
              <a:spcAft>
                <a:spcPts val="400"/>
              </a:spcAft>
            </a:pPr>
            <a:r>
              <a:rPr sz="1300" b="1" lang="en-GB">
                <a:solidFill>
                  <a:schemeClr val="tx2"/>
                </a:solidFill>
              </a:rPr>
              <a:t>Providers</a:t>
            </a:r>
          </a:p>
        </p:txBody>
      </p:sp>
      <p:sp>
        <p:nvSpPr>
          <p:cNvPr id="27" name="Options text"/>
          <p:cNvSpPr txBox="1"/>
          <p:nvPr/>
        </p:nvSpPr>
        <p:spPr>
          <a:xfrm>
            <a:off x="5394960" y="2148840"/>
            <a:ext cx="3200400" cy="1463040"/>
          </a:xfrm>
          <a:prstGeom prst="rect">
            <a:avLst/>
          </a:prstGeom>
          <a:noFill/>
        </p:spPr>
        <p:txBody>
          <a:bodyPr wrap="square" lIns="0" rIns="0" tIns="0" bIns="0" anchor="t">
            <a:noAutofit/>
          </a:bodyPr>
          <a:lstStyle/>
          <a:p>
            <a:pPr algn="l">
              <a:spcAft>
                <a:spcPts val="400"/>
              </a:spcAft>
            </a:pPr>
            <a:r>
              <a:rPr sz="1200" b="1" lang="en-GB">
                <a:solidFill>
                  <a:schemeClr val="tx2"/>
                </a:solidFill>
              </a:rPr>
              <a:t>GitHub Copilot: </a:t>
            </a:r>
            <a:r>
              <a:rPr sz="1200" b="0" lang="en-GB">
                <a:solidFill>
                  <a:schemeClr val="tx1"/>
                </a:solidFill>
              </a:rPr>
              <a:t>chat and completions; free with Copilot Student or Copilot Free</a:t>
            </a:r>
          </a:p>
          <a:p>
            <a:pPr algn="l">
              <a:spcAft>
                <a:spcPts val="400"/>
              </a:spcAft>
            </a:pPr>
            <a:r>
              <a:rPr sz="1200" b="1" lang="en-GB">
                <a:solidFill>
                  <a:schemeClr val="tx2"/>
                </a:solidFill>
              </a:rPr>
              <a:t>Posit AI Pass: </a:t>
            </a:r>
            <a:r>
              <a:rPr sz="1200" b="0" lang="en-GB">
                <a:solidFill>
                  <a:schemeClr val="tx1"/>
                </a:solidFill>
              </a:rPr>
              <a:t>chat and completions; about USD 20 a month</a:t>
            </a:r>
          </a:p>
          <a:p>
            <a:pPr algn="l">
              <a:spcAft>
                <a:spcPts val="400"/>
              </a:spcAft>
            </a:pPr>
            <a:r>
              <a:rPr sz="1200" b="1" lang="en-GB">
                <a:solidFill>
                  <a:schemeClr val="tx2"/>
                </a:solidFill>
              </a:rPr>
              <a:t>Anthropic API key: </a:t>
            </a:r>
            <a:r>
              <a:rPr sz="1200" b="0" lang="en-GB">
                <a:solidFill>
                  <a:schemeClr val="tx1"/>
                </a:solidFill>
              </a:rPr>
              <a:t>chat; pay as you go</a:t>
            </a:r>
          </a:p>
        </p:txBody>
      </p:sp>
      <p:sp>
        <p:nvSpPr>
          <p:cNvPr id="28" name="AI rule box"/>
          <p:cNvSpPr/>
          <p:nvPr/>
        </p:nvSpPr>
        <p:spPr>
          <a:xfrm>
            <a:off x="457200" y="388620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AI rule" descr=""/>
          <p:cNvPicPr>
            <a:picLocks noChangeAspect="1"/>
          </p:cNvPicPr>
          <p:nvPr/>
        </p:nvPicPr>
        <p:blipFill>
          <a:blip r:embed="rId3"/>
          <a:stretch>
            <a:fillRect/>
          </a:stretch>
        </p:blipFill>
        <p:spPr>
          <a:xfrm>
            <a:off x="658368" y="4242816"/>
            <a:ext cx="384048" cy="384048"/>
          </a:xfrm>
          <a:prstGeom prst="rect">
            <a:avLst/>
          </a:prstGeom>
        </p:spPr>
      </p:pic>
      <p:sp>
        <p:nvSpPr>
          <p:cNvPr id="30" name="AI rule text"/>
          <p:cNvSpPr txBox="1"/>
          <p:nvPr/>
        </p:nvSpPr>
        <p:spPr>
          <a:xfrm>
            <a:off x="1234440" y="388620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Our rule: </a:t>
            </a:r>
            <a:r>
              <a:rPr sz="1300" b="0" lang="en-GB">
                <a:solidFill>
                  <a:schemeClr val="bg1"/>
                </a:solidFill>
              </a:rPr>
              <a:t>the AI writes, you check. Run the code, read the output and keep a short prompt log for each submission.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4 · panes, running code, projects, Quarto, Posit Assistant</a:t>
            </a:r>
          </a:p>
        </p:txBody>
      </p:sp>
      <p:sp>
        <p:nvSpPr>
          <p:cNvPr id="3" name="Title 2"/>
          <p:cNvSpPr>
            <a:spLocks noGrp="1"/>
          </p:cNvSpPr>
          <p:nvPr>
            <p:ph type="ctrTitle"/>
          </p:nvPr>
        </p:nvSpPr>
        <p:spPr/>
        <p:txBody>
          <a:bodyPr/>
          <a:lstStyle/>
          <a:p>
            <a:r>
              <a:rPr sz="1600" lang="en-GB"/>
              <a:t>How Positron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p Bar"/>
          <p:cNvSpPr/>
          <p:nvPr/>
        </p:nvSpPr>
        <p:spPr>
          <a:xfrm>
            <a:off x="457200" y="1234440"/>
            <a:ext cx="8229600" cy="3291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p Bar left"/>
          <p:cNvSpPr txBox="1"/>
          <p:nvPr/>
        </p:nvSpPr>
        <p:spPr>
          <a:xfrm>
            <a:off x="594360" y="1234440"/>
            <a:ext cx="2743200" cy="329184"/>
          </a:xfrm>
          <a:prstGeom prst="rect">
            <a:avLst/>
          </a:prstGeom>
          <a:noFill/>
        </p:spPr>
        <p:txBody>
          <a:bodyPr wrap="square" lIns="0" rIns="0" tIns="0" bIns="0" anchor="ctr">
            <a:noAutofit/>
          </a:bodyPr>
          <a:lstStyle/>
          <a:p>
            <a:pPr algn="l">
              <a:spcAft>
                <a:spcPts val="400"/>
              </a:spcAft>
            </a:pPr>
            <a:r>
              <a:rPr sz="1100" b="0" lang="en-GB">
                <a:solidFill>
                  <a:schemeClr val="bg1"/>
                </a:solidFill>
              </a:rPr>
              <a:t>New ▾   Open ▾</a:t>
            </a:r>
          </a:p>
        </p:txBody>
      </p:sp>
      <p:sp>
        <p:nvSpPr>
          <p:cNvPr id="12" name="Project switcher"/>
          <p:cNvSpPr/>
          <p:nvPr/>
        </p:nvSpPr>
        <p:spPr>
          <a:xfrm>
            <a:off x="4572000" y="1271016"/>
            <a:ext cx="15087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switcher text"/>
          <p:cNvSpPr txBox="1"/>
          <p:nvPr/>
        </p:nvSpPr>
        <p:spPr>
          <a:xfrm>
            <a:off x="4617720" y="1271016"/>
            <a:ext cx="1417320" cy="256032"/>
          </a:xfrm>
          <a:prstGeom prst="rect">
            <a:avLst/>
          </a:prstGeom>
          <a:noFill/>
        </p:spPr>
        <p:txBody>
          <a:bodyPr wrap="square" lIns="0" rIns="0" tIns="0" bIns="0" anchor="ctr">
            <a:noAutofit/>
          </a:bodyPr>
          <a:lstStyle/>
          <a:p>
            <a:pPr algn="ctr">
              <a:spcAft>
                <a:spcPts val="400"/>
              </a:spcAft>
            </a:pPr>
            <a:r>
              <a:rPr sz="1050" b="0" lang="en-GB">
                <a:solidFill>
                  <a:schemeClr val="tx2"/>
                </a:solidFill>
              </a:rPr>
              <a:t>case-study ▾</a:t>
            </a:r>
          </a:p>
        </p:txBody>
      </p:sp>
      <p:sp>
        <p:nvSpPr>
          <p:cNvPr id="14" name="Window pill"/>
          <p:cNvSpPr/>
          <p:nvPr/>
        </p:nvSpPr>
        <p:spPr>
          <a:xfrm>
            <a:off x="6172200" y="1271016"/>
            <a:ext cx="24231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Window pill text"/>
          <p:cNvSpPr txBox="1"/>
          <p:nvPr/>
        </p:nvSpPr>
        <p:spPr>
          <a:xfrm>
            <a:off x="6217920" y="1271016"/>
            <a:ext cx="2331720" cy="256032"/>
          </a:xfrm>
          <a:prstGeom prst="rect">
            <a:avLst/>
          </a:prstGeom>
          <a:noFill/>
        </p:spPr>
        <p:txBody>
          <a:bodyPr wrap="square" lIns="0" rIns="0" tIns="0" bIns="0" anchor="ctr">
            <a:noAutofit/>
          </a:bodyPr>
          <a:lstStyle/>
          <a:p>
            <a:pPr algn="ctr">
              <a:spcAft>
                <a:spcPts val="400"/>
              </a:spcAft>
            </a:pPr>
            <a:r>
              <a:rPr sz="1050" b="0" lang="en-GB">
                <a:solidFill>
                  <a:schemeClr val="tx2"/>
                </a:solidFill>
                <a:latin typeface="Consolas"/>
              </a:rPr>
              <a:t>Python 3.14.8 (.venv) ▾</a:t>
            </a:r>
          </a:p>
        </p:txBody>
      </p:sp>
      <p:sp>
        <p:nvSpPr>
          <p:cNvPr id="16" name="Activity bar"/>
          <p:cNvSpPr/>
          <p:nvPr/>
        </p:nvSpPr>
        <p:spPr>
          <a:xfrm>
            <a:off x="457200" y="1563624"/>
            <a:ext cx="274320" cy="35112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Explorer"/>
          <p:cNvSpPr/>
          <p:nvPr/>
        </p:nvSpPr>
        <p:spPr>
          <a:xfrm>
            <a:off x="768096" y="1600200"/>
            <a:ext cx="1700784" cy="3474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ne number 1"/>
          <p:cNvSpPr/>
          <p:nvPr/>
        </p:nvSpPr>
        <p:spPr>
          <a:xfrm>
            <a:off x="85953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9" name="Pane text 1"/>
          <p:cNvSpPr txBox="1"/>
          <p:nvPr/>
        </p:nvSpPr>
        <p:spPr>
          <a:xfrm>
            <a:off x="1225296" y="1673352"/>
            <a:ext cx="1152144" cy="548640"/>
          </a:xfrm>
          <a:prstGeom prst="rect">
            <a:avLst/>
          </a:prstGeom>
          <a:noFill/>
        </p:spPr>
        <p:txBody>
          <a:bodyPr wrap="square" lIns="0" rIns="0" tIns="0" bIns="0" anchor="t">
            <a:noAutofit/>
          </a:bodyPr>
          <a:lstStyle/>
          <a:p>
            <a:pPr algn="l">
              <a:spcAft>
                <a:spcPts val="0"/>
              </a:spcAft>
            </a:pPr>
            <a:r>
              <a:rPr sz="1200" b="1" lang="en-GB">
                <a:solidFill>
                  <a:schemeClr val="tx2"/>
                </a:solidFill>
              </a:rPr>
              <a:t>Explorer</a:t>
            </a:r>
          </a:p>
          <a:p>
            <a:pPr algn="l">
              <a:spcAft>
                <a:spcPts val="0"/>
              </a:spcAft>
            </a:pPr>
            <a:r>
              <a:rPr sz="1100" b="0" lang="en-GB">
                <a:solidFill>
                  <a:schemeClr val="tx1"/>
                </a:solidFill>
              </a:rPr>
              <a:t>files of the open folder</a:t>
            </a:r>
          </a:p>
        </p:txBody>
      </p:sp>
      <p:sp>
        <p:nvSpPr>
          <p:cNvPr id="20" name="Pane sample 1"/>
          <p:cNvSpPr txBox="1"/>
          <p:nvPr/>
        </p:nvSpPr>
        <p:spPr>
          <a:xfrm>
            <a:off x="905256" y="2377440"/>
            <a:ext cx="1426464" cy="260604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data/</a:t>
            </a:r>
          </a:p>
          <a:p>
            <a:pPr algn="l">
              <a:spcAft>
                <a:spcPts val="0"/>
              </a:spcAft>
            </a:pPr>
            <a:r>
              <a:rPr sz="1100" b="0" lang="en-GB">
                <a:solidFill>
                  <a:schemeClr val="tx2"/>
                </a:solidFill>
                <a:latin typeface="Consolas"/>
              </a:rPr>
              <a:t>analysis.py</a:t>
            </a:r>
          </a:p>
          <a:p>
            <a:pPr algn="l">
              <a:spcAft>
                <a:spcPts val="0"/>
              </a:spcAft>
            </a:pPr>
            <a:r>
              <a:rPr sz="1100" b="0" lang="en-GB">
                <a:solidFill>
                  <a:schemeClr val="tx2"/>
                </a:solidFill>
                <a:latin typeface="Consolas"/>
              </a:rPr>
              <a:t>report.qmd</a:t>
            </a:r>
          </a:p>
          <a:p>
            <a:pPr algn="l">
              <a:spcAft>
                <a:spcPts val="0"/>
              </a:spcAft>
            </a:pPr>
            <a:r>
              <a:rPr sz="1100" b="0" lang="en-GB">
                <a:solidFill>
                  <a:schemeClr val="tx2"/>
                </a:solidFill>
                <a:latin typeface="Consolas"/>
              </a:rPr>
              <a:t>requirements.txt</a:t>
            </a:r>
          </a:p>
        </p:txBody>
      </p:sp>
      <p:sp>
        <p:nvSpPr>
          <p:cNvPr id="21" name="Pane Editor"/>
          <p:cNvSpPr/>
          <p:nvPr/>
        </p:nvSpPr>
        <p:spPr>
          <a:xfrm>
            <a:off x="2505456" y="1600200"/>
            <a:ext cx="3529584" cy="19019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ane number 2"/>
          <p:cNvSpPr/>
          <p:nvPr/>
        </p:nvSpPr>
        <p:spPr>
          <a:xfrm>
            <a:off x="259689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Pane text 2"/>
          <p:cNvSpPr txBox="1"/>
          <p:nvPr/>
        </p:nvSpPr>
        <p:spPr>
          <a:xfrm>
            <a:off x="2962656" y="1673352"/>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Editor</a:t>
            </a:r>
          </a:p>
          <a:p>
            <a:pPr algn="l">
              <a:spcAft>
                <a:spcPts val="0"/>
              </a:spcAft>
            </a:pPr>
            <a:r>
              <a:rPr sz="1100" b="0" lang="en-GB">
                <a:solidFill>
                  <a:schemeClr val="tx1"/>
                </a:solidFill>
              </a:rPr>
              <a:t>write .py and .qmd files</a:t>
            </a:r>
          </a:p>
        </p:txBody>
      </p:sp>
      <p:sp>
        <p:nvSpPr>
          <p:cNvPr id="24" name="Pane sample 2"/>
          <p:cNvSpPr txBox="1"/>
          <p:nvPr/>
        </p:nvSpPr>
        <p:spPr>
          <a:xfrm>
            <a:off x="2642616" y="2377440"/>
            <a:ext cx="3255264" cy="103327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 %%</a:t>
            </a:r>
          </a:p>
          <a:p>
            <a:pPr algn="l">
              <a:spcAft>
                <a:spcPts val="0"/>
              </a:spcAft>
            </a:pPr>
            <a:r>
              <a:rPr sz="1100" b="0" lang="en-GB">
                <a:solidFill>
                  <a:schemeClr val="tx2"/>
                </a:solidFill>
                <a:latin typeface="Consolas"/>
              </a:rPr>
              <a:t>sales = pl.read_csv(...)</a:t>
            </a:r>
          </a:p>
          <a:p>
            <a:pPr algn="l">
              <a:spcAft>
                <a:spcPts val="0"/>
              </a:spcAft>
            </a:pPr>
            <a:r>
              <a:rPr sz="1100" b="0" lang="en-GB">
                <a:solidFill>
                  <a:schemeClr val="tx2"/>
                </a:solidFill>
                <a:latin typeface="Consolas"/>
              </a:rPr>
              <a:t>sales.head()</a:t>
            </a:r>
          </a:p>
        </p:txBody>
      </p:sp>
      <p:sp>
        <p:nvSpPr>
          <p:cNvPr id="25" name="Pane Console and Terminal"/>
          <p:cNvSpPr/>
          <p:nvPr/>
        </p:nvSpPr>
        <p:spPr>
          <a:xfrm>
            <a:off x="2505456" y="3538728"/>
            <a:ext cx="3529584" cy="1536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ane number 3"/>
          <p:cNvSpPr/>
          <p:nvPr/>
        </p:nvSpPr>
        <p:spPr>
          <a:xfrm>
            <a:off x="2596896" y="3630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7" name="Pane text 3"/>
          <p:cNvSpPr txBox="1"/>
          <p:nvPr/>
        </p:nvSpPr>
        <p:spPr>
          <a:xfrm>
            <a:off x="2962656" y="3611880"/>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Console and Terminal</a:t>
            </a:r>
          </a:p>
          <a:p>
            <a:pPr algn="l">
              <a:spcAft>
                <a:spcPts val="0"/>
              </a:spcAft>
            </a:pPr>
            <a:r>
              <a:rPr sz="1100" b="0" lang="en-GB">
                <a:solidFill>
                  <a:schemeClr val="tx1"/>
                </a:solidFill>
              </a:rPr>
              <a:t>the Panel: code runs, results print</a:t>
            </a:r>
          </a:p>
        </p:txBody>
      </p:sp>
      <p:sp>
        <p:nvSpPr>
          <p:cNvPr id="28" name="Pane sample 3"/>
          <p:cNvSpPr txBox="1"/>
          <p:nvPr/>
        </p:nvSpPr>
        <p:spPr>
          <a:xfrm>
            <a:off x="2642616" y="4315968"/>
            <a:ext cx="3255264" cy="66751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&gt;&gt;&gt; sales.height</a:t>
            </a:r>
          </a:p>
          <a:p>
            <a:pPr algn="l">
              <a:spcAft>
                <a:spcPts val="0"/>
              </a:spcAft>
            </a:pPr>
            <a:r>
              <a:rPr sz="1100" b="0" lang="en-GB">
                <a:solidFill>
                  <a:schemeClr val="tx2"/>
                </a:solidFill>
                <a:latin typeface="Consolas"/>
              </a:rPr>
              <a:t>936</a:t>
            </a:r>
          </a:p>
        </p:txBody>
      </p:sp>
      <p:sp>
        <p:nvSpPr>
          <p:cNvPr id="29" name="Pane Variables"/>
          <p:cNvSpPr/>
          <p:nvPr/>
        </p:nvSpPr>
        <p:spPr>
          <a:xfrm>
            <a:off x="6071616" y="1600200"/>
            <a:ext cx="2615184" cy="1581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number 4"/>
          <p:cNvSpPr/>
          <p:nvPr/>
        </p:nvSpPr>
        <p:spPr>
          <a:xfrm>
            <a:off x="616305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ane text 4"/>
          <p:cNvSpPr txBox="1"/>
          <p:nvPr/>
        </p:nvSpPr>
        <p:spPr>
          <a:xfrm>
            <a:off x="6528816" y="1673352"/>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Variables</a:t>
            </a:r>
          </a:p>
          <a:p>
            <a:pPr algn="l">
              <a:spcAft>
                <a:spcPts val="0"/>
              </a:spcAft>
            </a:pPr>
            <a:r>
              <a:rPr sz="1100" b="0" lang="en-GB">
                <a:solidFill>
                  <a:schemeClr val="tx1"/>
                </a:solidFill>
              </a:rPr>
              <a:t>Session pane: what is in memory</a:t>
            </a:r>
          </a:p>
        </p:txBody>
      </p:sp>
      <p:sp>
        <p:nvSpPr>
          <p:cNvPr id="32" name="Pane Plots"/>
          <p:cNvSpPr/>
          <p:nvPr/>
        </p:nvSpPr>
        <p:spPr>
          <a:xfrm>
            <a:off x="6071616" y="3218688"/>
            <a:ext cx="2615184" cy="1856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umber 5"/>
          <p:cNvSpPr/>
          <p:nvPr/>
        </p:nvSpPr>
        <p:spPr>
          <a:xfrm>
            <a:off x="6163056" y="3310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4" name="Pane text 5"/>
          <p:cNvSpPr txBox="1"/>
          <p:nvPr/>
        </p:nvSpPr>
        <p:spPr>
          <a:xfrm>
            <a:off x="6528816" y="3291840"/>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Plots</a:t>
            </a:r>
          </a:p>
          <a:p>
            <a:pPr algn="l">
              <a:spcAft>
                <a:spcPts val="0"/>
              </a:spcAft>
            </a:pPr>
            <a:r>
              <a:rPr sz="1100" b="0" lang="en-GB">
                <a:solidFill>
                  <a:schemeClr val="tx1"/>
                </a:solidFill>
              </a:rPr>
              <a:t>Session pane: your charts</a:t>
            </a:r>
          </a:p>
        </p:txBody>
      </p:sp>
      <p:sp>
        <p:nvSpPr>
          <p:cNvPr id="35" name="Variable 1"/>
          <p:cNvSpPr txBox="1"/>
          <p:nvPr/>
        </p:nvSpPr>
        <p:spPr>
          <a:xfrm>
            <a:off x="6208776" y="224028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sales</a:t>
            </a:r>
            <a:r>
              <a:rPr sz="1100" b="0" lang="en-GB">
                <a:solidFill>
                  <a:schemeClr val="tx1"/>
                </a:solidFill>
              </a:rPr>
              <a:t>   936 × 18</a:t>
            </a:r>
          </a:p>
        </p:txBody>
      </p:sp>
      <p:sp>
        <p:nvSpPr>
          <p:cNvPr id="36" name="Variable 2"/>
          <p:cNvSpPr txBox="1"/>
          <p:nvPr/>
        </p:nvSpPr>
        <p:spPr>
          <a:xfrm>
            <a:off x="6208776" y="251460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summary</a:t>
            </a:r>
            <a:r>
              <a:rPr sz="1100" b="0" lang="en-GB">
                <a:solidFill>
                  <a:schemeClr val="tx1"/>
                </a:solidFill>
              </a:rPr>
              <a:t>   6 × 3</a:t>
            </a:r>
          </a:p>
        </p:txBody>
      </p:sp>
      <p:sp>
        <p:nvSpPr>
          <p:cNvPr id="37" name="Variable 3"/>
          <p:cNvSpPr txBox="1"/>
          <p:nvPr/>
        </p:nvSpPr>
        <p:spPr>
          <a:xfrm>
            <a:off x="6208776" y="278892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model</a:t>
            </a:r>
            <a:r>
              <a:rPr sz="1100" b="0" lang="en-GB">
                <a:solidFill>
                  <a:schemeClr val="tx1"/>
                </a:solidFill>
              </a:rPr>
              <a:t>   OLS results</a:t>
            </a:r>
          </a:p>
        </p:txBody>
      </p:sp>
      <p:pic>
        <p:nvPicPr>
          <p:cNvPr id="38" name="Plot thumbnail" descr="Example line chart of weekly sales for Austria and Germany"/>
          <p:cNvPicPr>
            <a:picLocks noChangeAspect="1"/>
          </p:cNvPicPr>
          <p:nvPr/>
        </p:nvPicPr>
        <p:blipFill>
          <a:blip r:embed="rId3"/>
          <a:stretch>
            <a:fillRect/>
          </a:stretch>
        </p:blipFill>
        <p:spPr>
          <a:xfrm>
            <a:off x="6208776" y="3822192"/>
            <a:ext cx="2340864" cy="124843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code to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u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Write code</a:t>
            </a:r>
            <a:br/>
            <a:r>
              <a:rPr sz="1200" b="1" lang="en-GB">
                <a:solidFill>
                  <a:schemeClr val="tx2"/>
                </a:solidFill>
              </a:rPr>
              <a:t>in the editor</a:t>
            </a:r>
          </a:p>
        </p:txBody>
      </p:sp>
      <p:sp>
        <p:nvSpPr>
          <p:cNvPr id="11" name="Ru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Ctrl/Cmd</a:t>
            </a:r>
            <a:br/>
            <a:r>
              <a:rPr sz="1200" b="1" lang="en-GB">
                <a:solidFill>
                  <a:schemeClr val="tx2"/>
                </a:solidFill>
              </a:rPr>
              <a:t>+ Enter</a:t>
            </a:r>
          </a:p>
        </p:txBody>
      </p:sp>
      <p:sp>
        <p:nvSpPr>
          <p:cNvPr id="12" name="Ru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It runs in</a:t>
            </a:r>
            <a:br/>
            <a:r>
              <a:rPr sz="1200" b="1" lang="en-GB">
                <a:solidFill>
                  <a:schemeClr val="tx2"/>
                </a:solidFill>
              </a:rPr>
              <a:t>the console</a:t>
            </a:r>
          </a:p>
        </p:txBody>
      </p:sp>
      <p:sp>
        <p:nvSpPr>
          <p:cNvPr id="13" name="Ru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Objects in</a:t>
            </a:r>
            <a:br/>
            <a:r>
              <a:rPr sz="1200" b="1" lang="en-GB">
                <a:solidFill>
                  <a:schemeClr val="tx2"/>
                </a:solidFill>
              </a:rPr>
              <a:t>Variables</a:t>
            </a:r>
          </a:p>
        </p:txBody>
      </p:sp>
      <p:sp>
        <p:nvSpPr>
          <p:cNvPr id="14" name="Ru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Charts in</a:t>
            </a:r>
            <a:br/>
            <a:r>
              <a:rPr sz="1200" b="1" lang="en-GB">
                <a:solidFill>
                  <a:schemeClr val="tx2"/>
                </a:solidFill>
              </a:rPr>
              <a:t>Plots</a:t>
            </a:r>
          </a:p>
        </p:txBody>
      </p:sp>
      <p:sp>
        <p:nvSpPr>
          <p:cNvPr id="15" name="Run card body"/>
          <p:cNvSpPr/>
          <p:nvPr/>
        </p:nvSpPr>
        <p:spPr>
          <a:xfrm>
            <a:off x="45720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n card header"/>
          <p:cNvSpPr/>
          <p:nvPr/>
        </p:nvSpPr>
        <p:spPr>
          <a:xfrm>
            <a:off x="45720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n card heading"/>
          <p:cNvSpPr txBox="1"/>
          <p:nvPr/>
        </p:nvSpPr>
        <p:spPr>
          <a:xfrm>
            <a:off x="59436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8" name="Icon Run card" descr=""/>
          <p:cNvPicPr>
            <a:picLocks noChangeAspect="1"/>
          </p:cNvPicPr>
          <p:nvPr/>
        </p:nvPicPr>
        <p:blipFill>
          <a:blip r:embed="rId3"/>
          <a:stretch>
            <a:fillRect/>
          </a:stretch>
        </p:blipFill>
        <p:spPr>
          <a:xfrm>
            <a:off x="4064508" y="2016252"/>
            <a:ext cx="310896" cy="310896"/>
          </a:xfrm>
          <a:prstGeom prst="rect">
            <a:avLst/>
          </a:prstGeom>
        </p:spPr>
      </p:pic>
      <p:sp>
        <p:nvSpPr>
          <p:cNvPr id="19" name="Run card text"/>
          <p:cNvSpPr txBox="1"/>
          <p:nvPr/>
        </p:nvSpPr>
        <p:spPr>
          <a:xfrm>
            <a:off x="62179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Ctrl/Cmd + Enter: the selection or current statement</a:t>
            </a:r>
          </a:p>
          <a:p>
            <a:pPr algn="l" marL="182880" indent="-182880">
              <a:spcAft>
                <a:spcPts val="600"/>
              </a:spcAft>
              <a:buClr>
                <a:schemeClr val="accent1"/>
              </a:buClr>
              <a:buFont typeface="Arial"/>
              <a:buChar char="▪"/>
            </a:pPr>
            <a:r>
              <a:rPr sz="1300" b="0" lang="en-GB">
                <a:solidFill>
                  <a:schemeClr val="tx1"/>
                </a:solidFill>
              </a:rPr>
              <a:t>Ctrl/Cmd + Shift + Enter: the whole file, or the current cell</a:t>
            </a:r>
          </a:p>
          <a:p>
            <a:pPr algn="l" marL="182880" indent="-182880">
              <a:spcAft>
                <a:spcPts val="600"/>
              </a:spcAft>
              <a:buClr>
                <a:schemeClr val="accent1"/>
              </a:buClr>
              <a:buFont typeface="Arial"/>
              <a:buChar char="▪"/>
            </a:pPr>
            <a:r>
              <a:rPr sz="1300" b="0" lang="en-GB">
                <a:solidFill>
                  <a:schemeClr val="tx1"/>
                </a:solidFill>
              </a:rPr>
              <a:t># %% starts a cell in a .py file</a:t>
            </a:r>
          </a:p>
        </p:txBody>
      </p:sp>
      <p:sp>
        <p:nvSpPr>
          <p:cNvPr id="20" name="Results card body"/>
          <p:cNvSpPr/>
          <p:nvPr/>
        </p:nvSpPr>
        <p:spPr>
          <a:xfrm>
            <a:off x="464058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s card header"/>
          <p:cNvSpPr/>
          <p:nvPr/>
        </p:nvSpPr>
        <p:spPr>
          <a:xfrm>
            <a:off x="464058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s card heading"/>
          <p:cNvSpPr txBox="1"/>
          <p:nvPr/>
        </p:nvSpPr>
        <p:spPr>
          <a:xfrm>
            <a:off x="477774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Look at results</a:t>
            </a:r>
          </a:p>
        </p:txBody>
      </p:sp>
      <p:pic>
        <p:nvPicPr>
          <p:cNvPr id="23" name="Icon Results card" descr=""/>
          <p:cNvPicPr>
            <a:picLocks noChangeAspect="1"/>
          </p:cNvPicPr>
          <p:nvPr/>
        </p:nvPicPr>
        <p:blipFill>
          <a:blip r:embed="rId4"/>
          <a:stretch>
            <a:fillRect/>
          </a:stretch>
        </p:blipFill>
        <p:spPr>
          <a:xfrm>
            <a:off x="8247888" y="2016252"/>
            <a:ext cx="310896" cy="310896"/>
          </a:xfrm>
          <a:prstGeom prst="rect">
            <a:avLst/>
          </a:prstGeom>
        </p:spPr>
      </p:pic>
      <p:sp>
        <p:nvSpPr>
          <p:cNvPr id="24" name="Results card text"/>
          <p:cNvSpPr txBox="1"/>
          <p:nvPr/>
        </p:nvSpPr>
        <p:spPr>
          <a:xfrm>
            <a:off x="480517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every object, its type and size</a:t>
            </a:r>
          </a:p>
          <a:p>
            <a:pPr algn="l" marL="182880" indent="-182880">
              <a:spcAft>
                <a:spcPts val="600"/>
              </a:spcAft>
              <a:buClr>
                <a:schemeClr val="accent1"/>
              </a:buClr>
              <a:buFont typeface="Arial"/>
              <a:buChar char="▪"/>
            </a:pPr>
            <a:r>
              <a:rPr sz="1300" b="0" lang="en-GB">
                <a:solidFill>
                  <a:schemeClr val="tx1"/>
                </a:solidFill>
              </a:rPr>
              <a:t>Data Explorer: click a table, or type %view sales</a:t>
            </a:r>
          </a:p>
          <a:p>
            <a:pPr algn="l" marL="182880" indent="-182880">
              <a:spcAft>
                <a:spcPts val="600"/>
              </a:spcAft>
              <a:buClr>
                <a:schemeClr val="accent1"/>
              </a:buClr>
              <a:buFont typeface="Arial"/>
              <a:buChar char="▪"/>
            </a:pPr>
            <a:r>
              <a:rPr sz="1300" b="0" lang="en-GB">
                <a:solidFill>
                  <a:schemeClr val="tx1"/>
                </a:solidFill>
              </a:rPr>
              <a:t>Plots: earlier charts, zoom, save as PNG</a:t>
            </a:r>
          </a:p>
        </p:txBody>
      </p:sp>
      <p:sp>
        <p:nvSpPr>
          <p:cNvPr id="25" name="Console box"/>
          <p:cNvSpPr/>
          <p:nvPr/>
        </p:nvSpPr>
        <p:spPr>
          <a:xfrm>
            <a:off x="457200" y="42519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sole" descr=""/>
          <p:cNvPicPr>
            <a:picLocks noChangeAspect="1"/>
          </p:cNvPicPr>
          <p:nvPr/>
        </p:nvPicPr>
        <p:blipFill>
          <a:blip r:embed="rId5"/>
          <a:stretch>
            <a:fillRect/>
          </a:stretch>
        </p:blipFill>
        <p:spPr>
          <a:xfrm>
            <a:off x="658368" y="4471416"/>
            <a:ext cx="384048" cy="384048"/>
          </a:xfrm>
          <a:prstGeom prst="rect">
            <a:avLst/>
          </a:prstGeom>
        </p:spPr>
      </p:pic>
      <p:sp>
        <p:nvSpPr>
          <p:cNvPr id="27" name="Console text"/>
          <p:cNvSpPr txBox="1"/>
          <p:nvPr/>
        </p:nvSpPr>
        <p:spPr>
          <a:xfrm>
            <a:off x="1234440" y="4251960"/>
            <a:ext cx="7269480" cy="822960"/>
          </a:xfrm>
          <a:prstGeom prst="rect">
            <a:avLst/>
          </a:prstGeom>
          <a:noFill/>
        </p:spPr>
        <p:txBody>
          <a:bodyPr wrap="square" lIns="0" rIns="0" tIns="0" bIns="0" anchor="ctr">
            <a:noAutofit/>
          </a:bodyPr>
          <a:lstStyle/>
          <a:p>
            <a:pPr algn="l">
              <a:spcAft>
                <a:spcPts val="400"/>
              </a:spcAft>
            </a:pPr>
            <a:r>
              <a:rPr sz="1300" b="1" lang="en-GB">
                <a:solidFill>
                  <a:schemeClr val="bg1"/>
                </a:solidFill>
              </a:rPr>
              <a:t>Console or terminal? </a:t>
            </a:r>
            <a:r>
              <a:rPr sz="1300" b="0" lang="en-GB">
                <a:solidFill>
                  <a:schemeClr val="bg1"/>
                </a:solidFill>
              </a:rPr>
              <a:t>The console speaks Python. The terminal speaks to your computer: pip, git and quarto commands go there.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Projects in Positron: one folder for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ject tre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ject tre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project is a folder</a:t>
            </a:r>
          </a:p>
        </p:txBody>
      </p:sp>
      <p:sp>
        <p:nvSpPr>
          <p:cNvPr id="12" name="Project tree box"/>
          <p:cNvSpPr/>
          <p:nvPr/>
        </p:nvSpPr>
        <p:spPr>
          <a:xfrm>
            <a:off x="457200" y="1508760"/>
            <a:ext cx="493776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tree code"/>
          <p:cNvSpPr txBox="1"/>
          <p:nvPr/>
        </p:nvSpPr>
        <p:spPr>
          <a:xfrm>
            <a:off x="594360" y="1600200"/>
            <a:ext cx="4663440" cy="20574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case-study/</a:t>
            </a:r>
          </a:p>
          <a:p>
            <a:pPr algn="l">
              <a:spcAft>
                <a:spcPts val="0"/>
              </a:spcAft>
            </a:pPr>
            <a:r>
              <a:rPr sz="1100" b="0" lang="en-GB">
                <a:solidFill>
                  <a:schemeClr val="bg1"/>
                </a:solidFill>
                <a:latin typeface="Consolas"/>
              </a:rPr>
              <a:t>├── .venv/            private Python + packages</a:t>
            </a:r>
          </a:p>
          <a:p>
            <a:pPr algn="l">
              <a:spcAft>
                <a:spcPts val="0"/>
              </a:spcAft>
            </a:pPr>
            <a:r>
              <a:rPr sz="1100" b="0" lang="en-GB">
                <a:solidFill>
                  <a:schemeClr val="bg1"/>
                </a:solidFill>
                <a:latin typeface="Consolas"/>
              </a:rPr>
              <a:t>├── .git/             version history</a:t>
            </a:r>
          </a:p>
          <a:p>
            <a:pPr algn="l">
              <a:spcAft>
                <a:spcPts val="0"/>
              </a:spcAft>
            </a:pPr>
            <a:r>
              <a:rPr sz="1100" b="0" lang="en-GB">
                <a:solidFill>
                  <a:schemeClr val="bg1"/>
                </a:solidFill>
                <a:latin typeface="Consolas"/>
              </a:rPr>
              <a:t>├── .gitignore        what Git leaves out</a:t>
            </a:r>
          </a:p>
          <a:p>
            <a:pPr algn="l">
              <a:spcAft>
                <a:spcPts val="0"/>
              </a:spcAft>
            </a:pPr>
            <a:r>
              <a:rPr sz="1100" b="0" lang="en-GB">
                <a:solidFill>
                  <a:schemeClr val="bg1"/>
                </a:solidFill>
                <a:latin typeface="Consolas"/>
              </a:rPr>
              <a:t>├── data/             raw data, never edit by hand</a:t>
            </a:r>
          </a:p>
          <a:p>
            <a:pPr algn="l">
              <a:spcAft>
                <a:spcPts val="0"/>
              </a:spcAft>
            </a:pPr>
            <a:r>
              <a:rPr sz="1100" b="0" lang="en-GB">
                <a:solidFill>
                  <a:schemeClr val="bg1"/>
                </a:solidFill>
                <a:latin typeface="Consolas"/>
              </a:rPr>
              <a:t>├── analysis.py       code, split into # %% cells</a:t>
            </a:r>
          </a:p>
          <a:p>
            <a:pPr algn="l">
              <a:spcAft>
                <a:spcPts val="0"/>
              </a:spcAft>
            </a:pPr>
            <a:r>
              <a:rPr sz="1100" b="0" lang="en-GB">
                <a:solidFill>
                  <a:schemeClr val="bg1"/>
                </a:solidFill>
                <a:latin typeface="Consolas"/>
              </a:rPr>
              <a:t>├── report.qmd        text, code and results</a:t>
            </a:r>
          </a:p>
          <a:p>
            <a:pPr algn="l">
              <a:spcAft>
                <a:spcPts val="0"/>
              </a:spcAft>
            </a:pPr>
            <a:r>
              <a:rPr sz="1100" b="0" lang="en-GB">
                <a:solidFill>
                  <a:schemeClr val="bg1"/>
                </a:solidFill>
                <a:latin typeface="Consolas"/>
              </a:rPr>
              <a:t>└── requirements.txt  packages and versions</a:t>
            </a:r>
          </a:p>
        </p:txBody>
      </p:sp>
      <p:sp>
        <p:nvSpPr>
          <p:cNvPr id="14" name="Project row 1"/>
          <p:cNvSpPr/>
          <p:nvPr/>
        </p:nvSpPr>
        <p:spPr>
          <a:xfrm>
            <a:off x="5577840" y="1234440"/>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ject bar 1"/>
          <p:cNvSpPr/>
          <p:nvPr/>
        </p:nvSpPr>
        <p:spPr>
          <a:xfrm>
            <a:off x="557784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ject text 1"/>
          <p:cNvSpPr txBox="1"/>
          <p:nvPr/>
        </p:nvSpPr>
        <p:spPr>
          <a:xfrm>
            <a:off x="5760720" y="1234440"/>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Open the folder, </a:t>
            </a:r>
            <a:r>
              <a:rPr sz="1150" b="0" lang="en-GB">
                <a:solidFill>
                  <a:schemeClr val="tx1"/>
                </a:solidFill>
              </a:rPr>
              <a:t>not single files: File → Open Folder</a:t>
            </a:r>
          </a:p>
        </p:txBody>
      </p:sp>
      <p:sp>
        <p:nvSpPr>
          <p:cNvPr id="17" name="Project row 2"/>
          <p:cNvSpPr/>
          <p:nvPr/>
        </p:nvSpPr>
        <p:spPr>
          <a:xfrm>
            <a:off x="5577840" y="1883664"/>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ject bar 2"/>
          <p:cNvSpPr/>
          <p:nvPr/>
        </p:nvSpPr>
        <p:spPr>
          <a:xfrm>
            <a:off x="5577840" y="188366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ject text 2"/>
          <p:cNvSpPr txBox="1"/>
          <p:nvPr/>
        </p:nvSpPr>
        <p:spPr>
          <a:xfrm>
            <a:off x="5760720" y="1883664"/>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Positron remembers </a:t>
            </a:r>
            <a:r>
              <a:rPr sz="1150" b="0" lang="en-GB">
                <a:solidFill>
                  <a:schemeClr val="tx1"/>
                </a:solidFill>
              </a:rPr>
              <a:t>the interpreter and open files per folder</a:t>
            </a:r>
          </a:p>
        </p:txBody>
      </p:sp>
      <p:sp>
        <p:nvSpPr>
          <p:cNvPr id="20" name="Project row 3"/>
          <p:cNvSpPr/>
          <p:nvPr/>
        </p:nvSpPr>
        <p:spPr>
          <a:xfrm>
            <a:off x="5577840" y="2532888"/>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ject bar 3"/>
          <p:cNvSpPr/>
          <p:nvPr/>
        </p:nvSpPr>
        <p:spPr>
          <a:xfrm>
            <a:off x="5577840" y="253288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ject text 3"/>
          <p:cNvSpPr txBox="1"/>
          <p:nvPr/>
        </p:nvSpPr>
        <p:spPr>
          <a:xfrm>
            <a:off x="5760720" y="2532888"/>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Relative paths: </a:t>
            </a:r>
            <a:r>
              <a:rPr sz="1150" b="0" lang="en-GB">
                <a:solidFill>
                  <a:schemeClr val="tx1"/>
                </a:solidFill>
              </a:rPr>
              <a:t>data/sales.csv works on every laptop</a:t>
            </a:r>
          </a:p>
        </p:txBody>
      </p:sp>
      <p:sp>
        <p:nvSpPr>
          <p:cNvPr id="23" name="Project row 4"/>
          <p:cNvSpPr/>
          <p:nvPr/>
        </p:nvSpPr>
        <p:spPr>
          <a:xfrm>
            <a:off x="5577840" y="3182112"/>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ject bar 4"/>
          <p:cNvSpPr/>
          <p:nvPr/>
        </p:nvSpPr>
        <p:spPr>
          <a:xfrm>
            <a:off x="5577840" y="31821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ject text 4"/>
          <p:cNvSpPr txBox="1"/>
          <p:nvPr/>
        </p:nvSpPr>
        <p:spPr>
          <a:xfrm>
            <a:off x="5760720" y="3182112"/>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Switch projects </a:t>
            </a:r>
            <a:r>
              <a:rPr sz="1150" b="0" lang="en-GB">
                <a:solidFill>
                  <a:schemeClr val="tx1"/>
                </a:solidFill>
              </a:rPr>
              <a:t>with the project switcher, top right</a:t>
            </a:r>
          </a:p>
        </p:txBody>
      </p:sp>
      <p:sp>
        <p:nvSpPr>
          <p:cNvPr id="26" name="Venv note box"/>
          <p:cNvSpPr/>
          <p:nvPr/>
        </p:nvSpPr>
        <p:spPr>
          <a:xfrm>
            <a:off x="457200" y="3931920"/>
            <a:ext cx="822960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Venv note" descr=""/>
          <p:cNvPicPr>
            <a:picLocks noChangeAspect="1"/>
          </p:cNvPicPr>
          <p:nvPr/>
        </p:nvPicPr>
        <p:blipFill>
          <a:blip r:embed="rId3"/>
          <a:stretch>
            <a:fillRect/>
          </a:stretch>
        </p:blipFill>
        <p:spPr>
          <a:xfrm>
            <a:off x="658368" y="4311396"/>
            <a:ext cx="384048" cy="384048"/>
          </a:xfrm>
          <a:prstGeom prst="rect">
            <a:avLst/>
          </a:prstGeom>
        </p:spPr>
      </p:pic>
      <p:sp>
        <p:nvSpPr>
          <p:cNvPr id="28" name="Venv note text"/>
          <p:cNvSpPr txBox="1"/>
          <p:nvPr/>
        </p:nvSpPr>
        <p:spPr>
          <a:xfrm>
            <a:off x="1234440" y="3931920"/>
            <a:ext cx="7269480" cy="1143000"/>
          </a:xfrm>
          <a:prstGeom prst="rect">
            <a:avLst/>
          </a:prstGeom>
          <a:noFill/>
        </p:spPr>
        <p:txBody>
          <a:bodyPr wrap="square" lIns="0" rIns="0" tIns="0" bIns="0" anchor="ctr">
            <a:noAutofit/>
          </a:bodyPr>
          <a:lstStyle/>
          <a:p>
            <a:pPr algn="l">
              <a:spcAft>
                <a:spcPts val="400"/>
              </a:spcAft>
            </a:pPr>
            <a:r>
              <a:rPr sz="1300" b="1" lang="en-GB">
                <a:solidFill>
                  <a:schemeClr val="bg1"/>
                </a:solidFill>
              </a:rPr>
              <a:t>.venv stays on your laptop: </a:t>
            </a:r>
            <a:r>
              <a:rPr sz="1300" b="0" lang="en-GB">
                <a:solidFill>
                  <a:schemeClr val="bg1"/>
                </a:solidFill>
              </a:rPr>
              <a:t>.gitignore keeps it out of GitHub. requirements.txt travels instead, so your group rebuilds the same environment with one command.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Start a new project from a template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mplat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New Folder</a:t>
            </a:r>
            <a:br/>
            <a:r>
              <a:rPr sz="1200" b="1" lang="en-GB">
                <a:solidFill>
                  <a:schemeClr val="tx2"/>
                </a:solidFill>
              </a:rPr>
              <a:t>from Template</a:t>
            </a:r>
          </a:p>
        </p:txBody>
      </p:sp>
      <p:sp>
        <p:nvSpPr>
          <p:cNvPr id="11" name="Templat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Project</a:t>
            </a:r>
          </a:p>
        </p:txBody>
      </p:sp>
      <p:sp>
        <p:nvSpPr>
          <p:cNvPr id="12" name="Templat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Name and</a:t>
            </a:r>
            <a:br/>
            <a:r>
              <a:rPr sz="1200" b="1" lang="en-GB">
                <a:solidFill>
                  <a:schemeClr val="tx2"/>
                </a:solidFill>
              </a:rPr>
              <a:t>location</a:t>
            </a:r>
          </a:p>
        </p:txBody>
      </p:sp>
      <p:sp>
        <p:nvSpPr>
          <p:cNvPr id="13" name="Templat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3.14</a:t>
            </a:r>
            <a:br/>
            <a:r>
              <a:rPr sz="1200" b="1" lang="en-GB">
                <a:solidFill>
                  <a:schemeClr val="tx2"/>
                </a:solidFill>
              </a:rPr>
              <a:t>+ venv</a:t>
            </a:r>
          </a:p>
        </p:txBody>
      </p:sp>
      <p:sp>
        <p:nvSpPr>
          <p:cNvPr id="14" name="Templat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p>
        </p:txBody>
      </p:sp>
      <p:sp>
        <p:nvSpPr>
          <p:cNvPr id="15" name="Template card body"/>
          <p:cNvSpPr/>
          <p:nvPr/>
        </p:nvSpPr>
        <p:spPr>
          <a:xfrm>
            <a:off x="457200" y="2377440"/>
            <a:ext cx="39319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mplate card header"/>
          <p:cNvSpPr/>
          <p:nvPr/>
        </p:nvSpPr>
        <p:spPr>
          <a:xfrm>
            <a:off x="457200" y="196596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mplate card heading"/>
          <p:cNvSpPr txBox="1"/>
          <p:nvPr/>
        </p:nvSpPr>
        <p:spPr>
          <a:xfrm>
            <a:off x="594360" y="196596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sets up</a:t>
            </a:r>
          </a:p>
        </p:txBody>
      </p:sp>
      <p:pic>
        <p:nvPicPr>
          <p:cNvPr id="18" name="Icon Template card" descr=""/>
          <p:cNvPicPr>
            <a:picLocks noChangeAspect="1"/>
          </p:cNvPicPr>
          <p:nvPr/>
        </p:nvPicPr>
        <p:blipFill>
          <a:blip r:embed="rId3"/>
          <a:stretch>
            <a:fillRect/>
          </a:stretch>
        </p:blipFill>
        <p:spPr>
          <a:xfrm>
            <a:off x="3950208" y="2016252"/>
            <a:ext cx="310896" cy="310896"/>
          </a:xfrm>
          <a:prstGeom prst="rect">
            <a:avLst/>
          </a:prstGeom>
        </p:spPr>
      </p:pic>
      <p:sp>
        <p:nvSpPr>
          <p:cNvPr id="19" name="Template card text"/>
          <p:cNvSpPr txBox="1"/>
          <p:nvPr/>
        </p:nvSpPr>
        <p:spPr>
          <a:xfrm>
            <a:off x="621792" y="2514600"/>
            <a:ext cx="363016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folder with a .venv inside</a:t>
            </a:r>
          </a:p>
          <a:p>
            <a:pPr algn="l" marL="182880" indent="-182880">
              <a:spcAft>
                <a:spcPts val="600"/>
              </a:spcAft>
              <a:buClr>
                <a:schemeClr val="accent1"/>
              </a:buClr>
              <a:buFont typeface="Arial"/>
              <a:buChar char="▪"/>
            </a:pPr>
            <a:r>
              <a:rPr sz="1300" b="0" lang="en-GB">
                <a:solidFill>
                  <a:schemeClr val="tx1"/>
                </a:solidFill>
              </a:rPr>
              <a:t>Git: .git and a .gitignore</a:t>
            </a:r>
          </a:p>
          <a:p>
            <a:pPr algn="l" marL="182880" indent="-182880">
              <a:spcAft>
                <a:spcPts val="600"/>
              </a:spcAft>
              <a:buClr>
                <a:schemeClr val="accent1"/>
              </a:buClr>
              <a:buFont typeface="Arial"/>
              <a:buChar char="▪"/>
            </a:pPr>
            <a:r>
              <a:rPr sz="1300" b="0" lang="en-GB">
                <a:solidFill>
                  <a:schemeClr val="tx1"/>
                </a:solidFill>
              </a:rPr>
              <a:t>A running Python session</a:t>
            </a:r>
          </a:p>
          <a:p>
            <a:pPr algn="l" marL="182880" indent="-182880">
              <a:spcAft>
                <a:spcPts val="600"/>
              </a:spcAft>
              <a:buClr>
                <a:schemeClr val="accent1"/>
              </a:buClr>
              <a:buFont typeface="Arial"/>
              <a:buChar char="▪"/>
            </a:pPr>
            <a:r>
              <a:rPr sz="1300" b="0" lang="en-GB">
                <a:solidFill>
                  <a:schemeClr val="tx1"/>
                </a:solidFill>
              </a:rPr>
              <a:t>An empty file to start with</a:t>
            </a:r>
          </a:p>
        </p:txBody>
      </p:sp>
      <p:sp>
        <p:nvSpPr>
          <p:cNvPr id="20" name="Template code caption bar"/>
          <p:cNvSpPr/>
          <p:nvPr/>
        </p:nvSpPr>
        <p:spPr>
          <a:xfrm>
            <a:off x="4526280" y="196596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mplate code caption"/>
          <p:cNvSpPr txBox="1"/>
          <p:nvPr/>
        </p:nvSpPr>
        <p:spPr>
          <a:xfrm>
            <a:off x="4636008" y="196596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Then, in the Positron console</a:t>
            </a:r>
          </a:p>
        </p:txBody>
      </p:sp>
      <p:sp>
        <p:nvSpPr>
          <p:cNvPr id="22" name="Template code box"/>
          <p:cNvSpPr/>
          <p:nvPr/>
        </p:nvSpPr>
        <p:spPr>
          <a:xfrm>
            <a:off x="4526280" y="2240280"/>
            <a:ext cx="4160520" cy="1874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mplate code code"/>
          <p:cNvSpPr txBox="1"/>
          <p:nvPr/>
        </p:nvSpPr>
        <p:spPr>
          <a:xfrm>
            <a:off x="4663440" y="2331720"/>
            <a:ext cx="3886200" cy="1691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%pip freeze &gt; requirements.txt</a:t>
            </a:r>
          </a:p>
        </p:txBody>
      </p:sp>
      <p:sp>
        <p:nvSpPr>
          <p:cNvPr id="24" name="Template code note"/>
          <p:cNvSpPr txBox="1"/>
          <p:nvPr/>
        </p:nvSpPr>
        <p:spPr>
          <a:xfrm>
            <a:off x="4663440" y="3246120"/>
            <a:ext cx="3931920" cy="822960"/>
          </a:xfrm>
          <a:prstGeom prst="rect">
            <a:avLst/>
          </a:prstGeom>
          <a:noFill/>
        </p:spPr>
        <p:txBody>
          <a:bodyPr wrap="square" lIns="0" rIns="0" tIns="0" bIns="0" anchor="t">
            <a:noAutofit/>
          </a:bodyPr>
          <a:lstStyle/>
          <a:p>
            <a:pPr algn="l">
              <a:spcAft>
                <a:spcPts val="400"/>
              </a:spcAft>
            </a:pPr>
            <a:r>
              <a:rPr sz="1100" b="0" lang="en-GB">
                <a:solidFill>
                  <a:schemeClr val="bg1"/>
                </a:solidFill>
              </a:rPr>
              <a:t>Line 1 installs packages, line 2 writes their versions to requirements.txt.</a:t>
            </a:r>
          </a:p>
        </p:txBody>
      </p:sp>
      <p:sp>
        <p:nvSpPr>
          <p:cNvPr id="25" name="Template where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mplate where" descr=""/>
          <p:cNvPicPr>
            <a:picLocks noChangeAspect="1"/>
          </p:cNvPicPr>
          <p:nvPr/>
        </p:nvPicPr>
        <p:blipFill>
          <a:blip r:embed="rId4"/>
          <a:stretch>
            <a:fillRect/>
          </a:stretch>
        </p:blipFill>
        <p:spPr>
          <a:xfrm>
            <a:off x="658368" y="4494276"/>
            <a:ext cx="384048" cy="384048"/>
          </a:xfrm>
          <a:prstGeom prst="rect">
            <a:avLst/>
          </a:prstGeom>
        </p:spPr>
      </p:pic>
      <p:sp>
        <p:nvSpPr>
          <p:cNvPr id="27" name="Template where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Where: </a:t>
            </a:r>
            <a:r>
              <a:rPr sz="1300" b="0" lang="en-GB">
                <a:solidFill>
                  <a:schemeClr val="tx1"/>
                </a:solidFill>
              </a:rPr>
              <a:t>New ▾ (top left), the project switcher, or Command Palette → Workspaces: New Folder from Template.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case study as a shared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roup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github.com:</a:t>
            </a:r>
            <a:br/>
            <a:r>
              <a:rPr sz="1200" b="1" lang="en-GB">
                <a:solidFill>
                  <a:schemeClr val="tx2"/>
                </a:solidFill>
              </a:rPr>
              <a:t>new repository</a:t>
            </a:r>
          </a:p>
        </p:txBody>
      </p:sp>
      <p:sp>
        <p:nvSpPr>
          <p:cNvPr id="11" name="Group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Invite</a:t>
            </a:r>
            <a:br/>
            <a:r>
              <a:rPr sz="1200" b="1" lang="en-GB">
                <a:solidFill>
                  <a:schemeClr val="tx2"/>
                </a:solidFill>
              </a:rPr>
              <a:t>the group</a:t>
            </a:r>
          </a:p>
        </p:txBody>
      </p:sp>
      <p:sp>
        <p:nvSpPr>
          <p:cNvPr id="12" name="Group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Desktop:</a:t>
            </a:r>
            <a:br/>
            <a:r>
              <a:rPr sz="1200" b="1" lang="en-GB">
                <a:solidFill>
                  <a:schemeClr val="tx2"/>
                </a:solidFill>
              </a:rPr>
              <a:t>clone</a:t>
            </a:r>
          </a:p>
        </p:txBody>
      </p:sp>
      <p:sp>
        <p:nvSpPr>
          <p:cNvPr id="13" name="Group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14" name="Group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br/>
            <a:r>
              <a:rPr sz="1200" b="1" lang="en-GB">
                <a:solidFill>
                  <a:schemeClr val="tx2"/>
                </a:solidFill>
              </a:rPr>
              <a:t>.venv</a:t>
            </a:r>
          </a:p>
        </p:txBody>
      </p:sp>
      <p:sp>
        <p:nvSpPr>
          <p:cNvPr id="15" name="Group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roup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oup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github.com</a:t>
            </a:r>
          </a:p>
        </p:txBody>
      </p:sp>
      <p:pic>
        <p:nvPicPr>
          <p:cNvPr id="18" name="Icon Group card 1" descr=""/>
          <p:cNvPicPr>
            <a:picLocks noChangeAspect="1"/>
          </p:cNvPicPr>
          <p:nvPr/>
        </p:nvPicPr>
        <p:blipFill>
          <a:blip r:embed="rId3"/>
          <a:stretch>
            <a:fillRect/>
          </a:stretch>
        </p:blipFill>
        <p:spPr>
          <a:xfrm>
            <a:off x="2670048" y="2016252"/>
            <a:ext cx="310896" cy="310896"/>
          </a:xfrm>
          <a:prstGeom prst="rect">
            <a:avLst/>
          </a:prstGeom>
        </p:spPr>
      </p:pic>
      <p:sp>
        <p:nvSpPr>
          <p:cNvPr id="19" name="Group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member creates the repository: Python .gitignore, README</a:t>
            </a:r>
          </a:p>
          <a:p>
            <a:pPr algn="l" marL="182880" indent="-182880">
              <a:spcAft>
                <a:spcPts val="600"/>
              </a:spcAft>
              <a:buClr>
                <a:schemeClr val="accent1"/>
              </a:buClr>
              <a:buFont typeface="Arial"/>
              <a:buChar char="▪"/>
            </a:pPr>
            <a:r>
              <a:rPr sz="1300" b="0" lang="en-GB">
                <a:solidFill>
                  <a:schemeClr val="tx1"/>
                </a:solidFill>
              </a:rPr>
              <a:t>Settings → Collaborators: invite the group</a:t>
            </a:r>
          </a:p>
        </p:txBody>
      </p:sp>
      <p:sp>
        <p:nvSpPr>
          <p:cNvPr id="20" name="Group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oup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roup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23" name="Icon Group card 2" descr=""/>
          <p:cNvPicPr>
            <a:picLocks noChangeAspect="1"/>
          </p:cNvPicPr>
          <p:nvPr/>
        </p:nvPicPr>
        <p:blipFill>
          <a:blip r:embed="rId4"/>
          <a:stretch>
            <a:fillRect/>
          </a:stretch>
        </p:blipFill>
        <p:spPr>
          <a:xfrm>
            <a:off x="5458968" y="2016252"/>
            <a:ext cx="310896" cy="310896"/>
          </a:xfrm>
          <a:prstGeom prst="rect">
            <a:avLst/>
          </a:prstGeom>
        </p:spPr>
      </p:pic>
      <p:sp>
        <p:nvSpPr>
          <p:cNvPr id="24" name="Group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Pull before you start</a:t>
            </a:r>
          </a:p>
          <a:p>
            <a:pPr algn="l" marL="182880" indent="-182880">
              <a:spcAft>
                <a:spcPts val="600"/>
              </a:spcAft>
              <a:buClr>
                <a:schemeClr val="accent1"/>
              </a:buClr>
              <a:buFont typeface="Arial"/>
              <a:buChar char="▪"/>
            </a:pPr>
            <a:r>
              <a:rPr sz="1300" b="0" lang="en-GB">
                <a:solidFill>
                  <a:schemeClr val="tx1"/>
                </a:solidFill>
              </a:rPr>
              <a:t>Commit small steps with a clear message</a:t>
            </a:r>
          </a:p>
          <a:p>
            <a:pPr algn="l" marL="182880" indent="-182880">
              <a:spcAft>
                <a:spcPts val="600"/>
              </a:spcAft>
              <a:buClr>
                <a:schemeClr val="accent1"/>
              </a:buClr>
              <a:buFont typeface="Arial"/>
              <a:buChar char="▪"/>
            </a:pPr>
            <a:r>
              <a:rPr sz="1300" b="0" lang="en-GB">
                <a:solidFill>
                  <a:schemeClr val="tx1"/>
                </a:solidFill>
              </a:rPr>
              <a:t>Push when you stop</a:t>
            </a:r>
          </a:p>
        </p:txBody>
      </p:sp>
      <p:sp>
        <p:nvSpPr>
          <p:cNvPr id="25" name="Group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roup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roup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28" name="Icon Group card 3" descr=""/>
          <p:cNvPicPr>
            <a:picLocks noChangeAspect="1"/>
          </p:cNvPicPr>
          <p:nvPr/>
        </p:nvPicPr>
        <p:blipFill>
          <a:blip r:embed="rId5"/>
          <a:stretch>
            <a:fillRect/>
          </a:stretch>
        </p:blipFill>
        <p:spPr>
          <a:xfrm>
            <a:off x="8247888" y="2016252"/>
            <a:ext cx="310896" cy="310896"/>
          </a:xfrm>
          <a:prstGeom prst="rect">
            <a:avLst/>
          </a:prstGeom>
        </p:spPr>
      </p:pic>
      <p:sp>
        <p:nvSpPr>
          <p:cNvPr id="29" name="Group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Open the cloned folder</a:t>
            </a:r>
          </a:p>
          <a:p>
            <a:pPr algn="l" marL="182880" indent="-182880">
              <a:spcAft>
                <a:spcPts val="600"/>
              </a:spcAft>
              <a:buClr>
                <a:schemeClr val="accent1"/>
              </a:buClr>
              <a:buFont typeface="Arial"/>
              <a:buChar char="▪"/>
            </a:pPr>
            <a:r>
              <a:rPr sz="1300" b="0" lang="en-GB">
                <a:solidFill>
                  <a:schemeClr val="tx1"/>
                </a:solidFill>
              </a:rPr>
              <a:t>Create Environment from requirements.txt (Step 4)</a:t>
            </a:r>
          </a:p>
          <a:p>
            <a:pPr algn="l" marL="182880" indent="-182880">
              <a:spcAft>
                <a:spcPts val="600"/>
              </a:spcAft>
              <a:buClr>
                <a:schemeClr val="accent1"/>
              </a:buClr>
              <a:buFont typeface="Arial"/>
              <a:buChar char="▪"/>
            </a:pPr>
            <a:r>
              <a:rPr sz="1300" b="0" lang="en-GB">
                <a:solidFill>
                  <a:schemeClr val="tx1"/>
                </a:solidFill>
              </a:rPr>
              <a:t>Work, save, then back to Desktop</a:t>
            </a:r>
          </a:p>
        </p:txBody>
      </p:sp>
      <p:sp>
        <p:nvSpPr>
          <p:cNvPr id="30" name="Group rule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Group rule" descr=""/>
          <p:cNvPicPr>
            <a:picLocks noChangeAspect="1"/>
          </p:cNvPicPr>
          <p:nvPr/>
        </p:nvPicPr>
        <p:blipFill>
          <a:blip r:embed="rId6"/>
          <a:stretch>
            <a:fillRect/>
          </a:stretch>
        </p:blipFill>
        <p:spPr>
          <a:xfrm>
            <a:off x="658368" y="4539996"/>
            <a:ext cx="384048" cy="384048"/>
          </a:xfrm>
          <a:prstGeom prst="rect">
            <a:avLst/>
          </a:prstGeom>
        </p:spPr>
      </p:pic>
      <p:sp>
        <p:nvSpPr>
          <p:cNvPr id="32" name="Group rul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Fewer conflicts: </a:t>
            </a:r>
            <a:r>
              <a:rPr sz="1300" b="0" lang="en-GB">
                <a:solidFill>
                  <a:schemeClr val="bg1"/>
                </a:solidFill>
              </a:rPr>
              <a:t>pull first, push often, and one person per file where you can.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Quarto documents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md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md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report.qmd</a:t>
            </a:r>
          </a:p>
        </p:txBody>
      </p:sp>
      <p:sp>
        <p:nvSpPr>
          <p:cNvPr id="12" name="Qmd code box"/>
          <p:cNvSpPr/>
          <p:nvPr/>
        </p:nvSpPr>
        <p:spPr>
          <a:xfrm>
            <a:off x="457200" y="1508760"/>
            <a:ext cx="4846320" cy="2697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md code code"/>
          <p:cNvSpPr txBox="1"/>
          <p:nvPr/>
        </p:nvSpPr>
        <p:spPr>
          <a:xfrm>
            <a:off x="594360" y="1600200"/>
            <a:ext cx="4572000" cy="2514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title: "Sales by country"</a:t>
            </a:r>
          </a:p>
          <a:p>
            <a:pPr algn="l">
              <a:spcAft>
                <a:spcPts val="0"/>
              </a:spcAft>
            </a:pPr>
            <a:r>
              <a:rPr sz="1050" b="0" lang="en-GB">
                <a:solidFill>
                  <a:schemeClr val="bg1"/>
                </a:solidFill>
                <a:latin typeface="Consolas"/>
              </a:rPr>
              <a:t>format: html</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Revenue in 2025</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```{python}</a:t>
            </a:r>
          </a:p>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Germany has the highest revenue.</a:t>
            </a:r>
          </a:p>
        </p:txBody>
      </p:sp>
      <p:sp>
        <p:nvSpPr>
          <p:cNvPr id="14" name="Quarto row 1"/>
          <p:cNvSpPr/>
          <p:nvPr/>
        </p:nvSpPr>
        <p:spPr>
          <a:xfrm>
            <a:off x="5486400" y="1234440"/>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quarto 1" descr=""/>
          <p:cNvPicPr>
            <a:picLocks noChangeAspect="1"/>
          </p:cNvPicPr>
          <p:nvPr/>
        </p:nvPicPr>
        <p:blipFill>
          <a:blip r:embed="rId3"/>
          <a:stretch>
            <a:fillRect/>
          </a:stretch>
        </p:blipFill>
        <p:spPr>
          <a:xfrm>
            <a:off x="5623560" y="1380744"/>
            <a:ext cx="365760" cy="365760"/>
          </a:xfrm>
          <a:prstGeom prst="rect">
            <a:avLst/>
          </a:prstGeom>
        </p:spPr>
      </p:pic>
      <p:sp>
        <p:nvSpPr>
          <p:cNvPr id="16" name="Quarto text 1"/>
          <p:cNvSpPr txBox="1"/>
          <p:nvPr/>
        </p:nvSpPr>
        <p:spPr>
          <a:xfrm>
            <a:off x="6144768" y="1234440"/>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Text </a:t>
            </a:r>
            <a:r>
              <a:rPr sz="1200" b="0" lang="en-GB">
                <a:solidFill>
                  <a:schemeClr val="tx1"/>
                </a:solidFill>
              </a:rPr>
              <a:t>in Markdown: headings, bold, lists</a:t>
            </a:r>
          </a:p>
        </p:txBody>
      </p:sp>
      <p:sp>
        <p:nvSpPr>
          <p:cNvPr id="17" name="Quarto row 2"/>
          <p:cNvSpPr/>
          <p:nvPr/>
        </p:nvSpPr>
        <p:spPr>
          <a:xfrm>
            <a:off x="5486400" y="1993392"/>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quarto 2" descr=""/>
          <p:cNvPicPr>
            <a:picLocks noChangeAspect="1"/>
          </p:cNvPicPr>
          <p:nvPr/>
        </p:nvPicPr>
        <p:blipFill>
          <a:blip r:embed="rId4"/>
          <a:stretch>
            <a:fillRect/>
          </a:stretch>
        </p:blipFill>
        <p:spPr>
          <a:xfrm>
            <a:off x="5623560" y="2139696"/>
            <a:ext cx="365760" cy="365760"/>
          </a:xfrm>
          <a:prstGeom prst="rect">
            <a:avLst/>
          </a:prstGeom>
        </p:spPr>
      </p:pic>
      <p:sp>
        <p:nvSpPr>
          <p:cNvPr id="19" name="Quarto text 2"/>
          <p:cNvSpPr txBox="1"/>
          <p:nvPr/>
        </p:nvSpPr>
        <p:spPr>
          <a:xfrm>
            <a:off x="6144768" y="1993392"/>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Code cells </a:t>
            </a:r>
            <a:r>
              <a:rPr sz="1200" b="0" lang="en-GB">
                <a:solidFill>
                  <a:schemeClr val="tx1"/>
                </a:solidFill>
              </a:rPr>
              <a:t>run one by one; output shows below</a:t>
            </a:r>
          </a:p>
        </p:txBody>
      </p:sp>
      <p:sp>
        <p:nvSpPr>
          <p:cNvPr id="20" name="Quarto row 3"/>
          <p:cNvSpPr/>
          <p:nvPr/>
        </p:nvSpPr>
        <p:spPr>
          <a:xfrm>
            <a:off x="5486400" y="2752344"/>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quarto 3" descr=""/>
          <p:cNvPicPr>
            <a:picLocks noChangeAspect="1"/>
          </p:cNvPicPr>
          <p:nvPr/>
        </p:nvPicPr>
        <p:blipFill>
          <a:blip r:embed="rId5"/>
          <a:stretch>
            <a:fillRect/>
          </a:stretch>
        </p:blipFill>
        <p:spPr>
          <a:xfrm>
            <a:off x="5623560" y="2898648"/>
            <a:ext cx="365760" cy="365760"/>
          </a:xfrm>
          <a:prstGeom prst="rect">
            <a:avLst/>
          </a:prstGeom>
        </p:spPr>
      </p:pic>
      <p:sp>
        <p:nvSpPr>
          <p:cNvPr id="22" name="Quarto text 3"/>
          <p:cNvSpPr txBox="1"/>
          <p:nvPr/>
        </p:nvSpPr>
        <p:spPr>
          <a:xfrm>
            <a:off x="6144768" y="2752344"/>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Preview: </a:t>
            </a:r>
            <a:r>
              <a:rPr sz="1200" b="0" lang="en-GB">
                <a:solidFill>
                  <a:schemeClr val="tx1"/>
                </a:solidFill>
              </a:rPr>
              <a:t>Ctrl/Cmd + Shift + K shows the report next to your code</a:t>
            </a:r>
          </a:p>
        </p:txBody>
      </p:sp>
      <p:sp>
        <p:nvSpPr>
          <p:cNvPr id="23" name="Quarto row 4"/>
          <p:cNvSpPr/>
          <p:nvPr/>
        </p:nvSpPr>
        <p:spPr>
          <a:xfrm>
            <a:off x="5486400" y="3511296"/>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quarto 4" descr=""/>
          <p:cNvPicPr>
            <a:picLocks noChangeAspect="1"/>
          </p:cNvPicPr>
          <p:nvPr/>
        </p:nvPicPr>
        <p:blipFill>
          <a:blip r:embed="rId6"/>
          <a:stretch>
            <a:fillRect/>
          </a:stretch>
        </p:blipFill>
        <p:spPr>
          <a:xfrm>
            <a:off x="5623560" y="3657600"/>
            <a:ext cx="365760" cy="365760"/>
          </a:xfrm>
          <a:prstGeom prst="rect">
            <a:avLst/>
          </a:prstGeom>
        </p:spPr>
      </p:pic>
      <p:sp>
        <p:nvSpPr>
          <p:cNvPr id="25" name="Quarto text 4"/>
          <p:cNvSpPr txBox="1"/>
          <p:nvPr/>
        </p:nvSpPr>
        <p:spPr>
          <a:xfrm>
            <a:off x="6144768" y="3511296"/>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Render </a:t>
            </a:r>
            <a:r>
              <a:rPr sz="1200" b="0" lang="en-GB">
                <a:solidFill>
                  <a:schemeClr val="tx1"/>
                </a:solidFill>
              </a:rPr>
              <a:t>to HTML, PDF, Word or slides</a:t>
            </a:r>
          </a:p>
        </p:txBody>
      </p:sp>
      <p:sp>
        <p:nvSpPr>
          <p:cNvPr id="26" name="Quarto use box"/>
          <p:cNvSpPr/>
          <p:nvPr/>
        </p:nvSpPr>
        <p:spPr>
          <a:xfrm>
            <a:off x="457200" y="438912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arto use" descr=""/>
          <p:cNvPicPr>
            <a:picLocks noChangeAspect="1"/>
          </p:cNvPicPr>
          <p:nvPr/>
        </p:nvPicPr>
        <p:blipFill>
          <a:blip r:embed="rId7"/>
          <a:stretch>
            <a:fillRect/>
          </a:stretch>
        </p:blipFill>
        <p:spPr>
          <a:xfrm>
            <a:off x="658368" y="4539996"/>
            <a:ext cx="384048" cy="384048"/>
          </a:xfrm>
          <a:prstGeom prst="rect">
            <a:avLst/>
          </a:prstGeom>
        </p:spPr>
      </p:pic>
      <p:sp>
        <p:nvSpPr>
          <p:cNvPr id="28" name="Quarto us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tx2"/>
                </a:solidFill>
              </a:rPr>
              <a:t>One file, rerun any time: </a:t>
            </a:r>
            <a:r>
              <a:rPr sz="1300" b="0" lang="en-GB">
                <a:solidFill>
                  <a:schemeClr val="tx1"/>
                </a:solidFill>
              </a:rPr>
              <a:t>the labs and your case study report are Quarto documents.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708400"/>
        </p:xfrm>
        <a:graphic>
          <a:graphicData uri="http://schemas.openxmlformats.org/drawingml/2006/table">
            <a:tbl>
              <a:tblPr firstRow="1" bandRow="1">
                <a:tableStyleId>{5C22544A-7EE6-4342-B048-85BDC9FD1C3A}</a:tableStyleId>
              </a:tblPr>
              <a:tblGrid>
                <a:gridCol w="3657600"/>
                <a:gridCol w="2286000"/>
                <a:gridCol w="2286000"/>
              </a:tblGrid>
              <a:tr h="370840">
                <a:tc>
                  <a:txBody>
                    <a:bodyPr/>
                    <a:lstStyle/>
                    <a:p>
                      <a:r>
                        <a:rPr sz="1500" lang="en-GB"/>
                        <a:t>Action</a:t>
                      </a:r>
                    </a:p>
                  </a:txBody>
                  <a:tcPr marT="45000" marB="45000"/>
                </a:tc>
                <a:tc>
                  <a:txBody>
                    <a:bodyPr/>
                    <a:lstStyle/>
                    <a:p>
                      <a:r>
                        <a:rPr sz="1500" lang="en-GB"/>
                        <a:t>Windows</a:t>
                      </a:r>
                    </a:p>
                  </a:txBody>
                  <a:tcPr marT="45000" marB="45000"/>
                </a:tc>
                <a:tc>
                  <a:txBody>
                    <a:bodyPr/>
                    <a:lstStyle/>
                    <a:p>
                      <a:r>
                        <a:rPr sz="1500" lang="en-GB"/>
                        <a:t>macOS</a:t>
                      </a:r>
                    </a:p>
                  </a:txBody>
                  <a:tcPr marT="45000" marB="45000"/>
                </a:tc>
              </a:tr>
              <a:tr h="370840">
                <a:tc>
                  <a:txBody>
                    <a:bodyPr/>
                    <a:lstStyle/>
                    <a:p>
                      <a:r>
                        <a:rPr sz="1300" lang="en-GB"/>
                        <a:t>Run selection or current statement</a:t>
                      </a:r>
                    </a:p>
                  </a:txBody>
                  <a:tcPr marT="45000" marB="45000"/>
                </a:tc>
                <a:tc>
                  <a:txBody>
                    <a:bodyPr/>
                    <a:lstStyle/>
                    <a:p>
                      <a:r>
                        <a:rPr sz="1300" lang="en-GB">
                          <a:latin typeface="Consolas"/>
                        </a:rPr>
                        <a:t>Ctrl + Enter</a:t>
                      </a:r>
                    </a:p>
                  </a:txBody>
                  <a:tcPr marT="45000" marB="45000"/>
                </a:tc>
                <a:tc>
                  <a:txBody>
                    <a:bodyPr/>
                    <a:lstStyle/>
                    <a:p>
                      <a:r>
                        <a:rPr sz="1300" lang="en-GB">
                          <a:latin typeface="Consolas"/>
                        </a:rPr>
                        <a:t>Cmd + Enter</a:t>
                      </a:r>
                    </a:p>
                  </a:txBody>
                  <a:tcPr marT="45000" marB="45000"/>
                </a:tc>
              </a:tr>
              <a:tr h="370840">
                <a:tc>
                  <a:txBody>
                    <a:bodyPr/>
                    <a:lstStyle/>
                    <a:p>
                      <a:r>
                        <a:rPr sz="1300" lang="en-GB"/>
                        <a:t>Run the file or current cell</a:t>
                      </a:r>
                    </a:p>
                  </a:txBody>
                  <a:tcPr marT="45000" marB="45000"/>
                </a:tc>
                <a:tc>
                  <a:txBody>
                    <a:bodyPr/>
                    <a:lstStyle/>
                    <a:p>
                      <a:r>
                        <a:rPr sz="1300" lang="en-GB">
                          <a:latin typeface="Consolas"/>
                        </a:rPr>
                        <a:t>Ctrl + Shift + Enter</a:t>
                      </a:r>
                    </a:p>
                  </a:txBody>
                  <a:tcPr marT="45000" marB="45000"/>
                </a:tc>
                <a:tc>
                  <a:txBody>
                    <a:bodyPr/>
                    <a:lstStyle/>
                    <a:p>
                      <a:r>
                        <a:rPr sz="1300" lang="en-GB">
                          <a:latin typeface="Consolas"/>
                        </a:rPr>
                        <a:t>Cmd + Shift + Enter</a:t>
                      </a:r>
                    </a:p>
                  </a:txBody>
                  <a:tcPr marT="45000" marB="45000"/>
                </a:tc>
              </a:tr>
              <a:tr h="370840">
                <a:tc>
                  <a:txBody>
                    <a:bodyPr/>
                    <a:lstStyle/>
                    <a:p>
                      <a:r>
                        <a:rPr sz="1300" lang="en-GB"/>
                        <a:t>Insert a code cell (# %%)</a:t>
                      </a:r>
                    </a:p>
                  </a:txBody>
                  <a:tcPr marT="45000" marB="45000"/>
                </a:tc>
                <a:tc>
                  <a:txBody>
                    <a:bodyPr/>
                    <a:lstStyle/>
                    <a:p>
                      <a:r>
                        <a:rPr sz="1300" lang="en-GB">
                          <a:latin typeface="Consolas"/>
                        </a:rPr>
                        <a:t>Ctrl + Shift + I</a:t>
                      </a:r>
                    </a:p>
                  </a:txBody>
                  <a:tcPr marT="45000" marB="45000"/>
                </a:tc>
                <a:tc>
                  <a:txBody>
                    <a:bodyPr/>
                    <a:lstStyle/>
                    <a:p>
                      <a:r>
                        <a:rPr sz="1300" lang="en-GB">
                          <a:latin typeface="Consolas"/>
                        </a:rPr>
                        <a:t>Cmd + Shift + I</a:t>
                      </a:r>
                    </a:p>
                  </a:txBody>
                  <a:tcPr marT="45000" marB="45000"/>
                </a:tc>
              </a:tr>
              <a:tr h="370840">
                <a:tc>
                  <a:txBody>
                    <a:bodyPr/>
                    <a:lstStyle/>
                    <a:p>
                      <a:r>
                        <a:rPr sz="1300" lang="en-GB"/>
                        <a:t>Restart the Python session</a:t>
                      </a:r>
                    </a:p>
                  </a:txBody>
                  <a:tcPr marT="45000" marB="45000"/>
                </a:tc>
                <a:tc>
                  <a:txBody>
                    <a:bodyPr/>
                    <a:lstStyle/>
                    <a:p>
                      <a:r>
                        <a:rPr sz="1300" lang="en-GB">
                          <a:latin typeface="Consolas"/>
                        </a:rPr>
                        <a:t>Ctrl + Shift + 0</a:t>
                      </a:r>
                    </a:p>
                  </a:txBody>
                  <a:tcPr marT="45000" marB="45000"/>
                </a:tc>
                <a:tc>
                  <a:txBody>
                    <a:bodyPr/>
                    <a:lstStyle/>
                    <a:p>
                      <a:r>
                        <a:rPr sz="1300" lang="en-GB">
                          <a:latin typeface="Consolas"/>
                        </a:rPr>
                        <a:t>Cmd + Shift + 0</a:t>
                      </a:r>
                    </a:p>
                  </a:txBody>
                  <a:tcPr marT="45000" marB="45000"/>
                </a:tc>
              </a:tr>
              <a:tr h="370840">
                <a:tc>
                  <a:txBody>
                    <a:bodyPr/>
                    <a:lstStyle/>
                    <a:p>
                      <a:r>
                        <a:rPr sz="1300" lang="en-GB"/>
                        <a:t>Clear the console</a:t>
                      </a:r>
                    </a:p>
                  </a:txBody>
                  <a:tcPr marT="45000" marB="45000"/>
                </a:tc>
                <a:tc>
                  <a:txBody>
                    <a:bodyPr/>
                    <a:lstStyle/>
                    <a:p>
                      <a:r>
                        <a:rPr sz="1300" lang="en-GB">
                          <a:latin typeface="Consolas"/>
                        </a:rPr>
                        <a:t>Ctrl + L</a:t>
                      </a:r>
                    </a:p>
                  </a:txBody>
                  <a:tcPr marT="45000" marB="45000"/>
                </a:tc>
                <a:tc>
                  <a:txBody>
                    <a:bodyPr/>
                    <a:lstStyle/>
                    <a:p>
                      <a:r>
                        <a:rPr sz="1300" lang="en-GB">
                          <a:latin typeface="Consolas"/>
                        </a:rPr>
                        <a:t>Ctrl + L</a:t>
                      </a:r>
                    </a:p>
                  </a:txBody>
                  <a:tcPr marT="45000" marB="45000"/>
                </a:tc>
              </a:tr>
              <a:tr h="370840">
                <a:tc>
                  <a:txBody>
                    <a:bodyPr/>
                    <a:lstStyle/>
                    <a:p>
                      <a:r>
                        <a:rPr sz="1300" lang="en-GB"/>
                        <a:t>Preview a Quarto document</a:t>
                      </a:r>
                    </a:p>
                  </a:txBody>
                  <a:tcPr marT="45000" marB="45000"/>
                </a:tc>
                <a:tc>
                  <a:txBody>
                    <a:bodyPr/>
                    <a:lstStyle/>
                    <a:p>
                      <a:r>
                        <a:rPr sz="1300" lang="en-GB">
                          <a:latin typeface="Consolas"/>
                        </a:rPr>
                        <a:t>Ctrl + Shift + K</a:t>
                      </a:r>
                    </a:p>
                  </a:txBody>
                  <a:tcPr marT="45000" marB="45000"/>
                </a:tc>
                <a:tc>
                  <a:txBody>
                    <a:bodyPr/>
                    <a:lstStyle/>
                    <a:p>
                      <a:r>
                        <a:rPr sz="1300" lang="en-GB">
                          <a:latin typeface="Consolas"/>
                        </a:rPr>
                        <a:t>Cmd + Shift + K</a:t>
                      </a:r>
                    </a:p>
                  </a:txBody>
                  <a:tcPr marT="45000" marB="45000"/>
                </a:tc>
              </a:tr>
              <a:tr h="370840">
                <a:tc>
                  <a:txBody>
                    <a:bodyPr/>
                    <a:lstStyle/>
                    <a:p>
                      <a:r>
                        <a:rPr sz="1300" lang="en-GB"/>
                        <a:t>Command Palette</a:t>
                      </a:r>
                    </a:p>
                  </a:txBody>
                  <a:tcPr marT="45000" marB="45000"/>
                </a:tc>
                <a:tc>
                  <a:txBody>
                    <a:bodyPr/>
                    <a:lstStyle/>
                    <a:p>
                      <a:r>
                        <a:rPr sz="1300" lang="en-GB">
                          <a:latin typeface="Consolas"/>
                        </a:rPr>
                        <a:t>Ctrl + Shift + P</a:t>
                      </a:r>
                    </a:p>
                  </a:txBody>
                  <a:tcPr marT="45000" marB="45000"/>
                </a:tc>
                <a:tc>
                  <a:txBody>
                    <a:bodyPr/>
                    <a:lstStyle/>
                    <a:p>
                      <a:r>
                        <a:rPr sz="1300" lang="en-GB">
                          <a:latin typeface="Consolas"/>
                        </a:rPr>
                        <a:t>Cmd + Shift + P</a:t>
                      </a:r>
                    </a:p>
                  </a:txBody>
                  <a:tcPr marT="45000" marB="45000"/>
                </a:tc>
              </a:tr>
              <a:tr h="370840">
                <a:tc>
                  <a:txBody>
                    <a:bodyPr/>
                    <a:lstStyle/>
                    <a:p>
                      <a:r>
                        <a:rPr sz="1300" lang="en-GB"/>
                        <a:t>Help for the word under the cursor</a:t>
                      </a:r>
                    </a:p>
                  </a:txBody>
                  <a:tcPr marT="45000" marB="45000"/>
                </a:tc>
                <a:tc>
                  <a:txBody>
                    <a:bodyPr/>
                    <a:lstStyle/>
                    <a:p>
                      <a:r>
                        <a:rPr sz="1300" lang="en-GB">
                          <a:latin typeface="Consolas"/>
                        </a:rPr>
                        <a:t>F1</a:t>
                      </a:r>
                    </a:p>
                  </a:txBody>
                  <a:tcPr marT="45000" marB="45000"/>
                </a:tc>
                <a:tc>
                  <a:txBody>
                    <a:bodyPr/>
                    <a:lstStyle/>
                    <a:p>
                      <a:r>
                        <a:rPr sz="1300" lang="en-GB">
                          <a:latin typeface="Consolas"/>
                        </a:rPr>
                        <a:t>F1</a:t>
                      </a:r>
                    </a:p>
                  </a:txBody>
                  <a:tcPr marT="45000" marB="45000"/>
                </a:tc>
              </a:tr>
              <a:tr h="370840">
                <a:tc>
                  <a:txBody>
                    <a:bodyPr/>
                    <a:lstStyle/>
                    <a:p>
                      <a:r>
                        <a:rPr sz="1300" lang="en-GB"/>
                        <a:t>Accept an AI suggestion</a:t>
                      </a:r>
                    </a:p>
                  </a:txBody>
                  <a:tcPr marT="45000" marB="45000"/>
                </a:tc>
                <a:tc>
                  <a:txBody>
                    <a:bodyPr/>
                    <a:lstStyle/>
                    <a:p>
                      <a:r>
                        <a:rPr sz="1300" lang="en-GB">
                          <a:latin typeface="Consolas"/>
                        </a:rPr>
                        <a:t>Tab</a:t>
                      </a:r>
                    </a:p>
                  </a:txBody>
                  <a:tcPr marT="45000" marB="45000"/>
                </a:tc>
                <a:tc>
                  <a:txBody>
                    <a:bodyPr/>
                    <a:lstStyle/>
                    <a:p>
                      <a:r>
                        <a:rPr sz="1300" lang="en-GB">
                          <a:latin typeface="Consolas"/>
                        </a:rPr>
                        <a:t>Tab</a:t>
                      </a:r>
                    </a:p>
                  </a:txBody>
                  <a:tcPr marT="45000" marB="45000"/>
                </a:tc>
              </a:tr>
            </a:tbl>
          </a:graphicData>
        </a:graphic>
      </p:graphicFrame>
      <p:sp>
        <p:nvSpPr>
          <p:cNvPr id="3" name="Title 2"/>
          <p:cNvSpPr>
            <a:spLocks noGrp="1"/>
          </p:cNvSpPr>
          <p:nvPr>
            <p:ph type="title"/>
          </p:nvPr>
        </p:nvSpPr>
        <p:spPr/>
        <p:txBody>
          <a:bodyPr/>
          <a:lstStyle/>
          <a:p>
            <a:r>
              <a:rPr sz="1600" lang="en-GB"/>
              <a:t>Shortcuts worth knowing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 Assistant: the AI inside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ssistant card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ssistant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ssistant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sees</a:t>
            </a:r>
          </a:p>
        </p:txBody>
      </p:sp>
      <p:pic>
        <p:nvPicPr>
          <p:cNvPr id="13" name="Icon Assistant card 1" descr=""/>
          <p:cNvPicPr>
            <a:picLocks noChangeAspect="1"/>
          </p:cNvPicPr>
          <p:nvPr/>
        </p:nvPicPr>
        <p:blipFill>
          <a:blip r:embed="rId3"/>
          <a:stretch>
            <a:fillRect/>
          </a:stretch>
        </p:blipFill>
        <p:spPr>
          <a:xfrm>
            <a:off x="2670048" y="1284732"/>
            <a:ext cx="310896" cy="310896"/>
          </a:xfrm>
          <a:prstGeom prst="rect">
            <a:avLst/>
          </a:prstGeom>
        </p:spPr>
      </p:pic>
      <p:sp>
        <p:nvSpPr>
          <p:cNvPr id="14" name="Assistant card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open files and project</a:t>
            </a:r>
          </a:p>
          <a:p>
            <a:pPr algn="l" marL="182880" indent="-182880">
              <a:spcAft>
                <a:spcPts val="600"/>
              </a:spcAft>
              <a:buClr>
                <a:schemeClr val="accent1"/>
              </a:buClr>
              <a:buFont typeface="Arial"/>
              <a:buChar char="▪"/>
            </a:pPr>
            <a:r>
              <a:rPr sz="1300" b="0" lang="en-GB">
                <a:solidFill>
                  <a:schemeClr val="tx1"/>
                </a:solidFill>
              </a:rPr>
              <a:t>Loaded data, variables and plots</a:t>
            </a:r>
          </a:p>
          <a:p>
            <a:pPr algn="l" marL="182880" indent="-182880">
              <a:spcAft>
                <a:spcPts val="600"/>
              </a:spcAft>
              <a:buClr>
                <a:schemeClr val="accent1"/>
              </a:buClr>
              <a:buFont typeface="Arial"/>
              <a:buChar char="▪"/>
            </a:pPr>
            <a:r>
              <a:rPr sz="1300" b="0" lang="en-GB">
                <a:solidFill>
                  <a:schemeClr val="tx1"/>
                </a:solidFill>
              </a:rPr>
              <a:t>Console history</a:t>
            </a:r>
          </a:p>
        </p:txBody>
      </p:sp>
      <p:sp>
        <p:nvSpPr>
          <p:cNvPr id="15" name="Assistant card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does</a:t>
            </a:r>
          </a:p>
        </p:txBody>
      </p:sp>
      <p:pic>
        <p:nvPicPr>
          <p:cNvPr id="18" name="Icon Assistant card 2" descr=""/>
          <p:cNvPicPr>
            <a:picLocks noChangeAspect="1"/>
          </p:cNvPicPr>
          <p:nvPr/>
        </p:nvPicPr>
        <p:blipFill>
          <a:blip r:embed="rId4"/>
          <a:stretch>
            <a:fillRect/>
          </a:stretch>
        </p:blipFill>
        <p:spPr>
          <a:xfrm>
            <a:off x="5458968" y="1284732"/>
            <a:ext cx="310896" cy="310896"/>
          </a:xfrm>
          <a:prstGeom prst="rect">
            <a:avLst/>
          </a:prstGeom>
        </p:spPr>
      </p:pic>
      <p:sp>
        <p:nvSpPr>
          <p:cNvPr id="19" name="Assistant card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Explains, writes and fixes code</a:t>
            </a:r>
          </a:p>
          <a:p>
            <a:pPr algn="l" marL="182880" indent="-182880">
              <a:spcAft>
                <a:spcPts val="600"/>
              </a:spcAft>
              <a:buClr>
                <a:schemeClr val="accent1"/>
              </a:buClr>
              <a:buFont typeface="Arial"/>
              <a:buChar char="▪"/>
            </a:pPr>
            <a:r>
              <a:rPr sz="1300" b="0" lang="en-GB">
                <a:solidFill>
                  <a:schemeClr val="tx1"/>
                </a:solidFill>
              </a:rPr>
              <a:t>Runs code after you approve</a:t>
            </a:r>
          </a:p>
          <a:p>
            <a:pPr algn="l" marL="182880" indent="-182880">
              <a:spcAft>
                <a:spcPts val="600"/>
              </a:spcAft>
              <a:buClr>
                <a:schemeClr val="accent1"/>
              </a:buClr>
              <a:buFont typeface="Arial"/>
              <a:buChar char="▪"/>
            </a:pPr>
            <a:r>
              <a:rPr sz="1300" b="0" lang="en-GB">
                <a:solidFill>
                  <a:schemeClr val="tx1"/>
                </a:solidFill>
              </a:rPr>
              <a:t>Fix and Explain on any error</a:t>
            </a:r>
          </a:p>
        </p:txBody>
      </p:sp>
      <p:sp>
        <p:nvSpPr>
          <p:cNvPr id="20" name="Assistant card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ssistant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ssistant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you steer it</a:t>
            </a:r>
          </a:p>
        </p:txBody>
      </p:sp>
      <p:pic>
        <p:nvPicPr>
          <p:cNvPr id="23" name="Icon Assistant card 3" descr=""/>
          <p:cNvPicPr>
            <a:picLocks noChangeAspect="1"/>
          </p:cNvPicPr>
          <p:nvPr/>
        </p:nvPicPr>
        <p:blipFill>
          <a:blip r:embed="rId5"/>
          <a:stretch>
            <a:fillRect/>
          </a:stretch>
        </p:blipFill>
        <p:spPr>
          <a:xfrm>
            <a:off x="8247888" y="1284732"/>
            <a:ext cx="310896" cy="310896"/>
          </a:xfrm>
          <a:prstGeom prst="rect">
            <a:avLst/>
          </a:prstGeom>
        </p:spPr>
      </p:pic>
      <p:sp>
        <p:nvSpPr>
          <p:cNvPr id="24" name="Assistant card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/plan: a plan before any code</a:t>
            </a:r>
          </a:p>
          <a:p>
            <a:pPr algn="l" marL="182880" indent="-182880">
              <a:spcAft>
                <a:spcPts val="600"/>
              </a:spcAft>
              <a:buClr>
                <a:schemeClr val="accent1"/>
              </a:buClr>
              <a:buFont typeface="Arial"/>
              <a:buChar char="▪"/>
            </a:pPr>
            <a:r>
              <a:rPr sz="1300" b="0" lang="en-GB">
                <a:solidFill>
                  <a:schemeClr val="tx1"/>
                </a:solidFill>
              </a:rPr>
              <a:t>@file: point it to a file</a:t>
            </a:r>
          </a:p>
          <a:p>
            <a:pPr algn="l" marL="182880" indent="-182880">
              <a:spcAft>
                <a:spcPts val="600"/>
              </a:spcAft>
              <a:buClr>
                <a:schemeClr val="accent1"/>
              </a:buClr>
              <a:buFont typeface="Arial"/>
              <a:buChar char="▪"/>
            </a:pPr>
            <a:r>
              <a:rPr sz="1300" b="0" lang="en-GB">
                <a:solidFill>
                  <a:schemeClr val="tx1"/>
                </a:solidFill>
              </a:rPr>
              <a:t>Permission mode: keep Normal</a:t>
            </a:r>
          </a:p>
        </p:txBody>
      </p:sp>
      <p:sp>
        <p:nvSpPr>
          <p:cNvPr id="25" name="Open label"/>
          <p:cNvSpPr txBox="1"/>
          <p:nvPr/>
        </p:nvSpPr>
        <p:spPr>
          <a:xfrm>
            <a:off x="457200" y="35204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Open it</a:t>
            </a:r>
          </a:p>
        </p:txBody>
      </p:sp>
      <p:sp>
        <p:nvSpPr>
          <p:cNvPr id="26" name="Open command box"/>
          <p:cNvSpPr/>
          <p:nvPr/>
        </p:nvSpPr>
        <p:spPr>
          <a:xfrm>
            <a:off x="457200" y="3840480"/>
            <a:ext cx="402336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pen command code"/>
          <p:cNvSpPr txBox="1"/>
          <p:nvPr/>
        </p:nvSpPr>
        <p:spPr>
          <a:xfrm>
            <a:off x="594360" y="3931920"/>
            <a:ext cx="3749040" cy="36576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View: Show Posit Assistant</a:t>
            </a:r>
          </a:p>
        </p:txBody>
      </p:sp>
      <p:sp>
        <p:nvSpPr>
          <p:cNvPr id="28" name="Open note"/>
          <p:cNvSpPr txBox="1"/>
          <p:nvPr/>
        </p:nvSpPr>
        <p:spPr>
          <a:xfrm>
            <a:off x="4617720" y="3840480"/>
            <a:ext cx="406908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Command Palette, or the Assistant icon in the Activity Bar</a:t>
            </a:r>
          </a:p>
        </p:txBody>
      </p:sp>
      <p:sp>
        <p:nvSpPr>
          <p:cNvPr id="29" name="Memory note"/>
          <p:cNvSpPr txBox="1"/>
          <p:nvPr/>
        </p:nvSpPr>
        <p:spPr>
          <a:xfrm>
            <a:off x="457200" y="4526280"/>
            <a:ext cx="82296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Memory: </a:t>
            </a:r>
            <a:r>
              <a:rPr sz="1200" b="0" lang="en-GB">
                <a:solidFill>
                  <a:schemeClr val="tx1"/>
                </a:solidFill>
              </a:rPr>
              <a:t>an AGENTS.md file in your project tells it your conventions, for example “use polars and plotnine”.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AI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card body"/>
          <p:cNvSpPr/>
          <p:nvPr/>
        </p:nvSpPr>
        <p:spPr>
          <a:xfrm>
            <a:off x="45720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host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Completions: ghost text</a:t>
            </a:r>
          </a:p>
        </p:txBody>
      </p:sp>
      <p:pic>
        <p:nvPicPr>
          <p:cNvPr id="13" name="Icon Ghost card" descr=""/>
          <p:cNvPicPr>
            <a:picLocks noChangeAspect="1"/>
          </p:cNvPicPr>
          <p:nvPr/>
        </p:nvPicPr>
        <p:blipFill>
          <a:blip r:embed="rId3"/>
          <a:stretch>
            <a:fillRect/>
          </a:stretch>
        </p:blipFill>
        <p:spPr>
          <a:xfrm>
            <a:off x="4064508" y="1284732"/>
            <a:ext cx="310896" cy="310896"/>
          </a:xfrm>
          <a:prstGeom prst="rect">
            <a:avLst/>
          </a:prstGeom>
        </p:spPr>
      </p:pic>
      <p:sp>
        <p:nvSpPr>
          <p:cNvPr id="14" name="Ghost card text"/>
          <p:cNvSpPr txBox="1"/>
          <p:nvPr/>
        </p:nvSpPr>
        <p:spPr>
          <a:xfrm>
            <a:off x="62179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Grey suggestions appear as you type</a:t>
            </a:r>
          </a:p>
          <a:p>
            <a:pPr algn="l" marL="182880" indent="-182880">
              <a:spcAft>
                <a:spcPts val="600"/>
              </a:spcAft>
              <a:buClr>
                <a:schemeClr val="accent1"/>
              </a:buClr>
              <a:buFont typeface="Arial"/>
              <a:buChar char="▪"/>
            </a:pPr>
            <a:r>
              <a:rPr sz="1300" b="0" lang="en-GB">
                <a:solidFill>
                  <a:schemeClr val="tx1"/>
                </a:solidFill>
              </a:rPr>
              <a:t>Tab accepts, Ctrl/Cmd + → word by word</a:t>
            </a:r>
          </a:p>
          <a:p>
            <a:pPr algn="l" marL="182880" indent="-182880">
              <a:spcAft>
                <a:spcPts val="600"/>
              </a:spcAft>
              <a:buClr>
                <a:schemeClr val="accent1"/>
              </a:buClr>
              <a:buFont typeface="Arial"/>
              <a:buChar char="▪"/>
            </a:pPr>
            <a:r>
              <a:rPr sz="1300" b="0" lang="en-GB">
                <a:solidFill>
                  <a:schemeClr val="tx1"/>
                </a:solidFill>
              </a:rPr>
              <a:t>Esc or keep typing to dismiss</a:t>
            </a:r>
          </a:p>
        </p:txBody>
      </p:sp>
      <p:sp>
        <p:nvSpPr>
          <p:cNvPr id="15" name="Assistant chat card body"/>
          <p:cNvSpPr/>
          <p:nvPr/>
        </p:nvSpPr>
        <p:spPr>
          <a:xfrm>
            <a:off x="464058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hat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hat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Chat: Posit Assistant</a:t>
            </a:r>
          </a:p>
        </p:txBody>
      </p:sp>
      <p:pic>
        <p:nvPicPr>
          <p:cNvPr id="18" name="Icon Assistant chat card" descr=""/>
          <p:cNvPicPr>
            <a:picLocks noChangeAspect="1"/>
          </p:cNvPicPr>
          <p:nvPr/>
        </p:nvPicPr>
        <p:blipFill>
          <a:blip r:embed="rId4"/>
          <a:stretch>
            <a:fillRect/>
          </a:stretch>
        </p:blipFill>
        <p:spPr>
          <a:xfrm>
            <a:off x="8247888" y="1284732"/>
            <a:ext cx="310896" cy="310896"/>
          </a:xfrm>
          <a:prstGeom prst="rect">
            <a:avLst/>
          </a:prstGeom>
        </p:spPr>
      </p:pic>
      <p:sp>
        <p:nvSpPr>
          <p:cNvPr id="19" name="Assistant chat card text"/>
          <p:cNvSpPr txBox="1"/>
          <p:nvPr/>
        </p:nvSpPr>
        <p:spPr>
          <a:xfrm>
            <a:off x="480517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Ask in plain English, one step at a time</a:t>
            </a:r>
          </a:p>
          <a:p>
            <a:pPr algn="l" marL="182880" indent="-182880">
              <a:spcAft>
                <a:spcPts val="600"/>
              </a:spcAft>
              <a:buClr>
                <a:schemeClr val="accent1"/>
              </a:buClr>
              <a:buFont typeface="Arial"/>
              <a:buChar char="▪"/>
            </a:pPr>
            <a:r>
              <a:rPr sz="1300" b="0" lang="en-GB">
                <a:solidFill>
                  <a:schemeClr val="tx1"/>
                </a:solidFill>
              </a:rPr>
              <a:t>Check every result it reports</a:t>
            </a:r>
          </a:p>
          <a:p>
            <a:pPr algn="l" marL="182880" indent="-182880">
              <a:spcAft>
                <a:spcPts val="600"/>
              </a:spcAft>
              <a:buClr>
                <a:schemeClr val="accent1"/>
              </a:buClr>
              <a:buFont typeface="Arial"/>
              <a:buChar char="▪"/>
            </a:pPr>
            <a:r>
              <a:rPr sz="1300" b="0" lang="en-GB">
                <a:solidFill>
                  <a:schemeClr val="tx1"/>
                </a:solidFill>
              </a:rPr>
              <a:t>Export the chat: your prompt log</a:t>
            </a:r>
          </a:p>
        </p:txBody>
      </p:sp>
      <p:sp>
        <p:nvSpPr>
          <p:cNvPr id="20" name="Prompt label"/>
          <p:cNvSpPr txBox="1"/>
          <p:nvPr/>
        </p:nvSpPr>
        <p:spPr>
          <a:xfrm>
            <a:off x="457200" y="30632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Good prompts</a:t>
            </a:r>
          </a:p>
        </p:txBody>
      </p:sp>
      <p:sp>
        <p:nvSpPr>
          <p:cNvPr id="21" name="Prompt code box"/>
          <p:cNvSpPr/>
          <p:nvPr/>
        </p:nvSpPr>
        <p:spPr>
          <a:xfrm>
            <a:off x="457200" y="33832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code code"/>
          <p:cNvSpPr txBox="1"/>
          <p:nvPr/>
        </p:nvSpPr>
        <p:spPr>
          <a:xfrm>
            <a:off x="594360" y="3474720"/>
            <a:ext cx="7955280" cy="5486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"Sum revenue by country for 2025 with polars and sort it."</a:t>
            </a:r>
          </a:p>
          <a:p>
            <a:pPr algn="l">
              <a:spcAft>
                <a:spcPts val="0"/>
              </a:spcAft>
            </a:pPr>
            <a:r>
              <a:rPr sz="1150" b="0" lang="en-GB">
                <a:solidFill>
                  <a:schemeClr val="bg1"/>
                </a:solidFill>
                <a:latin typeface="Consolas"/>
              </a:rPr>
              <a:t>"Explain this error in two sentences, then fix it."</a:t>
            </a:r>
          </a:p>
        </p:txBody>
      </p:sp>
      <p:sp>
        <p:nvSpPr>
          <p:cNvPr id="23" name="Privacy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Privacy" descr=""/>
          <p:cNvPicPr>
            <a:picLocks noChangeAspect="1"/>
          </p:cNvPicPr>
          <p:nvPr/>
        </p:nvPicPr>
        <p:blipFill>
          <a:blip r:embed="rId5"/>
          <a:stretch>
            <a:fillRect/>
          </a:stretch>
        </p:blipFill>
        <p:spPr>
          <a:xfrm>
            <a:off x="658368" y="4494276"/>
            <a:ext cx="384048" cy="384048"/>
          </a:xfrm>
          <a:prstGeom prst="rect">
            <a:avLst/>
          </a:prstGeom>
        </p:spPr>
      </p:pic>
      <p:sp>
        <p:nvSpPr>
          <p:cNvPr id="25" name="Privacy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Privacy: </a:t>
            </a:r>
            <a:r>
              <a:rPr sz="1300" b="0" lang="en-GB">
                <a:solidFill>
                  <a:schemeClr val="tx1"/>
                </a:solidFill>
              </a:rPr>
              <a:t>prompts, variable names and types go to the model provider; rows of data only if you ask. Never paste personal data.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4 · install and load; polars, plotnine, Great Tables, statsmodels</a:t>
            </a:r>
          </a:p>
        </p:txBody>
      </p:sp>
      <p:sp>
        <p:nvSpPr>
          <p:cNvPr id="3" name="Title 2"/>
          <p:cNvSpPr>
            <a:spLocks noGrp="1"/>
          </p:cNvSpPr>
          <p:nvPr>
            <p:ph type="ctrTitle"/>
          </p:nvPr>
        </p:nvSpPr>
        <p:spPr/>
        <p:txBody>
          <a:bodyPr/>
          <a:lstStyle/>
          <a:p>
            <a:r>
              <a:rPr sz="1600" lang="en-GB"/>
              <a:t>Python packages for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packages: three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win caption bar"/>
          <p:cNvSpPr/>
          <p:nvPr/>
        </p:nvSpPr>
        <p:spPr>
          <a:xfrm>
            <a:off x="457200" y="19659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win caption"/>
          <p:cNvSpPr txBox="1"/>
          <p:nvPr/>
        </p:nvSpPr>
        <p:spPr>
          <a:xfrm>
            <a:off x="566928" y="19659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Windows: Positron terminal</a:t>
            </a:r>
          </a:p>
        </p:txBody>
      </p:sp>
      <p:sp>
        <p:nvSpPr>
          <p:cNvPr id="12" name="Install win box"/>
          <p:cNvSpPr/>
          <p:nvPr/>
        </p:nvSpPr>
        <p:spPr>
          <a:xfrm>
            <a:off x="457200" y="22402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win code"/>
          <p:cNvSpPr txBox="1"/>
          <p:nvPr/>
        </p:nvSpPr>
        <p:spPr>
          <a:xfrm>
            <a:off x="594360" y="2331720"/>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-m pip install -r requirements.txt   # all course packages</a:t>
            </a:r>
          </a:p>
          <a:p>
            <a:pPr algn="l">
              <a:spcAft>
                <a:spcPts val="0"/>
              </a:spcAft>
            </a:pPr>
            <a:r>
              <a:rPr sz="1100" b="0" lang="en-GB">
                <a:solidFill>
                  <a:schemeClr val="bg1"/>
                </a:solidFill>
                <a:latin typeface="Consolas"/>
              </a:rPr>
              <a:t>.venv\Scripts\python -m pip install polars                # one package</a:t>
            </a:r>
          </a:p>
        </p:txBody>
      </p:sp>
      <p:sp>
        <p:nvSpPr>
          <p:cNvPr id="14" name="Install mac caption bar"/>
          <p:cNvSpPr/>
          <p:nvPr/>
        </p:nvSpPr>
        <p:spPr>
          <a:xfrm>
            <a:off x="457200" y="2944368"/>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nstall mac caption"/>
          <p:cNvSpPr txBox="1"/>
          <p:nvPr/>
        </p:nvSpPr>
        <p:spPr>
          <a:xfrm>
            <a:off x="566928" y="2944368"/>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3  macOS: Positron terminal</a:t>
            </a:r>
          </a:p>
        </p:txBody>
      </p:sp>
      <p:sp>
        <p:nvSpPr>
          <p:cNvPr id="16" name="Install mac box"/>
          <p:cNvSpPr/>
          <p:nvPr/>
        </p:nvSpPr>
        <p:spPr>
          <a:xfrm>
            <a:off x="457200" y="321868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stall mac code"/>
          <p:cNvSpPr txBox="1"/>
          <p:nvPr/>
        </p:nvSpPr>
        <p:spPr>
          <a:xfrm>
            <a:off x="594360" y="3310128"/>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-m pip install -r requirements.txt       # all course packages</a:t>
            </a:r>
          </a:p>
          <a:p>
            <a:pPr algn="l">
              <a:spcAft>
                <a:spcPts val="0"/>
              </a:spcAft>
            </a:pPr>
            <a:r>
              <a:rPr sz="1100" b="0" lang="en-GB">
                <a:solidFill>
                  <a:schemeClr val="bg1"/>
                </a:solidFill>
                <a:latin typeface="Consolas"/>
              </a:rPr>
              <a:t>.venv/bin/python -m pip install polars                    # one package</a:t>
            </a:r>
          </a:p>
        </p:txBody>
      </p:sp>
      <p:sp>
        <p:nvSpPr>
          <p:cNvPr id="18" name="Install consol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stall consol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Windows and macOS: Positron console (easiest)</a:t>
            </a:r>
          </a:p>
        </p:txBody>
      </p:sp>
      <p:sp>
        <p:nvSpPr>
          <p:cNvPr id="20" name="Install console box"/>
          <p:cNvSpPr/>
          <p:nvPr/>
        </p:nvSpPr>
        <p:spPr>
          <a:xfrm>
            <a:off x="457200" y="150876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console code"/>
          <p:cNvSpPr txBox="1"/>
          <p:nvPr/>
        </p:nvSpPr>
        <p:spPr>
          <a:xfrm>
            <a:off x="594360" y="1600200"/>
            <a:ext cx="7955280" cy="1828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p:txBody>
      </p:sp>
      <p:sp>
        <p:nvSpPr>
          <p:cNvPr id="22" name="Names box"/>
          <p:cNvSpPr/>
          <p:nvPr/>
        </p:nvSpPr>
        <p:spPr>
          <a:xfrm>
            <a:off x="457200" y="3977640"/>
            <a:ext cx="82296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ames" descr=""/>
          <p:cNvPicPr>
            <a:picLocks noChangeAspect="1"/>
          </p:cNvPicPr>
          <p:nvPr/>
        </p:nvPicPr>
        <p:blipFill>
          <a:blip r:embed="rId3"/>
          <a:stretch>
            <a:fillRect/>
          </a:stretch>
        </p:blipFill>
        <p:spPr>
          <a:xfrm>
            <a:off x="658368" y="4334256"/>
            <a:ext cx="384048" cy="384048"/>
          </a:xfrm>
          <a:prstGeom prst="rect">
            <a:avLst/>
          </a:prstGeom>
        </p:spPr>
      </p:pic>
      <p:sp>
        <p:nvSpPr>
          <p:cNvPr id="24" name="Names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Install name and import name can differ: </a:t>
            </a:r>
            <a:r>
              <a:rPr sz="1300" b="0" lang="en-GB">
                <a:solidFill>
                  <a:schemeClr val="tx1"/>
                </a:solidFill>
              </a:rPr>
              <a:t>pip install great-tables → import great_tables; scikit-learn → sklearn; pymc-marketing → pymc_marketing.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pane: install without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Packages icon</a:t>
            </a:r>
            <a:br/>
            <a:r>
              <a:rPr sz="1200" b="1" lang="en-GB">
                <a:solidFill>
                  <a:schemeClr val="tx2"/>
                </a:solidFill>
              </a:rPr>
              <a:t>(Activity Bar)</a:t>
            </a:r>
          </a:p>
        </p:txBody>
      </p:sp>
      <p:sp>
        <p:nvSpPr>
          <p:cNvPr id="11" name="Pane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a:t>
            </a:r>
          </a:p>
        </p:txBody>
      </p:sp>
      <p:sp>
        <p:nvSpPr>
          <p:cNvPr id="12" name="Pane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Search name,</a:t>
            </a:r>
            <a:br/>
            <a:r>
              <a:rPr sz="1200" b="1" lang="en-GB">
                <a:solidFill>
                  <a:schemeClr val="tx2"/>
                </a:solidFill>
              </a:rPr>
              <a:t>pick version</a:t>
            </a:r>
          </a:p>
        </p:txBody>
      </p:sp>
      <p:sp>
        <p:nvSpPr>
          <p:cNvPr id="13" name="Pane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Restart session</a:t>
            </a:r>
            <a:br/>
            <a:r>
              <a:rPr sz="1200" b="1" lang="en-GB">
                <a:solidFill>
                  <a:schemeClr val="tx2"/>
                </a:solidFill>
              </a:rPr>
              <a:t>when asked</a:t>
            </a:r>
          </a:p>
        </p:txBody>
      </p:sp>
      <p:sp>
        <p:nvSpPr>
          <p:cNvPr id="14" name="Pane mock"/>
          <p:cNvSpPr/>
          <p:nvPr/>
        </p:nvSpPr>
        <p:spPr>
          <a:xfrm>
            <a:off x="457200" y="19659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ane mock head"/>
          <p:cNvSpPr txBox="1"/>
          <p:nvPr/>
        </p:nvSpPr>
        <p:spPr>
          <a:xfrm>
            <a:off x="594360" y="2029968"/>
            <a:ext cx="374904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PACKAGES</a:t>
            </a:r>
            <a:r>
              <a:rPr sz="1100" b="0" lang="en-GB">
                <a:solidFill>
                  <a:schemeClr val="tx1"/>
                </a:solidFill>
              </a:rPr>
              <a:t>     Python 3.14.8 (.venv)</a:t>
            </a:r>
          </a:p>
        </p:txBody>
      </p:sp>
      <p:sp>
        <p:nvSpPr>
          <p:cNvPr id="16" name="Pane row 1"/>
          <p:cNvSpPr/>
          <p:nvPr/>
        </p:nvSpPr>
        <p:spPr>
          <a:xfrm>
            <a:off x="594360" y="24231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name 1"/>
          <p:cNvSpPr txBox="1"/>
          <p:nvPr/>
        </p:nvSpPr>
        <p:spPr>
          <a:xfrm>
            <a:off x="713232" y="24231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great-tables</a:t>
            </a:r>
          </a:p>
        </p:txBody>
      </p:sp>
      <p:sp>
        <p:nvSpPr>
          <p:cNvPr id="18" name="Pane version 1"/>
          <p:cNvSpPr txBox="1"/>
          <p:nvPr/>
        </p:nvSpPr>
        <p:spPr>
          <a:xfrm>
            <a:off x="2331720" y="24231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1.0.0</a:t>
            </a:r>
          </a:p>
        </p:txBody>
      </p:sp>
      <p:sp>
        <p:nvSpPr>
          <p:cNvPr id="19" name="Pane attached 1"/>
          <p:cNvSpPr txBox="1"/>
          <p:nvPr/>
        </p:nvSpPr>
        <p:spPr>
          <a:xfrm>
            <a:off x="3154680" y="24231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0" name="Pane row 2"/>
          <p:cNvSpPr/>
          <p:nvPr/>
        </p:nvSpPr>
        <p:spPr>
          <a:xfrm>
            <a:off x="594360" y="283464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name 2"/>
          <p:cNvSpPr txBox="1"/>
          <p:nvPr/>
        </p:nvSpPr>
        <p:spPr>
          <a:xfrm>
            <a:off x="713232" y="283464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pandas</a:t>
            </a:r>
          </a:p>
        </p:txBody>
      </p:sp>
      <p:sp>
        <p:nvSpPr>
          <p:cNvPr id="22" name="Pane version 2"/>
          <p:cNvSpPr txBox="1"/>
          <p:nvPr/>
        </p:nvSpPr>
        <p:spPr>
          <a:xfrm>
            <a:off x="2331720" y="283464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3.0.6</a:t>
            </a:r>
          </a:p>
        </p:txBody>
      </p:sp>
      <p:sp>
        <p:nvSpPr>
          <p:cNvPr id="23" name="Pane attached 2"/>
          <p:cNvSpPr txBox="1"/>
          <p:nvPr/>
        </p:nvSpPr>
        <p:spPr>
          <a:xfrm>
            <a:off x="3154680" y="283464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24" name="Pane row 3"/>
          <p:cNvSpPr/>
          <p:nvPr/>
        </p:nvSpPr>
        <p:spPr>
          <a:xfrm>
            <a:off x="594360" y="324612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ane name 3"/>
          <p:cNvSpPr txBox="1"/>
          <p:nvPr/>
        </p:nvSpPr>
        <p:spPr>
          <a:xfrm>
            <a:off x="713232" y="324612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plotnine</a:t>
            </a:r>
          </a:p>
        </p:txBody>
      </p:sp>
      <p:sp>
        <p:nvSpPr>
          <p:cNvPr id="26" name="Pane version 3"/>
          <p:cNvSpPr txBox="1"/>
          <p:nvPr/>
        </p:nvSpPr>
        <p:spPr>
          <a:xfrm>
            <a:off x="2331720" y="324612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0.15.8</a:t>
            </a:r>
          </a:p>
        </p:txBody>
      </p:sp>
      <p:sp>
        <p:nvSpPr>
          <p:cNvPr id="27" name="Pane attached 3"/>
          <p:cNvSpPr txBox="1"/>
          <p:nvPr/>
        </p:nvSpPr>
        <p:spPr>
          <a:xfrm>
            <a:off x="3154680" y="324612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8" name="Pane row 4"/>
          <p:cNvSpPr/>
          <p:nvPr/>
        </p:nvSpPr>
        <p:spPr>
          <a:xfrm>
            <a:off x="594360" y="365760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ne name 4"/>
          <p:cNvSpPr txBox="1"/>
          <p:nvPr/>
        </p:nvSpPr>
        <p:spPr>
          <a:xfrm>
            <a:off x="713232" y="365760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polars</a:t>
            </a:r>
          </a:p>
        </p:txBody>
      </p:sp>
      <p:sp>
        <p:nvSpPr>
          <p:cNvPr id="30" name="Pane version 4"/>
          <p:cNvSpPr txBox="1"/>
          <p:nvPr/>
        </p:nvSpPr>
        <p:spPr>
          <a:xfrm>
            <a:off x="2331720" y="365760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1.44.2</a:t>
            </a:r>
          </a:p>
        </p:txBody>
      </p:sp>
      <p:sp>
        <p:nvSpPr>
          <p:cNvPr id="31" name="Pane attached 4"/>
          <p:cNvSpPr txBox="1"/>
          <p:nvPr/>
        </p:nvSpPr>
        <p:spPr>
          <a:xfrm>
            <a:off x="3154680" y="365760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2" name="Pane row 5"/>
          <p:cNvSpPr/>
          <p:nvPr/>
        </p:nvSpPr>
        <p:spPr>
          <a:xfrm>
            <a:off x="594360" y="406908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ame 5"/>
          <p:cNvSpPr txBox="1"/>
          <p:nvPr/>
        </p:nvSpPr>
        <p:spPr>
          <a:xfrm>
            <a:off x="713232" y="406908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statsmodels</a:t>
            </a:r>
          </a:p>
        </p:txBody>
      </p:sp>
      <p:sp>
        <p:nvSpPr>
          <p:cNvPr id="34" name="Pane version 5"/>
          <p:cNvSpPr txBox="1"/>
          <p:nvPr/>
        </p:nvSpPr>
        <p:spPr>
          <a:xfrm>
            <a:off x="2331720" y="406908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0.15.0</a:t>
            </a:r>
          </a:p>
        </p:txBody>
      </p:sp>
      <p:sp>
        <p:nvSpPr>
          <p:cNvPr id="35" name="Pane attached 5"/>
          <p:cNvSpPr txBox="1"/>
          <p:nvPr/>
        </p:nvSpPr>
        <p:spPr>
          <a:xfrm>
            <a:off x="3154680" y="406908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6" name="Pane row 6"/>
          <p:cNvSpPr/>
          <p:nvPr/>
        </p:nvSpPr>
        <p:spPr>
          <a:xfrm>
            <a:off x="594360" y="44805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ane name 6"/>
          <p:cNvSpPr txBox="1"/>
          <p:nvPr/>
        </p:nvSpPr>
        <p:spPr>
          <a:xfrm>
            <a:off x="713232" y="44805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t>
            </a:r>
          </a:p>
        </p:txBody>
      </p:sp>
      <p:sp>
        <p:nvSpPr>
          <p:cNvPr id="38" name="Pane version 6"/>
          <p:cNvSpPr txBox="1"/>
          <p:nvPr/>
        </p:nvSpPr>
        <p:spPr>
          <a:xfrm>
            <a:off x="2331720" y="44805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
            </a:r>
          </a:p>
        </p:txBody>
      </p:sp>
      <p:sp>
        <p:nvSpPr>
          <p:cNvPr id="39" name="Pane attached 6"/>
          <p:cNvSpPr txBox="1"/>
          <p:nvPr/>
        </p:nvSpPr>
        <p:spPr>
          <a:xfrm>
            <a:off x="3154680" y="44805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40" name="Pane card body"/>
          <p:cNvSpPr/>
          <p:nvPr/>
        </p:nvSpPr>
        <p:spPr>
          <a:xfrm>
            <a:off x="4617720" y="2377440"/>
            <a:ext cx="4069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ane card header"/>
          <p:cNvSpPr/>
          <p:nvPr/>
        </p:nvSpPr>
        <p:spPr>
          <a:xfrm>
            <a:off x="4617720" y="196596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ane card heading"/>
          <p:cNvSpPr txBox="1"/>
          <p:nvPr/>
        </p:nvSpPr>
        <p:spPr>
          <a:xfrm>
            <a:off x="4754880" y="196596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else it does</a:t>
            </a:r>
          </a:p>
        </p:txBody>
      </p:sp>
      <p:pic>
        <p:nvPicPr>
          <p:cNvPr id="43" name="Icon Pane card" descr=""/>
          <p:cNvPicPr>
            <a:picLocks noChangeAspect="1"/>
          </p:cNvPicPr>
          <p:nvPr/>
        </p:nvPicPr>
        <p:blipFill>
          <a:blip r:embed="rId3"/>
          <a:stretch>
            <a:fillRect/>
          </a:stretch>
        </p:blipFill>
        <p:spPr>
          <a:xfrm>
            <a:off x="8247888" y="2016252"/>
            <a:ext cx="310896" cy="310896"/>
          </a:xfrm>
          <a:prstGeom prst="rect">
            <a:avLst/>
          </a:prstGeom>
        </p:spPr>
      </p:pic>
      <p:sp>
        <p:nvSpPr>
          <p:cNvPr id="44" name="Pane card text"/>
          <p:cNvSpPr txBox="1"/>
          <p:nvPr/>
        </p:nvSpPr>
        <p:spPr>
          <a:xfrm>
            <a:off x="4782312" y="2514600"/>
            <a:ext cx="3767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Shows which packages are loaded (attached)</a:t>
            </a:r>
          </a:p>
          <a:p>
            <a:pPr algn="l" marL="182880" indent="-182880">
              <a:spcAft>
                <a:spcPts val="600"/>
              </a:spcAft>
              <a:buClr>
                <a:schemeClr val="accent1"/>
              </a:buClr>
              <a:buFont typeface="Arial"/>
              <a:buChar char="▪"/>
            </a:pPr>
            <a:r>
              <a:rPr sz="1300" b="0" lang="en-GB">
                <a:solidFill>
                  <a:schemeClr val="tx1"/>
                </a:solidFill>
              </a:rPr>
              <a:t>Update one, or Update All Packages</a:t>
            </a:r>
          </a:p>
          <a:p>
            <a:pPr algn="l" marL="182880" indent="-182880">
              <a:spcAft>
                <a:spcPts val="600"/>
              </a:spcAft>
              <a:buClr>
                <a:schemeClr val="accent1"/>
              </a:buClr>
              <a:buFont typeface="Arial"/>
              <a:buChar char="▪"/>
            </a:pPr>
            <a:r>
              <a:rPr sz="1300" b="0" lang="en-GB">
                <a:solidFill>
                  <a:schemeClr val="tx1"/>
                </a:solidFill>
              </a:rPr>
              <a:t>Flags known security issues</a:t>
            </a:r>
          </a:p>
          <a:p>
            <a:pPr algn="l" marL="182880" indent="-182880">
              <a:spcAft>
                <a:spcPts val="600"/>
              </a:spcAft>
              <a:buClr>
                <a:schemeClr val="accent1"/>
              </a:buClr>
              <a:buFont typeface="Arial"/>
              <a:buChar char="▪"/>
            </a:pPr>
            <a:r>
              <a:rPr sz="1300" b="0" lang="en-GB">
                <a:solidFill>
                  <a:schemeClr val="tx1"/>
                </a:solidFill>
              </a:rPr>
              <a:t>Keeps versions in line with requirements.txt</a:t>
            </a:r>
          </a:p>
          <a:p>
            <a:pPr algn="l" marL="182880" indent="-182880">
              <a:spcAft>
                <a:spcPts val="600"/>
              </a:spcAft>
              <a:buClr>
                <a:schemeClr val="accent1"/>
              </a:buClr>
              <a:buFont typeface="Arial"/>
              <a:buChar char="▪"/>
            </a:pPr>
            <a:r>
              <a:rPr sz="1300" b="0" lang="en-GB">
                <a:solidFill>
                  <a:schemeClr val="tx1"/>
                </a:solidFill>
              </a:rPr>
              <a:t>Offers to install a missing package after an error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Load packages: import at the top of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ckage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Install once</a:t>
            </a:r>
            <a:br/>
            <a:r>
              <a:rPr sz="1200" b="1" lang="en-GB">
                <a:solidFill>
                  <a:schemeClr val="tx2"/>
                </a:solidFill>
              </a:rPr>
              <a:t>per laptop</a:t>
            </a:r>
          </a:p>
        </p:txBody>
      </p:sp>
      <p:sp>
        <p:nvSpPr>
          <p:cNvPr id="11" name="Package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Import in every</a:t>
            </a:r>
            <a:br/>
            <a:r>
              <a:rPr sz="1200" b="1" lang="en-GB">
                <a:solidFill>
                  <a:schemeClr val="tx2"/>
                </a:solidFill>
              </a:rPr>
              <a:t>file and session</a:t>
            </a:r>
          </a:p>
        </p:txBody>
      </p:sp>
      <p:sp>
        <p:nvSpPr>
          <p:cNvPr id="12" name="Package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Use the short</a:t>
            </a:r>
            <a:br/>
            <a:r>
              <a:rPr sz="1200" b="1" lang="en-GB">
                <a:solidFill>
                  <a:schemeClr val="tx2"/>
                </a:solidFill>
              </a:rPr>
              <a:t>name: pl.read_csv()</a:t>
            </a:r>
          </a:p>
        </p:txBody>
      </p:sp>
      <p:sp>
        <p:nvSpPr>
          <p:cNvPr id="13" name="Import code caption bar"/>
          <p:cNvSpPr/>
          <p:nvPr/>
        </p:nvSpPr>
        <p:spPr>
          <a:xfrm>
            <a:off x="457200" y="196596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mport code caption"/>
          <p:cNvSpPr txBox="1"/>
          <p:nvPr/>
        </p:nvSpPr>
        <p:spPr>
          <a:xfrm>
            <a:off x="566928" y="196596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and macOS: the same code</a:t>
            </a:r>
          </a:p>
        </p:txBody>
      </p:sp>
      <p:sp>
        <p:nvSpPr>
          <p:cNvPr id="15" name="Import code box"/>
          <p:cNvSpPr/>
          <p:nvPr/>
        </p:nvSpPr>
        <p:spPr>
          <a:xfrm>
            <a:off x="457200" y="2240280"/>
            <a:ext cx="484632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mport code code"/>
          <p:cNvSpPr txBox="1"/>
          <p:nvPr/>
        </p:nvSpPr>
        <p:spPr>
          <a:xfrm>
            <a:off x="594360" y="2331720"/>
            <a:ext cx="457200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plotnine import ggplot, aes, geom_line</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print(pl.__version__)    # 1.44.2</a:t>
            </a:r>
          </a:p>
        </p:txBody>
      </p:sp>
      <p:sp>
        <p:nvSpPr>
          <p:cNvPr id="17" name="Conventions card body"/>
          <p:cNvSpPr/>
          <p:nvPr/>
        </p:nvSpPr>
        <p:spPr>
          <a:xfrm>
            <a:off x="5486400" y="2377440"/>
            <a:ext cx="320040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ventions card header"/>
          <p:cNvSpPr/>
          <p:nvPr/>
        </p:nvSpPr>
        <p:spPr>
          <a:xfrm>
            <a:off x="5486400" y="196596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ventions card heading"/>
          <p:cNvSpPr txBox="1"/>
          <p:nvPr/>
        </p:nvSpPr>
        <p:spPr>
          <a:xfrm>
            <a:off x="5623560" y="196596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Conventions</a:t>
            </a:r>
          </a:p>
        </p:txBody>
      </p:sp>
      <p:pic>
        <p:nvPicPr>
          <p:cNvPr id="20" name="Icon Conventions card" descr=""/>
          <p:cNvPicPr>
            <a:picLocks noChangeAspect="1"/>
          </p:cNvPicPr>
          <p:nvPr/>
        </p:nvPicPr>
        <p:blipFill>
          <a:blip r:embed="rId3"/>
          <a:stretch>
            <a:fillRect/>
          </a:stretch>
        </p:blipFill>
        <p:spPr>
          <a:xfrm>
            <a:off x="8247888" y="2016252"/>
            <a:ext cx="310896" cy="310896"/>
          </a:xfrm>
          <a:prstGeom prst="rect">
            <a:avLst/>
          </a:prstGeom>
        </p:spPr>
      </p:pic>
      <p:sp>
        <p:nvSpPr>
          <p:cNvPr id="21" name="Conventions card text"/>
          <p:cNvSpPr txBox="1"/>
          <p:nvPr/>
        </p:nvSpPr>
        <p:spPr>
          <a:xfrm>
            <a:off x="5650992" y="2514600"/>
            <a:ext cx="289864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 and smf are the usual short names</a:t>
            </a:r>
          </a:p>
          <a:p>
            <a:pPr algn="l" marL="182880" indent="-182880">
              <a:spcAft>
                <a:spcPts val="600"/>
              </a:spcAft>
              <a:buClr>
                <a:schemeClr val="accent1"/>
              </a:buClr>
              <a:buFont typeface="Arial"/>
              <a:buChar char="▪"/>
            </a:pPr>
            <a:r>
              <a:rPr sz="1300" b="0" lang="en-GB">
                <a:solidFill>
                  <a:schemeClr val="tx1"/>
                </a:solidFill>
              </a:rPr>
              <a:t>Imports go at the top</a:t>
            </a:r>
          </a:p>
          <a:p>
            <a:pPr algn="l" marL="182880" indent="-182880">
              <a:spcAft>
                <a:spcPts val="600"/>
              </a:spcAft>
              <a:buClr>
                <a:schemeClr val="accent1"/>
              </a:buClr>
              <a:buFont typeface="Arial"/>
              <a:buChar char="▪"/>
            </a:pPr>
            <a:r>
              <a:rPr sz="1300" b="0" lang="en-GB">
                <a:solidFill>
                  <a:schemeClr val="tx1"/>
                </a:solidFill>
              </a:rPr>
              <a:t>Import only what you use</a:t>
            </a:r>
          </a:p>
        </p:txBody>
      </p:sp>
      <p:sp>
        <p:nvSpPr>
          <p:cNvPr id="22" name="Error box"/>
          <p:cNvSpPr/>
          <p:nvPr/>
        </p:nvSpPr>
        <p:spPr>
          <a:xfrm>
            <a:off x="457200" y="397764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rror" descr=""/>
          <p:cNvPicPr>
            <a:picLocks noChangeAspect="1"/>
          </p:cNvPicPr>
          <p:nvPr/>
        </p:nvPicPr>
        <p:blipFill>
          <a:blip r:embed="rId4"/>
          <a:stretch>
            <a:fillRect/>
          </a:stretch>
        </p:blipFill>
        <p:spPr>
          <a:xfrm>
            <a:off x="658368" y="4334256"/>
            <a:ext cx="384048" cy="384048"/>
          </a:xfrm>
          <a:prstGeom prst="rect">
            <a:avLst/>
          </a:prstGeom>
        </p:spPr>
      </p:pic>
      <p:sp>
        <p:nvSpPr>
          <p:cNvPr id="24" name="Error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ModuleNotFoundError? </a:t>
            </a:r>
            <a:r>
              <a:rPr sz="1300" b="0" lang="en-GB">
                <a:solidFill>
                  <a:schemeClr val="bg1"/>
                </a:solidFill>
              </a:rPr>
              <a:t>Either the wrong interpreter is selected (pick the one in .venv) or the package is missing: %pip install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toolkit, from data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Kit card 1 body"/>
          <p:cNvSpPr/>
          <p:nvPr/>
        </p:nvSpPr>
        <p:spPr>
          <a:xfrm>
            <a:off x="45720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it card 1 header"/>
          <p:cNvSpPr/>
          <p:nvPr/>
        </p:nvSpPr>
        <p:spPr>
          <a:xfrm>
            <a:off x="45720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it card 1 heading"/>
          <p:cNvSpPr txBox="1"/>
          <p:nvPr/>
        </p:nvSpPr>
        <p:spPr>
          <a:xfrm>
            <a:off x="59436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Wrangle</a:t>
            </a:r>
          </a:p>
        </p:txBody>
      </p:sp>
      <p:pic>
        <p:nvPicPr>
          <p:cNvPr id="13" name="Icon Kit card 1" descr=""/>
          <p:cNvPicPr>
            <a:picLocks noChangeAspect="1"/>
          </p:cNvPicPr>
          <p:nvPr/>
        </p:nvPicPr>
        <p:blipFill>
          <a:blip r:embed="rId3"/>
          <a:stretch>
            <a:fillRect/>
          </a:stretch>
        </p:blipFill>
        <p:spPr>
          <a:xfrm>
            <a:off x="1972818" y="1307592"/>
            <a:ext cx="310896" cy="310896"/>
          </a:xfrm>
          <a:prstGeom prst="rect">
            <a:avLst/>
          </a:prstGeom>
        </p:spPr>
      </p:pic>
      <p:sp>
        <p:nvSpPr>
          <p:cNvPr id="14" name="Kit card 1 text"/>
          <p:cNvSpPr txBox="1"/>
          <p:nvPr/>
        </p:nvSpPr>
        <p:spPr>
          <a:xfrm>
            <a:off x="62179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polars </a:t>
            </a:r>
            <a:r>
              <a:rPr sz="1300" b="0" lang="en-GB">
                <a:solidFill>
                  <a:schemeClr val="tx1"/>
                </a:solidFill>
              </a:rPr>
              <a:t>fast tables</a:t>
            </a:r>
          </a:p>
          <a:p>
            <a:pPr algn="l">
              <a:spcAft>
                <a:spcPts val="600"/>
              </a:spcAft>
            </a:pPr>
            <a:r>
              <a:rPr sz="1300" b="1" lang="en-GB">
                <a:solidFill>
                  <a:schemeClr val="tx2"/>
                </a:solidFill>
                <a:latin typeface="Consolas"/>
              </a:rPr>
              <a:t>pandas </a:t>
            </a:r>
            <a:r>
              <a:rPr sz="1300" b="0" lang="en-GB">
                <a:solidFill>
                  <a:schemeClr val="tx1"/>
                </a:solidFill>
              </a:rPr>
              <a:t>for model packages</a:t>
            </a:r>
          </a:p>
        </p:txBody>
      </p:sp>
      <p:sp>
        <p:nvSpPr>
          <p:cNvPr id="15" name="Kit arrow 1"/>
          <p:cNvSpPr/>
          <p:nvPr/>
        </p:nvSpPr>
        <p:spPr>
          <a:xfrm>
            <a:off x="239344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it card 2 body"/>
          <p:cNvSpPr/>
          <p:nvPr/>
        </p:nvSpPr>
        <p:spPr>
          <a:xfrm>
            <a:off x="254889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it card 2 header"/>
          <p:cNvSpPr/>
          <p:nvPr/>
        </p:nvSpPr>
        <p:spPr>
          <a:xfrm>
            <a:off x="254889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it card 2 heading"/>
          <p:cNvSpPr txBox="1"/>
          <p:nvPr/>
        </p:nvSpPr>
        <p:spPr>
          <a:xfrm>
            <a:off x="268605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Visualise</a:t>
            </a:r>
          </a:p>
        </p:txBody>
      </p:sp>
      <p:pic>
        <p:nvPicPr>
          <p:cNvPr id="19" name="Icon Kit card 2" descr=""/>
          <p:cNvPicPr>
            <a:picLocks noChangeAspect="1"/>
          </p:cNvPicPr>
          <p:nvPr/>
        </p:nvPicPr>
        <p:blipFill>
          <a:blip r:embed="rId4"/>
          <a:stretch>
            <a:fillRect/>
          </a:stretch>
        </p:blipFill>
        <p:spPr>
          <a:xfrm>
            <a:off x="4064508" y="1307592"/>
            <a:ext cx="310896" cy="310896"/>
          </a:xfrm>
          <a:prstGeom prst="rect">
            <a:avLst/>
          </a:prstGeom>
        </p:spPr>
      </p:pic>
      <p:sp>
        <p:nvSpPr>
          <p:cNvPr id="20" name="Kit card 2 text"/>
          <p:cNvSpPr txBox="1"/>
          <p:nvPr/>
        </p:nvSpPr>
        <p:spPr>
          <a:xfrm>
            <a:off x="271348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plotnine </a:t>
            </a:r>
            <a:r>
              <a:rPr sz="1300" b="0" lang="en-GB">
                <a:solidFill>
                  <a:schemeClr val="tx1"/>
                </a:solidFill>
              </a:rPr>
              <a:t>charts by grammar</a:t>
            </a:r>
          </a:p>
        </p:txBody>
      </p:sp>
      <p:sp>
        <p:nvSpPr>
          <p:cNvPr id="21" name="Kit arrow 2"/>
          <p:cNvSpPr/>
          <p:nvPr/>
        </p:nvSpPr>
        <p:spPr>
          <a:xfrm>
            <a:off x="448513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it card 3 body"/>
          <p:cNvSpPr/>
          <p:nvPr/>
        </p:nvSpPr>
        <p:spPr>
          <a:xfrm>
            <a:off x="464058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it card 3 header"/>
          <p:cNvSpPr/>
          <p:nvPr/>
        </p:nvSpPr>
        <p:spPr>
          <a:xfrm>
            <a:off x="464058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it card 3 heading"/>
          <p:cNvSpPr txBox="1"/>
          <p:nvPr/>
        </p:nvSpPr>
        <p:spPr>
          <a:xfrm>
            <a:off x="477774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Model</a:t>
            </a:r>
          </a:p>
        </p:txBody>
      </p:sp>
      <p:pic>
        <p:nvPicPr>
          <p:cNvPr id="25" name="Icon Kit card 3" descr=""/>
          <p:cNvPicPr>
            <a:picLocks noChangeAspect="1"/>
          </p:cNvPicPr>
          <p:nvPr/>
        </p:nvPicPr>
        <p:blipFill>
          <a:blip r:embed="rId5"/>
          <a:stretch>
            <a:fillRect/>
          </a:stretch>
        </p:blipFill>
        <p:spPr>
          <a:xfrm>
            <a:off x="6156198" y="1307592"/>
            <a:ext cx="310896" cy="310896"/>
          </a:xfrm>
          <a:prstGeom prst="rect">
            <a:avLst/>
          </a:prstGeom>
        </p:spPr>
      </p:pic>
      <p:sp>
        <p:nvSpPr>
          <p:cNvPr id="26" name="Kit card 3 text"/>
          <p:cNvSpPr txBox="1"/>
          <p:nvPr/>
        </p:nvSpPr>
        <p:spPr>
          <a:xfrm>
            <a:off x="480517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statsmodels </a:t>
            </a:r>
            <a:r>
              <a:rPr sz="1300" b="0" lang="en-GB">
                <a:solidFill>
                  <a:schemeClr val="tx1"/>
                </a:solidFill>
              </a:rPr>
              <a:t>regression</a:t>
            </a:r>
          </a:p>
          <a:p>
            <a:pPr algn="l">
              <a:spcAft>
                <a:spcPts val="600"/>
              </a:spcAft>
            </a:pPr>
            <a:r>
              <a:rPr sz="1300" b="1" lang="en-GB">
                <a:solidFill>
                  <a:schemeClr val="tx2"/>
                </a:solidFill>
                <a:latin typeface="Consolas"/>
              </a:rPr>
              <a:t>pymc-marketing </a:t>
            </a:r>
            <a:r>
              <a:rPr sz="1300" b="0" lang="en-GB">
                <a:solidFill>
                  <a:schemeClr val="tx1"/>
                </a:solidFill>
              </a:rPr>
              <a:t>Bayesian MMM</a:t>
            </a:r>
          </a:p>
        </p:txBody>
      </p:sp>
      <p:sp>
        <p:nvSpPr>
          <p:cNvPr id="27" name="Kit arrow 3"/>
          <p:cNvSpPr/>
          <p:nvPr/>
        </p:nvSpPr>
        <p:spPr>
          <a:xfrm>
            <a:off x="657682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it card 4 body"/>
          <p:cNvSpPr/>
          <p:nvPr/>
        </p:nvSpPr>
        <p:spPr>
          <a:xfrm>
            <a:off x="673227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it card 4 header"/>
          <p:cNvSpPr/>
          <p:nvPr/>
        </p:nvSpPr>
        <p:spPr>
          <a:xfrm>
            <a:off x="673227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it card 4 heading"/>
          <p:cNvSpPr txBox="1"/>
          <p:nvPr/>
        </p:nvSpPr>
        <p:spPr>
          <a:xfrm>
            <a:off x="686943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4  Report</a:t>
            </a:r>
          </a:p>
        </p:txBody>
      </p:sp>
      <p:pic>
        <p:nvPicPr>
          <p:cNvPr id="31" name="Icon Kit card 4" descr=""/>
          <p:cNvPicPr>
            <a:picLocks noChangeAspect="1"/>
          </p:cNvPicPr>
          <p:nvPr/>
        </p:nvPicPr>
        <p:blipFill>
          <a:blip r:embed="rId6"/>
          <a:stretch>
            <a:fillRect/>
          </a:stretch>
        </p:blipFill>
        <p:spPr>
          <a:xfrm>
            <a:off x="8247888" y="1307592"/>
            <a:ext cx="310896" cy="310896"/>
          </a:xfrm>
          <a:prstGeom prst="rect">
            <a:avLst/>
          </a:prstGeom>
        </p:spPr>
      </p:pic>
      <p:sp>
        <p:nvSpPr>
          <p:cNvPr id="32" name="Kit card 4 text"/>
          <p:cNvSpPr txBox="1"/>
          <p:nvPr/>
        </p:nvSpPr>
        <p:spPr>
          <a:xfrm>
            <a:off x="689686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great_tables </a:t>
            </a:r>
            <a:r>
              <a:rPr sz="1300" b="0" lang="en-GB">
                <a:solidFill>
                  <a:schemeClr val="tx1"/>
                </a:solidFill>
              </a:rPr>
              <a:t>tables</a:t>
            </a:r>
          </a:p>
          <a:p>
            <a:pPr algn="l">
              <a:spcAft>
                <a:spcPts val="600"/>
              </a:spcAft>
            </a:pPr>
            <a:r>
              <a:rPr sz="1300" b="1" lang="en-GB">
                <a:solidFill>
                  <a:schemeClr val="tx2"/>
                </a:solidFill>
                <a:latin typeface="Consolas"/>
              </a:rPr>
              <a:t>Quarto </a:t>
            </a:r>
            <a:r>
              <a:rPr sz="1300" b="0" lang="en-GB">
                <a:solidFill>
                  <a:schemeClr val="tx1"/>
                </a:solidFill>
              </a:rPr>
              <a:t>documents</a:t>
            </a:r>
          </a:p>
        </p:txBody>
      </p:sp>
      <p:sp>
        <p:nvSpPr>
          <p:cNvPr id="33" name="Kit fact 1"/>
          <p:cNvSpPr/>
          <p:nvPr/>
        </p:nvSpPr>
        <p:spPr>
          <a:xfrm>
            <a:off x="45720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it fact bar 1"/>
          <p:cNvSpPr/>
          <p:nvPr/>
        </p:nvSpPr>
        <p:spPr>
          <a:xfrm>
            <a:off x="45720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it fact text 1"/>
          <p:cNvSpPr txBox="1"/>
          <p:nvPr/>
        </p:nvSpPr>
        <p:spPr>
          <a:xfrm>
            <a:off x="68580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22</a:t>
            </a:r>
          </a:p>
          <a:p>
            <a:pPr algn="l">
              <a:spcAft>
                <a:spcPts val="0"/>
              </a:spcAft>
            </a:pPr>
            <a:r>
              <a:rPr sz="1300" b="0" lang="en-GB">
                <a:solidFill>
                  <a:schemeClr val="tx1"/>
                </a:solidFill>
              </a:rPr>
              <a:t>packages pinned in requirements.txt</a:t>
            </a:r>
          </a:p>
        </p:txBody>
      </p:sp>
      <p:sp>
        <p:nvSpPr>
          <p:cNvPr id="36" name="Kit fact 2"/>
          <p:cNvSpPr/>
          <p:nvPr/>
        </p:nvSpPr>
        <p:spPr>
          <a:xfrm>
            <a:off x="324612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it fact bar 2"/>
          <p:cNvSpPr/>
          <p:nvPr/>
        </p:nvSpPr>
        <p:spPr>
          <a:xfrm>
            <a:off x="324612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it fact text 2"/>
          <p:cNvSpPr txBox="1"/>
          <p:nvPr/>
        </p:nvSpPr>
        <p:spPr>
          <a:xfrm>
            <a:off x="347472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1</a:t>
            </a:r>
          </a:p>
          <a:p>
            <a:pPr algn="l">
              <a:spcAft>
                <a:spcPts val="0"/>
              </a:spcAft>
            </a:pPr>
            <a:r>
              <a:rPr sz="1300" b="0" lang="en-GB">
                <a:solidFill>
                  <a:schemeClr val="tx1"/>
                </a:solidFill>
              </a:rPr>
              <a:t>command installs them all</a:t>
            </a:r>
          </a:p>
        </p:txBody>
      </p:sp>
      <p:sp>
        <p:nvSpPr>
          <p:cNvPr id="39" name="Kit fact 3"/>
          <p:cNvSpPr/>
          <p:nvPr/>
        </p:nvSpPr>
        <p:spPr>
          <a:xfrm>
            <a:off x="603504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it fact bar 3"/>
          <p:cNvSpPr/>
          <p:nvPr/>
        </p:nvSpPr>
        <p:spPr>
          <a:xfrm>
            <a:off x="603504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it fact text 3"/>
          <p:cNvSpPr txBox="1"/>
          <p:nvPr/>
        </p:nvSpPr>
        <p:spPr>
          <a:xfrm>
            <a:off x="626364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0</a:t>
            </a:r>
          </a:p>
          <a:p>
            <a:pPr algn="l">
              <a:spcAft>
                <a:spcPts val="0"/>
              </a:spcAft>
            </a:pPr>
            <a:r>
              <a:rPr sz="1300" b="0" lang="en-GB">
                <a:solidFill>
                  <a:schemeClr val="tx1"/>
                </a:solidFill>
              </a:rPr>
              <a:t>euros: all open source</a:t>
            </a:r>
          </a:p>
        </p:txBody>
      </p:sp>
      <p:sp>
        <p:nvSpPr>
          <p:cNvPr id="42" name="Older tools box"/>
          <p:cNvSpPr/>
          <p:nvPr/>
        </p:nvSpPr>
        <p:spPr>
          <a:xfrm>
            <a:off x="457200" y="434340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Older tools" descr=""/>
          <p:cNvPicPr>
            <a:picLocks noChangeAspect="1"/>
          </p:cNvPicPr>
          <p:nvPr/>
        </p:nvPicPr>
        <p:blipFill>
          <a:blip r:embed="rId7"/>
          <a:stretch>
            <a:fillRect/>
          </a:stretch>
        </p:blipFill>
        <p:spPr>
          <a:xfrm>
            <a:off x="658368" y="4517136"/>
            <a:ext cx="384048" cy="384048"/>
          </a:xfrm>
          <a:prstGeom prst="rect">
            <a:avLst/>
          </a:prstGeom>
        </p:spPr>
      </p:pic>
      <p:sp>
        <p:nvSpPr>
          <p:cNvPr id="44" name="Older tools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Online you will also meet pandas and matplotlib: </a:t>
            </a:r>
            <a:r>
              <a:rPr sz="1300" b="0" lang="en-GB">
                <a:solidFill>
                  <a:schemeClr val="tx1"/>
                </a:solidFill>
              </a:rPr>
              <a:t>older but common; the ideas carry over.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polars: data wrangling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lar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lar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Revenue and TV spend per country, 2025</a:t>
            </a:r>
          </a:p>
        </p:txBody>
      </p:sp>
      <p:sp>
        <p:nvSpPr>
          <p:cNvPr id="12" name="Polars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lars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                    try_parse_dates=True)</a:t>
            </a:r>
          </a:p>
          <a:p>
            <a:pPr algn="l">
              <a:spcAft>
                <a:spcPts val="0"/>
              </a:spcAft>
            </a:pPr>
            <a:r>
              <a:rPr sz="1050" b="0" lang="en-GB">
                <a:solidFill>
                  <a:schemeClr val="bg1"/>
                </a:solidFill>
                <a:latin typeface="Consolas"/>
              </a:rPr>
              <a:t>summary = (</a:t>
            </a:r>
          </a:p>
          <a:p>
            <a:pPr algn="l">
              <a:spcAft>
                <a:spcPts val="0"/>
              </a:spcAft>
            </a:pPr>
            <a:r>
              <a:rPr sz="1050" b="0" lang="en-GB">
                <a:solidFill>
                  <a:schemeClr val="bg1"/>
                </a:solidFill>
                <a:latin typeface="Consolas"/>
              </a:rPr>
              <a:t>    sales</a:t>
            </a:r>
          </a:p>
          <a:p>
            <a:pPr algn="l">
              <a:spcAft>
                <a:spcPts val="0"/>
              </a:spcAft>
            </a:pPr>
            <a:r>
              <a:rPr sz="1050" b="0" lang="en-GB">
                <a:solidFill>
                  <a:schemeClr val="bg1"/>
                </a:solidFill>
                <a:latin typeface="Consolas"/>
              </a:rPr>
              <a:t>    .filter(pl.col("week").dt.year() == 2025)</a:t>
            </a:r>
          </a:p>
          <a:p>
            <a:pPr algn="l">
              <a:spcAft>
                <a:spcPts val="0"/>
              </a:spcAft>
            </a:pPr>
            <a:r>
              <a:rPr sz="1050" b="0" lang="en-GB">
                <a:solidFill>
                  <a:schemeClr val="bg1"/>
                </a:solidFill>
                <a:latin typeface="Consolas"/>
              </a:rPr>
              <a:t>    .group_by("country")</a:t>
            </a:r>
          </a:p>
          <a:p>
            <a:pPr algn="l">
              <a:spcAft>
                <a:spcPts val="0"/>
              </a:spcAft>
            </a:pPr>
            <a:r>
              <a:rPr sz="1050" b="0" lang="en-GB">
                <a:solidFill>
                  <a:schemeClr val="bg1"/>
                </a:solidFill>
                <a:latin typeface="Consolas"/>
              </a:rPr>
              <a:t>    .agg(pl.col("revenue_eur_k").sum().alias("revenue"),</a:t>
            </a:r>
          </a:p>
          <a:p>
            <a:pPr algn="l">
              <a:spcAft>
                <a:spcPts val="0"/>
              </a:spcAft>
            </a:pPr>
            <a:r>
              <a:rPr sz="1050" b="0" lang="en-GB">
                <a:solidFill>
                  <a:schemeClr val="bg1"/>
                </a:solidFill>
                <a:latin typeface="Consolas"/>
              </a:rPr>
              <a:t>         pl.col("spend_tv_k").sum().alias("tv"))</a:t>
            </a:r>
          </a:p>
          <a:p>
            <a:pPr algn="l">
              <a:spcAft>
                <a:spcPts val="0"/>
              </a:spcAft>
            </a:pPr>
            <a:r>
              <a:rPr sz="1050" b="0" lang="en-GB">
                <a:solidFill>
                  <a:schemeClr val="bg1"/>
                </a:solidFill>
                <a:latin typeface="Consolas"/>
              </a:rPr>
              <a:t>    .sort("revenue", descending=True)</a:t>
            </a:r>
          </a:p>
          <a:p>
            <a:pPr algn="l">
              <a:spcAft>
                <a:spcPts val="0"/>
              </a:spcAft>
            </a:pPr>
            <a:r>
              <a:rPr sz="1050" b="0" lang="en-GB">
                <a:solidFill>
                  <a:schemeClr val="bg1"/>
                </a:solidFill>
                <a:latin typeface="Consolas"/>
              </a:rPr>
              <a:t>)</a:t>
            </a:r>
          </a:p>
        </p:txBody>
      </p:sp>
      <p:sp>
        <p:nvSpPr>
          <p:cNvPr id="14" name="Polars row 1"/>
          <p:cNvSpPr/>
          <p:nvPr/>
        </p:nvSpPr>
        <p:spPr>
          <a:xfrm>
            <a:off x="5577840" y="123444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lars bar 1"/>
          <p:cNvSpPr/>
          <p:nvPr/>
        </p:nvSpPr>
        <p:spPr>
          <a:xfrm>
            <a:off x="557784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olars text 1"/>
          <p:cNvSpPr txBox="1"/>
          <p:nvPr/>
        </p:nvSpPr>
        <p:spPr>
          <a:xfrm>
            <a:off x="5760720" y="123444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DataFrame: </a:t>
            </a:r>
            <a:r>
              <a:rPr sz="1200" b="0" lang="en-GB">
                <a:solidFill>
                  <a:schemeClr val="tx1"/>
                </a:solidFill>
              </a:rPr>
              <a:t>a table with typed columns</a:t>
            </a:r>
          </a:p>
        </p:txBody>
      </p:sp>
      <p:sp>
        <p:nvSpPr>
          <p:cNvPr id="17" name="Polars row 2"/>
          <p:cNvSpPr/>
          <p:nvPr/>
        </p:nvSpPr>
        <p:spPr>
          <a:xfrm>
            <a:off x="5577840" y="196596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olars bar 2"/>
          <p:cNvSpPr/>
          <p:nvPr/>
        </p:nvSpPr>
        <p:spPr>
          <a:xfrm>
            <a:off x="557784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lars text 2"/>
          <p:cNvSpPr txBox="1"/>
          <p:nvPr/>
        </p:nvSpPr>
        <p:spPr>
          <a:xfrm>
            <a:off x="5760720" y="196596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Expressions: </a:t>
            </a:r>
            <a:r>
              <a:rPr sz="1200" b="0" lang="en-GB">
                <a:solidFill>
                  <a:schemeClr val="tx1"/>
                </a:solidFill>
              </a:rPr>
              <a:t>pl.col("tv").sum() says what to compute</a:t>
            </a:r>
          </a:p>
        </p:txBody>
      </p:sp>
      <p:sp>
        <p:nvSpPr>
          <p:cNvPr id="20" name="Polars row 3"/>
          <p:cNvSpPr/>
          <p:nvPr/>
        </p:nvSpPr>
        <p:spPr>
          <a:xfrm>
            <a:off x="5577840" y="269748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lars bar 3"/>
          <p:cNvSpPr/>
          <p:nvPr/>
        </p:nvSpPr>
        <p:spPr>
          <a:xfrm>
            <a:off x="557784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olars text 3"/>
          <p:cNvSpPr txBox="1"/>
          <p:nvPr/>
        </p:nvSpPr>
        <p:spPr>
          <a:xfrm>
            <a:off x="5760720" y="269748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Chaining: </a:t>
            </a:r>
            <a:r>
              <a:rPr sz="1200" b="0" lang="en-GB">
                <a:solidFill>
                  <a:schemeClr val="tx1"/>
                </a:solidFill>
              </a:rPr>
              <a:t>one step per line, read top to bottom</a:t>
            </a:r>
          </a:p>
        </p:txBody>
      </p:sp>
      <p:sp>
        <p:nvSpPr>
          <p:cNvPr id="23" name="Polars row 4"/>
          <p:cNvSpPr/>
          <p:nvPr/>
        </p:nvSpPr>
        <p:spPr>
          <a:xfrm>
            <a:off x="5577840" y="342900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olars bar 4"/>
          <p:cNvSpPr/>
          <p:nvPr/>
        </p:nvSpPr>
        <p:spPr>
          <a:xfrm>
            <a:off x="557784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lars text 4"/>
          <p:cNvSpPr txBox="1"/>
          <p:nvPr/>
        </p:nvSpPr>
        <p:spPr>
          <a:xfrm>
            <a:off x="5760720" y="342900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Fast: </a:t>
            </a:r>
            <a:r>
              <a:rPr sz="1200" b="0" lang="en-GB">
                <a:solidFill>
                  <a:schemeClr val="tx1"/>
                </a:solidFill>
              </a:rPr>
              <a:t>multi-threaded, written in Rust</a:t>
            </a:r>
          </a:p>
        </p:txBody>
      </p:sp>
      <p:sp>
        <p:nvSpPr>
          <p:cNvPr id="26" name="Polars result box"/>
          <p:cNvSpPr/>
          <p:nvPr/>
        </p:nvSpPr>
        <p:spPr>
          <a:xfrm>
            <a:off x="457200" y="4206240"/>
            <a:ext cx="822960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olars result" descr=""/>
          <p:cNvPicPr>
            <a:picLocks noChangeAspect="1"/>
          </p:cNvPicPr>
          <p:nvPr/>
        </p:nvPicPr>
        <p:blipFill>
          <a:blip r:embed="rId3"/>
          <a:stretch>
            <a:fillRect/>
          </a:stretch>
        </p:blipFill>
        <p:spPr>
          <a:xfrm>
            <a:off x="658368" y="4448556"/>
            <a:ext cx="384048" cy="384048"/>
          </a:xfrm>
          <a:prstGeom prst="rect">
            <a:avLst/>
          </a:prstGeom>
        </p:spPr>
      </p:pic>
      <p:sp>
        <p:nvSpPr>
          <p:cNvPr id="28" name="Polars result text"/>
          <p:cNvSpPr txBox="1"/>
          <p:nvPr/>
        </p:nvSpPr>
        <p:spPr>
          <a:xfrm>
            <a:off x="1234440" y="4206240"/>
            <a:ext cx="7269480" cy="868680"/>
          </a:xfrm>
          <a:prstGeom prst="rect">
            <a:avLst/>
          </a:prstGeom>
          <a:noFill/>
        </p:spPr>
        <p:txBody>
          <a:bodyPr wrap="square" lIns="0" rIns="0" tIns="0" bIns="0" anchor="ctr">
            <a:noAutofit/>
          </a:bodyPr>
          <a:lstStyle/>
          <a:p>
            <a:pPr algn="l">
              <a:spcAft>
                <a:spcPts val="400"/>
              </a:spcAft>
            </a:pPr>
            <a:r>
              <a:rPr sz="1300" b="1" lang="en-GB">
                <a:solidFill>
                  <a:schemeClr val="tx2"/>
                </a:solidFill>
              </a:rPr>
              <a:t>Result: </a:t>
            </a:r>
            <a:r>
              <a:rPr sz="1300" b="0" lang="en-GB">
                <a:solidFill>
                  <a:schemeClr val="tx1"/>
                </a:solidFill>
              </a:rPr>
              <a:t>six rows, one per country. Germany leads with about EUR 131 million revenue in 2025. Need pandas? Add .to_pandas().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plotnine: charts with the grammar of graphics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nine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nine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Austria and Germany</a:t>
            </a:r>
          </a:p>
        </p:txBody>
      </p:sp>
      <p:sp>
        <p:nvSpPr>
          <p:cNvPr id="12" name="Plotnine code box"/>
          <p:cNvSpPr/>
          <p:nvPr/>
        </p:nvSpPr>
        <p:spPr>
          <a:xfrm>
            <a:off x="457200" y="1508760"/>
            <a:ext cx="420624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nine code code"/>
          <p:cNvSpPr txBox="1"/>
          <p:nvPr/>
        </p:nvSpPr>
        <p:spPr>
          <a:xfrm>
            <a:off x="594360" y="1600200"/>
            <a:ext cx="3931920" cy="19202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(ggplot(sales.filter(</a:t>
            </a:r>
          </a:p>
          <a:p>
            <a:pPr algn="l">
              <a:spcAft>
                <a:spcPts val="0"/>
              </a:spcAft>
            </a:pPr>
            <a:r>
              <a:rPr sz="1050" b="0" lang="en-GB">
                <a:solidFill>
                  <a:schemeClr val="bg1"/>
                </a:solidFill>
                <a:latin typeface="Consolas"/>
              </a:rPr>
              <a:t>         pl.col("country").is_in(["AT", "DE"])),</a:t>
            </a:r>
          </a:p>
          <a:p>
            <a:pPr algn="l">
              <a:spcAft>
                <a:spcPts val="0"/>
              </a:spcAft>
            </a:pPr>
            <a:r>
              <a:rPr sz="1050" b="0" lang="en-GB">
                <a:solidFill>
                  <a:schemeClr val="bg1"/>
                </a:solidFill>
                <a:latin typeface="Consolas"/>
              </a:rPr>
              <a:t>        aes(x="week", y="sales_units_k"))</a:t>
            </a:r>
          </a:p>
          <a:p>
            <a:pPr algn="l">
              <a:spcAft>
                <a:spcPts val="0"/>
              </a:spcAft>
            </a:pPr>
            <a:r>
              <a:rPr sz="1050" b="0" lang="en-GB">
                <a:solidFill>
                  <a:schemeClr val="bg1"/>
                </a:solidFill>
                <a:latin typeface="Consolas"/>
              </a:rPr>
              <a:t> + geom_line(color="#0096D3")</a:t>
            </a:r>
          </a:p>
          <a:p>
            <a:pPr algn="l">
              <a:spcAft>
                <a:spcPts val="0"/>
              </a:spcAft>
            </a:pPr>
            <a:r>
              <a:rPr sz="1050" b="0" lang="en-GB">
                <a:solidFill>
                  <a:schemeClr val="bg1"/>
                </a:solidFill>
                <a:latin typeface="Consolas"/>
              </a:rPr>
              <a:t> + facet_wrap("country")</a:t>
            </a:r>
          </a:p>
          <a:p>
            <a:pPr algn="l">
              <a:spcAft>
                <a:spcPts val="0"/>
              </a:spcAft>
            </a:pPr>
            <a:r>
              <a:rPr sz="1050" b="0" lang="en-GB">
                <a:solidFill>
                  <a:schemeClr val="bg1"/>
                </a:solidFill>
                <a:latin typeface="Consolas"/>
              </a:rPr>
              <a:t> + scale_x_date(date_breaks="1 year",</a:t>
            </a:r>
          </a:p>
          <a:p>
            <a:pPr algn="l">
              <a:spcAft>
                <a:spcPts val="0"/>
              </a:spcAft>
            </a:pPr>
            <a:r>
              <a:rPr sz="1050" b="0" lang="en-GB">
                <a:solidFill>
                  <a:schemeClr val="bg1"/>
                </a:solidFill>
                <a:latin typeface="Consolas"/>
              </a:rPr>
              <a:t>                date_labels="%Y")</a:t>
            </a:r>
          </a:p>
          <a:p>
            <a:pPr algn="l">
              <a:spcAft>
                <a:spcPts val="0"/>
              </a:spcAft>
            </a:pPr>
            <a:r>
              <a:rPr sz="1050" b="0" lang="en-GB">
                <a:solidFill>
                  <a:schemeClr val="bg1"/>
                </a:solidFill>
                <a:latin typeface="Consolas"/>
              </a:rPr>
              <a:t> + labs(x="", y="Sales (k units)")</a:t>
            </a:r>
          </a:p>
          <a:p>
            <a:pPr algn="l">
              <a:spcAft>
                <a:spcPts val="0"/>
              </a:spcAft>
            </a:pPr>
            <a:r>
              <a:rPr sz="1050" b="0" lang="en-GB">
                <a:solidFill>
                  <a:schemeClr val="bg1"/>
                </a:solidFill>
                <a:latin typeface="Consolas"/>
              </a:rPr>
              <a:t> + theme_minimal())</a:t>
            </a:r>
          </a:p>
        </p:txBody>
      </p:sp>
      <p:pic>
        <p:nvPicPr>
          <p:cNvPr id="14" name="Plotnine chart" descr="Line chart of weekly sales in thousand units, 2023 to 2025, Austria (about 100 to 200) and Germany (about 500 to 1,700), with a Christmas peak every year"/>
          <p:cNvPicPr>
            <a:picLocks noChangeAspect="1"/>
          </p:cNvPicPr>
          <p:nvPr/>
        </p:nvPicPr>
        <p:blipFill>
          <a:blip r:embed="rId3"/>
          <a:stretch>
            <a:fillRect/>
          </a:stretch>
        </p:blipFill>
        <p:spPr>
          <a:xfrm>
            <a:off x="4800600" y="1234440"/>
            <a:ext cx="3886200" cy="2072670"/>
          </a:xfrm>
          <a:prstGeom prst="rect">
            <a:avLst/>
          </a:prstGeom>
        </p:spPr>
      </p:pic>
      <p:sp>
        <p:nvSpPr>
          <p:cNvPr id="15" name="Chart caption"/>
          <p:cNvSpPr txBox="1"/>
          <p:nvPr/>
        </p:nvSpPr>
        <p:spPr>
          <a:xfrm>
            <a:off x="4800600" y="3337560"/>
            <a:ext cx="3886200" cy="274320"/>
          </a:xfrm>
          <a:prstGeom prst="rect">
            <a:avLst/>
          </a:prstGeom>
          <a:noFill/>
        </p:spPr>
        <p:txBody>
          <a:bodyPr wrap="square" lIns="0" rIns="0" tIns="0" bIns="0" anchor="t">
            <a:noAutofit/>
          </a:bodyPr>
          <a:lstStyle/>
          <a:p>
            <a:pPr algn="l">
              <a:spcAft>
                <a:spcPts val="400"/>
              </a:spcAft>
            </a:pPr>
            <a:r>
              <a:rPr sz="1100" b="0" lang="en-GB">
                <a:solidFill>
                  <a:srgbClr val="595959"/>
                </a:solidFill>
              </a:rPr>
              <a:t>The output of the code on the left</a:t>
            </a:r>
          </a:p>
        </p:txBody>
      </p:sp>
      <p:sp>
        <p:nvSpPr>
          <p:cNvPr id="16" name="Grammar chip 1"/>
          <p:cNvSpPr/>
          <p:nvPr/>
        </p:nvSpPr>
        <p:spPr>
          <a:xfrm>
            <a:off x="457200"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ammar text 1"/>
          <p:cNvSpPr txBox="1"/>
          <p:nvPr/>
        </p:nvSpPr>
        <p:spPr>
          <a:xfrm>
            <a:off x="548640"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ggplot()</a:t>
            </a:r>
          </a:p>
          <a:p>
            <a:pPr algn="ctr">
              <a:spcAft>
                <a:spcPts val="0"/>
              </a:spcAft>
            </a:pPr>
            <a:r>
              <a:rPr sz="1200" b="0" lang="en-GB">
                <a:solidFill>
                  <a:schemeClr val="tx1"/>
                </a:solidFill>
              </a:rPr>
              <a:t>the data</a:t>
            </a:r>
          </a:p>
        </p:txBody>
      </p:sp>
      <p:sp>
        <p:nvSpPr>
          <p:cNvPr id="18" name="Grammar chip 2"/>
          <p:cNvSpPr/>
          <p:nvPr/>
        </p:nvSpPr>
        <p:spPr>
          <a:xfrm>
            <a:off x="2121408"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rammar text 2"/>
          <p:cNvSpPr txBox="1"/>
          <p:nvPr/>
        </p:nvSpPr>
        <p:spPr>
          <a:xfrm>
            <a:off x="2212848"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aes()</a:t>
            </a:r>
          </a:p>
          <a:p>
            <a:pPr algn="ctr">
              <a:spcAft>
                <a:spcPts val="0"/>
              </a:spcAft>
            </a:pPr>
            <a:r>
              <a:rPr sz="1200" b="0" lang="en-GB">
                <a:solidFill>
                  <a:schemeClr val="tx1"/>
                </a:solidFill>
              </a:rPr>
              <a:t>columns to x, y</a:t>
            </a:r>
          </a:p>
        </p:txBody>
      </p:sp>
      <p:sp>
        <p:nvSpPr>
          <p:cNvPr id="20" name="Grammar chip 3"/>
          <p:cNvSpPr/>
          <p:nvPr/>
        </p:nvSpPr>
        <p:spPr>
          <a:xfrm>
            <a:off x="3785616"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ammar text 3"/>
          <p:cNvSpPr txBox="1"/>
          <p:nvPr/>
        </p:nvSpPr>
        <p:spPr>
          <a:xfrm>
            <a:off x="3877056"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geom_</a:t>
            </a:r>
          </a:p>
          <a:p>
            <a:pPr algn="ctr">
              <a:spcAft>
                <a:spcPts val="0"/>
              </a:spcAft>
            </a:pPr>
            <a:r>
              <a:rPr sz="1200" b="0" lang="en-GB">
                <a:solidFill>
                  <a:schemeClr val="tx1"/>
                </a:solidFill>
              </a:rPr>
              <a:t>the marks</a:t>
            </a:r>
          </a:p>
        </p:txBody>
      </p:sp>
      <p:sp>
        <p:nvSpPr>
          <p:cNvPr id="22" name="Grammar chip 4"/>
          <p:cNvSpPr/>
          <p:nvPr/>
        </p:nvSpPr>
        <p:spPr>
          <a:xfrm>
            <a:off x="5449824"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rammar text 4"/>
          <p:cNvSpPr txBox="1"/>
          <p:nvPr/>
        </p:nvSpPr>
        <p:spPr>
          <a:xfrm>
            <a:off x="5541264"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facet_</a:t>
            </a:r>
          </a:p>
          <a:p>
            <a:pPr algn="ctr">
              <a:spcAft>
                <a:spcPts val="0"/>
              </a:spcAft>
            </a:pPr>
            <a:r>
              <a:rPr sz="1200" b="0" lang="en-GB">
                <a:solidFill>
                  <a:schemeClr val="tx1"/>
                </a:solidFill>
              </a:rPr>
              <a:t>one panel per group</a:t>
            </a:r>
          </a:p>
        </p:txBody>
      </p:sp>
      <p:sp>
        <p:nvSpPr>
          <p:cNvPr id="24" name="Grammar chip 5"/>
          <p:cNvSpPr/>
          <p:nvPr/>
        </p:nvSpPr>
        <p:spPr>
          <a:xfrm>
            <a:off x="7114032"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rammar text 5"/>
          <p:cNvSpPr txBox="1"/>
          <p:nvPr/>
        </p:nvSpPr>
        <p:spPr>
          <a:xfrm>
            <a:off x="7205472"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theme_</a:t>
            </a:r>
          </a:p>
          <a:p>
            <a:pPr algn="ctr">
              <a:spcAft>
                <a:spcPts val="0"/>
              </a:spcAft>
            </a:pPr>
            <a:r>
              <a:rPr sz="1200" b="0" lang="en-GB">
                <a:solidFill>
                  <a:schemeClr val="tx1"/>
                </a:solidFill>
              </a:rPr>
              <a:t>the look</a:t>
            </a:r>
          </a:p>
        </p:txBody>
      </p:sp>
      <p:sp>
        <p:nvSpPr>
          <p:cNvPr id="26" name="Grammar note"/>
          <p:cNvSpPr txBox="1"/>
          <p:nvPr/>
        </p:nvSpPr>
        <p:spPr>
          <a:xfrm>
            <a:off x="457200" y="4663440"/>
            <a:ext cx="822960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Data + mapping + marks + panels + theme: </a:t>
            </a:r>
            <a:r>
              <a:rPr sz="1300" b="0" lang="en-GB">
                <a:solidFill>
                  <a:schemeClr val="tx1"/>
                </a:solidFill>
              </a:rPr>
              <a:t>each + adds one layer.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Great Tables: tables for reports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T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T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polars summary as a table</a:t>
            </a:r>
          </a:p>
        </p:txBody>
      </p:sp>
      <p:sp>
        <p:nvSpPr>
          <p:cNvPr id="12" name="GT code box"/>
          <p:cNvSpPr/>
          <p:nvPr/>
        </p:nvSpPr>
        <p:spPr>
          <a:xfrm>
            <a:off x="457200" y="1508760"/>
            <a:ext cx="475488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T code code"/>
          <p:cNvSpPr txBox="1"/>
          <p:nvPr/>
        </p:nvSpPr>
        <p:spPr>
          <a:xfrm>
            <a:off x="594360" y="1600200"/>
            <a:ext cx="4480560" cy="1371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from great_tables import GT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(GT(summary)</a:t>
            </a:r>
          </a:p>
          <a:p>
            <a:pPr algn="l">
              <a:spcAft>
                <a:spcPts val="0"/>
              </a:spcAft>
            </a:pPr>
            <a:r>
              <a:rPr sz="1050" b="0" lang="en-GB">
                <a:solidFill>
                  <a:schemeClr val="bg1"/>
                </a:solidFill>
                <a:latin typeface="Consolas"/>
              </a:rPr>
              <a:t> .tab_header(title="Revenue and TV spend, 2025")</a:t>
            </a:r>
          </a:p>
          <a:p>
            <a:pPr algn="l">
              <a:spcAft>
                <a:spcPts val="0"/>
              </a:spcAft>
            </a:pPr>
            <a:r>
              <a:rPr sz="1050" b="0" lang="en-GB">
                <a:solidFill>
                  <a:schemeClr val="bg1"/>
                </a:solidFill>
                <a:latin typeface="Consolas"/>
              </a:rPr>
              <a:t> .fmt_number(columns=["revenue", "tv"], decimals=0)</a:t>
            </a:r>
          </a:p>
          <a:p>
            <a:pPr algn="l">
              <a:spcAft>
                <a:spcPts val="0"/>
              </a:spcAft>
            </a:pPr>
            <a:r>
              <a:rPr sz="1050" b="0" lang="en-GB">
                <a:solidFill>
                  <a:schemeClr val="bg1"/>
                </a:solidFill>
                <a:latin typeface="Consolas"/>
              </a:rPr>
              <a:t> .cols_label(country="Country",</a:t>
            </a:r>
          </a:p>
          <a:p>
            <a:pPr algn="l">
              <a:spcAft>
                <a:spcPts val="0"/>
              </a:spcAft>
            </a:pPr>
            <a:r>
              <a:rPr sz="1050" b="0" lang="en-GB">
                <a:solidFill>
                  <a:schemeClr val="bg1"/>
                </a:solidFill>
                <a:latin typeface="Consolas"/>
              </a:rPr>
              <a:t>             revenue="Revenue (k EUR)",</a:t>
            </a:r>
          </a:p>
          <a:p>
            <a:pPr algn="l">
              <a:spcAft>
                <a:spcPts val="0"/>
              </a:spcAft>
            </a:pPr>
            <a:r>
              <a:rPr sz="1050" b="0" lang="en-GB">
                <a:solidFill>
                  <a:schemeClr val="bg1"/>
                </a:solidFill>
                <a:latin typeface="Consolas"/>
              </a:rPr>
              <a:t>             tv="TV spend (k EUR)"))</a:t>
            </a:r>
          </a:p>
        </p:txBody>
      </p:sp>
      <p:pic>
        <p:nvPicPr>
          <p:cNvPr id="14" name="Great Tables output" descr="Table of revenue and TV spend in 2025 by country, Germany first with 130,650 thousand euros revenue"/>
          <p:cNvPicPr>
            <a:picLocks noChangeAspect="1"/>
          </p:cNvPicPr>
          <p:nvPr/>
        </p:nvPicPr>
        <p:blipFill>
          <a:blip r:embed="rId3"/>
          <a:stretch>
            <a:fillRect/>
          </a:stretch>
        </p:blipFill>
        <p:spPr>
          <a:xfrm>
            <a:off x="5486400" y="1234440"/>
            <a:ext cx="2926080" cy="2417909"/>
          </a:xfrm>
          <a:prstGeom prst="rect">
            <a:avLst/>
          </a:prstGeom>
        </p:spPr>
      </p:pic>
      <p:sp>
        <p:nvSpPr>
          <p:cNvPr id="15" name="GT row 1"/>
          <p:cNvSpPr/>
          <p:nvPr/>
        </p:nvSpPr>
        <p:spPr>
          <a:xfrm>
            <a:off x="457200" y="3246120"/>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T bar 1"/>
          <p:cNvSpPr/>
          <p:nvPr/>
        </p:nvSpPr>
        <p:spPr>
          <a:xfrm>
            <a:off x="457200" y="324612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T text 1"/>
          <p:cNvSpPr txBox="1"/>
          <p:nvPr/>
        </p:nvSpPr>
        <p:spPr>
          <a:xfrm>
            <a:off x="658368" y="3246120"/>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Header and labels: </a:t>
            </a:r>
            <a:r>
              <a:rPr sz="1200" b="0" lang="en-GB">
                <a:solidFill>
                  <a:schemeClr val="tx1"/>
                </a:solidFill>
              </a:rPr>
              <a:t>readable names instead of column codes</a:t>
            </a:r>
          </a:p>
        </p:txBody>
      </p:sp>
      <p:sp>
        <p:nvSpPr>
          <p:cNvPr id="18" name="GT row 2"/>
          <p:cNvSpPr/>
          <p:nvPr/>
        </p:nvSpPr>
        <p:spPr>
          <a:xfrm>
            <a:off x="457200" y="3867912"/>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T bar 2"/>
          <p:cNvSpPr/>
          <p:nvPr/>
        </p:nvSpPr>
        <p:spPr>
          <a:xfrm>
            <a:off x="457200" y="386791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T text 2"/>
          <p:cNvSpPr txBox="1"/>
          <p:nvPr/>
        </p:nvSpPr>
        <p:spPr>
          <a:xfrm>
            <a:off x="658368" y="3867912"/>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Number formats: </a:t>
            </a:r>
            <a:r>
              <a:rPr sz="1200" b="0" lang="en-GB">
                <a:solidFill>
                  <a:schemeClr val="tx1"/>
                </a:solidFill>
              </a:rPr>
              <a:t>thousands separators, currency, percent</a:t>
            </a:r>
          </a:p>
        </p:txBody>
      </p:sp>
      <p:sp>
        <p:nvSpPr>
          <p:cNvPr id="21" name="GT row 3"/>
          <p:cNvSpPr/>
          <p:nvPr/>
        </p:nvSpPr>
        <p:spPr>
          <a:xfrm>
            <a:off x="457200" y="4489704"/>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T bar 3"/>
          <p:cNvSpPr/>
          <p:nvPr/>
        </p:nvSpPr>
        <p:spPr>
          <a:xfrm>
            <a:off x="457200" y="448970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T text 3"/>
          <p:cNvSpPr txBox="1"/>
          <p:nvPr/>
        </p:nvSpPr>
        <p:spPr>
          <a:xfrm>
            <a:off x="658368" y="4489704"/>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 polars </a:t>
            </a:r>
            <a:r>
              <a:rPr sz="1200" b="0" lang="en-GB">
                <a:solidFill>
                  <a:schemeClr val="tx1"/>
                </a:solidFill>
              </a:rPr>
              <a:t>and pandas; renders in Quarto reports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statsmodels: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in Austria, 2023 to 2025</a:t>
            </a:r>
          </a:p>
        </p:txBody>
      </p:sp>
      <p:sp>
        <p:nvSpPr>
          <p:cNvPr id="12" name="OLS code box"/>
          <p:cNvSpPr/>
          <p:nvPr/>
        </p:nvSpPr>
        <p:spPr>
          <a:xfrm>
            <a:off x="457200" y="1508760"/>
            <a:ext cx="49377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LS code code"/>
          <p:cNvSpPr txBox="1"/>
          <p:nvPr/>
        </p:nvSpPr>
        <p:spPr>
          <a:xfrm>
            <a:off x="594360" y="1600200"/>
            <a:ext cx="46634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at = sales.filter(pl.col("country") == "AT").to_pandas()</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"sales_units_k ~ price_eur + spend_tv_k"</a:t>
            </a:r>
          </a:p>
          <a:p>
            <a:pPr algn="l">
              <a:spcAft>
                <a:spcPts val="0"/>
              </a:spcAft>
            </a:pPr>
            <a:r>
              <a:rPr sz="1050" b="0" lang="en-GB">
                <a:solidFill>
                  <a:schemeClr val="bg1"/>
                </a:solidFill>
                <a:latin typeface="Consolas"/>
              </a:rPr>
              <a:t>    " + spend_paid_search_k",</a:t>
            </a:r>
          </a:p>
          <a:p>
            <a:pPr algn="l">
              <a:spcAft>
                <a:spcPts val="0"/>
              </a:spcAft>
            </a:pPr>
            <a:r>
              <a:rPr sz="1050" b="0" lang="en-GB">
                <a:solidFill>
                  <a:schemeClr val="bg1"/>
                </a:solidFill>
                <a:latin typeface="Consolas"/>
              </a:rPr>
              <a:t>    data=at).fit()</a:t>
            </a:r>
          </a:p>
          <a:p>
            <a:pPr algn="l">
              <a:spcAft>
                <a:spcPts val="0"/>
              </a:spcAft>
            </a:pPr>
            <a:r>
              <a:rPr sz="1050" b="0" lang="en-GB">
                <a:solidFill>
                  <a:schemeClr val="bg1"/>
                </a:solidFill>
                <a:latin typeface="Consolas"/>
              </a:rPr>
              <a:t>print(model.summary())</a:t>
            </a:r>
          </a:p>
        </p:txBody>
      </p:sp>
      <p:sp>
        <p:nvSpPr>
          <p:cNvPr id="14" name="Coefficient panel"/>
          <p:cNvSpPr/>
          <p:nvPr/>
        </p:nvSpPr>
        <p:spPr>
          <a:xfrm>
            <a:off x="5577840" y="1234440"/>
            <a:ext cx="31089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ef name 1"/>
          <p:cNvSpPr txBox="1"/>
          <p:nvPr/>
        </p:nvSpPr>
        <p:spPr>
          <a:xfrm>
            <a:off x="5715000" y="1325880"/>
            <a:ext cx="2011680" cy="338328"/>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a:t>
            </a:r>
          </a:p>
        </p:txBody>
      </p:sp>
      <p:sp>
        <p:nvSpPr>
          <p:cNvPr id="16" name="Coef value 1"/>
          <p:cNvSpPr txBox="1"/>
          <p:nvPr/>
        </p:nvSpPr>
        <p:spPr>
          <a:xfrm>
            <a:off x="7635240" y="1325880"/>
            <a:ext cx="914400" cy="338328"/>
          </a:xfrm>
          <a:prstGeom prst="rect">
            <a:avLst/>
          </a:prstGeom>
          <a:noFill/>
        </p:spPr>
        <p:txBody>
          <a:bodyPr wrap="square" lIns="0" rIns="0" tIns="0" bIns="0" anchor="ctr">
            <a:noAutofit/>
          </a:bodyPr>
          <a:lstStyle/>
          <a:p>
            <a:pPr algn="r">
              <a:spcAft>
                <a:spcPts val="400"/>
              </a:spcAft>
            </a:pPr>
            <a:r>
              <a:rPr sz="1200" b="1" lang="en-GB">
                <a:solidFill>
                  <a:schemeClr val="tx2"/>
                </a:solidFill>
              </a:rPr>
              <a:t>Estimate</a:t>
            </a:r>
          </a:p>
        </p:txBody>
      </p:sp>
      <p:sp>
        <p:nvSpPr>
          <p:cNvPr id="17" name="Coef name 2"/>
          <p:cNvSpPr txBox="1"/>
          <p:nvPr/>
        </p:nvSpPr>
        <p:spPr>
          <a:xfrm>
            <a:off x="5715000" y="1664208"/>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Intercept</a:t>
            </a:r>
          </a:p>
        </p:txBody>
      </p:sp>
      <p:sp>
        <p:nvSpPr>
          <p:cNvPr id="18" name="Coef value 2"/>
          <p:cNvSpPr txBox="1"/>
          <p:nvPr/>
        </p:nvSpPr>
        <p:spPr>
          <a:xfrm>
            <a:off x="7635240" y="1664208"/>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250.63</a:t>
            </a:r>
          </a:p>
        </p:txBody>
      </p:sp>
      <p:sp>
        <p:nvSpPr>
          <p:cNvPr id="19" name="Coef name 3"/>
          <p:cNvSpPr txBox="1"/>
          <p:nvPr/>
        </p:nvSpPr>
        <p:spPr>
          <a:xfrm>
            <a:off x="5715000" y="2002536"/>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price_eur</a:t>
            </a:r>
          </a:p>
        </p:txBody>
      </p:sp>
      <p:sp>
        <p:nvSpPr>
          <p:cNvPr id="20" name="Coef value 3"/>
          <p:cNvSpPr txBox="1"/>
          <p:nvPr/>
        </p:nvSpPr>
        <p:spPr>
          <a:xfrm>
            <a:off x="7635240" y="2002536"/>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−48.31</a:t>
            </a:r>
          </a:p>
        </p:txBody>
      </p:sp>
      <p:sp>
        <p:nvSpPr>
          <p:cNvPr id="21" name="Coef name 4"/>
          <p:cNvSpPr txBox="1"/>
          <p:nvPr/>
        </p:nvSpPr>
        <p:spPr>
          <a:xfrm>
            <a:off x="5715000" y="2340864"/>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spend_tv_k</a:t>
            </a:r>
          </a:p>
        </p:txBody>
      </p:sp>
      <p:sp>
        <p:nvSpPr>
          <p:cNvPr id="22" name="Coef value 4"/>
          <p:cNvSpPr txBox="1"/>
          <p:nvPr/>
        </p:nvSpPr>
        <p:spPr>
          <a:xfrm>
            <a:off x="7635240" y="2340864"/>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0.41</a:t>
            </a:r>
          </a:p>
        </p:txBody>
      </p:sp>
      <p:sp>
        <p:nvSpPr>
          <p:cNvPr id="23" name="Coef name 5"/>
          <p:cNvSpPr txBox="1"/>
          <p:nvPr/>
        </p:nvSpPr>
        <p:spPr>
          <a:xfrm>
            <a:off x="5715000" y="2679192"/>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spend_paid_search_k</a:t>
            </a:r>
          </a:p>
        </p:txBody>
      </p:sp>
      <p:sp>
        <p:nvSpPr>
          <p:cNvPr id="24" name="Coef value 5"/>
          <p:cNvSpPr txBox="1"/>
          <p:nvPr/>
        </p:nvSpPr>
        <p:spPr>
          <a:xfrm>
            <a:off x="7635240" y="2679192"/>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4.03</a:t>
            </a:r>
          </a:p>
        </p:txBody>
      </p:sp>
      <p:sp>
        <p:nvSpPr>
          <p:cNvPr id="25" name="Coef name 6"/>
          <p:cNvSpPr txBox="1"/>
          <p:nvPr/>
        </p:nvSpPr>
        <p:spPr>
          <a:xfrm>
            <a:off x="5715000" y="3017520"/>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R²  (n = 156)</a:t>
            </a:r>
          </a:p>
        </p:txBody>
      </p:sp>
      <p:sp>
        <p:nvSpPr>
          <p:cNvPr id="26" name="Coef value 6"/>
          <p:cNvSpPr txBox="1"/>
          <p:nvPr/>
        </p:nvSpPr>
        <p:spPr>
          <a:xfrm>
            <a:off x="7635240" y="3017520"/>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0.43</a:t>
            </a:r>
          </a:p>
        </p:txBody>
      </p:sp>
      <p:sp>
        <p:nvSpPr>
          <p:cNvPr id="27" name="OLS reading box"/>
          <p:cNvSpPr/>
          <p:nvPr/>
        </p:nvSpPr>
        <p:spPr>
          <a:xfrm>
            <a:off x="457200" y="361188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OLS reading" descr=""/>
          <p:cNvPicPr>
            <a:picLocks noChangeAspect="1"/>
          </p:cNvPicPr>
          <p:nvPr/>
        </p:nvPicPr>
        <p:blipFill>
          <a:blip r:embed="rId3"/>
          <a:stretch>
            <a:fillRect/>
          </a:stretch>
        </p:blipFill>
        <p:spPr>
          <a:xfrm>
            <a:off x="658368" y="3785616"/>
            <a:ext cx="384048" cy="384048"/>
          </a:xfrm>
          <a:prstGeom prst="rect">
            <a:avLst/>
          </a:prstGeom>
        </p:spPr>
      </p:pic>
      <p:sp>
        <p:nvSpPr>
          <p:cNvPr id="29" name="OLS reading text"/>
          <p:cNvSpPr txBox="1"/>
          <p:nvPr/>
        </p:nvSpPr>
        <p:spPr>
          <a:xfrm>
            <a:off x="1234440" y="361188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Reading it: </a:t>
            </a:r>
            <a:r>
              <a:rPr sz="1300" b="0" lang="en-GB">
                <a:solidFill>
                  <a:schemeClr val="tx1"/>
                </a:solidFill>
              </a:rPr>
              <a:t>EUR 1,000 more paid search in a week goes with about 4,000 more units sold, holding price and TV constant.</a:t>
            </a:r>
          </a:p>
        </p:txBody>
      </p:sp>
      <p:sp>
        <p:nvSpPr>
          <p:cNvPr id="30" name="Later note"/>
          <p:cNvSpPr txBox="1"/>
          <p:nvPr/>
        </p:nvSpPr>
        <p:spPr>
          <a:xfrm>
            <a:off x="457200" y="4480560"/>
            <a:ext cx="82296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Later in the course: </a:t>
            </a:r>
            <a:r>
              <a:rPr sz="1300" b="0" lang="en-GB">
                <a:solidFill>
                  <a:schemeClr val="tx1"/>
                </a:solidFill>
              </a:rPr>
              <a:t>scikit-learn for logistic regression and pymc-marketing for Bayesian MMM.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2966720"/>
        </p:xfrm>
        <a:graphic>
          <a:graphicData uri="http://schemas.openxmlformats.org/drawingml/2006/table">
            <a:tbl>
              <a:tblPr firstRow="1" bandRow="1">
                <a:tableStyleId>{5C22544A-7EE6-4342-B048-85BDC9FD1C3A}</a:tableStyleId>
              </a:tblPr>
              <a:tblGrid>
                <a:gridCol w="3108960"/>
                <a:gridCol w="5120640"/>
              </a:tblGrid>
              <a:tr h="370840">
                <a:tc>
                  <a:txBody>
                    <a:bodyPr/>
                    <a:lstStyle/>
                    <a:p>
                      <a:r>
                        <a:rPr sz="1500" lang="en-GB"/>
                        <a:t>Problem</a:t>
                      </a:r>
                    </a:p>
                  </a:txBody>
                  <a:tcPr marT="54000" marB="54000"/>
                </a:tc>
                <a:tc>
                  <a:txBody>
                    <a:bodyPr/>
                    <a:lstStyle/>
                    <a:p>
                      <a:r>
                        <a:rPr sz="1500" lang="en-GB"/>
                        <a:t>Fix</a:t>
                      </a:r>
                    </a:p>
                  </a:txBody>
                  <a:tcPr marT="54000" marB="54000"/>
                </a:tc>
              </a:tr>
              <a:tr h="370840">
                <a:tc>
                  <a:txBody>
                    <a:bodyPr/>
                    <a:lstStyle/>
                    <a:p>
                      <a:r>
                        <a:rPr sz="1300" b="1" lang="en-GB"/>
                        <a:t>Windows: python or py is not recognised</a:t>
                      </a:r>
                    </a:p>
                  </a:txBody>
                  <a:tcPr marT="54000" marB="54000"/>
                </a:tc>
                <a:tc>
                  <a:txBody>
                    <a:bodyPr/>
                    <a:lstStyle/>
                    <a:p>
                      <a:r>
                        <a:rPr sz="1300" lang="en-GB"/>
                        <a:t>Reinstall the Python install manager, then run py install 3.14</a:t>
                      </a:r>
                    </a:p>
                  </a:txBody>
                  <a:tcPr marT="54000" marB="54000"/>
                </a:tc>
              </a:tr>
              <a:tr h="370840">
                <a:tc>
                  <a:txBody>
                    <a:bodyPr/>
                    <a:lstStyle/>
                    <a:p>
                      <a:r>
                        <a:rPr sz="1300" b="1" lang="en-GB"/>
                        <a:t>No .venv in the Interpreter picker</a:t>
                      </a:r>
                    </a:p>
                  </a:txBody>
                  <a:tcPr marT="54000" marB="54000"/>
                </a:tc>
                <a:tc>
                  <a:txBody>
                    <a:bodyPr/>
                    <a:lstStyle/>
                    <a:p>
                      <a:r>
                        <a:rPr sz="1300" lang="en-GB"/>
                        <a:t>Open the course folder, not a single file; then pick Python 3.14.8 (.venv)</a:t>
                      </a:r>
                    </a:p>
                  </a:txBody>
                  <a:tcPr marT="54000" marB="54000"/>
                </a:tc>
              </a:tr>
              <a:tr h="370840">
                <a:tc>
                  <a:txBody>
                    <a:bodyPr/>
                    <a:lstStyle/>
                    <a:p>
                      <a:r>
                        <a:rPr sz="1300" b="1" lang="en-GB"/>
                        <a:t>ModuleNotFoundError</a:t>
                      </a:r>
                    </a:p>
                  </a:txBody>
                  <a:tcPr marT="54000" marB="54000"/>
                </a:tc>
                <a:tc>
                  <a:txBody>
                    <a:bodyPr/>
                    <a:lstStyle/>
                    <a:p>
                      <a:r>
                        <a:rPr sz="1300" lang="en-GB"/>
                        <a:t>Select the .venv interpreter, then %pip install the package</a:t>
                      </a:r>
                    </a:p>
                  </a:txBody>
                  <a:tcPr marT="54000" marB="54000"/>
                </a:tc>
              </a:tr>
              <a:tr h="370840">
                <a:tc>
                  <a:txBody>
                    <a:bodyPr/>
                    <a:lstStyle/>
                    <a:p>
                      <a:r>
                        <a:rPr sz="1300" b="1" lang="en-GB"/>
                        <a:t>macOS: externally-managed-environment</a:t>
                      </a:r>
                    </a:p>
                  </a:txBody>
                  <a:tcPr marT="54000" marB="54000"/>
                </a:tc>
                <a:tc>
                  <a:txBody>
                    <a:bodyPr/>
                    <a:lstStyle/>
                    <a:p>
                      <a:r>
                        <a:rPr sz="1300" lang="en-GB"/>
                        <a:t>You used the system Python: select the project's .venv first</a:t>
                      </a:r>
                    </a:p>
                  </a:txBody>
                  <a:tcPr marT="54000" marB="54000"/>
                </a:tc>
              </a:tr>
              <a:tr h="370840">
                <a:tc>
                  <a:txBody>
                    <a:bodyPr/>
                    <a:lstStyle/>
                    <a:p>
                      <a:r>
                        <a:rPr sz="1300" b="1" lang="en-GB"/>
                        <a:t>Quarto preview does not start</a:t>
                      </a:r>
                    </a:p>
                  </a:txBody>
                  <a:tcPr marT="54000" marB="54000"/>
                </a:tc>
                <a:tc>
                  <a:txBody>
                    <a:bodyPr/>
                    <a:lstStyle/>
                    <a:p>
                      <a:r>
                        <a:rPr sz="1300" lang="en-GB"/>
                        <a:t>Restart Positron; run quarto check in the terminal</a:t>
                      </a:r>
                    </a:p>
                  </a:txBody>
                  <a:tcPr marT="54000" marB="54000"/>
                </a:tc>
              </a:tr>
              <a:tr h="370840">
                <a:tc>
                  <a:txBody>
                    <a:bodyPr/>
                    <a:lstStyle/>
                    <a:p>
                      <a:r>
                        <a:rPr sz="1300" b="1" lang="en-GB"/>
                        <a:t>Clone fails in GitHub Desktop</a:t>
                      </a:r>
                    </a:p>
                  </a:txBody>
                  <a:tcPr marT="54000" marB="54000"/>
                </a:tc>
                <a:tc>
                  <a:txBody>
                    <a:bodyPr/>
                    <a:lstStyle/>
                    <a:p>
                      <a:r>
                        <a:rPr sz="1300" lang="en-GB"/>
                        <a:t>Sign in again under Accounts in the settings; check the URL</a:t>
                      </a:r>
                    </a:p>
                  </a:txBody>
                  <a:tcPr marT="54000" marB="54000"/>
                </a:tc>
              </a:tr>
              <a:tr h="370840">
                <a:tc>
                  <a:txBody>
                    <a:bodyPr/>
                    <a:lstStyle/>
                    <a:p>
                      <a:r>
                        <a:rPr sz="1300" b="1" lang="en-GB"/>
                        <a:t>Copilot is not offered</a:t>
                      </a:r>
                    </a:p>
                  </a:txBody>
                  <a:tcPr marT="54000" marB="54000"/>
                </a:tc>
                <a:tc>
                  <a:txBody>
                    <a:bodyPr/>
                    <a:lstStyle/>
                    <a:p>
                      <a:r>
                        <a:rPr sz="1300" lang="en-GB"/>
                        <a:t>GitHub Education still pending: use Copilot Free meanwhile</a:t>
                      </a:r>
                    </a:p>
                  </a:txBody>
                  <a:tcPr marT="54000" marB="54000"/>
                </a:tc>
              </a:tr>
            </a:tbl>
          </a:graphicData>
        </a:graphic>
      </p:graphicFrame>
      <p:sp>
        <p:nvSpPr>
          <p:cNvPr id="3" name="Title 2"/>
          <p:cNvSpPr>
            <a:spLocks noGrp="1"/>
          </p:cNvSpPr>
          <p:nvPr>
            <p:ph type="title"/>
          </p:nvPr>
        </p:nvSpPr>
        <p:spPr/>
        <p:txBody>
          <a:bodyPr/>
          <a:lstStyle/>
          <a:p>
            <a:r>
              <a:rPr sz="1600" lang="en-GB"/>
              <a:t>When something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before you leave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list Accounts body"/>
          <p:cNvSpPr/>
          <p:nvPr/>
        </p:nvSpPr>
        <p:spPr>
          <a:xfrm>
            <a:off x="45720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list Account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ecklist Account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Accounts</a:t>
            </a:r>
          </a:p>
        </p:txBody>
      </p:sp>
      <p:pic>
        <p:nvPicPr>
          <p:cNvPr id="13" name="Icon checklist Accounts" descr=""/>
          <p:cNvPicPr>
            <a:picLocks noChangeAspect="1"/>
          </p:cNvPicPr>
          <p:nvPr/>
        </p:nvPicPr>
        <p:blipFill>
          <a:blip r:embed="rId3"/>
          <a:stretch>
            <a:fillRect/>
          </a:stretch>
        </p:blipFill>
        <p:spPr>
          <a:xfrm>
            <a:off x="4064508" y="1280160"/>
            <a:ext cx="310896" cy="310896"/>
          </a:xfrm>
          <a:prstGeom prst="rect">
            <a:avLst/>
          </a:prstGeom>
        </p:spPr>
      </p:pic>
      <p:sp>
        <p:nvSpPr>
          <p:cNvPr id="14" name="Checkbox Accounts 1"/>
          <p:cNvSpPr/>
          <p:nvPr/>
        </p:nvSpPr>
        <p:spPr>
          <a:xfrm>
            <a:off x="64008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hecklist Accounts item 1"/>
          <p:cNvSpPr txBox="1"/>
          <p:nvPr/>
        </p:nvSpPr>
        <p:spPr>
          <a:xfrm>
            <a:off x="100584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account with two-factor sign-in</a:t>
            </a:r>
          </a:p>
        </p:txBody>
      </p:sp>
      <p:sp>
        <p:nvSpPr>
          <p:cNvPr id="16" name="Checkbox Accounts 2"/>
          <p:cNvSpPr/>
          <p:nvPr/>
        </p:nvSpPr>
        <p:spPr>
          <a:xfrm>
            <a:off x="64008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list Accounts item 2"/>
          <p:cNvSpPr txBox="1"/>
          <p:nvPr/>
        </p:nvSpPr>
        <p:spPr>
          <a:xfrm>
            <a:off x="100584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Education application sent</a:t>
            </a:r>
          </a:p>
        </p:txBody>
      </p:sp>
      <p:sp>
        <p:nvSpPr>
          <p:cNvPr id="18" name="Checkbox Accounts 3"/>
          <p:cNvSpPr/>
          <p:nvPr/>
        </p:nvSpPr>
        <p:spPr>
          <a:xfrm>
            <a:off x="64008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list Accounts item 3"/>
          <p:cNvSpPr txBox="1"/>
          <p:nvPr/>
        </p:nvSpPr>
        <p:spPr>
          <a:xfrm>
            <a:off x="100584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DataCamp classroom joined</a:t>
            </a:r>
          </a:p>
        </p:txBody>
      </p:sp>
      <p:sp>
        <p:nvSpPr>
          <p:cNvPr id="20" name="Checklist Laptop body"/>
          <p:cNvSpPr/>
          <p:nvPr/>
        </p:nvSpPr>
        <p:spPr>
          <a:xfrm>
            <a:off x="464058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list Laptop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ecklist Laptop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Laptop</a:t>
            </a:r>
          </a:p>
        </p:txBody>
      </p:sp>
      <p:pic>
        <p:nvPicPr>
          <p:cNvPr id="23" name="Icon checklist Laptop" descr=""/>
          <p:cNvPicPr>
            <a:picLocks noChangeAspect="1"/>
          </p:cNvPicPr>
          <p:nvPr/>
        </p:nvPicPr>
        <p:blipFill>
          <a:blip r:embed="rId4"/>
          <a:stretch>
            <a:fillRect/>
          </a:stretch>
        </p:blipFill>
        <p:spPr>
          <a:xfrm>
            <a:off x="8247888" y="1280160"/>
            <a:ext cx="310896" cy="310896"/>
          </a:xfrm>
          <a:prstGeom prst="rect">
            <a:avLst/>
          </a:prstGeom>
        </p:spPr>
      </p:pic>
      <p:sp>
        <p:nvSpPr>
          <p:cNvPr id="24" name="Checkbox Laptop 1"/>
          <p:cNvSpPr/>
          <p:nvPr/>
        </p:nvSpPr>
        <p:spPr>
          <a:xfrm>
            <a:off x="482346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list Laptop item 1"/>
          <p:cNvSpPr txBox="1"/>
          <p:nvPr/>
        </p:nvSpPr>
        <p:spPr>
          <a:xfrm>
            <a:off x="518922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Python 3.14, Positron, Quarto, GitHub Desktop</a:t>
            </a:r>
          </a:p>
        </p:txBody>
      </p:sp>
      <p:sp>
        <p:nvSpPr>
          <p:cNvPr id="26" name="Checkbox Laptop 2"/>
          <p:cNvSpPr/>
          <p:nvPr/>
        </p:nvSpPr>
        <p:spPr>
          <a:xfrm>
            <a:off x="482346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list Laptop item 2"/>
          <p:cNvSpPr txBox="1"/>
          <p:nvPr/>
        </p:nvSpPr>
        <p:spPr>
          <a:xfrm>
            <a:off x="518922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Course repository cloned and open</a:t>
            </a:r>
          </a:p>
        </p:txBody>
      </p:sp>
      <p:sp>
        <p:nvSpPr>
          <p:cNvPr id="28" name="Checkbox Laptop 3"/>
          <p:cNvSpPr/>
          <p:nvPr/>
        </p:nvSpPr>
        <p:spPr>
          <a:xfrm>
            <a:off x="482346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list Laptop item 3"/>
          <p:cNvSpPr txBox="1"/>
          <p:nvPr/>
        </p:nvSpPr>
        <p:spPr>
          <a:xfrm>
            <a:off x="518922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.venv created and selected</a:t>
            </a:r>
          </a:p>
        </p:txBody>
      </p:sp>
      <p:sp>
        <p:nvSpPr>
          <p:cNvPr id="30" name="Checkbox Laptop 4"/>
          <p:cNvSpPr/>
          <p:nvPr/>
        </p:nvSpPr>
        <p:spPr>
          <a:xfrm>
            <a:off x="4823460" y="336499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hecklist Laptop item 4"/>
          <p:cNvSpPr txBox="1"/>
          <p:nvPr/>
        </p:nvSpPr>
        <p:spPr>
          <a:xfrm>
            <a:off x="5189220" y="329184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“ready” and the test report renders</a:t>
            </a:r>
          </a:p>
        </p:txBody>
      </p:sp>
      <p:sp>
        <p:nvSpPr>
          <p:cNvPr id="32" name="Checkbox Laptop 5"/>
          <p:cNvSpPr/>
          <p:nvPr/>
        </p:nvSpPr>
        <p:spPr>
          <a:xfrm>
            <a:off x="4823460" y="386791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cklist Laptop item 5"/>
          <p:cNvSpPr txBox="1"/>
          <p:nvPr/>
        </p:nvSpPr>
        <p:spPr>
          <a:xfrm>
            <a:off x="5189220" y="379476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Posit Assistant connected</a:t>
            </a:r>
          </a:p>
        </p:txBody>
      </p:sp>
      <p:sp>
        <p:nvSpPr>
          <p:cNvPr id="34" name="Help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Help" descr=""/>
          <p:cNvPicPr>
            <a:picLocks noChangeAspect="1"/>
          </p:cNvPicPr>
          <p:nvPr/>
        </p:nvPicPr>
        <p:blipFill>
          <a:blip r:embed="rId5"/>
          <a:stretch>
            <a:fillRect/>
          </a:stretch>
        </p:blipFill>
        <p:spPr>
          <a:xfrm>
            <a:off x="658368" y="4608576"/>
            <a:ext cx="384048" cy="384048"/>
          </a:xfrm>
          <a:prstGeom prst="rect">
            <a:avLst/>
          </a:prstGeom>
        </p:spPr>
      </p:pic>
      <p:sp>
        <p:nvSpPr>
          <p:cNvPr id="36" name="Help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Not ready yet? </a:t>
            </a:r>
            <a:r>
              <a:rPr sz="1300" b="0" lang="en-GB">
                <a:solidFill>
                  <a:schemeClr val="bg1"/>
                </a:solidFill>
              </a:rPr>
              <a:t>Post the failing step in the Q&amp;A forum on Canvas before Session 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