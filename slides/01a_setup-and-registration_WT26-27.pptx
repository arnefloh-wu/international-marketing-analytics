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12"/>
    <p:sldId id="275" r:id="rId11"/>
    <p:sldId id="276" r:id="rId10"/>
    <p:sldId id="277" r:id="rId9"/>
    <p:sldId id="278" r:id="rId8"/>
    <p:sldId id="279" r:id="rId7"/>
    <p:sldId id="280" r:id="rId6"/>
    <p:sldId id="281" r:id="rId5"/>
    <p:sldId id="282" r:id="rId39"/>
    <p:sldId id="283" r:id="rId40"/>
    <p:sldId id="284" r:id="rId41"/>
    <p:sldId id="285" r:id="rId42"/>
    <p:sldId id="286" r:id="rId43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26.xml"/><Relationship Id="rId6" Type="http://schemas.openxmlformats.org/officeDocument/2006/relationships/slide" Target="slides/slide25.xml"/><Relationship Id="rId7" Type="http://schemas.openxmlformats.org/officeDocument/2006/relationships/slide" Target="slides/slide24.xml"/><Relationship Id="rId8" Type="http://schemas.openxmlformats.org/officeDocument/2006/relationships/slide" Target="slides/slide23.xml"/><Relationship Id="rId9" Type="http://schemas.openxmlformats.org/officeDocument/2006/relationships/slide" Target="slides/slide22.xml"/><Relationship Id="rId10" Type="http://schemas.openxmlformats.org/officeDocument/2006/relationships/slide" Target="slides/slide21.xml"/><Relationship Id="rId11" Type="http://schemas.openxmlformats.org/officeDocument/2006/relationships/slide" Target="slides/slide20.xml"/><Relationship Id="rId12" Type="http://schemas.openxmlformats.org/officeDocument/2006/relationships/slide" Target="slides/slide19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we set up every laptop together. Nothing had to be installed before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steps. Start the GitHub Education application first, because approval can take a few days; everything else runs while it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Accounts first: they need e-mail confirmations and, for GitHub Education, an approval that can take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 are free for students. Use the WU e-mail address everywhere, so the student benefits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Two-factor authentication is required by GitHub for accounts that contribute code. GitHub Mobile is the easiest second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Approval is often quick but can take several days, and benefits can take up to 72 hours more to appear. Check the Copilot Student plan status the week before term; it was paused once in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DataCamp for the Classroom gives students free premium access for six months. Nobody needs to pay.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overview first, so students know why each tool is there before they install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GitHub is the shared cloud copy. GitHub Desktop syncs it with a folder on the laptop. Positron is where students work on that folder, using Python, Quarto and an AI assistant.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uv replaces pip, venv and pyenv with one fast tool. It downloads Python itself, so students do not need the installer from python.org. Close and reopen the terminal after installing.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 in this order. Positron detects Quarto and Python automatically. GitHub Desktop brings Git with it, so there is no separate Git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course repository is read-only for students: they pull updates before each session. Group repositories for the case study come later and use the same clicks plus commit and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install downloads several hundred megabytes (PyMC is large), so it takes a few minutes on WU Wi-Fi. Positron usually offers the new .venv interpreter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lives in setup/check_setup.py. Every line marked !! says what to fix. Alternatively open the file and press the Run button at the top right of the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 Assistant replaced Positron Assistant in Positron 2026.07; older videos show the old menus. GitHub Copilot is the cheapest provider for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five-minute tour with the live application next to the slides works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files. Middle: editor above, console below. Right: what is in memory and the charts. The interpreter selector sits at the top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 live: write one line, press Ctrl+Enter, point at the console, the Variables pane and the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labs and the case study report are Quarto files. Text, code and results stay in one file, so the report can be rerun when the data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macOS, Cmd replaces Ctrl, except for the new-terminal shortcut. The command palette finds every other command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Posit's FAQ: prompts, session information and variable names and types are sent to the model provider; row-level data only when you ask for it. Do not paste personal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package gets one slide with code that runs on the course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itself is small; packages add the tools. Versions are pinned so everybody's results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stages repeat in every lab and in the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chain top to bottom: keep 2025, group by country, sum two columns, sort. statsmodels and PyMC expect pandas, so convert at the end with .to_pandas().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grammar as ggplot2 in R, so R tutorials transfer almost one to one. Each + adds one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 takes the polars summary from the polars slide directly. In a Quarto HTML report the table renders by itself; .save() writes a 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first look only: Sessions 1 and 2 explain how to read, check and improve such a model. The formula reads: sales explained by price, TV spend and paid search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problems are an old terminal window or the wrong interpreter.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tick these off. Anything still open goes to the Q&amp;A forum on Canvas before Session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hyperlink" Target="https://github.com/signup" TargetMode="External"/><Relationship Id="rId5" Type="http://schemas.openxmlformats.org/officeDocument/2006/relationships/image" Target="../media/image14.png"/><Relationship Id="rId6" Type="http://schemas.openxmlformats.org/officeDocument/2006/relationships/hyperlink" Target="https://education.github.com/pack" TargetMode="External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signup" TargetMode="External"/><Relationship Id="rId4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hyperlink" Target="https://education.github.com/pack" TargetMode="External"/><Relationship Id="rId5" Type="http://schemas.openxmlformats.org/officeDocument/2006/relationships/image" Target="../media/image20.png"/><Relationship Id="rId6" Type="http://schemas.openxmlformats.org/officeDocument/2006/relationships/hyperlink" Target="https://github.com/settings/copilot" TargetMode="External"/><Relationship Id="rId7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hyperlink" Target="https://positron.posit.co/download" TargetMode="External"/><Relationship Id="rId5" Type="http://schemas.openxmlformats.org/officeDocument/2006/relationships/image" Target="../media/image31.png"/><Relationship Id="rId6" Type="http://schemas.openxmlformats.org/officeDocument/2006/relationships/hyperlink" Target="https://quarto.org/docs/get-started/" TargetMode="External"/><Relationship Id="rId7" Type="http://schemas.openxmlformats.org/officeDocument/2006/relationships/image" Target="../media/image32.png"/><Relationship Id="rId8" Type="http://schemas.openxmlformats.org/officeDocument/2006/relationships/hyperlink" Target="https://desktop.github.com" TargetMode="External"/><Relationship Id="rId9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Relationship Id="rId4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6.png"/><Relationship Id="rId4" Type="http://schemas.openxmlformats.org/officeDocument/2006/relationships/image" Target="../media/image9.png"/><Relationship Id="rId5" Type="http://schemas.openxmlformats.org/officeDocument/2006/relationships/image" Target="../media/image5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Set-up and registration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Session 1 · WT 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Today: from zero to a working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lan steps step 1"/>
          <p:cNvSpPr/>
          <p:nvPr/>
        </p:nvSpPr>
        <p:spPr>
          <a:xfrm>
            <a:off x="457200" y="1234440"/>
            <a:ext cx="1463040" cy="54864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11" name="Plan steps step 2"/>
          <p:cNvSpPr/>
          <p:nvPr/>
        </p:nvSpPr>
        <p:spPr>
          <a:xfrm>
            <a:off x="1810512" y="1234440"/>
            <a:ext cx="1463040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lan steps step 3"/>
          <p:cNvSpPr/>
          <p:nvPr/>
        </p:nvSpPr>
        <p:spPr>
          <a:xfrm>
            <a:off x="3163824" y="1234440"/>
            <a:ext cx="1463040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lan steps step 4"/>
          <p:cNvSpPr/>
          <p:nvPr/>
        </p:nvSpPr>
        <p:spPr>
          <a:xfrm>
            <a:off x="4517136" y="1234440"/>
            <a:ext cx="1463040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lan steps step 5"/>
          <p:cNvSpPr/>
          <p:nvPr/>
        </p:nvSpPr>
        <p:spPr>
          <a:xfrm>
            <a:off x="5870448" y="1234440"/>
            <a:ext cx="1463040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lan steps step 6"/>
          <p:cNvSpPr/>
          <p:nvPr/>
        </p:nvSpPr>
        <p:spPr>
          <a:xfrm>
            <a:off x="7223760" y="1234440"/>
            <a:ext cx="1463040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Plan card 1 body"/>
          <p:cNvSpPr/>
          <p:nvPr/>
        </p:nvSpPr>
        <p:spPr>
          <a:xfrm>
            <a:off x="457200" y="2377440"/>
            <a:ext cx="2651760" cy="18288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Plan card 1 header"/>
          <p:cNvSpPr/>
          <p:nvPr/>
        </p:nvSpPr>
        <p:spPr>
          <a:xfrm>
            <a:off x="457200" y="1965960"/>
            <a:ext cx="265176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lan card 1 heading"/>
          <p:cNvSpPr txBox="1"/>
          <p:nvPr/>
        </p:nvSpPr>
        <p:spPr>
          <a:xfrm>
            <a:off x="594360" y="196596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What you need</a:t>
            </a:r>
          </a:p>
        </p:txBody>
      </p:sp>
      <p:pic>
        <p:nvPicPr>
          <p:cNvPr id="19" name="Icon Plan card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2016252"/>
            <a:ext cx="310896" cy="310896"/>
          </a:xfrm>
          <a:prstGeom prst="rect">
            <a:avLst/>
          </a:prstGeom>
        </p:spPr>
      </p:pic>
      <p:sp>
        <p:nvSpPr>
          <p:cNvPr id="20" name="Plan card 1 text"/>
          <p:cNvSpPr txBox="1"/>
          <p:nvPr/>
        </p:nvSpPr>
        <p:spPr>
          <a:xfrm>
            <a:off x="621792" y="2514600"/>
            <a:ext cx="235000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Your laptop and charger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Windows 10/11 or a recent macOS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About 10 GB free disk space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Admin rights to install software</a:t>
            </a:r>
          </a:p>
        </p:txBody>
      </p:sp>
      <p:sp>
        <p:nvSpPr>
          <p:cNvPr id="21" name="Plan card 2 body"/>
          <p:cNvSpPr/>
          <p:nvPr/>
        </p:nvSpPr>
        <p:spPr>
          <a:xfrm>
            <a:off x="3246120" y="2377440"/>
            <a:ext cx="2651760" cy="18288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Plan card 2 header"/>
          <p:cNvSpPr/>
          <p:nvPr/>
        </p:nvSpPr>
        <p:spPr>
          <a:xfrm>
            <a:off x="3246120" y="1965960"/>
            <a:ext cx="265176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lan card 2 heading"/>
          <p:cNvSpPr txBox="1"/>
          <p:nvPr/>
        </p:nvSpPr>
        <p:spPr>
          <a:xfrm>
            <a:off x="3383280" y="196596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Have at hand</a:t>
            </a:r>
          </a:p>
        </p:txBody>
      </p:sp>
      <p:pic>
        <p:nvPicPr>
          <p:cNvPr id="24" name="Icon Plan card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2016252"/>
            <a:ext cx="310896" cy="310896"/>
          </a:xfrm>
          <a:prstGeom prst="rect">
            <a:avLst/>
          </a:prstGeom>
        </p:spPr>
      </p:pic>
      <p:sp>
        <p:nvSpPr>
          <p:cNvPr id="25" name="Plan card 2 text"/>
          <p:cNvSpPr txBox="1"/>
          <p:nvPr/>
        </p:nvSpPr>
        <p:spPr>
          <a:xfrm>
            <a:off x="3410712" y="2514600"/>
            <a:ext cx="235000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Your WU e-mail and its password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Your phone, for two-factor sign-in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Your student ID or enrolment confirmation</a:t>
            </a:r>
          </a:p>
        </p:txBody>
      </p:sp>
      <p:sp>
        <p:nvSpPr>
          <p:cNvPr id="26" name="Plan card 3 body"/>
          <p:cNvSpPr/>
          <p:nvPr/>
        </p:nvSpPr>
        <p:spPr>
          <a:xfrm>
            <a:off x="6035040" y="2377440"/>
            <a:ext cx="2651760" cy="18288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Plan card 3 header"/>
          <p:cNvSpPr/>
          <p:nvPr/>
        </p:nvSpPr>
        <p:spPr>
          <a:xfrm>
            <a:off x="6035040" y="1965960"/>
            <a:ext cx="265176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lan card 3 heading"/>
          <p:cNvSpPr txBox="1"/>
          <p:nvPr/>
        </p:nvSpPr>
        <p:spPr>
          <a:xfrm>
            <a:off x="6172200" y="196596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How we work</a:t>
            </a:r>
          </a:p>
        </p:txBody>
      </p:sp>
      <p:pic>
        <p:nvPicPr>
          <p:cNvPr id="29" name="Icon Plan card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016252"/>
            <a:ext cx="310896" cy="310896"/>
          </a:xfrm>
          <a:prstGeom prst="rect">
            <a:avLst/>
          </a:prstGeom>
        </p:spPr>
      </p:pic>
      <p:sp>
        <p:nvSpPr>
          <p:cNvPr id="30" name="Plan card 3 text"/>
          <p:cNvSpPr txBox="1"/>
          <p:nvPr/>
        </p:nvSpPr>
        <p:spPr>
          <a:xfrm>
            <a:off x="6199632" y="2514600"/>
            <a:ext cx="235000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One step at a time, all together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Check your neighbour's screen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Stuck? Raise your hand, keep going with the next step</a:t>
            </a:r>
          </a:p>
        </p:txBody>
      </p:sp>
      <p:sp>
        <p:nvSpPr>
          <p:cNvPr id="31" name="Goal box"/>
          <p:cNvSpPr/>
          <p:nvPr/>
        </p:nvSpPr>
        <p:spPr>
          <a:xfrm>
            <a:off x="457200" y="4389120"/>
            <a:ext cx="8229600" cy="6858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Goal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539996"/>
            <a:ext cx="384048" cy="384048"/>
          </a:xfrm>
          <a:prstGeom prst="rect">
            <a:avLst/>
          </a:prstGeom>
        </p:spPr>
      </p:pic>
      <p:sp>
        <p:nvSpPr>
          <p:cNvPr id="33" name="Goal text"/>
          <p:cNvSpPr txBox="1"/>
          <p:nvPr/>
        </p:nvSpPr>
        <p:spPr>
          <a:xfrm>
            <a:off x="1234440" y="4389120"/>
            <a:ext cx="7269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Goal: </a:t>
            </a:r>
            <a:r>
              <a:rPr sz="1300" b="0" lang="en-GB">
                <a:solidFill>
                  <a:schemeClr val="bg1"/>
                </a:solidFill>
              </a:rPr>
              <a:t>by the end of today the check script prints “ready” on every laptop.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en-GB"/>
              <a:t>Part 1 of 4 · GitHub, GitHub Education, DataCamp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1600" lang="en-GB"/>
              <a:t>Register your accounts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Four registrations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Account 1 tile"/>
          <p:cNvSpPr/>
          <p:nvPr/>
        </p:nvSpPr>
        <p:spPr>
          <a:xfrm>
            <a:off x="457200" y="1783080"/>
            <a:ext cx="195453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Account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18" name="Account 1 text"/>
          <p:cNvSpPr txBox="1"/>
          <p:nvPr/>
        </p:nvSpPr>
        <p:spPr>
          <a:xfrm>
            <a:off x="594360" y="2377440"/>
            <a:ext cx="168021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GitHub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Stores code and its history; hosts the course and group repositories</a:t>
            </a:r>
          </a:p>
        </p:txBody>
      </p:sp>
      <p:sp>
        <p:nvSpPr>
          <p:cNvPr id="19" name="Account 1 where"/>
          <p:cNvSpPr txBox="1"/>
          <p:nvPr/>
        </p:nvSpPr>
        <p:spPr>
          <a:xfrm>
            <a:off x="594360" y="3840480"/>
            <a:ext cx="168021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accent1"/>
                </a:solidFill>
                <a:hlinkClick r:id="rId4"/>
              </a:rPr>
              <a:t>github.com/signup</a:t>
            </a:r>
          </a:p>
        </p:txBody>
      </p:sp>
      <p:sp>
        <p:nvSpPr>
          <p:cNvPr id="20" name="Account 2 tile"/>
          <p:cNvSpPr/>
          <p:nvPr/>
        </p:nvSpPr>
        <p:spPr>
          <a:xfrm>
            <a:off x="2548890" y="1783080"/>
            <a:ext cx="195453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Account 2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6050" y="1920240"/>
            <a:ext cx="365760" cy="365760"/>
          </a:xfrm>
          <a:prstGeom prst="rect">
            <a:avLst/>
          </a:prstGeom>
        </p:spPr>
      </p:pic>
      <p:sp>
        <p:nvSpPr>
          <p:cNvPr id="22" name="Account 2 text"/>
          <p:cNvSpPr txBox="1"/>
          <p:nvPr/>
        </p:nvSpPr>
        <p:spPr>
          <a:xfrm>
            <a:off x="2686050" y="2377440"/>
            <a:ext cx="168021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GitHub Education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Free student benefits, including GitHub Copilot</a:t>
            </a:r>
          </a:p>
        </p:txBody>
      </p:sp>
      <p:sp>
        <p:nvSpPr>
          <p:cNvPr id="23" name="Account 2 where"/>
          <p:cNvSpPr txBox="1"/>
          <p:nvPr/>
        </p:nvSpPr>
        <p:spPr>
          <a:xfrm>
            <a:off x="2686050" y="3840480"/>
            <a:ext cx="168021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accent1"/>
                </a:solidFill>
                <a:hlinkClick r:id="rId6"/>
              </a:rPr>
              <a:t>education.github.com</a:t>
            </a:r>
          </a:p>
        </p:txBody>
      </p:sp>
      <p:sp>
        <p:nvSpPr>
          <p:cNvPr id="24" name="Account 3 tile"/>
          <p:cNvSpPr/>
          <p:nvPr/>
        </p:nvSpPr>
        <p:spPr>
          <a:xfrm>
            <a:off x="4640580" y="1783080"/>
            <a:ext cx="195453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Icon Account 3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7740" y="1920240"/>
            <a:ext cx="365760" cy="365760"/>
          </a:xfrm>
          <a:prstGeom prst="rect">
            <a:avLst/>
          </a:prstGeom>
        </p:spPr>
      </p:pic>
      <p:sp>
        <p:nvSpPr>
          <p:cNvPr id="26" name="Account 3 text"/>
          <p:cNvSpPr txBox="1"/>
          <p:nvPr/>
        </p:nvSpPr>
        <p:spPr>
          <a:xfrm>
            <a:off x="4777740" y="2377440"/>
            <a:ext cx="168021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DataCamp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Online Python courses; four certificates count 20 %</a:t>
            </a:r>
          </a:p>
        </p:txBody>
      </p:sp>
      <p:sp>
        <p:nvSpPr>
          <p:cNvPr id="27" name="Account 3 where"/>
          <p:cNvSpPr txBox="1"/>
          <p:nvPr/>
        </p:nvSpPr>
        <p:spPr>
          <a:xfrm>
            <a:off x="4777740" y="3840480"/>
            <a:ext cx="168021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accent1"/>
                </a:solidFill>
              </a:rPr>
              <a:t>Invitation link on Canvas</a:t>
            </a:r>
          </a:p>
        </p:txBody>
      </p:sp>
      <p:sp>
        <p:nvSpPr>
          <p:cNvPr id="28" name="Account 4 tile"/>
          <p:cNvSpPr/>
          <p:nvPr/>
        </p:nvSpPr>
        <p:spPr>
          <a:xfrm>
            <a:off x="6732270" y="1783080"/>
            <a:ext cx="195453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Account 4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9430" y="1920240"/>
            <a:ext cx="365760" cy="365760"/>
          </a:xfrm>
          <a:prstGeom prst="rect">
            <a:avLst/>
          </a:prstGeom>
        </p:spPr>
      </p:pic>
      <p:sp>
        <p:nvSpPr>
          <p:cNvPr id="30" name="Account 4 text"/>
          <p:cNvSpPr txBox="1"/>
          <p:nvPr/>
        </p:nvSpPr>
        <p:spPr>
          <a:xfrm>
            <a:off x="6869430" y="2377440"/>
            <a:ext cx="168021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Canvas survey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Tell us your GitHub username so we can give you access</a:t>
            </a:r>
          </a:p>
        </p:txBody>
      </p:sp>
      <p:sp>
        <p:nvSpPr>
          <p:cNvPr id="31" name="Account 4 where"/>
          <p:cNvSpPr txBox="1"/>
          <p:nvPr/>
        </p:nvSpPr>
        <p:spPr>
          <a:xfrm>
            <a:off x="6869430" y="3840480"/>
            <a:ext cx="168021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accent1"/>
                </a:solidFill>
              </a:rPr>
              <a:t>Course page on Canvas</a:t>
            </a:r>
          </a:p>
        </p:txBody>
      </p:sp>
      <p:sp>
        <p:nvSpPr>
          <p:cNvPr id="32" name="Email box"/>
          <p:cNvSpPr/>
          <p:nvPr/>
        </p:nvSpPr>
        <p:spPr>
          <a:xfrm>
            <a:off x="457200" y="4480560"/>
            <a:ext cx="8229600" cy="594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Icon Email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85716"/>
            <a:ext cx="384048" cy="384048"/>
          </a:xfrm>
          <a:prstGeom prst="rect">
            <a:avLst/>
          </a:prstGeom>
        </p:spPr>
      </p:pic>
      <p:sp>
        <p:nvSpPr>
          <p:cNvPr id="34" name="Email text"/>
          <p:cNvSpPr txBox="1"/>
          <p:nvPr/>
        </p:nvSpPr>
        <p:spPr>
          <a:xfrm>
            <a:off x="1234440" y="4480560"/>
            <a:ext cx="726948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Same e-mail everywhere: </a:t>
            </a:r>
            <a:r>
              <a:rPr sz="1300" b="0" lang="en-GB">
                <a:solidFill>
                  <a:schemeClr val="tx1"/>
                </a:solidFill>
              </a:rPr>
              <a:t>your WU student address unlocks the free plans.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GitHub account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GitHub steps row 1"/>
          <p:cNvSpPr/>
          <p:nvPr/>
        </p:nvSpPr>
        <p:spPr>
          <a:xfrm>
            <a:off x="457200" y="178308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GitHub steps number 1"/>
          <p:cNvSpPr/>
          <p:nvPr/>
        </p:nvSpPr>
        <p:spPr>
          <a:xfrm>
            <a:off x="594360" y="190195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8" name="GitHub steps text 1"/>
          <p:cNvSpPr txBox="1"/>
          <p:nvPr/>
        </p:nvSpPr>
        <p:spPr>
          <a:xfrm>
            <a:off x="1051560" y="178308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Open </a:t>
            </a:r>
            <a:r>
              <a:rPr sz="1300" b="0" lang="en-GB">
                <a:solidFill>
                  <a:schemeClr val="accent1"/>
                </a:solidFill>
                <a:hlinkClick r:id="rId3"/>
              </a:rPr>
              <a:t>github.com/signup</a:t>
            </a:r>
          </a:p>
        </p:txBody>
      </p:sp>
      <p:sp>
        <p:nvSpPr>
          <p:cNvPr id="19" name="GitHub steps row 2"/>
          <p:cNvSpPr/>
          <p:nvPr/>
        </p:nvSpPr>
        <p:spPr>
          <a:xfrm>
            <a:off x="457200" y="242316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GitHub steps number 2"/>
          <p:cNvSpPr/>
          <p:nvPr/>
        </p:nvSpPr>
        <p:spPr>
          <a:xfrm>
            <a:off x="594360" y="254203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1" name="GitHub steps text 2"/>
          <p:cNvSpPr txBox="1"/>
          <p:nvPr/>
        </p:nvSpPr>
        <p:spPr>
          <a:xfrm>
            <a:off x="1051560" y="242316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WU e-mail: </a:t>
            </a:r>
            <a:r>
              <a:rPr sz="1300" b="0" lang="en-GB">
                <a:solidFill>
                  <a:schemeClr val="tx1"/>
                </a:solidFill>
              </a:rPr>
              <a:t>sign up with your student address</a:t>
            </a:r>
          </a:p>
        </p:txBody>
      </p:sp>
      <p:sp>
        <p:nvSpPr>
          <p:cNvPr id="22" name="GitHub steps row 3"/>
          <p:cNvSpPr/>
          <p:nvPr/>
        </p:nvSpPr>
        <p:spPr>
          <a:xfrm>
            <a:off x="457200" y="306324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GitHub steps number 3"/>
          <p:cNvSpPr/>
          <p:nvPr/>
        </p:nvSpPr>
        <p:spPr>
          <a:xfrm>
            <a:off x="594360" y="318211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GitHub steps text 3"/>
          <p:cNvSpPr txBox="1"/>
          <p:nvPr/>
        </p:nvSpPr>
        <p:spPr>
          <a:xfrm>
            <a:off x="1051560" y="306324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Username: </a:t>
            </a:r>
            <a:r>
              <a:rPr sz="1300" b="0" lang="en-GB">
                <a:solidFill>
                  <a:schemeClr val="tx1"/>
                </a:solidFill>
              </a:rPr>
              <a:t>short and professional, e.g. anna-berger</a:t>
            </a:r>
          </a:p>
        </p:txBody>
      </p:sp>
      <p:sp>
        <p:nvSpPr>
          <p:cNvPr id="25" name="GitHub steps row 4"/>
          <p:cNvSpPr/>
          <p:nvPr/>
        </p:nvSpPr>
        <p:spPr>
          <a:xfrm>
            <a:off x="457200" y="370332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GitHub steps number 4"/>
          <p:cNvSpPr/>
          <p:nvPr/>
        </p:nvSpPr>
        <p:spPr>
          <a:xfrm>
            <a:off x="594360" y="382219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7" name="GitHub steps text 4"/>
          <p:cNvSpPr txBox="1"/>
          <p:nvPr/>
        </p:nvSpPr>
        <p:spPr>
          <a:xfrm>
            <a:off x="1051560" y="370332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Verify </a:t>
            </a:r>
            <a:r>
              <a:rPr sz="1300" b="0" lang="en-GB">
                <a:solidFill>
                  <a:schemeClr val="tx1"/>
                </a:solidFill>
              </a:rPr>
              <a:t>the code GitHub sends to your inbox</a:t>
            </a:r>
          </a:p>
        </p:txBody>
      </p:sp>
      <p:sp>
        <p:nvSpPr>
          <p:cNvPr id="28" name="GitHub steps row 5"/>
          <p:cNvSpPr/>
          <p:nvPr/>
        </p:nvSpPr>
        <p:spPr>
          <a:xfrm>
            <a:off x="457200" y="434340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GitHub steps number 5"/>
          <p:cNvSpPr/>
          <p:nvPr/>
        </p:nvSpPr>
        <p:spPr>
          <a:xfrm>
            <a:off x="594360" y="44622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0" name="GitHub steps text 5"/>
          <p:cNvSpPr txBox="1"/>
          <p:nvPr/>
        </p:nvSpPr>
        <p:spPr>
          <a:xfrm>
            <a:off x="1051560" y="43434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Two-factor sign-in: </a:t>
            </a:r>
            <a:r>
              <a:rPr sz="1300" b="0" lang="en-GB">
                <a:solidFill>
                  <a:schemeClr val="tx1"/>
                </a:solidFill>
              </a:rPr>
              <a:t>GitHub Mobile or an authenticator app</a:t>
            </a:r>
          </a:p>
        </p:txBody>
      </p:sp>
      <p:sp>
        <p:nvSpPr>
          <p:cNvPr id="31" name="GitHub why card body"/>
          <p:cNvSpPr/>
          <p:nvPr/>
        </p:nvSpPr>
        <p:spPr>
          <a:xfrm>
            <a:off x="5760720" y="2194560"/>
            <a:ext cx="2926080" cy="26974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GitHub why card header"/>
          <p:cNvSpPr/>
          <p:nvPr/>
        </p:nvSpPr>
        <p:spPr>
          <a:xfrm>
            <a:off x="5760720" y="1783080"/>
            <a:ext cx="292608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GitHub why card heading"/>
          <p:cNvSpPr txBox="1"/>
          <p:nvPr/>
        </p:nvSpPr>
        <p:spPr>
          <a:xfrm>
            <a:off x="5897880" y="178308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Why it matters</a:t>
            </a:r>
          </a:p>
        </p:txBody>
      </p:sp>
      <p:pic>
        <p:nvPicPr>
          <p:cNvPr id="34" name="Icon GitHub why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833372"/>
            <a:ext cx="310896" cy="310896"/>
          </a:xfrm>
          <a:prstGeom prst="rect">
            <a:avLst/>
          </a:prstGeom>
        </p:spPr>
      </p:pic>
      <p:sp>
        <p:nvSpPr>
          <p:cNvPr id="35" name="GitHub why card text"/>
          <p:cNvSpPr txBox="1"/>
          <p:nvPr/>
        </p:nvSpPr>
        <p:spPr>
          <a:xfrm>
            <a:off x="5925312" y="2331720"/>
            <a:ext cx="2624328" cy="2423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Your username appears on every commit you make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 clean GitHub profile is part of your CV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 need it for the group repository of the case study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The free plan is all you need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GitHub Education and Copilot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Education steps step 1"/>
          <p:cNvSpPr/>
          <p:nvPr/>
        </p:nvSpPr>
        <p:spPr>
          <a:xfrm>
            <a:off x="457200" y="1783080"/>
            <a:ext cx="1733702" cy="54864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Add WU e-mail</a:t>
            </a:r>
            <a:br/>
            <a:r>
              <a:rPr sz="1200" b="1" lang="en-GB">
                <a:solidFill>
                  <a:schemeClr val="tx2"/>
                </a:solidFill>
              </a:rPr>
              <a:t>to GitHub</a:t>
            </a:r>
          </a:p>
        </p:txBody>
      </p:sp>
      <p:sp>
        <p:nvSpPr>
          <p:cNvPr id="17" name="Education steps step 2"/>
          <p:cNvSpPr/>
          <p:nvPr/>
        </p:nvSpPr>
        <p:spPr>
          <a:xfrm>
            <a:off x="2081174" y="178308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Apply for</a:t>
            </a:r>
            <a:br/>
            <a:r>
              <a:rPr sz="1200" b="1" lang="en-GB">
                <a:solidFill>
                  <a:schemeClr val="tx2"/>
                </a:solidFill>
              </a:rPr>
              <a:t>benefits</a:t>
            </a:r>
          </a:p>
        </p:txBody>
      </p:sp>
      <p:sp>
        <p:nvSpPr>
          <p:cNvPr id="18" name="Education steps step 3"/>
          <p:cNvSpPr/>
          <p:nvPr/>
        </p:nvSpPr>
        <p:spPr>
          <a:xfrm>
            <a:off x="3705149" y="178308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Upload</a:t>
            </a:r>
            <a:br/>
            <a:r>
              <a:rPr sz="1200" b="1" lang="en-GB">
                <a:solidFill>
                  <a:schemeClr val="tx2"/>
                </a:solidFill>
              </a:rPr>
              <a:t>proof</a:t>
            </a:r>
          </a:p>
        </p:txBody>
      </p:sp>
      <p:sp>
        <p:nvSpPr>
          <p:cNvPr id="19" name="Education steps step 4"/>
          <p:cNvSpPr/>
          <p:nvPr/>
        </p:nvSpPr>
        <p:spPr>
          <a:xfrm>
            <a:off x="5329123" y="178308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Wait for</a:t>
            </a:r>
            <a:br/>
            <a:r>
              <a:rPr sz="1200" b="1" lang="en-GB">
                <a:solidFill>
                  <a:schemeClr val="tx2"/>
                </a:solidFill>
              </a:rPr>
              <a:t>approval</a:t>
            </a:r>
          </a:p>
        </p:txBody>
      </p:sp>
      <p:sp>
        <p:nvSpPr>
          <p:cNvPr id="20" name="Education steps step 5"/>
          <p:cNvSpPr/>
          <p:nvPr/>
        </p:nvSpPr>
        <p:spPr>
          <a:xfrm>
            <a:off x="6953098" y="178308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Turn on</a:t>
            </a:r>
            <a:br/>
            <a:r>
              <a:rPr sz="1200" b="1" lang="en-GB">
                <a:solidFill>
                  <a:schemeClr val="tx2"/>
                </a:solidFill>
              </a:rPr>
              <a:t>Copilot</a:t>
            </a:r>
          </a:p>
        </p:txBody>
      </p:sp>
      <p:sp>
        <p:nvSpPr>
          <p:cNvPr id="21" name="Apply card body"/>
          <p:cNvSpPr/>
          <p:nvPr/>
        </p:nvSpPr>
        <p:spPr>
          <a:xfrm>
            <a:off x="457200" y="2926080"/>
            <a:ext cx="4046220" cy="14173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Apply card header"/>
          <p:cNvSpPr/>
          <p:nvPr/>
        </p:nvSpPr>
        <p:spPr>
          <a:xfrm>
            <a:off x="457200" y="251460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Apply card heading"/>
          <p:cNvSpPr txBox="1"/>
          <p:nvPr/>
        </p:nvSpPr>
        <p:spPr>
          <a:xfrm>
            <a:off x="594360" y="251460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Apply</a:t>
            </a:r>
          </a:p>
        </p:txBody>
      </p:sp>
      <p:pic>
        <p:nvPicPr>
          <p:cNvPr id="24" name="Icon Apply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508" y="2564892"/>
            <a:ext cx="310896" cy="310896"/>
          </a:xfrm>
          <a:prstGeom prst="rect">
            <a:avLst/>
          </a:prstGeom>
        </p:spPr>
      </p:pic>
      <p:sp>
        <p:nvSpPr>
          <p:cNvPr id="25" name="Apply card text"/>
          <p:cNvSpPr txBox="1"/>
          <p:nvPr/>
        </p:nvSpPr>
        <p:spPr>
          <a:xfrm>
            <a:off x="621792" y="3063240"/>
            <a:ext cx="3744468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Go to </a:t>
            </a:r>
            <a:r>
              <a:rPr sz="1300" b="0" lang="en-GB">
                <a:solidFill>
                  <a:schemeClr val="accent1"/>
                </a:solidFill>
                <a:hlinkClick r:id="rId4"/>
              </a:rPr>
              <a:t>education.github.com/pack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Your WU address must be verified in GitHub's e-mail settings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Proof: a photo of your student ID or enrolment confirmation</a:t>
            </a:r>
          </a:p>
        </p:txBody>
      </p:sp>
      <p:sp>
        <p:nvSpPr>
          <p:cNvPr id="26" name="Approval card body"/>
          <p:cNvSpPr/>
          <p:nvPr/>
        </p:nvSpPr>
        <p:spPr>
          <a:xfrm>
            <a:off x="4640580" y="2926080"/>
            <a:ext cx="4046220" cy="14173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Approval card header"/>
          <p:cNvSpPr/>
          <p:nvPr/>
        </p:nvSpPr>
        <p:spPr>
          <a:xfrm>
            <a:off x="4640580" y="251460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Approval card heading"/>
          <p:cNvSpPr txBox="1"/>
          <p:nvPr/>
        </p:nvSpPr>
        <p:spPr>
          <a:xfrm>
            <a:off x="4777740" y="251460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After approval</a:t>
            </a:r>
          </a:p>
        </p:txBody>
      </p:sp>
      <p:pic>
        <p:nvPicPr>
          <p:cNvPr id="29" name="Icon Approval card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564892"/>
            <a:ext cx="310896" cy="310896"/>
          </a:xfrm>
          <a:prstGeom prst="rect">
            <a:avLst/>
          </a:prstGeom>
        </p:spPr>
      </p:pic>
      <p:sp>
        <p:nvSpPr>
          <p:cNvPr id="30" name="Approval card text"/>
          <p:cNvSpPr txBox="1"/>
          <p:nvPr/>
        </p:nvSpPr>
        <p:spPr>
          <a:xfrm>
            <a:off x="4805172" y="3063240"/>
            <a:ext cx="3744468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Turn on Copilot at </a:t>
            </a:r>
            <a:r>
              <a:rPr sz="1300" b="0" lang="en-GB">
                <a:solidFill>
                  <a:schemeClr val="accent1"/>
                </a:solidFill>
                <a:hlinkClick r:id="rId6"/>
              </a:rPr>
              <a:t>github.com/settings/copilot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Copilot Student is free while you study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Until then, Copilot Free works with monthly limits</a:t>
            </a:r>
          </a:p>
        </p:txBody>
      </p:sp>
      <p:sp>
        <p:nvSpPr>
          <p:cNvPr id="31" name="Education box"/>
          <p:cNvSpPr/>
          <p:nvPr/>
        </p:nvSpPr>
        <p:spPr>
          <a:xfrm>
            <a:off x="457200" y="4480560"/>
            <a:ext cx="8229600" cy="5943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Educa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585716"/>
            <a:ext cx="384048" cy="384048"/>
          </a:xfrm>
          <a:prstGeom prst="rect">
            <a:avLst/>
          </a:prstGeom>
        </p:spPr>
      </p:pic>
      <p:sp>
        <p:nvSpPr>
          <p:cNvPr id="33" name="Education text"/>
          <p:cNvSpPr txBox="1"/>
          <p:nvPr/>
        </p:nvSpPr>
        <p:spPr>
          <a:xfrm>
            <a:off x="1234440" y="4480560"/>
            <a:ext cx="726948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Do this first: </a:t>
            </a:r>
            <a:r>
              <a:rPr sz="1300" b="0" lang="en-GB">
                <a:solidFill>
                  <a:schemeClr val="bg1"/>
                </a:solidFill>
              </a:rPr>
              <a:t>approval can take a few days, so apply today, then carry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DataCamp classroom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DataCamp steps row 1"/>
          <p:cNvSpPr/>
          <p:nvPr/>
        </p:nvSpPr>
        <p:spPr>
          <a:xfrm>
            <a:off x="457200" y="178308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DataCamp steps number 1"/>
          <p:cNvSpPr/>
          <p:nvPr/>
        </p:nvSpPr>
        <p:spPr>
          <a:xfrm>
            <a:off x="594360" y="190195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8" name="DataCamp steps text 1"/>
          <p:cNvSpPr txBox="1"/>
          <p:nvPr/>
        </p:nvSpPr>
        <p:spPr>
          <a:xfrm>
            <a:off x="1051560" y="178308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Open </a:t>
            </a:r>
            <a:r>
              <a:rPr sz="1300" b="0" lang="en-GB">
                <a:solidFill>
                  <a:schemeClr val="tx1"/>
                </a:solidFill>
              </a:rPr>
              <a:t>the invitation link on Canvas</a:t>
            </a:r>
          </a:p>
        </p:txBody>
      </p:sp>
      <p:sp>
        <p:nvSpPr>
          <p:cNvPr id="19" name="DataCamp steps row 2"/>
          <p:cNvSpPr/>
          <p:nvPr/>
        </p:nvSpPr>
        <p:spPr>
          <a:xfrm>
            <a:off x="457200" y="242316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DataCamp steps number 2"/>
          <p:cNvSpPr/>
          <p:nvPr/>
        </p:nvSpPr>
        <p:spPr>
          <a:xfrm>
            <a:off x="594360" y="254203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1" name="DataCamp steps text 2"/>
          <p:cNvSpPr txBox="1"/>
          <p:nvPr/>
        </p:nvSpPr>
        <p:spPr>
          <a:xfrm>
            <a:off x="1051560" y="242316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Sign up </a:t>
            </a:r>
            <a:r>
              <a:rPr sz="1300" b="0" lang="en-GB">
                <a:solidFill>
                  <a:schemeClr val="tx1"/>
                </a:solidFill>
              </a:rPr>
              <a:t>with your WU e-mail, or log in</a:t>
            </a:r>
          </a:p>
        </p:txBody>
      </p:sp>
      <p:sp>
        <p:nvSpPr>
          <p:cNvPr id="22" name="DataCamp steps row 3"/>
          <p:cNvSpPr/>
          <p:nvPr/>
        </p:nvSpPr>
        <p:spPr>
          <a:xfrm>
            <a:off x="457200" y="306324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DataCamp steps number 3"/>
          <p:cNvSpPr/>
          <p:nvPr/>
        </p:nvSpPr>
        <p:spPr>
          <a:xfrm>
            <a:off x="594360" y="318211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DataCamp steps text 3"/>
          <p:cNvSpPr txBox="1"/>
          <p:nvPr/>
        </p:nvSpPr>
        <p:spPr>
          <a:xfrm>
            <a:off x="1051560" y="306324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Join </a:t>
            </a:r>
            <a:r>
              <a:rPr sz="1300" b="0" lang="en-GB">
                <a:solidFill>
                  <a:schemeClr val="tx1"/>
                </a:solidFill>
              </a:rPr>
              <a:t>the classroom International Marketing Analytics</a:t>
            </a:r>
          </a:p>
        </p:txBody>
      </p:sp>
      <p:sp>
        <p:nvSpPr>
          <p:cNvPr id="25" name="DataCamp steps row 4"/>
          <p:cNvSpPr/>
          <p:nvPr/>
        </p:nvSpPr>
        <p:spPr>
          <a:xfrm>
            <a:off x="457200" y="370332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DataCamp steps number 4"/>
          <p:cNvSpPr/>
          <p:nvPr/>
        </p:nvSpPr>
        <p:spPr>
          <a:xfrm>
            <a:off x="594360" y="382219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7" name="DataCamp steps text 4"/>
          <p:cNvSpPr txBox="1"/>
          <p:nvPr/>
        </p:nvSpPr>
        <p:spPr>
          <a:xfrm>
            <a:off x="1051560" y="370332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Find </a:t>
            </a:r>
            <a:r>
              <a:rPr sz="1300" b="0" lang="en-GB">
                <a:solidFill>
                  <a:schemeClr val="tx1"/>
                </a:solidFill>
              </a:rPr>
              <a:t>the four assigned courses under Assignments</a:t>
            </a:r>
          </a:p>
        </p:txBody>
      </p:sp>
      <p:sp>
        <p:nvSpPr>
          <p:cNvPr id="28" name="DataCamp steps row 5"/>
          <p:cNvSpPr/>
          <p:nvPr/>
        </p:nvSpPr>
        <p:spPr>
          <a:xfrm>
            <a:off x="457200" y="4343400"/>
            <a:ext cx="512064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DataCamp steps number 5"/>
          <p:cNvSpPr/>
          <p:nvPr/>
        </p:nvSpPr>
        <p:spPr>
          <a:xfrm>
            <a:off x="594360" y="44622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0" name="DataCamp steps text 5"/>
          <p:cNvSpPr txBox="1"/>
          <p:nvPr/>
        </p:nvSpPr>
        <p:spPr>
          <a:xfrm>
            <a:off x="1051560" y="43434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Upload </a:t>
            </a:r>
            <a:r>
              <a:rPr sz="1300" b="0" lang="en-GB">
                <a:solidFill>
                  <a:schemeClr val="tx1"/>
                </a:solidFill>
              </a:rPr>
              <a:t>each certificate to Canvas by its deadline</a:t>
            </a:r>
          </a:p>
        </p:txBody>
      </p:sp>
      <p:sp>
        <p:nvSpPr>
          <p:cNvPr id="31" name="DataCamp facts"/>
          <p:cNvSpPr/>
          <p:nvPr/>
        </p:nvSpPr>
        <p:spPr>
          <a:xfrm>
            <a:off x="5760720" y="1783080"/>
            <a:ext cx="2926080" cy="31089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DataCamp bar 1"/>
          <p:cNvSpPr/>
          <p:nvPr/>
        </p:nvSpPr>
        <p:spPr>
          <a:xfrm>
            <a:off x="5897880" y="1920240"/>
            <a:ext cx="64008" cy="8229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DataCamp fact 1"/>
          <p:cNvSpPr txBox="1"/>
          <p:nvPr/>
        </p:nvSpPr>
        <p:spPr>
          <a:xfrm>
            <a:off x="6126480" y="19202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6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months free premium access</a:t>
            </a:r>
          </a:p>
        </p:txBody>
      </p:sp>
      <p:sp>
        <p:nvSpPr>
          <p:cNvPr id="34" name="DataCamp bar 2"/>
          <p:cNvSpPr/>
          <p:nvPr/>
        </p:nvSpPr>
        <p:spPr>
          <a:xfrm>
            <a:off x="5897880" y="2898648"/>
            <a:ext cx="64008" cy="8229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DataCamp fact 2"/>
          <p:cNvSpPr txBox="1"/>
          <p:nvPr/>
        </p:nvSpPr>
        <p:spPr>
          <a:xfrm>
            <a:off x="6126480" y="2898648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courses with certificates</a:t>
            </a:r>
          </a:p>
        </p:txBody>
      </p:sp>
      <p:sp>
        <p:nvSpPr>
          <p:cNvPr id="36" name="DataCamp bar 3"/>
          <p:cNvSpPr/>
          <p:nvPr/>
        </p:nvSpPr>
        <p:spPr>
          <a:xfrm>
            <a:off x="5897880" y="3877056"/>
            <a:ext cx="64008" cy="8229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DataCamp fact 3"/>
          <p:cNvSpPr txBox="1"/>
          <p:nvPr/>
        </p:nvSpPr>
        <p:spPr>
          <a:xfrm>
            <a:off x="6126480" y="3877056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en-GB"/>
              <a:t>Part 2 of 4 · uv, Positron, Quarto, GitHub Desktop, the course repository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1600" lang="en-GB"/>
              <a:t>Install the tools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How the pieces fit together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GitHub box"/>
          <p:cNvSpPr/>
          <p:nvPr/>
        </p:nvSpPr>
        <p:spPr>
          <a:xfrm>
            <a:off x="2971800" y="1234440"/>
            <a:ext cx="3200400" cy="5486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lou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307592"/>
            <a:ext cx="402336" cy="402336"/>
          </a:xfrm>
          <a:prstGeom prst="rect">
            <a:avLst/>
          </a:prstGeom>
        </p:spPr>
      </p:pic>
      <p:sp>
        <p:nvSpPr>
          <p:cNvPr id="12" name="GitHub text"/>
          <p:cNvSpPr txBox="1"/>
          <p:nvPr/>
        </p:nvSpPr>
        <p:spPr>
          <a:xfrm>
            <a:off x="3611880" y="123444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bg1"/>
                </a:solidFill>
              </a:rPr>
              <a:t>GitHub.com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</a:rPr>
              <a:t>course and group repositories</a:t>
            </a:r>
          </a:p>
        </p:txBody>
      </p:sp>
      <p:sp>
        <p:nvSpPr>
          <p:cNvPr id="13" name="Sync arrow"/>
          <p:cNvSpPr/>
          <p:nvPr/>
        </p:nvSpPr>
        <p:spPr>
          <a:xfrm>
            <a:off x="4407408" y="1801368"/>
            <a:ext cx="329184" cy="457200"/>
          </a:xfrm>
          <a:prstGeom prst="upDownArrow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Laptop area"/>
          <p:cNvSpPr/>
          <p:nvPr/>
        </p:nvSpPr>
        <p:spPr>
          <a:xfrm>
            <a:off x="457200" y="2286000"/>
            <a:ext cx="8229600" cy="26060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Laptop label"/>
          <p:cNvSpPr txBox="1"/>
          <p:nvPr/>
        </p:nvSpPr>
        <p:spPr>
          <a:xfrm>
            <a:off x="59436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Your laptop</a:t>
            </a:r>
          </a:p>
        </p:txBody>
      </p:sp>
      <p:sp>
        <p:nvSpPr>
          <p:cNvPr id="16" name="Laptop box 1"/>
          <p:cNvSpPr/>
          <p:nvPr/>
        </p:nvSpPr>
        <p:spPr>
          <a:xfrm>
            <a:off x="685800" y="269748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laptop 1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80360"/>
            <a:ext cx="411480" cy="411480"/>
          </a:xfrm>
          <a:prstGeom prst="rect">
            <a:avLst/>
          </a:prstGeom>
        </p:spPr>
      </p:pic>
      <p:sp>
        <p:nvSpPr>
          <p:cNvPr id="18" name="Laptop text 1"/>
          <p:cNvSpPr txBox="1"/>
          <p:nvPr/>
        </p:nvSpPr>
        <p:spPr>
          <a:xfrm>
            <a:off x="1325880" y="269748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GitHub Desktop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clone, pull and push</a:t>
            </a:r>
          </a:p>
        </p:txBody>
      </p:sp>
      <p:sp>
        <p:nvSpPr>
          <p:cNvPr id="19" name="Laptop box 2"/>
          <p:cNvSpPr/>
          <p:nvPr/>
        </p:nvSpPr>
        <p:spPr>
          <a:xfrm>
            <a:off x="3383280" y="269748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laptop 2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3008" y="2880360"/>
            <a:ext cx="411480" cy="411480"/>
          </a:xfrm>
          <a:prstGeom prst="rect">
            <a:avLst/>
          </a:prstGeom>
        </p:spPr>
      </p:pic>
      <p:sp>
        <p:nvSpPr>
          <p:cNvPr id="21" name="Laptop text 2"/>
          <p:cNvSpPr txBox="1"/>
          <p:nvPr/>
        </p:nvSpPr>
        <p:spPr>
          <a:xfrm>
            <a:off x="4023360" y="269748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Course folder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data, code, requirements.txt</a:t>
            </a:r>
          </a:p>
        </p:txBody>
      </p:sp>
      <p:sp>
        <p:nvSpPr>
          <p:cNvPr id="22" name="Laptop box 3"/>
          <p:cNvSpPr/>
          <p:nvPr/>
        </p:nvSpPr>
        <p:spPr>
          <a:xfrm>
            <a:off x="6080760" y="269748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laptop 3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2880360"/>
            <a:ext cx="411480" cy="411480"/>
          </a:xfrm>
          <a:prstGeom prst="rect">
            <a:avLst/>
          </a:prstGeom>
        </p:spPr>
      </p:pic>
      <p:sp>
        <p:nvSpPr>
          <p:cNvPr id="24" name="Laptop text 3"/>
          <p:cNvSpPr txBox="1"/>
          <p:nvPr/>
        </p:nvSpPr>
        <p:spPr>
          <a:xfrm>
            <a:off x="6720840" y="269748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Positron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where you write and run code</a:t>
            </a:r>
          </a:p>
        </p:txBody>
      </p:sp>
      <p:sp>
        <p:nvSpPr>
          <p:cNvPr id="25" name="Laptop arrow 1"/>
          <p:cNvSpPr txBox="1"/>
          <p:nvPr/>
        </p:nvSpPr>
        <p:spPr>
          <a:xfrm>
            <a:off x="3063240" y="2697480"/>
            <a:ext cx="3200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 lang="en-GB">
                <a:solidFill>
                  <a:schemeClr val="accent1"/>
                </a:solidFill>
              </a:rPr>
              <a:t>↔</a:t>
            </a:r>
          </a:p>
        </p:txBody>
      </p:sp>
      <p:sp>
        <p:nvSpPr>
          <p:cNvPr id="26" name="Laptop arrow 2"/>
          <p:cNvSpPr txBox="1"/>
          <p:nvPr/>
        </p:nvSpPr>
        <p:spPr>
          <a:xfrm>
            <a:off x="5760720" y="2697480"/>
            <a:ext cx="3200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 lang="en-GB">
                <a:solidFill>
                  <a:schemeClr val="accent1"/>
                </a:solidFill>
              </a:rPr>
              <a:t>↔</a:t>
            </a:r>
          </a:p>
        </p:txBody>
      </p:sp>
      <p:sp>
        <p:nvSpPr>
          <p:cNvPr id="27" name="Inside label"/>
          <p:cNvSpPr txBox="1"/>
          <p:nvPr/>
        </p:nvSpPr>
        <p:spPr>
          <a:xfrm>
            <a:off x="685800" y="36118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Inside Positron you use</a:t>
            </a:r>
          </a:p>
        </p:txBody>
      </p:sp>
      <p:sp>
        <p:nvSpPr>
          <p:cNvPr id="28" name="Inside box 1"/>
          <p:cNvSpPr/>
          <p:nvPr/>
        </p:nvSpPr>
        <p:spPr>
          <a:xfrm>
            <a:off x="685800" y="393192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inside 1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4114800"/>
            <a:ext cx="411480" cy="411480"/>
          </a:xfrm>
          <a:prstGeom prst="rect">
            <a:avLst/>
          </a:prstGeom>
        </p:spPr>
      </p:pic>
      <p:sp>
        <p:nvSpPr>
          <p:cNvPr id="30" name="Inside text 1"/>
          <p:cNvSpPr txBox="1"/>
          <p:nvPr/>
        </p:nvSpPr>
        <p:spPr>
          <a:xfrm>
            <a:off x="1325880" y="393192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Python + packages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in a .venv made by uv</a:t>
            </a:r>
          </a:p>
        </p:txBody>
      </p:sp>
      <p:sp>
        <p:nvSpPr>
          <p:cNvPr id="31" name="Inside box 2"/>
          <p:cNvSpPr/>
          <p:nvPr/>
        </p:nvSpPr>
        <p:spPr>
          <a:xfrm>
            <a:off x="3383280" y="393192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inside 2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3008" y="4114800"/>
            <a:ext cx="411480" cy="411480"/>
          </a:xfrm>
          <a:prstGeom prst="rect">
            <a:avLst/>
          </a:prstGeom>
        </p:spPr>
      </p:pic>
      <p:sp>
        <p:nvSpPr>
          <p:cNvPr id="33" name="Inside text 2"/>
          <p:cNvSpPr txBox="1"/>
          <p:nvPr/>
        </p:nvSpPr>
        <p:spPr>
          <a:xfrm>
            <a:off x="4023360" y="393192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Quarto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turns .qmd files into reports</a:t>
            </a:r>
          </a:p>
        </p:txBody>
      </p:sp>
      <p:sp>
        <p:nvSpPr>
          <p:cNvPr id="34" name="Inside box 3"/>
          <p:cNvSpPr/>
          <p:nvPr/>
        </p:nvSpPr>
        <p:spPr>
          <a:xfrm>
            <a:off x="6080760" y="393192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inside 3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0488" y="4114800"/>
            <a:ext cx="411480" cy="411480"/>
          </a:xfrm>
          <a:prstGeom prst="rect">
            <a:avLst/>
          </a:prstGeom>
        </p:spPr>
      </p:pic>
      <p:sp>
        <p:nvSpPr>
          <p:cNvPr id="36" name="Inside text 3"/>
          <p:cNvSpPr txBox="1"/>
          <p:nvPr/>
        </p:nvSpPr>
        <p:spPr>
          <a:xfrm>
            <a:off x="6720840" y="393192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AI assistant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writes and explains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Step 2: install uv, which installs Python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Windows code caption bar"/>
          <p:cNvSpPr/>
          <p:nvPr/>
        </p:nvSpPr>
        <p:spPr>
          <a:xfrm>
            <a:off x="457200" y="1783080"/>
            <a:ext cx="512064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Windows code caption"/>
          <p:cNvSpPr txBox="1"/>
          <p:nvPr/>
        </p:nvSpPr>
        <p:spPr>
          <a:xfrm>
            <a:off x="566928" y="1783080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Windows: PowerShell (one line)</a:t>
            </a:r>
          </a:p>
        </p:txBody>
      </p:sp>
      <p:sp>
        <p:nvSpPr>
          <p:cNvPr id="18" name="Windows code box"/>
          <p:cNvSpPr/>
          <p:nvPr/>
        </p:nvSpPr>
        <p:spPr>
          <a:xfrm>
            <a:off x="457200" y="2057400"/>
            <a:ext cx="5120640" cy="6858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Windows code code"/>
          <p:cNvSpPr txBox="1"/>
          <p:nvPr/>
        </p:nvSpPr>
        <p:spPr>
          <a:xfrm>
            <a:off x="594360" y="214884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powershell -ExecutionPolicy ByPass -c "irm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  https://astral.sh/uv/install.ps1 | iex"</a:t>
            </a:r>
          </a:p>
        </p:txBody>
      </p:sp>
      <p:sp>
        <p:nvSpPr>
          <p:cNvPr id="20" name="Mac code caption bar"/>
          <p:cNvSpPr/>
          <p:nvPr/>
        </p:nvSpPr>
        <p:spPr>
          <a:xfrm>
            <a:off x="457200" y="2880360"/>
            <a:ext cx="512064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Mac code caption"/>
          <p:cNvSpPr txBox="1"/>
          <p:nvPr/>
        </p:nvSpPr>
        <p:spPr>
          <a:xfrm>
            <a:off x="566928" y="2880360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macOS: Terminal</a:t>
            </a:r>
          </a:p>
        </p:txBody>
      </p:sp>
      <p:sp>
        <p:nvSpPr>
          <p:cNvPr id="22" name="Mac code box"/>
          <p:cNvSpPr/>
          <p:nvPr/>
        </p:nvSpPr>
        <p:spPr>
          <a:xfrm>
            <a:off x="457200" y="3154680"/>
            <a:ext cx="5120640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Mac code code"/>
          <p:cNvSpPr txBox="1"/>
          <p:nvPr/>
        </p:nvSpPr>
        <p:spPr>
          <a:xfrm>
            <a:off x="594360" y="32461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curl -LsSf https://astral.sh/uv/install.sh | sh</a:t>
            </a:r>
          </a:p>
        </p:txBody>
      </p:sp>
      <p:sp>
        <p:nvSpPr>
          <p:cNvPr id="24" name="Check code caption bar"/>
          <p:cNvSpPr/>
          <p:nvPr/>
        </p:nvSpPr>
        <p:spPr>
          <a:xfrm>
            <a:off x="457200" y="3749040"/>
            <a:ext cx="512064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heck code caption"/>
          <p:cNvSpPr txBox="1"/>
          <p:nvPr/>
        </p:nvSpPr>
        <p:spPr>
          <a:xfrm>
            <a:off x="566928" y="3749040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Then, in a new terminal window: check</a:t>
            </a:r>
          </a:p>
        </p:txBody>
      </p:sp>
      <p:sp>
        <p:nvSpPr>
          <p:cNvPr id="26" name="Check code box"/>
          <p:cNvSpPr/>
          <p:nvPr/>
        </p:nvSpPr>
        <p:spPr>
          <a:xfrm>
            <a:off x="457200" y="4023360"/>
            <a:ext cx="5120640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Check code code"/>
          <p:cNvSpPr txBox="1"/>
          <p:nvPr/>
        </p:nvSpPr>
        <p:spPr>
          <a:xfrm>
            <a:off x="594360" y="41148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uv --version</a:t>
            </a:r>
          </a:p>
        </p:txBody>
      </p:sp>
      <p:sp>
        <p:nvSpPr>
          <p:cNvPr id="28" name="uv card body"/>
          <p:cNvSpPr/>
          <p:nvPr/>
        </p:nvSpPr>
        <p:spPr>
          <a:xfrm>
            <a:off x="5760720" y="2194560"/>
            <a:ext cx="292608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uv card header"/>
          <p:cNvSpPr/>
          <p:nvPr/>
        </p:nvSpPr>
        <p:spPr>
          <a:xfrm>
            <a:off x="5760720" y="1783080"/>
            <a:ext cx="292608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uv card heading"/>
          <p:cNvSpPr txBox="1"/>
          <p:nvPr/>
        </p:nvSpPr>
        <p:spPr>
          <a:xfrm>
            <a:off x="5897880" y="178308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What uv does</a:t>
            </a:r>
          </a:p>
        </p:txBody>
      </p:sp>
      <p:pic>
        <p:nvPicPr>
          <p:cNvPr id="31" name="Icon uv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833372"/>
            <a:ext cx="310896" cy="310896"/>
          </a:xfrm>
          <a:prstGeom prst="rect">
            <a:avLst/>
          </a:prstGeom>
        </p:spPr>
      </p:pic>
      <p:sp>
        <p:nvSpPr>
          <p:cNvPr id="32" name="uv card text"/>
          <p:cNvSpPr txBox="1"/>
          <p:nvPr/>
        </p:nvSpPr>
        <p:spPr>
          <a:xfrm>
            <a:off x="5925312" y="2331720"/>
            <a:ext cx="262432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Installs Python for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Creates a private environment per project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Installs packages in seconds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Replaces pip, venv and pyenv</a:t>
            </a:r>
          </a:p>
        </p:txBody>
      </p:sp>
      <p:sp>
        <p:nvSpPr>
          <p:cNvPr id="33" name="Windows note"/>
          <p:cNvSpPr txBox="1"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Windows: </a:t>
            </a:r>
            <a:r>
              <a:rPr sz="1200" b="0" lang="en-GB">
                <a:solidFill>
                  <a:schemeClr val="tx1"/>
                </a:solidFill>
              </a:rPr>
              <a:t>type the command on one line; the line break above is only for the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Step 2: install Positron, Quarto and GitHub Desktop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Tool card 1 body"/>
          <p:cNvSpPr/>
          <p:nvPr/>
        </p:nvSpPr>
        <p:spPr>
          <a:xfrm>
            <a:off x="457200" y="2194560"/>
            <a:ext cx="2651760" cy="23317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ool card 1 header"/>
          <p:cNvSpPr/>
          <p:nvPr/>
        </p:nvSpPr>
        <p:spPr>
          <a:xfrm>
            <a:off x="457200" y="1783080"/>
            <a:ext cx="265176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ool card 1 heading"/>
          <p:cNvSpPr txBox="1"/>
          <p:nvPr/>
        </p:nvSpPr>
        <p:spPr>
          <a:xfrm>
            <a:off x="594360" y="178308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Positron</a:t>
            </a:r>
          </a:p>
        </p:txBody>
      </p:sp>
      <p:pic>
        <p:nvPicPr>
          <p:cNvPr id="19" name="Icon Tool card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1833372"/>
            <a:ext cx="310896" cy="310896"/>
          </a:xfrm>
          <a:prstGeom prst="rect">
            <a:avLst/>
          </a:prstGeom>
        </p:spPr>
      </p:pic>
      <p:sp>
        <p:nvSpPr>
          <p:cNvPr id="20" name="Tool card 1 text"/>
          <p:cNvSpPr txBox="1"/>
          <p:nvPr/>
        </p:nvSpPr>
        <p:spPr>
          <a:xfrm>
            <a:off x="621792" y="2331720"/>
            <a:ext cx="2350008" cy="205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The editor for code, data and charts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Free, from Posit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macOS: drag it to Applications</a:t>
            </a:r>
          </a:p>
        </p:txBody>
      </p:sp>
      <p:sp>
        <p:nvSpPr>
          <p:cNvPr id="21" name="Tool link 1"/>
          <p:cNvSpPr txBox="1"/>
          <p:nvPr/>
        </p:nvSpPr>
        <p:spPr>
          <a:xfrm>
            <a:off x="621792" y="4069080"/>
            <a:ext cx="2350008" cy="3200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accent1"/>
                </a:solidFill>
                <a:hlinkClick r:id="rId4"/>
              </a:rPr>
              <a:t>positron.posit.co/download</a:t>
            </a:r>
          </a:p>
        </p:txBody>
      </p:sp>
      <p:sp>
        <p:nvSpPr>
          <p:cNvPr id="22" name="Tool card 2 body"/>
          <p:cNvSpPr/>
          <p:nvPr/>
        </p:nvSpPr>
        <p:spPr>
          <a:xfrm>
            <a:off x="3246120" y="2194560"/>
            <a:ext cx="2651760" cy="23317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ool card 2 header"/>
          <p:cNvSpPr/>
          <p:nvPr/>
        </p:nvSpPr>
        <p:spPr>
          <a:xfrm>
            <a:off x="3246120" y="1783080"/>
            <a:ext cx="265176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ool card 2 heading"/>
          <p:cNvSpPr txBox="1"/>
          <p:nvPr/>
        </p:nvSpPr>
        <p:spPr>
          <a:xfrm>
            <a:off x="3383280" y="178308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Quarto</a:t>
            </a:r>
          </a:p>
        </p:txBody>
      </p:sp>
      <p:pic>
        <p:nvPicPr>
          <p:cNvPr id="25" name="Icon Tool card 2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1833372"/>
            <a:ext cx="310896" cy="310896"/>
          </a:xfrm>
          <a:prstGeom prst="rect">
            <a:avLst/>
          </a:prstGeom>
        </p:spPr>
      </p:pic>
      <p:sp>
        <p:nvSpPr>
          <p:cNvPr id="26" name="Tool card 2 text"/>
          <p:cNvSpPr txBox="1"/>
          <p:nvPr/>
        </p:nvSpPr>
        <p:spPr>
          <a:xfrm>
            <a:off x="3410712" y="2331720"/>
            <a:ext cx="2350008" cy="205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Turns text and code into reports and slides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Check: quarto --version</a:t>
            </a:r>
          </a:p>
        </p:txBody>
      </p:sp>
      <p:sp>
        <p:nvSpPr>
          <p:cNvPr id="27" name="Tool link 2"/>
          <p:cNvSpPr txBox="1"/>
          <p:nvPr/>
        </p:nvSpPr>
        <p:spPr>
          <a:xfrm>
            <a:off x="3410712" y="4069080"/>
            <a:ext cx="2350008" cy="3200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accent1"/>
                </a:solidFill>
                <a:hlinkClick r:id="rId6"/>
              </a:rPr>
              <a:t>quarto.org/docs/get-started</a:t>
            </a:r>
          </a:p>
        </p:txBody>
      </p:sp>
      <p:sp>
        <p:nvSpPr>
          <p:cNvPr id="28" name="Tool card 3 body"/>
          <p:cNvSpPr/>
          <p:nvPr/>
        </p:nvSpPr>
        <p:spPr>
          <a:xfrm>
            <a:off x="6035040" y="2194560"/>
            <a:ext cx="2651760" cy="23317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ool card 3 header"/>
          <p:cNvSpPr/>
          <p:nvPr/>
        </p:nvSpPr>
        <p:spPr>
          <a:xfrm>
            <a:off x="6035040" y="1783080"/>
            <a:ext cx="265176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ool card 3 heading"/>
          <p:cNvSpPr txBox="1"/>
          <p:nvPr/>
        </p:nvSpPr>
        <p:spPr>
          <a:xfrm>
            <a:off x="6172200" y="178308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GitHub Desktop</a:t>
            </a:r>
          </a:p>
        </p:txBody>
      </p:sp>
      <p:pic>
        <p:nvPicPr>
          <p:cNvPr id="31" name="Icon Tool card 3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1833372"/>
            <a:ext cx="310896" cy="310896"/>
          </a:xfrm>
          <a:prstGeom prst="rect">
            <a:avLst/>
          </a:prstGeom>
        </p:spPr>
      </p:pic>
      <p:sp>
        <p:nvSpPr>
          <p:cNvPr id="32" name="Tool card 3 text"/>
          <p:cNvSpPr txBox="1"/>
          <p:nvPr/>
        </p:nvSpPr>
        <p:spPr>
          <a:xfrm>
            <a:off x="6199632" y="2331720"/>
            <a:ext cx="2350008" cy="205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Clone, pull and push with clicks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Installs Git for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Sign in with your GitHub account</a:t>
            </a:r>
          </a:p>
        </p:txBody>
      </p:sp>
      <p:sp>
        <p:nvSpPr>
          <p:cNvPr id="33" name="Tool link 3"/>
          <p:cNvSpPr txBox="1"/>
          <p:nvPr/>
        </p:nvSpPr>
        <p:spPr>
          <a:xfrm>
            <a:off x="6199632" y="4069080"/>
            <a:ext cx="2350008" cy="3200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accent1"/>
                </a:solidFill>
                <a:hlinkClick r:id="rId8"/>
              </a:rPr>
              <a:t>desktop.github.com</a:t>
            </a:r>
          </a:p>
        </p:txBody>
      </p:sp>
      <p:sp>
        <p:nvSpPr>
          <p:cNvPr id="34" name="Restart box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Restar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654296"/>
            <a:ext cx="384048" cy="384048"/>
          </a:xfrm>
          <a:prstGeom prst="rect">
            <a:avLst/>
          </a:prstGeom>
        </p:spPr>
      </p:pic>
      <p:sp>
        <p:nvSpPr>
          <p:cNvPr id="36" name="Restart text"/>
          <p:cNvSpPr txBox="1"/>
          <p:nvPr/>
        </p:nvSpPr>
        <p:spPr>
          <a:xfrm>
            <a:off x="1234440" y="4617720"/>
            <a:ext cx="72694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Restart Positron </a:t>
            </a:r>
            <a:r>
              <a:rPr sz="1300" b="0" lang="en-GB">
                <a:solidFill>
                  <a:schemeClr val="tx1"/>
                </a:solidFill>
              </a:rPr>
              <a:t>after installing Quarto, so it finds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Step 3: get the course repository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Clone steps step 1"/>
          <p:cNvSpPr/>
          <p:nvPr/>
        </p:nvSpPr>
        <p:spPr>
          <a:xfrm>
            <a:off x="457200" y="1783080"/>
            <a:ext cx="2139696" cy="54864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Copy the URL</a:t>
            </a:r>
            <a:br/>
            <a:r>
              <a:rPr sz="1200" b="1" lang="en-GB">
                <a:solidFill>
                  <a:schemeClr val="tx2"/>
                </a:solidFill>
              </a:rPr>
              <a:t>from Canvas</a:t>
            </a:r>
          </a:p>
        </p:txBody>
      </p:sp>
      <p:sp>
        <p:nvSpPr>
          <p:cNvPr id="17" name="Clone steps step 2"/>
          <p:cNvSpPr/>
          <p:nvPr/>
        </p:nvSpPr>
        <p:spPr>
          <a:xfrm>
            <a:off x="2487168" y="1783080"/>
            <a:ext cx="2139696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GitHub Desktop:</a:t>
            </a:r>
            <a:br/>
            <a:r>
              <a:rPr sz="1200" b="1" lang="en-GB">
                <a:solidFill>
                  <a:schemeClr val="tx2"/>
                </a:solidFill>
              </a:rPr>
              <a:t>Clone repository</a:t>
            </a:r>
          </a:p>
        </p:txBody>
      </p:sp>
      <p:sp>
        <p:nvSpPr>
          <p:cNvPr id="18" name="Clone steps step 3"/>
          <p:cNvSpPr/>
          <p:nvPr/>
        </p:nvSpPr>
        <p:spPr>
          <a:xfrm>
            <a:off x="4517136" y="1783080"/>
            <a:ext cx="2139696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Pick a folder</a:t>
            </a:r>
            <a:br/>
            <a:r>
              <a:rPr sz="1200" b="1" lang="en-GB">
                <a:solidFill>
                  <a:schemeClr val="tx2"/>
                </a:solidFill>
              </a:rPr>
              <a:t>without spaces</a:t>
            </a:r>
          </a:p>
        </p:txBody>
      </p:sp>
      <p:sp>
        <p:nvSpPr>
          <p:cNvPr id="19" name="Clone steps step 4"/>
          <p:cNvSpPr/>
          <p:nvPr/>
        </p:nvSpPr>
        <p:spPr>
          <a:xfrm>
            <a:off x="6547104" y="1783080"/>
            <a:ext cx="2139696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Positron:</a:t>
            </a:r>
            <a:br/>
            <a:r>
              <a:rPr sz="1200" b="1" lang="en-GB">
                <a:solidFill>
                  <a:schemeClr val="tx2"/>
                </a:solidFill>
              </a:rPr>
              <a:t>Open Folder</a:t>
            </a:r>
          </a:p>
        </p:txBody>
      </p:sp>
      <p:sp>
        <p:nvSpPr>
          <p:cNvPr id="20" name="Folder code caption bar"/>
          <p:cNvSpPr/>
          <p:nvPr/>
        </p:nvSpPr>
        <p:spPr>
          <a:xfrm>
            <a:off x="457200" y="2514600"/>
            <a:ext cx="402336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Folder code caption"/>
          <p:cNvSpPr txBox="1"/>
          <p:nvPr/>
        </p:nvSpPr>
        <p:spPr>
          <a:xfrm>
            <a:off x="566928" y="2514600"/>
            <a:ext cx="380390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Good folder names</a:t>
            </a:r>
          </a:p>
        </p:txBody>
      </p:sp>
      <p:sp>
        <p:nvSpPr>
          <p:cNvPr id="22" name="Folder code box"/>
          <p:cNvSpPr/>
          <p:nvPr/>
        </p:nvSpPr>
        <p:spPr>
          <a:xfrm>
            <a:off x="457200" y="2788920"/>
            <a:ext cx="4023360" cy="6858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Folder code code"/>
          <p:cNvSpPr txBox="1"/>
          <p:nvPr/>
        </p:nvSpPr>
        <p:spPr>
          <a:xfrm>
            <a:off x="594360" y="2880360"/>
            <a:ext cx="37490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C:\Users\anna\wu\ima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~/wu/ima</a:t>
            </a:r>
          </a:p>
        </p:txBody>
      </p:sp>
      <p:sp>
        <p:nvSpPr>
          <p:cNvPr id="24" name="Folder note"/>
          <p:cNvSpPr txBox="1"/>
          <p:nvPr/>
        </p:nvSpPr>
        <p:spPr>
          <a:xfrm>
            <a:off x="457200" y="3566160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Avoid </a:t>
            </a:r>
            <a:r>
              <a:rPr sz="1200" b="0" lang="en-GB">
                <a:solidFill>
                  <a:schemeClr val="tx1"/>
                </a:solidFill>
              </a:rPr>
              <a:t>spaces, umlauts and cloud folders such as OneDrive or iCloud: they break paths and syncing.</a:t>
            </a:r>
          </a:p>
        </p:txBody>
      </p:sp>
      <p:sp>
        <p:nvSpPr>
          <p:cNvPr id="25" name="Git word 1"/>
          <p:cNvSpPr/>
          <p:nvPr/>
        </p:nvSpPr>
        <p:spPr>
          <a:xfrm>
            <a:off x="4663440" y="2514600"/>
            <a:ext cx="4023360" cy="53035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Git word bar 1"/>
          <p:cNvSpPr/>
          <p:nvPr/>
        </p:nvSpPr>
        <p:spPr>
          <a:xfrm>
            <a:off x="4663440" y="2514600"/>
            <a:ext cx="64008" cy="5303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Git word text 1"/>
          <p:cNvSpPr txBox="1"/>
          <p:nvPr/>
        </p:nvSpPr>
        <p:spPr>
          <a:xfrm>
            <a:off x="4864608" y="2514600"/>
            <a:ext cx="37307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Clone: </a:t>
            </a:r>
            <a:r>
              <a:rPr sz="1200" b="0" lang="en-GB">
                <a:solidFill>
                  <a:schemeClr val="tx1"/>
                </a:solidFill>
              </a:rPr>
              <a:t>your own copy of the repository, linked to GitHub</a:t>
            </a:r>
          </a:p>
        </p:txBody>
      </p:sp>
      <p:sp>
        <p:nvSpPr>
          <p:cNvPr id="28" name="Git word 2"/>
          <p:cNvSpPr/>
          <p:nvPr/>
        </p:nvSpPr>
        <p:spPr>
          <a:xfrm>
            <a:off x="4663440" y="3136392"/>
            <a:ext cx="4023360" cy="53035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Git word bar 2"/>
          <p:cNvSpPr/>
          <p:nvPr/>
        </p:nvSpPr>
        <p:spPr>
          <a:xfrm>
            <a:off x="4663440" y="3136392"/>
            <a:ext cx="64008" cy="5303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Git word text 2"/>
          <p:cNvSpPr txBox="1"/>
          <p:nvPr/>
        </p:nvSpPr>
        <p:spPr>
          <a:xfrm>
            <a:off x="4864608" y="3136392"/>
            <a:ext cx="37307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Pull: </a:t>
            </a:r>
            <a:r>
              <a:rPr sz="1200" b="0" lang="en-GB">
                <a:solidFill>
                  <a:schemeClr val="tx1"/>
                </a:solidFill>
              </a:rPr>
              <a:t>get the latest materials; do it before every session</a:t>
            </a:r>
          </a:p>
        </p:txBody>
      </p:sp>
      <p:sp>
        <p:nvSpPr>
          <p:cNvPr id="31" name="Git word 3"/>
          <p:cNvSpPr/>
          <p:nvPr/>
        </p:nvSpPr>
        <p:spPr>
          <a:xfrm>
            <a:off x="4663440" y="3758184"/>
            <a:ext cx="4023360" cy="53035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Git word bar 3"/>
          <p:cNvSpPr/>
          <p:nvPr/>
        </p:nvSpPr>
        <p:spPr>
          <a:xfrm>
            <a:off x="4663440" y="3758184"/>
            <a:ext cx="64008" cy="5303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Git word text 3"/>
          <p:cNvSpPr txBox="1"/>
          <p:nvPr/>
        </p:nvSpPr>
        <p:spPr>
          <a:xfrm>
            <a:off x="4864608" y="3758184"/>
            <a:ext cx="37307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Commit and push: </a:t>
            </a:r>
            <a:r>
              <a:rPr sz="1200" b="0" lang="en-GB">
                <a:solidFill>
                  <a:schemeClr val="tx1"/>
                </a:solidFill>
              </a:rPr>
              <a:t>save and upload your changes (group repository)</a:t>
            </a:r>
          </a:p>
        </p:txBody>
      </p:sp>
      <p:sp>
        <p:nvSpPr>
          <p:cNvPr id="34" name="Open folder box"/>
          <p:cNvSpPr/>
          <p:nvPr/>
        </p:nvSpPr>
        <p:spPr>
          <a:xfrm>
            <a:off x="457200" y="4480560"/>
            <a:ext cx="8229600" cy="594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Open folder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85716"/>
            <a:ext cx="384048" cy="384048"/>
          </a:xfrm>
          <a:prstGeom prst="rect">
            <a:avLst/>
          </a:prstGeom>
        </p:spPr>
      </p:pic>
      <p:sp>
        <p:nvSpPr>
          <p:cNvPr id="36" name="Open folder text"/>
          <p:cNvSpPr txBox="1"/>
          <p:nvPr/>
        </p:nvSpPr>
        <p:spPr>
          <a:xfrm>
            <a:off x="1234440" y="4480560"/>
            <a:ext cx="726948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In Positron: </a:t>
            </a:r>
            <a:r>
              <a:rPr sz="1300" b="0" lang="en-GB">
                <a:solidFill>
                  <a:schemeClr val="tx1"/>
                </a:solidFill>
              </a:rPr>
              <a:t>File → Open Folder and choose the cloned folder.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Step 4: create the Python environment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Env code caption bar"/>
          <p:cNvSpPr/>
          <p:nvPr/>
        </p:nvSpPr>
        <p:spPr>
          <a:xfrm>
            <a:off x="457200" y="1783080"/>
            <a:ext cx="457200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nv code caption"/>
          <p:cNvSpPr txBox="1"/>
          <p:nvPr/>
        </p:nvSpPr>
        <p:spPr>
          <a:xfrm>
            <a:off x="566928" y="1783080"/>
            <a:ext cx="435254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Positron: Terminal → New Terminal, then</a:t>
            </a:r>
          </a:p>
        </p:txBody>
      </p:sp>
      <p:sp>
        <p:nvSpPr>
          <p:cNvPr id="18" name="Env code box"/>
          <p:cNvSpPr/>
          <p:nvPr/>
        </p:nvSpPr>
        <p:spPr>
          <a:xfrm>
            <a:off x="457200" y="2057400"/>
            <a:ext cx="4572000" cy="7315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Env code code"/>
          <p:cNvSpPr txBox="1"/>
          <p:nvPr/>
        </p:nvSpPr>
        <p:spPr>
          <a:xfrm>
            <a:off x="594360" y="214884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uv venv --python 3.12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uv pip install -r requirements.txt</a:t>
            </a:r>
          </a:p>
        </p:txBody>
      </p:sp>
      <p:sp>
        <p:nvSpPr>
          <p:cNvPr id="20" name="Env steps row 1"/>
          <p:cNvSpPr/>
          <p:nvPr/>
        </p:nvSpPr>
        <p:spPr>
          <a:xfrm>
            <a:off x="457200" y="2971800"/>
            <a:ext cx="4572000" cy="502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Env steps number 1"/>
          <p:cNvSpPr/>
          <p:nvPr/>
        </p:nvSpPr>
        <p:spPr>
          <a:xfrm>
            <a:off x="594360" y="306781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2" name="Env steps text 1"/>
          <p:cNvSpPr txBox="1"/>
          <p:nvPr/>
        </p:nvSpPr>
        <p:spPr>
          <a:xfrm>
            <a:off x="1051560" y="297180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Creates .venv: </a:t>
            </a:r>
            <a:r>
              <a:rPr sz="1300" b="0" lang="en-GB">
                <a:solidFill>
                  <a:schemeClr val="tx1"/>
                </a:solidFill>
              </a:rPr>
              <a:t>a private Python just for this folder</a:t>
            </a:r>
          </a:p>
        </p:txBody>
      </p:sp>
      <p:sp>
        <p:nvSpPr>
          <p:cNvPr id="23" name="Env steps row 2"/>
          <p:cNvSpPr/>
          <p:nvPr/>
        </p:nvSpPr>
        <p:spPr>
          <a:xfrm>
            <a:off x="457200" y="3566160"/>
            <a:ext cx="4572000" cy="502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Env steps number 2"/>
          <p:cNvSpPr/>
          <p:nvPr/>
        </p:nvSpPr>
        <p:spPr>
          <a:xfrm>
            <a:off x="594360" y="36621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5" name="Env steps text 2"/>
          <p:cNvSpPr txBox="1"/>
          <p:nvPr/>
        </p:nvSpPr>
        <p:spPr>
          <a:xfrm>
            <a:off x="1051560" y="35661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Installs </a:t>
            </a:r>
            <a:r>
              <a:rPr sz="1300" b="0" lang="en-GB">
                <a:solidFill>
                  <a:schemeClr val="tx1"/>
                </a:solidFill>
              </a:rPr>
              <a:t>the packages and versions in requirements.txt</a:t>
            </a:r>
          </a:p>
        </p:txBody>
      </p:sp>
      <p:sp>
        <p:nvSpPr>
          <p:cNvPr id="26" name="Env steps row 3"/>
          <p:cNvSpPr/>
          <p:nvPr/>
        </p:nvSpPr>
        <p:spPr>
          <a:xfrm>
            <a:off x="457200" y="4160520"/>
            <a:ext cx="4572000" cy="502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Env steps number 3"/>
          <p:cNvSpPr/>
          <p:nvPr/>
        </p:nvSpPr>
        <p:spPr>
          <a:xfrm>
            <a:off x="594360" y="425653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8" name="Env steps text 3"/>
          <p:cNvSpPr txBox="1"/>
          <p:nvPr/>
        </p:nvSpPr>
        <p:spPr>
          <a:xfrm>
            <a:off x="1051560" y="41605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Select it: </a:t>
            </a:r>
            <a:r>
              <a:rPr sz="1300" b="0" lang="en-GB">
                <a:solidFill>
                  <a:schemeClr val="tx1"/>
                </a:solidFill>
              </a:rPr>
              <a:t>click the interpreter at the top right</a:t>
            </a:r>
          </a:p>
        </p:txBody>
      </p:sp>
      <p:sp>
        <p:nvSpPr>
          <p:cNvPr id="29" name="Interpreter panel"/>
          <p:cNvSpPr/>
          <p:nvPr/>
        </p:nvSpPr>
        <p:spPr>
          <a:xfrm>
            <a:off x="5212080" y="1783080"/>
            <a:ext cx="3474720" cy="2880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Interpreter head"/>
          <p:cNvSpPr txBox="1"/>
          <p:nvPr/>
        </p:nvSpPr>
        <p:spPr>
          <a:xfrm>
            <a:off x="5394960" y="1874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The interpreter selector</a:t>
            </a:r>
          </a:p>
        </p:txBody>
      </p:sp>
      <p:sp>
        <p:nvSpPr>
          <p:cNvPr id="31" name="Interpreter pill"/>
          <p:cNvSpPr/>
          <p:nvPr/>
        </p:nvSpPr>
        <p:spPr>
          <a:xfrm>
            <a:off x="5532120" y="2331720"/>
            <a:ext cx="2834640" cy="411480"/>
          </a:xfrm>
          <a:prstGeom prst="roundRect">
            <a:avLst/>
          </a:prstGeom>
          <a:solidFill>
            <a:srgbClr val="FFFFFF"/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Pill text"/>
          <p:cNvSpPr txBox="1"/>
          <p:nvPr/>
        </p:nvSpPr>
        <p:spPr>
          <a:xfrm>
            <a:off x="5669280" y="233172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2"/>
                </a:solidFill>
                <a:latin typeface="Consolas"/>
              </a:rPr>
              <a:t>Python 3.12 (.venv)  ▾</a:t>
            </a:r>
          </a:p>
        </p:txBody>
      </p:sp>
      <p:sp>
        <p:nvSpPr>
          <p:cNvPr id="33" name="Interpreter text"/>
          <p:cNvSpPr txBox="1"/>
          <p:nvPr/>
        </p:nvSpPr>
        <p:spPr>
          <a:xfrm>
            <a:off x="5394960" y="2880360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200" b="0" lang="en-GB">
                <a:solidFill>
                  <a:schemeClr val="tx1"/>
                </a:solidFill>
              </a:rPr>
              <a:t>Shows which Python runs your code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200" b="0" lang="en-GB">
                <a:solidFill>
                  <a:schemeClr val="tx1"/>
                </a:solidFill>
              </a:rPr>
              <a:t>Pick the one that ends in .venv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200" b="0" lang="en-GB">
                <a:solidFill>
                  <a:schemeClr val="tx1"/>
                </a:solidFill>
              </a:rPr>
              <a:t>Once per folder; Positron remembers it</a:t>
            </a:r>
          </a:p>
        </p:txBody>
      </p:sp>
      <p:sp>
        <p:nvSpPr>
          <p:cNvPr id="34" name="Env note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First time: </a:t>
            </a:r>
            <a:r>
              <a:rPr sz="1200" b="0" lang="en-GB">
                <a:solidFill>
                  <a:schemeClr val="tx1"/>
                </a:solidFill>
              </a:rPr>
              <a:t>a few minutes, because PyMC is large. After that you only pull and open the folder.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Step 5: run the check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AI</a:t>
            </a:r>
          </a:p>
        </p:txBody>
      </p:sp>
      <p:sp>
        <p:nvSpPr>
          <p:cNvPr id="16" name="Check command caption bar"/>
          <p:cNvSpPr/>
          <p:nvPr/>
        </p:nvSpPr>
        <p:spPr>
          <a:xfrm>
            <a:off x="457200" y="1783080"/>
            <a:ext cx="822960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heck command caption"/>
          <p:cNvSpPr txBox="1"/>
          <p:nvPr/>
        </p:nvSpPr>
        <p:spPr>
          <a:xfrm>
            <a:off x="566928" y="1783080"/>
            <a:ext cx="801014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In the Positron terminal</a:t>
            </a:r>
          </a:p>
        </p:txBody>
      </p:sp>
      <p:sp>
        <p:nvSpPr>
          <p:cNvPr id="18" name="Check command box"/>
          <p:cNvSpPr/>
          <p:nvPr/>
        </p:nvSpPr>
        <p:spPr>
          <a:xfrm>
            <a:off x="457200" y="2057400"/>
            <a:ext cx="8229600" cy="4114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heck command code"/>
          <p:cNvSpPr txBox="1"/>
          <p:nvPr/>
        </p:nvSpPr>
        <p:spPr>
          <a:xfrm>
            <a:off x="594360" y="2148840"/>
            <a:ext cx="7955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uv run --no-project python setup/check_setup.py</a:t>
            </a:r>
          </a:p>
        </p:txBody>
      </p:sp>
      <p:sp>
        <p:nvSpPr>
          <p:cNvPr id="20" name="Check output caption bar"/>
          <p:cNvSpPr/>
          <p:nvPr/>
        </p:nvSpPr>
        <p:spPr>
          <a:xfrm>
            <a:off x="457200" y="2606040"/>
            <a:ext cx="512064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heck output caption"/>
          <p:cNvSpPr txBox="1"/>
          <p:nvPr/>
        </p:nvSpPr>
        <p:spPr>
          <a:xfrm>
            <a:off x="566928" y="2606040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Example output (shortened)</a:t>
            </a:r>
          </a:p>
        </p:txBody>
      </p:sp>
      <p:sp>
        <p:nvSpPr>
          <p:cNvPr id="22" name="Check output box"/>
          <p:cNvSpPr/>
          <p:nvPr/>
        </p:nvSpPr>
        <p:spPr>
          <a:xfrm>
            <a:off x="457200" y="2880360"/>
            <a:ext cx="5120640" cy="1645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Check output code"/>
          <p:cNvSpPr txBox="1"/>
          <p:nvPr/>
        </p:nvSpPr>
        <p:spPr>
          <a:xfrm>
            <a:off x="594360" y="297180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Packages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  [ok] polars           1.44.2     data wrangling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  [ok] plotnine         0.15.8     charts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  [ok] great_tables     1.0.0      tables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  [ok] statsmodels      0.15.0     regression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  ...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ready</a:t>
            </a:r>
          </a:p>
        </p:txBody>
      </p:sp>
      <p:sp>
        <p:nvSpPr>
          <p:cNvPr id="24" name="Check card body"/>
          <p:cNvSpPr/>
          <p:nvPr/>
        </p:nvSpPr>
        <p:spPr>
          <a:xfrm>
            <a:off x="5760720" y="3017520"/>
            <a:ext cx="2926080" cy="15087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heck card header"/>
          <p:cNvSpPr/>
          <p:nvPr/>
        </p:nvSpPr>
        <p:spPr>
          <a:xfrm>
            <a:off x="5760720" y="2606040"/>
            <a:ext cx="292608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heck card heading"/>
          <p:cNvSpPr txBox="1"/>
          <p:nvPr/>
        </p:nvSpPr>
        <p:spPr>
          <a:xfrm>
            <a:off x="5897880" y="2606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Reading it</a:t>
            </a:r>
          </a:p>
        </p:txBody>
      </p:sp>
      <p:pic>
        <p:nvPicPr>
          <p:cNvPr id="27" name="Icon Check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2656332"/>
            <a:ext cx="310896" cy="310896"/>
          </a:xfrm>
          <a:prstGeom prst="rect">
            <a:avLst/>
          </a:prstGeom>
        </p:spPr>
      </p:pic>
      <p:sp>
        <p:nvSpPr>
          <p:cNvPr id="28" name="Check card text"/>
          <p:cNvSpPr txBox="1"/>
          <p:nvPr/>
        </p:nvSpPr>
        <p:spPr>
          <a:xfrm>
            <a:off x="5925312" y="3154680"/>
            <a:ext cx="2624328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[ok]: in place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[!!]: the line says what to fix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Ends with “ready”: done</a:t>
            </a:r>
          </a:p>
        </p:txBody>
      </p:sp>
      <p:sp>
        <p:nvSpPr>
          <p:cNvPr id="29" name="Run button box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Run butt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654296"/>
            <a:ext cx="384048" cy="384048"/>
          </a:xfrm>
          <a:prstGeom prst="rect">
            <a:avLst/>
          </a:prstGeom>
        </p:spPr>
      </p:pic>
      <p:sp>
        <p:nvSpPr>
          <p:cNvPr id="31" name="Run button text"/>
          <p:cNvSpPr txBox="1"/>
          <p:nvPr/>
        </p:nvSpPr>
        <p:spPr>
          <a:xfrm>
            <a:off x="1234440" y="4617720"/>
            <a:ext cx="72694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No terminal? </a:t>
            </a:r>
            <a:r>
              <a:rPr sz="1300" b="0" lang="en-GB">
                <a:solidFill>
                  <a:schemeClr val="tx1"/>
                </a:solidFill>
              </a:rPr>
              <a:t>Open setup/check_setup.py in Positron and press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Step 6: connect your AI assistant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rogress step 1"/>
          <p:cNvSpPr/>
          <p:nvPr/>
        </p:nvSpPr>
        <p:spPr>
          <a:xfrm>
            <a:off x="457200" y="1188720"/>
            <a:ext cx="1463040" cy="38404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11" name="Progress step 2"/>
          <p:cNvSpPr/>
          <p:nvPr/>
        </p:nvSpPr>
        <p:spPr>
          <a:xfrm>
            <a:off x="1810512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Tools</a:t>
            </a:r>
          </a:p>
        </p:txBody>
      </p:sp>
      <p:sp>
        <p:nvSpPr>
          <p:cNvPr id="12" name="Progress step 3"/>
          <p:cNvSpPr/>
          <p:nvPr/>
        </p:nvSpPr>
        <p:spPr>
          <a:xfrm>
            <a:off x="3163824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13" name="Progress step 4"/>
          <p:cNvSpPr/>
          <p:nvPr/>
        </p:nvSpPr>
        <p:spPr>
          <a:xfrm>
            <a:off x="4517136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Python</a:t>
            </a:r>
          </a:p>
        </p:txBody>
      </p:sp>
      <p:sp>
        <p:nvSpPr>
          <p:cNvPr id="14" name="Progress step 5"/>
          <p:cNvSpPr/>
          <p:nvPr/>
        </p:nvSpPr>
        <p:spPr>
          <a:xfrm>
            <a:off x="5870448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Check</a:t>
            </a:r>
          </a:p>
        </p:txBody>
      </p:sp>
      <p:sp>
        <p:nvSpPr>
          <p:cNvPr id="15" name="Progress step 6"/>
          <p:cNvSpPr/>
          <p:nvPr/>
        </p:nvSpPr>
        <p:spPr>
          <a:xfrm>
            <a:off x="7223760" y="1188720"/>
            <a:ext cx="1463040" cy="384048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AI</a:t>
            </a:r>
          </a:p>
        </p:txBody>
      </p:sp>
      <p:sp>
        <p:nvSpPr>
          <p:cNvPr id="16" name="AI steps row 1"/>
          <p:cNvSpPr/>
          <p:nvPr/>
        </p:nvSpPr>
        <p:spPr>
          <a:xfrm>
            <a:off x="457200" y="1783080"/>
            <a:ext cx="4572000" cy="56692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AI steps number 1"/>
          <p:cNvSpPr/>
          <p:nvPr/>
        </p:nvSpPr>
        <p:spPr>
          <a:xfrm>
            <a:off x="594360" y="1911096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8" name="AI steps text 1"/>
          <p:cNvSpPr txBox="1"/>
          <p:nvPr/>
        </p:nvSpPr>
        <p:spPr>
          <a:xfrm>
            <a:off x="1051560" y="1783080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Accounts menu </a:t>
            </a:r>
            <a:r>
              <a:rPr sz="1300" b="0" lang="en-GB">
                <a:solidFill>
                  <a:schemeClr val="tx1"/>
                </a:solidFill>
              </a:rPr>
              <a:t>in Positron (bottom left): sign in with GitHub</a:t>
            </a:r>
          </a:p>
        </p:txBody>
      </p:sp>
      <p:sp>
        <p:nvSpPr>
          <p:cNvPr id="19" name="AI steps row 2"/>
          <p:cNvSpPr/>
          <p:nvPr/>
        </p:nvSpPr>
        <p:spPr>
          <a:xfrm>
            <a:off x="457200" y="2441448"/>
            <a:ext cx="4572000" cy="56692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AI steps number 2"/>
          <p:cNvSpPr/>
          <p:nvPr/>
        </p:nvSpPr>
        <p:spPr>
          <a:xfrm>
            <a:off x="594360" y="2569464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1" name="AI steps text 2"/>
          <p:cNvSpPr txBox="1"/>
          <p:nvPr/>
        </p:nvSpPr>
        <p:spPr>
          <a:xfrm>
            <a:off x="1051560" y="2441448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Copilot </a:t>
            </a:r>
            <a:r>
              <a:rPr sz="1300" b="0" lang="en-GB">
                <a:solidFill>
                  <a:schemeClr val="tx1"/>
                </a:solidFill>
              </a:rPr>
              <a:t>now suggests code as you type</a:t>
            </a:r>
          </a:p>
        </p:txBody>
      </p:sp>
      <p:sp>
        <p:nvSpPr>
          <p:cNvPr id="22" name="AI steps row 3"/>
          <p:cNvSpPr/>
          <p:nvPr/>
        </p:nvSpPr>
        <p:spPr>
          <a:xfrm>
            <a:off x="457200" y="3099816"/>
            <a:ext cx="4572000" cy="56692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AI steps number 3"/>
          <p:cNvSpPr/>
          <p:nvPr/>
        </p:nvSpPr>
        <p:spPr>
          <a:xfrm>
            <a:off x="594360" y="322783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AI steps text 3"/>
          <p:cNvSpPr txBox="1"/>
          <p:nvPr/>
        </p:nvSpPr>
        <p:spPr>
          <a:xfrm>
            <a:off x="1051560" y="3099816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Posit Assistant: </a:t>
            </a:r>
            <a:r>
              <a:rPr sz="1300" b="0" lang="en-GB">
                <a:solidFill>
                  <a:schemeClr val="tx1"/>
                </a:solidFill>
              </a:rPr>
              <a:t>open the chat, choose GitHub Copilot</a:t>
            </a:r>
          </a:p>
        </p:txBody>
      </p:sp>
      <p:sp>
        <p:nvSpPr>
          <p:cNvPr id="25" name="Options panel"/>
          <p:cNvSpPr/>
          <p:nvPr/>
        </p:nvSpPr>
        <p:spPr>
          <a:xfrm>
            <a:off x="5212080" y="1783080"/>
            <a:ext cx="3474720" cy="18836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ptions head"/>
          <p:cNvSpPr txBox="1"/>
          <p:nvPr/>
        </p:nvSpPr>
        <p:spPr>
          <a:xfrm>
            <a:off x="5394960" y="18288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Options</a:t>
            </a:r>
          </a:p>
        </p:txBody>
      </p:sp>
      <p:sp>
        <p:nvSpPr>
          <p:cNvPr id="27" name="Options text"/>
          <p:cNvSpPr txBox="1"/>
          <p:nvPr/>
        </p:nvSpPr>
        <p:spPr>
          <a:xfrm>
            <a:off x="5394960" y="214884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Copilot Student: </a:t>
            </a:r>
            <a:r>
              <a:rPr sz="1200" b="0" lang="en-GB">
                <a:solidFill>
                  <a:schemeClr val="tx1"/>
                </a:solidFill>
              </a:rPr>
              <a:t>free, after GitHub Education approval</a:t>
            </a:r>
          </a:p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Copilot Free: </a:t>
            </a:r>
            <a:r>
              <a:rPr sz="1200" b="0" lang="en-GB">
                <a:solidFill>
                  <a:schemeClr val="tx1"/>
                </a:solidFill>
              </a:rPr>
              <a:t>free, with monthly limits</a:t>
            </a:r>
          </a:p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Posit AI Pass: </a:t>
            </a:r>
            <a:r>
              <a:rPr sz="1200" b="0" lang="en-GB">
                <a:solidFill>
                  <a:schemeClr val="tx1"/>
                </a:solidFill>
              </a:rPr>
              <a:t>about USD 20 a month</a:t>
            </a:r>
          </a:p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Anthropic API key: </a:t>
            </a:r>
            <a:r>
              <a:rPr sz="1200" b="0" lang="en-GB">
                <a:solidFill>
                  <a:schemeClr val="tx1"/>
                </a:solidFill>
              </a:rPr>
              <a:t>pay as you go</a:t>
            </a:r>
          </a:p>
        </p:txBody>
      </p:sp>
      <p:sp>
        <p:nvSpPr>
          <p:cNvPr id="28" name="AI rule box"/>
          <p:cNvSpPr/>
          <p:nvPr/>
        </p:nvSpPr>
        <p:spPr>
          <a:xfrm>
            <a:off x="457200" y="3886200"/>
            <a:ext cx="8229600" cy="10972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AI rul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42816"/>
            <a:ext cx="384048" cy="384048"/>
          </a:xfrm>
          <a:prstGeom prst="rect">
            <a:avLst/>
          </a:prstGeom>
        </p:spPr>
      </p:pic>
      <p:sp>
        <p:nvSpPr>
          <p:cNvPr id="30" name="AI rule text"/>
          <p:cNvSpPr txBox="1"/>
          <p:nvPr/>
        </p:nvSpPr>
        <p:spPr>
          <a:xfrm>
            <a:off x="1234440" y="3886200"/>
            <a:ext cx="726948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Our rule: </a:t>
            </a:r>
            <a:r>
              <a:rPr sz="1300" b="0" lang="en-GB">
                <a:solidFill>
                  <a:schemeClr val="bg1"/>
                </a:solidFill>
              </a:rPr>
              <a:t>the AI writes, you check. Run the code, read the output and keep a short prompt log for each submission.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en-GB"/>
              <a:t>Part 3 of 4 · panes, running code, Quarto, shortcuts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1600" lang="en-GB"/>
              <a:t>How Positron works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Positron at a glance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Window bar"/>
          <p:cNvSpPr/>
          <p:nvPr/>
        </p:nvSpPr>
        <p:spPr>
          <a:xfrm>
            <a:off x="457200" y="1234440"/>
            <a:ext cx="8229600" cy="32918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Window title"/>
          <p:cNvSpPr txBox="1"/>
          <p:nvPr/>
        </p:nvSpPr>
        <p:spPr>
          <a:xfrm>
            <a:off x="594360" y="123444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lang="en-GB">
                <a:solidFill>
                  <a:schemeClr val="bg1"/>
                </a:solidFill>
              </a:rPr>
              <a:t>ima — Positron</a:t>
            </a:r>
          </a:p>
        </p:txBody>
      </p:sp>
      <p:sp>
        <p:nvSpPr>
          <p:cNvPr id="12" name="Window pill"/>
          <p:cNvSpPr/>
          <p:nvPr/>
        </p:nvSpPr>
        <p:spPr>
          <a:xfrm>
            <a:off x="6355080" y="1271016"/>
            <a:ext cx="2240280" cy="2560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Window pill text"/>
          <p:cNvSpPr txBox="1"/>
          <p:nvPr/>
        </p:nvSpPr>
        <p:spPr>
          <a:xfrm>
            <a:off x="6400800" y="1271016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50" b="0" lang="en-GB">
                <a:solidFill>
                  <a:schemeClr val="tx2"/>
                </a:solidFill>
                <a:latin typeface="Consolas"/>
              </a:rPr>
              <a:t>Python 3.12 (.venv) ▾</a:t>
            </a:r>
          </a:p>
        </p:txBody>
      </p:sp>
      <p:sp>
        <p:nvSpPr>
          <p:cNvPr id="14" name="Activity bar"/>
          <p:cNvSpPr/>
          <p:nvPr/>
        </p:nvSpPr>
        <p:spPr>
          <a:xfrm>
            <a:off x="457200" y="1563624"/>
            <a:ext cx="274320" cy="351129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Pane Explorer"/>
          <p:cNvSpPr/>
          <p:nvPr/>
        </p:nvSpPr>
        <p:spPr>
          <a:xfrm>
            <a:off x="768096" y="1600200"/>
            <a:ext cx="1700784" cy="34747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Pane number 1"/>
          <p:cNvSpPr/>
          <p:nvPr/>
        </p:nvSpPr>
        <p:spPr>
          <a:xfrm>
            <a:off x="859536" y="1691640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7" name="Pane text 1"/>
          <p:cNvSpPr txBox="1"/>
          <p:nvPr/>
        </p:nvSpPr>
        <p:spPr>
          <a:xfrm>
            <a:off x="1225296" y="1673352"/>
            <a:ext cx="11521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lang="en-GB">
                <a:solidFill>
                  <a:schemeClr val="tx2"/>
                </a:solidFill>
              </a:rPr>
              <a:t>Explorer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the files of the course folder</a:t>
            </a:r>
          </a:p>
        </p:txBody>
      </p:sp>
      <p:sp>
        <p:nvSpPr>
          <p:cNvPr id="18" name="Pane sample 1"/>
          <p:cNvSpPr txBox="1"/>
          <p:nvPr/>
        </p:nvSpPr>
        <p:spPr>
          <a:xfrm>
            <a:off x="905256" y="2377440"/>
            <a:ext cx="1426464" cy="2606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data/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sessions/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setup/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requirements.txt</a:t>
            </a:r>
          </a:p>
        </p:txBody>
      </p:sp>
      <p:sp>
        <p:nvSpPr>
          <p:cNvPr id="19" name="Pane Editor"/>
          <p:cNvSpPr/>
          <p:nvPr/>
        </p:nvSpPr>
        <p:spPr>
          <a:xfrm>
            <a:off x="2505456" y="1600200"/>
            <a:ext cx="3529584" cy="190195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Pane number 2"/>
          <p:cNvSpPr/>
          <p:nvPr/>
        </p:nvSpPr>
        <p:spPr>
          <a:xfrm>
            <a:off x="2596896" y="1691640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1" name="Pane text 2"/>
          <p:cNvSpPr txBox="1"/>
          <p:nvPr/>
        </p:nvSpPr>
        <p:spPr>
          <a:xfrm>
            <a:off x="2962656" y="1673352"/>
            <a:ext cx="29809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lang="en-GB">
                <a:solidFill>
                  <a:schemeClr val="tx2"/>
                </a:solidFill>
              </a:rPr>
              <a:t>Editor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write .py and .qmd files</a:t>
            </a:r>
          </a:p>
        </p:txBody>
      </p:sp>
      <p:sp>
        <p:nvSpPr>
          <p:cNvPr id="22" name="Pane sample 2"/>
          <p:cNvSpPr txBox="1"/>
          <p:nvPr/>
        </p:nvSpPr>
        <p:spPr>
          <a:xfrm>
            <a:off x="2642616" y="2377440"/>
            <a:ext cx="3255264" cy="1033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sales = pl.read_csv(...)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sales.head()</a:t>
            </a:r>
          </a:p>
        </p:txBody>
      </p:sp>
      <p:sp>
        <p:nvSpPr>
          <p:cNvPr id="23" name="Pane Console and Terminal"/>
          <p:cNvSpPr/>
          <p:nvPr/>
        </p:nvSpPr>
        <p:spPr>
          <a:xfrm>
            <a:off x="2505456" y="3538728"/>
            <a:ext cx="3529584" cy="15361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ane number 3"/>
          <p:cNvSpPr/>
          <p:nvPr/>
        </p:nvSpPr>
        <p:spPr>
          <a:xfrm>
            <a:off x="2596896" y="3630168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5" name="Pane text 3"/>
          <p:cNvSpPr txBox="1"/>
          <p:nvPr/>
        </p:nvSpPr>
        <p:spPr>
          <a:xfrm>
            <a:off x="2962656" y="3611880"/>
            <a:ext cx="29809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lang="en-GB">
                <a:solidFill>
                  <a:schemeClr val="tx2"/>
                </a:solidFill>
              </a:rPr>
              <a:t>Console and Terminal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code runs here, results print</a:t>
            </a:r>
          </a:p>
        </p:txBody>
      </p:sp>
      <p:sp>
        <p:nvSpPr>
          <p:cNvPr id="26" name="Pane sample 3"/>
          <p:cNvSpPr txBox="1"/>
          <p:nvPr/>
        </p:nvSpPr>
        <p:spPr>
          <a:xfrm>
            <a:off x="2642616" y="4315968"/>
            <a:ext cx="3255264" cy="6675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&gt;&gt;&gt; sales.height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936</a:t>
            </a:r>
          </a:p>
        </p:txBody>
      </p:sp>
      <p:sp>
        <p:nvSpPr>
          <p:cNvPr id="27" name="Pane Variables"/>
          <p:cNvSpPr/>
          <p:nvPr/>
        </p:nvSpPr>
        <p:spPr>
          <a:xfrm>
            <a:off x="6071616" y="1600200"/>
            <a:ext cx="2615184" cy="15819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ane number 4"/>
          <p:cNvSpPr/>
          <p:nvPr/>
        </p:nvSpPr>
        <p:spPr>
          <a:xfrm>
            <a:off x="6163056" y="1691640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9" name="Pane text 4"/>
          <p:cNvSpPr txBox="1"/>
          <p:nvPr/>
        </p:nvSpPr>
        <p:spPr>
          <a:xfrm>
            <a:off x="6528816" y="1673352"/>
            <a:ext cx="20665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lang="en-GB">
                <a:solidFill>
                  <a:schemeClr val="tx2"/>
                </a:solidFill>
              </a:rPr>
              <a:t>Variables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what is in memory; click a table to explore it</a:t>
            </a:r>
          </a:p>
        </p:txBody>
      </p:sp>
      <p:sp>
        <p:nvSpPr>
          <p:cNvPr id="30" name="Pane Plots"/>
          <p:cNvSpPr/>
          <p:nvPr/>
        </p:nvSpPr>
        <p:spPr>
          <a:xfrm>
            <a:off x="6071616" y="3218688"/>
            <a:ext cx="2615184" cy="185623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Pane number 5"/>
          <p:cNvSpPr/>
          <p:nvPr/>
        </p:nvSpPr>
        <p:spPr>
          <a:xfrm>
            <a:off x="6163056" y="3310128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Pane text 5"/>
          <p:cNvSpPr txBox="1"/>
          <p:nvPr/>
        </p:nvSpPr>
        <p:spPr>
          <a:xfrm>
            <a:off x="6528816" y="3291840"/>
            <a:ext cx="206654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lang="en-GB">
                <a:solidFill>
                  <a:schemeClr val="tx2"/>
                </a:solidFill>
              </a:rPr>
              <a:t>Plots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1"/>
                </a:solidFill>
              </a:rPr>
              <a:t>charts appear here</a:t>
            </a:r>
          </a:p>
        </p:txBody>
      </p:sp>
      <p:sp>
        <p:nvSpPr>
          <p:cNvPr id="33" name="Variable 1"/>
          <p:cNvSpPr txBox="1"/>
          <p:nvPr/>
        </p:nvSpPr>
        <p:spPr>
          <a:xfrm>
            <a:off x="6208776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sales</a:t>
            </a:r>
            <a:r>
              <a:rPr sz="1100" b="0" lang="en-GB">
                <a:solidFill>
                  <a:schemeClr val="tx1"/>
                </a:solidFill>
              </a:rPr>
              <a:t>   936 × 18</a:t>
            </a:r>
          </a:p>
        </p:txBody>
      </p:sp>
      <p:sp>
        <p:nvSpPr>
          <p:cNvPr id="34" name="Variable 2"/>
          <p:cNvSpPr txBox="1"/>
          <p:nvPr/>
        </p:nvSpPr>
        <p:spPr>
          <a:xfrm>
            <a:off x="6208776" y="25146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summary</a:t>
            </a:r>
            <a:r>
              <a:rPr sz="1100" b="0" lang="en-GB">
                <a:solidFill>
                  <a:schemeClr val="tx1"/>
                </a:solidFill>
              </a:rPr>
              <a:t>   6 × 3</a:t>
            </a:r>
          </a:p>
        </p:txBody>
      </p:sp>
      <p:sp>
        <p:nvSpPr>
          <p:cNvPr id="35" name="Variable 3"/>
          <p:cNvSpPr txBox="1"/>
          <p:nvPr/>
        </p:nvSpPr>
        <p:spPr>
          <a:xfrm>
            <a:off x="6208776" y="27889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model</a:t>
            </a:r>
            <a:r>
              <a:rPr sz="1100" b="0" lang="en-GB">
                <a:solidFill>
                  <a:schemeClr val="tx1"/>
                </a:solidFill>
              </a:rPr>
              <a:t>   OLS results</a:t>
            </a:r>
          </a:p>
        </p:txBody>
      </p:sp>
      <p:pic>
        <p:nvPicPr>
          <p:cNvPr id="36" name="Plot thumbnail" descr="Example line chart of weekly sales for Austria and German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3822192"/>
            <a:ext cx="2340864" cy="12484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From code to result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un steps step 1"/>
          <p:cNvSpPr/>
          <p:nvPr/>
        </p:nvSpPr>
        <p:spPr>
          <a:xfrm>
            <a:off x="457200" y="1234440"/>
            <a:ext cx="1733702" cy="54864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Write code</a:t>
            </a:r>
            <a:br/>
            <a:r>
              <a:rPr sz="1200" b="1" lang="en-GB">
                <a:solidFill>
                  <a:schemeClr val="tx2"/>
                </a:solidFill>
              </a:rPr>
              <a:t>in the editor</a:t>
            </a:r>
          </a:p>
        </p:txBody>
      </p:sp>
      <p:sp>
        <p:nvSpPr>
          <p:cNvPr id="11" name="Run steps step 2"/>
          <p:cNvSpPr/>
          <p:nvPr/>
        </p:nvSpPr>
        <p:spPr>
          <a:xfrm>
            <a:off x="2081174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Ctrl/Cmd</a:t>
            </a:r>
            <a:br/>
            <a:r>
              <a:rPr sz="1200" b="1" lang="en-GB">
                <a:solidFill>
                  <a:schemeClr val="tx2"/>
                </a:solidFill>
              </a:rPr>
              <a:t>+ Enter</a:t>
            </a:r>
          </a:p>
        </p:txBody>
      </p:sp>
      <p:sp>
        <p:nvSpPr>
          <p:cNvPr id="12" name="Run steps step 3"/>
          <p:cNvSpPr/>
          <p:nvPr/>
        </p:nvSpPr>
        <p:spPr>
          <a:xfrm>
            <a:off x="3705149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It runs in</a:t>
            </a:r>
            <a:br/>
            <a:r>
              <a:rPr sz="1200" b="1" lang="en-GB">
                <a:solidFill>
                  <a:schemeClr val="tx2"/>
                </a:solidFill>
              </a:rPr>
              <a:t>the console</a:t>
            </a:r>
          </a:p>
        </p:txBody>
      </p:sp>
      <p:sp>
        <p:nvSpPr>
          <p:cNvPr id="13" name="Run steps step 4"/>
          <p:cNvSpPr/>
          <p:nvPr/>
        </p:nvSpPr>
        <p:spPr>
          <a:xfrm>
            <a:off x="5329123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Objects in</a:t>
            </a:r>
            <a:br/>
            <a:r>
              <a:rPr sz="1200" b="1" lang="en-GB">
                <a:solidFill>
                  <a:schemeClr val="tx2"/>
                </a:solidFill>
              </a:rPr>
              <a:t>Variables</a:t>
            </a:r>
          </a:p>
        </p:txBody>
      </p:sp>
      <p:sp>
        <p:nvSpPr>
          <p:cNvPr id="14" name="Run steps step 5"/>
          <p:cNvSpPr/>
          <p:nvPr/>
        </p:nvSpPr>
        <p:spPr>
          <a:xfrm>
            <a:off x="6953098" y="1234440"/>
            <a:ext cx="173370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Charts in</a:t>
            </a:r>
            <a:br/>
            <a:r>
              <a:rPr sz="1200" b="1" lang="en-GB">
                <a:solidFill>
                  <a:schemeClr val="tx2"/>
                </a:solidFill>
              </a:rPr>
              <a:t>Plots</a:t>
            </a:r>
          </a:p>
        </p:txBody>
      </p:sp>
      <p:sp>
        <p:nvSpPr>
          <p:cNvPr id="15" name="Run card body"/>
          <p:cNvSpPr/>
          <p:nvPr/>
        </p:nvSpPr>
        <p:spPr>
          <a:xfrm>
            <a:off x="457200" y="2377440"/>
            <a:ext cx="404622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un card header"/>
          <p:cNvSpPr/>
          <p:nvPr/>
        </p:nvSpPr>
        <p:spPr>
          <a:xfrm>
            <a:off x="457200" y="196596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un card heading"/>
          <p:cNvSpPr txBox="1"/>
          <p:nvPr/>
        </p:nvSpPr>
        <p:spPr>
          <a:xfrm>
            <a:off x="594360" y="196596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Run code</a:t>
            </a:r>
          </a:p>
        </p:txBody>
      </p:sp>
      <p:pic>
        <p:nvPicPr>
          <p:cNvPr id="18" name="Icon Run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508" y="2016252"/>
            <a:ext cx="310896" cy="310896"/>
          </a:xfrm>
          <a:prstGeom prst="rect">
            <a:avLst/>
          </a:prstGeom>
        </p:spPr>
      </p:pic>
      <p:sp>
        <p:nvSpPr>
          <p:cNvPr id="19" name="Run card text"/>
          <p:cNvSpPr txBox="1"/>
          <p:nvPr/>
        </p:nvSpPr>
        <p:spPr>
          <a:xfrm>
            <a:off x="621792" y="2514600"/>
            <a:ext cx="374446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Ctrl/Cmd + Enter: the line or selection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Ctrl/Cmd + Shift + Enter: the current cell of a .qmd file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Run button (top right): the whole file</a:t>
            </a:r>
          </a:p>
        </p:txBody>
      </p:sp>
      <p:sp>
        <p:nvSpPr>
          <p:cNvPr id="20" name="Results card body"/>
          <p:cNvSpPr/>
          <p:nvPr/>
        </p:nvSpPr>
        <p:spPr>
          <a:xfrm>
            <a:off x="4640580" y="2377440"/>
            <a:ext cx="404622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sults card header"/>
          <p:cNvSpPr/>
          <p:nvPr/>
        </p:nvSpPr>
        <p:spPr>
          <a:xfrm>
            <a:off x="4640580" y="196596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sults card heading"/>
          <p:cNvSpPr txBox="1"/>
          <p:nvPr/>
        </p:nvSpPr>
        <p:spPr>
          <a:xfrm>
            <a:off x="4777740" y="196596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Look at results</a:t>
            </a:r>
          </a:p>
        </p:txBody>
      </p:sp>
      <p:pic>
        <p:nvPicPr>
          <p:cNvPr id="23" name="Icon Results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016252"/>
            <a:ext cx="310896" cy="310896"/>
          </a:xfrm>
          <a:prstGeom prst="rect">
            <a:avLst/>
          </a:prstGeom>
        </p:spPr>
      </p:pic>
      <p:sp>
        <p:nvSpPr>
          <p:cNvPr id="24" name="Results card text"/>
          <p:cNvSpPr txBox="1"/>
          <p:nvPr/>
        </p:nvSpPr>
        <p:spPr>
          <a:xfrm>
            <a:off x="4805172" y="2514600"/>
            <a:ext cx="374446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Variables: every object, its type and size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 Explorer: sort, filter and summarise a table without code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Plots: earlier charts, zoom, save as PNG</a:t>
            </a:r>
          </a:p>
        </p:txBody>
      </p:sp>
      <p:sp>
        <p:nvSpPr>
          <p:cNvPr id="25" name="Console box"/>
          <p:cNvSpPr/>
          <p:nvPr/>
        </p:nvSpPr>
        <p:spPr>
          <a:xfrm>
            <a:off x="457200" y="4251960"/>
            <a:ext cx="8229600" cy="8229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Icon Consol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471416"/>
            <a:ext cx="384048" cy="384048"/>
          </a:xfrm>
          <a:prstGeom prst="rect">
            <a:avLst/>
          </a:prstGeom>
        </p:spPr>
      </p:pic>
      <p:sp>
        <p:nvSpPr>
          <p:cNvPr id="27" name="Console text"/>
          <p:cNvSpPr txBox="1"/>
          <p:nvPr/>
        </p:nvSpPr>
        <p:spPr>
          <a:xfrm>
            <a:off x="1234440" y="4251960"/>
            <a:ext cx="72694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Console or terminal? </a:t>
            </a:r>
            <a:r>
              <a:rPr sz="1300" b="0" lang="en-GB">
                <a:solidFill>
                  <a:schemeClr val="bg1"/>
                </a:solidFill>
              </a:rPr>
              <a:t>The console speaks Python. The terminal speaks to your computer: uv, git and quarto commands go there.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Quarto documents in Positron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Qmd code caption bar"/>
          <p:cNvSpPr/>
          <p:nvPr/>
        </p:nvSpPr>
        <p:spPr>
          <a:xfrm>
            <a:off x="457200" y="1234440"/>
            <a:ext cx="48463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Qmd code caption"/>
          <p:cNvSpPr txBox="1"/>
          <p:nvPr/>
        </p:nvSpPr>
        <p:spPr>
          <a:xfrm>
            <a:off x="566928" y="1234440"/>
            <a:ext cx="462686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report.qmd</a:t>
            </a:r>
          </a:p>
        </p:txBody>
      </p:sp>
      <p:sp>
        <p:nvSpPr>
          <p:cNvPr id="12" name="Qmd code box"/>
          <p:cNvSpPr/>
          <p:nvPr/>
        </p:nvSpPr>
        <p:spPr>
          <a:xfrm>
            <a:off x="457200" y="1508760"/>
            <a:ext cx="4846320" cy="26974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Qmd code code"/>
          <p:cNvSpPr txBox="1"/>
          <p:nvPr/>
        </p:nvSpPr>
        <p:spPr>
          <a:xfrm>
            <a:off x="594360" y="1600200"/>
            <a:ext cx="4572000" cy="2514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---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title: "Sales by country"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format: html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---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## Revenue in 2025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```{python}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import polars as pl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sales = pl.read_csv("data/mmm/alpenglow_weekly.csv")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```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Germany has the highest revenue.</a:t>
            </a:r>
          </a:p>
        </p:txBody>
      </p:sp>
      <p:sp>
        <p:nvSpPr>
          <p:cNvPr id="14" name="Quarto row 1"/>
          <p:cNvSpPr/>
          <p:nvPr/>
        </p:nvSpPr>
        <p:spPr>
          <a:xfrm>
            <a:off x="5486400" y="1234440"/>
            <a:ext cx="32004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Icon quarto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380744"/>
            <a:ext cx="365760" cy="365760"/>
          </a:xfrm>
          <a:prstGeom prst="rect">
            <a:avLst/>
          </a:prstGeom>
        </p:spPr>
      </p:pic>
      <p:sp>
        <p:nvSpPr>
          <p:cNvPr id="16" name="Quarto text 1"/>
          <p:cNvSpPr txBox="1"/>
          <p:nvPr/>
        </p:nvSpPr>
        <p:spPr>
          <a:xfrm>
            <a:off x="6144768" y="1234440"/>
            <a:ext cx="246888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Text </a:t>
            </a:r>
            <a:r>
              <a:rPr sz="1200" b="0" lang="en-GB">
                <a:solidFill>
                  <a:schemeClr val="tx1"/>
                </a:solidFill>
              </a:rPr>
              <a:t>in Markdown: headings, bold, lists</a:t>
            </a:r>
          </a:p>
        </p:txBody>
      </p:sp>
      <p:sp>
        <p:nvSpPr>
          <p:cNvPr id="17" name="Quarto row 2"/>
          <p:cNvSpPr/>
          <p:nvPr/>
        </p:nvSpPr>
        <p:spPr>
          <a:xfrm>
            <a:off x="5486400" y="1993392"/>
            <a:ext cx="32004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Icon quarto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2139696"/>
            <a:ext cx="365760" cy="365760"/>
          </a:xfrm>
          <a:prstGeom prst="rect">
            <a:avLst/>
          </a:prstGeom>
        </p:spPr>
      </p:pic>
      <p:sp>
        <p:nvSpPr>
          <p:cNvPr id="19" name="Quarto text 2"/>
          <p:cNvSpPr txBox="1"/>
          <p:nvPr/>
        </p:nvSpPr>
        <p:spPr>
          <a:xfrm>
            <a:off x="6144768" y="1993392"/>
            <a:ext cx="246888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Code cells </a:t>
            </a:r>
            <a:r>
              <a:rPr sz="1200" b="0" lang="en-GB">
                <a:solidFill>
                  <a:schemeClr val="tx1"/>
                </a:solidFill>
              </a:rPr>
              <a:t>run one by one, like a notebook</a:t>
            </a:r>
          </a:p>
        </p:txBody>
      </p:sp>
      <p:sp>
        <p:nvSpPr>
          <p:cNvPr id="20" name="Quarto row 3"/>
          <p:cNvSpPr/>
          <p:nvPr/>
        </p:nvSpPr>
        <p:spPr>
          <a:xfrm>
            <a:off x="5486400" y="2752344"/>
            <a:ext cx="32004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quarto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898648"/>
            <a:ext cx="365760" cy="365760"/>
          </a:xfrm>
          <a:prstGeom prst="rect">
            <a:avLst/>
          </a:prstGeom>
        </p:spPr>
      </p:pic>
      <p:sp>
        <p:nvSpPr>
          <p:cNvPr id="22" name="Quarto text 3"/>
          <p:cNvSpPr txBox="1"/>
          <p:nvPr/>
        </p:nvSpPr>
        <p:spPr>
          <a:xfrm>
            <a:off x="6144768" y="2752344"/>
            <a:ext cx="246888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Preview: </a:t>
            </a:r>
            <a:r>
              <a:rPr sz="1200" b="0" lang="en-GB">
                <a:solidFill>
                  <a:schemeClr val="tx1"/>
                </a:solidFill>
              </a:rPr>
              <a:t>Ctrl/Cmd + Shift + K shows the report next to your code</a:t>
            </a:r>
          </a:p>
        </p:txBody>
      </p:sp>
      <p:sp>
        <p:nvSpPr>
          <p:cNvPr id="23" name="Quarto row 4"/>
          <p:cNvSpPr/>
          <p:nvPr/>
        </p:nvSpPr>
        <p:spPr>
          <a:xfrm>
            <a:off x="5486400" y="3511296"/>
            <a:ext cx="32004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quarto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657600"/>
            <a:ext cx="365760" cy="365760"/>
          </a:xfrm>
          <a:prstGeom prst="rect">
            <a:avLst/>
          </a:prstGeom>
        </p:spPr>
      </p:pic>
      <p:sp>
        <p:nvSpPr>
          <p:cNvPr id="25" name="Quarto text 4"/>
          <p:cNvSpPr txBox="1"/>
          <p:nvPr/>
        </p:nvSpPr>
        <p:spPr>
          <a:xfrm>
            <a:off x="6144768" y="3511296"/>
            <a:ext cx="246888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Render </a:t>
            </a:r>
            <a:r>
              <a:rPr sz="1200" b="0" lang="en-GB">
                <a:solidFill>
                  <a:schemeClr val="tx1"/>
                </a:solidFill>
              </a:rPr>
              <a:t>to HTML, PDF, Word or slides</a:t>
            </a:r>
          </a:p>
        </p:txBody>
      </p:sp>
      <p:sp>
        <p:nvSpPr>
          <p:cNvPr id="26" name="Quarto use box"/>
          <p:cNvSpPr/>
          <p:nvPr/>
        </p:nvSpPr>
        <p:spPr>
          <a:xfrm>
            <a:off x="457200" y="4389120"/>
            <a:ext cx="8229600" cy="6858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Quarto us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539996"/>
            <a:ext cx="384048" cy="384048"/>
          </a:xfrm>
          <a:prstGeom prst="rect">
            <a:avLst/>
          </a:prstGeom>
        </p:spPr>
      </p:pic>
      <p:sp>
        <p:nvSpPr>
          <p:cNvPr id="28" name="Quarto use text"/>
          <p:cNvSpPr txBox="1"/>
          <p:nvPr/>
        </p:nvSpPr>
        <p:spPr>
          <a:xfrm>
            <a:off x="1234440" y="4389120"/>
            <a:ext cx="7269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One file, rerun any time: </a:t>
            </a:r>
            <a:r>
              <a:rPr sz="1300" b="0" lang="en-GB">
                <a:solidFill>
                  <a:schemeClr val="tx1"/>
                </a:solidFill>
              </a:rPr>
              <a:t>the labs and your case study report are Quarto documents.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Action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Windows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macOS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Run line or selection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Enter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Cmd + Enter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Run current cell (.qmd)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Shift + Enter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Cmd + Shift + Enter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Preview a Quarto document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Shift + K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Cmd + Shift + K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Find any command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Shift + P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Cmd + Shift + P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Open a file by name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P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Cmd + P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Comment or uncomment lines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/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Cmd + /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New terminal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Shift + `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Ctrl + Shift + `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lang="en-GB"/>
                        <a:t>Accept an AI suggestion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Tab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>
                          <a:latin typeface="Consolas"/>
                        </a:rPr>
                        <a:t>Tab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Shortcuts worth knowing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Working with AI in Positron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Ghost card body"/>
          <p:cNvSpPr/>
          <p:nvPr/>
        </p:nvSpPr>
        <p:spPr>
          <a:xfrm>
            <a:off x="457200" y="1645920"/>
            <a:ext cx="4046220" cy="12801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Ghost card header"/>
          <p:cNvSpPr/>
          <p:nvPr/>
        </p:nvSpPr>
        <p:spPr>
          <a:xfrm>
            <a:off x="457200" y="123444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Ghost card heading"/>
          <p:cNvSpPr txBox="1"/>
          <p:nvPr/>
        </p:nvSpPr>
        <p:spPr>
          <a:xfrm>
            <a:off x="594360" y="12344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Copilot: ghost text</a:t>
            </a:r>
          </a:p>
        </p:txBody>
      </p:sp>
      <p:pic>
        <p:nvPicPr>
          <p:cNvPr id="13" name="Icon Ghost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508" y="1284732"/>
            <a:ext cx="310896" cy="310896"/>
          </a:xfrm>
          <a:prstGeom prst="rect">
            <a:avLst/>
          </a:prstGeom>
        </p:spPr>
      </p:pic>
      <p:sp>
        <p:nvSpPr>
          <p:cNvPr id="14" name="Ghost card text"/>
          <p:cNvSpPr txBox="1"/>
          <p:nvPr/>
        </p:nvSpPr>
        <p:spPr>
          <a:xfrm>
            <a:off x="621792" y="1783080"/>
            <a:ext cx="374446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Grey suggestions appear as you type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Tab accepts, Esc rejects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Best for short, routine lines</a:t>
            </a:r>
          </a:p>
        </p:txBody>
      </p:sp>
      <p:sp>
        <p:nvSpPr>
          <p:cNvPr id="15" name="Assistant card body"/>
          <p:cNvSpPr/>
          <p:nvPr/>
        </p:nvSpPr>
        <p:spPr>
          <a:xfrm>
            <a:off x="4640580" y="1645920"/>
            <a:ext cx="4046220" cy="12801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Assistant card header"/>
          <p:cNvSpPr/>
          <p:nvPr/>
        </p:nvSpPr>
        <p:spPr>
          <a:xfrm>
            <a:off x="4640580" y="123444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Assistant card heading"/>
          <p:cNvSpPr txBox="1"/>
          <p:nvPr/>
        </p:nvSpPr>
        <p:spPr>
          <a:xfrm>
            <a:off x="4777740" y="12344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Posit Assistant: chat</a:t>
            </a:r>
          </a:p>
        </p:txBody>
      </p:sp>
      <p:pic>
        <p:nvPicPr>
          <p:cNvPr id="18" name="Icon Assistant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284732"/>
            <a:ext cx="310896" cy="310896"/>
          </a:xfrm>
          <a:prstGeom prst="rect">
            <a:avLst/>
          </a:prstGeom>
        </p:spPr>
      </p:pic>
      <p:sp>
        <p:nvSpPr>
          <p:cNvPr id="19" name="Assistant card text"/>
          <p:cNvSpPr txBox="1"/>
          <p:nvPr/>
        </p:nvSpPr>
        <p:spPr>
          <a:xfrm>
            <a:off x="4805172" y="1783080"/>
            <a:ext cx="374446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Sees your data, variables and plots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Writes, explains and fixes code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You approve each step it runs</a:t>
            </a:r>
          </a:p>
        </p:txBody>
      </p:sp>
      <p:sp>
        <p:nvSpPr>
          <p:cNvPr id="20" name="Prompt label"/>
          <p:cNvSpPr txBox="1"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Good prompts</a:t>
            </a:r>
          </a:p>
        </p:txBody>
      </p:sp>
      <p:sp>
        <p:nvSpPr>
          <p:cNvPr id="21" name="Prompt code box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Prompt code code"/>
          <p:cNvSpPr txBox="1"/>
          <p:nvPr/>
        </p:nvSpPr>
        <p:spPr>
          <a:xfrm>
            <a:off x="594360" y="3474720"/>
            <a:ext cx="7955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lang="en-GB">
                <a:solidFill>
                  <a:schemeClr val="bg1"/>
                </a:solidFill>
                <a:latin typeface="Consolas"/>
              </a:rPr>
              <a:t>"Sum revenue by country for 2025 with polars and sort it."</a:t>
            </a:r>
          </a:p>
          <a:p>
            <a:pPr algn="l">
              <a:spcAft>
                <a:spcPts val="0"/>
              </a:spcAft>
            </a:pPr>
            <a:r>
              <a:rPr sz="1150" b="0" lang="en-GB">
                <a:solidFill>
                  <a:schemeClr val="bg1"/>
                </a:solidFill>
                <a:latin typeface="Consolas"/>
              </a:rPr>
              <a:t>"Explain this error in two sentences, then fix it."</a:t>
            </a:r>
          </a:p>
        </p:txBody>
      </p:sp>
      <p:sp>
        <p:nvSpPr>
          <p:cNvPr id="23" name="Privacy box"/>
          <p:cNvSpPr/>
          <p:nvPr/>
        </p:nvSpPr>
        <p:spPr>
          <a:xfrm>
            <a:off x="457200" y="4297680"/>
            <a:ext cx="8229600" cy="7772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Privac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494276"/>
            <a:ext cx="384048" cy="384048"/>
          </a:xfrm>
          <a:prstGeom prst="rect">
            <a:avLst/>
          </a:prstGeom>
        </p:spPr>
      </p:pic>
      <p:sp>
        <p:nvSpPr>
          <p:cNvPr id="25" name="Privacy text"/>
          <p:cNvSpPr txBox="1"/>
          <p:nvPr/>
        </p:nvSpPr>
        <p:spPr>
          <a:xfrm>
            <a:off x="1234440" y="4297680"/>
            <a:ext cx="72694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Privacy: </a:t>
            </a:r>
            <a:r>
              <a:rPr sz="1300" b="0" lang="en-GB">
                <a:solidFill>
                  <a:schemeClr val="tx1"/>
                </a:solidFill>
              </a:rPr>
              <a:t>prompts, variable names and types go to the model provider; rows of data only if you ask. Never paste personal data.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en-GB"/>
              <a:t>Part 4 of 4 · polars, plotnine, Great Tables, statsmodels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1600" lang="en-GB"/>
              <a:t>Python packages for this course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Packages: install once, import every time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ackage steps step 1"/>
          <p:cNvSpPr/>
          <p:nvPr/>
        </p:nvSpPr>
        <p:spPr>
          <a:xfrm>
            <a:off x="457200" y="1234440"/>
            <a:ext cx="2816352" cy="54864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requirements.txt</a:t>
            </a:r>
            <a:br/>
            <a:r>
              <a:rPr sz="1200" b="1" lang="en-GB">
                <a:solidFill>
                  <a:schemeClr val="tx2"/>
                </a:solidFill>
              </a:rPr>
              <a:t>lists packages</a:t>
            </a:r>
          </a:p>
        </p:txBody>
      </p:sp>
      <p:sp>
        <p:nvSpPr>
          <p:cNvPr id="11" name="Package steps step 2"/>
          <p:cNvSpPr/>
          <p:nvPr/>
        </p:nvSpPr>
        <p:spPr>
          <a:xfrm>
            <a:off x="3163824" y="1234440"/>
            <a:ext cx="281635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uv pip install</a:t>
            </a:r>
            <a:br/>
            <a:r>
              <a:rPr sz="1200" b="1" lang="en-GB">
                <a:solidFill>
                  <a:schemeClr val="tx2"/>
                </a:solidFill>
              </a:rPr>
              <a:t>once per laptop</a:t>
            </a:r>
          </a:p>
        </p:txBody>
      </p:sp>
      <p:sp>
        <p:nvSpPr>
          <p:cNvPr id="12" name="Package steps step 3"/>
          <p:cNvSpPr/>
          <p:nvPr/>
        </p:nvSpPr>
        <p:spPr>
          <a:xfrm>
            <a:off x="5870448" y="1234440"/>
            <a:ext cx="2816352" cy="54864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200" b="1" lang="en-GB">
                <a:solidFill>
                  <a:schemeClr val="tx2"/>
                </a:solidFill>
              </a:rPr>
              <a:t>import</a:t>
            </a:r>
            <a:br/>
            <a:r>
              <a:rPr sz="1200" b="1" lang="en-GB">
                <a:solidFill>
                  <a:schemeClr val="tx2"/>
                </a:solidFill>
              </a:rPr>
              <a:t>in every file</a:t>
            </a:r>
          </a:p>
        </p:txBody>
      </p:sp>
      <p:sp>
        <p:nvSpPr>
          <p:cNvPr id="13" name="Import code caption bar"/>
          <p:cNvSpPr/>
          <p:nvPr/>
        </p:nvSpPr>
        <p:spPr>
          <a:xfrm>
            <a:off x="457200" y="1965960"/>
            <a:ext cx="484632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mport code caption"/>
          <p:cNvSpPr txBox="1"/>
          <p:nvPr/>
        </p:nvSpPr>
        <p:spPr>
          <a:xfrm>
            <a:off x="566928" y="1965960"/>
            <a:ext cx="462686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Top of every script</a:t>
            </a:r>
          </a:p>
        </p:txBody>
      </p:sp>
      <p:sp>
        <p:nvSpPr>
          <p:cNvPr id="15" name="Import code box"/>
          <p:cNvSpPr/>
          <p:nvPr/>
        </p:nvSpPr>
        <p:spPr>
          <a:xfrm>
            <a:off x="457200" y="2240280"/>
            <a:ext cx="4846320" cy="15087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Import code code"/>
          <p:cNvSpPr txBox="1"/>
          <p:nvPr/>
        </p:nvSpPr>
        <p:spPr>
          <a:xfrm>
            <a:off x="594360" y="2331720"/>
            <a:ext cx="4572000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import polars as pl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import statsmodels.formula.api as smf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from plotnine import ggplot, aes, geom_line</a:t>
            </a:r>
          </a:p>
          <a:p>
            <a:pPr algn="l">
              <a:spcAft>
                <a:spcPts val="0"/>
              </a:spcAft>
            </a:pPr>
            <a:r>
              <a:rPr sz="1100" b="0" lang="en-GB">
                <a:solidFill>
                  <a:schemeClr val="bg1"/>
                </a:solidFill>
                <a:latin typeface="Consolas"/>
              </a:rPr>
              <a:t>from great_tables import GT</a:t>
            </a:r>
          </a:p>
        </p:txBody>
      </p:sp>
      <p:sp>
        <p:nvSpPr>
          <p:cNvPr id="17" name="Conventions card body"/>
          <p:cNvSpPr/>
          <p:nvPr/>
        </p:nvSpPr>
        <p:spPr>
          <a:xfrm>
            <a:off x="5486400" y="2377440"/>
            <a:ext cx="3200400" cy="1371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onventions card header"/>
          <p:cNvSpPr/>
          <p:nvPr/>
        </p:nvSpPr>
        <p:spPr>
          <a:xfrm>
            <a:off x="5486400" y="1965960"/>
            <a:ext cx="320040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onventions card heading"/>
          <p:cNvSpPr txBox="1"/>
          <p:nvPr/>
        </p:nvSpPr>
        <p:spPr>
          <a:xfrm>
            <a:off x="5623560" y="196596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Conventions</a:t>
            </a:r>
          </a:p>
        </p:txBody>
      </p:sp>
      <p:pic>
        <p:nvPicPr>
          <p:cNvPr id="20" name="Icon Convent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2016252"/>
            <a:ext cx="310896" cy="310896"/>
          </a:xfrm>
          <a:prstGeom prst="rect">
            <a:avLst/>
          </a:prstGeom>
        </p:spPr>
      </p:pic>
      <p:sp>
        <p:nvSpPr>
          <p:cNvPr id="21" name="Conventions card text"/>
          <p:cNvSpPr txBox="1"/>
          <p:nvPr/>
        </p:nvSpPr>
        <p:spPr>
          <a:xfrm>
            <a:off x="5650992" y="2514600"/>
            <a:ext cx="289864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pl and smf are the usual short names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Imports go at the top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Import only what you use</a:t>
            </a:r>
          </a:p>
        </p:txBody>
      </p:sp>
      <p:sp>
        <p:nvSpPr>
          <p:cNvPr id="22" name="Error box"/>
          <p:cNvSpPr/>
          <p:nvPr/>
        </p:nvSpPr>
        <p:spPr>
          <a:xfrm>
            <a:off x="457200" y="3931920"/>
            <a:ext cx="8229600" cy="10972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Error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288536"/>
            <a:ext cx="384048" cy="384048"/>
          </a:xfrm>
          <a:prstGeom prst="rect">
            <a:avLst/>
          </a:prstGeom>
        </p:spPr>
      </p:pic>
      <p:sp>
        <p:nvSpPr>
          <p:cNvPr id="24" name="Error text"/>
          <p:cNvSpPr txBox="1"/>
          <p:nvPr/>
        </p:nvSpPr>
        <p:spPr>
          <a:xfrm>
            <a:off x="1234440" y="3931920"/>
            <a:ext cx="726948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ModuleNotFoundError? </a:t>
            </a:r>
            <a:r>
              <a:rPr sz="1300" b="0" lang="en-GB">
                <a:solidFill>
                  <a:schemeClr val="bg1"/>
                </a:solidFill>
              </a:rPr>
              <a:t>The wrong interpreter is selected (pick .venv) or the package is missing (run uv pip install -r requirements.txt).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Your toolkit, from data to report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Kit card 1 body"/>
          <p:cNvSpPr/>
          <p:nvPr/>
        </p:nvSpPr>
        <p:spPr>
          <a:xfrm>
            <a:off x="457200" y="1691640"/>
            <a:ext cx="1954530" cy="13258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Kit card 1 header"/>
          <p:cNvSpPr/>
          <p:nvPr/>
        </p:nvSpPr>
        <p:spPr>
          <a:xfrm>
            <a:off x="457200" y="1234440"/>
            <a:ext cx="195453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Kit card 1 heading"/>
          <p:cNvSpPr txBox="1"/>
          <p:nvPr/>
        </p:nvSpPr>
        <p:spPr>
          <a:xfrm>
            <a:off x="594360" y="1234440"/>
            <a:ext cx="126873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1  Wrangle</a:t>
            </a:r>
          </a:p>
        </p:txBody>
      </p:sp>
      <p:pic>
        <p:nvPicPr>
          <p:cNvPr id="13" name="Icon Kit card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2818" y="1307592"/>
            <a:ext cx="310896" cy="310896"/>
          </a:xfrm>
          <a:prstGeom prst="rect">
            <a:avLst/>
          </a:prstGeom>
        </p:spPr>
      </p:pic>
      <p:sp>
        <p:nvSpPr>
          <p:cNvPr id="14" name="Kit card 1 text"/>
          <p:cNvSpPr txBox="1"/>
          <p:nvPr/>
        </p:nvSpPr>
        <p:spPr>
          <a:xfrm>
            <a:off x="621792" y="1828800"/>
            <a:ext cx="165277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polars </a:t>
            </a:r>
            <a:r>
              <a:rPr sz="1300" b="0" lang="en-GB">
                <a:solidFill>
                  <a:schemeClr val="tx1"/>
                </a:solidFill>
              </a:rPr>
              <a:t>fast tables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pandas </a:t>
            </a:r>
            <a:r>
              <a:rPr sz="1300" b="0" lang="en-GB">
                <a:solidFill>
                  <a:schemeClr val="tx1"/>
                </a:solidFill>
              </a:rPr>
              <a:t>for model packages</a:t>
            </a:r>
          </a:p>
        </p:txBody>
      </p:sp>
      <p:sp>
        <p:nvSpPr>
          <p:cNvPr id="15" name="Kit arrow 1"/>
          <p:cNvSpPr/>
          <p:nvPr/>
        </p:nvSpPr>
        <p:spPr>
          <a:xfrm>
            <a:off x="2393442" y="2011680"/>
            <a:ext cx="173736" cy="27432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Kit card 2 body"/>
          <p:cNvSpPr/>
          <p:nvPr/>
        </p:nvSpPr>
        <p:spPr>
          <a:xfrm>
            <a:off x="2548890" y="1691640"/>
            <a:ext cx="1954530" cy="13258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Kit card 2 header"/>
          <p:cNvSpPr/>
          <p:nvPr/>
        </p:nvSpPr>
        <p:spPr>
          <a:xfrm>
            <a:off x="2548890" y="1234440"/>
            <a:ext cx="195453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Kit card 2 heading"/>
          <p:cNvSpPr txBox="1"/>
          <p:nvPr/>
        </p:nvSpPr>
        <p:spPr>
          <a:xfrm>
            <a:off x="2686050" y="1234440"/>
            <a:ext cx="126873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2  Visualise</a:t>
            </a:r>
          </a:p>
        </p:txBody>
      </p:sp>
      <p:pic>
        <p:nvPicPr>
          <p:cNvPr id="19" name="Icon Kit card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508" y="1307592"/>
            <a:ext cx="310896" cy="310896"/>
          </a:xfrm>
          <a:prstGeom prst="rect">
            <a:avLst/>
          </a:prstGeom>
        </p:spPr>
      </p:pic>
      <p:sp>
        <p:nvSpPr>
          <p:cNvPr id="20" name="Kit card 2 text"/>
          <p:cNvSpPr txBox="1"/>
          <p:nvPr/>
        </p:nvSpPr>
        <p:spPr>
          <a:xfrm>
            <a:off x="2713482" y="1828800"/>
            <a:ext cx="165277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plotnine </a:t>
            </a:r>
            <a:r>
              <a:rPr sz="1300" b="0" lang="en-GB">
                <a:solidFill>
                  <a:schemeClr val="tx1"/>
                </a:solidFill>
              </a:rPr>
              <a:t>charts by grammar</a:t>
            </a:r>
          </a:p>
        </p:txBody>
      </p:sp>
      <p:sp>
        <p:nvSpPr>
          <p:cNvPr id="21" name="Kit arrow 2"/>
          <p:cNvSpPr/>
          <p:nvPr/>
        </p:nvSpPr>
        <p:spPr>
          <a:xfrm>
            <a:off x="4485132" y="2011680"/>
            <a:ext cx="173736" cy="27432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Kit card 3 body"/>
          <p:cNvSpPr/>
          <p:nvPr/>
        </p:nvSpPr>
        <p:spPr>
          <a:xfrm>
            <a:off x="4640580" y="1691640"/>
            <a:ext cx="1954530" cy="13258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Kit card 3 header"/>
          <p:cNvSpPr/>
          <p:nvPr/>
        </p:nvSpPr>
        <p:spPr>
          <a:xfrm>
            <a:off x="4640580" y="1234440"/>
            <a:ext cx="195453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Kit card 3 heading"/>
          <p:cNvSpPr txBox="1"/>
          <p:nvPr/>
        </p:nvSpPr>
        <p:spPr>
          <a:xfrm>
            <a:off x="4777740" y="1234440"/>
            <a:ext cx="126873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3  Model</a:t>
            </a:r>
          </a:p>
        </p:txBody>
      </p:sp>
      <p:pic>
        <p:nvPicPr>
          <p:cNvPr id="25" name="Icon Kit card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198" y="1307592"/>
            <a:ext cx="310896" cy="310896"/>
          </a:xfrm>
          <a:prstGeom prst="rect">
            <a:avLst/>
          </a:prstGeom>
        </p:spPr>
      </p:pic>
      <p:sp>
        <p:nvSpPr>
          <p:cNvPr id="26" name="Kit card 3 text"/>
          <p:cNvSpPr txBox="1"/>
          <p:nvPr/>
        </p:nvSpPr>
        <p:spPr>
          <a:xfrm>
            <a:off x="4805172" y="1828800"/>
            <a:ext cx="165277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statsmodels </a:t>
            </a:r>
            <a:r>
              <a:rPr sz="1300" b="0" lang="en-GB">
                <a:solidFill>
                  <a:schemeClr val="tx1"/>
                </a:solidFill>
              </a:rPr>
              <a:t>regression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pymc-marketing </a:t>
            </a:r>
            <a:r>
              <a:rPr sz="1300" b="0" lang="en-GB">
                <a:solidFill>
                  <a:schemeClr val="tx1"/>
                </a:solidFill>
              </a:rPr>
              <a:t>Bayesian MMM</a:t>
            </a:r>
          </a:p>
        </p:txBody>
      </p:sp>
      <p:sp>
        <p:nvSpPr>
          <p:cNvPr id="27" name="Kit arrow 3"/>
          <p:cNvSpPr/>
          <p:nvPr/>
        </p:nvSpPr>
        <p:spPr>
          <a:xfrm>
            <a:off x="6576822" y="2011680"/>
            <a:ext cx="173736" cy="27432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Kit card 4 body"/>
          <p:cNvSpPr/>
          <p:nvPr/>
        </p:nvSpPr>
        <p:spPr>
          <a:xfrm>
            <a:off x="6732270" y="1691640"/>
            <a:ext cx="1954530" cy="13258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Kit card 4 header"/>
          <p:cNvSpPr/>
          <p:nvPr/>
        </p:nvSpPr>
        <p:spPr>
          <a:xfrm>
            <a:off x="6732270" y="1234440"/>
            <a:ext cx="195453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Kit card 4 heading"/>
          <p:cNvSpPr txBox="1"/>
          <p:nvPr/>
        </p:nvSpPr>
        <p:spPr>
          <a:xfrm>
            <a:off x="6869430" y="1234440"/>
            <a:ext cx="126873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4  Report</a:t>
            </a:r>
          </a:p>
        </p:txBody>
      </p:sp>
      <p:pic>
        <p:nvPicPr>
          <p:cNvPr id="31" name="Icon Kit card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1307592"/>
            <a:ext cx="310896" cy="310896"/>
          </a:xfrm>
          <a:prstGeom prst="rect">
            <a:avLst/>
          </a:prstGeom>
        </p:spPr>
      </p:pic>
      <p:sp>
        <p:nvSpPr>
          <p:cNvPr id="32" name="Kit card 4 text"/>
          <p:cNvSpPr txBox="1"/>
          <p:nvPr/>
        </p:nvSpPr>
        <p:spPr>
          <a:xfrm>
            <a:off x="6896862" y="1828800"/>
            <a:ext cx="165277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great_tables </a:t>
            </a:r>
            <a:r>
              <a:rPr sz="1300" b="0" lang="en-GB">
                <a:solidFill>
                  <a:schemeClr val="tx1"/>
                </a:solidFill>
              </a:rPr>
              <a:t>tables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Quarto </a:t>
            </a:r>
            <a:r>
              <a:rPr sz="1300" b="0" lang="en-GB">
                <a:solidFill>
                  <a:schemeClr val="tx1"/>
                </a:solidFill>
              </a:rPr>
              <a:t>documents</a:t>
            </a:r>
          </a:p>
        </p:txBody>
      </p:sp>
      <p:sp>
        <p:nvSpPr>
          <p:cNvPr id="33" name="Kit fact 1"/>
          <p:cNvSpPr/>
          <p:nvPr/>
        </p:nvSpPr>
        <p:spPr>
          <a:xfrm>
            <a:off x="457200" y="3154680"/>
            <a:ext cx="2651760" cy="10058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Kit fact bar 1"/>
          <p:cNvSpPr/>
          <p:nvPr/>
        </p:nvSpPr>
        <p:spPr>
          <a:xfrm>
            <a:off x="457200" y="3154680"/>
            <a:ext cx="64008" cy="10058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Kit fact text 1"/>
          <p:cNvSpPr txBox="1"/>
          <p:nvPr/>
        </p:nvSpPr>
        <p:spPr>
          <a:xfrm>
            <a:off x="685800" y="31546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22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packages pinned in requirements.txt</a:t>
            </a:r>
          </a:p>
        </p:txBody>
      </p:sp>
      <p:sp>
        <p:nvSpPr>
          <p:cNvPr id="36" name="Kit fact 2"/>
          <p:cNvSpPr/>
          <p:nvPr/>
        </p:nvSpPr>
        <p:spPr>
          <a:xfrm>
            <a:off x="3246120" y="3154680"/>
            <a:ext cx="2651760" cy="10058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Kit fact bar 2"/>
          <p:cNvSpPr/>
          <p:nvPr/>
        </p:nvSpPr>
        <p:spPr>
          <a:xfrm>
            <a:off x="3246120" y="3154680"/>
            <a:ext cx="64008" cy="10058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Kit fact text 2"/>
          <p:cNvSpPr txBox="1"/>
          <p:nvPr/>
        </p:nvSpPr>
        <p:spPr>
          <a:xfrm>
            <a:off x="3474720" y="31546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command installs them all</a:t>
            </a:r>
          </a:p>
        </p:txBody>
      </p:sp>
      <p:sp>
        <p:nvSpPr>
          <p:cNvPr id="39" name="Kit fact 3"/>
          <p:cNvSpPr/>
          <p:nvPr/>
        </p:nvSpPr>
        <p:spPr>
          <a:xfrm>
            <a:off x="6035040" y="3154680"/>
            <a:ext cx="2651760" cy="10058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Kit fact bar 3"/>
          <p:cNvSpPr/>
          <p:nvPr/>
        </p:nvSpPr>
        <p:spPr>
          <a:xfrm>
            <a:off x="6035040" y="3154680"/>
            <a:ext cx="64008" cy="10058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Kit fact text 3"/>
          <p:cNvSpPr txBox="1"/>
          <p:nvPr/>
        </p:nvSpPr>
        <p:spPr>
          <a:xfrm>
            <a:off x="6263640" y="31546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euros: all open source</a:t>
            </a:r>
          </a:p>
        </p:txBody>
      </p:sp>
      <p:sp>
        <p:nvSpPr>
          <p:cNvPr id="42" name="Older tools box"/>
          <p:cNvSpPr/>
          <p:nvPr/>
        </p:nvSpPr>
        <p:spPr>
          <a:xfrm>
            <a:off x="457200" y="4343400"/>
            <a:ext cx="8229600" cy="7315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Older tools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517136"/>
            <a:ext cx="384048" cy="384048"/>
          </a:xfrm>
          <a:prstGeom prst="rect">
            <a:avLst/>
          </a:prstGeom>
        </p:spPr>
      </p:pic>
      <p:sp>
        <p:nvSpPr>
          <p:cNvPr id="44" name="Older tools text"/>
          <p:cNvSpPr txBox="1"/>
          <p:nvPr/>
        </p:nvSpPr>
        <p:spPr>
          <a:xfrm>
            <a:off x="1234440" y="4343400"/>
            <a:ext cx="726948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Online you will also meet pandas and matplotlib: </a:t>
            </a:r>
            <a:r>
              <a:rPr sz="1300" b="0" lang="en-GB">
                <a:solidFill>
                  <a:schemeClr val="tx1"/>
                </a:solidFill>
              </a:rPr>
              <a:t>older but common; the ideas carry over.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polars: data wrangling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olars code caption bar"/>
          <p:cNvSpPr/>
          <p:nvPr/>
        </p:nvSpPr>
        <p:spPr>
          <a:xfrm>
            <a:off x="457200" y="1234440"/>
            <a:ext cx="493776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Polars code caption"/>
          <p:cNvSpPr txBox="1"/>
          <p:nvPr/>
        </p:nvSpPr>
        <p:spPr>
          <a:xfrm>
            <a:off x="566928" y="123444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Revenue and TV spend per country, 2025</a:t>
            </a:r>
          </a:p>
        </p:txBody>
      </p:sp>
      <p:sp>
        <p:nvSpPr>
          <p:cNvPr id="12" name="Polars code box"/>
          <p:cNvSpPr/>
          <p:nvPr/>
        </p:nvSpPr>
        <p:spPr>
          <a:xfrm>
            <a:off x="457200" y="1508760"/>
            <a:ext cx="4937760" cy="25603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olars code code"/>
          <p:cNvSpPr txBox="1"/>
          <p:nvPr/>
        </p:nvSpPr>
        <p:spPr>
          <a:xfrm>
            <a:off x="594360" y="160020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import polars as pl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sales = pl.read_csv("data/mmm/alpenglow_weekly.csv",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                try_parse_dates=True)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summary = (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sales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.filter(pl.col("week").dt.year() == 2025)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.group_by("country")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.agg(pl.col("revenue_eur_k").sum().alias("revenue"),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     pl.col("spend_tv_k").sum().alias("tv"))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.sort("revenue", descending=True)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)</a:t>
            </a:r>
          </a:p>
        </p:txBody>
      </p:sp>
      <p:sp>
        <p:nvSpPr>
          <p:cNvPr id="14" name="Polars row 1"/>
          <p:cNvSpPr/>
          <p:nvPr/>
        </p:nvSpPr>
        <p:spPr>
          <a:xfrm>
            <a:off x="5577840" y="1234440"/>
            <a:ext cx="3108960" cy="640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Polars bar 1"/>
          <p:cNvSpPr/>
          <p:nvPr/>
        </p:nvSpPr>
        <p:spPr>
          <a:xfrm>
            <a:off x="5577840" y="1234440"/>
            <a:ext cx="64008" cy="640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Polars text 1"/>
          <p:cNvSpPr txBox="1"/>
          <p:nvPr/>
        </p:nvSpPr>
        <p:spPr>
          <a:xfrm>
            <a:off x="5760720" y="123444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DataFrame: </a:t>
            </a:r>
            <a:r>
              <a:rPr sz="1200" b="0" lang="en-GB">
                <a:solidFill>
                  <a:schemeClr val="tx1"/>
                </a:solidFill>
              </a:rPr>
              <a:t>a table with typed columns</a:t>
            </a:r>
          </a:p>
        </p:txBody>
      </p:sp>
      <p:sp>
        <p:nvSpPr>
          <p:cNvPr id="17" name="Polars row 2"/>
          <p:cNvSpPr/>
          <p:nvPr/>
        </p:nvSpPr>
        <p:spPr>
          <a:xfrm>
            <a:off x="5577840" y="1965960"/>
            <a:ext cx="3108960" cy="640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olars bar 2"/>
          <p:cNvSpPr/>
          <p:nvPr/>
        </p:nvSpPr>
        <p:spPr>
          <a:xfrm>
            <a:off x="5577840" y="1965960"/>
            <a:ext cx="64008" cy="640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olars text 2"/>
          <p:cNvSpPr txBox="1"/>
          <p:nvPr/>
        </p:nvSpPr>
        <p:spPr>
          <a:xfrm>
            <a:off x="5760720" y="196596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Expressions: </a:t>
            </a:r>
            <a:r>
              <a:rPr sz="1200" b="0" lang="en-GB">
                <a:solidFill>
                  <a:schemeClr val="tx1"/>
                </a:solidFill>
              </a:rPr>
              <a:t>pl.col("tv").sum() says what to compute</a:t>
            </a:r>
          </a:p>
        </p:txBody>
      </p:sp>
      <p:sp>
        <p:nvSpPr>
          <p:cNvPr id="20" name="Polars row 3"/>
          <p:cNvSpPr/>
          <p:nvPr/>
        </p:nvSpPr>
        <p:spPr>
          <a:xfrm>
            <a:off x="5577840" y="2697480"/>
            <a:ext cx="3108960" cy="640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Polars bar 3"/>
          <p:cNvSpPr/>
          <p:nvPr/>
        </p:nvSpPr>
        <p:spPr>
          <a:xfrm>
            <a:off x="5577840" y="2697480"/>
            <a:ext cx="64008" cy="640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Polars text 3"/>
          <p:cNvSpPr txBox="1"/>
          <p:nvPr/>
        </p:nvSpPr>
        <p:spPr>
          <a:xfrm>
            <a:off x="5760720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Chaining: </a:t>
            </a:r>
            <a:r>
              <a:rPr sz="1200" b="0" lang="en-GB">
                <a:solidFill>
                  <a:schemeClr val="tx1"/>
                </a:solidFill>
              </a:rPr>
              <a:t>one step per line, read top to bottom</a:t>
            </a:r>
          </a:p>
        </p:txBody>
      </p:sp>
      <p:sp>
        <p:nvSpPr>
          <p:cNvPr id="23" name="Polars row 4"/>
          <p:cNvSpPr/>
          <p:nvPr/>
        </p:nvSpPr>
        <p:spPr>
          <a:xfrm>
            <a:off x="5577840" y="3429000"/>
            <a:ext cx="3108960" cy="640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olars bar 4"/>
          <p:cNvSpPr/>
          <p:nvPr/>
        </p:nvSpPr>
        <p:spPr>
          <a:xfrm>
            <a:off x="5577840" y="3429000"/>
            <a:ext cx="64008" cy="640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Polars text 4"/>
          <p:cNvSpPr txBox="1"/>
          <p:nvPr/>
        </p:nvSpPr>
        <p:spPr>
          <a:xfrm>
            <a:off x="5760720" y="34290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Fast: </a:t>
            </a:r>
            <a:r>
              <a:rPr sz="1200" b="0" lang="en-GB">
                <a:solidFill>
                  <a:schemeClr val="tx1"/>
                </a:solidFill>
              </a:rPr>
              <a:t>multi-threaded, written in Rust</a:t>
            </a:r>
          </a:p>
        </p:txBody>
      </p:sp>
      <p:sp>
        <p:nvSpPr>
          <p:cNvPr id="26" name="Polars result box"/>
          <p:cNvSpPr/>
          <p:nvPr/>
        </p:nvSpPr>
        <p:spPr>
          <a:xfrm>
            <a:off x="457200" y="420624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Polars result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48556"/>
            <a:ext cx="384048" cy="384048"/>
          </a:xfrm>
          <a:prstGeom prst="rect">
            <a:avLst/>
          </a:prstGeom>
        </p:spPr>
      </p:pic>
      <p:sp>
        <p:nvSpPr>
          <p:cNvPr id="28" name="Polars result text"/>
          <p:cNvSpPr txBox="1"/>
          <p:nvPr/>
        </p:nvSpPr>
        <p:spPr>
          <a:xfrm>
            <a:off x="1234440" y="4206240"/>
            <a:ext cx="726948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Result: </a:t>
            </a:r>
            <a:r>
              <a:rPr sz="1300" b="0" lang="en-GB">
                <a:solidFill>
                  <a:schemeClr val="tx1"/>
                </a:solidFill>
              </a:rPr>
              <a:t>six rows, one per country. Germany leads with about EUR 131 million revenue in 2025. Need pandas? Add .to_pandas().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plotnine: charts with the grammar of graphics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Plotnine code caption bar"/>
          <p:cNvSpPr/>
          <p:nvPr/>
        </p:nvSpPr>
        <p:spPr>
          <a:xfrm>
            <a:off x="457200" y="1234440"/>
            <a:ext cx="420624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Plotnine code caption"/>
          <p:cNvSpPr txBox="1"/>
          <p:nvPr/>
        </p:nvSpPr>
        <p:spPr>
          <a:xfrm>
            <a:off x="566928" y="1234440"/>
            <a:ext cx="398678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Weekly sales, Austria and Germany</a:t>
            </a:r>
          </a:p>
        </p:txBody>
      </p:sp>
      <p:sp>
        <p:nvSpPr>
          <p:cNvPr id="12" name="Plotnine code box"/>
          <p:cNvSpPr/>
          <p:nvPr/>
        </p:nvSpPr>
        <p:spPr>
          <a:xfrm>
            <a:off x="457200" y="1508760"/>
            <a:ext cx="4206240" cy="21031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lotnine code code"/>
          <p:cNvSpPr txBox="1"/>
          <p:nvPr/>
        </p:nvSpPr>
        <p:spPr>
          <a:xfrm>
            <a:off x="594360" y="1600200"/>
            <a:ext cx="3931920" cy="1920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(ggplot(sales.filter(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     pl.col("country").is_in(["AT", "DE"])),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    aes(x="week", y="sales_units_k"))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+ geom_line(color="#0096D3")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+ facet_wrap("country")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+ scale_x_date(date_breaks="1 year",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            date_labels="%Y")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+ labs(x="", y="Sales (k units)")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+ theme_minimal())</a:t>
            </a:r>
          </a:p>
        </p:txBody>
      </p:sp>
      <p:pic>
        <p:nvPicPr>
          <p:cNvPr id="14" name="Plotnine chart" descr="Line chart of weekly sales in thousand units, 2023 to 2025, Austria (about 100 to 200) and Germany (about 500 to 1,700), with a Christmas peak every y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234440"/>
            <a:ext cx="3886200" cy="2072670"/>
          </a:xfrm>
          <a:prstGeom prst="rect">
            <a:avLst/>
          </a:prstGeom>
        </p:spPr>
      </p:pic>
      <p:sp>
        <p:nvSpPr>
          <p:cNvPr id="15" name="Chart caption"/>
          <p:cNvSpPr txBox="1"/>
          <p:nvPr/>
        </p:nvSpPr>
        <p:spPr>
          <a:xfrm>
            <a:off x="4800600" y="333756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lang="en-GB">
                <a:solidFill>
                  <a:srgbClr val="595959"/>
                </a:solidFill>
              </a:rPr>
              <a:t>The output of the code on the left</a:t>
            </a:r>
          </a:p>
        </p:txBody>
      </p:sp>
      <p:sp>
        <p:nvSpPr>
          <p:cNvPr id="16" name="Grammar chip 1"/>
          <p:cNvSpPr/>
          <p:nvPr/>
        </p:nvSpPr>
        <p:spPr>
          <a:xfrm>
            <a:off x="457200" y="3794760"/>
            <a:ext cx="1572768" cy="7772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Grammar text 1"/>
          <p:cNvSpPr txBox="1"/>
          <p:nvPr/>
        </p:nvSpPr>
        <p:spPr>
          <a:xfrm>
            <a:off x="548640" y="3794760"/>
            <a:ext cx="1389888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ggplot()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the data</a:t>
            </a:r>
          </a:p>
        </p:txBody>
      </p:sp>
      <p:sp>
        <p:nvSpPr>
          <p:cNvPr id="18" name="Grammar chip 2"/>
          <p:cNvSpPr/>
          <p:nvPr/>
        </p:nvSpPr>
        <p:spPr>
          <a:xfrm>
            <a:off x="2121408" y="3794760"/>
            <a:ext cx="1572768" cy="7772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Grammar text 2"/>
          <p:cNvSpPr txBox="1"/>
          <p:nvPr/>
        </p:nvSpPr>
        <p:spPr>
          <a:xfrm>
            <a:off x="2212848" y="3794760"/>
            <a:ext cx="1389888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aes()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columns to x, y</a:t>
            </a:r>
          </a:p>
        </p:txBody>
      </p:sp>
      <p:sp>
        <p:nvSpPr>
          <p:cNvPr id="20" name="Grammar chip 3"/>
          <p:cNvSpPr/>
          <p:nvPr/>
        </p:nvSpPr>
        <p:spPr>
          <a:xfrm>
            <a:off x="3785616" y="3794760"/>
            <a:ext cx="1572768" cy="7772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Grammar text 3"/>
          <p:cNvSpPr txBox="1"/>
          <p:nvPr/>
        </p:nvSpPr>
        <p:spPr>
          <a:xfrm>
            <a:off x="3877056" y="3794760"/>
            <a:ext cx="1389888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geom_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the marks</a:t>
            </a:r>
          </a:p>
        </p:txBody>
      </p:sp>
      <p:sp>
        <p:nvSpPr>
          <p:cNvPr id="22" name="Grammar chip 4"/>
          <p:cNvSpPr/>
          <p:nvPr/>
        </p:nvSpPr>
        <p:spPr>
          <a:xfrm>
            <a:off x="5449824" y="3794760"/>
            <a:ext cx="1572768" cy="7772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Grammar text 4"/>
          <p:cNvSpPr txBox="1"/>
          <p:nvPr/>
        </p:nvSpPr>
        <p:spPr>
          <a:xfrm>
            <a:off x="5541264" y="3794760"/>
            <a:ext cx="1389888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facet_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one panel per group</a:t>
            </a:r>
          </a:p>
        </p:txBody>
      </p:sp>
      <p:sp>
        <p:nvSpPr>
          <p:cNvPr id="24" name="Grammar chip 5"/>
          <p:cNvSpPr/>
          <p:nvPr/>
        </p:nvSpPr>
        <p:spPr>
          <a:xfrm>
            <a:off x="7114032" y="3794760"/>
            <a:ext cx="1572768" cy="7772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Grammar text 5"/>
          <p:cNvSpPr txBox="1"/>
          <p:nvPr/>
        </p:nvSpPr>
        <p:spPr>
          <a:xfrm>
            <a:off x="7205472" y="3794760"/>
            <a:ext cx="1389888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  <a:latin typeface="Consolas"/>
              </a:rPr>
              <a:t>theme_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chemeClr val="tx1"/>
                </a:solidFill>
              </a:rPr>
              <a:t>the look</a:t>
            </a:r>
          </a:p>
        </p:txBody>
      </p:sp>
      <p:sp>
        <p:nvSpPr>
          <p:cNvPr id="26" name="Grammar note"/>
          <p:cNvSpPr txBox="1"/>
          <p:nvPr/>
        </p:nvSpPr>
        <p:spPr>
          <a:xfrm>
            <a:off x="457200" y="46634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 + mapping + marks + panels + theme: </a:t>
            </a:r>
            <a:r>
              <a:rPr sz="1300" b="0" lang="en-GB">
                <a:solidFill>
                  <a:schemeClr val="tx1"/>
                </a:solidFill>
              </a:rPr>
              <a:t>each + adds one layer.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Great Tables: tables for reports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GT code caption bar"/>
          <p:cNvSpPr/>
          <p:nvPr/>
        </p:nvSpPr>
        <p:spPr>
          <a:xfrm>
            <a:off x="457200" y="1234440"/>
            <a:ext cx="475488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GT code caption"/>
          <p:cNvSpPr txBox="1"/>
          <p:nvPr/>
        </p:nvSpPr>
        <p:spPr>
          <a:xfrm>
            <a:off x="566928" y="1234440"/>
            <a:ext cx="453542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The polars summary as a table</a:t>
            </a:r>
          </a:p>
        </p:txBody>
      </p:sp>
      <p:sp>
        <p:nvSpPr>
          <p:cNvPr id="12" name="GT code box"/>
          <p:cNvSpPr/>
          <p:nvPr/>
        </p:nvSpPr>
        <p:spPr>
          <a:xfrm>
            <a:off x="457200" y="1508760"/>
            <a:ext cx="4754880" cy="15544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GT code code"/>
          <p:cNvSpPr txBox="1"/>
          <p:nvPr/>
        </p:nvSpPr>
        <p:spPr>
          <a:xfrm>
            <a:off x="594360" y="1600200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from great_tables import GT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(GT(summary)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.tab_header(title="Revenue and TV spend, 2025")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.fmt_number(columns=["revenue", "tv"], decimals=0)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.cols_label(country="Country",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         revenue="Revenue (k EUR)",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         tv="TV spend (k EUR)"))</a:t>
            </a:r>
          </a:p>
        </p:txBody>
      </p:sp>
      <p:pic>
        <p:nvPicPr>
          <p:cNvPr id="14" name="Great Tables output" descr="Table of revenue and TV spend in 2025 by country, Germany first with 130,650 thousand euros reven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234440"/>
            <a:ext cx="2926080" cy="2417909"/>
          </a:xfrm>
          <a:prstGeom prst="rect">
            <a:avLst/>
          </a:prstGeom>
        </p:spPr>
      </p:pic>
      <p:sp>
        <p:nvSpPr>
          <p:cNvPr id="15" name="GT row 1"/>
          <p:cNvSpPr/>
          <p:nvPr/>
        </p:nvSpPr>
        <p:spPr>
          <a:xfrm>
            <a:off x="457200" y="3246120"/>
            <a:ext cx="4754880" cy="53035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GT bar 1"/>
          <p:cNvSpPr/>
          <p:nvPr/>
        </p:nvSpPr>
        <p:spPr>
          <a:xfrm>
            <a:off x="457200" y="3246120"/>
            <a:ext cx="64008" cy="5303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GT text 1"/>
          <p:cNvSpPr txBox="1"/>
          <p:nvPr/>
        </p:nvSpPr>
        <p:spPr>
          <a:xfrm>
            <a:off x="658368" y="3246120"/>
            <a:ext cx="44805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Header and labels: </a:t>
            </a:r>
            <a:r>
              <a:rPr sz="1200" b="0" lang="en-GB">
                <a:solidFill>
                  <a:schemeClr val="tx1"/>
                </a:solidFill>
              </a:rPr>
              <a:t>readable names instead of column codes</a:t>
            </a:r>
          </a:p>
        </p:txBody>
      </p:sp>
      <p:sp>
        <p:nvSpPr>
          <p:cNvPr id="18" name="GT row 2"/>
          <p:cNvSpPr/>
          <p:nvPr/>
        </p:nvSpPr>
        <p:spPr>
          <a:xfrm>
            <a:off x="457200" y="3867912"/>
            <a:ext cx="4754880" cy="53035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GT bar 2"/>
          <p:cNvSpPr/>
          <p:nvPr/>
        </p:nvSpPr>
        <p:spPr>
          <a:xfrm>
            <a:off x="457200" y="3867912"/>
            <a:ext cx="64008" cy="5303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GT text 2"/>
          <p:cNvSpPr txBox="1"/>
          <p:nvPr/>
        </p:nvSpPr>
        <p:spPr>
          <a:xfrm>
            <a:off x="658368" y="3867912"/>
            <a:ext cx="44805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Number formats: </a:t>
            </a:r>
            <a:r>
              <a:rPr sz="1200" b="0" lang="en-GB">
                <a:solidFill>
                  <a:schemeClr val="tx1"/>
                </a:solidFill>
              </a:rPr>
              <a:t>thousands separators, currency, percent</a:t>
            </a:r>
          </a:p>
        </p:txBody>
      </p:sp>
      <p:sp>
        <p:nvSpPr>
          <p:cNvPr id="21" name="GT row 3"/>
          <p:cNvSpPr/>
          <p:nvPr/>
        </p:nvSpPr>
        <p:spPr>
          <a:xfrm>
            <a:off x="457200" y="4489704"/>
            <a:ext cx="4754880" cy="53035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GT bar 3"/>
          <p:cNvSpPr/>
          <p:nvPr/>
        </p:nvSpPr>
        <p:spPr>
          <a:xfrm>
            <a:off x="457200" y="4489704"/>
            <a:ext cx="64008" cy="5303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GT text 3"/>
          <p:cNvSpPr txBox="1"/>
          <p:nvPr/>
        </p:nvSpPr>
        <p:spPr>
          <a:xfrm>
            <a:off x="658368" y="4489704"/>
            <a:ext cx="448056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Works with polars </a:t>
            </a:r>
            <a:r>
              <a:rPr sz="1200" b="0" lang="en-GB">
                <a:solidFill>
                  <a:schemeClr val="tx1"/>
                </a:solidFill>
              </a:rPr>
              <a:t>and pandas; renders in Quarto reports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statsmodels: regression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LS code caption bar"/>
          <p:cNvSpPr/>
          <p:nvPr/>
        </p:nvSpPr>
        <p:spPr>
          <a:xfrm>
            <a:off x="457200" y="1234440"/>
            <a:ext cx="4937760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LS code caption"/>
          <p:cNvSpPr txBox="1"/>
          <p:nvPr/>
        </p:nvSpPr>
        <p:spPr>
          <a:xfrm>
            <a:off x="566928" y="123444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lang="en-GB">
                <a:solidFill>
                  <a:schemeClr val="bg1"/>
                </a:solidFill>
              </a:rPr>
              <a:t>Weekly sales in Austria, 2023 to 2025</a:t>
            </a:r>
          </a:p>
        </p:txBody>
      </p:sp>
      <p:sp>
        <p:nvSpPr>
          <p:cNvPr id="12" name="OLS code box"/>
          <p:cNvSpPr/>
          <p:nvPr/>
        </p:nvSpPr>
        <p:spPr>
          <a:xfrm>
            <a:off x="457200" y="1508760"/>
            <a:ext cx="4937760" cy="19202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LS code code"/>
          <p:cNvSpPr txBox="1"/>
          <p:nvPr/>
        </p:nvSpPr>
        <p:spPr>
          <a:xfrm>
            <a:off x="594360" y="1600200"/>
            <a:ext cx="466344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import statsmodels.formula.api as smf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at = sales.filter(pl.col("country") == "AT").to_pandas()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model = smf.ols(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"sales_units_k ~ price_eur + spend_tv_k"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" + spend_paid_search_k",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    data=at).fit()</a:t>
            </a:r>
          </a:p>
          <a:p>
            <a:pPr algn="l">
              <a:spcAft>
                <a:spcPts val="0"/>
              </a:spcAft>
            </a:pPr>
            <a:r>
              <a:rPr sz="1050" b="0" lang="en-GB">
                <a:solidFill>
                  <a:schemeClr val="bg1"/>
                </a:solidFill>
                <a:latin typeface="Consolas"/>
              </a:rPr>
              <a:t>print(model.summary())</a:t>
            </a:r>
          </a:p>
        </p:txBody>
      </p:sp>
      <p:sp>
        <p:nvSpPr>
          <p:cNvPr id="14" name="Coefficient panel"/>
          <p:cNvSpPr/>
          <p:nvPr/>
        </p:nvSpPr>
        <p:spPr>
          <a:xfrm>
            <a:off x="5577840" y="1234440"/>
            <a:ext cx="3108960" cy="2194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ef name 1"/>
          <p:cNvSpPr txBox="1"/>
          <p:nvPr/>
        </p:nvSpPr>
        <p:spPr>
          <a:xfrm>
            <a:off x="5715000" y="1325880"/>
            <a:ext cx="201168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Coefficient</a:t>
            </a:r>
          </a:p>
        </p:txBody>
      </p:sp>
      <p:sp>
        <p:nvSpPr>
          <p:cNvPr id="16" name="Coef value 1"/>
          <p:cNvSpPr txBox="1"/>
          <p:nvPr/>
        </p:nvSpPr>
        <p:spPr>
          <a:xfrm>
            <a:off x="7635240" y="1325880"/>
            <a:ext cx="91440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1200" b="1" lang="en-GB">
                <a:solidFill>
                  <a:schemeClr val="tx2"/>
                </a:solidFill>
              </a:rPr>
              <a:t>Estimate</a:t>
            </a:r>
          </a:p>
        </p:txBody>
      </p:sp>
      <p:sp>
        <p:nvSpPr>
          <p:cNvPr id="17" name="Coef name 2"/>
          <p:cNvSpPr txBox="1"/>
          <p:nvPr/>
        </p:nvSpPr>
        <p:spPr>
          <a:xfrm>
            <a:off x="5715000" y="1664208"/>
            <a:ext cx="201168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Intercept</a:t>
            </a:r>
          </a:p>
        </p:txBody>
      </p:sp>
      <p:sp>
        <p:nvSpPr>
          <p:cNvPr id="18" name="Coef value 2"/>
          <p:cNvSpPr txBox="1"/>
          <p:nvPr/>
        </p:nvSpPr>
        <p:spPr>
          <a:xfrm>
            <a:off x="7635240" y="1664208"/>
            <a:ext cx="91440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1200" b="0" lang="en-GB">
                <a:solidFill>
                  <a:schemeClr val="tx2"/>
                </a:solidFill>
              </a:rPr>
              <a:t>250.63</a:t>
            </a:r>
          </a:p>
        </p:txBody>
      </p:sp>
      <p:sp>
        <p:nvSpPr>
          <p:cNvPr id="19" name="Coef name 3"/>
          <p:cNvSpPr txBox="1"/>
          <p:nvPr/>
        </p:nvSpPr>
        <p:spPr>
          <a:xfrm>
            <a:off x="5715000" y="2002536"/>
            <a:ext cx="201168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price_eur</a:t>
            </a:r>
          </a:p>
        </p:txBody>
      </p:sp>
      <p:sp>
        <p:nvSpPr>
          <p:cNvPr id="20" name="Coef value 3"/>
          <p:cNvSpPr txBox="1"/>
          <p:nvPr/>
        </p:nvSpPr>
        <p:spPr>
          <a:xfrm>
            <a:off x="7635240" y="2002536"/>
            <a:ext cx="91440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1200" b="0" lang="en-GB">
                <a:solidFill>
                  <a:schemeClr val="tx2"/>
                </a:solidFill>
              </a:rPr>
              <a:t>−48.31</a:t>
            </a:r>
          </a:p>
        </p:txBody>
      </p:sp>
      <p:sp>
        <p:nvSpPr>
          <p:cNvPr id="21" name="Coef name 4"/>
          <p:cNvSpPr txBox="1"/>
          <p:nvPr/>
        </p:nvSpPr>
        <p:spPr>
          <a:xfrm>
            <a:off x="5715000" y="2340864"/>
            <a:ext cx="201168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spend_tv_k</a:t>
            </a:r>
          </a:p>
        </p:txBody>
      </p:sp>
      <p:sp>
        <p:nvSpPr>
          <p:cNvPr id="22" name="Coef value 4"/>
          <p:cNvSpPr txBox="1"/>
          <p:nvPr/>
        </p:nvSpPr>
        <p:spPr>
          <a:xfrm>
            <a:off x="7635240" y="2340864"/>
            <a:ext cx="91440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1200" b="0" lang="en-GB">
                <a:solidFill>
                  <a:schemeClr val="tx2"/>
                </a:solidFill>
              </a:rPr>
              <a:t>0.41</a:t>
            </a:r>
          </a:p>
        </p:txBody>
      </p:sp>
      <p:sp>
        <p:nvSpPr>
          <p:cNvPr id="23" name="Coef name 5"/>
          <p:cNvSpPr txBox="1"/>
          <p:nvPr/>
        </p:nvSpPr>
        <p:spPr>
          <a:xfrm>
            <a:off x="5715000" y="2679192"/>
            <a:ext cx="201168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spend_paid_search_k</a:t>
            </a:r>
          </a:p>
        </p:txBody>
      </p:sp>
      <p:sp>
        <p:nvSpPr>
          <p:cNvPr id="24" name="Coef value 5"/>
          <p:cNvSpPr txBox="1"/>
          <p:nvPr/>
        </p:nvSpPr>
        <p:spPr>
          <a:xfrm>
            <a:off x="7635240" y="2679192"/>
            <a:ext cx="91440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1200" b="0" lang="en-GB">
                <a:solidFill>
                  <a:schemeClr val="tx2"/>
                </a:solidFill>
              </a:rPr>
              <a:t>4.03</a:t>
            </a:r>
          </a:p>
        </p:txBody>
      </p:sp>
      <p:sp>
        <p:nvSpPr>
          <p:cNvPr id="25" name="Coef name 6"/>
          <p:cNvSpPr txBox="1"/>
          <p:nvPr/>
        </p:nvSpPr>
        <p:spPr>
          <a:xfrm>
            <a:off x="5715000" y="3017520"/>
            <a:ext cx="201168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lang="en-GB">
                <a:solidFill>
                  <a:schemeClr val="tx2"/>
                </a:solidFill>
                <a:latin typeface="Consolas"/>
              </a:rPr>
              <a:t>R²  (n = 156)</a:t>
            </a:r>
          </a:p>
        </p:txBody>
      </p:sp>
      <p:sp>
        <p:nvSpPr>
          <p:cNvPr id="26" name="Coef value 6"/>
          <p:cNvSpPr txBox="1"/>
          <p:nvPr/>
        </p:nvSpPr>
        <p:spPr>
          <a:xfrm>
            <a:off x="7635240" y="3017520"/>
            <a:ext cx="91440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1200" b="0" lang="en-GB">
                <a:solidFill>
                  <a:schemeClr val="tx2"/>
                </a:solidFill>
              </a:rPr>
              <a:t>0.43</a:t>
            </a:r>
          </a:p>
        </p:txBody>
      </p:sp>
      <p:sp>
        <p:nvSpPr>
          <p:cNvPr id="27" name="OLS reading box"/>
          <p:cNvSpPr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OLS reading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785616"/>
            <a:ext cx="384048" cy="384048"/>
          </a:xfrm>
          <a:prstGeom prst="rect">
            <a:avLst/>
          </a:prstGeom>
        </p:spPr>
      </p:pic>
      <p:sp>
        <p:nvSpPr>
          <p:cNvPr id="29" name="OLS reading text"/>
          <p:cNvSpPr txBox="1"/>
          <p:nvPr/>
        </p:nvSpPr>
        <p:spPr>
          <a:xfrm>
            <a:off x="1234440" y="3611880"/>
            <a:ext cx="726948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Reading it: </a:t>
            </a:r>
            <a:r>
              <a:rPr sz="1300" b="0" lang="en-GB">
                <a:solidFill>
                  <a:schemeClr val="tx1"/>
                </a:solidFill>
              </a:rPr>
              <a:t>EUR 1,000 more paid search in a week goes with about 4,000 more units sold, holding price and TV constant.</a:t>
            </a:r>
          </a:p>
        </p:txBody>
      </p:sp>
      <p:sp>
        <p:nvSpPr>
          <p:cNvPr id="30" name="Later note"/>
          <p:cNvSpPr txBox="1"/>
          <p:nvPr/>
        </p:nvSpPr>
        <p:spPr>
          <a:xfrm>
            <a:off x="457200" y="448056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Later in the course: </a:t>
            </a:r>
            <a:r>
              <a:rPr sz="1300" b="0" lang="en-GB">
                <a:solidFill>
                  <a:schemeClr val="tx1"/>
                </a:solidFill>
              </a:rPr>
              <a:t>scikit-learn for logistic regression and pymc-marketing for Bayesian MMM.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Problem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Fix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b="1" lang="en-GB"/>
                        <a:t>uv: command not found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Close and reopen the terminal, or restart Positron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b="1" lang="en-GB"/>
                        <a:t>PowerShell: running scripts is disabled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Use the exact uv command; it includes -ExecutionPolicy ByPass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b="1" lang="en-GB"/>
                        <a:t>ModuleNotFoundError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Select the .venv interpreter; run uv pip install -r requirements.txt again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b="1" lang="en-GB"/>
                        <a:t>Quarto preview does not start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Restart Positron; run quarto check in the terminal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b="1" lang="en-GB"/>
                        <a:t>Clone fails in GitHub Desktop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Sign in again; check the URL; is your username in the Canvas survey?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300" b="1" lang="en-GB"/>
                        <a:t>Copilot is not offered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GitHub Education still pending: use Copilot Free meanwhile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When something goes wrong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Checklist: before you leave today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hecklist Accounts body"/>
          <p:cNvSpPr/>
          <p:nvPr/>
        </p:nvSpPr>
        <p:spPr>
          <a:xfrm>
            <a:off x="457200" y="1645920"/>
            <a:ext cx="4046220" cy="2743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hecklist Accounts header"/>
          <p:cNvSpPr/>
          <p:nvPr/>
        </p:nvSpPr>
        <p:spPr>
          <a:xfrm>
            <a:off x="457200" y="123444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hecklist Accounts heading"/>
          <p:cNvSpPr txBox="1"/>
          <p:nvPr/>
        </p:nvSpPr>
        <p:spPr>
          <a:xfrm>
            <a:off x="594360" y="12344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Accounts</a:t>
            </a:r>
          </a:p>
        </p:txBody>
      </p:sp>
      <p:pic>
        <p:nvPicPr>
          <p:cNvPr id="13" name="Icon checklist Accounts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508" y="1280160"/>
            <a:ext cx="310896" cy="310896"/>
          </a:xfrm>
          <a:prstGeom prst="rect">
            <a:avLst/>
          </a:prstGeom>
        </p:spPr>
      </p:pic>
      <p:sp>
        <p:nvSpPr>
          <p:cNvPr id="14" name="Checkbox Accounts 1"/>
          <p:cNvSpPr/>
          <p:nvPr/>
        </p:nvSpPr>
        <p:spPr>
          <a:xfrm>
            <a:off x="640080" y="185623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hecklist Accounts item 1"/>
          <p:cNvSpPr txBox="1"/>
          <p:nvPr/>
        </p:nvSpPr>
        <p:spPr>
          <a:xfrm>
            <a:off x="1005840" y="178308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GitHub account with two-factor sign-in</a:t>
            </a:r>
          </a:p>
        </p:txBody>
      </p:sp>
      <p:sp>
        <p:nvSpPr>
          <p:cNvPr id="16" name="Checkbox Accounts 2"/>
          <p:cNvSpPr/>
          <p:nvPr/>
        </p:nvSpPr>
        <p:spPr>
          <a:xfrm>
            <a:off x="640080" y="235915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hecklist Accounts item 2"/>
          <p:cNvSpPr txBox="1"/>
          <p:nvPr/>
        </p:nvSpPr>
        <p:spPr>
          <a:xfrm>
            <a:off x="1005840" y="228600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GitHub Education application sent</a:t>
            </a:r>
          </a:p>
        </p:txBody>
      </p:sp>
      <p:sp>
        <p:nvSpPr>
          <p:cNvPr id="18" name="Checkbox Accounts 3"/>
          <p:cNvSpPr/>
          <p:nvPr/>
        </p:nvSpPr>
        <p:spPr>
          <a:xfrm>
            <a:off x="640080" y="286207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hecklist Accounts item 3"/>
          <p:cNvSpPr txBox="1"/>
          <p:nvPr/>
        </p:nvSpPr>
        <p:spPr>
          <a:xfrm>
            <a:off x="1005840" y="278892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DataCamp classroom joined</a:t>
            </a:r>
          </a:p>
        </p:txBody>
      </p:sp>
      <p:sp>
        <p:nvSpPr>
          <p:cNvPr id="20" name="Checkbox Accounts 4"/>
          <p:cNvSpPr/>
          <p:nvPr/>
        </p:nvSpPr>
        <p:spPr>
          <a:xfrm>
            <a:off x="640080" y="336499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hecklist Accounts item 4"/>
          <p:cNvSpPr txBox="1"/>
          <p:nvPr/>
        </p:nvSpPr>
        <p:spPr>
          <a:xfrm>
            <a:off x="1005840" y="32918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GitHub username in the Canvas survey</a:t>
            </a:r>
          </a:p>
        </p:txBody>
      </p:sp>
      <p:sp>
        <p:nvSpPr>
          <p:cNvPr id="22" name="Checklist Laptop body"/>
          <p:cNvSpPr/>
          <p:nvPr/>
        </p:nvSpPr>
        <p:spPr>
          <a:xfrm>
            <a:off x="4640580" y="1645920"/>
            <a:ext cx="4046220" cy="2743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Checklist Laptop header"/>
          <p:cNvSpPr/>
          <p:nvPr/>
        </p:nvSpPr>
        <p:spPr>
          <a:xfrm>
            <a:off x="4640580" y="1234440"/>
            <a:ext cx="404622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hecklist Laptop heading"/>
          <p:cNvSpPr txBox="1"/>
          <p:nvPr/>
        </p:nvSpPr>
        <p:spPr>
          <a:xfrm>
            <a:off x="4777740" y="12344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Laptop</a:t>
            </a:r>
          </a:p>
        </p:txBody>
      </p:sp>
      <p:pic>
        <p:nvPicPr>
          <p:cNvPr id="25" name="Icon checklist Laptop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280160"/>
            <a:ext cx="310896" cy="310896"/>
          </a:xfrm>
          <a:prstGeom prst="rect">
            <a:avLst/>
          </a:prstGeom>
        </p:spPr>
      </p:pic>
      <p:sp>
        <p:nvSpPr>
          <p:cNvPr id="26" name="Checkbox Laptop 1"/>
          <p:cNvSpPr/>
          <p:nvPr/>
        </p:nvSpPr>
        <p:spPr>
          <a:xfrm>
            <a:off x="4823460" y="185623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Checklist Laptop item 1"/>
          <p:cNvSpPr txBox="1"/>
          <p:nvPr/>
        </p:nvSpPr>
        <p:spPr>
          <a:xfrm>
            <a:off x="5189220" y="178308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uv, Positron, Quarto and GitHub Desktop installed</a:t>
            </a:r>
          </a:p>
        </p:txBody>
      </p:sp>
      <p:sp>
        <p:nvSpPr>
          <p:cNvPr id="28" name="Checkbox Laptop 2"/>
          <p:cNvSpPr/>
          <p:nvPr/>
        </p:nvSpPr>
        <p:spPr>
          <a:xfrm>
            <a:off x="4823460" y="235915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hecklist Laptop item 2"/>
          <p:cNvSpPr txBox="1"/>
          <p:nvPr/>
        </p:nvSpPr>
        <p:spPr>
          <a:xfrm>
            <a:off x="5189220" y="228600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Course repository cloned and open</a:t>
            </a:r>
          </a:p>
        </p:txBody>
      </p:sp>
      <p:sp>
        <p:nvSpPr>
          <p:cNvPr id="30" name="Checkbox Laptop 3"/>
          <p:cNvSpPr/>
          <p:nvPr/>
        </p:nvSpPr>
        <p:spPr>
          <a:xfrm>
            <a:off x="4823460" y="286207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Checklist Laptop item 3"/>
          <p:cNvSpPr txBox="1"/>
          <p:nvPr/>
        </p:nvSpPr>
        <p:spPr>
          <a:xfrm>
            <a:off x="5189220" y="278892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.venv created and selected</a:t>
            </a:r>
          </a:p>
        </p:txBody>
      </p:sp>
      <p:sp>
        <p:nvSpPr>
          <p:cNvPr id="32" name="Checkbox Laptop 4"/>
          <p:cNvSpPr/>
          <p:nvPr/>
        </p:nvSpPr>
        <p:spPr>
          <a:xfrm>
            <a:off x="4823460" y="336499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Checklist Laptop item 4"/>
          <p:cNvSpPr txBox="1"/>
          <p:nvPr/>
        </p:nvSpPr>
        <p:spPr>
          <a:xfrm>
            <a:off x="5189220" y="329184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Check script prints “ready”</a:t>
            </a:r>
          </a:p>
        </p:txBody>
      </p:sp>
      <p:sp>
        <p:nvSpPr>
          <p:cNvPr id="34" name="Checkbox Laptop 5"/>
          <p:cNvSpPr/>
          <p:nvPr/>
        </p:nvSpPr>
        <p:spPr>
          <a:xfrm>
            <a:off x="4823460" y="3867912"/>
            <a:ext cx="237744" cy="237744"/>
          </a:xfrm>
          <a:prstGeom prst="rect">
            <a:avLst/>
          </a:prstGeom>
          <a:solidFill>
            <a:srgbClr val="FFFFFF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Checklist Laptop item 5"/>
          <p:cNvSpPr txBox="1"/>
          <p:nvPr/>
        </p:nvSpPr>
        <p:spPr>
          <a:xfrm>
            <a:off x="5189220" y="3794760"/>
            <a:ext cx="33604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lang="en-GB">
                <a:solidFill>
                  <a:schemeClr val="tx1"/>
                </a:solidFill>
              </a:rPr>
              <a:t>AI assistant signed in</a:t>
            </a:r>
          </a:p>
        </p:txBody>
      </p:sp>
      <p:sp>
        <p:nvSpPr>
          <p:cNvPr id="36" name="Help box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Icon Help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608576"/>
            <a:ext cx="384048" cy="384048"/>
          </a:xfrm>
          <a:prstGeom prst="rect">
            <a:avLst/>
          </a:prstGeom>
        </p:spPr>
      </p:pic>
      <p:sp>
        <p:nvSpPr>
          <p:cNvPr id="38" name="Help text"/>
          <p:cNvSpPr txBox="1"/>
          <p:nvPr/>
        </p:nvSpPr>
        <p:spPr>
          <a:xfrm>
            <a:off x="1234440" y="4526280"/>
            <a:ext cx="7269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Not ready yet? </a:t>
            </a:r>
            <a:r>
              <a:rPr sz="1300" b="0" lang="en-GB">
                <a:solidFill>
                  <a:schemeClr val="bg1"/>
                </a:solidFill>
              </a:rPr>
              <a:t>Post the failing step in the Q&amp;A forum on Canvas before Session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