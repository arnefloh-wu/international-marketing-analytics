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removePersonalInfoOnSave="1" saveSubsetFonts="1">
  <p:sldMasterIdLst>
    <p:sldMasterId id="2147483660" r:id="rId4"/>
  </p:sldMasterIdLst>
  <p:notesMasterIdLst>
    <p:notesMasterId r:id="rId31"/>
  </p:notesMasterIdLst>
  <p:handoutMasterIdLst>
    <p:handoutMasterId r:id="rId32"/>
  </p:handout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12"/>
    <p:sldId id="275" r:id="rId11"/>
    <p:sldId id="276" r:id="rId10"/>
    <p:sldId id="277" r:id="rId9"/>
    <p:sldId id="278" r:id="rId8"/>
    <p:sldId id="279" r:id="rId7"/>
    <p:sldId id="280" r:id="rId6"/>
    <p:sldId id="281" r:id="rId5"/>
    <p:sldId id="282" r:id="rId39"/>
    <p:sldId id="283" r:id="rId40"/>
    <p:sldId id="284" r:id="rId41"/>
    <p:sldId id="285" r:id="rId42"/>
    <p:sldId id="286" r:id="rId43"/>
    <p:sldId id="287" r:id="rId44"/>
    <p:sldId id="288" r:id="rId45"/>
    <p:sldId id="289" r:id="rId46"/>
    <p:sldId id="290" r:id="rId47"/>
    <p:sldId id="291" r:id="rId48"/>
    <p:sldId id="292" r:id="rId49"/>
    <p:sldId id="293" r:id="rId50"/>
    <p:sldId id="294" r:id="rId51"/>
    <p:sldId id="295" r:id="rId52"/>
    <p:sldId id="296" r:id="rId53"/>
    <p:sldId id="297" r:id="rId54"/>
    <p:sldId id="298" r:id="rId55"/>
    <p:sldId id="299" r:id="rId56"/>
    <p:sldId id="300" r:id="rId57"/>
    <p:sldId id="301" r:id="rId58"/>
    <p:sldId id="302" r:id="rId59"/>
    <p:sldId id="303" r:id="rId60"/>
    <p:sldId id="304" r:id="rId61"/>
    <p:sldId id="305" r:id="rId62"/>
  </p:sldIdLst>
  <p:sldSz cx="9144000" cy="5715000" type="screen16x10"/>
  <p:notesSz cx="6858000" cy="9144000"/>
  <p:custDataLst>
    <p:tags r:id="rId33"/>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00">
          <p15:clr>
            <a:srgbClr val="A4A3A4"/>
          </p15:clr>
        </p15:guide>
        <p15:guide id="3" pos="4241">
          <p15:clr>
            <a:srgbClr val="A4A3A4"/>
          </p15:clr>
        </p15:guide>
        <p15:guide id="4" pos="4695">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9" name="Autor" initials="A" lastIdx="0" clrIdx="8"/>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EFF7"/>
    <a:srgbClr val="CBDDEF"/>
    <a:srgbClr val="0096D3"/>
    <a:srgbClr val="0C94B7"/>
    <a:srgbClr val="41B4CE"/>
    <a:srgbClr val="73BAD1"/>
    <a:srgbClr val="65B4C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D27102A9-8310-4765-A935-A1911B00CA55}" styleName="Helle Formatvorlage 1 - Akz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Helle Formatvorlage 1 - Akz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ittlere Formatvorlage 1 - Akz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9" autoAdjust="0"/>
    <p:restoredTop sz="93783" autoAdjust="0"/>
  </p:normalViewPr>
  <p:slideViewPr>
    <p:cSldViewPr snapToGrid="0" showGuides="1">
      <p:cViewPr varScale="1">
        <p:scale>
          <a:sx n="164" d="100"/>
          <a:sy n="164" d="100"/>
        </p:scale>
        <p:origin x="758" y="75"/>
      </p:cViewPr>
      <p:guideLst>
        <p:guide orient="horz" pos="1800"/>
        <p:guide pos="4241"/>
        <p:guide pos="4695"/>
      </p:guideLst>
    </p:cSldViewPr>
  </p:slideViewPr>
  <p:outlineViewPr>
    <p:cViewPr>
      <p:scale>
        <a:sx n="33" d="100"/>
        <a:sy n="33" d="100"/>
      </p:scale>
      <p:origin x="0" y="0"/>
    </p:cViewPr>
  </p:outlineViewPr>
  <p:notesTextViewPr>
    <p:cViewPr>
      <p:scale>
        <a:sx n="1" d="1"/>
        <a:sy n="1" d="1"/>
      </p:scale>
      <p:origin x="0" y="0"/>
    </p:cViewPr>
  </p:notesTextViewPr>
  <p:notesViewPr>
    <p:cSldViewPr snapToGrid="0" showGuides="1">
      <p:cViewPr varScale="1">
        <p:scale>
          <a:sx n="94" d="100"/>
          <a:sy n="94" d="100"/>
        </p:scale>
        <p:origin x="2748" y="8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26.xml"/><Relationship Id="rId6" Type="http://schemas.openxmlformats.org/officeDocument/2006/relationships/slide" Target="slides/slide25.xml"/><Relationship Id="rId7" Type="http://schemas.openxmlformats.org/officeDocument/2006/relationships/slide" Target="slides/slide24.xml"/><Relationship Id="rId8" Type="http://schemas.openxmlformats.org/officeDocument/2006/relationships/slide" Target="slides/slide23.xml"/><Relationship Id="rId9" Type="http://schemas.openxmlformats.org/officeDocument/2006/relationships/slide" Target="slides/slide22.xml"/><Relationship Id="rId10" Type="http://schemas.openxmlformats.org/officeDocument/2006/relationships/slide" Target="slides/slide21.xml"/><Relationship Id="rId11" Type="http://schemas.openxmlformats.org/officeDocument/2006/relationships/slide" Target="slides/slide20.xml"/><Relationship Id="rId12" Type="http://schemas.openxmlformats.org/officeDocument/2006/relationships/slide" Target="slides/slide19.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notesMaster" Target="notesMasters/notesMaster1.xml"/><Relationship Id="rId32" Type="http://schemas.openxmlformats.org/officeDocument/2006/relationships/handoutMaster" Target="handoutMasters/handoutMaster1.xml"/><Relationship Id="rId33" Type="http://schemas.openxmlformats.org/officeDocument/2006/relationships/tags" Target="tags/tag1.xml"/><Relationship Id="rId34" Type="http://schemas.openxmlformats.org/officeDocument/2006/relationships/commentAuthors" Target="commentAuthors.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 Id="rId55" Type="http://schemas.openxmlformats.org/officeDocument/2006/relationships/slide" Target="slides/slide43.xml"/><Relationship Id="rId56" Type="http://schemas.openxmlformats.org/officeDocument/2006/relationships/slide" Target="slides/slide44.xml"/><Relationship Id="rId57" Type="http://schemas.openxmlformats.org/officeDocument/2006/relationships/slide" Target="slides/slide45.xml"/><Relationship Id="rId58" Type="http://schemas.openxmlformats.org/officeDocument/2006/relationships/slide" Target="slides/slide46.xml"/><Relationship Id="rId59" Type="http://schemas.openxmlformats.org/officeDocument/2006/relationships/slide" Target="slides/slide47.xml"/><Relationship Id="rId60" Type="http://schemas.openxmlformats.org/officeDocument/2006/relationships/slide" Target="slides/slide48.xml"/><Relationship Id="rId61" Type="http://schemas.openxmlformats.org/officeDocument/2006/relationships/slide" Target="slides/slide49.xml"/><Relationship Id="rId62" Type="http://schemas.openxmlformats.org/officeDocument/2006/relationships/slide" Target="slides/slide5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sz="1000" dirty="0">
              <a:latin typeface="Verdana" pitchFamily="34" charset="0"/>
              <a:ea typeface="Verdana" pitchFamily="34" charset="0"/>
              <a:cs typeface="Verdana"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868817FD-8155-4502-AF78-DBC2EA4B168F}" type="datetimeFigureOut">
              <a:rPr lang="en-GB" sz="1000" smtClean="0">
                <a:latin typeface="Verdana" pitchFamily="34" charset="0"/>
                <a:ea typeface="Verdana" pitchFamily="34" charset="0"/>
                <a:cs typeface="Verdana" pitchFamily="34" charset="0"/>
              </a:rPr>
              <a:t>25/08/2023</a:t>
            </a:fld>
            <a:endParaRPr lang="en-GB" sz="1000" dirty="0">
              <a:latin typeface="Verdana" pitchFamily="34" charset="0"/>
              <a:ea typeface="Verdana" pitchFamily="34" charset="0"/>
              <a:cs typeface="Verdana"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sz="1000" dirty="0">
              <a:latin typeface="Verdana" pitchFamily="34" charset="0"/>
              <a:ea typeface="Verdana" pitchFamily="34" charset="0"/>
              <a:cs typeface="Verdana"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617F6F62-1C91-45E7-BAED-FBFBF67C82BC}" type="slidenum">
              <a:rPr lang="en-GB" sz="1000" smtClean="0">
                <a:latin typeface="Verdana" pitchFamily="34" charset="0"/>
                <a:ea typeface="Verdana" pitchFamily="34" charset="0"/>
                <a:cs typeface="Verdana" pitchFamily="34" charset="0"/>
              </a:rPr>
              <a:t>‹Nr.›</a:t>
            </a:fld>
            <a:endParaRPr lang="en-GB" sz="1000" dirty="0">
              <a:latin typeface="Verdana" pitchFamily="34" charset="0"/>
              <a:ea typeface="Verdana" pitchFamily="34" charset="0"/>
              <a:cs typeface="Verdana" pitchFamily="34" charset="0"/>
            </a:endParaRPr>
          </a:p>
        </p:txBody>
      </p:sp>
    </p:spTree>
    <p:extLst>
      <p:ext uri="{BB962C8B-B14F-4D97-AF65-F5344CB8AC3E}">
        <p14:creationId xmlns:p14="http://schemas.microsoft.com/office/powerpoint/2010/main" val="27543456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000">
                <a:latin typeface="Verdana" pitchFamily="34" charset="0"/>
                <a:ea typeface="Verdana" pitchFamily="34" charset="0"/>
                <a:cs typeface="Verdana" pitchFamily="34" charset="0"/>
              </a:defRPr>
            </a:lvl1pPr>
          </a:lstStyle>
          <a:p>
            <a:endParaRPr lang="en-GB" dirty="0"/>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000">
                <a:latin typeface="Verdana" pitchFamily="34" charset="0"/>
                <a:ea typeface="Verdana" pitchFamily="34" charset="0"/>
                <a:cs typeface="Verdana" pitchFamily="34" charset="0"/>
              </a:defRPr>
            </a:lvl1pPr>
          </a:lstStyle>
          <a:p>
            <a:fld id="{C0A972FC-F5E0-4F80-B169-F0B5EFC71333}" type="datetimeFigureOut">
              <a:rPr lang="en-GB" smtClean="0"/>
              <a:pPr/>
              <a:t>25/08/2023</a:t>
            </a:fld>
            <a:endParaRPr lang="en-GB" dirty="0"/>
          </a:p>
        </p:txBody>
      </p:sp>
      <p:sp>
        <p:nvSpPr>
          <p:cNvPr id="4" name="Folienbildplatzhalter 3"/>
          <p:cNvSpPr>
            <a:spLocks noGrp="1" noRot="1" noChangeAspect="1"/>
          </p:cNvSpPr>
          <p:nvPr>
            <p:ph type="sldImg" idx="2"/>
          </p:nvPr>
        </p:nvSpPr>
        <p:spPr>
          <a:xfrm>
            <a:off x="685800" y="685800"/>
            <a:ext cx="5486400" cy="3429000"/>
          </a:xfrm>
          <a:prstGeom prst="rect">
            <a:avLst/>
          </a:prstGeom>
          <a:noFill/>
          <a:ln w="12700">
            <a:solidFill>
              <a:prstClr val="black"/>
            </a:solidFill>
          </a:ln>
        </p:spPr>
        <p:txBody>
          <a:bodyPr vert="horz" lIns="91440" tIns="45720" rIns="91440" bIns="45720" rtlCol="0" anchor="ctr"/>
          <a:lstStyle/>
          <a:p>
            <a:endParaRPr lang="de-AT"/>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000">
                <a:latin typeface="Verdana" pitchFamily="34" charset="0"/>
                <a:ea typeface="Verdana" pitchFamily="34" charset="0"/>
                <a:cs typeface="Verdana" pitchFamily="34" charset="0"/>
              </a:defRPr>
            </a:lvl1pPr>
          </a:lstStyle>
          <a:p>
            <a:endParaRPr lang="en-GB" dirty="0"/>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000">
                <a:latin typeface="Verdana" pitchFamily="34" charset="0"/>
                <a:ea typeface="Verdana" pitchFamily="34" charset="0"/>
                <a:cs typeface="Verdana" pitchFamily="34" charset="0"/>
              </a:defRPr>
            </a:lvl1pPr>
          </a:lstStyle>
          <a:p>
            <a:fld id="{219CC2FD-B32F-4992-A15B-F95E2E35C81B}" type="slidenum">
              <a:rPr lang="en-GB" smtClean="0"/>
              <a:pPr/>
              <a:t>‹Nr.›</a:t>
            </a:fld>
            <a:endParaRPr lang="en-GB" dirty="0"/>
          </a:p>
        </p:txBody>
      </p:sp>
    </p:spTree>
    <p:extLst>
      <p:ext uri="{BB962C8B-B14F-4D97-AF65-F5344CB8AC3E}">
        <p14:creationId xmlns:p14="http://schemas.microsoft.com/office/powerpoint/2010/main" val="9151365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Verdana" pitchFamily="34" charset="0"/>
        <a:ea typeface="Verdana" pitchFamily="34" charset="0"/>
        <a:cs typeface="Verdana" pitchFamily="34" charset="0"/>
      </a:defRPr>
    </a:lvl1pPr>
    <a:lvl2pPr marL="457200" algn="l" defTabSz="914400" rtl="0" eaLnBrk="1" latinLnBrk="0" hangingPunct="1">
      <a:defRPr sz="1200" kern="1200">
        <a:solidFill>
          <a:schemeClr val="tx1"/>
        </a:solidFill>
        <a:latin typeface="Verdana" panose="020B0604030504040204" pitchFamily="34" charset="0"/>
        <a:ea typeface="+mn-ea"/>
        <a:cs typeface="+mn-cs"/>
      </a:defRPr>
    </a:lvl2pPr>
    <a:lvl3pPr marL="914400" algn="l" defTabSz="914400" rtl="0" eaLnBrk="1" latinLnBrk="0" hangingPunct="1">
      <a:defRPr sz="1200" kern="1200">
        <a:solidFill>
          <a:schemeClr val="tx1"/>
        </a:solidFill>
        <a:latin typeface="Verdana" panose="020B0604030504040204" pitchFamily="34" charset="0"/>
        <a:ea typeface="+mn-ea"/>
        <a:cs typeface="+mn-cs"/>
      </a:defRPr>
    </a:lvl3pPr>
    <a:lvl4pPr marL="1371600" algn="l" defTabSz="914400" rtl="0" eaLnBrk="1" latinLnBrk="0" hangingPunct="1">
      <a:defRPr sz="1200" kern="1200">
        <a:solidFill>
          <a:schemeClr val="tx1"/>
        </a:solidFill>
        <a:latin typeface="Verdana" panose="020B0604030504040204" pitchFamily="34" charset="0"/>
        <a:ea typeface="+mn-ea"/>
        <a:cs typeface="+mn-cs"/>
      </a:defRPr>
    </a:lvl4pPr>
    <a:lvl5pPr marL="1828800" algn="l" defTabSz="914400" rtl="0" eaLnBrk="1" latinLnBrk="0" hangingPunct="1">
      <a:defRPr sz="1200" kern="1200">
        <a:solidFill>
          <a:schemeClr val="tx1"/>
        </a:solidFill>
        <a:latin typeface="Verdana" panose="020B060403050404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we set up every laptop together. Nothing had to be installed before this session.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steps. Start the GitHub Education application first, because approval can take a few days; everything else runs while it is pending.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Accounts first: they need e-mail confirmations and, for GitHub Education, an approval that can take days.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three are free for students. Use the WU e-mail address everywhere, so the student benefits apply.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Two-factor authentication is required by GitHub for accounts that contribute code. GitHub Mobile is the easiest second factor.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Approval is often quick but can take several days, and benefits can take up to 72 hours more to appear. Check the Copilot Student plan status the week before term; it was paused once in 2026.</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DataCamp for the Classroom gives students free premium access for six months. Nobody needs to pay.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overview first, so students know why each tool is there before they install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GitHub is the shared cloud copy. GitHub Desktop syncs it with a folder on the laptop. Positron is where students work on that folder, using Python, Quarto and an AI assistant.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Python 3.14.8 (30 September 2026) is the latest release; every course package installs and runs on it. Windows and macOS do not come with Python, so it is always installed once. On Windows, python.org now distributes Python through the Python install manager, which installs and updates Python itself. Positron can also install Python for you: Command Palette, Python: Install Python via uv.</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Install Python first, then these three. Current Positron: 2026.09 (September 2026); it updates monthly and offers updates itself. Its welcome page checks whether Python is ready. GitHub Desktop brings its own Git.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course repository is public: anyone can clone it without sign-in or access rights. Students pull updates before each session. The cloned folder is the project they open in Positron.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Python: Create Environment makes a .venv inside the open project folder with the chosen Python, offers to install the packages from requirements.txt, and selects the new interpreter. The first install takes a few minutes because PyMC is large. If packages were not installed, the console line does it, on Windows and macOS alike.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script lives in setup/check_setup.py. Every line marked !! says what to fix. test_stack.qmd then runs polars, plotnine and statsmodels on the course data and renders with Quarto. Alternatively open the file and press the Run button at the top right of the editor.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test_stack.qmd is a single file: it installs the packages, loads them and reads the data from the course repository on GitHub, so it also works outside the course folder (internet needed). Run cell 1 once with Ctrl/Cmd + Enter, because Quarto cannot install its own helpers (jupyter) while it renders; pyarrow lets polars hand data to plotnine and statsmodels. Then press Preview: a table, a chart and the regression coefficients appear, and the text says the model explains 43 % of the weekly variation.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 Assistant replaced Positron Assistant and Databot in Positron 2026.07; older videos show the old menus. GitHub Copilot gives chat and code completions and is the cheapest provider for students; in Positron it is still marked Preview.</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Positron 2026.09. A five-minute tour with the live application next to the slides works best.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Names as in the Positron documentation: Activity Bar and Primary Side Bar on the left, Editor in the middle with the Panel (Console, Terminal) below, Secondary Side Bar on the right with the Session pane (Variables, Plots). The Top Bar holds the project switcher and the Interpreter picker.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it live: write one line, press Ctrl+Enter, point at the console, the Variables pane and the plot. %view df opens a table in the Data Explorer from the console.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Positron a project is simply a folder opened with File &gt; Open Folder (a workspace). Positron finds the .venv at the folder root and remembers the interpreter for that folder. Open folders, not single files.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Folder from Template sets up the folder, a .venv, Git and a running session in one dialog. Open it from the New menu (top left), the project switcher or the Command Palette (Workspaces: New Folder from Template).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Positron-specific shortcuts from the Positron documentation, plus the Quarto preview. On macOS, Cmd replaces Ctrl except where noted. The Command Palette finds every other command by name.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 Assistant has been Positron's built-in AI since 2026.07, replacing Positron Assistant and Databot. It uses session context (variable names and types, plots, console history). Permission modes: Normal asks before acting, Restricted allows less, YOLO runs without asking; we use Normal.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Export a conversation (Markdown) and attach it as the prompt log. Posit's FAQ: prompts and session information such as variable names and types go to the model provider; row-level data only when you ask for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the course default stays GitHub Copilot in Posit Assistant, free with GitHub Education. Way 1 uses Claude as the model behind Posit Assistant: Authentication, Configure Language Model Providers, Anthropic, and an API key from the Claude Console (console.anthropic.com, API keys, Create Key). API use is paid per token; a Claude Pro or Max subscription does not include API access. Way 2 is Claude Code, Anthropic's coding agent: the Claude Code extension from the Extensions view (Positron uses the Open VSX registry), or the command-line tool in Positron's terminal. It needs a paid Claude plan or a Claude Console account. It works on the open project folder, runs code and proposes edits you approve.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Claude Code starts in the open project folder. It reads the files, explains code, writes and runs it, and asks before it changes a file or runs a command. A CLAUDE.md file in the project holds standing instructions, like AGENTS.md for Posit Assistant. Installation in the terminal, as documented by Anthropic: macOS curl -fsSL https://claude.ai/install.sh | bash; Windows PowerShell irm https://claude.ai/install.ps1 | iex. The course rules apply unchanged: you own every number, and the prompts go into your prompt log.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GitHub Desktop is the bridge between the folder on the laptop and GitHub. Show it live with the course repository.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Names as in GitHub Desktop: the toolbar shows Current repository, Current branch and the sync button, which reads Fetch origin, Pull origin or Push origin depending on what is waiting. The Changes tab lists edited files; the diff on the right shows removed lines in red and added lines in green.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Required: pull the course repository before every session and work in your own folder, not inside the course repository, so your edits never clash with our updates. Optional: a group repository with commit and push. A merge conflict happens only there, when two people change the same lines; GitHub Desktop lists the files, and Posit Assistant can explain the markers.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Required for everyone: pull the course repository, copy the case material into the group's own project folder and create the environment there. Groups then choose how to combine their work: the simple way (one member keeps report.qmd, the others send code chunks and text) or a private GitHub repository published from GitHub Desktop. Only the two files uploaded to Canvas are assessed.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labs and the case study report are Quarto documents. One file holds text, code and results.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Quarto runs the Python cells through Jupyter, writes the results into Markdown and lets Pandoc turn it into HTML, PDF, Word or slides. Since Positron 2026.08 cell output also shows inline in the editor, with Fix and Explain buttons on errors.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YAML is key: value pairs. Nesting is done by indentation, two spaces per level, never tabs. Options for one format sit under that format's name.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Cell options start with #| at the top of a cell. A label starting with fig- makes the chart a numbered figure that @fig-sales refers to. Inline code puts a computed number into the sentence, so the text updates when the data change.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pictures are the same report.qmd rendered four ways (slides/quarto_demo/report.qmd). Typst makes PDFs without installing LaTeX. Positron's Preview shows the first format listed.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Install and load first, then one slide per package with code that runs on the course data.</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three install into the course .venv. The terminal lines call the Python inside .venv directly, so no activation is needed. %pip in the Positron console installs into the running session; restart the session afterwards if Positron asks.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Packages pane arrived in Positron 2026.07. It works on the active session's environment, uses the workspace requirements.txt to keep versions consistent, flags outdated packages and known security issues, and prompts for a session restart after changes.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Loading is the same on Windows and macOS. Installing happens once per laptop; importing in every file and every new session.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stages repeat in every lab and in the case study.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chain top to bottom: keep 2025, group by country, sum two columns, sort. statsmodels and PyMC expect pandas, so convert at the end with .to_pandas().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grammar as ggplot2 in R, so R tutorials transfer almost one to one. Each + adds one layer.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GT takes the polars summary from the polars slide directly. In a Quarto HTML report the table renders by itself; .save() writes a PNG.</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first look only: Sessions 1 and 2 explain how to read, check and improve such a model. The formula reads: sales explained by price, TV spend and paid search spend.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can be kept up to date from inside Positron. Course materials still come with a pull in GitHub Desktop.</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Positron checks for updates by itself: on Mac and Windows (user installation) it downloads new versions in the background and applies them on restart; Help, Check for Updates checks by hand. Python: Command Palette, Python: Install Python via uv lists the supported versions (3.9 to 3.14) and installs the one you pick; the Start Session button offers the same. A project's .venv cannot be upgraded to a new Python: it is rebuilt (next slide). Packages: when the course requirements.txt changes after a pull, install it again from the console; single packages with --upgrade, or in the Packages pane.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anyone whose check shows Python 3.13 or older, or whose .venv was made with an older Python. All steps stay inside Positron. Stop the Python session first (power icon in the Console), otherwise .venv is in use and cannot be deleted. If the folder sits in OneDrive or Dropbox, pause syncing, or better, move the course folder out of synced folders. Terminal alternative on Windows: py install 3.14, then Remove-Item -Recurse -Force .venv; on macOS the python.org installer and rm -rf .venv.</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problems are an old terminal window or the wrong interpreter.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tick these off. Anything still open goes to the Q&amp;A forum on Canvas before Session 2.</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Contact details on the card.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 Id="rId22" Type="http://schemas.openxmlformats.org/officeDocument/2006/relationships/hyperlink" Target="https://www.wu.ac.at/en/welthandel/arne-floh/"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baseline="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24" name="Gruppieren 23"/>
          <p:cNvGrpSpPr/>
          <p:nvPr userDrawn="1"/>
        </p:nvGrpSpPr>
        <p:grpSpPr>
          <a:xfrm>
            <a:off x="287338" y="603319"/>
            <a:ext cx="8552850" cy="1731679"/>
            <a:chOff x="287338" y="603319"/>
            <a:chExt cx="8552850" cy="2037600"/>
          </a:xfrm>
        </p:grpSpPr>
        <p:sp>
          <p:nvSpPr>
            <p:cNvPr id="26" name="Rechteck 25"/>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7" name="Rechteck 26"/>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8" y="1294973"/>
            <a:ext cx="5466982"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8" y="993080"/>
            <a:ext cx="5466982"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6"/>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9" name="Grafik 18">
            <a:extLst>
              <a:ext uri="{FF2B5EF4-FFF2-40B4-BE49-F238E27FC236}">
                <a16:creationId xmlns:a16="http://schemas.microsoft.com/office/drawing/2014/main" id="{BE16B78E-14FB-4C1E-8625-0D5A429E49F4}"/>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1" name="Grafik 10">
            <a:extLst>
              <a:ext uri="{FF2B5EF4-FFF2-40B4-BE49-F238E27FC236}">
                <a16:creationId xmlns:a16="http://schemas.microsoft.com/office/drawing/2014/main" id="{E9B62297-FBCA-40E7-A876-7818F7A81C7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 und Inhalt">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lvl="0"/>
            <a:r>
              <a:rPr lang="en-GB" dirty="0" err="1"/>
              <a:t>Textmasterformat</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grpSp>
        <p:nvGrpSpPr>
          <p:cNvPr id="12" name="Gruppieren 11"/>
          <p:cNvGrpSpPr/>
          <p:nvPr userDrawn="1"/>
        </p:nvGrpSpPr>
        <p:grpSpPr>
          <a:xfrm>
            <a:off x="287338" y="603319"/>
            <a:ext cx="8552850" cy="2037600"/>
            <a:chOff x="287338" y="603319"/>
            <a:chExt cx="8552850" cy="2037600"/>
          </a:xfrm>
        </p:grpSpPr>
        <p:sp>
          <p:nvSpPr>
            <p:cNvPr id="16" name="Rechteck 15"/>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0"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5"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1" name="Grafik 20">
            <a:extLst>
              <a:ext uri="{FF2B5EF4-FFF2-40B4-BE49-F238E27FC236}">
                <a16:creationId xmlns:a16="http://schemas.microsoft.com/office/drawing/2014/main" id="{BA9844F5-FA66-4582-86D9-5CEB57D81516}"/>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B702B7F6-CDD2-4C6E-BBC1-61A114A8A82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54679611"/>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4"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1" name="Grafik 20">
            <a:extLst>
              <a:ext uri="{FF2B5EF4-FFF2-40B4-BE49-F238E27FC236}">
                <a16:creationId xmlns:a16="http://schemas.microsoft.com/office/drawing/2014/main" id="{A463F4F5-A20D-4A70-B3F9-6AD8A3EE255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AB68F06-4800-4D63-9DF2-372B23A8EC2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919268004"/>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elfolie Bild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2" name="Rechteck 11"/>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3" name="Rechteck 12"/>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6"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7"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2" name="Grafik 21">
            <a:extLst>
              <a:ext uri="{FF2B5EF4-FFF2-40B4-BE49-F238E27FC236}">
                <a16:creationId xmlns:a16="http://schemas.microsoft.com/office/drawing/2014/main" id="{330D039B-1A60-42B3-A3E1-B44D86C63C0C}"/>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5D9B1B1-5069-4351-A01A-8CD097284142}"/>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3042078111"/>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elfolie Bild 2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9" name="Gruppieren 18"/>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4" name="Grafik 23">
            <a:extLst>
              <a:ext uri="{FF2B5EF4-FFF2-40B4-BE49-F238E27FC236}">
                <a16:creationId xmlns:a16="http://schemas.microsoft.com/office/drawing/2014/main" id="{ABF9D4AB-1FA6-4101-9EE8-B852A65B2A1E}"/>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4" name="Grafik 13">
            <a:extLst>
              <a:ext uri="{FF2B5EF4-FFF2-40B4-BE49-F238E27FC236}">
                <a16:creationId xmlns:a16="http://schemas.microsoft.com/office/drawing/2014/main" id="{DDF8959B-5028-481F-A01F-8628D9F2E0D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1441666851"/>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itelfolie Bild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9" name="Rechteck 18"/>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1" name="Rechteck 20"/>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2"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3"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3" name="Grafik 22">
            <a:extLst>
              <a:ext uri="{FF2B5EF4-FFF2-40B4-BE49-F238E27FC236}">
                <a16:creationId xmlns:a16="http://schemas.microsoft.com/office/drawing/2014/main" id="{904218C8-068C-46BC-ADE6-6BC8A468BF77}"/>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D487AD36-3E46-4F41-8B5C-B79909802DD4}"/>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4188316379"/>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elfolie Bild 3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8" name="Gruppieren 17"/>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7" name="Grafik 16">
            <a:extLst>
              <a:ext uri="{FF2B5EF4-FFF2-40B4-BE49-F238E27FC236}">
                <a16:creationId xmlns:a16="http://schemas.microsoft.com/office/drawing/2014/main" id="{63D0D44A-5625-4C70-A2EB-08D982355B99}"/>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3" name="Grafik 12">
            <a:extLst>
              <a:ext uri="{FF2B5EF4-FFF2-40B4-BE49-F238E27FC236}">
                <a16:creationId xmlns:a16="http://schemas.microsoft.com/office/drawing/2014/main" id="{D91D1A92-B997-47B5-A14A-E2A501C20D0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383958111"/>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Kapitelfolie">
    <p:spTree>
      <p:nvGrpSpPr>
        <p:cNvPr id="1" name=""/>
        <p:cNvGrpSpPr/>
        <p:nvPr/>
      </p:nvGrpSpPr>
      <p:grpSpPr>
        <a:xfrm>
          <a:off x="0" y="0"/>
          <a:ext cx="0" cy="0"/>
          <a:chOff x="0" y="0"/>
          <a:chExt cx="0" cy="0"/>
        </a:xfrm>
      </p:grpSpPr>
      <p:grpSp>
        <p:nvGrpSpPr>
          <p:cNvPr id="21" name="Gruppieren 20"/>
          <p:cNvGrpSpPr/>
          <p:nvPr userDrawn="1"/>
        </p:nvGrpSpPr>
        <p:grpSpPr>
          <a:xfrm>
            <a:off x="287338" y="603319"/>
            <a:ext cx="8552850" cy="2037600"/>
            <a:chOff x="287338" y="603319"/>
            <a:chExt cx="8552850" cy="2037600"/>
          </a:xfrm>
        </p:grpSpPr>
        <p:sp>
          <p:nvSpPr>
            <p:cNvPr id="22" name="Rechteck 21"/>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3" name="Rechteck 22"/>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Max. 2 lines of text for chapter header</a:t>
            </a:r>
          </a:p>
        </p:txBody>
      </p:sp>
      <p:sp>
        <p:nvSpPr>
          <p:cNvPr id="2" name="Datumsplatzhalter 1"/>
          <p:cNvSpPr>
            <a:spLocks noGrp="1"/>
          </p:cNvSpPr>
          <p:nvPr>
            <p:ph type="dt" sz="half" idx="13"/>
          </p:nvPr>
        </p:nvSpPr>
        <p:spPr/>
        <p:txBody>
          <a:bodyPr/>
          <a:lstStyle/>
          <a:p>
            <a:fld id="{529FDC53-5973-45F2-8F83-ED68F7A58508}" type="datetime1">
              <a:rPr lang="en-GB" smtClean="0"/>
              <a:t>25/08/2023</a:t>
            </a:fld>
            <a:endParaRPr lang="en-GB" dirty="0"/>
          </a:p>
        </p:txBody>
      </p:sp>
      <p:sp>
        <p:nvSpPr>
          <p:cNvPr id="3" name="Fußzeilenplatzhalter 2"/>
          <p:cNvSpPr>
            <a:spLocks noGrp="1"/>
          </p:cNvSpPr>
          <p:nvPr>
            <p:ph type="ftr" sz="quarter" idx="14"/>
          </p:nvPr>
        </p:nvSpPr>
        <p:spPr/>
        <p:txBody>
          <a:bodyPr/>
          <a:lstStyle/>
          <a:p>
            <a:r>
              <a:rPr lang="en-GB" dirty="0"/>
              <a:t>Sample Footer</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pic>
        <p:nvPicPr>
          <p:cNvPr id="18" name="Grafik 17">
            <a:extLst>
              <a:ext uri="{FF2B5EF4-FFF2-40B4-BE49-F238E27FC236}">
                <a16:creationId xmlns:a16="http://schemas.microsoft.com/office/drawing/2014/main" id="{89CCD104-DEA0-4048-8CA3-CAB740FC066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72F980AF-DDD0-4966-B1E7-E1B87083C7CB}"/>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3772976733"/>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Kapitelfolie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302593"/>
            <a:ext cx="5436000" cy="516714"/>
          </a:xfrm>
          <a:prstGeom prst="rect">
            <a:avLst/>
          </a:prstGeom>
        </p:spPr>
        <p:txBody>
          <a:bodyPr tIns="0" anchor="b"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1 line for chapter header</a:t>
            </a:r>
          </a:p>
        </p:txBody>
      </p:sp>
      <p:sp>
        <p:nvSpPr>
          <p:cNvPr id="14" name="Textplatzhalter 9"/>
          <p:cNvSpPr>
            <a:spLocks noGrp="1"/>
          </p:cNvSpPr>
          <p:nvPr>
            <p:ph type="body" sz="quarter" idx="11" hasCustomPrompt="1"/>
          </p:nvPr>
        </p:nvSpPr>
        <p:spPr bwMode="white">
          <a:xfrm>
            <a:off x="287338" y="2642907"/>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4" name="Date Placeholder 3"/>
          <p:cNvSpPr>
            <a:spLocks noGrp="1"/>
          </p:cNvSpPr>
          <p:nvPr>
            <p:ph type="dt" sz="half" idx="12"/>
          </p:nvPr>
        </p:nvSpPr>
        <p:spPr/>
        <p:txBody>
          <a:bodyPr/>
          <a:lstStyle/>
          <a:p>
            <a:fld id="{24570F99-0B5D-40DA-A3D3-DDF1CB693FD8}" type="datetime1">
              <a:rPr lang="en-GB" smtClean="0"/>
              <a:t>25/08/2023</a:t>
            </a:fld>
            <a:endParaRPr lang="en-GB" dirty="0"/>
          </a:p>
        </p:txBody>
      </p:sp>
      <p:sp>
        <p:nvSpPr>
          <p:cNvPr id="5" name="Footer Placeholder 4"/>
          <p:cNvSpPr>
            <a:spLocks noGrp="1"/>
          </p:cNvSpPr>
          <p:nvPr>
            <p:ph type="ftr" sz="quarter" idx="13"/>
          </p:nvPr>
        </p:nvSpPr>
        <p:spPr/>
        <p:txBody>
          <a:bodyPr/>
          <a:lstStyle/>
          <a:p>
            <a:r>
              <a:rPr lang="en-GB" dirty="0"/>
              <a:t>Sample Footer</a:t>
            </a:r>
          </a:p>
        </p:txBody>
      </p:sp>
      <p:sp>
        <p:nvSpPr>
          <p:cNvPr id="6" name="Slide Number Placeholder 5"/>
          <p:cNvSpPr>
            <a:spLocks noGrp="1"/>
          </p:cNvSpPr>
          <p:nvPr>
            <p:ph type="sldNum" sz="quarter" idx="14"/>
          </p:nvPr>
        </p:nvSpPr>
        <p:spPr/>
        <p:txBody>
          <a:bodyPr/>
          <a:lstStyle/>
          <a:p>
            <a:r>
              <a:rPr lang="en-GB" dirty="0"/>
              <a:t>Page </a:t>
            </a:r>
            <a:fld id="{BE3DC40E-DBBE-4E2D-9EEC-FBF0DA0E9179}" type="slidenum">
              <a:rPr lang="en-GB" smtClean="0"/>
              <a:pPr/>
              <a:t>‹Nr.›</a:t>
            </a:fld>
            <a:endParaRPr lang="en-GB" dirty="0"/>
          </a:p>
        </p:txBody>
      </p:sp>
      <p:pic>
        <p:nvPicPr>
          <p:cNvPr id="21" name="Grafik 20">
            <a:extLst>
              <a:ext uri="{FF2B5EF4-FFF2-40B4-BE49-F238E27FC236}">
                <a16:creationId xmlns:a16="http://schemas.microsoft.com/office/drawing/2014/main" id="{416AA66B-0354-461B-A799-CF3EFFC17D87}"/>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D0ECE620-FB2B-4217-AA10-439373F15D4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4164094613"/>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Nur Titel">
    <p:spTree>
      <p:nvGrpSpPr>
        <p:cNvPr id="1" name=""/>
        <p:cNvGrpSpPr/>
        <p:nvPr/>
      </p:nvGrpSpPr>
      <p:grpSpPr>
        <a:xfrm>
          <a:off x="0" y="0"/>
          <a:ext cx="0" cy="0"/>
          <a:chOff x="0" y="0"/>
          <a:chExt cx="0" cy="0"/>
        </a:xfrm>
      </p:grpSpPr>
      <p:sp>
        <p:nvSpPr>
          <p:cNvPr id="7" name="Inhaltsplatzhalter 6"/>
          <p:cNvSpPr>
            <a:spLocks noGrp="1"/>
          </p:cNvSpPr>
          <p:nvPr>
            <p:ph sz="quarter" idx="10" hasCustomPrompt="1"/>
          </p:nvPr>
        </p:nvSpPr>
        <p:spPr>
          <a:xfrm>
            <a:off x="468316" y="1344613"/>
            <a:ext cx="8210547" cy="4370387"/>
          </a:xfrm>
        </p:spPr>
        <p:txBody>
          <a:bodyPr/>
          <a:lstStyle>
            <a:lvl1pPr>
              <a:buNone/>
              <a:defRPr/>
            </a:lvl1pPr>
          </a:lstStyle>
          <a:p>
            <a:pPr lvl="0"/>
            <a:r>
              <a:rPr lang="en-GB" dirty="0"/>
              <a:t>Placeholder for objects</a:t>
            </a:r>
          </a:p>
        </p:txBody>
      </p:sp>
      <p:sp>
        <p:nvSpPr>
          <p:cNvPr id="8" name="Rechteck 7"/>
          <p:cNvSpPr/>
          <p:nvPr userDrawn="1"/>
        </p:nvSpPr>
        <p:spPr bwMode="gray">
          <a:xfrm>
            <a:off x="0" y="1043522"/>
            <a:ext cx="9144000" cy="25200"/>
          </a:xfrm>
          <a:prstGeom prst="rect">
            <a:avLst/>
          </a:prstGeom>
          <a:solidFill>
            <a:srgbClr val="0C94B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2" name="Titel 1"/>
          <p:cNvSpPr>
            <a:spLocks noGrp="1"/>
          </p:cNvSpPr>
          <p:nvPr>
            <p:ph type="title"/>
          </p:nvPr>
        </p:nvSpPr>
        <p:spPr/>
        <p:txBody>
          <a:bodyPr/>
          <a:lstStyle/>
          <a:p>
            <a:r>
              <a:rPr lang="de-DE"/>
              <a:t>Mastertitelformat bearbeiten</a:t>
            </a:r>
            <a:endParaRPr lang="en-GB" dirty="0"/>
          </a:p>
        </p:txBody>
      </p:sp>
      <p:pic>
        <p:nvPicPr>
          <p:cNvPr id="9" name="Grafik 8">
            <a:extLst>
              <a:ext uri="{FF2B5EF4-FFF2-40B4-BE49-F238E27FC236}">
                <a16:creationId xmlns:a16="http://schemas.microsoft.com/office/drawing/2014/main" id="{293310F7-117D-4045-8610-3277CC5ED29B}"/>
              </a:ext>
            </a:extLst>
          </p:cNvPr>
          <p:cNvPicPr>
            <a:picLocks noChangeAspect="1"/>
          </p:cNvPicPr>
          <p:nvPr userDrawn="1"/>
        </p:nvPicPr>
        <p:blipFill>
          <a:blip r:embed="rId2"/>
          <a:stretch>
            <a:fillRect/>
          </a:stretch>
        </p:blipFill>
        <p:spPr>
          <a:xfrm>
            <a:off x="7711621" y="288569"/>
            <a:ext cx="1170000" cy="617280"/>
          </a:xfrm>
          <a:prstGeom prst="rect">
            <a:avLst/>
          </a:prstGeom>
        </p:spPr>
      </p:pic>
    </p:spTree>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344613"/>
            <a:ext cx="3960000" cy="3859212"/>
          </a:xfrm>
        </p:spPr>
        <p:txBody>
          <a:bodyPr>
            <a:normAutofit/>
          </a:bodyPr>
          <a:lstStyle>
            <a:lvl1pPr>
              <a:buClr>
                <a:schemeClr val="accent1"/>
              </a:buClr>
              <a:defRPr sz="1600"/>
            </a:lvl1pPr>
            <a:lvl2pPr marL="541312" indent="-285750">
              <a:buClr>
                <a:schemeClr val="accent1"/>
              </a:buClr>
              <a:buFont typeface="Wingdings" charset="2"/>
              <a:buChar char="§"/>
              <a:defRPr sz="1500"/>
            </a:lvl2pPr>
            <a:lvl3pPr>
              <a:defRPr sz="1400"/>
            </a:lvl3pPr>
            <a:lvl4pPr>
              <a:buClr>
                <a:schemeClr val="accent1"/>
              </a:buClr>
              <a:defRPr sz="1200"/>
            </a:lvl4pPr>
            <a:lvl5pPr>
              <a:buClr>
                <a:schemeClr val="accent1"/>
              </a:buCl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Zwei Inhalte Vergleich">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8" name="Textplatzhalter 2"/>
          <p:cNvSpPr>
            <a:spLocks noGrp="1"/>
          </p:cNvSpPr>
          <p:nvPr>
            <p:ph type="body" idx="13" hasCustomPrompt="1"/>
          </p:nvPr>
        </p:nvSpPr>
        <p:spPr bwMode="gray">
          <a:xfrm>
            <a:off x="46831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1</a:t>
            </a:r>
          </a:p>
        </p:txBody>
      </p:sp>
      <p:sp>
        <p:nvSpPr>
          <p:cNvPr id="5" name="Datumsplatzhalter 4"/>
          <p:cNvSpPr>
            <a:spLocks noGrp="1"/>
          </p:cNvSpPr>
          <p:nvPr>
            <p:ph type="dt" sz="half" idx="14"/>
          </p:nvPr>
        </p:nvSpPr>
        <p:spPr/>
        <p:txBody>
          <a:bodyPr/>
          <a:lstStyle/>
          <a:p>
            <a:fld id="{9E16A0E8-29DE-4D75-BF66-2C047D439D41}" type="datetime1">
              <a:rPr lang="en-GB" smtClean="0"/>
              <a:t>25/08/2023</a:t>
            </a:fld>
            <a:endParaRPr lang="en-GB" dirty="0"/>
          </a:p>
        </p:txBody>
      </p:sp>
      <p:sp>
        <p:nvSpPr>
          <p:cNvPr id="11" name="Fußzeilenplatzhalter 10"/>
          <p:cNvSpPr>
            <a:spLocks noGrp="1"/>
          </p:cNvSpPr>
          <p:nvPr>
            <p:ph type="ftr" sz="quarter" idx="15"/>
          </p:nvPr>
        </p:nvSpPr>
        <p:spPr/>
        <p:txBody>
          <a:bodyPr/>
          <a:lstStyle/>
          <a:p>
            <a:r>
              <a:rPr lang="en-GB" dirty="0"/>
              <a:t>Sample Footer</a:t>
            </a:r>
          </a:p>
        </p:txBody>
      </p:sp>
      <p:sp>
        <p:nvSpPr>
          <p:cNvPr id="12" name="Foliennummernplatzhalter 11"/>
          <p:cNvSpPr>
            <a:spLocks noGrp="1"/>
          </p:cNvSpPr>
          <p:nvPr>
            <p:ph type="sldNum" sz="quarter" idx="16"/>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
        <p:nvSpPr>
          <p:cNvPr id="14" name="Textplatzhalter 2"/>
          <p:cNvSpPr>
            <a:spLocks noGrp="1"/>
          </p:cNvSpPr>
          <p:nvPr>
            <p:ph type="body" idx="17" hasCustomPrompt="1"/>
          </p:nvPr>
        </p:nvSpPr>
        <p:spPr bwMode="gray">
          <a:xfrm>
            <a:off x="472789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2</a:t>
            </a:r>
          </a:p>
        </p:txBody>
      </p:sp>
    </p:spTree>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bschlussfolie">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Textplatzhalter 10"/>
          <p:cNvSpPr>
            <a:spLocks noGrp="1"/>
          </p:cNvSpPr>
          <p:nvPr>
            <p:ph type="body" sz="quarter" idx="10" hasCustomPrompt="1"/>
          </p:nvPr>
        </p:nvSpPr>
        <p:spPr>
          <a:xfrm>
            <a:off x="1684020" y="2559843"/>
            <a:ext cx="2763926" cy="1811291"/>
          </a:xfr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marR="0" lvl="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a:pPr>
            <a:r>
              <a:rPr kumimoji="0" lang="en-GB" sz="1000" b="0" i="0" u="none" strike="noStrike" kern="1200" cap="none" spc="0" normalizeH="0" baseline="0" noProof="0" dirty="0" err="1">
                <a:ln>
                  <a:noFill/>
                </a:ln>
                <a:solidFill>
                  <a:srgbClr val="000000"/>
                </a:solidFill>
                <a:effectLst/>
                <a:uLnTx/>
                <a:uFillTx/>
                <a:latin typeface="+mn-lt"/>
                <a:ea typeface="+mn-ea"/>
                <a:cs typeface="+mn-cs"/>
              </a:rPr>
              <a:t>Hier</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Adressdaten</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eingeben</a:t>
            </a:r>
            <a:endParaRPr kumimoji="0" lang="en-GB" sz="1000" b="0" i="0" u="none" strike="noStrike" kern="1200" cap="none" spc="0" normalizeH="0" baseline="0" noProof="0" dirty="0">
              <a:ln>
                <a:noFill/>
              </a:ln>
              <a:solidFill>
                <a:srgbClr val="000000"/>
              </a:solidFill>
              <a:effectLst/>
              <a:uLnTx/>
              <a:uFillTx/>
              <a:latin typeface="+mn-lt"/>
              <a:ea typeface="+mn-ea"/>
              <a:cs typeface="+mn-cs"/>
            </a:endParaRP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Titelfolie Kontak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Kontaktdaten"/>
          <p:cNvSpPr>
            <a:spLocks noGrp="1"/>
          </p:cNvSpPr>
          <p:nvPr userDrawn="1"/>
        </p:nvSpPr>
        <p:spPr bwMode="white">
          <a:xfrm>
            <a:off x="287338" y="2941638"/>
            <a:ext cx="4284662" cy="1400000"/>
          </a:xfrm>
          <a:prstGeom prst="rect">
            <a:avLst/>
          </a:prstGeom>
          <a:solidFill>
            <a:srgbClr val="FFFFFF">
              <a:alpha val="90000"/>
            </a:srgbClr>
          </a:solidFill>
          <a:ln>
            <a:noFill/>
          </a:ln>
        </p:spPr>
        <p:txBody>
          <a:bodyPr wrap="square" lIns="324000" tIns="216000" rIns="324000" bIns="216000" rtlCol="0" anchor="t" anchorCtr="0">
            <a:spAutoFit/>
          </a:bodyPr>
          <a:lstStyle>
            <a:lvl1pPr marL="0" indent="0">
              <a:buNone/>
              <a:defRPr lang="de-DE" sz="1200" baseline="0" dirty="0" smtClean="0"/>
            </a:lvl1pPr>
          </a:lstStyle>
          <a:p>
            <a:pPr marL="0" indent="0">
              <a:buNone/>
            </a:pPr>
            <a:r>
              <a:rPr lang="en-GB" sz="1100" dirty="0">
                <a:solidFill>
                  <a:srgbClr val="000000"/>
                </a:solidFill>
                <a:latin typeface="+mn-lt"/>
              </a:rPr>
              <a:t>Dr Arne Floh, Senior Lecturer in Marketing</a:t>
            </a:r>
          </a:p>
          <a:p>
            <a:pPr marL="0" indent="0">
              <a:buNone/>
            </a:pPr>
            <a:r>
              <a:rPr lang="en-GB" sz="1100" dirty="0">
                <a:solidFill>
                  <a:srgbClr val="000000"/>
                </a:solidFill>
                <a:latin typeface="+mn-lt"/>
              </a:rPr>
              <a:t>WU Vienna, Institute for International Business</a:t>
            </a:r>
          </a:p>
          <a:p>
            <a:pPr marL="0" indent="0">
              <a:buNone/>
            </a:pPr>
            <a:endParaRPr lang="en-GB" sz="1200"/>
          </a:p>
          <a:p>
            <a:pPr marL="0" indent="0">
              <a:buNone/>
            </a:pPr>
            <a:r>
              <a:rPr lang="en-GB" sz="1100" dirty="0">
                <a:solidFill>
                  <a:srgbClr val="000000"/>
                </a:solidFill>
                <a:latin typeface="+mn-lt"/>
                <a:hlinkClick r:id="rId20"/>
              </a:rPr>
              <a:t>arne.floh@wu.ac.at</a:t>
            </a:r>
          </a:p>
          <a:p>
            <a:pPr marL="0" indent="0">
              <a:buNone/>
            </a:pPr>
            <a:r>
              <a:rPr lang="en-GB" sz="1100" dirty="0">
                <a:solidFill>
                  <a:srgbClr val="000000"/>
                </a:solidFill>
                <a:latin typeface="+mn-lt"/>
                <a:hlinkClick r:id="rId21"/>
              </a:rPr>
              <a:t>Office hours: book online (Google Calendar)</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Inhalt und Bild mit Logo">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Bildplatzhalter 3"/>
          <p:cNvSpPr>
            <a:spLocks noGrp="1"/>
          </p:cNvSpPr>
          <p:nvPr>
            <p:ph type="pic" sz="half" idx="2" hasCustomPrompt="1"/>
          </p:nvPr>
        </p:nvSpPr>
        <p:spPr>
          <a:xfrm>
            <a:off x="4715688" y="1344613"/>
            <a:ext cx="3960000" cy="3859212"/>
          </a:xfrm>
        </p:spPr>
        <p:txBody>
          <a:bodyPr anchor="ctr"/>
          <a:lstStyle>
            <a:lvl1pPr marL="0" indent="0" algn="ctr">
              <a:buNone/>
              <a:defRPr sz="1200"/>
            </a:lvl1pPr>
          </a:lstStyle>
          <a:p>
            <a:r>
              <a:rPr lang="en-GB" dirty="0"/>
              <a:t>Click icon to add picture</a:t>
            </a:r>
          </a:p>
        </p:txBody>
      </p:sp>
      <p:sp>
        <p:nvSpPr>
          <p:cNvPr id="20" name="Logoplatzhalter 19"/>
          <p:cNvSpPr>
            <a:spLocks noGrp="1"/>
          </p:cNvSpPr>
          <p:nvPr>
            <p:ph type="pic" sz="quarter" idx="13" hasCustomPrompt="1"/>
          </p:nvPr>
        </p:nvSpPr>
        <p:spPr>
          <a:xfrm>
            <a:off x="7715688" y="4243825"/>
            <a:ext cx="860000" cy="860000"/>
          </a:xfrm>
        </p:spPr>
        <p:txBody>
          <a:bodyPr anchor="ctr"/>
          <a:lstStyle>
            <a:lvl1pPr marL="0" indent="0" algn="ctr">
              <a:buNone/>
              <a:defRPr sz="1200"/>
            </a:lvl1pPr>
          </a:lstStyle>
          <a:p>
            <a:r>
              <a:rPr lang="en-GB" dirty="0"/>
              <a:t>Logo</a:t>
            </a:r>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Inhaltsplatzhalter 2"/>
          <p:cNvSpPr>
            <a:spLocks noGrp="1"/>
          </p:cNvSpPr>
          <p:nvPr>
            <p:ph type="tbl"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marL="0" indent="0">
              <a:buNone/>
            </a:pPr>
            <a:r>
              <a:rPr lang="en-GB" dirty="0"/>
              <a:t>Click icon to add table</a:t>
            </a:r>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bschlussfolie Kontakt">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Kontaktdaten"/>
          <p:cNvSpPr>
            <a:spLocks noGrp="1"/>
          </p:cNvSpPr>
          <p:nvPr userDrawn="1"/>
        </p:nvSpPr>
        <p:spPr>
          <a:xfrm>
            <a:off x="1684020" y="2559843"/>
            <a:ext cx="2763926" cy="1811291"/>
          </a:xfrm>
          <a:prstGeom prst="rect">
            <a:avLst/>
          </a:prstGeo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indent="0">
              <a:buNone/>
            </a:pPr>
            <a:r>
              <a:rPr lang="en-GB" sz="1000" b="1" dirty="0">
                <a:solidFill>
                  <a:srgbClr val="000000"/>
                </a:solidFill>
                <a:latin typeface="+mn-lt"/>
              </a:rPr>
              <a:t>INSTITUTE FOR INTERNATIONAL BUSINESS</a:t>
            </a:r>
          </a:p>
          <a:p>
            <a:pPr marL="0" indent="0">
              <a:buNone/>
            </a:pPr>
            <a:r>
              <a:rPr lang="en-GB" sz="1000" dirty="0">
                <a:solidFill>
                  <a:srgbClr val="000000"/>
                </a:solidFill>
                <a:latin typeface="+mn-lt"/>
              </a:rPr>
              <a:t>Welthandelsplatz 1, 1020 Vienna, Austria</a:t>
            </a:r>
          </a:p>
          <a:p>
            <a:pPr marL="0" indent="0">
              <a:buNone/>
            </a:pPr>
            <a:endParaRPr lang="en-GB" sz="1000" dirty="0"/>
          </a:p>
          <a:p>
            <a:pPr marL="0" indent="0">
              <a:buNone/>
            </a:pPr>
            <a:r>
              <a:rPr lang="en-GB" sz="1000" b="1" dirty="0">
                <a:solidFill>
                  <a:srgbClr val="000000"/>
                </a:solidFill>
                <a:latin typeface="+mn-lt"/>
              </a:rPr>
              <a:t>DR ARNE FLOH</a:t>
            </a:r>
          </a:p>
          <a:p>
            <a:pPr marL="0" indent="0">
              <a:buNone/>
            </a:pPr>
            <a:r>
              <a:rPr lang="en-GB" sz="1000" dirty="0">
                <a:solidFill>
                  <a:srgbClr val="000000"/>
                </a:solidFill>
                <a:latin typeface="+mn-lt"/>
              </a:rPr>
              <a:t>Senior Lecturer in Marketing</a:t>
            </a:r>
          </a:p>
          <a:p>
            <a:pPr marL="0" indent="0">
              <a:buNone/>
            </a:pPr>
            <a:endParaRPr lang="en-GB" sz="1000" dirty="0"/>
          </a:p>
          <a:p>
            <a:pPr marL="0" indent="0">
              <a:buNone/>
            </a:pPr>
            <a:r>
              <a:rPr lang="en-GB" sz="1000" dirty="0">
                <a:solidFill>
                  <a:srgbClr val="000000"/>
                </a:solidFill>
                <a:latin typeface="+mn-lt"/>
              </a:rPr>
              <a:t>F +43-31336-6367</a:t>
            </a:r>
          </a:p>
          <a:p>
            <a:pPr marL="0" indent="0">
              <a:buNone/>
            </a:pPr>
            <a:r>
              <a:rPr lang="en-GB" sz="1000" dirty="0">
                <a:solidFill>
                  <a:srgbClr val="000000"/>
                </a:solidFill>
                <a:latin typeface="+mn-lt"/>
                <a:hlinkClick r:id="rId20"/>
              </a:rPr>
              <a:t>arne.floh@wu.ac.at</a:t>
            </a:r>
          </a:p>
          <a:p>
            <a:pPr marL="0" indent="0">
              <a:buNone/>
            </a:pPr>
            <a:r>
              <a:rPr lang="en-GB" sz="900" dirty="0">
                <a:solidFill>
                  <a:srgbClr val="000000"/>
                </a:solidFill>
                <a:latin typeface="+mn-lt"/>
                <a:hlinkClick r:id="rId22"/>
              </a:rPr>
              <a:t>www.wu.ac.at/en/welthandel/arne-floh</a:t>
            </a:r>
          </a:p>
          <a:p>
            <a:pPr marL="0" indent="0">
              <a:buNone/>
            </a:pPr>
            <a:r>
              <a:rPr lang="en-GB" sz="1000" dirty="0">
                <a:solidFill>
                  <a:srgbClr val="000000"/>
                </a:solidFill>
                <a:latin typeface="+mn-lt"/>
                <a:hlinkClick r:id="rId21"/>
              </a:rPr>
              <a:t>Office hours: book online</a:t>
            </a: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 Id="rId18" Type="http://schemas.openxmlformats.org/officeDocument/2006/relationships/image" Target="../media/image2.png"/><Relationship Id="rId19" Type="http://schemas.openxmlformats.org/officeDocument/2006/relationships/slideLayout" Target="../slideLayouts/slideLayout16.xml"/><Relationship Id="rId20" Type="http://schemas.openxmlformats.org/officeDocument/2006/relationships/slideLayout" Target="../slideLayouts/slideLayout17.xml"/><Relationship Id="rId21" Type="http://schemas.openxmlformats.org/officeDocument/2006/relationships/slideLayout" Target="../slideLayouts/slideLayout18.xml"/><Relationship Id="rId22"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3" name="Textplatzhalter 2"/>
          <p:cNvSpPr>
            <a:spLocks noGrp="1"/>
          </p:cNvSpPr>
          <p:nvPr>
            <p:ph type="body" idx="1"/>
          </p:nvPr>
        </p:nvSpPr>
        <p:spPr>
          <a:xfrm>
            <a:off x="457200" y="1344613"/>
            <a:ext cx="7764463" cy="3859212"/>
          </a:xfrm>
          <a:prstGeom prst="rect">
            <a:avLst/>
          </a:prstGeom>
        </p:spPr>
        <p:txBody>
          <a:bodyPr vert="horz" lIns="0" tIns="45715" rIns="0" bIns="45715" rtlCol="0">
            <a:normAutofit/>
          </a:bodyPr>
          <a:lstStyle/>
          <a:p>
            <a:pPr lvl="0"/>
            <a:r>
              <a:rPr lang="en-GB" dirty="0" err="1"/>
              <a:t>Textmasterformate</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5" name="Fußzeilenplatzhalter 4"/>
          <p:cNvSpPr>
            <a:spLocks noGrp="1"/>
          </p:cNvSpPr>
          <p:nvPr userDrawn="1">
            <p:ph type="ftr" sz="quarter" idx="3"/>
          </p:nvPr>
        </p:nvSpPr>
        <p:spPr>
          <a:xfrm>
            <a:off x="1354561" y="5412059"/>
            <a:ext cx="3217443" cy="258085"/>
          </a:xfrm>
          <a:prstGeom prst="rect">
            <a:avLst/>
          </a:prstGeom>
        </p:spPr>
        <p:txBody>
          <a:bodyPr vert="horz" lIns="91431" tIns="45715" rIns="91431" bIns="45715" rtlCol="0" anchor="ctr"/>
          <a:lstStyle>
            <a:lvl1pPr algn="l">
              <a:defRPr sz="800" cap="all" baseline="0">
                <a:solidFill>
                  <a:schemeClr val="tx1">
                    <a:tint val="75000"/>
                  </a:schemeClr>
                </a:solidFill>
              </a:defRPr>
            </a:lvl1pPr>
          </a:lstStyle>
          <a:p>
            <a:r>
              <a:rPr lang="en-GB" dirty="0"/>
              <a:t>Sample Footer</a:t>
            </a:r>
          </a:p>
        </p:txBody>
      </p:sp>
      <p:sp>
        <p:nvSpPr>
          <p:cNvPr id="6" name="Foliennummernplatzhalter 5"/>
          <p:cNvSpPr>
            <a:spLocks noGrp="1"/>
          </p:cNvSpPr>
          <p:nvPr userDrawn="1">
            <p:ph type="sldNum" sz="quarter" idx="4"/>
          </p:nvPr>
        </p:nvSpPr>
        <p:spPr>
          <a:xfrm>
            <a:off x="462407" y="5412059"/>
            <a:ext cx="892150" cy="258085"/>
          </a:xfrm>
          <a:prstGeom prst="rect">
            <a:avLst/>
          </a:prstGeom>
        </p:spPr>
        <p:txBody>
          <a:bodyPr vert="horz" lIns="0" tIns="45715" rIns="0" bIns="45715" rtlCol="0" anchor="ctr"/>
          <a:lstStyle>
            <a:lvl1pPr algn="l">
              <a:defRPr sz="800" cap="all" baseline="0">
                <a:solidFill>
                  <a:schemeClr val="tx1">
                    <a:tint val="75000"/>
                  </a:schemeClr>
                </a:solidFill>
              </a:defRPr>
            </a:lvl1pPr>
          </a:lstStyle>
          <a:p>
            <a:r>
              <a:rPr lang="en-GB" dirty="0"/>
              <a:t>Page </a:t>
            </a:r>
            <a:fld id="{BE3DC40E-DBBE-4E2D-9EEC-FBF0DA0E9179}" type="slidenum">
              <a:rPr lang="en-GB" smtClean="0"/>
              <a:pPr/>
              <a:t>‹Nr.›</a:t>
            </a:fld>
            <a:endParaRPr lang="en-GB" dirty="0"/>
          </a:p>
        </p:txBody>
      </p:sp>
      <p:sp>
        <p:nvSpPr>
          <p:cNvPr id="7" name="Datumsplatzhalter 6"/>
          <p:cNvSpPr>
            <a:spLocks noGrp="1"/>
          </p:cNvSpPr>
          <p:nvPr userDrawn="1">
            <p:ph type="dt" sz="half" idx="2"/>
          </p:nvPr>
        </p:nvSpPr>
        <p:spPr>
          <a:xfrm>
            <a:off x="5745181" y="5412059"/>
            <a:ext cx="987407" cy="258085"/>
          </a:xfrm>
          <a:prstGeom prst="rect">
            <a:avLst/>
          </a:prstGeom>
        </p:spPr>
        <p:txBody>
          <a:bodyPr vert="horz" lIns="0" tIns="45715" rIns="0" bIns="45715" rtlCol="0" anchor="ctr"/>
          <a:lstStyle>
            <a:lvl1pPr algn="r">
              <a:defRPr lang="de-DE" sz="800" kern="1200" cap="all" baseline="0" smtClean="0">
                <a:solidFill>
                  <a:schemeClr val="tx1">
                    <a:tint val="75000"/>
                  </a:schemeClr>
                </a:solidFill>
                <a:latin typeface="+mn-lt"/>
                <a:ea typeface="+mn-ea"/>
                <a:cs typeface="+mn-cs"/>
              </a:defRPr>
            </a:lvl1pPr>
          </a:lstStyle>
          <a:p>
            <a:fld id="{AD672231-DCCE-48E5-AF73-62895FE58BB4}" type="datetime1">
              <a:rPr lang="en-GB" smtClean="0"/>
              <a:t>25/08/2023</a:t>
            </a:fld>
            <a:endParaRPr lang="en-GB" dirty="0"/>
          </a:p>
        </p:txBody>
      </p:sp>
      <p:sp>
        <p:nvSpPr>
          <p:cNvPr id="18" name="Rechteck 17"/>
          <p:cNvSpPr/>
          <p:nvPr userDrawn="1"/>
        </p:nvSpPr>
        <p:spPr bwMode="gray">
          <a:xfrm>
            <a:off x="0" y="1043522"/>
            <a:ext cx="9144000" cy="25200"/>
          </a:xfrm>
          <a:prstGeom prst="rect">
            <a:avLst/>
          </a:prstGeom>
          <a:solidFill>
            <a:srgbClr val="0C94B7"/>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15" name="Titelplatzhalter 14"/>
          <p:cNvSpPr>
            <a:spLocks noGrp="1"/>
          </p:cNvSpPr>
          <p:nvPr userDrawn="1">
            <p:ph type="title"/>
          </p:nvPr>
        </p:nvSpPr>
        <p:spPr bwMode="auto">
          <a:xfrm>
            <a:off x="462408" y="139700"/>
            <a:ext cx="6840000" cy="903822"/>
          </a:xfrm>
          <a:prstGeom prst="rect">
            <a:avLst/>
          </a:prstGeom>
        </p:spPr>
        <p:txBody>
          <a:bodyPr vert="horz" lIns="0" tIns="0" rIns="0" bIns="0" rtlCol="0" anchor="ctr">
            <a:normAutofit/>
          </a:bodyPr>
          <a:lstStyle/>
          <a:p>
            <a:r>
              <a:rPr lang="en-GB" dirty="0" err="1"/>
              <a:t>Titelmasterformat</a:t>
            </a:r>
            <a:r>
              <a:rPr lang="en-GB" dirty="0"/>
              <a:t> </a:t>
            </a:r>
            <a:r>
              <a:rPr lang="en-GB" dirty="0" err="1"/>
              <a:t>durch</a:t>
            </a:r>
            <a:r>
              <a:rPr lang="en-GB" dirty="0"/>
              <a:t> </a:t>
            </a:r>
            <a:br>
              <a:rPr lang="en-GB" dirty="0"/>
            </a:br>
            <a:r>
              <a:rPr lang="en-GB" dirty="0" err="1"/>
              <a:t>Klicken</a:t>
            </a:r>
            <a:r>
              <a:rPr lang="en-GB" dirty="0"/>
              <a:t> </a:t>
            </a:r>
            <a:r>
              <a:rPr lang="en-GB" dirty="0" err="1"/>
              <a:t>bearbeiten</a:t>
            </a:r>
            <a:endParaRPr lang="en-GB" dirty="0"/>
          </a:p>
        </p:txBody>
      </p:sp>
      <p:pic>
        <p:nvPicPr>
          <p:cNvPr id="13" name="Grafik 12">
            <a:extLst>
              <a:ext uri="{FF2B5EF4-FFF2-40B4-BE49-F238E27FC236}">
                <a16:creationId xmlns:a16="http://schemas.microsoft.com/office/drawing/2014/main" id="{49925201-EC66-4A08-AB14-A541648A67DE}"/>
              </a:ext>
            </a:extLst>
          </p:cNvPr>
          <p:cNvPicPr>
            <a:picLocks noChangeAspect="1"/>
          </p:cNvPicPr>
          <p:nvPr userDrawn="1"/>
        </p:nvPicPr>
        <p:blipFill>
          <a:blip r:embed="rId17"/>
          <a:stretch>
            <a:fillRect/>
          </a:stretch>
        </p:blipFill>
        <p:spPr>
          <a:xfrm>
            <a:off x="7711621" y="288569"/>
            <a:ext cx="1170000" cy="617280"/>
          </a:xfrm>
          <a:prstGeom prst="rect">
            <a:avLst/>
          </a:prstGeom>
        </p:spPr>
      </p:pic>
      <p:pic>
        <p:nvPicPr>
          <p:cNvPr id="11" name="Grafik 10">
            <a:extLst>
              <a:ext uri="{FF2B5EF4-FFF2-40B4-BE49-F238E27FC236}">
                <a16:creationId xmlns:a16="http://schemas.microsoft.com/office/drawing/2014/main" id="{0A212EC7-C80F-4EBC-9817-97C85E0A8AEB}"/>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cSld>
  <p:clrMap bg1="lt1" tx1="dk1" bg2="lt2" tx2="dk2" accent1="accent1" accent2="accent2" accent3="accent3" accent4="accent4" accent5="accent5" accent6="accent6" hlink="hlink" folHlink="folHlink"/>
  <p:sldLayoutIdLst>
    <p:sldLayoutId id="2147483671" r:id="rId1"/>
    <p:sldLayoutId id="2147483661" r:id="rId2"/>
    <p:sldLayoutId id="2147483663" r:id="rId3"/>
    <p:sldLayoutId id="2147483675" r:id="rId4"/>
    <p:sldLayoutId id="2147483676" r:id="rId5"/>
    <p:sldLayoutId id="2147483686" r:id="rId6"/>
    <p:sldLayoutId id="2147483687" r:id="rId7"/>
    <p:sldLayoutId id="2147483681" r:id="rId8"/>
    <p:sldLayoutId id="2147483682" r:id="rId9"/>
    <p:sldLayoutId id="2147483688" r:id="rId10"/>
    <p:sldLayoutId id="2147483691" r:id="rId11"/>
    <p:sldLayoutId id="2147483664" r:id="rId12"/>
    <p:sldLayoutId id="2147483667" r:id="rId13"/>
    <p:sldLayoutId id="2147483668" r:id="rId14"/>
    <p:sldLayoutId id="2147483670" r:id="rId15"/>
    <p:sldLayoutId id="2147483692" r:id="rId19"/>
    <p:sldLayoutId id="2147483693" r:id="rId20"/>
    <p:sldLayoutId id="2147483694" r:id="rId21"/>
    <p:sldLayoutId id="2147483695" r:id="rId22"/>
  </p:sldLayoutIdLst>
  <p:transition>
    <p:fade/>
  </p:transition>
  <p:hf hdr="0" dt="0"/>
  <p:txStyles>
    <p:titleStyle>
      <a:lvl1pPr algn="l" defTabSz="914306" rtl="0" eaLnBrk="1" latinLnBrk="0" hangingPunct="1">
        <a:lnSpc>
          <a:spcPct val="100000"/>
        </a:lnSpc>
        <a:spcBef>
          <a:spcPct val="0"/>
        </a:spcBef>
        <a:buNone/>
        <a:defRPr sz="2400" b="1" kern="1200">
          <a:solidFill>
            <a:schemeClr val="tx1"/>
          </a:solidFill>
          <a:latin typeface="Georgia" charset="0"/>
          <a:ea typeface="Georgia" charset="0"/>
          <a:cs typeface="Georgia" charset="0"/>
        </a:defRPr>
      </a:lvl1pPr>
    </p:titleStyle>
    <p:bodyStyle>
      <a:lvl1pPr marL="266700" indent="-266700" algn="l" defTabSz="914306" rtl="0" eaLnBrk="1" latinLnBrk="0" hangingPunct="1">
        <a:lnSpc>
          <a:spcPct val="100000"/>
        </a:lnSpc>
        <a:spcBef>
          <a:spcPts val="0"/>
        </a:spcBef>
        <a:spcAft>
          <a:spcPts val="600"/>
        </a:spcAft>
        <a:buClr>
          <a:schemeClr val="accent1"/>
        </a:buClr>
        <a:buFont typeface="Wingdings" charset="2"/>
        <a:buChar char="§"/>
        <a:defRPr sz="1600" kern="1200">
          <a:solidFill>
            <a:schemeClr val="tx1"/>
          </a:solidFill>
          <a:latin typeface="+mn-lt"/>
          <a:ea typeface="+mn-ea"/>
          <a:cs typeface="+mn-cs"/>
        </a:defRPr>
      </a:lvl1pPr>
      <a:lvl2pPr marL="539750" indent="-273050" algn="l" defTabSz="914306" rtl="0" eaLnBrk="1" latinLnBrk="0" hangingPunct="1">
        <a:lnSpc>
          <a:spcPct val="100000"/>
        </a:lnSpc>
        <a:spcBef>
          <a:spcPts val="0"/>
        </a:spcBef>
        <a:spcAft>
          <a:spcPts val="400"/>
        </a:spcAft>
        <a:buClr>
          <a:schemeClr val="accent1"/>
        </a:buClr>
        <a:buSzPct val="100000"/>
        <a:buFont typeface="Wingdings" charset="2"/>
        <a:buChar char="§"/>
        <a:defRPr sz="1500" kern="1200">
          <a:solidFill>
            <a:schemeClr val="tx1"/>
          </a:solidFill>
          <a:latin typeface="+mn-lt"/>
          <a:ea typeface="+mn-ea"/>
          <a:cs typeface="+mn-cs"/>
        </a:defRPr>
      </a:lvl2pPr>
      <a:lvl3pPr marL="814388" indent="-273050" algn="l" defTabSz="914306" rtl="0" eaLnBrk="1" latinLnBrk="0" hangingPunct="1">
        <a:lnSpc>
          <a:spcPct val="100000"/>
        </a:lnSpc>
        <a:spcBef>
          <a:spcPts val="0"/>
        </a:spcBef>
        <a:spcAft>
          <a:spcPts val="400"/>
        </a:spcAft>
        <a:buClr>
          <a:schemeClr val="accent1"/>
        </a:buClr>
        <a:buFont typeface="Wingdings" charset="2"/>
        <a:buChar char="§"/>
        <a:defRPr sz="1400" kern="1200">
          <a:solidFill>
            <a:schemeClr val="tx1"/>
          </a:solidFill>
          <a:latin typeface="+mn-lt"/>
          <a:ea typeface="+mn-ea"/>
          <a:cs typeface="+mn-cs"/>
        </a:defRPr>
      </a:lvl3pPr>
      <a:lvl4pPr marL="1074738" indent="-266700"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4pPr>
      <a:lvl5pPr marL="1341438" indent="-263525"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5pPr>
      <a:lvl6pPr marL="251434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496"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650"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580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306" rtl="0" eaLnBrk="1" latinLnBrk="0" hangingPunct="1">
        <a:defRPr sz="1800" kern="1200">
          <a:solidFill>
            <a:schemeClr val="tx1"/>
          </a:solidFill>
          <a:latin typeface="+mn-lt"/>
          <a:ea typeface="+mn-ea"/>
          <a:cs typeface="+mn-cs"/>
        </a:defRPr>
      </a:lvl1pPr>
      <a:lvl2pPr marL="457153" algn="l" defTabSz="914306" rtl="0" eaLnBrk="1" latinLnBrk="0" hangingPunct="1">
        <a:defRPr sz="1800" kern="1200">
          <a:solidFill>
            <a:schemeClr val="tx1"/>
          </a:solidFill>
          <a:latin typeface="+mn-lt"/>
          <a:ea typeface="+mn-ea"/>
          <a:cs typeface="+mn-cs"/>
        </a:defRPr>
      </a:lvl2pPr>
      <a:lvl3pPr marL="914306" algn="l" defTabSz="914306" rtl="0" eaLnBrk="1" latinLnBrk="0" hangingPunct="1">
        <a:defRPr sz="1800" kern="1200">
          <a:solidFill>
            <a:schemeClr val="tx1"/>
          </a:solidFill>
          <a:latin typeface="+mn-lt"/>
          <a:ea typeface="+mn-ea"/>
          <a:cs typeface="+mn-cs"/>
        </a:defRPr>
      </a:lvl3pPr>
      <a:lvl4pPr marL="1371460" algn="l" defTabSz="914306" rtl="0" eaLnBrk="1" latinLnBrk="0" hangingPunct="1">
        <a:defRPr sz="1800" kern="1200">
          <a:solidFill>
            <a:schemeClr val="tx1"/>
          </a:solidFill>
          <a:latin typeface="+mn-lt"/>
          <a:ea typeface="+mn-ea"/>
          <a:cs typeface="+mn-cs"/>
        </a:defRPr>
      </a:lvl4pPr>
      <a:lvl5pPr marL="1828613" algn="l" defTabSz="914306" rtl="0" eaLnBrk="1" latinLnBrk="0" hangingPunct="1">
        <a:defRPr sz="1800" kern="1200">
          <a:solidFill>
            <a:schemeClr val="tx1"/>
          </a:solidFill>
          <a:latin typeface="+mn-lt"/>
          <a:ea typeface="+mn-ea"/>
          <a:cs typeface="+mn-cs"/>
        </a:defRPr>
      </a:lvl5pPr>
      <a:lvl6pPr marL="2285767" algn="l" defTabSz="914306" rtl="0" eaLnBrk="1" latinLnBrk="0" hangingPunct="1">
        <a:defRPr sz="1800" kern="1200">
          <a:solidFill>
            <a:schemeClr val="tx1"/>
          </a:solidFill>
          <a:latin typeface="+mn-lt"/>
          <a:ea typeface="+mn-ea"/>
          <a:cs typeface="+mn-cs"/>
        </a:defRPr>
      </a:lvl6pPr>
      <a:lvl7pPr marL="2742920" algn="l" defTabSz="914306" rtl="0" eaLnBrk="1" latinLnBrk="0" hangingPunct="1">
        <a:defRPr sz="1800" kern="1200">
          <a:solidFill>
            <a:schemeClr val="tx1"/>
          </a:solidFill>
          <a:latin typeface="+mn-lt"/>
          <a:ea typeface="+mn-ea"/>
          <a:cs typeface="+mn-cs"/>
        </a:defRPr>
      </a:lvl7pPr>
      <a:lvl8pPr marL="3200073" algn="l" defTabSz="914306" rtl="0" eaLnBrk="1" latinLnBrk="0" hangingPunct="1">
        <a:defRPr sz="1800" kern="1200">
          <a:solidFill>
            <a:schemeClr val="tx1"/>
          </a:solidFill>
          <a:latin typeface="+mn-lt"/>
          <a:ea typeface="+mn-ea"/>
          <a:cs typeface="+mn-cs"/>
        </a:defRPr>
      </a:lvl8pPr>
      <a:lvl9pPr marL="3657227" algn="l" defTabSz="914306"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2880" userDrawn="1">
          <p15:clr>
            <a:srgbClr val="F26B43"/>
          </p15:clr>
        </p15:guide>
        <p15:guide id="3" pos="288" userDrawn="1">
          <p15:clr>
            <a:srgbClr val="F26B43"/>
          </p15:clr>
        </p15:guide>
        <p15:guide id="4" pos="5179" userDrawn="1">
          <p15:clr>
            <a:srgbClr val="F26B43"/>
          </p15:clr>
        </p15:guide>
        <p15:guide id="5" pos="5467" userDrawn="1">
          <p15:clr>
            <a:srgbClr val="F26B43"/>
          </p15:clr>
        </p15:guide>
        <p15:guide id="7" orient="horz" pos="3278" userDrawn="1">
          <p15:clr>
            <a:srgbClr val="F26B43"/>
          </p15:clr>
        </p15:guide>
        <p15:guide id="9" orient="horz" pos="182" userDrawn="1">
          <p15:clr>
            <a:srgbClr val="F26B43"/>
          </p15:clr>
        </p15:guide>
        <p15:guide id="10" orient="horz" pos="847" userDrawn="1">
          <p15:clr>
            <a:srgbClr val="F26B43"/>
          </p15:clr>
        </p15:guide>
        <p15:guide id="11" orient="horz" pos="3515" userDrawn="1">
          <p15:clr>
            <a:srgbClr val="F26B43"/>
          </p15:clr>
        </p15:guide>
        <p15:guide id="12" orient="horz" pos="109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hyperlink" Target="https://github.com/signup" TargetMode="External"/><Relationship Id="rId5" Type="http://schemas.openxmlformats.org/officeDocument/2006/relationships/image" Target="../media/image14.png"/><Relationship Id="rId6" Type="http://schemas.openxmlformats.org/officeDocument/2006/relationships/hyperlink" Target="https://education.github.com/pack" TargetMode="External"/><Relationship Id="rId7" Type="http://schemas.openxmlformats.org/officeDocument/2006/relationships/image" Target="../media/image15.png"/><Relationship Id="rId8" Type="http://schemas.openxmlformats.org/officeDocument/2006/relationships/image" Target="../media/image1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hyperlink" Target="https://github.com/signup" TargetMode="External"/><Relationship Id="rId4" Type="http://schemas.openxmlformats.org/officeDocument/2006/relationships/image" Target="../media/image1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8.png"/><Relationship Id="rId4" Type="http://schemas.openxmlformats.org/officeDocument/2006/relationships/hyperlink" Target="https://education.github.com/pack" TargetMode="External"/><Relationship Id="rId5" Type="http://schemas.openxmlformats.org/officeDocument/2006/relationships/image" Target="../media/image19.png"/><Relationship Id="rId6" Type="http://schemas.openxmlformats.org/officeDocument/2006/relationships/hyperlink" Target="https://github.com/settings/copilot" TargetMode="External"/><Relationship Id="rId7" Type="http://schemas.openxmlformats.org/officeDocument/2006/relationships/image" Target="../media/image2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image" Target="../media/image2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28.png"/><Relationship Id="rId4" Type="http://schemas.openxmlformats.org/officeDocument/2006/relationships/image" Target="../media/image9.png"/><Relationship Id="rId5" Type="http://schemas.openxmlformats.org/officeDocument/2006/relationships/image" Target="../media/image29.png"/><Relationship Id="rId6" Type="http://schemas.openxmlformats.org/officeDocument/2006/relationships/hyperlink" Target="https://www.python.org/downloads/"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28.png"/><Relationship Id="rId4" Type="http://schemas.openxmlformats.org/officeDocument/2006/relationships/hyperlink" Target="https://positron.posit.co/download" TargetMode="External"/><Relationship Id="rId5" Type="http://schemas.openxmlformats.org/officeDocument/2006/relationships/image" Target="../media/image30.png"/><Relationship Id="rId6" Type="http://schemas.openxmlformats.org/officeDocument/2006/relationships/hyperlink" Target="https://quarto.org/docs/get-started/" TargetMode="External"/><Relationship Id="rId7" Type="http://schemas.openxmlformats.org/officeDocument/2006/relationships/image" Target="../media/image31.png"/><Relationship Id="rId8" Type="http://schemas.openxmlformats.org/officeDocument/2006/relationships/hyperlink" Target="https://desktop.github.com" TargetMode="External"/><Relationship Id="rId9" Type="http://schemas.openxmlformats.org/officeDocument/2006/relationships/image" Target="../media/image3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2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33.png"/><Relationship Id="rId4" Type="http://schemas.openxmlformats.org/officeDocument/2006/relationships/image" Target="../media/image3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2.png"/><Relationship Id="rId4" Type="http://schemas.openxmlformats.org/officeDocument/2006/relationships/image" Target="../media/image3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3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3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3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3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33.png"/><Relationship Id="rId4" Type="http://schemas.openxmlformats.org/officeDocument/2006/relationships/image" Target="../media/image4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38.png"/><Relationship Id="rId4" Type="http://schemas.openxmlformats.org/officeDocument/2006/relationships/image" Target="../media/image41.png"/><Relationship Id="rId5" Type="http://schemas.openxmlformats.org/officeDocument/2006/relationships/image" Target="../media/image4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19.png"/><Relationship Id="rId4" Type="http://schemas.openxmlformats.org/officeDocument/2006/relationships/image" Target="../media/image43.png"/><Relationship Id="rId5" Type="http://schemas.openxmlformats.org/officeDocument/2006/relationships/image" Target="../media/image4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43.png"/><Relationship Id="rId4" Type="http://schemas.openxmlformats.org/officeDocument/2006/relationships/image" Target="../media/image41.png"/><Relationship Id="rId5" Type="http://schemas.openxmlformats.org/officeDocument/2006/relationships/image" Target="../media/image1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3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45.png"/><Relationship Id="rId4" Type="http://schemas.openxmlformats.org/officeDocument/2006/relationships/image" Target="../media/image11.png"/><Relationship Id="rId5" Type="http://schemas.openxmlformats.org/officeDocument/2006/relationships/image" Target="../media/image46.png"/><Relationship Id="rId6" Type="http://schemas.openxmlformats.org/officeDocument/2006/relationships/image" Target="../media/image4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33.png"/><Relationship Id="rId4" Type="http://schemas.openxmlformats.org/officeDocument/2006/relationships/image" Target="../media/image11.png"/><Relationship Id="rId5" Type="http://schemas.openxmlformats.org/officeDocument/2006/relationships/image" Target="../media/image3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4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4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4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52.png"/><Relationship Id="rId6" Type="http://schemas.openxmlformats.org/officeDocument/2006/relationships/image" Target="../media/image5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5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 Id="rId3" Type="http://schemas.openxmlformats.org/officeDocument/2006/relationships/image" Target="../media/image5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 Id="rId3" Type="http://schemas.openxmlformats.org/officeDocument/2006/relationships/image" Target="../media/image56.png"/><Relationship Id="rId4" Type="http://schemas.openxmlformats.org/officeDocument/2006/relationships/image" Target="../media/image4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 Id="rId3" Type="http://schemas.openxmlformats.org/officeDocument/2006/relationships/image" Target="../media/image57.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60.png"/><Relationship Id="rId7" Type="http://schemas.openxmlformats.org/officeDocument/2006/relationships/image" Target="../media/image6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 Id="rId3" Type="http://schemas.openxmlformats.org/officeDocument/2006/relationships/image" Target="../media/image6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 Id="rId3" Type="http://schemas.openxmlformats.org/officeDocument/2006/relationships/image" Target="../media/image3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 Id="rId3" Type="http://schemas.openxmlformats.org/officeDocument/2006/relationships/image" Target="../media/image6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 Id="rId3" Type="http://schemas.openxmlformats.org/officeDocument/2006/relationships/image" Target="../media/image6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 Id="rId3" Type="http://schemas.openxmlformats.org/officeDocument/2006/relationships/image" Target="../media/image24.png"/><Relationship Id="rId4" Type="http://schemas.openxmlformats.org/officeDocument/2006/relationships/image" Target="../media/image29.png"/><Relationship Id="rId5" Type="http://schemas.openxmlformats.org/officeDocument/2006/relationships/image" Target="../media/image23.png"/><Relationship Id="rId6" Type="http://schemas.openxmlformats.org/officeDocument/2006/relationships/image" Target="../media/image54.png"/><Relationship Id="rId7"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 Id="rId3" Type="http://schemas.openxmlformats.org/officeDocument/2006/relationships/image" Target="../media/image4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 Id="rId3" Type="http://schemas.openxmlformats.org/officeDocument/2006/relationships/image" Target="../media/image65.png"/><Relationship Id="rId4" Type="http://schemas.openxmlformats.org/officeDocument/2006/relationships/image" Target="../media/image9.png"/><Relationship Id="rId5" Type="http://schemas.openxmlformats.org/officeDocument/2006/relationships/image" Target="../media/image66.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5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lang="en-GB"/>
              <a:t>International Marketing Analytics</a:t>
            </a:r>
          </a:p>
        </p:txBody>
      </p:sp>
      <p:sp>
        <p:nvSpPr>
          <p:cNvPr id="3" name="Subtitle 2"/>
          <p:cNvSpPr>
            <a:spLocks noGrp="1"/>
          </p:cNvSpPr>
          <p:nvPr>
            <p:ph type="subTitle" idx="1"/>
          </p:nvPr>
        </p:nvSpPr>
        <p:spPr/>
        <p:txBody>
          <a:bodyPr/>
          <a:lstStyle/>
          <a:p>
            <a:r>
              <a:rPr lang="en-GB"/>
              <a:t>Set-up and registration</a:t>
            </a:r>
          </a:p>
        </p:txBody>
      </p:sp>
      <p:sp>
        <p:nvSpPr>
          <p:cNvPr id="4" name="Text Placeholder 3"/>
          <p:cNvSpPr>
            <a:spLocks noGrp="1"/>
          </p:cNvSpPr>
          <p:nvPr>
            <p:ph type="body" idx="12" sz="quarter"/>
          </p:nvPr>
        </p:nvSpPr>
        <p:spPr/>
        <p:txBody>
          <a:bodyPr/>
          <a:lstStyle/>
          <a:p>
            <a:r>
              <a:rPr lang="en-GB"/>
              <a:t>Session 1 · WT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Today: from zero to a working set-up</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lan steps step 1"/>
          <p:cNvSpPr/>
          <p:nvPr/>
        </p:nvSpPr>
        <p:spPr>
          <a:xfrm>
            <a:off x="457200" y="1234440"/>
            <a:ext cx="1463040"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100" b="1" lang="en-GB">
                <a:solidFill>
                  <a:schemeClr val="tx2"/>
                </a:solidFill>
              </a:rPr>
              <a:t>Accounts</a:t>
            </a:r>
          </a:p>
        </p:txBody>
      </p:sp>
      <p:sp>
        <p:nvSpPr>
          <p:cNvPr id="11" name="Plan steps step 2"/>
          <p:cNvSpPr/>
          <p:nvPr/>
        </p:nvSpPr>
        <p:spPr>
          <a:xfrm>
            <a:off x="1810512"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Tools</a:t>
            </a:r>
          </a:p>
        </p:txBody>
      </p:sp>
      <p:sp>
        <p:nvSpPr>
          <p:cNvPr id="12" name="Plan steps step 3"/>
          <p:cNvSpPr/>
          <p:nvPr/>
        </p:nvSpPr>
        <p:spPr>
          <a:xfrm>
            <a:off x="3163824"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Repo</a:t>
            </a:r>
          </a:p>
        </p:txBody>
      </p:sp>
      <p:sp>
        <p:nvSpPr>
          <p:cNvPr id="13" name="Plan steps step 4"/>
          <p:cNvSpPr/>
          <p:nvPr/>
        </p:nvSpPr>
        <p:spPr>
          <a:xfrm>
            <a:off x="4517136"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Project</a:t>
            </a:r>
          </a:p>
        </p:txBody>
      </p:sp>
      <p:sp>
        <p:nvSpPr>
          <p:cNvPr id="14" name="Plan steps step 5"/>
          <p:cNvSpPr/>
          <p:nvPr/>
        </p:nvSpPr>
        <p:spPr>
          <a:xfrm>
            <a:off x="5870448"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Check</a:t>
            </a:r>
          </a:p>
        </p:txBody>
      </p:sp>
      <p:sp>
        <p:nvSpPr>
          <p:cNvPr id="15" name="Plan steps step 6"/>
          <p:cNvSpPr/>
          <p:nvPr/>
        </p:nvSpPr>
        <p:spPr>
          <a:xfrm>
            <a:off x="7223760"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AI</a:t>
            </a:r>
          </a:p>
        </p:txBody>
      </p:sp>
      <p:sp>
        <p:nvSpPr>
          <p:cNvPr id="16" name="Plan card 1 body"/>
          <p:cNvSpPr/>
          <p:nvPr/>
        </p:nvSpPr>
        <p:spPr>
          <a:xfrm>
            <a:off x="457200" y="237744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lan card 1 header"/>
          <p:cNvSpPr/>
          <p:nvPr/>
        </p:nvSpPr>
        <p:spPr>
          <a:xfrm>
            <a:off x="45720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Plan card 1 heading"/>
          <p:cNvSpPr txBox="1"/>
          <p:nvPr/>
        </p:nvSpPr>
        <p:spPr>
          <a:xfrm>
            <a:off x="59436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What you need</a:t>
            </a:r>
          </a:p>
        </p:txBody>
      </p:sp>
      <p:pic>
        <p:nvPicPr>
          <p:cNvPr id="19" name="Icon Plan card 1" descr=""/>
          <p:cNvPicPr>
            <a:picLocks noChangeAspect="1"/>
          </p:cNvPicPr>
          <p:nvPr/>
        </p:nvPicPr>
        <p:blipFill>
          <a:blip r:embed="rId3"/>
          <a:stretch>
            <a:fillRect/>
          </a:stretch>
        </p:blipFill>
        <p:spPr>
          <a:xfrm>
            <a:off x="2670048" y="2016252"/>
            <a:ext cx="310896" cy="310896"/>
          </a:xfrm>
          <a:prstGeom prst="rect">
            <a:avLst/>
          </a:prstGeom>
        </p:spPr>
      </p:pic>
      <p:sp>
        <p:nvSpPr>
          <p:cNvPr id="20" name="Plan card 1 text"/>
          <p:cNvSpPr txBox="1"/>
          <p:nvPr/>
        </p:nvSpPr>
        <p:spPr>
          <a:xfrm>
            <a:off x="621792" y="251460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Your laptop and charger</a:t>
            </a:r>
          </a:p>
          <a:p>
            <a:pPr algn="l" marL="182880" indent="-182880">
              <a:spcAft>
                <a:spcPts val="600"/>
              </a:spcAft>
              <a:buClr>
                <a:schemeClr val="accent1"/>
              </a:buClr>
              <a:buFont typeface="Arial"/>
              <a:buChar char="▪"/>
            </a:pPr>
            <a:r>
              <a:rPr sz="1300" b="0" lang="en-GB">
                <a:solidFill>
                  <a:schemeClr val="tx1"/>
                </a:solidFill>
              </a:rPr>
              <a:t>Windows 10/11 or a recent macOS</a:t>
            </a:r>
          </a:p>
          <a:p>
            <a:pPr algn="l" marL="182880" indent="-182880">
              <a:spcAft>
                <a:spcPts val="600"/>
              </a:spcAft>
              <a:buClr>
                <a:schemeClr val="accent1"/>
              </a:buClr>
              <a:buFont typeface="Arial"/>
              <a:buChar char="▪"/>
            </a:pPr>
            <a:r>
              <a:rPr sz="1300" b="0" lang="en-GB">
                <a:solidFill>
                  <a:schemeClr val="tx1"/>
                </a:solidFill>
              </a:rPr>
              <a:t>About 10 GB free disk space</a:t>
            </a:r>
          </a:p>
          <a:p>
            <a:pPr algn="l" marL="182880" indent="-182880">
              <a:spcAft>
                <a:spcPts val="600"/>
              </a:spcAft>
              <a:buClr>
                <a:schemeClr val="accent1"/>
              </a:buClr>
              <a:buFont typeface="Arial"/>
              <a:buChar char="▪"/>
            </a:pPr>
            <a:r>
              <a:rPr sz="1300" b="0" lang="en-GB">
                <a:solidFill>
                  <a:schemeClr val="tx1"/>
                </a:solidFill>
              </a:rPr>
              <a:t>Admin rights to install software</a:t>
            </a:r>
          </a:p>
        </p:txBody>
      </p:sp>
      <p:sp>
        <p:nvSpPr>
          <p:cNvPr id="21" name="Plan card 2 body"/>
          <p:cNvSpPr/>
          <p:nvPr/>
        </p:nvSpPr>
        <p:spPr>
          <a:xfrm>
            <a:off x="3246120" y="237744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lan card 2 header"/>
          <p:cNvSpPr/>
          <p:nvPr/>
        </p:nvSpPr>
        <p:spPr>
          <a:xfrm>
            <a:off x="324612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lan card 2 heading"/>
          <p:cNvSpPr txBox="1"/>
          <p:nvPr/>
        </p:nvSpPr>
        <p:spPr>
          <a:xfrm>
            <a:off x="338328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Have at hand</a:t>
            </a:r>
          </a:p>
        </p:txBody>
      </p:sp>
      <p:pic>
        <p:nvPicPr>
          <p:cNvPr id="24" name="Icon Plan card 2" descr=""/>
          <p:cNvPicPr>
            <a:picLocks noChangeAspect="1"/>
          </p:cNvPicPr>
          <p:nvPr/>
        </p:nvPicPr>
        <p:blipFill>
          <a:blip r:embed="rId4"/>
          <a:stretch>
            <a:fillRect/>
          </a:stretch>
        </p:blipFill>
        <p:spPr>
          <a:xfrm>
            <a:off x="5458968" y="2016252"/>
            <a:ext cx="310896" cy="310896"/>
          </a:xfrm>
          <a:prstGeom prst="rect">
            <a:avLst/>
          </a:prstGeom>
        </p:spPr>
      </p:pic>
      <p:sp>
        <p:nvSpPr>
          <p:cNvPr id="25" name="Plan card 2 text"/>
          <p:cNvSpPr txBox="1"/>
          <p:nvPr/>
        </p:nvSpPr>
        <p:spPr>
          <a:xfrm>
            <a:off x="3410712" y="251460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Your WU e-mail and its password</a:t>
            </a:r>
          </a:p>
          <a:p>
            <a:pPr algn="l" marL="182880" indent="-182880">
              <a:spcAft>
                <a:spcPts val="600"/>
              </a:spcAft>
              <a:buClr>
                <a:schemeClr val="accent1"/>
              </a:buClr>
              <a:buFont typeface="Arial"/>
              <a:buChar char="▪"/>
            </a:pPr>
            <a:r>
              <a:rPr sz="1300" b="0" lang="en-GB">
                <a:solidFill>
                  <a:schemeClr val="tx1"/>
                </a:solidFill>
              </a:rPr>
              <a:t>Your phone, for two-factor sign-in</a:t>
            </a:r>
          </a:p>
          <a:p>
            <a:pPr algn="l" marL="182880" indent="-182880">
              <a:spcAft>
                <a:spcPts val="600"/>
              </a:spcAft>
              <a:buClr>
                <a:schemeClr val="accent1"/>
              </a:buClr>
              <a:buFont typeface="Arial"/>
              <a:buChar char="▪"/>
            </a:pPr>
            <a:r>
              <a:rPr sz="1300" b="0" lang="en-GB">
                <a:solidFill>
                  <a:schemeClr val="tx1"/>
                </a:solidFill>
              </a:rPr>
              <a:t>Your student ID or enrolment confirmation</a:t>
            </a:r>
          </a:p>
        </p:txBody>
      </p:sp>
      <p:sp>
        <p:nvSpPr>
          <p:cNvPr id="26" name="Plan card 3 body"/>
          <p:cNvSpPr/>
          <p:nvPr/>
        </p:nvSpPr>
        <p:spPr>
          <a:xfrm>
            <a:off x="6035040" y="237744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Plan card 3 header"/>
          <p:cNvSpPr/>
          <p:nvPr/>
        </p:nvSpPr>
        <p:spPr>
          <a:xfrm>
            <a:off x="603504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Plan card 3 heading"/>
          <p:cNvSpPr txBox="1"/>
          <p:nvPr/>
        </p:nvSpPr>
        <p:spPr>
          <a:xfrm>
            <a:off x="617220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How we work</a:t>
            </a:r>
          </a:p>
        </p:txBody>
      </p:sp>
      <p:pic>
        <p:nvPicPr>
          <p:cNvPr id="29" name="Icon Plan card 3" descr=""/>
          <p:cNvPicPr>
            <a:picLocks noChangeAspect="1"/>
          </p:cNvPicPr>
          <p:nvPr/>
        </p:nvPicPr>
        <p:blipFill>
          <a:blip r:embed="rId5"/>
          <a:stretch>
            <a:fillRect/>
          </a:stretch>
        </p:blipFill>
        <p:spPr>
          <a:xfrm>
            <a:off x="8247888" y="2016252"/>
            <a:ext cx="310896" cy="310896"/>
          </a:xfrm>
          <a:prstGeom prst="rect">
            <a:avLst/>
          </a:prstGeom>
        </p:spPr>
      </p:pic>
      <p:sp>
        <p:nvSpPr>
          <p:cNvPr id="30" name="Plan card 3 text"/>
          <p:cNvSpPr txBox="1"/>
          <p:nvPr/>
        </p:nvSpPr>
        <p:spPr>
          <a:xfrm>
            <a:off x="6199632" y="251460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One step at a time, all together</a:t>
            </a:r>
          </a:p>
          <a:p>
            <a:pPr algn="l" marL="182880" indent="-182880">
              <a:spcAft>
                <a:spcPts val="600"/>
              </a:spcAft>
              <a:buClr>
                <a:schemeClr val="accent1"/>
              </a:buClr>
              <a:buFont typeface="Arial"/>
              <a:buChar char="▪"/>
            </a:pPr>
            <a:r>
              <a:rPr sz="1300" b="0" lang="en-GB">
                <a:solidFill>
                  <a:schemeClr val="tx1"/>
                </a:solidFill>
              </a:rPr>
              <a:t>Check your neighbour's screen</a:t>
            </a:r>
          </a:p>
          <a:p>
            <a:pPr algn="l" marL="182880" indent="-182880">
              <a:spcAft>
                <a:spcPts val="600"/>
              </a:spcAft>
              <a:buClr>
                <a:schemeClr val="accent1"/>
              </a:buClr>
              <a:buFont typeface="Arial"/>
              <a:buChar char="▪"/>
            </a:pPr>
            <a:r>
              <a:rPr sz="1300" b="0" lang="en-GB">
                <a:solidFill>
                  <a:schemeClr val="tx1"/>
                </a:solidFill>
              </a:rPr>
              <a:t>Stuck? Raise your hand, keep going with the next step</a:t>
            </a:r>
          </a:p>
        </p:txBody>
      </p:sp>
      <p:sp>
        <p:nvSpPr>
          <p:cNvPr id="31" name="Goal box"/>
          <p:cNvSpPr/>
          <p:nvPr/>
        </p:nvSpPr>
        <p:spPr>
          <a:xfrm>
            <a:off x="457200" y="438912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Icon Goal" descr=""/>
          <p:cNvPicPr>
            <a:picLocks noChangeAspect="1"/>
          </p:cNvPicPr>
          <p:nvPr/>
        </p:nvPicPr>
        <p:blipFill>
          <a:blip r:embed="rId6"/>
          <a:stretch>
            <a:fillRect/>
          </a:stretch>
        </p:blipFill>
        <p:spPr>
          <a:xfrm>
            <a:off x="658368" y="4539996"/>
            <a:ext cx="384048" cy="384048"/>
          </a:xfrm>
          <a:prstGeom prst="rect">
            <a:avLst/>
          </a:prstGeom>
        </p:spPr>
      </p:pic>
      <p:sp>
        <p:nvSpPr>
          <p:cNvPr id="33" name="Goal text"/>
          <p:cNvSpPr txBox="1"/>
          <p:nvPr/>
        </p:nvSpPr>
        <p:spPr>
          <a:xfrm>
            <a:off x="1234440" y="4389120"/>
            <a:ext cx="726948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Goal: </a:t>
            </a:r>
            <a:r>
              <a:rPr sz="1300" b="0" lang="en-GB">
                <a:solidFill>
                  <a:schemeClr val="bg1"/>
                </a:solidFill>
              </a:rPr>
              <a:t>by the end of today the check script prints “ready” on every laptop.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 of 7 · GitHub, GitHub Education, DataCamp</a:t>
            </a:r>
          </a:p>
        </p:txBody>
      </p:sp>
      <p:sp>
        <p:nvSpPr>
          <p:cNvPr id="3" name="Title 2"/>
          <p:cNvSpPr>
            <a:spLocks noGrp="1"/>
          </p:cNvSpPr>
          <p:nvPr>
            <p:ph type="ctrTitle"/>
          </p:nvPr>
        </p:nvSpPr>
        <p:spPr/>
        <p:txBody>
          <a:bodyPr/>
          <a:lstStyle/>
          <a:p>
            <a:r>
              <a:rPr sz="1600" lang="en-GB"/>
              <a:t>Register your accounts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Three registrations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bg1"/>
                </a:solidFill>
              </a:rPr>
              <a:t>Accounts</a:t>
            </a:r>
          </a:p>
        </p:txBody>
      </p:sp>
      <p:sp>
        <p:nvSpPr>
          <p:cNvPr id="11" name="Progress step 2"/>
          <p:cNvSpPr/>
          <p:nvPr/>
        </p:nvSpPr>
        <p:spPr>
          <a:xfrm>
            <a:off x="1810512"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Tools</a:t>
            </a:r>
          </a:p>
        </p:txBody>
      </p:sp>
      <p:sp>
        <p:nvSpPr>
          <p:cNvPr id="12" name="Progress step 3"/>
          <p:cNvSpPr/>
          <p:nvPr/>
        </p:nvSpPr>
        <p:spPr>
          <a:xfrm>
            <a:off x="3163824"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Repo</a:t>
            </a:r>
          </a:p>
        </p:txBody>
      </p:sp>
      <p:sp>
        <p:nvSpPr>
          <p:cNvPr id="13" name="Progress step 4"/>
          <p:cNvSpPr/>
          <p:nvPr/>
        </p:nvSpPr>
        <p:spPr>
          <a:xfrm>
            <a:off x="4517136"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Project</a:t>
            </a:r>
          </a:p>
        </p:txBody>
      </p:sp>
      <p:sp>
        <p:nvSpPr>
          <p:cNvPr id="14" name="Progress step 5"/>
          <p:cNvSpPr/>
          <p:nvPr/>
        </p:nvSpPr>
        <p:spPr>
          <a:xfrm>
            <a:off x="5870448"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Check</a:t>
            </a:r>
          </a:p>
        </p:txBody>
      </p:sp>
      <p:sp>
        <p:nvSpPr>
          <p:cNvPr id="15" name="Progress step 6"/>
          <p:cNvSpPr/>
          <p:nvPr/>
        </p:nvSpPr>
        <p:spPr>
          <a:xfrm>
            <a:off x="7223760"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AI</a:t>
            </a:r>
          </a:p>
        </p:txBody>
      </p:sp>
      <p:sp>
        <p:nvSpPr>
          <p:cNvPr id="16" name="Account 1 tile"/>
          <p:cNvSpPr/>
          <p:nvPr/>
        </p:nvSpPr>
        <p:spPr>
          <a:xfrm>
            <a:off x="457200" y="1783080"/>
            <a:ext cx="2651760" cy="2514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Icon Account 1" descr=""/>
          <p:cNvPicPr>
            <a:picLocks noChangeAspect="1"/>
          </p:cNvPicPr>
          <p:nvPr/>
        </p:nvPicPr>
        <p:blipFill>
          <a:blip r:embed="rId3"/>
          <a:stretch>
            <a:fillRect/>
          </a:stretch>
        </p:blipFill>
        <p:spPr>
          <a:xfrm>
            <a:off x="594360" y="1920240"/>
            <a:ext cx="365760" cy="365760"/>
          </a:xfrm>
          <a:prstGeom prst="rect">
            <a:avLst/>
          </a:prstGeom>
        </p:spPr>
      </p:pic>
      <p:sp>
        <p:nvSpPr>
          <p:cNvPr id="18" name="Account 1 text"/>
          <p:cNvSpPr txBox="1"/>
          <p:nvPr/>
        </p:nvSpPr>
        <p:spPr>
          <a:xfrm>
            <a:off x="594360" y="2377440"/>
            <a:ext cx="2377440" cy="1828800"/>
          </a:xfrm>
          <a:prstGeom prst="rect">
            <a:avLst/>
          </a:prstGeom>
          <a:noFill/>
        </p:spPr>
        <p:txBody>
          <a:bodyPr wrap="square" lIns="0" rIns="0" tIns="0" bIns="0" anchor="t">
            <a:noAutofit/>
          </a:bodyPr>
          <a:lstStyle/>
          <a:p>
            <a:pPr algn="l">
              <a:spcAft>
                <a:spcPts val="300"/>
              </a:spcAft>
            </a:pPr>
            <a:r>
              <a:rPr sz="1300" b="1" lang="en-GB">
                <a:solidFill>
                  <a:schemeClr val="tx2"/>
                </a:solidFill>
              </a:rPr>
              <a:t>GitHub</a:t>
            </a:r>
          </a:p>
          <a:p>
            <a:pPr algn="l">
              <a:spcAft>
                <a:spcPts val="300"/>
              </a:spcAft>
            </a:pPr>
            <a:r>
              <a:rPr sz="1300" b="0" lang="en-GB">
                <a:solidFill>
                  <a:schemeClr val="tx1"/>
                </a:solidFill>
              </a:rPr>
              <a:t>Stores code and its history; hosts the course repository</a:t>
            </a:r>
          </a:p>
        </p:txBody>
      </p:sp>
      <p:sp>
        <p:nvSpPr>
          <p:cNvPr id="19" name="Account 1 where"/>
          <p:cNvSpPr txBox="1"/>
          <p:nvPr/>
        </p:nvSpPr>
        <p:spPr>
          <a:xfrm>
            <a:off x="594360" y="3840480"/>
            <a:ext cx="2377440" cy="365760"/>
          </a:xfrm>
          <a:prstGeom prst="rect">
            <a:avLst/>
          </a:prstGeom>
          <a:noFill/>
        </p:spPr>
        <p:txBody>
          <a:bodyPr wrap="square" lIns="0" rIns="0" tIns="0" bIns="0" anchor="b">
            <a:noAutofit/>
          </a:bodyPr>
          <a:lstStyle/>
          <a:p>
            <a:pPr algn="l">
              <a:spcAft>
                <a:spcPts val="400"/>
              </a:spcAft>
            </a:pPr>
            <a:r>
              <a:rPr sz="1200" b="0" lang="en-GB">
                <a:solidFill>
                  <a:schemeClr val="accent1"/>
                </a:solidFill>
                <a:hlinkClick r:id="rId4"/>
              </a:rPr>
              <a:t>github.com/signup</a:t>
            </a:r>
          </a:p>
        </p:txBody>
      </p:sp>
      <p:sp>
        <p:nvSpPr>
          <p:cNvPr id="20" name="Account 2 tile"/>
          <p:cNvSpPr/>
          <p:nvPr/>
        </p:nvSpPr>
        <p:spPr>
          <a:xfrm>
            <a:off x="3246120" y="1783080"/>
            <a:ext cx="2651760" cy="2514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Account 2" descr=""/>
          <p:cNvPicPr>
            <a:picLocks noChangeAspect="1"/>
          </p:cNvPicPr>
          <p:nvPr/>
        </p:nvPicPr>
        <p:blipFill>
          <a:blip r:embed="rId5"/>
          <a:stretch>
            <a:fillRect/>
          </a:stretch>
        </p:blipFill>
        <p:spPr>
          <a:xfrm>
            <a:off x="3383280" y="1920240"/>
            <a:ext cx="365760" cy="365760"/>
          </a:xfrm>
          <a:prstGeom prst="rect">
            <a:avLst/>
          </a:prstGeom>
        </p:spPr>
      </p:pic>
      <p:sp>
        <p:nvSpPr>
          <p:cNvPr id="22" name="Account 2 text"/>
          <p:cNvSpPr txBox="1"/>
          <p:nvPr/>
        </p:nvSpPr>
        <p:spPr>
          <a:xfrm>
            <a:off x="3383280" y="2377440"/>
            <a:ext cx="2377440" cy="1828800"/>
          </a:xfrm>
          <a:prstGeom prst="rect">
            <a:avLst/>
          </a:prstGeom>
          <a:noFill/>
        </p:spPr>
        <p:txBody>
          <a:bodyPr wrap="square" lIns="0" rIns="0" tIns="0" bIns="0" anchor="t">
            <a:noAutofit/>
          </a:bodyPr>
          <a:lstStyle/>
          <a:p>
            <a:pPr algn="l">
              <a:spcAft>
                <a:spcPts val="300"/>
              </a:spcAft>
            </a:pPr>
            <a:r>
              <a:rPr sz="1300" b="1" lang="en-GB">
                <a:solidFill>
                  <a:schemeClr val="tx2"/>
                </a:solidFill>
              </a:rPr>
              <a:t>GitHub Education</a:t>
            </a:r>
          </a:p>
          <a:p>
            <a:pPr algn="l">
              <a:spcAft>
                <a:spcPts val="300"/>
              </a:spcAft>
            </a:pPr>
            <a:r>
              <a:rPr sz="1300" b="0" lang="en-GB">
                <a:solidFill>
                  <a:schemeClr val="tx1"/>
                </a:solidFill>
              </a:rPr>
              <a:t>Free student benefits, including GitHub Copilot</a:t>
            </a:r>
          </a:p>
        </p:txBody>
      </p:sp>
      <p:sp>
        <p:nvSpPr>
          <p:cNvPr id="23" name="Account 2 where"/>
          <p:cNvSpPr txBox="1"/>
          <p:nvPr/>
        </p:nvSpPr>
        <p:spPr>
          <a:xfrm>
            <a:off x="3383280" y="3840480"/>
            <a:ext cx="2377440" cy="365760"/>
          </a:xfrm>
          <a:prstGeom prst="rect">
            <a:avLst/>
          </a:prstGeom>
          <a:noFill/>
        </p:spPr>
        <p:txBody>
          <a:bodyPr wrap="square" lIns="0" rIns="0" tIns="0" bIns="0" anchor="b">
            <a:noAutofit/>
          </a:bodyPr>
          <a:lstStyle/>
          <a:p>
            <a:pPr algn="l">
              <a:spcAft>
                <a:spcPts val="400"/>
              </a:spcAft>
            </a:pPr>
            <a:r>
              <a:rPr sz="1200" b="0" lang="en-GB">
                <a:solidFill>
                  <a:schemeClr val="accent1"/>
                </a:solidFill>
                <a:hlinkClick r:id="rId6"/>
              </a:rPr>
              <a:t>education.github.com/pack</a:t>
            </a:r>
          </a:p>
        </p:txBody>
      </p:sp>
      <p:sp>
        <p:nvSpPr>
          <p:cNvPr id="24" name="Account 3 tile"/>
          <p:cNvSpPr/>
          <p:nvPr/>
        </p:nvSpPr>
        <p:spPr>
          <a:xfrm>
            <a:off x="6035040" y="1783080"/>
            <a:ext cx="2651760" cy="2514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Account 3" descr=""/>
          <p:cNvPicPr>
            <a:picLocks noChangeAspect="1"/>
          </p:cNvPicPr>
          <p:nvPr/>
        </p:nvPicPr>
        <p:blipFill>
          <a:blip r:embed="rId7"/>
          <a:stretch>
            <a:fillRect/>
          </a:stretch>
        </p:blipFill>
        <p:spPr>
          <a:xfrm>
            <a:off x="6172200" y="1920240"/>
            <a:ext cx="365760" cy="365760"/>
          </a:xfrm>
          <a:prstGeom prst="rect">
            <a:avLst/>
          </a:prstGeom>
        </p:spPr>
      </p:pic>
      <p:sp>
        <p:nvSpPr>
          <p:cNvPr id="26" name="Account 3 text"/>
          <p:cNvSpPr txBox="1"/>
          <p:nvPr/>
        </p:nvSpPr>
        <p:spPr>
          <a:xfrm>
            <a:off x="6172200" y="2377440"/>
            <a:ext cx="2377440" cy="1828800"/>
          </a:xfrm>
          <a:prstGeom prst="rect">
            <a:avLst/>
          </a:prstGeom>
          <a:noFill/>
        </p:spPr>
        <p:txBody>
          <a:bodyPr wrap="square" lIns="0" rIns="0" tIns="0" bIns="0" anchor="t">
            <a:noAutofit/>
          </a:bodyPr>
          <a:lstStyle/>
          <a:p>
            <a:pPr algn="l">
              <a:spcAft>
                <a:spcPts val="300"/>
              </a:spcAft>
            </a:pPr>
            <a:r>
              <a:rPr sz="1300" b="1" lang="en-GB">
                <a:solidFill>
                  <a:schemeClr val="tx2"/>
                </a:solidFill>
              </a:rPr>
              <a:t>DataCamp</a:t>
            </a:r>
          </a:p>
          <a:p>
            <a:pPr algn="l">
              <a:spcAft>
                <a:spcPts val="300"/>
              </a:spcAft>
            </a:pPr>
            <a:r>
              <a:rPr sz="1300" b="0" lang="en-GB">
                <a:solidFill>
                  <a:schemeClr val="tx1"/>
                </a:solidFill>
              </a:rPr>
              <a:t>Online Python courses; four certificates count 20 %</a:t>
            </a:r>
          </a:p>
        </p:txBody>
      </p:sp>
      <p:sp>
        <p:nvSpPr>
          <p:cNvPr id="27" name="Account 3 where"/>
          <p:cNvSpPr txBox="1"/>
          <p:nvPr/>
        </p:nvSpPr>
        <p:spPr>
          <a:xfrm>
            <a:off x="6172200" y="3840480"/>
            <a:ext cx="2377440" cy="365760"/>
          </a:xfrm>
          <a:prstGeom prst="rect">
            <a:avLst/>
          </a:prstGeom>
          <a:noFill/>
        </p:spPr>
        <p:txBody>
          <a:bodyPr wrap="square" lIns="0" rIns="0" tIns="0" bIns="0" anchor="b">
            <a:noAutofit/>
          </a:bodyPr>
          <a:lstStyle/>
          <a:p>
            <a:pPr algn="l">
              <a:spcAft>
                <a:spcPts val="400"/>
              </a:spcAft>
            </a:pPr>
            <a:r>
              <a:rPr sz="1200" b="1" lang="en-GB">
                <a:solidFill>
                  <a:schemeClr val="accent1"/>
                </a:solidFill>
              </a:rPr>
              <a:t>Invitation link on Canvas</a:t>
            </a:r>
          </a:p>
        </p:txBody>
      </p:sp>
      <p:sp>
        <p:nvSpPr>
          <p:cNvPr id="28" name="Email box"/>
          <p:cNvSpPr/>
          <p:nvPr/>
        </p:nvSpPr>
        <p:spPr>
          <a:xfrm>
            <a:off x="457200" y="4480560"/>
            <a:ext cx="8229600" cy="594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Icon Email" descr=""/>
          <p:cNvPicPr>
            <a:picLocks noChangeAspect="1"/>
          </p:cNvPicPr>
          <p:nvPr/>
        </p:nvPicPr>
        <p:blipFill>
          <a:blip r:embed="rId8"/>
          <a:stretch>
            <a:fillRect/>
          </a:stretch>
        </p:blipFill>
        <p:spPr>
          <a:xfrm>
            <a:off x="658368" y="4585716"/>
            <a:ext cx="384048" cy="384048"/>
          </a:xfrm>
          <a:prstGeom prst="rect">
            <a:avLst/>
          </a:prstGeom>
        </p:spPr>
      </p:pic>
      <p:sp>
        <p:nvSpPr>
          <p:cNvPr id="30" name="Email text"/>
          <p:cNvSpPr txBox="1"/>
          <p:nvPr/>
        </p:nvSpPr>
        <p:spPr>
          <a:xfrm>
            <a:off x="1234440" y="4480560"/>
            <a:ext cx="7269480" cy="594360"/>
          </a:xfrm>
          <a:prstGeom prst="rect">
            <a:avLst/>
          </a:prstGeom>
          <a:noFill/>
        </p:spPr>
        <p:txBody>
          <a:bodyPr wrap="square" lIns="0" rIns="0" tIns="0" bIns="0" anchor="ctr">
            <a:noAutofit/>
          </a:bodyPr>
          <a:lstStyle/>
          <a:p>
            <a:pPr algn="l">
              <a:spcAft>
                <a:spcPts val="400"/>
              </a:spcAft>
            </a:pPr>
            <a:r>
              <a:rPr sz="1300" b="1" lang="en-GB">
                <a:solidFill>
                  <a:schemeClr val="tx2"/>
                </a:solidFill>
              </a:rPr>
              <a:t>Same e-mail everywhere: </a:t>
            </a:r>
            <a:r>
              <a:rPr sz="1300" b="0" lang="en-GB">
                <a:solidFill>
                  <a:schemeClr val="tx1"/>
                </a:solidFill>
              </a:rPr>
              <a:t>your WU student address unlocks the free plans.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GitHub account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bg1"/>
                </a:solidFill>
              </a:rPr>
              <a:t>Accounts</a:t>
            </a:r>
          </a:p>
        </p:txBody>
      </p:sp>
      <p:sp>
        <p:nvSpPr>
          <p:cNvPr id="11" name="Progress step 2"/>
          <p:cNvSpPr/>
          <p:nvPr/>
        </p:nvSpPr>
        <p:spPr>
          <a:xfrm>
            <a:off x="1810512"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Tools</a:t>
            </a:r>
          </a:p>
        </p:txBody>
      </p:sp>
      <p:sp>
        <p:nvSpPr>
          <p:cNvPr id="12" name="Progress step 3"/>
          <p:cNvSpPr/>
          <p:nvPr/>
        </p:nvSpPr>
        <p:spPr>
          <a:xfrm>
            <a:off x="3163824"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Repo</a:t>
            </a:r>
          </a:p>
        </p:txBody>
      </p:sp>
      <p:sp>
        <p:nvSpPr>
          <p:cNvPr id="13" name="Progress step 4"/>
          <p:cNvSpPr/>
          <p:nvPr/>
        </p:nvSpPr>
        <p:spPr>
          <a:xfrm>
            <a:off x="4517136"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Project</a:t>
            </a:r>
          </a:p>
        </p:txBody>
      </p:sp>
      <p:sp>
        <p:nvSpPr>
          <p:cNvPr id="14" name="Progress step 5"/>
          <p:cNvSpPr/>
          <p:nvPr/>
        </p:nvSpPr>
        <p:spPr>
          <a:xfrm>
            <a:off x="5870448"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Check</a:t>
            </a:r>
          </a:p>
        </p:txBody>
      </p:sp>
      <p:sp>
        <p:nvSpPr>
          <p:cNvPr id="15" name="Progress step 6"/>
          <p:cNvSpPr/>
          <p:nvPr/>
        </p:nvSpPr>
        <p:spPr>
          <a:xfrm>
            <a:off x="7223760"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AI</a:t>
            </a:r>
          </a:p>
        </p:txBody>
      </p:sp>
      <p:sp>
        <p:nvSpPr>
          <p:cNvPr id="16" name="GitHub steps row 1"/>
          <p:cNvSpPr/>
          <p:nvPr/>
        </p:nvSpPr>
        <p:spPr>
          <a:xfrm>
            <a:off x="457200" y="178308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GitHub steps number 1"/>
          <p:cNvSpPr/>
          <p:nvPr/>
        </p:nvSpPr>
        <p:spPr>
          <a:xfrm>
            <a:off x="594360" y="190195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8" name="GitHub steps text 1"/>
          <p:cNvSpPr txBox="1"/>
          <p:nvPr/>
        </p:nvSpPr>
        <p:spPr>
          <a:xfrm>
            <a:off x="1051560" y="1783080"/>
            <a:ext cx="4389120" cy="548640"/>
          </a:xfrm>
          <a:prstGeom prst="rect">
            <a:avLst/>
          </a:prstGeom>
          <a:noFill/>
        </p:spPr>
        <p:txBody>
          <a:bodyPr wrap="square" lIns="0" rIns="0" tIns="0" bIns="0" anchor="ctr">
            <a:noAutofit/>
          </a:bodyPr>
          <a:lstStyle/>
          <a:p>
            <a:pPr algn="l">
              <a:spcAft>
                <a:spcPts val="400"/>
              </a:spcAft>
            </a:pPr>
            <a:r>
              <a:rPr sz="1300" b="0" lang="en-GB">
                <a:solidFill>
                  <a:schemeClr val="tx1"/>
                </a:solidFill>
              </a:rPr>
              <a:t>Open </a:t>
            </a:r>
            <a:r>
              <a:rPr sz="1300" b="0" lang="en-GB">
                <a:solidFill>
                  <a:schemeClr val="accent1"/>
                </a:solidFill>
                <a:hlinkClick r:id="rId3"/>
              </a:rPr>
              <a:t>github.com/signup</a:t>
            </a:r>
          </a:p>
        </p:txBody>
      </p:sp>
      <p:sp>
        <p:nvSpPr>
          <p:cNvPr id="19" name="GitHub steps row 2"/>
          <p:cNvSpPr/>
          <p:nvPr/>
        </p:nvSpPr>
        <p:spPr>
          <a:xfrm>
            <a:off x="457200" y="242316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GitHub steps number 2"/>
          <p:cNvSpPr/>
          <p:nvPr/>
        </p:nvSpPr>
        <p:spPr>
          <a:xfrm>
            <a:off x="594360" y="254203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21" name="GitHub steps text 2"/>
          <p:cNvSpPr txBox="1"/>
          <p:nvPr/>
        </p:nvSpPr>
        <p:spPr>
          <a:xfrm>
            <a:off x="1051560" y="2423160"/>
            <a:ext cx="438912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WU e-mail: </a:t>
            </a:r>
            <a:r>
              <a:rPr sz="1300" b="0" lang="en-GB">
                <a:solidFill>
                  <a:schemeClr val="tx1"/>
                </a:solidFill>
              </a:rPr>
              <a:t>sign up with your student address</a:t>
            </a:r>
          </a:p>
        </p:txBody>
      </p:sp>
      <p:sp>
        <p:nvSpPr>
          <p:cNvPr id="22" name="GitHub steps row 3"/>
          <p:cNvSpPr/>
          <p:nvPr/>
        </p:nvSpPr>
        <p:spPr>
          <a:xfrm>
            <a:off x="457200" y="306324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GitHub steps number 3"/>
          <p:cNvSpPr/>
          <p:nvPr/>
        </p:nvSpPr>
        <p:spPr>
          <a:xfrm>
            <a:off x="594360" y="31821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4" name="GitHub steps text 3"/>
          <p:cNvSpPr txBox="1"/>
          <p:nvPr/>
        </p:nvSpPr>
        <p:spPr>
          <a:xfrm>
            <a:off x="1051560" y="3063240"/>
            <a:ext cx="438912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Username: </a:t>
            </a:r>
            <a:r>
              <a:rPr sz="1300" b="0" lang="en-GB">
                <a:solidFill>
                  <a:schemeClr val="tx1"/>
                </a:solidFill>
              </a:rPr>
              <a:t>short and professional, e.g. anna-berger</a:t>
            </a:r>
          </a:p>
        </p:txBody>
      </p:sp>
      <p:sp>
        <p:nvSpPr>
          <p:cNvPr id="25" name="GitHub steps row 4"/>
          <p:cNvSpPr/>
          <p:nvPr/>
        </p:nvSpPr>
        <p:spPr>
          <a:xfrm>
            <a:off x="457200" y="370332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GitHub steps number 4"/>
          <p:cNvSpPr/>
          <p:nvPr/>
        </p:nvSpPr>
        <p:spPr>
          <a:xfrm>
            <a:off x="594360" y="382219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7" name="GitHub steps text 4"/>
          <p:cNvSpPr txBox="1"/>
          <p:nvPr/>
        </p:nvSpPr>
        <p:spPr>
          <a:xfrm>
            <a:off x="1051560" y="3703320"/>
            <a:ext cx="438912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Verify </a:t>
            </a:r>
            <a:r>
              <a:rPr sz="1300" b="0" lang="en-GB">
                <a:solidFill>
                  <a:schemeClr val="tx1"/>
                </a:solidFill>
              </a:rPr>
              <a:t>the code GitHub sends to your inbox</a:t>
            </a:r>
          </a:p>
        </p:txBody>
      </p:sp>
      <p:sp>
        <p:nvSpPr>
          <p:cNvPr id="28" name="GitHub steps row 5"/>
          <p:cNvSpPr/>
          <p:nvPr/>
        </p:nvSpPr>
        <p:spPr>
          <a:xfrm>
            <a:off x="457200" y="434340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GitHub steps number 5"/>
          <p:cNvSpPr/>
          <p:nvPr/>
        </p:nvSpPr>
        <p:spPr>
          <a:xfrm>
            <a:off x="594360" y="446227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30" name="GitHub steps text 5"/>
          <p:cNvSpPr txBox="1"/>
          <p:nvPr/>
        </p:nvSpPr>
        <p:spPr>
          <a:xfrm>
            <a:off x="1051560" y="4343400"/>
            <a:ext cx="438912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Two-factor sign-in: </a:t>
            </a:r>
            <a:r>
              <a:rPr sz="1300" b="0" lang="en-GB">
                <a:solidFill>
                  <a:schemeClr val="tx1"/>
                </a:solidFill>
              </a:rPr>
              <a:t>GitHub Mobile or an authenticator app</a:t>
            </a:r>
          </a:p>
        </p:txBody>
      </p:sp>
      <p:sp>
        <p:nvSpPr>
          <p:cNvPr id="31" name="GitHub why card body"/>
          <p:cNvSpPr/>
          <p:nvPr/>
        </p:nvSpPr>
        <p:spPr>
          <a:xfrm>
            <a:off x="5760720" y="2194560"/>
            <a:ext cx="2926080" cy="2697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GitHub why card header"/>
          <p:cNvSpPr/>
          <p:nvPr/>
        </p:nvSpPr>
        <p:spPr>
          <a:xfrm>
            <a:off x="5760720" y="1783080"/>
            <a:ext cx="29260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GitHub why card heading"/>
          <p:cNvSpPr txBox="1"/>
          <p:nvPr/>
        </p:nvSpPr>
        <p:spPr>
          <a:xfrm>
            <a:off x="5897880" y="1783080"/>
            <a:ext cx="22402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Why it matters</a:t>
            </a:r>
          </a:p>
        </p:txBody>
      </p:sp>
      <p:pic>
        <p:nvPicPr>
          <p:cNvPr id="34" name="Icon GitHub why card" descr=""/>
          <p:cNvPicPr>
            <a:picLocks noChangeAspect="1"/>
          </p:cNvPicPr>
          <p:nvPr/>
        </p:nvPicPr>
        <p:blipFill>
          <a:blip r:embed="rId4"/>
          <a:stretch>
            <a:fillRect/>
          </a:stretch>
        </p:blipFill>
        <p:spPr>
          <a:xfrm>
            <a:off x="8247888" y="1833372"/>
            <a:ext cx="310896" cy="310896"/>
          </a:xfrm>
          <a:prstGeom prst="rect">
            <a:avLst/>
          </a:prstGeom>
        </p:spPr>
      </p:pic>
      <p:sp>
        <p:nvSpPr>
          <p:cNvPr id="35" name="GitHub why card text"/>
          <p:cNvSpPr txBox="1"/>
          <p:nvPr/>
        </p:nvSpPr>
        <p:spPr>
          <a:xfrm>
            <a:off x="5925312" y="2331720"/>
            <a:ext cx="2624328" cy="242316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Your username appears on every commit you make</a:t>
            </a:r>
          </a:p>
          <a:p>
            <a:pPr algn="l" marL="182880" indent="-182880">
              <a:spcAft>
                <a:spcPts val="600"/>
              </a:spcAft>
              <a:buClr>
                <a:schemeClr val="accent1"/>
              </a:buClr>
              <a:buFont typeface="Arial"/>
              <a:buChar char="▪"/>
            </a:pPr>
            <a:r>
              <a:rPr sz="1300" b="0" lang="en-GB">
                <a:solidFill>
                  <a:schemeClr val="tx1"/>
                </a:solidFill>
              </a:rPr>
              <a:t>A clean GitHub profile is part of your CV</a:t>
            </a:r>
          </a:p>
          <a:p>
            <a:pPr algn="l" marL="182880" indent="-182880">
              <a:spcAft>
                <a:spcPts val="600"/>
              </a:spcAft>
              <a:buClr>
                <a:schemeClr val="accent1"/>
              </a:buClr>
              <a:buFont typeface="Arial"/>
              <a:buChar char="▪"/>
            </a:pPr>
            <a:r>
              <a:rPr sz="1300" b="0" lang="en-GB">
                <a:solidFill>
                  <a:schemeClr val="tx1"/>
                </a:solidFill>
              </a:rPr>
              <a:t>Optional: share your group's case study in a repository</a:t>
            </a:r>
          </a:p>
          <a:p>
            <a:pPr algn="l" marL="182880" indent="-182880">
              <a:spcAft>
                <a:spcPts val="600"/>
              </a:spcAft>
              <a:buClr>
                <a:schemeClr val="accent1"/>
              </a:buClr>
              <a:buFont typeface="Arial"/>
              <a:buChar char="▪"/>
            </a:pPr>
            <a:r>
              <a:rPr sz="1300" b="0" lang="en-GB">
                <a:solidFill>
                  <a:schemeClr val="tx1"/>
                </a:solidFill>
              </a:rPr>
              <a:t>The free plan is all you need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GitHub Education and Copilot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bg1"/>
                </a:solidFill>
              </a:rPr>
              <a:t>Accounts</a:t>
            </a:r>
          </a:p>
        </p:txBody>
      </p:sp>
      <p:sp>
        <p:nvSpPr>
          <p:cNvPr id="11" name="Progress step 2"/>
          <p:cNvSpPr/>
          <p:nvPr/>
        </p:nvSpPr>
        <p:spPr>
          <a:xfrm>
            <a:off x="1810512"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Tools</a:t>
            </a:r>
          </a:p>
        </p:txBody>
      </p:sp>
      <p:sp>
        <p:nvSpPr>
          <p:cNvPr id="12" name="Progress step 3"/>
          <p:cNvSpPr/>
          <p:nvPr/>
        </p:nvSpPr>
        <p:spPr>
          <a:xfrm>
            <a:off x="3163824"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Repo</a:t>
            </a:r>
          </a:p>
        </p:txBody>
      </p:sp>
      <p:sp>
        <p:nvSpPr>
          <p:cNvPr id="13" name="Progress step 4"/>
          <p:cNvSpPr/>
          <p:nvPr/>
        </p:nvSpPr>
        <p:spPr>
          <a:xfrm>
            <a:off x="4517136"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Project</a:t>
            </a:r>
          </a:p>
        </p:txBody>
      </p:sp>
      <p:sp>
        <p:nvSpPr>
          <p:cNvPr id="14" name="Progress step 5"/>
          <p:cNvSpPr/>
          <p:nvPr/>
        </p:nvSpPr>
        <p:spPr>
          <a:xfrm>
            <a:off x="5870448"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Check</a:t>
            </a:r>
          </a:p>
        </p:txBody>
      </p:sp>
      <p:sp>
        <p:nvSpPr>
          <p:cNvPr id="15" name="Progress step 6"/>
          <p:cNvSpPr/>
          <p:nvPr/>
        </p:nvSpPr>
        <p:spPr>
          <a:xfrm>
            <a:off x="7223760"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AI</a:t>
            </a:r>
          </a:p>
        </p:txBody>
      </p:sp>
      <p:sp>
        <p:nvSpPr>
          <p:cNvPr id="16" name="Education steps step 1"/>
          <p:cNvSpPr/>
          <p:nvPr/>
        </p:nvSpPr>
        <p:spPr>
          <a:xfrm>
            <a:off x="457200" y="1783080"/>
            <a:ext cx="1733702"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Add WU e-mail</a:t>
            </a:r>
            <a:br/>
            <a:r>
              <a:rPr sz="1200" b="1" lang="en-GB">
                <a:solidFill>
                  <a:schemeClr val="tx2"/>
                </a:solidFill>
              </a:rPr>
              <a:t>to GitHub</a:t>
            </a:r>
          </a:p>
        </p:txBody>
      </p:sp>
      <p:sp>
        <p:nvSpPr>
          <p:cNvPr id="17" name="Education steps step 2"/>
          <p:cNvSpPr/>
          <p:nvPr/>
        </p:nvSpPr>
        <p:spPr>
          <a:xfrm>
            <a:off x="2081174" y="178308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Apply for</a:t>
            </a:r>
            <a:br/>
            <a:r>
              <a:rPr sz="1200" b="1" lang="en-GB">
                <a:solidFill>
                  <a:schemeClr val="tx2"/>
                </a:solidFill>
              </a:rPr>
              <a:t>benefits</a:t>
            </a:r>
          </a:p>
        </p:txBody>
      </p:sp>
      <p:sp>
        <p:nvSpPr>
          <p:cNvPr id="18" name="Education steps step 3"/>
          <p:cNvSpPr/>
          <p:nvPr/>
        </p:nvSpPr>
        <p:spPr>
          <a:xfrm>
            <a:off x="3705149" y="178308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Upload</a:t>
            </a:r>
            <a:br/>
            <a:r>
              <a:rPr sz="1200" b="1" lang="en-GB">
                <a:solidFill>
                  <a:schemeClr val="tx2"/>
                </a:solidFill>
              </a:rPr>
              <a:t>proof</a:t>
            </a:r>
          </a:p>
        </p:txBody>
      </p:sp>
      <p:sp>
        <p:nvSpPr>
          <p:cNvPr id="19" name="Education steps step 4"/>
          <p:cNvSpPr/>
          <p:nvPr/>
        </p:nvSpPr>
        <p:spPr>
          <a:xfrm>
            <a:off x="5329123" y="178308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Wait for</a:t>
            </a:r>
            <a:br/>
            <a:r>
              <a:rPr sz="1200" b="1" lang="en-GB">
                <a:solidFill>
                  <a:schemeClr val="tx2"/>
                </a:solidFill>
              </a:rPr>
              <a:t>approval</a:t>
            </a:r>
          </a:p>
        </p:txBody>
      </p:sp>
      <p:sp>
        <p:nvSpPr>
          <p:cNvPr id="20" name="Education steps step 5"/>
          <p:cNvSpPr/>
          <p:nvPr/>
        </p:nvSpPr>
        <p:spPr>
          <a:xfrm>
            <a:off x="6953098" y="178308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Turn on</a:t>
            </a:r>
            <a:br/>
            <a:r>
              <a:rPr sz="1200" b="1" lang="en-GB">
                <a:solidFill>
                  <a:schemeClr val="tx2"/>
                </a:solidFill>
              </a:rPr>
              <a:t>Copilot</a:t>
            </a:r>
          </a:p>
        </p:txBody>
      </p:sp>
      <p:sp>
        <p:nvSpPr>
          <p:cNvPr id="21" name="Apply card body"/>
          <p:cNvSpPr/>
          <p:nvPr/>
        </p:nvSpPr>
        <p:spPr>
          <a:xfrm>
            <a:off x="457200" y="2926080"/>
            <a:ext cx="404622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Apply card header"/>
          <p:cNvSpPr/>
          <p:nvPr/>
        </p:nvSpPr>
        <p:spPr>
          <a:xfrm>
            <a:off x="457200" y="251460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Apply card heading"/>
          <p:cNvSpPr txBox="1"/>
          <p:nvPr/>
        </p:nvSpPr>
        <p:spPr>
          <a:xfrm>
            <a:off x="594360" y="251460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Apply</a:t>
            </a:r>
          </a:p>
        </p:txBody>
      </p:sp>
      <p:pic>
        <p:nvPicPr>
          <p:cNvPr id="24" name="Icon Apply card" descr=""/>
          <p:cNvPicPr>
            <a:picLocks noChangeAspect="1"/>
          </p:cNvPicPr>
          <p:nvPr/>
        </p:nvPicPr>
        <p:blipFill>
          <a:blip r:embed="rId3"/>
          <a:stretch>
            <a:fillRect/>
          </a:stretch>
        </p:blipFill>
        <p:spPr>
          <a:xfrm>
            <a:off x="4064508" y="2564892"/>
            <a:ext cx="310896" cy="310896"/>
          </a:xfrm>
          <a:prstGeom prst="rect">
            <a:avLst/>
          </a:prstGeom>
        </p:spPr>
      </p:pic>
      <p:sp>
        <p:nvSpPr>
          <p:cNvPr id="25" name="Apply card text"/>
          <p:cNvSpPr txBox="1"/>
          <p:nvPr/>
        </p:nvSpPr>
        <p:spPr>
          <a:xfrm>
            <a:off x="621792" y="3063240"/>
            <a:ext cx="3744468" cy="11430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Go to </a:t>
            </a:r>
            <a:r>
              <a:rPr sz="1300" b="0" lang="en-GB">
                <a:solidFill>
                  <a:schemeClr val="accent1"/>
                </a:solidFill>
                <a:hlinkClick r:id="rId4"/>
              </a:rPr>
              <a:t>education.github.com/pack</a:t>
            </a:r>
          </a:p>
          <a:p>
            <a:pPr algn="l" marL="182880" indent="-182880">
              <a:spcAft>
                <a:spcPts val="600"/>
              </a:spcAft>
              <a:buClr>
                <a:schemeClr val="accent1"/>
              </a:buClr>
              <a:buFont typeface="Arial"/>
              <a:buChar char="▪"/>
            </a:pPr>
            <a:r>
              <a:rPr sz="1300" b="0" lang="en-GB">
                <a:solidFill>
                  <a:schemeClr val="tx1"/>
                </a:solidFill>
              </a:rPr>
              <a:t>Your WU address must be verified in GitHub's e-mail settings</a:t>
            </a:r>
          </a:p>
          <a:p>
            <a:pPr algn="l" marL="182880" indent="-182880">
              <a:spcAft>
                <a:spcPts val="600"/>
              </a:spcAft>
              <a:buClr>
                <a:schemeClr val="accent1"/>
              </a:buClr>
              <a:buFont typeface="Arial"/>
              <a:buChar char="▪"/>
            </a:pPr>
            <a:r>
              <a:rPr sz="1300" b="0" lang="en-GB">
                <a:solidFill>
                  <a:schemeClr val="tx1"/>
                </a:solidFill>
              </a:rPr>
              <a:t>Proof: a photo of your student ID or enrolment confirmation</a:t>
            </a:r>
          </a:p>
        </p:txBody>
      </p:sp>
      <p:sp>
        <p:nvSpPr>
          <p:cNvPr id="26" name="Approval card body"/>
          <p:cNvSpPr/>
          <p:nvPr/>
        </p:nvSpPr>
        <p:spPr>
          <a:xfrm>
            <a:off x="4640580" y="2926080"/>
            <a:ext cx="404622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Approval card header"/>
          <p:cNvSpPr/>
          <p:nvPr/>
        </p:nvSpPr>
        <p:spPr>
          <a:xfrm>
            <a:off x="4640580" y="251460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Approval card heading"/>
          <p:cNvSpPr txBox="1"/>
          <p:nvPr/>
        </p:nvSpPr>
        <p:spPr>
          <a:xfrm>
            <a:off x="4777740" y="251460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After approval</a:t>
            </a:r>
          </a:p>
        </p:txBody>
      </p:sp>
      <p:pic>
        <p:nvPicPr>
          <p:cNvPr id="29" name="Icon Approval card" descr=""/>
          <p:cNvPicPr>
            <a:picLocks noChangeAspect="1"/>
          </p:cNvPicPr>
          <p:nvPr/>
        </p:nvPicPr>
        <p:blipFill>
          <a:blip r:embed="rId5"/>
          <a:stretch>
            <a:fillRect/>
          </a:stretch>
        </p:blipFill>
        <p:spPr>
          <a:xfrm>
            <a:off x="8247888" y="2564892"/>
            <a:ext cx="310896" cy="310896"/>
          </a:xfrm>
          <a:prstGeom prst="rect">
            <a:avLst/>
          </a:prstGeom>
        </p:spPr>
      </p:pic>
      <p:sp>
        <p:nvSpPr>
          <p:cNvPr id="30" name="Approval card text"/>
          <p:cNvSpPr txBox="1"/>
          <p:nvPr/>
        </p:nvSpPr>
        <p:spPr>
          <a:xfrm>
            <a:off x="4805172" y="3063240"/>
            <a:ext cx="3744468" cy="11430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Turn on Copilot at </a:t>
            </a:r>
            <a:r>
              <a:rPr sz="1300" b="0" lang="en-GB">
                <a:solidFill>
                  <a:schemeClr val="accent1"/>
                </a:solidFill>
                <a:hlinkClick r:id="rId6"/>
              </a:rPr>
              <a:t>github.com/settings/copilot</a:t>
            </a:r>
          </a:p>
          <a:p>
            <a:pPr algn="l" marL="182880" indent="-182880">
              <a:spcAft>
                <a:spcPts val="600"/>
              </a:spcAft>
              <a:buClr>
                <a:schemeClr val="accent1"/>
              </a:buClr>
              <a:buFont typeface="Arial"/>
              <a:buChar char="▪"/>
            </a:pPr>
            <a:r>
              <a:rPr sz="1300" b="0" lang="en-GB">
                <a:solidFill>
                  <a:schemeClr val="tx1"/>
                </a:solidFill>
              </a:rPr>
              <a:t>Copilot Student is free while you study</a:t>
            </a:r>
          </a:p>
          <a:p>
            <a:pPr algn="l" marL="182880" indent="-182880">
              <a:spcAft>
                <a:spcPts val="600"/>
              </a:spcAft>
              <a:buClr>
                <a:schemeClr val="accent1"/>
              </a:buClr>
              <a:buFont typeface="Arial"/>
              <a:buChar char="▪"/>
            </a:pPr>
            <a:r>
              <a:rPr sz="1300" b="0" lang="en-GB">
                <a:solidFill>
                  <a:schemeClr val="tx1"/>
                </a:solidFill>
              </a:rPr>
              <a:t>Until then, Copilot Free works with monthly limits</a:t>
            </a:r>
          </a:p>
        </p:txBody>
      </p:sp>
      <p:sp>
        <p:nvSpPr>
          <p:cNvPr id="31" name="Education box"/>
          <p:cNvSpPr/>
          <p:nvPr/>
        </p:nvSpPr>
        <p:spPr>
          <a:xfrm>
            <a:off x="457200" y="4480560"/>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Icon Education" descr=""/>
          <p:cNvPicPr>
            <a:picLocks noChangeAspect="1"/>
          </p:cNvPicPr>
          <p:nvPr/>
        </p:nvPicPr>
        <p:blipFill>
          <a:blip r:embed="rId7"/>
          <a:stretch>
            <a:fillRect/>
          </a:stretch>
        </p:blipFill>
        <p:spPr>
          <a:xfrm>
            <a:off x="658368" y="4585716"/>
            <a:ext cx="384048" cy="384048"/>
          </a:xfrm>
          <a:prstGeom prst="rect">
            <a:avLst/>
          </a:prstGeom>
        </p:spPr>
      </p:pic>
      <p:sp>
        <p:nvSpPr>
          <p:cNvPr id="33" name="Education text"/>
          <p:cNvSpPr txBox="1"/>
          <p:nvPr/>
        </p:nvSpPr>
        <p:spPr>
          <a:xfrm>
            <a:off x="1234440" y="4480560"/>
            <a:ext cx="7269480" cy="594360"/>
          </a:xfrm>
          <a:prstGeom prst="rect">
            <a:avLst/>
          </a:prstGeom>
          <a:noFill/>
        </p:spPr>
        <p:txBody>
          <a:bodyPr wrap="square" lIns="0" rIns="0" tIns="0" bIns="0" anchor="ctr">
            <a:noAutofit/>
          </a:bodyPr>
          <a:lstStyle/>
          <a:p>
            <a:pPr algn="l">
              <a:spcAft>
                <a:spcPts val="400"/>
              </a:spcAft>
            </a:pPr>
            <a:r>
              <a:rPr sz="1300" b="1" lang="en-GB">
                <a:solidFill>
                  <a:schemeClr val="bg1"/>
                </a:solidFill>
              </a:rPr>
              <a:t>Do this first: </a:t>
            </a:r>
            <a:r>
              <a:rPr sz="1300" b="0" lang="en-GB">
                <a:solidFill>
                  <a:schemeClr val="bg1"/>
                </a:solidFill>
              </a:rPr>
              <a:t>approval can take a few days, so apply today, then carry 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DataCamp classroom</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bg1"/>
                </a:solidFill>
              </a:rPr>
              <a:t>Accounts</a:t>
            </a:r>
          </a:p>
        </p:txBody>
      </p:sp>
      <p:sp>
        <p:nvSpPr>
          <p:cNvPr id="11" name="Progress step 2"/>
          <p:cNvSpPr/>
          <p:nvPr/>
        </p:nvSpPr>
        <p:spPr>
          <a:xfrm>
            <a:off x="1810512"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Tools</a:t>
            </a:r>
          </a:p>
        </p:txBody>
      </p:sp>
      <p:sp>
        <p:nvSpPr>
          <p:cNvPr id="12" name="Progress step 3"/>
          <p:cNvSpPr/>
          <p:nvPr/>
        </p:nvSpPr>
        <p:spPr>
          <a:xfrm>
            <a:off x="3163824"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Repo</a:t>
            </a:r>
          </a:p>
        </p:txBody>
      </p:sp>
      <p:sp>
        <p:nvSpPr>
          <p:cNvPr id="13" name="Progress step 4"/>
          <p:cNvSpPr/>
          <p:nvPr/>
        </p:nvSpPr>
        <p:spPr>
          <a:xfrm>
            <a:off x="4517136"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Project</a:t>
            </a:r>
          </a:p>
        </p:txBody>
      </p:sp>
      <p:sp>
        <p:nvSpPr>
          <p:cNvPr id="14" name="Progress step 5"/>
          <p:cNvSpPr/>
          <p:nvPr/>
        </p:nvSpPr>
        <p:spPr>
          <a:xfrm>
            <a:off x="5870448"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Check</a:t>
            </a:r>
          </a:p>
        </p:txBody>
      </p:sp>
      <p:sp>
        <p:nvSpPr>
          <p:cNvPr id="15" name="Progress step 6"/>
          <p:cNvSpPr/>
          <p:nvPr/>
        </p:nvSpPr>
        <p:spPr>
          <a:xfrm>
            <a:off x="7223760"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AI</a:t>
            </a:r>
          </a:p>
        </p:txBody>
      </p:sp>
      <p:sp>
        <p:nvSpPr>
          <p:cNvPr id="16" name="DataCamp steps row 1"/>
          <p:cNvSpPr/>
          <p:nvPr/>
        </p:nvSpPr>
        <p:spPr>
          <a:xfrm>
            <a:off x="457200" y="178308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ataCamp steps number 1"/>
          <p:cNvSpPr/>
          <p:nvPr/>
        </p:nvSpPr>
        <p:spPr>
          <a:xfrm>
            <a:off x="594360" y="190195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8" name="DataCamp steps text 1"/>
          <p:cNvSpPr txBox="1"/>
          <p:nvPr/>
        </p:nvSpPr>
        <p:spPr>
          <a:xfrm>
            <a:off x="1051560" y="1783080"/>
            <a:ext cx="438912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Open </a:t>
            </a:r>
            <a:r>
              <a:rPr sz="1300" b="0" lang="en-GB">
                <a:solidFill>
                  <a:schemeClr val="tx1"/>
                </a:solidFill>
              </a:rPr>
              <a:t>the invitation link on Canvas</a:t>
            </a:r>
          </a:p>
        </p:txBody>
      </p:sp>
      <p:sp>
        <p:nvSpPr>
          <p:cNvPr id="19" name="DataCamp steps row 2"/>
          <p:cNvSpPr/>
          <p:nvPr/>
        </p:nvSpPr>
        <p:spPr>
          <a:xfrm>
            <a:off x="457200" y="242316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DataCamp steps number 2"/>
          <p:cNvSpPr/>
          <p:nvPr/>
        </p:nvSpPr>
        <p:spPr>
          <a:xfrm>
            <a:off x="594360" y="254203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21" name="DataCamp steps text 2"/>
          <p:cNvSpPr txBox="1"/>
          <p:nvPr/>
        </p:nvSpPr>
        <p:spPr>
          <a:xfrm>
            <a:off x="1051560" y="2423160"/>
            <a:ext cx="438912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Sign up </a:t>
            </a:r>
            <a:r>
              <a:rPr sz="1300" b="0" lang="en-GB">
                <a:solidFill>
                  <a:schemeClr val="tx1"/>
                </a:solidFill>
              </a:rPr>
              <a:t>with your WU e-mail, or log in</a:t>
            </a:r>
          </a:p>
        </p:txBody>
      </p:sp>
      <p:sp>
        <p:nvSpPr>
          <p:cNvPr id="22" name="DataCamp steps row 3"/>
          <p:cNvSpPr/>
          <p:nvPr/>
        </p:nvSpPr>
        <p:spPr>
          <a:xfrm>
            <a:off x="457200" y="306324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DataCamp steps number 3"/>
          <p:cNvSpPr/>
          <p:nvPr/>
        </p:nvSpPr>
        <p:spPr>
          <a:xfrm>
            <a:off x="594360" y="31821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4" name="DataCamp steps text 3"/>
          <p:cNvSpPr txBox="1"/>
          <p:nvPr/>
        </p:nvSpPr>
        <p:spPr>
          <a:xfrm>
            <a:off x="1051560" y="3063240"/>
            <a:ext cx="438912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Join </a:t>
            </a:r>
            <a:r>
              <a:rPr sz="1300" b="0" lang="en-GB">
                <a:solidFill>
                  <a:schemeClr val="tx1"/>
                </a:solidFill>
              </a:rPr>
              <a:t>the classroom International Marketing Analytics</a:t>
            </a:r>
          </a:p>
        </p:txBody>
      </p:sp>
      <p:sp>
        <p:nvSpPr>
          <p:cNvPr id="25" name="DataCamp steps row 4"/>
          <p:cNvSpPr/>
          <p:nvPr/>
        </p:nvSpPr>
        <p:spPr>
          <a:xfrm>
            <a:off x="457200" y="370332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DataCamp steps number 4"/>
          <p:cNvSpPr/>
          <p:nvPr/>
        </p:nvSpPr>
        <p:spPr>
          <a:xfrm>
            <a:off x="594360" y="382219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7" name="DataCamp steps text 4"/>
          <p:cNvSpPr txBox="1"/>
          <p:nvPr/>
        </p:nvSpPr>
        <p:spPr>
          <a:xfrm>
            <a:off x="1051560" y="3703320"/>
            <a:ext cx="438912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Find </a:t>
            </a:r>
            <a:r>
              <a:rPr sz="1300" b="0" lang="en-GB">
                <a:solidFill>
                  <a:schemeClr val="tx1"/>
                </a:solidFill>
              </a:rPr>
              <a:t>the four assigned courses under Assignments</a:t>
            </a:r>
          </a:p>
        </p:txBody>
      </p:sp>
      <p:sp>
        <p:nvSpPr>
          <p:cNvPr id="28" name="DataCamp steps row 5"/>
          <p:cNvSpPr/>
          <p:nvPr/>
        </p:nvSpPr>
        <p:spPr>
          <a:xfrm>
            <a:off x="457200" y="434340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ataCamp steps number 5"/>
          <p:cNvSpPr/>
          <p:nvPr/>
        </p:nvSpPr>
        <p:spPr>
          <a:xfrm>
            <a:off x="594360" y="446227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30" name="DataCamp steps text 5"/>
          <p:cNvSpPr txBox="1"/>
          <p:nvPr/>
        </p:nvSpPr>
        <p:spPr>
          <a:xfrm>
            <a:off x="1051560" y="4343400"/>
            <a:ext cx="438912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Upload </a:t>
            </a:r>
            <a:r>
              <a:rPr sz="1300" b="0" lang="en-GB">
                <a:solidFill>
                  <a:schemeClr val="tx1"/>
                </a:solidFill>
              </a:rPr>
              <a:t>each certificate to Canvas by its deadline</a:t>
            </a:r>
          </a:p>
        </p:txBody>
      </p:sp>
      <p:sp>
        <p:nvSpPr>
          <p:cNvPr id="31" name="DataCamp facts"/>
          <p:cNvSpPr/>
          <p:nvPr/>
        </p:nvSpPr>
        <p:spPr>
          <a:xfrm>
            <a:off x="5760720" y="1783080"/>
            <a:ext cx="2926080" cy="31089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DataCamp bar 1"/>
          <p:cNvSpPr/>
          <p:nvPr/>
        </p:nvSpPr>
        <p:spPr>
          <a:xfrm>
            <a:off x="5897880" y="1920240"/>
            <a:ext cx="64008" cy="8229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DataCamp fact 1"/>
          <p:cNvSpPr txBox="1"/>
          <p:nvPr/>
        </p:nvSpPr>
        <p:spPr>
          <a:xfrm>
            <a:off x="6126480" y="1920240"/>
            <a:ext cx="2468880" cy="822960"/>
          </a:xfrm>
          <a:prstGeom prst="rect">
            <a:avLst/>
          </a:prstGeom>
          <a:noFill/>
        </p:spPr>
        <p:txBody>
          <a:bodyPr wrap="square" lIns="0" rIns="0" tIns="0" bIns="0" anchor="ctr">
            <a:noAutofit/>
          </a:bodyPr>
          <a:lstStyle/>
          <a:p>
            <a:pPr algn="l">
              <a:spcAft>
                <a:spcPts val="0"/>
              </a:spcAft>
            </a:pPr>
            <a:r>
              <a:rPr sz="2800" b="1" lang="en-GB">
                <a:solidFill>
                  <a:schemeClr val="tx2"/>
                </a:solidFill>
                <a:latin typeface="+mj-lt"/>
              </a:rPr>
              <a:t>6</a:t>
            </a:r>
          </a:p>
          <a:p>
            <a:pPr algn="l">
              <a:spcAft>
                <a:spcPts val="0"/>
              </a:spcAft>
            </a:pPr>
            <a:r>
              <a:rPr sz="1300" b="0" lang="en-GB">
                <a:solidFill>
                  <a:schemeClr val="tx1"/>
                </a:solidFill>
              </a:rPr>
              <a:t>months free premium access</a:t>
            </a:r>
          </a:p>
        </p:txBody>
      </p:sp>
      <p:sp>
        <p:nvSpPr>
          <p:cNvPr id="34" name="DataCamp bar 2"/>
          <p:cNvSpPr/>
          <p:nvPr/>
        </p:nvSpPr>
        <p:spPr>
          <a:xfrm>
            <a:off x="5897880" y="2898648"/>
            <a:ext cx="64008" cy="8229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DataCamp fact 2"/>
          <p:cNvSpPr txBox="1"/>
          <p:nvPr/>
        </p:nvSpPr>
        <p:spPr>
          <a:xfrm>
            <a:off x="6126480" y="2898648"/>
            <a:ext cx="2468880" cy="822960"/>
          </a:xfrm>
          <a:prstGeom prst="rect">
            <a:avLst/>
          </a:prstGeom>
          <a:noFill/>
        </p:spPr>
        <p:txBody>
          <a:bodyPr wrap="square" lIns="0" rIns="0" tIns="0" bIns="0" anchor="ctr">
            <a:noAutofit/>
          </a:bodyPr>
          <a:lstStyle/>
          <a:p>
            <a:pPr algn="l">
              <a:spcAft>
                <a:spcPts val="0"/>
              </a:spcAft>
            </a:pPr>
            <a:r>
              <a:rPr sz="2800" b="1" lang="en-GB">
                <a:solidFill>
                  <a:schemeClr val="tx2"/>
                </a:solidFill>
                <a:latin typeface="+mj-lt"/>
              </a:rPr>
              <a:t>4</a:t>
            </a:r>
          </a:p>
          <a:p>
            <a:pPr algn="l">
              <a:spcAft>
                <a:spcPts val="0"/>
              </a:spcAft>
            </a:pPr>
            <a:r>
              <a:rPr sz="1300" b="0" lang="en-GB">
                <a:solidFill>
                  <a:schemeClr val="tx1"/>
                </a:solidFill>
              </a:rPr>
              <a:t>courses with certificates</a:t>
            </a:r>
          </a:p>
        </p:txBody>
      </p:sp>
      <p:sp>
        <p:nvSpPr>
          <p:cNvPr id="36" name="DataCamp bar 3"/>
          <p:cNvSpPr/>
          <p:nvPr/>
        </p:nvSpPr>
        <p:spPr>
          <a:xfrm>
            <a:off x="5897880" y="3877056"/>
            <a:ext cx="64008" cy="8229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DataCamp fact 3"/>
          <p:cNvSpPr txBox="1"/>
          <p:nvPr/>
        </p:nvSpPr>
        <p:spPr>
          <a:xfrm>
            <a:off x="6126480" y="3877056"/>
            <a:ext cx="2468880" cy="822960"/>
          </a:xfrm>
          <a:prstGeom prst="rect">
            <a:avLst/>
          </a:prstGeom>
          <a:noFill/>
        </p:spPr>
        <p:txBody>
          <a:bodyPr wrap="square" lIns="0" rIns="0" tIns="0" bIns="0" anchor="ctr">
            <a:noAutofit/>
          </a:bodyPr>
          <a:lstStyle/>
          <a:p>
            <a:pPr algn="l">
              <a:spcAft>
                <a:spcPts val="0"/>
              </a:spcAft>
            </a:pPr>
            <a:r>
              <a:rPr sz="2800" b="1" lang="en-GB">
                <a:solidFill>
                  <a:schemeClr val="tx2"/>
                </a:solidFill>
                <a:latin typeface="+mj-lt"/>
              </a:rPr>
              <a:t>20 %</a:t>
            </a:r>
          </a:p>
          <a:p>
            <a:pPr algn="l">
              <a:spcAft>
                <a:spcPts val="0"/>
              </a:spcAft>
            </a:pPr>
            <a:r>
              <a:rPr sz="1300" b="0" lang="en-GB">
                <a:solidFill>
                  <a:schemeClr val="tx1"/>
                </a:solidFill>
              </a:rPr>
              <a:t>of the final grade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2 of 7 · Python, Positron, Quarto, GitHub Desktop, the course repository</a:t>
            </a:r>
          </a:p>
        </p:txBody>
      </p:sp>
      <p:sp>
        <p:nvSpPr>
          <p:cNvPr id="3" name="Title 2"/>
          <p:cNvSpPr>
            <a:spLocks noGrp="1"/>
          </p:cNvSpPr>
          <p:nvPr>
            <p:ph type="ctrTitle"/>
          </p:nvPr>
        </p:nvSpPr>
        <p:spPr/>
        <p:txBody>
          <a:bodyPr/>
          <a:lstStyle/>
          <a:p>
            <a:r>
              <a:rPr sz="1600" lang="en-GB"/>
              <a:t>Install the tools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How the pieces fit together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GitHub box"/>
          <p:cNvSpPr/>
          <p:nvPr/>
        </p:nvSpPr>
        <p:spPr>
          <a:xfrm>
            <a:off x="2971800" y="1234440"/>
            <a:ext cx="3200400"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cloud" descr=""/>
          <p:cNvPicPr>
            <a:picLocks noChangeAspect="1"/>
          </p:cNvPicPr>
          <p:nvPr/>
        </p:nvPicPr>
        <p:blipFill>
          <a:blip r:embed="rId3"/>
          <a:stretch>
            <a:fillRect/>
          </a:stretch>
        </p:blipFill>
        <p:spPr>
          <a:xfrm>
            <a:off x="3108960" y="1307592"/>
            <a:ext cx="402336" cy="402336"/>
          </a:xfrm>
          <a:prstGeom prst="rect">
            <a:avLst/>
          </a:prstGeom>
        </p:spPr>
      </p:pic>
      <p:sp>
        <p:nvSpPr>
          <p:cNvPr id="12" name="GitHub text"/>
          <p:cNvSpPr txBox="1"/>
          <p:nvPr/>
        </p:nvSpPr>
        <p:spPr>
          <a:xfrm>
            <a:off x="3611880" y="1234440"/>
            <a:ext cx="2514600" cy="548640"/>
          </a:xfrm>
          <a:prstGeom prst="rect">
            <a:avLst/>
          </a:prstGeom>
          <a:noFill/>
        </p:spPr>
        <p:txBody>
          <a:bodyPr wrap="square" lIns="0" rIns="0" tIns="0" bIns="0" anchor="ctr">
            <a:noAutofit/>
          </a:bodyPr>
          <a:lstStyle/>
          <a:p>
            <a:pPr algn="l">
              <a:spcAft>
                <a:spcPts val="0"/>
              </a:spcAft>
            </a:pPr>
            <a:r>
              <a:rPr sz="1300" b="1" lang="en-GB">
                <a:solidFill>
                  <a:schemeClr val="bg1"/>
                </a:solidFill>
              </a:rPr>
              <a:t>GitHub.com</a:t>
            </a:r>
          </a:p>
          <a:p>
            <a:pPr algn="l">
              <a:spcAft>
                <a:spcPts val="0"/>
              </a:spcAft>
            </a:pPr>
            <a:r>
              <a:rPr sz="1100" b="0" lang="en-GB">
                <a:solidFill>
                  <a:schemeClr val="bg1"/>
                </a:solidFill>
              </a:rPr>
              <a:t>the course repository</a:t>
            </a:r>
          </a:p>
        </p:txBody>
      </p:sp>
      <p:sp>
        <p:nvSpPr>
          <p:cNvPr id="13" name="Sync arrow"/>
          <p:cNvSpPr/>
          <p:nvPr/>
        </p:nvSpPr>
        <p:spPr>
          <a:xfrm>
            <a:off x="4407408" y="1801368"/>
            <a:ext cx="329184" cy="457200"/>
          </a:xfrm>
          <a:prstGeom prst="upDownArrow">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Laptop area"/>
          <p:cNvSpPr/>
          <p:nvPr/>
        </p:nvSpPr>
        <p:spPr>
          <a:xfrm>
            <a:off x="457200" y="2286000"/>
            <a:ext cx="8229600" cy="2606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ptop label"/>
          <p:cNvSpPr txBox="1"/>
          <p:nvPr/>
        </p:nvSpPr>
        <p:spPr>
          <a:xfrm>
            <a:off x="594360" y="2331720"/>
            <a:ext cx="2743200" cy="274320"/>
          </a:xfrm>
          <a:prstGeom prst="rect">
            <a:avLst/>
          </a:prstGeom>
          <a:noFill/>
        </p:spPr>
        <p:txBody>
          <a:bodyPr wrap="square" lIns="0" rIns="0" tIns="0" bIns="0" anchor="t">
            <a:noAutofit/>
          </a:bodyPr>
          <a:lstStyle/>
          <a:p>
            <a:pPr algn="l">
              <a:spcAft>
                <a:spcPts val="400"/>
              </a:spcAft>
            </a:pPr>
            <a:r>
              <a:rPr sz="1200" b="1" lang="en-GB">
                <a:solidFill>
                  <a:schemeClr val="tx2"/>
                </a:solidFill>
              </a:rPr>
              <a:t>Your laptop</a:t>
            </a:r>
          </a:p>
        </p:txBody>
      </p:sp>
      <p:sp>
        <p:nvSpPr>
          <p:cNvPr id="16" name="Laptop box 1"/>
          <p:cNvSpPr/>
          <p:nvPr/>
        </p:nvSpPr>
        <p:spPr>
          <a:xfrm>
            <a:off x="685800" y="2697480"/>
            <a:ext cx="2377440"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Icon laptop 1" descr=""/>
          <p:cNvPicPr>
            <a:picLocks noChangeAspect="1"/>
          </p:cNvPicPr>
          <p:nvPr/>
        </p:nvPicPr>
        <p:blipFill>
          <a:blip r:embed="rId4"/>
          <a:stretch>
            <a:fillRect/>
          </a:stretch>
        </p:blipFill>
        <p:spPr>
          <a:xfrm>
            <a:off x="795528" y="2880360"/>
            <a:ext cx="411480" cy="411480"/>
          </a:xfrm>
          <a:prstGeom prst="rect">
            <a:avLst/>
          </a:prstGeom>
        </p:spPr>
      </p:pic>
      <p:sp>
        <p:nvSpPr>
          <p:cNvPr id="18" name="Laptop text 1"/>
          <p:cNvSpPr txBox="1"/>
          <p:nvPr/>
        </p:nvSpPr>
        <p:spPr>
          <a:xfrm>
            <a:off x="1325880" y="2697480"/>
            <a:ext cx="1645920" cy="777240"/>
          </a:xfrm>
          <a:prstGeom prst="rect">
            <a:avLst/>
          </a:prstGeom>
          <a:noFill/>
        </p:spPr>
        <p:txBody>
          <a:bodyPr wrap="square" lIns="0" rIns="0" tIns="0" bIns="0" anchor="ctr">
            <a:noAutofit/>
          </a:bodyPr>
          <a:lstStyle/>
          <a:p>
            <a:pPr algn="l">
              <a:spcAft>
                <a:spcPts val="0"/>
              </a:spcAft>
            </a:pPr>
            <a:r>
              <a:rPr sz="1300" b="1" lang="en-GB">
                <a:solidFill>
                  <a:schemeClr val="tx2"/>
                </a:solidFill>
              </a:rPr>
              <a:t>GitHub Desktop</a:t>
            </a:r>
          </a:p>
          <a:p>
            <a:pPr algn="l">
              <a:spcAft>
                <a:spcPts val="0"/>
              </a:spcAft>
            </a:pPr>
            <a:r>
              <a:rPr sz="1100" b="0" lang="en-GB">
                <a:solidFill>
                  <a:schemeClr val="tx1"/>
                </a:solidFill>
              </a:rPr>
              <a:t>clone and pull; push optional</a:t>
            </a:r>
          </a:p>
        </p:txBody>
      </p:sp>
      <p:sp>
        <p:nvSpPr>
          <p:cNvPr id="19" name="Laptop box 2"/>
          <p:cNvSpPr/>
          <p:nvPr/>
        </p:nvSpPr>
        <p:spPr>
          <a:xfrm>
            <a:off x="3383280" y="2697480"/>
            <a:ext cx="2377440"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Icon laptop 2" descr=""/>
          <p:cNvPicPr>
            <a:picLocks noChangeAspect="1"/>
          </p:cNvPicPr>
          <p:nvPr/>
        </p:nvPicPr>
        <p:blipFill>
          <a:blip r:embed="rId5"/>
          <a:stretch>
            <a:fillRect/>
          </a:stretch>
        </p:blipFill>
        <p:spPr>
          <a:xfrm>
            <a:off x="3493008" y="2880360"/>
            <a:ext cx="411480" cy="411480"/>
          </a:xfrm>
          <a:prstGeom prst="rect">
            <a:avLst/>
          </a:prstGeom>
        </p:spPr>
      </p:pic>
      <p:sp>
        <p:nvSpPr>
          <p:cNvPr id="21" name="Laptop text 2"/>
          <p:cNvSpPr txBox="1"/>
          <p:nvPr/>
        </p:nvSpPr>
        <p:spPr>
          <a:xfrm>
            <a:off x="4023360" y="2697480"/>
            <a:ext cx="1645920" cy="777240"/>
          </a:xfrm>
          <a:prstGeom prst="rect">
            <a:avLst/>
          </a:prstGeom>
          <a:noFill/>
        </p:spPr>
        <p:txBody>
          <a:bodyPr wrap="square" lIns="0" rIns="0" tIns="0" bIns="0" anchor="ctr">
            <a:noAutofit/>
          </a:bodyPr>
          <a:lstStyle/>
          <a:p>
            <a:pPr algn="l">
              <a:spcAft>
                <a:spcPts val="0"/>
              </a:spcAft>
            </a:pPr>
            <a:r>
              <a:rPr sz="1300" b="1" lang="en-GB">
                <a:solidFill>
                  <a:schemeClr val="tx2"/>
                </a:solidFill>
              </a:rPr>
              <a:t>Course folder</a:t>
            </a:r>
          </a:p>
          <a:p>
            <a:pPr algn="l">
              <a:spcAft>
                <a:spcPts val="0"/>
              </a:spcAft>
            </a:pPr>
            <a:r>
              <a:rPr sz="1100" b="0" lang="en-GB">
                <a:solidFill>
                  <a:schemeClr val="tx1"/>
                </a:solidFill>
              </a:rPr>
              <a:t>data, code, requirements.txt</a:t>
            </a:r>
          </a:p>
        </p:txBody>
      </p:sp>
      <p:sp>
        <p:nvSpPr>
          <p:cNvPr id="22" name="Laptop box 3"/>
          <p:cNvSpPr/>
          <p:nvPr/>
        </p:nvSpPr>
        <p:spPr>
          <a:xfrm>
            <a:off x="6080760" y="2697480"/>
            <a:ext cx="2377440"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laptop 3" descr=""/>
          <p:cNvPicPr>
            <a:picLocks noChangeAspect="1"/>
          </p:cNvPicPr>
          <p:nvPr/>
        </p:nvPicPr>
        <p:blipFill>
          <a:blip r:embed="rId6"/>
          <a:stretch>
            <a:fillRect/>
          </a:stretch>
        </p:blipFill>
        <p:spPr>
          <a:xfrm>
            <a:off x="6190488" y="2880360"/>
            <a:ext cx="411480" cy="411480"/>
          </a:xfrm>
          <a:prstGeom prst="rect">
            <a:avLst/>
          </a:prstGeom>
        </p:spPr>
      </p:pic>
      <p:sp>
        <p:nvSpPr>
          <p:cNvPr id="24" name="Laptop text 3"/>
          <p:cNvSpPr txBox="1"/>
          <p:nvPr/>
        </p:nvSpPr>
        <p:spPr>
          <a:xfrm>
            <a:off x="6720840" y="2697480"/>
            <a:ext cx="1645920" cy="777240"/>
          </a:xfrm>
          <a:prstGeom prst="rect">
            <a:avLst/>
          </a:prstGeom>
          <a:noFill/>
        </p:spPr>
        <p:txBody>
          <a:bodyPr wrap="square" lIns="0" rIns="0" tIns="0" bIns="0" anchor="ctr">
            <a:noAutofit/>
          </a:bodyPr>
          <a:lstStyle/>
          <a:p>
            <a:pPr algn="l">
              <a:spcAft>
                <a:spcPts val="0"/>
              </a:spcAft>
            </a:pPr>
            <a:r>
              <a:rPr sz="1300" b="1" lang="en-GB">
                <a:solidFill>
                  <a:schemeClr val="tx2"/>
                </a:solidFill>
              </a:rPr>
              <a:t>Positron</a:t>
            </a:r>
          </a:p>
          <a:p>
            <a:pPr algn="l">
              <a:spcAft>
                <a:spcPts val="0"/>
              </a:spcAft>
            </a:pPr>
            <a:r>
              <a:rPr sz="1100" b="0" lang="en-GB">
                <a:solidFill>
                  <a:schemeClr val="tx1"/>
                </a:solidFill>
              </a:rPr>
              <a:t>where you write and run code</a:t>
            </a:r>
          </a:p>
        </p:txBody>
      </p:sp>
      <p:sp>
        <p:nvSpPr>
          <p:cNvPr id="25" name="Laptop arrow 1"/>
          <p:cNvSpPr txBox="1"/>
          <p:nvPr/>
        </p:nvSpPr>
        <p:spPr>
          <a:xfrm>
            <a:off x="3063240" y="2697480"/>
            <a:ext cx="320040" cy="777240"/>
          </a:xfrm>
          <a:prstGeom prst="rect">
            <a:avLst/>
          </a:prstGeom>
          <a:noFill/>
        </p:spPr>
        <p:txBody>
          <a:bodyPr wrap="square" lIns="0" rIns="0" tIns="0" bIns="0" anchor="ctr">
            <a:noAutofit/>
          </a:bodyPr>
          <a:lstStyle/>
          <a:p>
            <a:pPr algn="ctr">
              <a:spcAft>
                <a:spcPts val="400"/>
              </a:spcAft>
            </a:pPr>
            <a:r>
              <a:rPr sz="2200" b="1" lang="en-GB">
                <a:solidFill>
                  <a:schemeClr val="accent1"/>
                </a:solidFill>
              </a:rPr>
              <a:t>↔</a:t>
            </a:r>
          </a:p>
        </p:txBody>
      </p:sp>
      <p:sp>
        <p:nvSpPr>
          <p:cNvPr id="26" name="Laptop arrow 2"/>
          <p:cNvSpPr txBox="1"/>
          <p:nvPr/>
        </p:nvSpPr>
        <p:spPr>
          <a:xfrm>
            <a:off x="5760720" y="2697480"/>
            <a:ext cx="320040" cy="777240"/>
          </a:xfrm>
          <a:prstGeom prst="rect">
            <a:avLst/>
          </a:prstGeom>
          <a:noFill/>
        </p:spPr>
        <p:txBody>
          <a:bodyPr wrap="square" lIns="0" rIns="0" tIns="0" bIns="0" anchor="ctr">
            <a:noAutofit/>
          </a:bodyPr>
          <a:lstStyle/>
          <a:p>
            <a:pPr algn="ctr">
              <a:spcAft>
                <a:spcPts val="400"/>
              </a:spcAft>
            </a:pPr>
            <a:r>
              <a:rPr sz="2200" b="1" lang="en-GB">
                <a:solidFill>
                  <a:schemeClr val="accent1"/>
                </a:solidFill>
              </a:rPr>
              <a:t>↔</a:t>
            </a:r>
          </a:p>
        </p:txBody>
      </p:sp>
      <p:sp>
        <p:nvSpPr>
          <p:cNvPr id="27" name="Inside label"/>
          <p:cNvSpPr txBox="1"/>
          <p:nvPr/>
        </p:nvSpPr>
        <p:spPr>
          <a:xfrm>
            <a:off x="685800" y="3611880"/>
            <a:ext cx="7772400" cy="274320"/>
          </a:xfrm>
          <a:prstGeom prst="rect">
            <a:avLst/>
          </a:prstGeom>
          <a:noFill/>
        </p:spPr>
        <p:txBody>
          <a:bodyPr wrap="square" lIns="0" rIns="0" tIns="0" bIns="0" anchor="t">
            <a:noAutofit/>
          </a:bodyPr>
          <a:lstStyle/>
          <a:p>
            <a:pPr algn="l">
              <a:spcAft>
                <a:spcPts val="400"/>
              </a:spcAft>
            </a:pPr>
            <a:r>
              <a:rPr sz="1200" b="1" lang="en-GB">
                <a:solidFill>
                  <a:schemeClr val="tx2"/>
                </a:solidFill>
              </a:rPr>
              <a:t>Inside Positron you use</a:t>
            </a:r>
          </a:p>
        </p:txBody>
      </p:sp>
      <p:sp>
        <p:nvSpPr>
          <p:cNvPr id="28" name="Inside box 1"/>
          <p:cNvSpPr/>
          <p:nvPr/>
        </p:nvSpPr>
        <p:spPr>
          <a:xfrm>
            <a:off x="685800" y="3931920"/>
            <a:ext cx="2377440"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Icon inside 1" descr=""/>
          <p:cNvPicPr>
            <a:picLocks noChangeAspect="1"/>
          </p:cNvPicPr>
          <p:nvPr/>
        </p:nvPicPr>
        <p:blipFill>
          <a:blip r:embed="rId7"/>
          <a:stretch>
            <a:fillRect/>
          </a:stretch>
        </p:blipFill>
        <p:spPr>
          <a:xfrm>
            <a:off x="795528" y="4114800"/>
            <a:ext cx="411480" cy="411480"/>
          </a:xfrm>
          <a:prstGeom prst="rect">
            <a:avLst/>
          </a:prstGeom>
        </p:spPr>
      </p:pic>
      <p:sp>
        <p:nvSpPr>
          <p:cNvPr id="30" name="Inside text 1"/>
          <p:cNvSpPr txBox="1"/>
          <p:nvPr/>
        </p:nvSpPr>
        <p:spPr>
          <a:xfrm>
            <a:off x="1325880" y="3931920"/>
            <a:ext cx="1645920" cy="777240"/>
          </a:xfrm>
          <a:prstGeom prst="rect">
            <a:avLst/>
          </a:prstGeom>
          <a:noFill/>
        </p:spPr>
        <p:txBody>
          <a:bodyPr wrap="square" lIns="0" rIns="0" tIns="0" bIns="0" anchor="ctr">
            <a:noAutofit/>
          </a:bodyPr>
          <a:lstStyle/>
          <a:p>
            <a:pPr algn="l">
              <a:spcAft>
                <a:spcPts val="0"/>
              </a:spcAft>
            </a:pPr>
            <a:r>
              <a:rPr sz="1300" b="1" lang="en-GB">
                <a:solidFill>
                  <a:schemeClr val="tx2"/>
                </a:solidFill>
              </a:rPr>
              <a:t>Python + packages</a:t>
            </a:r>
          </a:p>
          <a:p>
            <a:pPr algn="l">
              <a:spcAft>
                <a:spcPts val="0"/>
              </a:spcAft>
            </a:pPr>
            <a:r>
              <a:rPr sz="1100" b="0" lang="en-GB">
                <a:solidFill>
                  <a:schemeClr val="tx1"/>
                </a:solidFill>
              </a:rPr>
              <a:t>in a private .venv folder</a:t>
            </a:r>
          </a:p>
        </p:txBody>
      </p:sp>
      <p:sp>
        <p:nvSpPr>
          <p:cNvPr id="31" name="Inside box 2"/>
          <p:cNvSpPr/>
          <p:nvPr/>
        </p:nvSpPr>
        <p:spPr>
          <a:xfrm>
            <a:off x="3383280" y="3931920"/>
            <a:ext cx="2377440"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Icon inside 2" descr=""/>
          <p:cNvPicPr>
            <a:picLocks noChangeAspect="1"/>
          </p:cNvPicPr>
          <p:nvPr/>
        </p:nvPicPr>
        <p:blipFill>
          <a:blip r:embed="rId8"/>
          <a:stretch>
            <a:fillRect/>
          </a:stretch>
        </p:blipFill>
        <p:spPr>
          <a:xfrm>
            <a:off x="3493008" y="4114800"/>
            <a:ext cx="411480" cy="411480"/>
          </a:xfrm>
          <a:prstGeom prst="rect">
            <a:avLst/>
          </a:prstGeom>
        </p:spPr>
      </p:pic>
      <p:sp>
        <p:nvSpPr>
          <p:cNvPr id="33" name="Inside text 2"/>
          <p:cNvSpPr txBox="1"/>
          <p:nvPr/>
        </p:nvSpPr>
        <p:spPr>
          <a:xfrm>
            <a:off x="4023360" y="3931920"/>
            <a:ext cx="1645920" cy="777240"/>
          </a:xfrm>
          <a:prstGeom prst="rect">
            <a:avLst/>
          </a:prstGeom>
          <a:noFill/>
        </p:spPr>
        <p:txBody>
          <a:bodyPr wrap="square" lIns="0" rIns="0" tIns="0" bIns="0" anchor="ctr">
            <a:noAutofit/>
          </a:bodyPr>
          <a:lstStyle/>
          <a:p>
            <a:pPr algn="l">
              <a:spcAft>
                <a:spcPts val="0"/>
              </a:spcAft>
            </a:pPr>
            <a:r>
              <a:rPr sz="1300" b="1" lang="en-GB">
                <a:solidFill>
                  <a:schemeClr val="tx2"/>
                </a:solidFill>
              </a:rPr>
              <a:t>Quarto</a:t>
            </a:r>
          </a:p>
          <a:p>
            <a:pPr algn="l">
              <a:spcAft>
                <a:spcPts val="0"/>
              </a:spcAft>
            </a:pPr>
            <a:r>
              <a:rPr sz="1100" b="0" lang="en-GB">
                <a:solidFill>
                  <a:schemeClr val="tx1"/>
                </a:solidFill>
              </a:rPr>
              <a:t>turns .qmd files into reports</a:t>
            </a:r>
          </a:p>
        </p:txBody>
      </p:sp>
      <p:sp>
        <p:nvSpPr>
          <p:cNvPr id="34" name="Inside box 3"/>
          <p:cNvSpPr/>
          <p:nvPr/>
        </p:nvSpPr>
        <p:spPr>
          <a:xfrm>
            <a:off x="6080760" y="3931920"/>
            <a:ext cx="2377440"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inside 3" descr=""/>
          <p:cNvPicPr>
            <a:picLocks noChangeAspect="1"/>
          </p:cNvPicPr>
          <p:nvPr/>
        </p:nvPicPr>
        <p:blipFill>
          <a:blip r:embed="rId9"/>
          <a:stretch>
            <a:fillRect/>
          </a:stretch>
        </p:blipFill>
        <p:spPr>
          <a:xfrm>
            <a:off x="6190488" y="4114800"/>
            <a:ext cx="411480" cy="411480"/>
          </a:xfrm>
          <a:prstGeom prst="rect">
            <a:avLst/>
          </a:prstGeom>
        </p:spPr>
      </p:pic>
      <p:sp>
        <p:nvSpPr>
          <p:cNvPr id="36" name="Inside text 3"/>
          <p:cNvSpPr txBox="1"/>
          <p:nvPr/>
        </p:nvSpPr>
        <p:spPr>
          <a:xfrm>
            <a:off x="6720840" y="3931920"/>
            <a:ext cx="1645920" cy="777240"/>
          </a:xfrm>
          <a:prstGeom prst="rect">
            <a:avLst/>
          </a:prstGeom>
          <a:noFill/>
        </p:spPr>
        <p:txBody>
          <a:bodyPr wrap="square" lIns="0" rIns="0" tIns="0" bIns="0" anchor="ctr">
            <a:noAutofit/>
          </a:bodyPr>
          <a:lstStyle/>
          <a:p>
            <a:pPr algn="l">
              <a:spcAft>
                <a:spcPts val="0"/>
              </a:spcAft>
            </a:pPr>
            <a:r>
              <a:rPr sz="1300" b="1" lang="en-GB">
                <a:solidFill>
                  <a:schemeClr val="tx2"/>
                </a:solidFill>
              </a:rPr>
              <a:t>AI assistant</a:t>
            </a:r>
          </a:p>
          <a:p>
            <a:pPr algn="l">
              <a:spcAft>
                <a:spcPts val="0"/>
              </a:spcAft>
            </a:pPr>
            <a:r>
              <a:rPr sz="1100" b="0" lang="en-GB">
                <a:solidFill>
                  <a:schemeClr val="tx1"/>
                </a:solidFill>
              </a:rPr>
              <a:t>writes and explains code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2: install Python 3.14.8</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Accounts</a:t>
            </a:r>
          </a:p>
        </p:txBody>
      </p:sp>
      <p:sp>
        <p:nvSpPr>
          <p:cNvPr id="11" name="Progress step 2"/>
          <p:cNvSpPr/>
          <p:nvPr/>
        </p:nvSpPr>
        <p:spPr>
          <a:xfrm>
            <a:off x="1810512" y="1188720"/>
            <a:ext cx="1463040" cy="384048"/>
          </a:xfrm>
          <a:prstGeom prst="chevron">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bg1"/>
                </a:solidFill>
              </a:rPr>
              <a:t>Tools</a:t>
            </a:r>
          </a:p>
        </p:txBody>
      </p:sp>
      <p:sp>
        <p:nvSpPr>
          <p:cNvPr id="12" name="Progress step 3"/>
          <p:cNvSpPr/>
          <p:nvPr/>
        </p:nvSpPr>
        <p:spPr>
          <a:xfrm>
            <a:off x="3163824"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Repo</a:t>
            </a:r>
          </a:p>
        </p:txBody>
      </p:sp>
      <p:sp>
        <p:nvSpPr>
          <p:cNvPr id="13" name="Progress step 4"/>
          <p:cNvSpPr/>
          <p:nvPr/>
        </p:nvSpPr>
        <p:spPr>
          <a:xfrm>
            <a:off x="4517136"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Project</a:t>
            </a:r>
          </a:p>
        </p:txBody>
      </p:sp>
      <p:sp>
        <p:nvSpPr>
          <p:cNvPr id="14" name="Progress step 5"/>
          <p:cNvSpPr/>
          <p:nvPr/>
        </p:nvSpPr>
        <p:spPr>
          <a:xfrm>
            <a:off x="5870448"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Check</a:t>
            </a:r>
          </a:p>
        </p:txBody>
      </p:sp>
      <p:sp>
        <p:nvSpPr>
          <p:cNvPr id="15" name="Progress step 6"/>
          <p:cNvSpPr/>
          <p:nvPr/>
        </p:nvSpPr>
        <p:spPr>
          <a:xfrm>
            <a:off x="7223760"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AI</a:t>
            </a:r>
          </a:p>
        </p:txBody>
      </p:sp>
      <p:sp>
        <p:nvSpPr>
          <p:cNvPr id="16" name="Windows card body"/>
          <p:cNvSpPr/>
          <p:nvPr/>
        </p:nvSpPr>
        <p:spPr>
          <a:xfrm>
            <a:off x="457200" y="2194560"/>
            <a:ext cx="4046220" cy="1463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Windows card header"/>
          <p:cNvSpPr/>
          <p:nvPr/>
        </p:nvSpPr>
        <p:spPr>
          <a:xfrm>
            <a:off x="457200" y="178308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Windows card heading"/>
          <p:cNvSpPr txBox="1"/>
          <p:nvPr/>
        </p:nvSpPr>
        <p:spPr>
          <a:xfrm>
            <a:off x="594360" y="178308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Windows</a:t>
            </a:r>
          </a:p>
        </p:txBody>
      </p:sp>
      <p:pic>
        <p:nvPicPr>
          <p:cNvPr id="19" name="Icon Windows card" descr=""/>
          <p:cNvPicPr>
            <a:picLocks noChangeAspect="1"/>
          </p:cNvPicPr>
          <p:nvPr/>
        </p:nvPicPr>
        <p:blipFill>
          <a:blip r:embed="rId3"/>
          <a:stretch>
            <a:fillRect/>
          </a:stretch>
        </p:blipFill>
        <p:spPr>
          <a:xfrm>
            <a:off x="4064508" y="1833372"/>
            <a:ext cx="310896" cy="310896"/>
          </a:xfrm>
          <a:prstGeom prst="rect">
            <a:avLst/>
          </a:prstGeom>
        </p:spPr>
      </p:pic>
      <p:sp>
        <p:nvSpPr>
          <p:cNvPr id="20" name="Windows card text"/>
          <p:cNvSpPr txBox="1"/>
          <p:nvPr/>
        </p:nvSpPr>
        <p:spPr>
          <a:xfrm>
            <a:off x="621792" y="2331720"/>
            <a:ext cx="3744468" cy="11887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1" lang="en-GB">
                <a:solidFill>
                  <a:schemeClr val="tx2"/>
                </a:solidFill>
              </a:rPr>
              <a:t>Download: </a:t>
            </a:r>
            <a:r>
              <a:rPr sz="1300" b="0" lang="en-GB">
                <a:solidFill>
                  <a:schemeClr val="tx1"/>
                </a:solidFill>
              </a:rPr>
              <a:t>Python install manager</a:t>
            </a:r>
          </a:p>
          <a:p>
            <a:pPr algn="l" marL="182880" indent="-182880">
              <a:spcAft>
                <a:spcPts val="600"/>
              </a:spcAft>
              <a:buClr>
                <a:schemeClr val="accent1"/>
              </a:buClr>
              <a:buFont typeface="Arial"/>
              <a:buChar char="▪"/>
            </a:pPr>
            <a:r>
              <a:rPr sz="1300" b="0" lang="en-GB">
                <a:solidFill>
                  <a:schemeClr val="tx1"/>
                </a:solidFill>
              </a:rPr>
              <a:t>Install it with a double-click</a:t>
            </a:r>
          </a:p>
          <a:p>
            <a:pPr algn="l" marL="182880" indent="-182880">
              <a:spcAft>
                <a:spcPts val="600"/>
              </a:spcAft>
              <a:buClr>
                <a:schemeClr val="accent1"/>
              </a:buClr>
              <a:buFont typeface="Arial"/>
              <a:buChar char="▪"/>
            </a:pPr>
            <a:r>
              <a:rPr sz="1300" b="0" lang="en-GB">
                <a:solidFill>
                  <a:schemeClr val="tx1"/>
                </a:solidFill>
              </a:rPr>
              <a:t>Start menu → Terminal: py install 3.14</a:t>
            </a:r>
          </a:p>
        </p:txBody>
      </p:sp>
      <p:sp>
        <p:nvSpPr>
          <p:cNvPr id="21" name="Windows check box"/>
          <p:cNvSpPr/>
          <p:nvPr/>
        </p:nvSpPr>
        <p:spPr>
          <a:xfrm>
            <a:off x="457200" y="3749040"/>
            <a:ext cx="4046220" cy="566928"/>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Windows check code"/>
          <p:cNvSpPr txBox="1"/>
          <p:nvPr/>
        </p:nvSpPr>
        <p:spPr>
          <a:xfrm>
            <a:off x="594360" y="3840480"/>
            <a:ext cx="3771900" cy="384048"/>
          </a:xfrm>
          <a:prstGeom prst="rect">
            <a:avLst/>
          </a:prstGeom>
          <a:noFill/>
        </p:spPr>
        <p:txBody>
          <a:bodyPr wrap="square" lIns="0" rIns="0" tIns="0" bIns="0" anchor="t">
            <a:noAutofit/>
          </a:bodyPr>
          <a:lstStyle/>
          <a:p>
            <a:pPr algn="l">
              <a:spcAft>
                <a:spcPts val="0"/>
              </a:spcAft>
            </a:pPr>
            <a:r>
              <a:rPr sz="1150" b="0" lang="en-GB">
                <a:solidFill>
                  <a:schemeClr val="bg1"/>
                </a:solidFill>
                <a:latin typeface="Consolas"/>
              </a:rPr>
              <a:t>py -3.14 --version</a:t>
            </a:r>
          </a:p>
        </p:txBody>
      </p:sp>
      <p:sp>
        <p:nvSpPr>
          <p:cNvPr id="23" name="macOS card body"/>
          <p:cNvSpPr/>
          <p:nvPr/>
        </p:nvSpPr>
        <p:spPr>
          <a:xfrm>
            <a:off x="4640580" y="2194560"/>
            <a:ext cx="4046220" cy="1463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macOS card header"/>
          <p:cNvSpPr/>
          <p:nvPr/>
        </p:nvSpPr>
        <p:spPr>
          <a:xfrm>
            <a:off x="4640580" y="178308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macOS card heading"/>
          <p:cNvSpPr txBox="1"/>
          <p:nvPr/>
        </p:nvSpPr>
        <p:spPr>
          <a:xfrm>
            <a:off x="4777740" y="178308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macOS</a:t>
            </a:r>
          </a:p>
        </p:txBody>
      </p:sp>
      <p:pic>
        <p:nvPicPr>
          <p:cNvPr id="26" name="Icon macOS card" descr=""/>
          <p:cNvPicPr>
            <a:picLocks noChangeAspect="1"/>
          </p:cNvPicPr>
          <p:nvPr/>
        </p:nvPicPr>
        <p:blipFill>
          <a:blip r:embed="rId4"/>
          <a:stretch>
            <a:fillRect/>
          </a:stretch>
        </p:blipFill>
        <p:spPr>
          <a:xfrm>
            <a:off x="8247888" y="1833372"/>
            <a:ext cx="310896" cy="310896"/>
          </a:xfrm>
          <a:prstGeom prst="rect">
            <a:avLst/>
          </a:prstGeom>
        </p:spPr>
      </p:pic>
      <p:sp>
        <p:nvSpPr>
          <p:cNvPr id="27" name="macOS card text"/>
          <p:cNvSpPr txBox="1"/>
          <p:nvPr/>
        </p:nvSpPr>
        <p:spPr>
          <a:xfrm>
            <a:off x="4805172" y="2331720"/>
            <a:ext cx="3744468" cy="11887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1" lang="en-GB">
                <a:solidFill>
                  <a:schemeClr val="tx2"/>
                </a:solidFill>
              </a:rPr>
              <a:t>Download: </a:t>
            </a:r>
            <a:r>
              <a:rPr sz="1300" b="0" lang="en-GB">
                <a:solidFill>
                  <a:schemeClr val="tx1"/>
                </a:solidFill>
              </a:rPr>
              <a:t>macOS installer (Python 3.14.8)</a:t>
            </a:r>
          </a:p>
          <a:p>
            <a:pPr algn="l" marL="182880" indent="-182880">
              <a:spcAft>
                <a:spcPts val="600"/>
              </a:spcAft>
              <a:buClr>
                <a:schemeClr val="accent1"/>
              </a:buClr>
              <a:buFont typeface="Arial"/>
              <a:buChar char="▪"/>
            </a:pPr>
            <a:r>
              <a:rPr sz="1300" b="0" lang="en-GB">
                <a:solidFill>
                  <a:schemeClr val="tx1"/>
                </a:solidFill>
              </a:rPr>
              <a:t>Open the .pkg and click through</a:t>
            </a:r>
          </a:p>
          <a:p>
            <a:pPr algn="l" marL="182880" indent="-182880">
              <a:spcAft>
                <a:spcPts val="600"/>
              </a:spcAft>
              <a:buClr>
                <a:schemeClr val="accent1"/>
              </a:buClr>
              <a:buFont typeface="Arial"/>
              <a:buChar char="▪"/>
            </a:pPr>
            <a:r>
              <a:rPr sz="1300" b="0" lang="en-GB">
                <a:solidFill>
                  <a:schemeClr val="tx1"/>
                </a:solidFill>
              </a:rPr>
              <a:t>Apple silicon and Intel</a:t>
            </a:r>
          </a:p>
        </p:txBody>
      </p:sp>
      <p:sp>
        <p:nvSpPr>
          <p:cNvPr id="28" name="macOS check box"/>
          <p:cNvSpPr/>
          <p:nvPr/>
        </p:nvSpPr>
        <p:spPr>
          <a:xfrm>
            <a:off x="4640580" y="3749040"/>
            <a:ext cx="4046220" cy="566928"/>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macOS check code"/>
          <p:cNvSpPr txBox="1"/>
          <p:nvPr/>
        </p:nvSpPr>
        <p:spPr>
          <a:xfrm>
            <a:off x="4777740" y="3840480"/>
            <a:ext cx="3771900" cy="384048"/>
          </a:xfrm>
          <a:prstGeom prst="rect">
            <a:avLst/>
          </a:prstGeom>
          <a:noFill/>
        </p:spPr>
        <p:txBody>
          <a:bodyPr wrap="square" lIns="0" rIns="0" tIns="0" bIns="0" anchor="t">
            <a:noAutofit/>
          </a:bodyPr>
          <a:lstStyle/>
          <a:p>
            <a:pPr algn="l">
              <a:spcAft>
                <a:spcPts val="0"/>
              </a:spcAft>
            </a:pPr>
            <a:r>
              <a:rPr sz="1150" b="0" lang="en-GB">
                <a:solidFill>
                  <a:schemeClr val="bg1"/>
                </a:solidFill>
                <a:latin typeface="Consolas"/>
              </a:rPr>
              <a:t>python3.14 --version</a:t>
            </a:r>
          </a:p>
        </p:txBody>
      </p:sp>
      <p:sp>
        <p:nvSpPr>
          <p:cNvPr id="30" name="Python link box"/>
          <p:cNvSpPr/>
          <p:nvPr/>
        </p:nvSpPr>
        <p:spPr>
          <a:xfrm>
            <a:off x="457200" y="4453128"/>
            <a:ext cx="822960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Icon download" descr=""/>
          <p:cNvPicPr>
            <a:picLocks noChangeAspect="1"/>
          </p:cNvPicPr>
          <p:nvPr/>
        </p:nvPicPr>
        <p:blipFill>
          <a:blip r:embed="rId5"/>
          <a:stretch>
            <a:fillRect/>
          </a:stretch>
        </p:blipFill>
        <p:spPr>
          <a:xfrm>
            <a:off x="658368" y="4562856"/>
            <a:ext cx="384048" cy="384048"/>
          </a:xfrm>
          <a:prstGeom prst="rect">
            <a:avLst/>
          </a:prstGeom>
        </p:spPr>
      </p:pic>
      <p:sp>
        <p:nvSpPr>
          <p:cNvPr id="32" name="Python link text"/>
          <p:cNvSpPr txBox="1"/>
          <p:nvPr/>
        </p:nvSpPr>
        <p:spPr>
          <a:xfrm>
            <a:off x="1234440" y="4453128"/>
            <a:ext cx="7315200" cy="621792"/>
          </a:xfrm>
          <a:prstGeom prst="rect">
            <a:avLst/>
          </a:prstGeom>
          <a:noFill/>
        </p:spPr>
        <p:txBody>
          <a:bodyPr wrap="square" lIns="0" rIns="0" tIns="0" bIns="0" anchor="ctr">
            <a:noAutofit/>
          </a:bodyPr>
          <a:lstStyle/>
          <a:p>
            <a:pPr algn="l">
              <a:spcAft>
                <a:spcPts val="0"/>
              </a:spcAft>
            </a:pPr>
            <a:r>
              <a:rPr sz="1300" b="1" lang="en-GB">
                <a:solidFill>
                  <a:schemeClr val="tx2"/>
                </a:solidFill>
              </a:rPr>
              <a:t>Both downloads: </a:t>
            </a:r>
            <a:r>
              <a:rPr sz="1300" b="0" lang="en-GB">
                <a:solidFill>
                  <a:schemeClr val="accent1"/>
                </a:solidFill>
                <a:hlinkClick r:id="rId6"/>
              </a:rPr>
              <a:t>python.org/downloads</a:t>
            </a:r>
          </a:p>
          <a:p>
            <a:pPr algn="l">
              <a:spcAft>
                <a:spcPts val="0"/>
              </a:spcAft>
            </a:pPr>
            <a:r>
              <a:rPr sz="1200" b="0" lang="en-GB">
                <a:solidFill>
                  <a:schemeClr val="tx1"/>
                </a:solidFill>
              </a:rPr>
              <a:t>Or let Positron install it: Command Palette → Python: Install Python via uv</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2: install Positron, Quarto and GitHub Desktop</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Accounts</a:t>
            </a:r>
          </a:p>
        </p:txBody>
      </p:sp>
      <p:sp>
        <p:nvSpPr>
          <p:cNvPr id="11" name="Progress step 2"/>
          <p:cNvSpPr/>
          <p:nvPr/>
        </p:nvSpPr>
        <p:spPr>
          <a:xfrm>
            <a:off x="1810512" y="1188720"/>
            <a:ext cx="1463040" cy="384048"/>
          </a:xfrm>
          <a:prstGeom prst="chevron">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bg1"/>
                </a:solidFill>
              </a:rPr>
              <a:t>Tools</a:t>
            </a:r>
          </a:p>
        </p:txBody>
      </p:sp>
      <p:sp>
        <p:nvSpPr>
          <p:cNvPr id="12" name="Progress step 3"/>
          <p:cNvSpPr/>
          <p:nvPr/>
        </p:nvSpPr>
        <p:spPr>
          <a:xfrm>
            <a:off x="3163824"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Repo</a:t>
            </a:r>
          </a:p>
        </p:txBody>
      </p:sp>
      <p:sp>
        <p:nvSpPr>
          <p:cNvPr id="13" name="Progress step 4"/>
          <p:cNvSpPr/>
          <p:nvPr/>
        </p:nvSpPr>
        <p:spPr>
          <a:xfrm>
            <a:off x="4517136"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Project</a:t>
            </a:r>
          </a:p>
        </p:txBody>
      </p:sp>
      <p:sp>
        <p:nvSpPr>
          <p:cNvPr id="14" name="Progress step 5"/>
          <p:cNvSpPr/>
          <p:nvPr/>
        </p:nvSpPr>
        <p:spPr>
          <a:xfrm>
            <a:off x="5870448"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Check</a:t>
            </a:r>
          </a:p>
        </p:txBody>
      </p:sp>
      <p:sp>
        <p:nvSpPr>
          <p:cNvPr id="15" name="Progress step 6"/>
          <p:cNvSpPr/>
          <p:nvPr/>
        </p:nvSpPr>
        <p:spPr>
          <a:xfrm>
            <a:off x="7223760"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AI</a:t>
            </a:r>
          </a:p>
        </p:txBody>
      </p:sp>
      <p:sp>
        <p:nvSpPr>
          <p:cNvPr id="16" name="Tool card 1 body"/>
          <p:cNvSpPr/>
          <p:nvPr/>
        </p:nvSpPr>
        <p:spPr>
          <a:xfrm>
            <a:off x="457200" y="2194560"/>
            <a:ext cx="2651760" cy="2331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ool card 1 header"/>
          <p:cNvSpPr/>
          <p:nvPr/>
        </p:nvSpPr>
        <p:spPr>
          <a:xfrm>
            <a:off x="457200" y="178308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ool card 1 heading"/>
          <p:cNvSpPr txBox="1"/>
          <p:nvPr/>
        </p:nvSpPr>
        <p:spPr>
          <a:xfrm>
            <a:off x="594360" y="178308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Positron</a:t>
            </a:r>
          </a:p>
        </p:txBody>
      </p:sp>
      <p:pic>
        <p:nvPicPr>
          <p:cNvPr id="19" name="Icon Tool card 1" descr=""/>
          <p:cNvPicPr>
            <a:picLocks noChangeAspect="1"/>
          </p:cNvPicPr>
          <p:nvPr/>
        </p:nvPicPr>
        <p:blipFill>
          <a:blip r:embed="rId3"/>
          <a:stretch>
            <a:fillRect/>
          </a:stretch>
        </p:blipFill>
        <p:spPr>
          <a:xfrm>
            <a:off x="2670048" y="1833372"/>
            <a:ext cx="310896" cy="310896"/>
          </a:xfrm>
          <a:prstGeom prst="rect">
            <a:avLst/>
          </a:prstGeom>
        </p:spPr>
      </p:pic>
      <p:sp>
        <p:nvSpPr>
          <p:cNvPr id="20" name="Tool card 1 text"/>
          <p:cNvSpPr txBox="1"/>
          <p:nvPr/>
        </p:nvSpPr>
        <p:spPr>
          <a:xfrm>
            <a:off x="621792" y="2331720"/>
            <a:ext cx="2350008" cy="20574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The editor for code, data and charts</a:t>
            </a:r>
          </a:p>
          <a:p>
            <a:pPr algn="l" marL="182880" indent="-182880">
              <a:spcAft>
                <a:spcPts val="600"/>
              </a:spcAft>
              <a:buClr>
                <a:schemeClr val="accent1"/>
              </a:buClr>
              <a:buFont typeface="Arial"/>
              <a:buChar char="▪"/>
            </a:pPr>
            <a:r>
              <a:rPr sz="1300" b="0" lang="en-GB">
                <a:solidFill>
                  <a:schemeClr val="tx1"/>
                </a:solidFill>
              </a:rPr>
              <a:t>Version 2026.09, free</a:t>
            </a:r>
          </a:p>
          <a:p>
            <a:pPr algn="l" marL="182880" indent="-182880">
              <a:spcAft>
                <a:spcPts val="600"/>
              </a:spcAft>
              <a:buClr>
                <a:schemeClr val="accent1"/>
              </a:buClr>
              <a:buFont typeface="Arial"/>
              <a:buChar char="▪"/>
            </a:pPr>
            <a:r>
              <a:rPr sz="1300" b="0" lang="en-GB">
                <a:solidFill>
                  <a:schemeClr val="tx1"/>
                </a:solidFill>
              </a:rPr>
              <a:t>Welcome page checks that Python is ready</a:t>
            </a:r>
          </a:p>
        </p:txBody>
      </p:sp>
      <p:sp>
        <p:nvSpPr>
          <p:cNvPr id="21" name="Tool link 1"/>
          <p:cNvSpPr txBox="1"/>
          <p:nvPr/>
        </p:nvSpPr>
        <p:spPr>
          <a:xfrm>
            <a:off x="621792" y="4069080"/>
            <a:ext cx="2350008" cy="320040"/>
          </a:xfrm>
          <a:prstGeom prst="rect">
            <a:avLst/>
          </a:prstGeom>
          <a:noFill/>
        </p:spPr>
        <p:txBody>
          <a:bodyPr wrap="square" lIns="0" rIns="0" tIns="0" bIns="0" anchor="b">
            <a:noAutofit/>
          </a:bodyPr>
          <a:lstStyle/>
          <a:p>
            <a:pPr algn="l">
              <a:spcAft>
                <a:spcPts val="400"/>
              </a:spcAft>
            </a:pPr>
            <a:r>
              <a:rPr sz="1200" b="0" lang="en-GB">
                <a:solidFill>
                  <a:schemeClr val="accent1"/>
                </a:solidFill>
                <a:hlinkClick r:id="rId4"/>
              </a:rPr>
              <a:t>positron.posit.co/download</a:t>
            </a:r>
          </a:p>
        </p:txBody>
      </p:sp>
      <p:sp>
        <p:nvSpPr>
          <p:cNvPr id="22" name="Tool card 2 body"/>
          <p:cNvSpPr/>
          <p:nvPr/>
        </p:nvSpPr>
        <p:spPr>
          <a:xfrm>
            <a:off x="3246120" y="2194560"/>
            <a:ext cx="2651760" cy="2331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ool card 2 header"/>
          <p:cNvSpPr/>
          <p:nvPr/>
        </p:nvSpPr>
        <p:spPr>
          <a:xfrm>
            <a:off x="3246120" y="178308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ool card 2 heading"/>
          <p:cNvSpPr txBox="1"/>
          <p:nvPr/>
        </p:nvSpPr>
        <p:spPr>
          <a:xfrm>
            <a:off x="3383280" y="178308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Quarto</a:t>
            </a:r>
          </a:p>
        </p:txBody>
      </p:sp>
      <p:pic>
        <p:nvPicPr>
          <p:cNvPr id="25" name="Icon Tool card 2" descr=""/>
          <p:cNvPicPr>
            <a:picLocks noChangeAspect="1"/>
          </p:cNvPicPr>
          <p:nvPr/>
        </p:nvPicPr>
        <p:blipFill>
          <a:blip r:embed="rId5"/>
          <a:stretch>
            <a:fillRect/>
          </a:stretch>
        </p:blipFill>
        <p:spPr>
          <a:xfrm>
            <a:off x="5458968" y="1833372"/>
            <a:ext cx="310896" cy="310896"/>
          </a:xfrm>
          <a:prstGeom prst="rect">
            <a:avLst/>
          </a:prstGeom>
        </p:spPr>
      </p:pic>
      <p:sp>
        <p:nvSpPr>
          <p:cNvPr id="26" name="Tool card 2 text"/>
          <p:cNvSpPr txBox="1"/>
          <p:nvPr/>
        </p:nvSpPr>
        <p:spPr>
          <a:xfrm>
            <a:off x="3410712" y="2331720"/>
            <a:ext cx="2350008" cy="20574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Turns text and code into reports and slides</a:t>
            </a:r>
          </a:p>
          <a:p>
            <a:pPr algn="l" marL="182880" indent="-182880">
              <a:spcAft>
                <a:spcPts val="600"/>
              </a:spcAft>
              <a:buClr>
                <a:schemeClr val="accent1"/>
              </a:buClr>
              <a:buFont typeface="Arial"/>
              <a:buChar char="▪"/>
            </a:pPr>
            <a:r>
              <a:rPr sz="1300" b="0" lang="en-GB">
                <a:solidFill>
                  <a:schemeClr val="tx1"/>
                </a:solidFill>
              </a:rPr>
              <a:t>Check in a terminal: quarto --version</a:t>
            </a:r>
          </a:p>
        </p:txBody>
      </p:sp>
      <p:sp>
        <p:nvSpPr>
          <p:cNvPr id="27" name="Tool link 2"/>
          <p:cNvSpPr txBox="1"/>
          <p:nvPr/>
        </p:nvSpPr>
        <p:spPr>
          <a:xfrm>
            <a:off x="3410712" y="4069080"/>
            <a:ext cx="2350008" cy="320040"/>
          </a:xfrm>
          <a:prstGeom prst="rect">
            <a:avLst/>
          </a:prstGeom>
          <a:noFill/>
        </p:spPr>
        <p:txBody>
          <a:bodyPr wrap="square" lIns="0" rIns="0" tIns="0" bIns="0" anchor="b">
            <a:noAutofit/>
          </a:bodyPr>
          <a:lstStyle/>
          <a:p>
            <a:pPr algn="l">
              <a:spcAft>
                <a:spcPts val="400"/>
              </a:spcAft>
            </a:pPr>
            <a:r>
              <a:rPr sz="1200" b="0" lang="en-GB">
                <a:solidFill>
                  <a:schemeClr val="accent1"/>
                </a:solidFill>
                <a:hlinkClick r:id="rId6"/>
              </a:rPr>
              <a:t>quarto.org/docs/get-started</a:t>
            </a:r>
          </a:p>
        </p:txBody>
      </p:sp>
      <p:sp>
        <p:nvSpPr>
          <p:cNvPr id="28" name="Tool card 3 body"/>
          <p:cNvSpPr/>
          <p:nvPr/>
        </p:nvSpPr>
        <p:spPr>
          <a:xfrm>
            <a:off x="6035040" y="2194560"/>
            <a:ext cx="2651760" cy="2331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ool card 3 header"/>
          <p:cNvSpPr/>
          <p:nvPr/>
        </p:nvSpPr>
        <p:spPr>
          <a:xfrm>
            <a:off x="6035040" y="178308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ool card 3 heading"/>
          <p:cNvSpPr txBox="1"/>
          <p:nvPr/>
        </p:nvSpPr>
        <p:spPr>
          <a:xfrm>
            <a:off x="6172200" y="178308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GitHub Desktop</a:t>
            </a:r>
          </a:p>
        </p:txBody>
      </p:sp>
      <p:pic>
        <p:nvPicPr>
          <p:cNvPr id="31" name="Icon Tool card 3" descr=""/>
          <p:cNvPicPr>
            <a:picLocks noChangeAspect="1"/>
          </p:cNvPicPr>
          <p:nvPr/>
        </p:nvPicPr>
        <p:blipFill>
          <a:blip r:embed="rId7"/>
          <a:stretch>
            <a:fillRect/>
          </a:stretch>
        </p:blipFill>
        <p:spPr>
          <a:xfrm>
            <a:off x="8247888" y="1833372"/>
            <a:ext cx="310896" cy="310896"/>
          </a:xfrm>
          <a:prstGeom prst="rect">
            <a:avLst/>
          </a:prstGeom>
        </p:spPr>
      </p:pic>
      <p:sp>
        <p:nvSpPr>
          <p:cNvPr id="32" name="Tool card 3 text"/>
          <p:cNvSpPr txBox="1"/>
          <p:nvPr/>
        </p:nvSpPr>
        <p:spPr>
          <a:xfrm>
            <a:off x="6199632" y="2331720"/>
            <a:ext cx="2350008" cy="20574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Clone and pull with clicks; push if your group shares a repository</a:t>
            </a:r>
          </a:p>
          <a:p>
            <a:pPr algn="l" marL="182880" indent="-182880">
              <a:spcAft>
                <a:spcPts val="600"/>
              </a:spcAft>
              <a:buClr>
                <a:schemeClr val="accent1"/>
              </a:buClr>
              <a:buFont typeface="Arial"/>
              <a:buChar char="▪"/>
            </a:pPr>
            <a:r>
              <a:rPr sz="1300" b="0" lang="en-GB">
                <a:solidFill>
                  <a:schemeClr val="tx1"/>
                </a:solidFill>
              </a:rPr>
              <a:t>Installs Git for you</a:t>
            </a:r>
          </a:p>
          <a:p>
            <a:pPr algn="l" marL="182880" indent="-182880">
              <a:spcAft>
                <a:spcPts val="600"/>
              </a:spcAft>
              <a:buClr>
                <a:schemeClr val="accent1"/>
              </a:buClr>
              <a:buFont typeface="Arial"/>
              <a:buChar char="▪"/>
            </a:pPr>
            <a:r>
              <a:rPr sz="1300" b="0" lang="en-GB">
                <a:solidFill>
                  <a:schemeClr val="tx1"/>
                </a:solidFill>
              </a:rPr>
              <a:t>Sign in with your GitHub account</a:t>
            </a:r>
          </a:p>
        </p:txBody>
      </p:sp>
      <p:sp>
        <p:nvSpPr>
          <p:cNvPr id="33" name="Tool link 3"/>
          <p:cNvSpPr txBox="1"/>
          <p:nvPr/>
        </p:nvSpPr>
        <p:spPr>
          <a:xfrm>
            <a:off x="6199632" y="4069080"/>
            <a:ext cx="2350008" cy="320040"/>
          </a:xfrm>
          <a:prstGeom prst="rect">
            <a:avLst/>
          </a:prstGeom>
          <a:noFill/>
        </p:spPr>
        <p:txBody>
          <a:bodyPr wrap="square" lIns="0" rIns="0" tIns="0" bIns="0" anchor="b">
            <a:noAutofit/>
          </a:bodyPr>
          <a:lstStyle/>
          <a:p>
            <a:pPr algn="l">
              <a:spcAft>
                <a:spcPts val="400"/>
              </a:spcAft>
            </a:pPr>
            <a:r>
              <a:rPr sz="1200" b="0" lang="en-GB">
                <a:solidFill>
                  <a:schemeClr val="accent1"/>
                </a:solidFill>
                <a:hlinkClick r:id="rId8"/>
              </a:rPr>
              <a:t>desktop.github.com</a:t>
            </a:r>
          </a:p>
        </p:txBody>
      </p:sp>
      <p:sp>
        <p:nvSpPr>
          <p:cNvPr id="34" name="Restart box"/>
          <p:cNvSpPr/>
          <p:nvPr/>
        </p:nvSpPr>
        <p:spPr>
          <a:xfrm>
            <a:off x="457200" y="461772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Restart" descr=""/>
          <p:cNvPicPr>
            <a:picLocks noChangeAspect="1"/>
          </p:cNvPicPr>
          <p:nvPr/>
        </p:nvPicPr>
        <p:blipFill>
          <a:blip r:embed="rId9"/>
          <a:stretch>
            <a:fillRect/>
          </a:stretch>
        </p:blipFill>
        <p:spPr>
          <a:xfrm>
            <a:off x="658368" y="4654296"/>
            <a:ext cx="384048" cy="384048"/>
          </a:xfrm>
          <a:prstGeom prst="rect">
            <a:avLst/>
          </a:prstGeom>
        </p:spPr>
      </p:pic>
      <p:sp>
        <p:nvSpPr>
          <p:cNvPr id="36" name="Restart text"/>
          <p:cNvSpPr txBox="1"/>
          <p:nvPr/>
        </p:nvSpPr>
        <p:spPr>
          <a:xfrm>
            <a:off x="1234440" y="4617720"/>
            <a:ext cx="7269480" cy="457200"/>
          </a:xfrm>
          <a:prstGeom prst="rect">
            <a:avLst/>
          </a:prstGeom>
          <a:noFill/>
        </p:spPr>
        <p:txBody>
          <a:bodyPr wrap="square" lIns="0" rIns="0" tIns="0" bIns="0" anchor="ctr">
            <a:noAutofit/>
          </a:bodyPr>
          <a:lstStyle/>
          <a:p>
            <a:pPr algn="l">
              <a:spcAft>
                <a:spcPts val="400"/>
              </a:spcAft>
            </a:pPr>
            <a:r>
              <a:rPr sz="1300" b="1" lang="en-GB">
                <a:solidFill>
                  <a:schemeClr val="tx2"/>
                </a:solidFill>
              </a:rPr>
              <a:t>Restart Positron </a:t>
            </a:r>
            <a:r>
              <a:rPr sz="1300" b="0" lang="en-GB">
                <a:solidFill>
                  <a:schemeClr val="tx1"/>
                </a:solidFill>
              </a:rPr>
              <a:t>after installing Quarto, so it finds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3: get the course repository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Accounts</a:t>
            </a:r>
          </a:p>
        </p:txBody>
      </p:sp>
      <p:sp>
        <p:nvSpPr>
          <p:cNvPr id="11" name="Progress step 2"/>
          <p:cNvSpPr/>
          <p:nvPr/>
        </p:nvSpPr>
        <p:spPr>
          <a:xfrm>
            <a:off x="1810512"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Tools</a:t>
            </a:r>
          </a:p>
        </p:txBody>
      </p:sp>
      <p:sp>
        <p:nvSpPr>
          <p:cNvPr id="12" name="Progress step 3"/>
          <p:cNvSpPr/>
          <p:nvPr/>
        </p:nvSpPr>
        <p:spPr>
          <a:xfrm>
            <a:off x="3163824" y="1188720"/>
            <a:ext cx="1463040" cy="384048"/>
          </a:xfrm>
          <a:prstGeom prst="chevron">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bg1"/>
                </a:solidFill>
              </a:rPr>
              <a:t>Repo</a:t>
            </a:r>
          </a:p>
        </p:txBody>
      </p:sp>
      <p:sp>
        <p:nvSpPr>
          <p:cNvPr id="13" name="Progress step 4"/>
          <p:cNvSpPr/>
          <p:nvPr/>
        </p:nvSpPr>
        <p:spPr>
          <a:xfrm>
            <a:off x="4517136"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Project</a:t>
            </a:r>
          </a:p>
        </p:txBody>
      </p:sp>
      <p:sp>
        <p:nvSpPr>
          <p:cNvPr id="14" name="Progress step 5"/>
          <p:cNvSpPr/>
          <p:nvPr/>
        </p:nvSpPr>
        <p:spPr>
          <a:xfrm>
            <a:off x="5870448"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Check</a:t>
            </a:r>
          </a:p>
        </p:txBody>
      </p:sp>
      <p:sp>
        <p:nvSpPr>
          <p:cNvPr id="15" name="Progress step 6"/>
          <p:cNvSpPr/>
          <p:nvPr/>
        </p:nvSpPr>
        <p:spPr>
          <a:xfrm>
            <a:off x="7223760"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AI</a:t>
            </a:r>
          </a:p>
        </p:txBody>
      </p:sp>
      <p:sp>
        <p:nvSpPr>
          <p:cNvPr id="16" name="Clone steps step 1"/>
          <p:cNvSpPr/>
          <p:nvPr/>
        </p:nvSpPr>
        <p:spPr>
          <a:xfrm>
            <a:off x="457200" y="1783080"/>
            <a:ext cx="2139696"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Copy the URL</a:t>
            </a:r>
            <a:br/>
            <a:r>
              <a:rPr sz="1200" b="1" lang="en-GB">
                <a:solidFill>
                  <a:schemeClr val="tx2"/>
                </a:solidFill>
              </a:rPr>
              <a:t>(below)</a:t>
            </a:r>
          </a:p>
        </p:txBody>
      </p:sp>
      <p:sp>
        <p:nvSpPr>
          <p:cNvPr id="17" name="Clone steps step 2"/>
          <p:cNvSpPr/>
          <p:nvPr/>
        </p:nvSpPr>
        <p:spPr>
          <a:xfrm>
            <a:off x="2487168" y="1783080"/>
            <a:ext cx="2139696"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GitHub Desktop:</a:t>
            </a:r>
            <a:br/>
            <a:r>
              <a:rPr sz="1200" b="1" lang="en-GB">
                <a:solidFill>
                  <a:schemeClr val="tx2"/>
                </a:solidFill>
              </a:rPr>
              <a:t>Clone repository</a:t>
            </a:r>
          </a:p>
        </p:txBody>
      </p:sp>
      <p:sp>
        <p:nvSpPr>
          <p:cNvPr id="18" name="Clone steps step 3"/>
          <p:cNvSpPr/>
          <p:nvPr/>
        </p:nvSpPr>
        <p:spPr>
          <a:xfrm>
            <a:off x="4517136" y="1783080"/>
            <a:ext cx="2139696"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Pick a folder</a:t>
            </a:r>
            <a:br/>
            <a:r>
              <a:rPr sz="1200" b="1" lang="en-GB">
                <a:solidFill>
                  <a:schemeClr val="tx2"/>
                </a:solidFill>
              </a:rPr>
              <a:t>without spaces</a:t>
            </a:r>
          </a:p>
        </p:txBody>
      </p:sp>
      <p:sp>
        <p:nvSpPr>
          <p:cNvPr id="19" name="Clone steps step 4"/>
          <p:cNvSpPr/>
          <p:nvPr/>
        </p:nvSpPr>
        <p:spPr>
          <a:xfrm>
            <a:off x="6547104" y="1783080"/>
            <a:ext cx="2139696"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Positron:</a:t>
            </a:r>
            <a:br/>
            <a:r>
              <a:rPr sz="1200" b="1" lang="en-GB">
                <a:solidFill>
                  <a:schemeClr val="tx2"/>
                </a:solidFill>
              </a:rPr>
              <a:t>Open Folder</a:t>
            </a:r>
          </a:p>
        </p:txBody>
      </p:sp>
      <p:sp>
        <p:nvSpPr>
          <p:cNvPr id="20" name="Repo URL code caption bar"/>
          <p:cNvSpPr/>
          <p:nvPr/>
        </p:nvSpPr>
        <p:spPr>
          <a:xfrm>
            <a:off x="457200" y="2514600"/>
            <a:ext cx="40233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po URL code caption"/>
          <p:cNvSpPr txBox="1"/>
          <p:nvPr/>
        </p:nvSpPr>
        <p:spPr>
          <a:xfrm>
            <a:off x="566928" y="2514600"/>
            <a:ext cx="38039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Course repository (public)</a:t>
            </a:r>
          </a:p>
        </p:txBody>
      </p:sp>
      <p:sp>
        <p:nvSpPr>
          <p:cNvPr id="22" name="Repo URL code box"/>
          <p:cNvSpPr/>
          <p:nvPr/>
        </p:nvSpPr>
        <p:spPr>
          <a:xfrm>
            <a:off x="457200" y="2788920"/>
            <a:ext cx="402336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po URL code code"/>
          <p:cNvSpPr txBox="1"/>
          <p:nvPr/>
        </p:nvSpPr>
        <p:spPr>
          <a:xfrm>
            <a:off x="594360" y="2880360"/>
            <a:ext cx="3749040" cy="50292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https://github.com/arnefloh-wu/</a:t>
            </a:r>
          </a:p>
          <a:p>
            <a:pPr algn="l">
              <a:spcAft>
                <a:spcPts val="0"/>
              </a:spcAft>
            </a:pPr>
            <a:r>
              <a:rPr sz="1050" b="0" lang="en-GB">
                <a:solidFill>
                  <a:schemeClr val="bg1"/>
                </a:solidFill>
                <a:latin typeface="Consolas"/>
              </a:rPr>
              <a:t>  international-marketing-analytics-teaching</a:t>
            </a:r>
          </a:p>
        </p:txBody>
      </p:sp>
      <p:sp>
        <p:nvSpPr>
          <p:cNvPr id="24" name="Folder note"/>
          <p:cNvSpPr txBox="1"/>
          <p:nvPr/>
        </p:nvSpPr>
        <p:spPr>
          <a:xfrm>
            <a:off x="457200" y="3566160"/>
            <a:ext cx="4023360" cy="777240"/>
          </a:xfrm>
          <a:prstGeom prst="rect">
            <a:avLst/>
          </a:prstGeom>
          <a:noFill/>
        </p:spPr>
        <p:txBody>
          <a:bodyPr wrap="square" lIns="0" rIns="0" tIns="0" bIns="0" anchor="t">
            <a:noAutofit/>
          </a:bodyPr>
          <a:lstStyle/>
          <a:p>
            <a:pPr algn="l">
              <a:spcAft>
                <a:spcPts val="400"/>
              </a:spcAft>
            </a:pPr>
            <a:r>
              <a:rPr sz="1200" b="1" lang="en-GB">
                <a:solidFill>
                  <a:schemeClr val="tx2"/>
                </a:solidFill>
              </a:rPr>
              <a:t>Folder: </a:t>
            </a:r>
            <a:r>
              <a:rPr sz="1200" b="0" lang="en-GB">
                <a:solidFill>
                  <a:schemeClr val="tx1"/>
                </a:solidFill>
              </a:rPr>
              <a:t>e.g. C:\Users\anna\wu\ima or ~/wu/ima. Avoid spaces, umlauts and OneDrive or iCloud folders.</a:t>
            </a:r>
          </a:p>
        </p:txBody>
      </p:sp>
      <p:sp>
        <p:nvSpPr>
          <p:cNvPr id="25" name="Git word 1"/>
          <p:cNvSpPr/>
          <p:nvPr/>
        </p:nvSpPr>
        <p:spPr>
          <a:xfrm>
            <a:off x="4663440" y="2514600"/>
            <a:ext cx="402336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Git word bar 1"/>
          <p:cNvSpPr/>
          <p:nvPr/>
        </p:nvSpPr>
        <p:spPr>
          <a:xfrm>
            <a:off x="4663440" y="2514600"/>
            <a:ext cx="64008" cy="5303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Git word text 1"/>
          <p:cNvSpPr txBox="1"/>
          <p:nvPr/>
        </p:nvSpPr>
        <p:spPr>
          <a:xfrm>
            <a:off x="4864608" y="2514600"/>
            <a:ext cx="3730752" cy="530352"/>
          </a:xfrm>
          <a:prstGeom prst="rect">
            <a:avLst/>
          </a:prstGeom>
          <a:noFill/>
        </p:spPr>
        <p:txBody>
          <a:bodyPr wrap="square" lIns="0" rIns="0" tIns="0" bIns="0" anchor="ctr">
            <a:noAutofit/>
          </a:bodyPr>
          <a:lstStyle/>
          <a:p>
            <a:pPr algn="l">
              <a:spcAft>
                <a:spcPts val="400"/>
              </a:spcAft>
            </a:pPr>
            <a:r>
              <a:rPr sz="1200" b="1" lang="en-GB">
                <a:solidFill>
                  <a:schemeClr val="tx2"/>
                </a:solidFill>
              </a:rPr>
              <a:t>Clone: </a:t>
            </a:r>
            <a:r>
              <a:rPr sz="1200" b="0" lang="en-GB">
                <a:solidFill>
                  <a:schemeClr val="tx1"/>
                </a:solidFill>
              </a:rPr>
              <a:t>your own copy of a repository; a public one needs no sign-in</a:t>
            </a:r>
          </a:p>
        </p:txBody>
      </p:sp>
      <p:sp>
        <p:nvSpPr>
          <p:cNvPr id="28" name="Git word 2"/>
          <p:cNvSpPr/>
          <p:nvPr/>
        </p:nvSpPr>
        <p:spPr>
          <a:xfrm>
            <a:off x="4663440" y="3136392"/>
            <a:ext cx="402336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Git word bar 2"/>
          <p:cNvSpPr/>
          <p:nvPr/>
        </p:nvSpPr>
        <p:spPr>
          <a:xfrm>
            <a:off x="4663440" y="3136392"/>
            <a:ext cx="64008" cy="5303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Git word text 2"/>
          <p:cNvSpPr txBox="1"/>
          <p:nvPr/>
        </p:nvSpPr>
        <p:spPr>
          <a:xfrm>
            <a:off x="4864608" y="3136392"/>
            <a:ext cx="3730752" cy="530352"/>
          </a:xfrm>
          <a:prstGeom prst="rect">
            <a:avLst/>
          </a:prstGeom>
          <a:noFill/>
        </p:spPr>
        <p:txBody>
          <a:bodyPr wrap="square" lIns="0" rIns="0" tIns="0" bIns="0" anchor="ctr">
            <a:noAutofit/>
          </a:bodyPr>
          <a:lstStyle/>
          <a:p>
            <a:pPr algn="l">
              <a:spcAft>
                <a:spcPts val="400"/>
              </a:spcAft>
            </a:pPr>
            <a:r>
              <a:rPr sz="1200" b="1" lang="en-GB">
                <a:solidFill>
                  <a:schemeClr val="tx2"/>
                </a:solidFill>
              </a:rPr>
              <a:t>Pull: </a:t>
            </a:r>
            <a:r>
              <a:rPr sz="1200" b="0" lang="en-GB">
                <a:solidFill>
                  <a:schemeClr val="tx1"/>
                </a:solidFill>
              </a:rPr>
              <a:t>get the latest materials; do it before every session</a:t>
            </a:r>
          </a:p>
        </p:txBody>
      </p:sp>
      <p:sp>
        <p:nvSpPr>
          <p:cNvPr id="31" name="Git word 3"/>
          <p:cNvSpPr/>
          <p:nvPr/>
        </p:nvSpPr>
        <p:spPr>
          <a:xfrm>
            <a:off x="4663440" y="3758184"/>
            <a:ext cx="402336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Git word bar 3"/>
          <p:cNvSpPr/>
          <p:nvPr/>
        </p:nvSpPr>
        <p:spPr>
          <a:xfrm>
            <a:off x="4663440" y="3758184"/>
            <a:ext cx="64008" cy="5303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Git word text 3"/>
          <p:cNvSpPr txBox="1"/>
          <p:nvPr/>
        </p:nvSpPr>
        <p:spPr>
          <a:xfrm>
            <a:off x="4864608" y="3758184"/>
            <a:ext cx="3730752" cy="530352"/>
          </a:xfrm>
          <a:prstGeom prst="rect">
            <a:avLst/>
          </a:prstGeom>
          <a:noFill/>
        </p:spPr>
        <p:txBody>
          <a:bodyPr wrap="square" lIns="0" rIns="0" tIns="0" bIns="0" anchor="ctr">
            <a:noAutofit/>
          </a:bodyPr>
          <a:lstStyle/>
          <a:p>
            <a:pPr algn="l">
              <a:spcAft>
                <a:spcPts val="400"/>
              </a:spcAft>
            </a:pPr>
            <a:r>
              <a:rPr sz="1200" b="1" lang="en-GB">
                <a:solidFill>
                  <a:schemeClr val="tx2"/>
                </a:solidFill>
              </a:rPr>
              <a:t>Commit and push: </a:t>
            </a:r>
            <a:r>
              <a:rPr sz="1200" b="0" lang="en-GB">
                <a:solidFill>
                  <a:schemeClr val="tx1"/>
                </a:solidFill>
              </a:rPr>
              <a:t>optional: share work in a group repository</a:t>
            </a:r>
          </a:p>
        </p:txBody>
      </p:sp>
      <p:sp>
        <p:nvSpPr>
          <p:cNvPr id="34" name="Open folder box"/>
          <p:cNvSpPr/>
          <p:nvPr/>
        </p:nvSpPr>
        <p:spPr>
          <a:xfrm>
            <a:off x="457200" y="4480560"/>
            <a:ext cx="8229600" cy="594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Open folder" descr=""/>
          <p:cNvPicPr>
            <a:picLocks noChangeAspect="1"/>
          </p:cNvPicPr>
          <p:nvPr/>
        </p:nvPicPr>
        <p:blipFill>
          <a:blip r:embed="rId3"/>
          <a:stretch>
            <a:fillRect/>
          </a:stretch>
        </p:blipFill>
        <p:spPr>
          <a:xfrm>
            <a:off x="658368" y="4585716"/>
            <a:ext cx="384048" cy="384048"/>
          </a:xfrm>
          <a:prstGeom prst="rect">
            <a:avLst/>
          </a:prstGeom>
        </p:spPr>
      </p:pic>
      <p:sp>
        <p:nvSpPr>
          <p:cNvPr id="36" name="Open folder text"/>
          <p:cNvSpPr txBox="1"/>
          <p:nvPr/>
        </p:nvSpPr>
        <p:spPr>
          <a:xfrm>
            <a:off x="1234440" y="4480560"/>
            <a:ext cx="7269480" cy="594360"/>
          </a:xfrm>
          <a:prstGeom prst="rect">
            <a:avLst/>
          </a:prstGeom>
          <a:noFill/>
        </p:spPr>
        <p:txBody>
          <a:bodyPr wrap="square" lIns="0" rIns="0" tIns="0" bIns="0" anchor="ctr">
            <a:noAutofit/>
          </a:bodyPr>
          <a:lstStyle/>
          <a:p>
            <a:pPr algn="l">
              <a:spcAft>
                <a:spcPts val="400"/>
              </a:spcAft>
            </a:pPr>
            <a:r>
              <a:rPr sz="1300" b="1" lang="en-GB">
                <a:solidFill>
                  <a:schemeClr val="tx2"/>
                </a:solidFill>
              </a:rPr>
              <a:t>In Positron: </a:t>
            </a:r>
            <a:r>
              <a:rPr sz="1300" b="0" lang="en-GB">
                <a:solidFill>
                  <a:schemeClr val="tx1"/>
                </a:solidFill>
              </a:rPr>
              <a:t>File → Open Folder. The cloned folder is now your project.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4: set up the project's Python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Accounts</a:t>
            </a:r>
          </a:p>
        </p:txBody>
      </p:sp>
      <p:sp>
        <p:nvSpPr>
          <p:cNvPr id="11" name="Progress step 2"/>
          <p:cNvSpPr/>
          <p:nvPr/>
        </p:nvSpPr>
        <p:spPr>
          <a:xfrm>
            <a:off x="1810512"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Tools</a:t>
            </a:r>
          </a:p>
        </p:txBody>
      </p:sp>
      <p:sp>
        <p:nvSpPr>
          <p:cNvPr id="12" name="Progress step 3"/>
          <p:cNvSpPr/>
          <p:nvPr/>
        </p:nvSpPr>
        <p:spPr>
          <a:xfrm>
            <a:off x="3163824"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Repo</a:t>
            </a:r>
          </a:p>
        </p:txBody>
      </p:sp>
      <p:sp>
        <p:nvSpPr>
          <p:cNvPr id="13" name="Progress step 4"/>
          <p:cNvSpPr/>
          <p:nvPr/>
        </p:nvSpPr>
        <p:spPr>
          <a:xfrm>
            <a:off x="4517136" y="1188720"/>
            <a:ext cx="1463040" cy="384048"/>
          </a:xfrm>
          <a:prstGeom prst="chevron">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bg1"/>
                </a:solidFill>
              </a:rPr>
              <a:t>Project</a:t>
            </a:r>
          </a:p>
        </p:txBody>
      </p:sp>
      <p:sp>
        <p:nvSpPr>
          <p:cNvPr id="14" name="Progress step 5"/>
          <p:cNvSpPr/>
          <p:nvPr/>
        </p:nvSpPr>
        <p:spPr>
          <a:xfrm>
            <a:off x="5870448"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Check</a:t>
            </a:r>
          </a:p>
        </p:txBody>
      </p:sp>
      <p:sp>
        <p:nvSpPr>
          <p:cNvPr id="15" name="Progress step 6"/>
          <p:cNvSpPr/>
          <p:nvPr/>
        </p:nvSpPr>
        <p:spPr>
          <a:xfrm>
            <a:off x="7223760"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AI</a:t>
            </a:r>
          </a:p>
        </p:txBody>
      </p:sp>
      <p:sp>
        <p:nvSpPr>
          <p:cNvPr id="16" name="Env steps step 1"/>
          <p:cNvSpPr/>
          <p:nvPr/>
        </p:nvSpPr>
        <p:spPr>
          <a:xfrm>
            <a:off x="457200" y="1783080"/>
            <a:ext cx="1733702"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Create</a:t>
            </a:r>
            <a:br/>
            <a:r>
              <a:rPr sz="1200" b="1" lang="en-GB">
                <a:solidFill>
                  <a:schemeClr val="tx2"/>
                </a:solidFill>
              </a:rPr>
              <a:t>Environment</a:t>
            </a:r>
          </a:p>
        </p:txBody>
      </p:sp>
      <p:sp>
        <p:nvSpPr>
          <p:cNvPr id="17" name="Env steps step 2"/>
          <p:cNvSpPr/>
          <p:nvPr/>
        </p:nvSpPr>
        <p:spPr>
          <a:xfrm>
            <a:off x="2081174" y="178308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Venv</a:t>
            </a:r>
          </a:p>
        </p:txBody>
      </p:sp>
      <p:sp>
        <p:nvSpPr>
          <p:cNvPr id="18" name="Env steps step 3"/>
          <p:cNvSpPr/>
          <p:nvPr/>
        </p:nvSpPr>
        <p:spPr>
          <a:xfrm>
            <a:off x="3705149" y="178308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Python</a:t>
            </a:r>
            <a:br/>
            <a:r>
              <a:rPr sz="1200" b="1" lang="en-GB">
                <a:solidFill>
                  <a:schemeClr val="tx2"/>
                </a:solidFill>
              </a:rPr>
              <a:t>3.14.8</a:t>
            </a:r>
          </a:p>
        </p:txBody>
      </p:sp>
      <p:sp>
        <p:nvSpPr>
          <p:cNvPr id="19" name="Env steps step 4"/>
          <p:cNvSpPr/>
          <p:nvPr/>
        </p:nvSpPr>
        <p:spPr>
          <a:xfrm>
            <a:off x="5329123" y="178308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Install</a:t>
            </a:r>
            <a:br/>
            <a:r>
              <a:rPr sz="1200" b="1" lang="en-GB">
                <a:solidFill>
                  <a:schemeClr val="tx2"/>
                </a:solidFill>
              </a:rPr>
              <a:t>packages</a:t>
            </a:r>
          </a:p>
        </p:txBody>
      </p:sp>
      <p:sp>
        <p:nvSpPr>
          <p:cNvPr id="20" name="Env steps step 5"/>
          <p:cNvSpPr/>
          <p:nvPr/>
        </p:nvSpPr>
        <p:spPr>
          <a:xfrm>
            <a:off x="6953098" y="178308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.venv</a:t>
            </a:r>
            <a:br/>
            <a:r>
              <a:rPr sz="1200" b="1" lang="en-GB">
                <a:solidFill>
                  <a:schemeClr val="tx2"/>
                </a:solidFill>
              </a:rPr>
              <a:t>selected</a:t>
            </a:r>
          </a:p>
        </p:txBody>
      </p:sp>
      <p:sp>
        <p:nvSpPr>
          <p:cNvPr id="21" name="Env card body"/>
          <p:cNvSpPr/>
          <p:nvPr/>
        </p:nvSpPr>
        <p:spPr>
          <a:xfrm>
            <a:off x="457200" y="2926080"/>
            <a:ext cx="3931920" cy="1463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Env card header"/>
          <p:cNvSpPr/>
          <p:nvPr/>
        </p:nvSpPr>
        <p:spPr>
          <a:xfrm>
            <a:off x="457200" y="2514600"/>
            <a:ext cx="39319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Env card heading"/>
          <p:cNvSpPr txBox="1"/>
          <p:nvPr/>
        </p:nvSpPr>
        <p:spPr>
          <a:xfrm>
            <a:off x="594360" y="2514600"/>
            <a:ext cx="32461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Positron then</a:t>
            </a:r>
          </a:p>
        </p:txBody>
      </p:sp>
      <p:pic>
        <p:nvPicPr>
          <p:cNvPr id="24" name="Icon Env card" descr=""/>
          <p:cNvPicPr>
            <a:picLocks noChangeAspect="1"/>
          </p:cNvPicPr>
          <p:nvPr/>
        </p:nvPicPr>
        <p:blipFill>
          <a:blip r:embed="rId3"/>
          <a:stretch>
            <a:fillRect/>
          </a:stretch>
        </p:blipFill>
        <p:spPr>
          <a:xfrm>
            <a:off x="3950208" y="2564892"/>
            <a:ext cx="310896" cy="310896"/>
          </a:xfrm>
          <a:prstGeom prst="rect">
            <a:avLst/>
          </a:prstGeom>
        </p:spPr>
      </p:pic>
      <p:sp>
        <p:nvSpPr>
          <p:cNvPr id="25" name="Env card text"/>
          <p:cNvSpPr txBox="1"/>
          <p:nvPr/>
        </p:nvSpPr>
        <p:spPr>
          <a:xfrm>
            <a:off x="621792" y="3063240"/>
            <a:ext cx="3630168" cy="11887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Start: Command Palette → Python: Create Environment</a:t>
            </a:r>
          </a:p>
          <a:p>
            <a:pPr algn="l" marL="182880" indent="-182880">
              <a:spcAft>
                <a:spcPts val="600"/>
              </a:spcAft>
              <a:buClr>
                <a:schemeClr val="accent1"/>
              </a:buClr>
              <a:buFont typeface="Arial"/>
              <a:buChar char="▪"/>
            </a:pPr>
            <a:r>
              <a:rPr sz="1300" b="0" lang="en-GB">
                <a:solidFill>
                  <a:schemeClr val="tx1"/>
                </a:solidFill>
              </a:rPr>
              <a:t>Creates .venv inside the project</a:t>
            </a:r>
          </a:p>
          <a:p>
            <a:pPr algn="l" marL="182880" indent="-182880">
              <a:spcAft>
                <a:spcPts val="600"/>
              </a:spcAft>
              <a:buClr>
                <a:schemeClr val="accent1"/>
              </a:buClr>
              <a:buFont typeface="Arial"/>
              <a:buChar char="▪"/>
            </a:pPr>
            <a:r>
              <a:rPr sz="1300" b="0" lang="en-GB">
                <a:solidFill>
                  <a:schemeClr val="tx1"/>
                </a:solidFill>
              </a:rPr>
              <a:t>Installs all course packages</a:t>
            </a:r>
          </a:p>
          <a:p>
            <a:pPr algn="l" marL="182880" indent="-182880">
              <a:spcAft>
                <a:spcPts val="600"/>
              </a:spcAft>
              <a:buClr>
                <a:schemeClr val="accent1"/>
              </a:buClr>
              <a:buFont typeface="Arial"/>
              <a:buChar char="▪"/>
            </a:pPr>
            <a:r>
              <a:rPr sz="1300" b="0" lang="en-GB">
                <a:solidFill>
                  <a:schemeClr val="tx1"/>
                </a:solidFill>
              </a:rPr>
              <a:t>Starts Python from .venv</a:t>
            </a:r>
          </a:p>
        </p:txBody>
      </p:sp>
      <p:sp>
        <p:nvSpPr>
          <p:cNvPr id="26" name="Interpreter panel"/>
          <p:cNvSpPr/>
          <p:nvPr/>
        </p:nvSpPr>
        <p:spPr>
          <a:xfrm>
            <a:off x="4526280" y="2514600"/>
            <a:ext cx="4160520" cy="8686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Interpreter head"/>
          <p:cNvSpPr txBox="1"/>
          <p:nvPr/>
        </p:nvSpPr>
        <p:spPr>
          <a:xfrm>
            <a:off x="4663440" y="2514600"/>
            <a:ext cx="1463040" cy="868680"/>
          </a:xfrm>
          <a:prstGeom prst="rect">
            <a:avLst/>
          </a:prstGeom>
          <a:noFill/>
        </p:spPr>
        <p:txBody>
          <a:bodyPr wrap="square" lIns="0" rIns="0" tIns="0" bIns="0" anchor="ctr">
            <a:noAutofit/>
          </a:bodyPr>
          <a:lstStyle/>
          <a:p>
            <a:pPr algn="l">
              <a:spcAft>
                <a:spcPts val="0"/>
              </a:spcAft>
            </a:pPr>
            <a:r>
              <a:rPr sz="1200" b="1" lang="en-GB">
                <a:solidFill>
                  <a:schemeClr val="tx2"/>
                </a:solidFill>
              </a:rPr>
              <a:t>Interpreter picker</a:t>
            </a:r>
          </a:p>
          <a:p>
            <a:pPr algn="l">
              <a:spcAft>
                <a:spcPts val="0"/>
              </a:spcAft>
            </a:pPr>
            <a:r>
              <a:rPr sz="1100" b="0" lang="en-GB">
                <a:solidFill>
                  <a:schemeClr val="tx1"/>
                </a:solidFill>
              </a:rPr>
              <a:t>top right</a:t>
            </a:r>
          </a:p>
        </p:txBody>
      </p:sp>
      <p:sp>
        <p:nvSpPr>
          <p:cNvPr id="28" name="Interpreter pill"/>
          <p:cNvSpPr/>
          <p:nvPr/>
        </p:nvSpPr>
        <p:spPr>
          <a:xfrm>
            <a:off x="6080760" y="2761488"/>
            <a:ext cx="2468880" cy="384048"/>
          </a:xfrm>
          <a:prstGeom prst="roundRect">
            <a:avLst/>
          </a:prstGeom>
          <a:solidFill>
            <a:srgbClr val="FFFFFF"/>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Pill text"/>
          <p:cNvSpPr txBox="1"/>
          <p:nvPr/>
        </p:nvSpPr>
        <p:spPr>
          <a:xfrm>
            <a:off x="6144768" y="2761488"/>
            <a:ext cx="2377440" cy="384048"/>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Python 3.14.8 (.venv) ▾</a:t>
            </a:r>
          </a:p>
        </p:txBody>
      </p:sp>
      <p:sp>
        <p:nvSpPr>
          <p:cNvPr id="30" name="Env console caption bar"/>
          <p:cNvSpPr/>
          <p:nvPr/>
        </p:nvSpPr>
        <p:spPr>
          <a:xfrm>
            <a:off x="4526280" y="3520440"/>
            <a:ext cx="41605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Env console caption"/>
          <p:cNvSpPr txBox="1"/>
          <p:nvPr/>
        </p:nvSpPr>
        <p:spPr>
          <a:xfrm>
            <a:off x="4636008" y="3520440"/>
            <a:ext cx="39410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Packages missing? Positron console</a:t>
            </a:r>
          </a:p>
        </p:txBody>
      </p:sp>
      <p:sp>
        <p:nvSpPr>
          <p:cNvPr id="32" name="Env console box"/>
          <p:cNvSpPr/>
          <p:nvPr/>
        </p:nvSpPr>
        <p:spPr>
          <a:xfrm>
            <a:off x="4526280" y="3794760"/>
            <a:ext cx="416052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Env console code"/>
          <p:cNvSpPr txBox="1"/>
          <p:nvPr/>
        </p:nvSpPr>
        <p:spPr>
          <a:xfrm>
            <a:off x="4663440" y="3886200"/>
            <a:ext cx="3886200" cy="4114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%pip install -r requirements.txt</a:t>
            </a:r>
          </a:p>
        </p:txBody>
      </p:sp>
      <p:sp>
        <p:nvSpPr>
          <p:cNvPr id="34" name="Once note box"/>
          <p:cNvSpPr/>
          <p:nvPr/>
        </p:nvSpPr>
        <p:spPr>
          <a:xfrm>
            <a:off x="457200" y="452628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Once note" descr=""/>
          <p:cNvPicPr>
            <a:picLocks noChangeAspect="1"/>
          </p:cNvPicPr>
          <p:nvPr/>
        </p:nvPicPr>
        <p:blipFill>
          <a:blip r:embed="rId4"/>
          <a:stretch>
            <a:fillRect/>
          </a:stretch>
        </p:blipFill>
        <p:spPr>
          <a:xfrm>
            <a:off x="658368" y="4608576"/>
            <a:ext cx="384048" cy="384048"/>
          </a:xfrm>
          <a:prstGeom prst="rect">
            <a:avLst/>
          </a:prstGeom>
        </p:spPr>
      </p:pic>
      <p:sp>
        <p:nvSpPr>
          <p:cNvPr id="36" name="Once note text"/>
          <p:cNvSpPr txBox="1"/>
          <p:nvPr/>
        </p:nvSpPr>
        <p:spPr>
          <a:xfrm>
            <a:off x="1234440" y="4526280"/>
            <a:ext cx="726948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Once per project: </a:t>
            </a:r>
            <a:r>
              <a:rPr sz="1300" b="0" lang="en-GB">
                <a:solidFill>
                  <a:schemeClr val="tx1"/>
                </a:solidFill>
              </a:rPr>
              <a:t>Positron remembers the .venv and starts it whenever you open the folder.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5: run the check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Accounts</a:t>
            </a:r>
          </a:p>
        </p:txBody>
      </p:sp>
      <p:sp>
        <p:nvSpPr>
          <p:cNvPr id="11" name="Progress step 2"/>
          <p:cNvSpPr/>
          <p:nvPr/>
        </p:nvSpPr>
        <p:spPr>
          <a:xfrm>
            <a:off x="1810512"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Tools</a:t>
            </a:r>
          </a:p>
        </p:txBody>
      </p:sp>
      <p:sp>
        <p:nvSpPr>
          <p:cNvPr id="12" name="Progress step 3"/>
          <p:cNvSpPr/>
          <p:nvPr/>
        </p:nvSpPr>
        <p:spPr>
          <a:xfrm>
            <a:off x="3163824"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Repo</a:t>
            </a:r>
          </a:p>
        </p:txBody>
      </p:sp>
      <p:sp>
        <p:nvSpPr>
          <p:cNvPr id="13" name="Progress step 4"/>
          <p:cNvSpPr/>
          <p:nvPr/>
        </p:nvSpPr>
        <p:spPr>
          <a:xfrm>
            <a:off x="4517136"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Project</a:t>
            </a:r>
          </a:p>
        </p:txBody>
      </p:sp>
      <p:sp>
        <p:nvSpPr>
          <p:cNvPr id="14" name="Progress step 5"/>
          <p:cNvSpPr/>
          <p:nvPr/>
        </p:nvSpPr>
        <p:spPr>
          <a:xfrm>
            <a:off x="5870448" y="1188720"/>
            <a:ext cx="1463040" cy="384048"/>
          </a:xfrm>
          <a:prstGeom prst="chevron">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bg1"/>
                </a:solidFill>
              </a:rPr>
              <a:t>Check</a:t>
            </a:r>
          </a:p>
        </p:txBody>
      </p:sp>
      <p:sp>
        <p:nvSpPr>
          <p:cNvPr id="15" name="Progress step 6"/>
          <p:cNvSpPr/>
          <p:nvPr/>
        </p:nvSpPr>
        <p:spPr>
          <a:xfrm>
            <a:off x="7223760"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AI</a:t>
            </a:r>
          </a:p>
        </p:txBody>
      </p:sp>
      <p:sp>
        <p:nvSpPr>
          <p:cNvPr id="16" name="Check command caption bar"/>
          <p:cNvSpPr/>
          <p:nvPr/>
        </p:nvSpPr>
        <p:spPr>
          <a:xfrm>
            <a:off x="457200" y="1783080"/>
            <a:ext cx="82296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heck command caption"/>
          <p:cNvSpPr txBox="1"/>
          <p:nvPr/>
        </p:nvSpPr>
        <p:spPr>
          <a:xfrm>
            <a:off x="566928" y="1783080"/>
            <a:ext cx="80101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Positron console (Windows and macOS)</a:t>
            </a:r>
          </a:p>
        </p:txBody>
      </p:sp>
      <p:sp>
        <p:nvSpPr>
          <p:cNvPr id="18" name="Check command box"/>
          <p:cNvSpPr/>
          <p:nvPr/>
        </p:nvSpPr>
        <p:spPr>
          <a:xfrm>
            <a:off x="457200" y="205740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heck command code"/>
          <p:cNvSpPr txBox="1"/>
          <p:nvPr/>
        </p:nvSpPr>
        <p:spPr>
          <a:xfrm>
            <a:off x="594360" y="2148840"/>
            <a:ext cx="7955280" cy="22860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%run setup/check_setup.py</a:t>
            </a:r>
          </a:p>
        </p:txBody>
      </p:sp>
      <p:sp>
        <p:nvSpPr>
          <p:cNvPr id="20" name="Check output caption bar"/>
          <p:cNvSpPr/>
          <p:nvPr/>
        </p:nvSpPr>
        <p:spPr>
          <a:xfrm>
            <a:off x="457200" y="2606040"/>
            <a:ext cx="51206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heck output caption"/>
          <p:cNvSpPr txBox="1"/>
          <p:nvPr/>
        </p:nvSpPr>
        <p:spPr>
          <a:xfrm>
            <a:off x="566928" y="2606040"/>
            <a:ext cx="49011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Example output (shortened)</a:t>
            </a:r>
          </a:p>
        </p:txBody>
      </p:sp>
      <p:sp>
        <p:nvSpPr>
          <p:cNvPr id="22" name="Check output box"/>
          <p:cNvSpPr/>
          <p:nvPr/>
        </p:nvSpPr>
        <p:spPr>
          <a:xfrm>
            <a:off x="457200" y="2880360"/>
            <a:ext cx="5120640" cy="1645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heck output code"/>
          <p:cNvSpPr txBox="1"/>
          <p:nvPr/>
        </p:nvSpPr>
        <p:spPr>
          <a:xfrm>
            <a:off x="594360" y="2971800"/>
            <a:ext cx="4846320" cy="146304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Packages</a:t>
            </a:r>
          </a:p>
          <a:p>
            <a:pPr algn="l">
              <a:spcAft>
                <a:spcPts val="0"/>
              </a:spcAft>
            </a:pPr>
            <a:r>
              <a:rPr sz="1100" b="0" lang="en-GB">
                <a:solidFill>
                  <a:schemeClr val="bg1"/>
                </a:solidFill>
                <a:latin typeface="Consolas"/>
              </a:rPr>
              <a:t>  [ok] polars           1.44.2     data wrangling</a:t>
            </a:r>
          </a:p>
          <a:p>
            <a:pPr algn="l">
              <a:spcAft>
                <a:spcPts val="0"/>
              </a:spcAft>
            </a:pPr>
            <a:r>
              <a:rPr sz="1100" b="0" lang="en-GB">
                <a:solidFill>
                  <a:schemeClr val="bg1"/>
                </a:solidFill>
                <a:latin typeface="Consolas"/>
              </a:rPr>
              <a:t>  [ok] plotnine         0.15.8     charts</a:t>
            </a:r>
          </a:p>
          <a:p>
            <a:pPr algn="l">
              <a:spcAft>
                <a:spcPts val="0"/>
              </a:spcAft>
            </a:pPr>
            <a:r>
              <a:rPr sz="1100" b="0" lang="en-GB">
                <a:solidFill>
                  <a:schemeClr val="bg1"/>
                </a:solidFill>
                <a:latin typeface="Consolas"/>
              </a:rPr>
              <a:t>  [ok] great_tables     1.0.0      tables</a:t>
            </a:r>
          </a:p>
          <a:p>
            <a:pPr algn="l">
              <a:spcAft>
                <a:spcPts val="0"/>
              </a:spcAft>
            </a:pPr>
            <a:r>
              <a:rPr sz="1100" b="0" lang="en-GB">
                <a:solidFill>
                  <a:schemeClr val="bg1"/>
                </a:solidFill>
                <a:latin typeface="Consolas"/>
              </a:rPr>
              <a:t>  [ok] statsmodels      0.15.0     regression</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ready</a:t>
            </a:r>
          </a:p>
        </p:txBody>
      </p:sp>
      <p:sp>
        <p:nvSpPr>
          <p:cNvPr id="24" name="Check card body"/>
          <p:cNvSpPr/>
          <p:nvPr/>
        </p:nvSpPr>
        <p:spPr>
          <a:xfrm>
            <a:off x="5760720" y="3017520"/>
            <a:ext cx="292608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Check card header"/>
          <p:cNvSpPr/>
          <p:nvPr/>
        </p:nvSpPr>
        <p:spPr>
          <a:xfrm>
            <a:off x="5760720" y="2606040"/>
            <a:ext cx="29260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Check card heading"/>
          <p:cNvSpPr txBox="1"/>
          <p:nvPr/>
        </p:nvSpPr>
        <p:spPr>
          <a:xfrm>
            <a:off x="5897880" y="2606040"/>
            <a:ext cx="22402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Reading it</a:t>
            </a:r>
          </a:p>
        </p:txBody>
      </p:sp>
      <p:pic>
        <p:nvPicPr>
          <p:cNvPr id="27" name="Icon Check card" descr=""/>
          <p:cNvPicPr>
            <a:picLocks noChangeAspect="1"/>
          </p:cNvPicPr>
          <p:nvPr/>
        </p:nvPicPr>
        <p:blipFill>
          <a:blip r:embed="rId3"/>
          <a:stretch>
            <a:fillRect/>
          </a:stretch>
        </p:blipFill>
        <p:spPr>
          <a:xfrm>
            <a:off x="8247888" y="2656332"/>
            <a:ext cx="310896" cy="310896"/>
          </a:xfrm>
          <a:prstGeom prst="rect">
            <a:avLst/>
          </a:prstGeom>
        </p:spPr>
      </p:pic>
      <p:sp>
        <p:nvSpPr>
          <p:cNvPr id="28" name="Check card text"/>
          <p:cNvSpPr txBox="1"/>
          <p:nvPr/>
        </p:nvSpPr>
        <p:spPr>
          <a:xfrm>
            <a:off x="5925312" y="3154680"/>
            <a:ext cx="2624328" cy="12344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[ok]: in place</a:t>
            </a:r>
          </a:p>
          <a:p>
            <a:pPr algn="l" marL="182880" indent="-182880">
              <a:spcAft>
                <a:spcPts val="600"/>
              </a:spcAft>
              <a:buClr>
                <a:schemeClr val="accent1"/>
              </a:buClr>
              <a:buFont typeface="Arial"/>
              <a:buChar char="▪"/>
            </a:pPr>
            <a:r>
              <a:rPr sz="1300" b="0" lang="en-GB">
                <a:solidFill>
                  <a:schemeClr val="tx1"/>
                </a:solidFill>
              </a:rPr>
              <a:t>[!!]: the line says what to fix</a:t>
            </a:r>
          </a:p>
          <a:p>
            <a:pPr algn="l" marL="182880" indent="-182880">
              <a:spcAft>
                <a:spcPts val="600"/>
              </a:spcAft>
              <a:buClr>
                <a:schemeClr val="accent1"/>
              </a:buClr>
              <a:buFont typeface="Arial"/>
              <a:buChar char="▪"/>
            </a:pPr>
            <a:r>
              <a:rPr sz="1300" b="0" lang="en-GB">
                <a:solidFill>
                  <a:schemeClr val="tx1"/>
                </a:solidFill>
              </a:rPr>
              <a:t>Ends with “ready”: done</a:t>
            </a:r>
          </a:p>
        </p:txBody>
      </p:sp>
      <p:sp>
        <p:nvSpPr>
          <p:cNvPr id="29" name="Run button box"/>
          <p:cNvSpPr/>
          <p:nvPr/>
        </p:nvSpPr>
        <p:spPr>
          <a:xfrm>
            <a:off x="457200" y="461772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Icon Run button" descr=""/>
          <p:cNvPicPr>
            <a:picLocks noChangeAspect="1"/>
          </p:cNvPicPr>
          <p:nvPr/>
        </p:nvPicPr>
        <p:blipFill>
          <a:blip r:embed="rId4"/>
          <a:stretch>
            <a:fillRect/>
          </a:stretch>
        </p:blipFill>
        <p:spPr>
          <a:xfrm>
            <a:off x="658368" y="4654296"/>
            <a:ext cx="384048" cy="384048"/>
          </a:xfrm>
          <a:prstGeom prst="rect">
            <a:avLst/>
          </a:prstGeom>
        </p:spPr>
      </p:pic>
      <p:sp>
        <p:nvSpPr>
          <p:cNvPr id="31" name="Run button text"/>
          <p:cNvSpPr txBox="1"/>
          <p:nvPr/>
        </p:nvSpPr>
        <p:spPr>
          <a:xfrm>
            <a:off x="1234440" y="4617720"/>
            <a:ext cx="7269480" cy="457200"/>
          </a:xfrm>
          <a:prstGeom prst="rect">
            <a:avLst/>
          </a:prstGeom>
          <a:noFill/>
        </p:spPr>
        <p:txBody>
          <a:bodyPr wrap="square" lIns="0" rIns="0" tIns="0" bIns="0" anchor="ctr">
            <a:noAutofit/>
          </a:bodyPr>
          <a:lstStyle/>
          <a:p>
            <a:pPr algn="l">
              <a:spcAft>
                <a:spcPts val="400"/>
              </a:spcAft>
            </a:pPr>
            <a:r>
              <a:rPr sz="1300" b="1" lang="en-GB">
                <a:solidFill>
                  <a:schemeClr val="tx2"/>
                </a:solidFill>
              </a:rPr>
              <a:t>Next: </a:t>
            </a:r>
            <a:r>
              <a:rPr sz="1300" b="0" lang="en-GB">
                <a:solidFill>
                  <a:schemeClr val="tx1"/>
                </a:solidFill>
              </a:rPr>
              <a:t>the full test with test_stack.qmd (next slide).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5: test the whole stack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est install caption bar"/>
          <p:cNvSpPr/>
          <p:nvPr/>
        </p:nvSpPr>
        <p:spPr>
          <a:xfrm>
            <a:off x="457200" y="1234440"/>
            <a:ext cx="41148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st install caption"/>
          <p:cNvSpPr txBox="1"/>
          <p:nvPr/>
        </p:nvSpPr>
        <p:spPr>
          <a:xfrm>
            <a:off x="566928" y="1234440"/>
            <a:ext cx="38953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test_stack.qmd · cells 1 and 2</a:t>
            </a:r>
          </a:p>
        </p:txBody>
      </p:sp>
      <p:sp>
        <p:nvSpPr>
          <p:cNvPr id="12" name="Test install box"/>
          <p:cNvSpPr/>
          <p:nvPr/>
        </p:nvSpPr>
        <p:spPr>
          <a:xfrm>
            <a:off x="457200" y="1508760"/>
            <a:ext cx="4114800" cy="14173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st install code"/>
          <p:cNvSpPr txBox="1"/>
          <p:nvPr/>
        </p:nvSpPr>
        <p:spPr>
          <a:xfrm>
            <a:off x="594360" y="1600200"/>
            <a:ext cx="3840480" cy="123444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 1 Install: run once with Ctrl/Cmd + Enter</a:t>
            </a:r>
          </a:p>
          <a:p>
            <a:pPr algn="l">
              <a:spcAft>
                <a:spcPts val="0"/>
              </a:spcAft>
            </a:pPr>
            <a:r>
              <a:rPr sz="1000" b="0" lang="en-GB">
                <a:solidFill>
                  <a:schemeClr val="bg1"/>
                </a:solidFill>
                <a:latin typeface="Consolas"/>
              </a:rPr>
              <a:t>%pip install polars plotnine great-tables \</a:t>
            </a:r>
          </a:p>
          <a:p>
            <a:pPr algn="l">
              <a:spcAft>
                <a:spcPts val="0"/>
              </a:spcAft>
            </a:pPr>
            <a:r>
              <a:rPr sz="1000" b="0" lang="en-GB">
                <a:solidFill>
                  <a:schemeClr val="bg1"/>
                </a:solidFill>
                <a:latin typeface="Consolas"/>
              </a:rPr>
              <a:t>    statsmodels pyarrow jupyter</a:t>
            </a:r>
          </a:p>
          <a:p>
            <a:pPr algn="l">
              <a:spcAft>
                <a:spcPts val="0"/>
              </a:spcAft>
            </a:pPr>
            <a:r>
              <a:rPr sz="1000" b="0" lang="en-GB">
                <a:solidFill>
                  <a:schemeClr val="bg1"/>
                </a:solidFill>
                <a:latin typeface="Consolas"/>
              </a:rPr>
              <a:t># 2 Load</a:t>
            </a:r>
          </a:p>
          <a:p>
            <a:pPr algn="l">
              <a:spcAft>
                <a:spcPts val="0"/>
              </a:spcAft>
            </a:pPr>
            <a:r>
              <a:rPr sz="1000" b="0" lang="en-GB">
                <a:solidFill>
                  <a:schemeClr val="bg1"/>
                </a:solidFill>
                <a:latin typeface="Consolas"/>
              </a:rPr>
              <a:t>import polars as pl</a:t>
            </a:r>
          </a:p>
          <a:p>
            <a:pPr algn="l">
              <a:spcAft>
                <a:spcPts val="0"/>
              </a:spcAft>
            </a:pPr>
            <a:r>
              <a:rPr sz="1000" b="0" lang="en-GB">
                <a:solidFill>
                  <a:schemeClr val="bg1"/>
                </a:solidFill>
                <a:latin typeface="Consolas"/>
              </a:rPr>
              <a:t>import statsmodels.formula.api as smf</a:t>
            </a:r>
          </a:p>
          <a:p>
            <a:pPr algn="l">
              <a:spcAft>
                <a:spcPts val="0"/>
              </a:spcAft>
            </a:pPr>
            <a:r>
              <a:rPr sz="1000" b="0" lang="en-GB">
                <a:solidFill>
                  <a:schemeClr val="bg1"/>
                </a:solidFill>
                <a:latin typeface="Consolas"/>
              </a:rPr>
              <a:t>from great_tables import GT</a:t>
            </a:r>
          </a:p>
          <a:p>
            <a:pPr algn="l">
              <a:spcAft>
                <a:spcPts val="0"/>
              </a:spcAft>
            </a:pPr>
            <a:r>
              <a:rPr sz="1000" b="0" lang="en-GB">
                <a:solidFill>
                  <a:schemeClr val="bg1"/>
                </a:solidFill>
                <a:latin typeface="Consolas"/>
              </a:rPr>
              <a:t>from plotnine import ggplot, aes, geom_line</a:t>
            </a:r>
          </a:p>
        </p:txBody>
      </p:sp>
      <p:sp>
        <p:nvSpPr>
          <p:cNvPr id="14" name="Test polars caption bar"/>
          <p:cNvSpPr/>
          <p:nvPr/>
        </p:nvSpPr>
        <p:spPr>
          <a:xfrm>
            <a:off x="457200" y="3017520"/>
            <a:ext cx="41148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st polars caption"/>
          <p:cNvSpPr txBox="1"/>
          <p:nvPr/>
        </p:nvSpPr>
        <p:spPr>
          <a:xfrm>
            <a:off x="566928" y="3017520"/>
            <a:ext cx="38953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cells 3 and 4</a:t>
            </a:r>
          </a:p>
        </p:txBody>
      </p:sp>
      <p:sp>
        <p:nvSpPr>
          <p:cNvPr id="16" name="Test polars box"/>
          <p:cNvSpPr/>
          <p:nvPr/>
        </p:nvSpPr>
        <p:spPr>
          <a:xfrm>
            <a:off x="457200" y="3291840"/>
            <a:ext cx="4114800" cy="12801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st polars code"/>
          <p:cNvSpPr txBox="1"/>
          <p:nvPr/>
        </p:nvSpPr>
        <p:spPr>
          <a:xfrm>
            <a:off x="594360" y="3383280"/>
            <a:ext cx="3840480" cy="109728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 3-4 polars and great_tables</a:t>
            </a:r>
          </a:p>
          <a:p>
            <a:pPr algn="l">
              <a:spcAft>
                <a:spcPts val="0"/>
              </a:spcAft>
            </a:pPr>
            <a:r>
              <a:rPr sz="1000" b="0" lang="en-GB">
                <a:solidFill>
                  <a:schemeClr val="bg1"/>
                </a:solidFill>
                <a:latin typeface="Consolas"/>
              </a:rPr>
              <a:t>sales = pl.read_csv(URL, try_parse_dates=True)</a:t>
            </a:r>
          </a:p>
          <a:p>
            <a:pPr algn="l">
              <a:spcAft>
                <a:spcPts val="0"/>
              </a:spcAft>
            </a:pPr>
            <a:r>
              <a:rPr sz="1000" b="0" lang="en-GB">
                <a:solidFill>
                  <a:schemeClr val="bg1"/>
                </a:solidFill>
                <a:latin typeface="Consolas"/>
              </a:rPr>
              <a:t>summary = (sales</a:t>
            </a:r>
          </a:p>
          <a:p>
            <a:pPr algn="l">
              <a:spcAft>
                <a:spcPts val="0"/>
              </a:spcAft>
            </a:pPr>
            <a:r>
              <a:rPr sz="1000" b="0" lang="en-GB">
                <a:solidFill>
                  <a:schemeClr val="bg1"/>
                </a:solidFill>
                <a:latin typeface="Consolas"/>
              </a:rPr>
              <a:t>  .filter(pl.col("week").dt.year() == 2025)</a:t>
            </a:r>
          </a:p>
          <a:p>
            <a:pPr algn="l">
              <a:spcAft>
                <a:spcPts val="0"/>
              </a:spcAft>
            </a:pPr>
            <a:r>
              <a:rPr sz="1000" b="0" lang="en-GB">
                <a:solidFill>
                  <a:schemeClr val="bg1"/>
                </a:solidFill>
                <a:latin typeface="Consolas"/>
              </a:rPr>
              <a:t>  .group_by("country")</a:t>
            </a:r>
          </a:p>
          <a:p>
            <a:pPr algn="l">
              <a:spcAft>
                <a:spcPts val="0"/>
              </a:spcAft>
            </a:pPr>
            <a:r>
              <a:rPr sz="1000" b="0" lang="en-GB">
                <a:solidFill>
                  <a:schemeClr val="bg1"/>
                </a:solidFill>
                <a:latin typeface="Consolas"/>
              </a:rPr>
              <a:t>  .agg(pl.col("revenue_eur_k").sum()))</a:t>
            </a:r>
          </a:p>
          <a:p>
            <a:pPr algn="l">
              <a:spcAft>
                <a:spcPts val="0"/>
              </a:spcAft>
            </a:pPr>
            <a:r>
              <a:rPr sz="1000" b="0" lang="en-GB">
                <a:solidFill>
                  <a:schemeClr val="bg1"/>
                </a:solidFill>
                <a:latin typeface="Consolas"/>
              </a:rPr>
              <a:t>GT(summary)</a:t>
            </a:r>
          </a:p>
        </p:txBody>
      </p:sp>
      <p:sp>
        <p:nvSpPr>
          <p:cNvPr id="18" name="Test plotnine caption bar"/>
          <p:cNvSpPr/>
          <p:nvPr/>
        </p:nvSpPr>
        <p:spPr>
          <a:xfrm>
            <a:off x="4709160" y="1234440"/>
            <a:ext cx="39776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st plotnine caption"/>
          <p:cNvSpPr txBox="1"/>
          <p:nvPr/>
        </p:nvSpPr>
        <p:spPr>
          <a:xfrm>
            <a:off x="4818888" y="1234440"/>
            <a:ext cx="37581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cell 5</a:t>
            </a:r>
          </a:p>
        </p:txBody>
      </p:sp>
      <p:sp>
        <p:nvSpPr>
          <p:cNvPr id="20" name="Test plotnine box"/>
          <p:cNvSpPr/>
          <p:nvPr/>
        </p:nvSpPr>
        <p:spPr>
          <a:xfrm>
            <a:off x="4709160" y="1508760"/>
            <a:ext cx="3977640" cy="1143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st plotnine code"/>
          <p:cNvSpPr txBox="1"/>
          <p:nvPr/>
        </p:nvSpPr>
        <p:spPr>
          <a:xfrm>
            <a:off x="4846320" y="1600200"/>
            <a:ext cx="3703320" cy="96012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 5 plotnine: weekly sales, AT and DE</a:t>
            </a:r>
          </a:p>
          <a:p>
            <a:pPr algn="l">
              <a:spcAft>
                <a:spcPts val="0"/>
              </a:spcAft>
            </a:pPr>
            <a:r>
              <a:rPr sz="1000" b="0" lang="en-GB">
                <a:solidFill>
                  <a:schemeClr val="bg1"/>
                </a:solidFill>
                <a:latin typeface="Consolas"/>
              </a:rPr>
              <a:t>two = sales.filter(</a:t>
            </a:r>
          </a:p>
          <a:p>
            <a:pPr algn="l">
              <a:spcAft>
                <a:spcPts val="0"/>
              </a:spcAft>
            </a:pPr>
            <a:r>
              <a:rPr sz="1000" b="0" lang="en-GB">
                <a:solidFill>
                  <a:schemeClr val="bg1"/>
                </a:solidFill>
                <a:latin typeface="Consolas"/>
              </a:rPr>
              <a:t>    pl.col("country").is_in(["AT", "DE"]))</a:t>
            </a:r>
          </a:p>
          <a:p>
            <a:pPr algn="l">
              <a:spcAft>
                <a:spcPts val="0"/>
              </a:spcAft>
            </a:pPr>
            <a:r>
              <a:rPr sz="1000" b="0" lang="en-GB">
                <a:solidFill>
                  <a:schemeClr val="bg1"/>
                </a:solidFill>
                <a:latin typeface="Consolas"/>
              </a:rPr>
              <a:t>ggplot(two, aes("week", "sales_units_k",</a:t>
            </a:r>
          </a:p>
          <a:p>
            <a:pPr algn="l">
              <a:spcAft>
                <a:spcPts val="0"/>
              </a:spcAft>
            </a:pPr>
            <a:r>
              <a:rPr sz="1000" b="0" lang="en-GB">
                <a:solidFill>
                  <a:schemeClr val="bg1"/>
                </a:solidFill>
                <a:latin typeface="Consolas"/>
              </a:rPr>
              <a:t>                color="country")) + geom_line()</a:t>
            </a:r>
          </a:p>
        </p:txBody>
      </p:sp>
      <p:sp>
        <p:nvSpPr>
          <p:cNvPr id="22" name="Test statsmodels caption bar"/>
          <p:cNvSpPr/>
          <p:nvPr/>
        </p:nvSpPr>
        <p:spPr>
          <a:xfrm>
            <a:off x="4709160" y="2743200"/>
            <a:ext cx="39776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st statsmodels caption"/>
          <p:cNvSpPr txBox="1"/>
          <p:nvPr/>
        </p:nvSpPr>
        <p:spPr>
          <a:xfrm>
            <a:off x="4818888" y="2743200"/>
            <a:ext cx="37581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cell 6</a:t>
            </a:r>
          </a:p>
        </p:txBody>
      </p:sp>
      <p:sp>
        <p:nvSpPr>
          <p:cNvPr id="24" name="Test statsmodels box"/>
          <p:cNvSpPr/>
          <p:nvPr/>
        </p:nvSpPr>
        <p:spPr>
          <a:xfrm>
            <a:off x="4709160" y="3017520"/>
            <a:ext cx="3977640" cy="10972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st statsmodels code"/>
          <p:cNvSpPr txBox="1"/>
          <p:nvPr/>
        </p:nvSpPr>
        <p:spPr>
          <a:xfrm>
            <a:off x="4846320" y="3108960"/>
            <a:ext cx="3703320" cy="91440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 6 statsmodels: regression for Austria</a:t>
            </a:r>
          </a:p>
          <a:p>
            <a:pPr algn="l">
              <a:spcAft>
                <a:spcPts val="0"/>
              </a:spcAft>
            </a:pPr>
            <a:r>
              <a:rPr sz="1000" b="0" lang="en-GB">
                <a:solidFill>
                  <a:schemeClr val="bg1"/>
                </a:solidFill>
                <a:latin typeface="Consolas"/>
              </a:rPr>
              <a:t>at = sales.filter(</a:t>
            </a:r>
          </a:p>
          <a:p>
            <a:pPr algn="l">
              <a:spcAft>
                <a:spcPts val="0"/>
              </a:spcAft>
            </a:pPr>
            <a:r>
              <a:rPr sz="1000" b="0" lang="en-GB">
                <a:solidFill>
                  <a:schemeClr val="bg1"/>
                </a:solidFill>
                <a:latin typeface="Consolas"/>
              </a:rPr>
              <a:t>    pl.col("country") == "AT").to_pandas()</a:t>
            </a:r>
          </a:p>
          <a:p>
            <a:pPr algn="l">
              <a:spcAft>
                <a:spcPts val="0"/>
              </a:spcAft>
            </a:pPr>
            <a:r>
              <a:rPr sz="1000" b="0" lang="en-GB">
                <a:solidFill>
                  <a:schemeClr val="bg1"/>
                </a:solidFill>
                <a:latin typeface="Consolas"/>
              </a:rPr>
              <a:t>model = smf.ols("sales_units_k ~ price_eur"</a:t>
            </a:r>
          </a:p>
          <a:p>
            <a:pPr algn="l">
              <a:spcAft>
                <a:spcPts val="0"/>
              </a:spcAft>
            </a:pPr>
            <a:r>
              <a:rPr sz="1000" b="0" lang="en-GB">
                <a:solidFill>
                  <a:schemeClr val="bg1"/>
                </a:solidFill>
                <a:latin typeface="Consolas"/>
              </a:rPr>
              <a:t>    " + spend_tv_k + spend_paid_search_k",</a:t>
            </a:r>
          </a:p>
          <a:p>
            <a:pPr algn="l">
              <a:spcAft>
                <a:spcPts val="0"/>
              </a:spcAft>
            </a:pPr>
            <a:r>
              <a:rPr sz="1000" b="0" lang="en-GB">
                <a:solidFill>
                  <a:schemeClr val="bg1"/>
                </a:solidFill>
                <a:latin typeface="Consolas"/>
              </a:rPr>
              <a:t>    data=at).fit()</a:t>
            </a:r>
          </a:p>
        </p:txBody>
      </p:sp>
      <p:sp>
        <p:nvSpPr>
          <p:cNvPr id="26" name="Test result box"/>
          <p:cNvSpPr/>
          <p:nvPr/>
        </p:nvSpPr>
        <p:spPr>
          <a:xfrm>
            <a:off x="4709160" y="4206240"/>
            <a:ext cx="3977640"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st result"/>
          <p:cNvSpPr txBox="1"/>
          <p:nvPr/>
        </p:nvSpPr>
        <p:spPr>
          <a:xfrm>
            <a:off x="4846320" y="4206240"/>
            <a:ext cx="3794760"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Result: </a:t>
            </a:r>
            <a:r>
              <a:rPr sz="1200" b="0" lang="en-GB">
                <a:solidFill>
                  <a:schemeClr val="tx1"/>
                </a:solidFill>
              </a:rPr>
              <a:t>a table, a chart, the coefficients</a:t>
            </a:r>
          </a:p>
        </p:txBody>
      </p:sp>
      <p:sp>
        <p:nvSpPr>
          <p:cNvPr id="28" name="Test run box"/>
          <p:cNvSpPr/>
          <p:nvPr/>
        </p:nvSpPr>
        <p:spPr>
          <a:xfrm>
            <a:off x="457200" y="4663440"/>
            <a:ext cx="8229600"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Icon Test run" descr=""/>
          <p:cNvPicPr>
            <a:picLocks noChangeAspect="1"/>
          </p:cNvPicPr>
          <p:nvPr/>
        </p:nvPicPr>
        <p:blipFill>
          <a:blip r:embed="rId3"/>
          <a:stretch>
            <a:fillRect/>
          </a:stretch>
        </p:blipFill>
        <p:spPr>
          <a:xfrm>
            <a:off x="658368" y="4677156"/>
            <a:ext cx="384048" cy="384048"/>
          </a:xfrm>
          <a:prstGeom prst="rect">
            <a:avLst/>
          </a:prstGeom>
        </p:spPr>
      </p:pic>
      <p:sp>
        <p:nvSpPr>
          <p:cNvPr id="30" name="Test run text"/>
          <p:cNvSpPr txBox="1"/>
          <p:nvPr/>
        </p:nvSpPr>
        <p:spPr>
          <a:xfrm>
            <a:off x="1234440" y="4663440"/>
            <a:ext cx="7269480" cy="411480"/>
          </a:xfrm>
          <a:prstGeom prst="rect">
            <a:avLst/>
          </a:prstGeom>
          <a:noFill/>
        </p:spPr>
        <p:txBody>
          <a:bodyPr wrap="square" lIns="0" rIns="0" tIns="0" bIns="0" anchor="ctr">
            <a:noAutofit/>
          </a:bodyPr>
          <a:lstStyle/>
          <a:p>
            <a:pPr algn="l">
              <a:spcAft>
                <a:spcPts val="400"/>
              </a:spcAft>
            </a:pPr>
            <a:r>
              <a:rPr sz="1300" b="1" lang="en-GB">
                <a:solidFill>
                  <a:schemeClr val="tx2"/>
                </a:solidFill>
              </a:rPr>
              <a:t>Run it: </a:t>
            </a:r>
            <a:r>
              <a:rPr sz="1300" b="0" lang="en-GB">
                <a:solidFill>
                  <a:schemeClr val="tx1"/>
                </a:solidFill>
              </a:rPr>
              <a:t>cell 1 once with Ctrl/Cmd + Enter, then Preview (Ctrl/Cmd + Shift + 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6: connect your AI assistant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Accounts</a:t>
            </a:r>
          </a:p>
        </p:txBody>
      </p:sp>
      <p:sp>
        <p:nvSpPr>
          <p:cNvPr id="11" name="Progress step 2"/>
          <p:cNvSpPr/>
          <p:nvPr/>
        </p:nvSpPr>
        <p:spPr>
          <a:xfrm>
            <a:off x="1810512"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Tools</a:t>
            </a:r>
          </a:p>
        </p:txBody>
      </p:sp>
      <p:sp>
        <p:nvSpPr>
          <p:cNvPr id="12" name="Progress step 3"/>
          <p:cNvSpPr/>
          <p:nvPr/>
        </p:nvSpPr>
        <p:spPr>
          <a:xfrm>
            <a:off x="3163824"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Repo</a:t>
            </a:r>
          </a:p>
        </p:txBody>
      </p:sp>
      <p:sp>
        <p:nvSpPr>
          <p:cNvPr id="13" name="Progress step 4"/>
          <p:cNvSpPr/>
          <p:nvPr/>
        </p:nvSpPr>
        <p:spPr>
          <a:xfrm>
            <a:off x="4517136"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Project</a:t>
            </a:r>
          </a:p>
        </p:txBody>
      </p:sp>
      <p:sp>
        <p:nvSpPr>
          <p:cNvPr id="14" name="Progress step 5"/>
          <p:cNvSpPr/>
          <p:nvPr/>
        </p:nvSpPr>
        <p:spPr>
          <a:xfrm>
            <a:off x="5870448"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Check</a:t>
            </a:r>
          </a:p>
        </p:txBody>
      </p:sp>
      <p:sp>
        <p:nvSpPr>
          <p:cNvPr id="15" name="Progress step 6"/>
          <p:cNvSpPr/>
          <p:nvPr/>
        </p:nvSpPr>
        <p:spPr>
          <a:xfrm>
            <a:off x="7223760" y="1188720"/>
            <a:ext cx="1463040" cy="384048"/>
          </a:xfrm>
          <a:prstGeom prst="chevron">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bg1"/>
                </a:solidFill>
              </a:rPr>
              <a:t>AI</a:t>
            </a:r>
          </a:p>
        </p:txBody>
      </p:sp>
      <p:sp>
        <p:nvSpPr>
          <p:cNvPr id="16" name="AI steps row 1"/>
          <p:cNvSpPr/>
          <p:nvPr/>
        </p:nvSpPr>
        <p:spPr>
          <a:xfrm>
            <a:off x="457200" y="1783080"/>
            <a:ext cx="45720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AI steps number 1"/>
          <p:cNvSpPr/>
          <p:nvPr/>
        </p:nvSpPr>
        <p:spPr>
          <a:xfrm>
            <a:off x="594360" y="191109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8" name="AI steps text 1"/>
          <p:cNvSpPr txBox="1"/>
          <p:nvPr/>
        </p:nvSpPr>
        <p:spPr>
          <a:xfrm>
            <a:off x="1051560" y="1783080"/>
            <a:ext cx="3840480" cy="566928"/>
          </a:xfrm>
          <a:prstGeom prst="rect">
            <a:avLst/>
          </a:prstGeom>
          <a:noFill/>
        </p:spPr>
        <p:txBody>
          <a:bodyPr wrap="square" lIns="0" rIns="0" tIns="0" bIns="0" anchor="ctr">
            <a:noAutofit/>
          </a:bodyPr>
          <a:lstStyle/>
          <a:p>
            <a:pPr algn="l">
              <a:spcAft>
                <a:spcPts val="400"/>
              </a:spcAft>
            </a:pPr>
            <a:r>
              <a:rPr sz="1300" b="1" lang="en-GB">
                <a:solidFill>
                  <a:schemeClr val="tx2"/>
                </a:solidFill>
              </a:rPr>
              <a:t>Command Palette: </a:t>
            </a:r>
            <a:r>
              <a:rPr sz="1300" b="0" lang="en-GB">
                <a:solidFill>
                  <a:schemeClr val="tx1"/>
                </a:solidFill>
              </a:rPr>
              <a:t>Configure Language Model Providers</a:t>
            </a:r>
          </a:p>
        </p:txBody>
      </p:sp>
      <p:sp>
        <p:nvSpPr>
          <p:cNvPr id="19" name="AI steps row 2"/>
          <p:cNvSpPr/>
          <p:nvPr/>
        </p:nvSpPr>
        <p:spPr>
          <a:xfrm>
            <a:off x="457200" y="2441448"/>
            <a:ext cx="45720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AI steps number 2"/>
          <p:cNvSpPr/>
          <p:nvPr/>
        </p:nvSpPr>
        <p:spPr>
          <a:xfrm>
            <a:off x="594360" y="256946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21" name="AI steps text 2"/>
          <p:cNvSpPr txBox="1"/>
          <p:nvPr/>
        </p:nvSpPr>
        <p:spPr>
          <a:xfrm>
            <a:off x="1051560" y="2441448"/>
            <a:ext cx="3840480" cy="566928"/>
          </a:xfrm>
          <a:prstGeom prst="rect">
            <a:avLst/>
          </a:prstGeom>
          <a:noFill/>
        </p:spPr>
        <p:txBody>
          <a:bodyPr wrap="square" lIns="0" rIns="0" tIns="0" bIns="0" anchor="ctr">
            <a:noAutofit/>
          </a:bodyPr>
          <a:lstStyle/>
          <a:p>
            <a:pPr algn="l">
              <a:spcAft>
                <a:spcPts val="400"/>
              </a:spcAft>
            </a:pPr>
            <a:r>
              <a:rPr sz="1300" b="1" lang="en-GB">
                <a:solidFill>
                  <a:schemeClr val="tx2"/>
                </a:solidFill>
              </a:rPr>
              <a:t>Choose GitHub Copilot </a:t>
            </a:r>
            <a:r>
              <a:rPr sz="1300" b="0" lang="en-GB">
                <a:solidFill>
                  <a:schemeClr val="tx1"/>
                </a:solidFill>
              </a:rPr>
              <a:t>and sign in with GitHub</a:t>
            </a:r>
          </a:p>
        </p:txBody>
      </p:sp>
      <p:sp>
        <p:nvSpPr>
          <p:cNvPr id="22" name="AI steps row 3"/>
          <p:cNvSpPr/>
          <p:nvPr/>
        </p:nvSpPr>
        <p:spPr>
          <a:xfrm>
            <a:off x="457200" y="3099816"/>
            <a:ext cx="45720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AI steps number 3"/>
          <p:cNvSpPr/>
          <p:nvPr/>
        </p:nvSpPr>
        <p:spPr>
          <a:xfrm>
            <a:off x="594360" y="322783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4" name="AI steps text 3"/>
          <p:cNvSpPr txBox="1"/>
          <p:nvPr/>
        </p:nvSpPr>
        <p:spPr>
          <a:xfrm>
            <a:off x="1051560" y="3099816"/>
            <a:ext cx="3840480" cy="566928"/>
          </a:xfrm>
          <a:prstGeom prst="rect">
            <a:avLst/>
          </a:prstGeom>
          <a:noFill/>
        </p:spPr>
        <p:txBody>
          <a:bodyPr wrap="square" lIns="0" rIns="0" tIns="0" bIns="0" anchor="ctr">
            <a:noAutofit/>
          </a:bodyPr>
          <a:lstStyle/>
          <a:p>
            <a:pPr algn="l">
              <a:spcAft>
                <a:spcPts val="400"/>
              </a:spcAft>
            </a:pPr>
            <a:r>
              <a:rPr sz="1300" b="1" lang="en-GB">
                <a:solidFill>
                  <a:schemeClr val="tx2"/>
                </a:solidFill>
              </a:rPr>
              <a:t>Open the chat: </a:t>
            </a:r>
            <a:r>
              <a:rPr sz="1300" b="0" lang="en-GB">
                <a:solidFill>
                  <a:schemeClr val="tx1"/>
                </a:solidFill>
              </a:rPr>
              <a:t>View: Show Posit Assistant</a:t>
            </a:r>
          </a:p>
        </p:txBody>
      </p:sp>
      <p:sp>
        <p:nvSpPr>
          <p:cNvPr id="25" name="Options panel"/>
          <p:cNvSpPr/>
          <p:nvPr/>
        </p:nvSpPr>
        <p:spPr>
          <a:xfrm>
            <a:off x="5212080" y="1783080"/>
            <a:ext cx="3474720" cy="18836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ptions head"/>
          <p:cNvSpPr txBox="1"/>
          <p:nvPr/>
        </p:nvSpPr>
        <p:spPr>
          <a:xfrm>
            <a:off x="5394960" y="1828800"/>
            <a:ext cx="3108960" cy="320040"/>
          </a:xfrm>
          <a:prstGeom prst="rect">
            <a:avLst/>
          </a:prstGeom>
          <a:noFill/>
        </p:spPr>
        <p:txBody>
          <a:bodyPr wrap="square" lIns="0" rIns="0" tIns="0" bIns="0" anchor="t">
            <a:noAutofit/>
          </a:bodyPr>
          <a:lstStyle/>
          <a:p>
            <a:pPr algn="l">
              <a:spcAft>
                <a:spcPts val="400"/>
              </a:spcAft>
            </a:pPr>
            <a:r>
              <a:rPr sz="1300" b="1" lang="en-GB">
                <a:solidFill>
                  <a:schemeClr val="tx2"/>
                </a:solidFill>
              </a:rPr>
              <a:t>Providers</a:t>
            </a:r>
          </a:p>
        </p:txBody>
      </p:sp>
      <p:sp>
        <p:nvSpPr>
          <p:cNvPr id="27" name="Options text"/>
          <p:cNvSpPr txBox="1"/>
          <p:nvPr/>
        </p:nvSpPr>
        <p:spPr>
          <a:xfrm>
            <a:off x="5394960" y="2148840"/>
            <a:ext cx="3200400" cy="1463040"/>
          </a:xfrm>
          <a:prstGeom prst="rect">
            <a:avLst/>
          </a:prstGeom>
          <a:noFill/>
        </p:spPr>
        <p:txBody>
          <a:bodyPr wrap="square" lIns="0" rIns="0" tIns="0" bIns="0" anchor="t">
            <a:noAutofit/>
          </a:bodyPr>
          <a:lstStyle/>
          <a:p>
            <a:pPr algn="l">
              <a:spcAft>
                <a:spcPts val="400"/>
              </a:spcAft>
            </a:pPr>
            <a:r>
              <a:rPr sz="1200" b="1" lang="en-GB">
                <a:solidFill>
                  <a:schemeClr val="tx2"/>
                </a:solidFill>
              </a:rPr>
              <a:t>GitHub Copilot: </a:t>
            </a:r>
            <a:r>
              <a:rPr sz="1200" b="0" lang="en-GB">
                <a:solidFill>
                  <a:schemeClr val="tx1"/>
                </a:solidFill>
              </a:rPr>
              <a:t>chat and completions; free with Copilot Student or Copilot Free</a:t>
            </a:r>
          </a:p>
          <a:p>
            <a:pPr algn="l">
              <a:spcAft>
                <a:spcPts val="400"/>
              </a:spcAft>
            </a:pPr>
            <a:r>
              <a:rPr sz="1200" b="1" lang="en-GB">
                <a:solidFill>
                  <a:schemeClr val="tx2"/>
                </a:solidFill>
              </a:rPr>
              <a:t>Posit AI Pass: </a:t>
            </a:r>
            <a:r>
              <a:rPr sz="1200" b="0" lang="en-GB">
                <a:solidFill>
                  <a:schemeClr val="tx1"/>
                </a:solidFill>
              </a:rPr>
              <a:t>chat and completions; about USD 20 a month</a:t>
            </a:r>
          </a:p>
          <a:p>
            <a:pPr algn="l">
              <a:spcAft>
                <a:spcPts val="400"/>
              </a:spcAft>
            </a:pPr>
            <a:r>
              <a:rPr sz="1200" b="1" lang="en-GB">
                <a:solidFill>
                  <a:schemeClr val="tx2"/>
                </a:solidFill>
              </a:rPr>
              <a:t>Anthropic API key: </a:t>
            </a:r>
            <a:r>
              <a:rPr sz="1200" b="0" lang="en-GB">
                <a:solidFill>
                  <a:schemeClr val="tx1"/>
                </a:solidFill>
              </a:rPr>
              <a:t>chat; pay as you go</a:t>
            </a:r>
          </a:p>
        </p:txBody>
      </p:sp>
      <p:sp>
        <p:nvSpPr>
          <p:cNvPr id="28" name="AI rule box"/>
          <p:cNvSpPr/>
          <p:nvPr/>
        </p:nvSpPr>
        <p:spPr>
          <a:xfrm>
            <a:off x="457200" y="3886200"/>
            <a:ext cx="8229600" cy="10972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Icon AI rule" descr=""/>
          <p:cNvPicPr>
            <a:picLocks noChangeAspect="1"/>
          </p:cNvPicPr>
          <p:nvPr/>
        </p:nvPicPr>
        <p:blipFill>
          <a:blip r:embed="rId3"/>
          <a:stretch>
            <a:fillRect/>
          </a:stretch>
        </p:blipFill>
        <p:spPr>
          <a:xfrm>
            <a:off x="658368" y="4242816"/>
            <a:ext cx="384048" cy="384048"/>
          </a:xfrm>
          <a:prstGeom prst="rect">
            <a:avLst/>
          </a:prstGeom>
        </p:spPr>
      </p:pic>
      <p:sp>
        <p:nvSpPr>
          <p:cNvPr id="30" name="AI rule text"/>
          <p:cNvSpPr txBox="1"/>
          <p:nvPr/>
        </p:nvSpPr>
        <p:spPr>
          <a:xfrm>
            <a:off x="1234440" y="3886200"/>
            <a:ext cx="7269480" cy="1097280"/>
          </a:xfrm>
          <a:prstGeom prst="rect">
            <a:avLst/>
          </a:prstGeom>
          <a:noFill/>
        </p:spPr>
        <p:txBody>
          <a:bodyPr wrap="square" lIns="0" rIns="0" tIns="0" bIns="0" anchor="ctr">
            <a:noAutofit/>
          </a:bodyPr>
          <a:lstStyle/>
          <a:p>
            <a:pPr algn="l">
              <a:spcAft>
                <a:spcPts val="400"/>
              </a:spcAft>
            </a:pPr>
            <a:r>
              <a:rPr sz="1300" b="1" lang="en-GB">
                <a:solidFill>
                  <a:schemeClr val="bg1"/>
                </a:solidFill>
              </a:rPr>
              <a:t>Our rule: </a:t>
            </a:r>
            <a:r>
              <a:rPr sz="1300" b="0" lang="en-GB">
                <a:solidFill>
                  <a:schemeClr val="bg1"/>
                </a:solidFill>
              </a:rPr>
              <a:t>the AI writes, you check. Run the code, read the output and keep a short prompt log for each submission.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3 of 7 · panes, running code, projects, shortcuts, Posit Assistant, Claude</a:t>
            </a:r>
          </a:p>
        </p:txBody>
      </p:sp>
      <p:sp>
        <p:nvSpPr>
          <p:cNvPr id="3" name="Title 2"/>
          <p:cNvSpPr>
            <a:spLocks noGrp="1"/>
          </p:cNvSpPr>
          <p:nvPr>
            <p:ph type="ctrTitle"/>
          </p:nvPr>
        </p:nvSpPr>
        <p:spPr/>
        <p:txBody>
          <a:bodyPr/>
          <a:lstStyle/>
          <a:p>
            <a:r>
              <a:rPr sz="1600" lang="en-GB"/>
              <a:t>How Positron works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Positron at a glance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op Bar"/>
          <p:cNvSpPr/>
          <p:nvPr/>
        </p:nvSpPr>
        <p:spPr>
          <a:xfrm>
            <a:off x="457200" y="1234440"/>
            <a:ext cx="8229600" cy="329184"/>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op Bar left"/>
          <p:cNvSpPr txBox="1"/>
          <p:nvPr/>
        </p:nvSpPr>
        <p:spPr>
          <a:xfrm>
            <a:off x="594360" y="1234440"/>
            <a:ext cx="2743200" cy="329184"/>
          </a:xfrm>
          <a:prstGeom prst="rect">
            <a:avLst/>
          </a:prstGeom>
          <a:noFill/>
        </p:spPr>
        <p:txBody>
          <a:bodyPr wrap="square" lIns="0" rIns="0" tIns="0" bIns="0" anchor="ctr">
            <a:noAutofit/>
          </a:bodyPr>
          <a:lstStyle/>
          <a:p>
            <a:pPr algn="l">
              <a:spcAft>
                <a:spcPts val="400"/>
              </a:spcAft>
            </a:pPr>
            <a:r>
              <a:rPr sz="1100" b="0" lang="en-GB">
                <a:solidFill>
                  <a:schemeClr val="bg1"/>
                </a:solidFill>
              </a:rPr>
              <a:t>New ▾   Open ▾</a:t>
            </a:r>
          </a:p>
        </p:txBody>
      </p:sp>
      <p:sp>
        <p:nvSpPr>
          <p:cNvPr id="12" name="Project switcher"/>
          <p:cNvSpPr/>
          <p:nvPr/>
        </p:nvSpPr>
        <p:spPr>
          <a:xfrm>
            <a:off x="4572000" y="1271016"/>
            <a:ext cx="1508760" cy="256032"/>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roject switcher text"/>
          <p:cNvSpPr txBox="1"/>
          <p:nvPr/>
        </p:nvSpPr>
        <p:spPr>
          <a:xfrm>
            <a:off x="4617720" y="1271016"/>
            <a:ext cx="1417320" cy="256032"/>
          </a:xfrm>
          <a:prstGeom prst="rect">
            <a:avLst/>
          </a:prstGeom>
          <a:noFill/>
        </p:spPr>
        <p:txBody>
          <a:bodyPr wrap="square" lIns="0" rIns="0" tIns="0" bIns="0" anchor="ctr">
            <a:noAutofit/>
          </a:bodyPr>
          <a:lstStyle/>
          <a:p>
            <a:pPr algn="ctr">
              <a:spcAft>
                <a:spcPts val="400"/>
              </a:spcAft>
            </a:pPr>
            <a:r>
              <a:rPr sz="1050" b="0" lang="en-GB">
                <a:solidFill>
                  <a:schemeClr val="tx2"/>
                </a:solidFill>
              </a:rPr>
              <a:t>case-study ▾</a:t>
            </a:r>
          </a:p>
        </p:txBody>
      </p:sp>
      <p:sp>
        <p:nvSpPr>
          <p:cNvPr id="14" name="Window pill"/>
          <p:cNvSpPr/>
          <p:nvPr/>
        </p:nvSpPr>
        <p:spPr>
          <a:xfrm>
            <a:off x="6172200" y="1271016"/>
            <a:ext cx="2423160" cy="256032"/>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Window pill text"/>
          <p:cNvSpPr txBox="1"/>
          <p:nvPr/>
        </p:nvSpPr>
        <p:spPr>
          <a:xfrm>
            <a:off x="6217920" y="1271016"/>
            <a:ext cx="2331720" cy="256032"/>
          </a:xfrm>
          <a:prstGeom prst="rect">
            <a:avLst/>
          </a:prstGeom>
          <a:noFill/>
        </p:spPr>
        <p:txBody>
          <a:bodyPr wrap="square" lIns="0" rIns="0" tIns="0" bIns="0" anchor="ctr">
            <a:noAutofit/>
          </a:bodyPr>
          <a:lstStyle/>
          <a:p>
            <a:pPr algn="ctr">
              <a:spcAft>
                <a:spcPts val="400"/>
              </a:spcAft>
            </a:pPr>
            <a:r>
              <a:rPr sz="1050" b="0" lang="en-GB">
                <a:solidFill>
                  <a:schemeClr val="tx2"/>
                </a:solidFill>
                <a:latin typeface="Consolas"/>
              </a:rPr>
              <a:t>Python 3.14.8 (.venv) ▾</a:t>
            </a:r>
          </a:p>
        </p:txBody>
      </p:sp>
      <p:sp>
        <p:nvSpPr>
          <p:cNvPr id="16" name="Activity bar"/>
          <p:cNvSpPr/>
          <p:nvPr/>
        </p:nvSpPr>
        <p:spPr>
          <a:xfrm>
            <a:off x="457200" y="1563624"/>
            <a:ext cx="274320" cy="35112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ane Explorer"/>
          <p:cNvSpPr/>
          <p:nvPr/>
        </p:nvSpPr>
        <p:spPr>
          <a:xfrm>
            <a:off x="768096" y="1600200"/>
            <a:ext cx="1700784" cy="3474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Pane number 1"/>
          <p:cNvSpPr/>
          <p:nvPr/>
        </p:nvSpPr>
        <p:spPr>
          <a:xfrm>
            <a:off x="859536" y="1691640"/>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9" name="Pane text 1"/>
          <p:cNvSpPr txBox="1"/>
          <p:nvPr/>
        </p:nvSpPr>
        <p:spPr>
          <a:xfrm>
            <a:off x="1225296" y="1673352"/>
            <a:ext cx="1152144" cy="548640"/>
          </a:xfrm>
          <a:prstGeom prst="rect">
            <a:avLst/>
          </a:prstGeom>
          <a:noFill/>
        </p:spPr>
        <p:txBody>
          <a:bodyPr wrap="square" lIns="0" rIns="0" tIns="0" bIns="0" anchor="t">
            <a:noAutofit/>
          </a:bodyPr>
          <a:lstStyle/>
          <a:p>
            <a:pPr algn="l">
              <a:spcAft>
                <a:spcPts val="0"/>
              </a:spcAft>
            </a:pPr>
            <a:r>
              <a:rPr sz="1200" b="1" lang="en-GB">
                <a:solidFill>
                  <a:schemeClr val="tx2"/>
                </a:solidFill>
              </a:rPr>
              <a:t>Explorer</a:t>
            </a:r>
          </a:p>
          <a:p>
            <a:pPr algn="l">
              <a:spcAft>
                <a:spcPts val="0"/>
              </a:spcAft>
            </a:pPr>
            <a:r>
              <a:rPr sz="1100" b="0" lang="en-GB">
                <a:solidFill>
                  <a:schemeClr val="tx1"/>
                </a:solidFill>
              </a:rPr>
              <a:t>files of the open folder</a:t>
            </a:r>
          </a:p>
        </p:txBody>
      </p:sp>
      <p:sp>
        <p:nvSpPr>
          <p:cNvPr id="20" name="Pane sample 1"/>
          <p:cNvSpPr txBox="1"/>
          <p:nvPr/>
        </p:nvSpPr>
        <p:spPr>
          <a:xfrm>
            <a:off x="905256" y="2377440"/>
            <a:ext cx="1426464" cy="2606040"/>
          </a:xfrm>
          <a:prstGeom prst="rect">
            <a:avLst/>
          </a:prstGeom>
          <a:noFill/>
        </p:spPr>
        <p:txBody>
          <a:bodyPr wrap="square" lIns="0" rIns="0" tIns="0" bIns="0" anchor="t">
            <a:noAutofit/>
          </a:bodyPr>
          <a:lstStyle/>
          <a:p>
            <a:pPr algn="l">
              <a:spcAft>
                <a:spcPts val="0"/>
              </a:spcAft>
            </a:pPr>
            <a:r>
              <a:rPr sz="1100" b="0" lang="en-GB">
                <a:solidFill>
                  <a:schemeClr val="tx2"/>
                </a:solidFill>
                <a:latin typeface="Consolas"/>
              </a:rPr>
              <a:t>data/</a:t>
            </a:r>
          </a:p>
          <a:p>
            <a:pPr algn="l">
              <a:spcAft>
                <a:spcPts val="0"/>
              </a:spcAft>
            </a:pPr>
            <a:r>
              <a:rPr sz="1100" b="0" lang="en-GB">
                <a:solidFill>
                  <a:schemeClr val="tx2"/>
                </a:solidFill>
                <a:latin typeface="Consolas"/>
              </a:rPr>
              <a:t>analysis.py</a:t>
            </a:r>
          </a:p>
          <a:p>
            <a:pPr algn="l">
              <a:spcAft>
                <a:spcPts val="0"/>
              </a:spcAft>
            </a:pPr>
            <a:r>
              <a:rPr sz="1100" b="0" lang="en-GB">
                <a:solidFill>
                  <a:schemeClr val="tx2"/>
                </a:solidFill>
                <a:latin typeface="Consolas"/>
              </a:rPr>
              <a:t>report.qmd</a:t>
            </a:r>
          </a:p>
          <a:p>
            <a:pPr algn="l">
              <a:spcAft>
                <a:spcPts val="0"/>
              </a:spcAft>
            </a:pPr>
            <a:r>
              <a:rPr sz="1100" b="0" lang="en-GB">
                <a:solidFill>
                  <a:schemeClr val="tx2"/>
                </a:solidFill>
                <a:latin typeface="Consolas"/>
              </a:rPr>
              <a:t>requirements.txt</a:t>
            </a:r>
          </a:p>
        </p:txBody>
      </p:sp>
      <p:sp>
        <p:nvSpPr>
          <p:cNvPr id="21" name="Pane Editor"/>
          <p:cNvSpPr/>
          <p:nvPr/>
        </p:nvSpPr>
        <p:spPr>
          <a:xfrm>
            <a:off x="2505456" y="1600200"/>
            <a:ext cx="3529584" cy="19019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ane number 2"/>
          <p:cNvSpPr/>
          <p:nvPr/>
        </p:nvSpPr>
        <p:spPr>
          <a:xfrm>
            <a:off x="2596896" y="1691640"/>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23" name="Pane text 2"/>
          <p:cNvSpPr txBox="1"/>
          <p:nvPr/>
        </p:nvSpPr>
        <p:spPr>
          <a:xfrm>
            <a:off x="2962656" y="1673352"/>
            <a:ext cx="2980944" cy="548640"/>
          </a:xfrm>
          <a:prstGeom prst="rect">
            <a:avLst/>
          </a:prstGeom>
          <a:noFill/>
        </p:spPr>
        <p:txBody>
          <a:bodyPr wrap="square" lIns="0" rIns="0" tIns="0" bIns="0" anchor="t">
            <a:noAutofit/>
          </a:bodyPr>
          <a:lstStyle/>
          <a:p>
            <a:pPr algn="l">
              <a:spcAft>
                <a:spcPts val="0"/>
              </a:spcAft>
            </a:pPr>
            <a:r>
              <a:rPr sz="1200" b="1" lang="en-GB">
                <a:solidFill>
                  <a:schemeClr val="tx2"/>
                </a:solidFill>
              </a:rPr>
              <a:t>Editor</a:t>
            </a:r>
          </a:p>
          <a:p>
            <a:pPr algn="l">
              <a:spcAft>
                <a:spcPts val="0"/>
              </a:spcAft>
            </a:pPr>
            <a:r>
              <a:rPr sz="1100" b="0" lang="en-GB">
                <a:solidFill>
                  <a:schemeClr val="tx1"/>
                </a:solidFill>
              </a:rPr>
              <a:t>write .py and .qmd files</a:t>
            </a:r>
          </a:p>
        </p:txBody>
      </p:sp>
      <p:sp>
        <p:nvSpPr>
          <p:cNvPr id="24" name="Pane sample 2"/>
          <p:cNvSpPr txBox="1"/>
          <p:nvPr/>
        </p:nvSpPr>
        <p:spPr>
          <a:xfrm>
            <a:off x="2642616" y="2377440"/>
            <a:ext cx="3255264" cy="1033272"/>
          </a:xfrm>
          <a:prstGeom prst="rect">
            <a:avLst/>
          </a:prstGeom>
          <a:noFill/>
        </p:spPr>
        <p:txBody>
          <a:bodyPr wrap="square" lIns="0" rIns="0" tIns="0" bIns="0" anchor="t">
            <a:noAutofit/>
          </a:bodyPr>
          <a:lstStyle/>
          <a:p>
            <a:pPr algn="l">
              <a:spcAft>
                <a:spcPts val="0"/>
              </a:spcAft>
            </a:pPr>
            <a:r>
              <a:rPr sz="1100" b="0" lang="en-GB">
                <a:solidFill>
                  <a:schemeClr val="tx2"/>
                </a:solidFill>
                <a:latin typeface="Consolas"/>
              </a:rPr>
              <a:t># %%</a:t>
            </a:r>
          </a:p>
          <a:p>
            <a:pPr algn="l">
              <a:spcAft>
                <a:spcPts val="0"/>
              </a:spcAft>
            </a:pPr>
            <a:r>
              <a:rPr sz="1100" b="0" lang="en-GB">
                <a:solidFill>
                  <a:schemeClr val="tx2"/>
                </a:solidFill>
                <a:latin typeface="Consolas"/>
              </a:rPr>
              <a:t>sales = pl.read_csv(...)</a:t>
            </a:r>
          </a:p>
          <a:p>
            <a:pPr algn="l">
              <a:spcAft>
                <a:spcPts val="0"/>
              </a:spcAft>
            </a:pPr>
            <a:r>
              <a:rPr sz="1100" b="0" lang="en-GB">
                <a:solidFill>
                  <a:schemeClr val="tx2"/>
                </a:solidFill>
                <a:latin typeface="Consolas"/>
              </a:rPr>
              <a:t>sales.head()</a:t>
            </a:r>
          </a:p>
        </p:txBody>
      </p:sp>
      <p:sp>
        <p:nvSpPr>
          <p:cNvPr id="25" name="Pane Console and Terminal"/>
          <p:cNvSpPr/>
          <p:nvPr/>
        </p:nvSpPr>
        <p:spPr>
          <a:xfrm>
            <a:off x="2505456" y="3538728"/>
            <a:ext cx="3529584" cy="15361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Pane number 3"/>
          <p:cNvSpPr/>
          <p:nvPr/>
        </p:nvSpPr>
        <p:spPr>
          <a:xfrm>
            <a:off x="2596896" y="3630168"/>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7" name="Pane text 3"/>
          <p:cNvSpPr txBox="1"/>
          <p:nvPr/>
        </p:nvSpPr>
        <p:spPr>
          <a:xfrm>
            <a:off x="2962656" y="3611880"/>
            <a:ext cx="2980944" cy="548640"/>
          </a:xfrm>
          <a:prstGeom prst="rect">
            <a:avLst/>
          </a:prstGeom>
          <a:noFill/>
        </p:spPr>
        <p:txBody>
          <a:bodyPr wrap="square" lIns="0" rIns="0" tIns="0" bIns="0" anchor="t">
            <a:noAutofit/>
          </a:bodyPr>
          <a:lstStyle/>
          <a:p>
            <a:pPr algn="l">
              <a:spcAft>
                <a:spcPts val="0"/>
              </a:spcAft>
            </a:pPr>
            <a:r>
              <a:rPr sz="1200" b="1" lang="en-GB">
                <a:solidFill>
                  <a:schemeClr val="tx2"/>
                </a:solidFill>
              </a:rPr>
              <a:t>Console and Terminal</a:t>
            </a:r>
          </a:p>
          <a:p>
            <a:pPr algn="l">
              <a:spcAft>
                <a:spcPts val="0"/>
              </a:spcAft>
            </a:pPr>
            <a:r>
              <a:rPr sz="1100" b="0" lang="en-GB">
                <a:solidFill>
                  <a:schemeClr val="tx1"/>
                </a:solidFill>
              </a:rPr>
              <a:t>the Panel: code runs, results print</a:t>
            </a:r>
          </a:p>
        </p:txBody>
      </p:sp>
      <p:sp>
        <p:nvSpPr>
          <p:cNvPr id="28" name="Pane sample 3"/>
          <p:cNvSpPr txBox="1"/>
          <p:nvPr/>
        </p:nvSpPr>
        <p:spPr>
          <a:xfrm>
            <a:off x="2642616" y="4315968"/>
            <a:ext cx="3255264" cy="667512"/>
          </a:xfrm>
          <a:prstGeom prst="rect">
            <a:avLst/>
          </a:prstGeom>
          <a:noFill/>
        </p:spPr>
        <p:txBody>
          <a:bodyPr wrap="square" lIns="0" rIns="0" tIns="0" bIns="0" anchor="t">
            <a:noAutofit/>
          </a:bodyPr>
          <a:lstStyle/>
          <a:p>
            <a:pPr algn="l">
              <a:spcAft>
                <a:spcPts val="0"/>
              </a:spcAft>
            </a:pPr>
            <a:r>
              <a:rPr sz="1100" b="0" lang="en-GB">
                <a:solidFill>
                  <a:schemeClr val="tx2"/>
                </a:solidFill>
                <a:latin typeface="Consolas"/>
              </a:rPr>
              <a:t>&gt;&gt;&gt; sales.height</a:t>
            </a:r>
          </a:p>
          <a:p>
            <a:pPr algn="l">
              <a:spcAft>
                <a:spcPts val="0"/>
              </a:spcAft>
            </a:pPr>
            <a:r>
              <a:rPr sz="1100" b="0" lang="en-GB">
                <a:solidFill>
                  <a:schemeClr val="tx2"/>
                </a:solidFill>
                <a:latin typeface="Consolas"/>
              </a:rPr>
              <a:t>936</a:t>
            </a:r>
          </a:p>
        </p:txBody>
      </p:sp>
      <p:sp>
        <p:nvSpPr>
          <p:cNvPr id="29" name="Pane Variables"/>
          <p:cNvSpPr/>
          <p:nvPr/>
        </p:nvSpPr>
        <p:spPr>
          <a:xfrm>
            <a:off x="6071616" y="1600200"/>
            <a:ext cx="2615184" cy="158191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Pane number 4"/>
          <p:cNvSpPr/>
          <p:nvPr/>
        </p:nvSpPr>
        <p:spPr>
          <a:xfrm>
            <a:off x="6163056" y="1691640"/>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31" name="Pane text 4"/>
          <p:cNvSpPr txBox="1"/>
          <p:nvPr/>
        </p:nvSpPr>
        <p:spPr>
          <a:xfrm>
            <a:off x="6528816" y="1673352"/>
            <a:ext cx="2066544" cy="548640"/>
          </a:xfrm>
          <a:prstGeom prst="rect">
            <a:avLst/>
          </a:prstGeom>
          <a:noFill/>
        </p:spPr>
        <p:txBody>
          <a:bodyPr wrap="square" lIns="0" rIns="0" tIns="0" bIns="0" anchor="t">
            <a:noAutofit/>
          </a:bodyPr>
          <a:lstStyle/>
          <a:p>
            <a:pPr algn="l">
              <a:spcAft>
                <a:spcPts val="0"/>
              </a:spcAft>
            </a:pPr>
            <a:r>
              <a:rPr sz="1200" b="1" lang="en-GB">
                <a:solidFill>
                  <a:schemeClr val="tx2"/>
                </a:solidFill>
              </a:rPr>
              <a:t>Variables</a:t>
            </a:r>
          </a:p>
          <a:p>
            <a:pPr algn="l">
              <a:spcAft>
                <a:spcPts val="0"/>
              </a:spcAft>
            </a:pPr>
            <a:r>
              <a:rPr sz="1100" b="0" lang="en-GB">
                <a:solidFill>
                  <a:schemeClr val="tx1"/>
                </a:solidFill>
              </a:rPr>
              <a:t>Session pane: what is in memory</a:t>
            </a:r>
          </a:p>
        </p:txBody>
      </p:sp>
      <p:sp>
        <p:nvSpPr>
          <p:cNvPr id="32" name="Pane Plots"/>
          <p:cNvSpPr/>
          <p:nvPr/>
        </p:nvSpPr>
        <p:spPr>
          <a:xfrm>
            <a:off x="6071616" y="3218688"/>
            <a:ext cx="2615184" cy="1856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Pane number 5"/>
          <p:cNvSpPr/>
          <p:nvPr/>
        </p:nvSpPr>
        <p:spPr>
          <a:xfrm>
            <a:off x="6163056" y="3310128"/>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34" name="Pane text 5"/>
          <p:cNvSpPr txBox="1"/>
          <p:nvPr/>
        </p:nvSpPr>
        <p:spPr>
          <a:xfrm>
            <a:off x="6528816" y="3291840"/>
            <a:ext cx="2066544" cy="548640"/>
          </a:xfrm>
          <a:prstGeom prst="rect">
            <a:avLst/>
          </a:prstGeom>
          <a:noFill/>
        </p:spPr>
        <p:txBody>
          <a:bodyPr wrap="square" lIns="0" rIns="0" tIns="0" bIns="0" anchor="t">
            <a:noAutofit/>
          </a:bodyPr>
          <a:lstStyle/>
          <a:p>
            <a:pPr algn="l">
              <a:spcAft>
                <a:spcPts val="0"/>
              </a:spcAft>
            </a:pPr>
            <a:r>
              <a:rPr sz="1200" b="1" lang="en-GB">
                <a:solidFill>
                  <a:schemeClr val="tx2"/>
                </a:solidFill>
              </a:rPr>
              <a:t>Plots</a:t>
            </a:r>
          </a:p>
          <a:p>
            <a:pPr algn="l">
              <a:spcAft>
                <a:spcPts val="0"/>
              </a:spcAft>
            </a:pPr>
            <a:r>
              <a:rPr sz="1100" b="0" lang="en-GB">
                <a:solidFill>
                  <a:schemeClr val="tx1"/>
                </a:solidFill>
              </a:rPr>
              <a:t>Session pane: your charts</a:t>
            </a:r>
          </a:p>
        </p:txBody>
      </p:sp>
      <p:sp>
        <p:nvSpPr>
          <p:cNvPr id="35" name="Variable 1"/>
          <p:cNvSpPr txBox="1"/>
          <p:nvPr/>
        </p:nvSpPr>
        <p:spPr>
          <a:xfrm>
            <a:off x="6208776" y="2240280"/>
            <a:ext cx="2377440" cy="274320"/>
          </a:xfrm>
          <a:prstGeom prst="rect">
            <a:avLst/>
          </a:prstGeom>
          <a:noFill/>
        </p:spPr>
        <p:txBody>
          <a:bodyPr wrap="square" lIns="0" rIns="0" tIns="0" bIns="0" anchor="t">
            <a:noAutofit/>
          </a:bodyPr>
          <a:lstStyle/>
          <a:p>
            <a:pPr algn="l">
              <a:spcAft>
                <a:spcPts val="0"/>
              </a:spcAft>
            </a:pPr>
            <a:r>
              <a:rPr sz="1100" b="0" lang="en-GB">
                <a:solidFill>
                  <a:schemeClr val="tx2"/>
                </a:solidFill>
                <a:latin typeface="Consolas"/>
              </a:rPr>
              <a:t>sales</a:t>
            </a:r>
            <a:r>
              <a:rPr sz="1100" b="0" lang="en-GB">
                <a:solidFill>
                  <a:schemeClr val="tx1"/>
                </a:solidFill>
              </a:rPr>
              <a:t>   936 × 18</a:t>
            </a:r>
          </a:p>
        </p:txBody>
      </p:sp>
      <p:sp>
        <p:nvSpPr>
          <p:cNvPr id="36" name="Variable 2"/>
          <p:cNvSpPr txBox="1"/>
          <p:nvPr/>
        </p:nvSpPr>
        <p:spPr>
          <a:xfrm>
            <a:off x="6208776" y="2514600"/>
            <a:ext cx="2377440" cy="274320"/>
          </a:xfrm>
          <a:prstGeom prst="rect">
            <a:avLst/>
          </a:prstGeom>
          <a:noFill/>
        </p:spPr>
        <p:txBody>
          <a:bodyPr wrap="square" lIns="0" rIns="0" tIns="0" bIns="0" anchor="t">
            <a:noAutofit/>
          </a:bodyPr>
          <a:lstStyle/>
          <a:p>
            <a:pPr algn="l">
              <a:spcAft>
                <a:spcPts val="0"/>
              </a:spcAft>
            </a:pPr>
            <a:r>
              <a:rPr sz="1100" b="0" lang="en-GB">
                <a:solidFill>
                  <a:schemeClr val="tx2"/>
                </a:solidFill>
                <a:latin typeface="Consolas"/>
              </a:rPr>
              <a:t>summary</a:t>
            </a:r>
            <a:r>
              <a:rPr sz="1100" b="0" lang="en-GB">
                <a:solidFill>
                  <a:schemeClr val="tx1"/>
                </a:solidFill>
              </a:rPr>
              <a:t>   6 × 3</a:t>
            </a:r>
          </a:p>
        </p:txBody>
      </p:sp>
      <p:sp>
        <p:nvSpPr>
          <p:cNvPr id="37" name="Variable 3"/>
          <p:cNvSpPr txBox="1"/>
          <p:nvPr/>
        </p:nvSpPr>
        <p:spPr>
          <a:xfrm>
            <a:off x="6208776" y="2788920"/>
            <a:ext cx="2377440" cy="274320"/>
          </a:xfrm>
          <a:prstGeom prst="rect">
            <a:avLst/>
          </a:prstGeom>
          <a:noFill/>
        </p:spPr>
        <p:txBody>
          <a:bodyPr wrap="square" lIns="0" rIns="0" tIns="0" bIns="0" anchor="t">
            <a:noAutofit/>
          </a:bodyPr>
          <a:lstStyle/>
          <a:p>
            <a:pPr algn="l">
              <a:spcAft>
                <a:spcPts val="0"/>
              </a:spcAft>
            </a:pPr>
            <a:r>
              <a:rPr sz="1100" b="0" lang="en-GB">
                <a:solidFill>
                  <a:schemeClr val="tx2"/>
                </a:solidFill>
                <a:latin typeface="Consolas"/>
              </a:rPr>
              <a:t>model</a:t>
            </a:r>
            <a:r>
              <a:rPr sz="1100" b="0" lang="en-GB">
                <a:solidFill>
                  <a:schemeClr val="tx1"/>
                </a:solidFill>
              </a:rPr>
              <a:t>   OLS results</a:t>
            </a:r>
          </a:p>
        </p:txBody>
      </p:sp>
      <p:pic>
        <p:nvPicPr>
          <p:cNvPr id="38" name="Plot thumbnail" descr="Example line chart of weekly sales for Austria and Germany"/>
          <p:cNvPicPr>
            <a:picLocks noChangeAspect="1"/>
          </p:cNvPicPr>
          <p:nvPr/>
        </p:nvPicPr>
        <p:blipFill>
          <a:blip r:embed="rId3"/>
          <a:stretch>
            <a:fillRect/>
          </a:stretch>
        </p:blipFill>
        <p:spPr>
          <a:xfrm>
            <a:off x="6208776" y="3822192"/>
            <a:ext cx="2340864" cy="124843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From code to result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un steps step 1"/>
          <p:cNvSpPr/>
          <p:nvPr/>
        </p:nvSpPr>
        <p:spPr>
          <a:xfrm>
            <a:off x="457200" y="1234440"/>
            <a:ext cx="1733702"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Write code</a:t>
            </a:r>
            <a:br/>
            <a:r>
              <a:rPr sz="1200" b="1" lang="en-GB">
                <a:solidFill>
                  <a:schemeClr val="tx2"/>
                </a:solidFill>
              </a:rPr>
              <a:t>in the editor</a:t>
            </a:r>
          </a:p>
        </p:txBody>
      </p:sp>
      <p:sp>
        <p:nvSpPr>
          <p:cNvPr id="11" name="Run steps step 2"/>
          <p:cNvSpPr/>
          <p:nvPr/>
        </p:nvSpPr>
        <p:spPr>
          <a:xfrm>
            <a:off x="2081174"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Ctrl/Cmd</a:t>
            </a:r>
            <a:br/>
            <a:r>
              <a:rPr sz="1200" b="1" lang="en-GB">
                <a:solidFill>
                  <a:schemeClr val="tx2"/>
                </a:solidFill>
              </a:rPr>
              <a:t>+ Enter</a:t>
            </a:r>
          </a:p>
        </p:txBody>
      </p:sp>
      <p:sp>
        <p:nvSpPr>
          <p:cNvPr id="12" name="Run steps step 3"/>
          <p:cNvSpPr/>
          <p:nvPr/>
        </p:nvSpPr>
        <p:spPr>
          <a:xfrm>
            <a:off x="3705149"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It runs in</a:t>
            </a:r>
            <a:br/>
            <a:r>
              <a:rPr sz="1200" b="1" lang="en-GB">
                <a:solidFill>
                  <a:schemeClr val="tx2"/>
                </a:solidFill>
              </a:rPr>
              <a:t>the console</a:t>
            </a:r>
          </a:p>
        </p:txBody>
      </p:sp>
      <p:sp>
        <p:nvSpPr>
          <p:cNvPr id="13" name="Run steps step 4"/>
          <p:cNvSpPr/>
          <p:nvPr/>
        </p:nvSpPr>
        <p:spPr>
          <a:xfrm>
            <a:off x="5329123"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Objects in</a:t>
            </a:r>
            <a:br/>
            <a:r>
              <a:rPr sz="1200" b="1" lang="en-GB">
                <a:solidFill>
                  <a:schemeClr val="tx2"/>
                </a:solidFill>
              </a:rPr>
              <a:t>Variables</a:t>
            </a:r>
          </a:p>
        </p:txBody>
      </p:sp>
      <p:sp>
        <p:nvSpPr>
          <p:cNvPr id="14" name="Run steps step 5"/>
          <p:cNvSpPr/>
          <p:nvPr/>
        </p:nvSpPr>
        <p:spPr>
          <a:xfrm>
            <a:off x="6953098"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Charts in</a:t>
            </a:r>
            <a:br/>
            <a:r>
              <a:rPr sz="1200" b="1" lang="en-GB">
                <a:solidFill>
                  <a:schemeClr val="tx2"/>
                </a:solidFill>
              </a:rPr>
              <a:t>Plots</a:t>
            </a:r>
          </a:p>
        </p:txBody>
      </p:sp>
      <p:sp>
        <p:nvSpPr>
          <p:cNvPr id="15" name="Run card body"/>
          <p:cNvSpPr/>
          <p:nvPr/>
        </p:nvSpPr>
        <p:spPr>
          <a:xfrm>
            <a:off x="457200" y="2377440"/>
            <a:ext cx="4046220" cy="1691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un card header"/>
          <p:cNvSpPr/>
          <p:nvPr/>
        </p:nvSpPr>
        <p:spPr>
          <a:xfrm>
            <a:off x="457200" y="196596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un card heading"/>
          <p:cNvSpPr txBox="1"/>
          <p:nvPr/>
        </p:nvSpPr>
        <p:spPr>
          <a:xfrm>
            <a:off x="594360" y="196596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Run code</a:t>
            </a:r>
          </a:p>
        </p:txBody>
      </p:sp>
      <p:pic>
        <p:nvPicPr>
          <p:cNvPr id="18" name="Icon Run card" descr=""/>
          <p:cNvPicPr>
            <a:picLocks noChangeAspect="1"/>
          </p:cNvPicPr>
          <p:nvPr/>
        </p:nvPicPr>
        <p:blipFill>
          <a:blip r:embed="rId3"/>
          <a:stretch>
            <a:fillRect/>
          </a:stretch>
        </p:blipFill>
        <p:spPr>
          <a:xfrm>
            <a:off x="4064508" y="2016252"/>
            <a:ext cx="310896" cy="310896"/>
          </a:xfrm>
          <a:prstGeom prst="rect">
            <a:avLst/>
          </a:prstGeom>
        </p:spPr>
      </p:pic>
      <p:sp>
        <p:nvSpPr>
          <p:cNvPr id="19" name="Run card text"/>
          <p:cNvSpPr txBox="1"/>
          <p:nvPr/>
        </p:nvSpPr>
        <p:spPr>
          <a:xfrm>
            <a:off x="621792" y="2514600"/>
            <a:ext cx="3744468" cy="14173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Ctrl/Cmd + Enter: the selection or current statement</a:t>
            </a:r>
          </a:p>
          <a:p>
            <a:pPr algn="l" marL="182880" indent="-182880">
              <a:spcAft>
                <a:spcPts val="600"/>
              </a:spcAft>
              <a:buClr>
                <a:schemeClr val="accent1"/>
              </a:buClr>
              <a:buFont typeface="Arial"/>
              <a:buChar char="▪"/>
            </a:pPr>
            <a:r>
              <a:rPr sz="1300" b="0" lang="en-GB">
                <a:solidFill>
                  <a:schemeClr val="tx1"/>
                </a:solidFill>
              </a:rPr>
              <a:t>Ctrl/Cmd + Shift + Enter: the whole file, or the current cell</a:t>
            </a:r>
          </a:p>
          <a:p>
            <a:pPr algn="l" marL="182880" indent="-182880">
              <a:spcAft>
                <a:spcPts val="600"/>
              </a:spcAft>
              <a:buClr>
                <a:schemeClr val="accent1"/>
              </a:buClr>
              <a:buFont typeface="Arial"/>
              <a:buChar char="▪"/>
            </a:pPr>
            <a:r>
              <a:rPr sz="1300" b="0" lang="en-GB">
                <a:solidFill>
                  <a:schemeClr val="tx1"/>
                </a:solidFill>
              </a:rPr>
              <a:t># %% starts a cell in a .py file</a:t>
            </a:r>
          </a:p>
        </p:txBody>
      </p:sp>
      <p:sp>
        <p:nvSpPr>
          <p:cNvPr id="20" name="Results card body"/>
          <p:cNvSpPr/>
          <p:nvPr/>
        </p:nvSpPr>
        <p:spPr>
          <a:xfrm>
            <a:off x="4640580" y="2377440"/>
            <a:ext cx="4046220" cy="1691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sults card header"/>
          <p:cNvSpPr/>
          <p:nvPr/>
        </p:nvSpPr>
        <p:spPr>
          <a:xfrm>
            <a:off x="4640580" y="196596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sults card heading"/>
          <p:cNvSpPr txBox="1"/>
          <p:nvPr/>
        </p:nvSpPr>
        <p:spPr>
          <a:xfrm>
            <a:off x="4777740" y="196596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Look at results</a:t>
            </a:r>
          </a:p>
        </p:txBody>
      </p:sp>
      <p:pic>
        <p:nvPicPr>
          <p:cNvPr id="23" name="Icon Results card" descr=""/>
          <p:cNvPicPr>
            <a:picLocks noChangeAspect="1"/>
          </p:cNvPicPr>
          <p:nvPr/>
        </p:nvPicPr>
        <p:blipFill>
          <a:blip r:embed="rId4"/>
          <a:stretch>
            <a:fillRect/>
          </a:stretch>
        </p:blipFill>
        <p:spPr>
          <a:xfrm>
            <a:off x="8247888" y="2016252"/>
            <a:ext cx="310896" cy="310896"/>
          </a:xfrm>
          <a:prstGeom prst="rect">
            <a:avLst/>
          </a:prstGeom>
        </p:spPr>
      </p:pic>
      <p:sp>
        <p:nvSpPr>
          <p:cNvPr id="24" name="Results card text"/>
          <p:cNvSpPr txBox="1"/>
          <p:nvPr/>
        </p:nvSpPr>
        <p:spPr>
          <a:xfrm>
            <a:off x="4805172" y="2514600"/>
            <a:ext cx="3744468" cy="14173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Variables: every object, its type and size</a:t>
            </a:r>
          </a:p>
          <a:p>
            <a:pPr algn="l" marL="182880" indent="-182880">
              <a:spcAft>
                <a:spcPts val="600"/>
              </a:spcAft>
              <a:buClr>
                <a:schemeClr val="accent1"/>
              </a:buClr>
              <a:buFont typeface="Arial"/>
              <a:buChar char="▪"/>
            </a:pPr>
            <a:r>
              <a:rPr sz="1300" b="0" lang="en-GB">
                <a:solidFill>
                  <a:schemeClr val="tx1"/>
                </a:solidFill>
              </a:rPr>
              <a:t>Data Explorer: click a table, or type %view sales</a:t>
            </a:r>
          </a:p>
          <a:p>
            <a:pPr algn="l" marL="182880" indent="-182880">
              <a:spcAft>
                <a:spcPts val="600"/>
              </a:spcAft>
              <a:buClr>
                <a:schemeClr val="accent1"/>
              </a:buClr>
              <a:buFont typeface="Arial"/>
              <a:buChar char="▪"/>
            </a:pPr>
            <a:r>
              <a:rPr sz="1300" b="0" lang="en-GB">
                <a:solidFill>
                  <a:schemeClr val="tx1"/>
                </a:solidFill>
              </a:rPr>
              <a:t>Plots: earlier charts, zoom, save as PNG</a:t>
            </a:r>
          </a:p>
        </p:txBody>
      </p:sp>
      <p:sp>
        <p:nvSpPr>
          <p:cNvPr id="25" name="Console box"/>
          <p:cNvSpPr/>
          <p:nvPr/>
        </p:nvSpPr>
        <p:spPr>
          <a:xfrm>
            <a:off x="457200" y="4251960"/>
            <a:ext cx="8229600" cy="8229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Console" descr=""/>
          <p:cNvPicPr>
            <a:picLocks noChangeAspect="1"/>
          </p:cNvPicPr>
          <p:nvPr/>
        </p:nvPicPr>
        <p:blipFill>
          <a:blip r:embed="rId5"/>
          <a:stretch>
            <a:fillRect/>
          </a:stretch>
        </p:blipFill>
        <p:spPr>
          <a:xfrm>
            <a:off x="658368" y="4471416"/>
            <a:ext cx="384048" cy="384048"/>
          </a:xfrm>
          <a:prstGeom prst="rect">
            <a:avLst/>
          </a:prstGeom>
        </p:spPr>
      </p:pic>
      <p:sp>
        <p:nvSpPr>
          <p:cNvPr id="27" name="Console text"/>
          <p:cNvSpPr txBox="1"/>
          <p:nvPr/>
        </p:nvSpPr>
        <p:spPr>
          <a:xfrm>
            <a:off x="1234440" y="4251960"/>
            <a:ext cx="7269480" cy="822960"/>
          </a:xfrm>
          <a:prstGeom prst="rect">
            <a:avLst/>
          </a:prstGeom>
          <a:noFill/>
        </p:spPr>
        <p:txBody>
          <a:bodyPr wrap="square" lIns="0" rIns="0" tIns="0" bIns="0" anchor="ctr">
            <a:noAutofit/>
          </a:bodyPr>
          <a:lstStyle/>
          <a:p>
            <a:pPr algn="l">
              <a:spcAft>
                <a:spcPts val="400"/>
              </a:spcAft>
            </a:pPr>
            <a:r>
              <a:rPr sz="1300" b="1" lang="en-GB">
                <a:solidFill>
                  <a:schemeClr val="bg1"/>
                </a:solidFill>
              </a:rPr>
              <a:t>Console or terminal? </a:t>
            </a:r>
            <a:r>
              <a:rPr sz="1300" b="0" lang="en-GB">
                <a:solidFill>
                  <a:schemeClr val="bg1"/>
                </a:solidFill>
              </a:rPr>
              <a:t>The console speaks Python. The terminal speaks to your computer: pip, git and quarto commands go there.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Projects in Positron: one folder for everything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ject tre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roject tre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A project is a folder</a:t>
            </a:r>
          </a:p>
        </p:txBody>
      </p:sp>
      <p:sp>
        <p:nvSpPr>
          <p:cNvPr id="12" name="Project tree box"/>
          <p:cNvSpPr/>
          <p:nvPr/>
        </p:nvSpPr>
        <p:spPr>
          <a:xfrm>
            <a:off x="457200" y="1508760"/>
            <a:ext cx="4937760" cy="22402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roject tree code"/>
          <p:cNvSpPr txBox="1"/>
          <p:nvPr/>
        </p:nvSpPr>
        <p:spPr>
          <a:xfrm>
            <a:off x="594360" y="1600200"/>
            <a:ext cx="4663440" cy="205740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case-study/</a:t>
            </a:r>
          </a:p>
          <a:p>
            <a:pPr algn="l">
              <a:spcAft>
                <a:spcPts val="0"/>
              </a:spcAft>
            </a:pPr>
            <a:r>
              <a:rPr sz="1100" b="0" lang="en-GB">
                <a:solidFill>
                  <a:schemeClr val="bg1"/>
                </a:solidFill>
                <a:latin typeface="Consolas"/>
              </a:rPr>
              <a:t>├── .venv/            private Python + packages</a:t>
            </a:r>
          </a:p>
          <a:p>
            <a:pPr algn="l">
              <a:spcAft>
                <a:spcPts val="0"/>
              </a:spcAft>
            </a:pPr>
            <a:r>
              <a:rPr sz="1100" b="0" lang="en-GB">
                <a:solidFill>
                  <a:schemeClr val="bg1"/>
                </a:solidFill>
                <a:latin typeface="Consolas"/>
              </a:rPr>
              <a:t>├── .git/             version history</a:t>
            </a:r>
          </a:p>
          <a:p>
            <a:pPr algn="l">
              <a:spcAft>
                <a:spcPts val="0"/>
              </a:spcAft>
            </a:pPr>
            <a:r>
              <a:rPr sz="1100" b="0" lang="en-GB">
                <a:solidFill>
                  <a:schemeClr val="bg1"/>
                </a:solidFill>
                <a:latin typeface="Consolas"/>
              </a:rPr>
              <a:t>├── .gitignore        what Git leaves out</a:t>
            </a:r>
          </a:p>
          <a:p>
            <a:pPr algn="l">
              <a:spcAft>
                <a:spcPts val="0"/>
              </a:spcAft>
            </a:pPr>
            <a:r>
              <a:rPr sz="1100" b="0" lang="en-GB">
                <a:solidFill>
                  <a:schemeClr val="bg1"/>
                </a:solidFill>
                <a:latin typeface="Consolas"/>
              </a:rPr>
              <a:t>├── data/             raw data, never edit by hand</a:t>
            </a:r>
          </a:p>
          <a:p>
            <a:pPr algn="l">
              <a:spcAft>
                <a:spcPts val="0"/>
              </a:spcAft>
            </a:pPr>
            <a:r>
              <a:rPr sz="1100" b="0" lang="en-GB">
                <a:solidFill>
                  <a:schemeClr val="bg1"/>
                </a:solidFill>
                <a:latin typeface="Consolas"/>
              </a:rPr>
              <a:t>├── analysis.py       code, split into # %% cells</a:t>
            </a:r>
          </a:p>
          <a:p>
            <a:pPr algn="l">
              <a:spcAft>
                <a:spcPts val="0"/>
              </a:spcAft>
            </a:pPr>
            <a:r>
              <a:rPr sz="1100" b="0" lang="en-GB">
                <a:solidFill>
                  <a:schemeClr val="bg1"/>
                </a:solidFill>
                <a:latin typeface="Consolas"/>
              </a:rPr>
              <a:t>├── report.qmd        text, code and results</a:t>
            </a:r>
          </a:p>
          <a:p>
            <a:pPr algn="l">
              <a:spcAft>
                <a:spcPts val="0"/>
              </a:spcAft>
            </a:pPr>
            <a:r>
              <a:rPr sz="1100" b="0" lang="en-GB">
                <a:solidFill>
                  <a:schemeClr val="bg1"/>
                </a:solidFill>
                <a:latin typeface="Consolas"/>
              </a:rPr>
              <a:t>└── requirements.txt  packages and versions</a:t>
            </a:r>
          </a:p>
        </p:txBody>
      </p:sp>
      <p:sp>
        <p:nvSpPr>
          <p:cNvPr id="14" name="Project row 1"/>
          <p:cNvSpPr/>
          <p:nvPr/>
        </p:nvSpPr>
        <p:spPr>
          <a:xfrm>
            <a:off x="5577840" y="1234440"/>
            <a:ext cx="310896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Project bar 1"/>
          <p:cNvSpPr/>
          <p:nvPr/>
        </p:nvSpPr>
        <p:spPr>
          <a:xfrm>
            <a:off x="5577840" y="123444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Project text 1"/>
          <p:cNvSpPr txBox="1"/>
          <p:nvPr/>
        </p:nvSpPr>
        <p:spPr>
          <a:xfrm>
            <a:off x="5760720" y="1234440"/>
            <a:ext cx="2852928" cy="566928"/>
          </a:xfrm>
          <a:prstGeom prst="rect">
            <a:avLst/>
          </a:prstGeom>
          <a:noFill/>
        </p:spPr>
        <p:txBody>
          <a:bodyPr wrap="square" lIns="0" rIns="0" tIns="0" bIns="0" anchor="ctr">
            <a:noAutofit/>
          </a:bodyPr>
          <a:lstStyle/>
          <a:p>
            <a:pPr algn="l">
              <a:spcAft>
                <a:spcPts val="400"/>
              </a:spcAft>
            </a:pPr>
            <a:r>
              <a:rPr sz="1150" b="1" lang="en-GB">
                <a:solidFill>
                  <a:schemeClr val="tx2"/>
                </a:solidFill>
              </a:rPr>
              <a:t>Open the folder, </a:t>
            </a:r>
            <a:r>
              <a:rPr sz="1150" b="0" lang="en-GB">
                <a:solidFill>
                  <a:schemeClr val="tx1"/>
                </a:solidFill>
              </a:rPr>
              <a:t>not single files: File → Open Folder</a:t>
            </a:r>
          </a:p>
        </p:txBody>
      </p:sp>
      <p:sp>
        <p:nvSpPr>
          <p:cNvPr id="17" name="Project row 2"/>
          <p:cNvSpPr/>
          <p:nvPr/>
        </p:nvSpPr>
        <p:spPr>
          <a:xfrm>
            <a:off x="5577840" y="1883664"/>
            <a:ext cx="310896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Project bar 2"/>
          <p:cNvSpPr/>
          <p:nvPr/>
        </p:nvSpPr>
        <p:spPr>
          <a:xfrm>
            <a:off x="5577840" y="1883664"/>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Project text 2"/>
          <p:cNvSpPr txBox="1"/>
          <p:nvPr/>
        </p:nvSpPr>
        <p:spPr>
          <a:xfrm>
            <a:off x="5760720" y="1883664"/>
            <a:ext cx="2852928" cy="566928"/>
          </a:xfrm>
          <a:prstGeom prst="rect">
            <a:avLst/>
          </a:prstGeom>
          <a:noFill/>
        </p:spPr>
        <p:txBody>
          <a:bodyPr wrap="square" lIns="0" rIns="0" tIns="0" bIns="0" anchor="ctr">
            <a:noAutofit/>
          </a:bodyPr>
          <a:lstStyle/>
          <a:p>
            <a:pPr algn="l">
              <a:spcAft>
                <a:spcPts val="400"/>
              </a:spcAft>
            </a:pPr>
            <a:r>
              <a:rPr sz="1150" b="1" lang="en-GB">
                <a:solidFill>
                  <a:schemeClr val="tx2"/>
                </a:solidFill>
              </a:rPr>
              <a:t>Positron remembers </a:t>
            </a:r>
            <a:r>
              <a:rPr sz="1150" b="0" lang="en-GB">
                <a:solidFill>
                  <a:schemeClr val="tx1"/>
                </a:solidFill>
              </a:rPr>
              <a:t>the interpreter and open files per folder</a:t>
            </a:r>
          </a:p>
        </p:txBody>
      </p:sp>
      <p:sp>
        <p:nvSpPr>
          <p:cNvPr id="20" name="Project row 3"/>
          <p:cNvSpPr/>
          <p:nvPr/>
        </p:nvSpPr>
        <p:spPr>
          <a:xfrm>
            <a:off x="5577840" y="2532888"/>
            <a:ext cx="310896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Project bar 3"/>
          <p:cNvSpPr/>
          <p:nvPr/>
        </p:nvSpPr>
        <p:spPr>
          <a:xfrm>
            <a:off x="5577840" y="2532888"/>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roject text 3"/>
          <p:cNvSpPr txBox="1"/>
          <p:nvPr/>
        </p:nvSpPr>
        <p:spPr>
          <a:xfrm>
            <a:off x="5760720" y="2532888"/>
            <a:ext cx="2852928" cy="566928"/>
          </a:xfrm>
          <a:prstGeom prst="rect">
            <a:avLst/>
          </a:prstGeom>
          <a:noFill/>
        </p:spPr>
        <p:txBody>
          <a:bodyPr wrap="square" lIns="0" rIns="0" tIns="0" bIns="0" anchor="ctr">
            <a:noAutofit/>
          </a:bodyPr>
          <a:lstStyle/>
          <a:p>
            <a:pPr algn="l">
              <a:spcAft>
                <a:spcPts val="400"/>
              </a:spcAft>
            </a:pPr>
            <a:r>
              <a:rPr sz="1150" b="1" lang="en-GB">
                <a:solidFill>
                  <a:schemeClr val="tx2"/>
                </a:solidFill>
              </a:rPr>
              <a:t>Relative paths: </a:t>
            </a:r>
            <a:r>
              <a:rPr sz="1150" b="0" lang="en-GB">
                <a:solidFill>
                  <a:schemeClr val="tx1"/>
                </a:solidFill>
              </a:rPr>
              <a:t>data/sales.csv works on every laptop</a:t>
            </a:r>
          </a:p>
        </p:txBody>
      </p:sp>
      <p:sp>
        <p:nvSpPr>
          <p:cNvPr id="23" name="Project row 4"/>
          <p:cNvSpPr/>
          <p:nvPr/>
        </p:nvSpPr>
        <p:spPr>
          <a:xfrm>
            <a:off x="5577840" y="3182112"/>
            <a:ext cx="310896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roject bar 4"/>
          <p:cNvSpPr/>
          <p:nvPr/>
        </p:nvSpPr>
        <p:spPr>
          <a:xfrm>
            <a:off x="5577840" y="3182112"/>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Project text 4"/>
          <p:cNvSpPr txBox="1"/>
          <p:nvPr/>
        </p:nvSpPr>
        <p:spPr>
          <a:xfrm>
            <a:off x="5760720" y="3182112"/>
            <a:ext cx="2852928" cy="566928"/>
          </a:xfrm>
          <a:prstGeom prst="rect">
            <a:avLst/>
          </a:prstGeom>
          <a:noFill/>
        </p:spPr>
        <p:txBody>
          <a:bodyPr wrap="square" lIns="0" rIns="0" tIns="0" bIns="0" anchor="ctr">
            <a:noAutofit/>
          </a:bodyPr>
          <a:lstStyle/>
          <a:p>
            <a:pPr algn="l">
              <a:spcAft>
                <a:spcPts val="400"/>
              </a:spcAft>
            </a:pPr>
            <a:r>
              <a:rPr sz="1150" b="1" lang="en-GB">
                <a:solidFill>
                  <a:schemeClr val="tx2"/>
                </a:solidFill>
              </a:rPr>
              <a:t>Switch projects </a:t>
            </a:r>
            <a:r>
              <a:rPr sz="1150" b="0" lang="en-GB">
                <a:solidFill>
                  <a:schemeClr val="tx1"/>
                </a:solidFill>
              </a:rPr>
              <a:t>with the project switcher, top right</a:t>
            </a:r>
          </a:p>
        </p:txBody>
      </p:sp>
      <p:sp>
        <p:nvSpPr>
          <p:cNvPr id="26" name="Venv note box"/>
          <p:cNvSpPr/>
          <p:nvPr/>
        </p:nvSpPr>
        <p:spPr>
          <a:xfrm>
            <a:off x="457200" y="3931920"/>
            <a:ext cx="8229600" cy="1143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Venv note" descr=""/>
          <p:cNvPicPr>
            <a:picLocks noChangeAspect="1"/>
          </p:cNvPicPr>
          <p:nvPr/>
        </p:nvPicPr>
        <p:blipFill>
          <a:blip r:embed="rId3"/>
          <a:stretch>
            <a:fillRect/>
          </a:stretch>
        </p:blipFill>
        <p:spPr>
          <a:xfrm>
            <a:off x="658368" y="4311396"/>
            <a:ext cx="384048" cy="384048"/>
          </a:xfrm>
          <a:prstGeom prst="rect">
            <a:avLst/>
          </a:prstGeom>
        </p:spPr>
      </p:pic>
      <p:sp>
        <p:nvSpPr>
          <p:cNvPr id="28" name="Venv note text"/>
          <p:cNvSpPr txBox="1"/>
          <p:nvPr/>
        </p:nvSpPr>
        <p:spPr>
          <a:xfrm>
            <a:off x="1234440" y="3931920"/>
            <a:ext cx="7269480" cy="1143000"/>
          </a:xfrm>
          <a:prstGeom prst="rect">
            <a:avLst/>
          </a:prstGeom>
          <a:noFill/>
        </p:spPr>
        <p:txBody>
          <a:bodyPr wrap="square" lIns="0" rIns="0" tIns="0" bIns="0" anchor="ctr">
            <a:noAutofit/>
          </a:bodyPr>
          <a:lstStyle/>
          <a:p>
            <a:pPr algn="l">
              <a:spcAft>
                <a:spcPts val="400"/>
              </a:spcAft>
            </a:pPr>
            <a:r>
              <a:rPr sz="1300" b="1" lang="en-GB">
                <a:solidFill>
                  <a:schemeClr val="bg1"/>
                </a:solidFill>
              </a:rPr>
              <a:t>.venv stays on your laptop: </a:t>
            </a:r>
            <a:r>
              <a:rPr sz="1300" b="0" lang="en-GB">
                <a:solidFill>
                  <a:schemeClr val="bg1"/>
                </a:solidFill>
              </a:rPr>
              <a:t>.gitignore keeps it out of GitHub. requirements.txt travels instead, so your group rebuilds the same environment with one command.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Start a new project from a template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emplate steps step 1"/>
          <p:cNvSpPr/>
          <p:nvPr/>
        </p:nvSpPr>
        <p:spPr>
          <a:xfrm>
            <a:off x="457200" y="1234440"/>
            <a:ext cx="1733702"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New Folder</a:t>
            </a:r>
            <a:br/>
            <a:r>
              <a:rPr sz="1200" b="1" lang="en-GB">
                <a:solidFill>
                  <a:schemeClr val="tx2"/>
                </a:solidFill>
              </a:rPr>
              <a:t>from Template</a:t>
            </a:r>
          </a:p>
        </p:txBody>
      </p:sp>
      <p:sp>
        <p:nvSpPr>
          <p:cNvPr id="11" name="Template steps step 2"/>
          <p:cNvSpPr/>
          <p:nvPr/>
        </p:nvSpPr>
        <p:spPr>
          <a:xfrm>
            <a:off x="2081174"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Python</a:t>
            </a:r>
            <a:br/>
            <a:r>
              <a:rPr sz="1200" b="1" lang="en-GB">
                <a:solidFill>
                  <a:schemeClr val="tx2"/>
                </a:solidFill>
              </a:rPr>
              <a:t>Project</a:t>
            </a:r>
          </a:p>
        </p:txBody>
      </p:sp>
      <p:sp>
        <p:nvSpPr>
          <p:cNvPr id="12" name="Template steps step 3"/>
          <p:cNvSpPr/>
          <p:nvPr/>
        </p:nvSpPr>
        <p:spPr>
          <a:xfrm>
            <a:off x="3705149"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Name and</a:t>
            </a:r>
            <a:br/>
            <a:r>
              <a:rPr sz="1200" b="1" lang="en-GB">
                <a:solidFill>
                  <a:schemeClr val="tx2"/>
                </a:solidFill>
              </a:rPr>
              <a:t>location</a:t>
            </a:r>
          </a:p>
        </p:txBody>
      </p:sp>
      <p:sp>
        <p:nvSpPr>
          <p:cNvPr id="13" name="Template steps step 4"/>
          <p:cNvSpPr/>
          <p:nvPr/>
        </p:nvSpPr>
        <p:spPr>
          <a:xfrm>
            <a:off x="5329123"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Python 3.14</a:t>
            </a:r>
            <a:br/>
            <a:r>
              <a:rPr sz="1200" b="1" lang="en-GB">
                <a:solidFill>
                  <a:schemeClr val="tx2"/>
                </a:solidFill>
              </a:rPr>
              <a:t>+ venv</a:t>
            </a:r>
          </a:p>
        </p:txBody>
      </p:sp>
      <p:sp>
        <p:nvSpPr>
          <p:cNvPr id="14" name="Template steps step 5"/>
          <p:cNvSpPr/>
          <p:nvPr/>
        </p:nvSpPr>
        <p:spPr>
          <a:xfrm>
            <a:off x="6953098"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Create</a:t>
            </a:r>
          </a:p>
        </p:txBody>
      </p:sp>
      <p:sp>
        <p:nvSpPr>
          <p:cNvPr id="15" name="Template card body"/>
          <p:cNvSpPr/>
          <p:nvPr/>
        </p:nvSpPr>
        <p:spPr>
          <a:xfrm>
            <a:off x="457200" y="2377440"/>
            <a:ext cx="3931920" cy="1737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mplate card header"/>
          <p:cNvSpPr/>
          <p:nvPr/>
        </p:nvSpPr>
        <p:spPr>
          <a:xfrm>
            <a:off x="457200" y="1965960"/>
            <a:ext cx="39319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mplate card heading"/>
          <p:cNvSpPr txBox="1"/>
          <p:nvPr/>
        </p:nvSpPr>
        <p:spPr>
          <a:xfrm>
            <a:off x="594360" y="1965960"/>
            <a:ext cx="32461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Positron sets up</a:t>
            </a:r>
          </a:p>
        </p:txBody>
      </p:sp>
      <p:pic>
        <p:nvPicPr>
          <p:cNvPr id="18" name="Icon Template card" descr=""/>
          <p:cNvPicPr>
            <a:picLocks noChangeAspect="1"/>
          </p:cNvPicPr>
          <p:nvPr/>
        </p:nvPicPr>
        <p:blipFill>
          <a:blip r:embed="rId3"/>
          <a:stretch>
            <a:fillRect/>
          </a:stretch>
        </p:blipFill>
        <p:spPr>
          <a:xfrm>
            <a:off x="3950208" y="2016252"/>
            <a:ext cx="310896" cy="310896"/>
          </a:xfrm>
          <a:prstGeom prst="rect">
            <a:avLst/>
          </a:prstGeom>
        </p:spPr>
      </p:pic>
      <p:sp>
        <p:nvSpPr>
          <p:cNvPr id="19" name="Template card text"/>
          <p:cNvSpPr txBox="1"/>
          <p:nvPr/>
        </p:nvSpPr>
        <p:spPr>
          <a:xfrm>
            <a:off x="621792" y="2514600"/>
            <a:ext cx="3630168" cy="14630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The folder with a .venv inside</a:t>
            </a:r>
          </a:p>
          <a:p>
            <a:pPr algn="l" marL="182880" indent="-182880">
              <a:spcAft>
                <a:spcPts val="600"/>
              </a:spcAft>
              <a:buClr>
                <a:schemeClr val="accent1"/>
              </a:buClr>
              <a:buFont typeface="Arial"/>
              <a:buChar char="▪"/>
            </a:pPr>
            <a:r>
              <a:rPr sz="1300" b="0" lang="en-GB">
                <a:solidFill>
                  <a:schemeClr val="tx1"/>
                </a:solidFill>
              </a:rPr>
              <a:t>Git: .git and a .gitignore</a:t>
            </a:r>
          </a:p>
          <a:p>
            <a:pPr algn="l" marL="182880" indent="-182880">
              <a:spcAft>
                <a:spcPts val="600"/>
              </a:spcAft>
              <a:buClr>
                <a:schemeClr val="accent1"/>
              </a:buClr>
              <a:buFont typeface="Arial"/>
              <a:buChar char="▪"/>
            </a:pPr>
            <a:r>
              <a:rPr sz="1300" b="0" lang="en-GB">
                <a:solidFill>
                  <a:schemeClr val="tx1"/>
                </a:solidFill>
              </a:rPr>
              <a:t>A running Python session</a:t>
            </a:r>
          </a:p>
          <a:p>
            <a:pPr algn="l" marL="182880" indent="-182880">
              <a:spcAft>
                <a:spcPts val="600"/>
              </a:spcAft>
              <a:buClr>
                <a:schemeClr val="accent1"/>
              </a:buClr>
              <a:buFont typeface="Arial"/>
              <a:buChar char="▪"/>
            </a:pPr>
            <a:r>
              <a:rPr sz="1300" b="0" lang="en-GB">
                <a:solidFill>
                  <a:schemeClr val="tx1"/>
                </a:solidFill>
              </a:rPr>
              <a:t>An empty file to start with</a:t>
            </a:r>
          </a:p>
        </p:txBody>
      </p:sp>
      <p:sp>
        <p:nvSpPr>
          <p:cNvPr id="20" name="Template code caption bar"/>
          <p:cNvSpPr/>
          <p:nvPr/>
        </p:nvSpPr>
        <p:spPr>
          <a:xfrm>
            <a:off x="4526280" y="1965960"/>
            <a:ext cx="41605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mplate code caption"/>
          <p:cNvSpPr txBox="1"/>
          <p:nvPr/>
        </p:nvSpPr>
        <p:spPr>
          <a:xfrm>
            <a:off x="4636008" y="1965960"/>
            <a:ext cx="39410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Then, in the Positron console</a:t>
            </a:r>
          </a:p>
        </p:txBody>
      </p:sp>
      <p:sp>
        <p:nvSpPr>
          <p:cNvPr id="22" name="Template code box"/>
          <p:cNvSpPr/>
          <p:nvPr/>
        </p:nvSpPr>
        <p:spPr>
          <a:xfrm>
            <a:off x="4526280" y="2240280"/>
            <a:ext cx="4160520" cy="1874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mplate code code"/>
          <p:cNvSpPr txBox="1"/>
          <p:nvPr/>
        </p:nvSpPr>
        <p:spPr>
          <a:xfrm>
            <a:off x="4663440" y="2331720"/>
            <a:ext cx="3886200" cy="169164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%pip install polars plotnine great-tables</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%pip freeze &gt; requirements.txt</a:t>
            </a:r>
          </a:p>
        </p:txBody>
      </p:sp>
      <p:sp>
        <p:nvSpPr>
          <p:cNvPr id="24" name="Template code note"/>
          <p:cNvSpPr txBox="1"/>
          <p:nvPr/>
        </p:nvSpPr>
        <p:spPr>
          <a:xfrm>
            <a:off x="4663440" y="3246120"/>
            <a:ext cx="3931920" cy="822960"/>
          </a:xfrm>
          <a:prstGeom prst="rect">
            <a:avLst/>
          </a:prstGeom>
          <a:noFill/>
        </p:spPr>
        <p:txBody>
          <a:bodyPr wrap="square" lIns="0" rIns="0" tIns="0" bIns="0" anchor="t">
            <a:noAutofit/>
          </a:bodyPr>
          <a:lstStyle/>
          <a:p>
            <a:pPr algn="l">
              <a:spcAft>
                <a:spcPts val="400"/>
              </a:spcAft>
            </a:pPr>
            <a:r>
              <a:rPr sz="1100" b="0" lang="en-GB">
                <a:solidFill>
                  <a:schemeClr val="bg1"/>
                </a:solidFill>
              </a:rPr>
              <a:t>Line 1 installs packages, line 2 writes their versions to requirements.txt.</a:t>
            </a:r>
          </a:p>
        </p:txBody>
      </p:sp>
      <p:sp>
        <p:nvSpPr>
          <p:cNvPr id="25" name="Template where box"/>
          <p:cNvSpPr/>
          <p:nvPr/>
        </p:nvSpPr>
        <p:spPr>
          <a:xfrm>
            <a:off x="457200" y="4297680"/>
            <a:ext cx="8229600" cy="777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Template where" descr=""/>
          <p:cNvPicPr>
            <a:picLocks noChangeAspect="1"/>
          </p:cNvPicPr>
          <p:nvPr/>
        </p:nvPicPr>
        <p:blipFill>
          <a:blip r:embed="rId4"/>
          <a:stretch>
            <a:fillRect/>
          </a:stretch>
        </p:blipFill>
        <p:spPr>
          <a:xfrm>
            <a:off x="658368" y="4494276"/>
            <a:ext cx="384048" cy="384048"/>
          </a:xfrm>
          <a:prstGeom prst="rect">
            <a:avLst/>
          </a:prstGeom>
        </p:spPr>
      </p:pic>
      <p:sp>
        <p:nvSpPr>
          <p:cNvPr id="27" name="Template where text"/>
          <p:cNvSpPr txBox="1"/>
          <p:nvPr/>
        </p:nvSpPr>
        <p:spPr>
          <a:xfrm>
            <a:off x="1234440" y="4297680"/>
            <a:ext cx="7269480" cy="777240"/>
          </a:xfrm>
          <a:prstGeom prst="rect">
            <a:avLst/>
          </a:prstGeom>
          <a:noFill/>
        </p:spPr>
        <p:txBody>
          <a:bodyPr wrap="square" lIns="0" rIns="0" tIns="0" bIns="0" anchor="ctr">
            <a:noAutofit/>
          </a:bodyPr>
          <a:lstStyle/>
          <a:p>
            <a:pPr algn="l">
              <a:spcAft>
                <a:spcPts val="400"/>
              </a:spcAft>
            </a:pPr>
            <a:r>
              <a:rPr sz="1300" b="1" lang="en-GB">
                <a:solidFill>
                  <a:schemeClr val="tx2"/>
                </a:solidFill>
              </a:rPr>
              <a:t>Where: </a:t>
            </a:r>
            <a:r>
              <a:rPr sz="1300" b="0" lang="en-GB">
                <a:solidFill>
                  <a:schemeClr val="tx1"/>
                </a:solidFill>
              </a:rPr>
              <a:t>New ▾ (top left), the project switcher, or Command Palette → Workspaces: New Folder from Template.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Table Placeholder 1"/>
          <p:cNvGraphicFramePr>
            <a:graphicFrameLocks noGrp="1"/>
          </p:cNvGraphicFramePr>
          <p:nvPr>
            <p:ph type="tbl" idx="1"/>
          </p:nvPr>
        </p:nvGraphicFramePr>
        <p:xfrm>
          <a:off x="462019" y="1344613"/>
          <a:ext cx="8229600" cy="3708400"/>
        </p:xfrm>
        <a:graphic>
          <a:graphicData uri="http://schemas.openxmlformats.org/drawingml/2006/table">
            <a:tbl>
              <a:tblPr firstRow="1" bandRow="1">
                <a:tableStyleId>{5C22544A-7EE6-4342-B048-85BDC9FD1C3A}</a:tableStyleId>
              </a:tblPr>
              <a:tblGrid>
                <a:gridCol w="3657600"/>
                <a:gridCol w="2286000"/>
                <a:gridCol w="2286000"/>
              </a:tblGrid>
              <a:tr h="370840">
                <a:tc>
                  <a:txBody>
                    <a:bodyPr/>
                    <a:lstStyle/>
                    <a:p>
                      <a:r>
                        <a:rPr sz="1500" lang="en-GB"/>
                        <a:t>Action</a:t>
                      </a:r>
                    </a:p>
                  </a:txBody>
                  <a:tcPr marT="45000" marB="45000"/>
                </a:tc>
                <a:tc>
                  <a:txBody>
                    <a:bodyPr/>
                    <a:lstStyle/>
                    <a:p>
                      <a:r>
                        <a:rPr sz="1500" lang="en-GB"/>
                        <a:t>Windows</a:t>
                      </a:r>
                    </a:p>
                  </a:txBody>
                  <a:tcPr marT="45000" marB="45000"/>
                </a:tc>
                <a:tc>
                  <a:txBody>
                    <a:bodyPr/>
                    <a:lstStyle/>
                    <a:p>
                      <a:r>
                        <a:rPr sz="1500" lang="en-GB"/>
                        <a:t>macOS</a:t>
                      </a:r>
                    </a:p>
                  </a:txBody>
                  <a:tcPr marT="45000" marB="45000"/>
                </a:tc>
              </a:tr>
              <a:tr h="370840">
                <a:tc>
                  <a:txBody>
                    <a:bodyPr/>
                    <a:lstStyle/>
                    <a:p>
                      <a:r>
                        <a:rPr sz="1300" lang="en-GB"/>
                        <a:t>Run selection or current statement</a:t>
                      </a:r>
                    </a:p>
                  </a:txBody>
                  <a:tcPr marT="45000" marB="45000"/>
                </a:tc>
                <a:tc>
                  <a:txBody>
                    <a:bodyPr/>
                    <a:lstStyle/>
                    <a:p>
                      <a:r>
                        <a:rPr sz="1300" lang="en-GB">
                          <a:latin typeface="Consolas"/>
                        </a:rPr>
                        <a:t>Ctrl + Enter</a:t>
                      </a:r>
                    </a:p>
                  </a:txBody>
                  <a:tcPr marT="45000" marB="45000"/>
                </a:tc>
                <a:tc>
                  <a:txBody>
                    <a:bodyPr/>
                    <a:lstStyle/>
                    <a:p>
                      <a:r>
                        <a:rPr sz="1300" lang="en-GB">
                          <a:latin typeface="Consolas"/>
                        </a:rPr>
                        <a:t>Cmd + Enter</a:t>
                      </a:r>
                    </a:p>
                  </a:txBody>
                  <a:tcPr marT="45000" marB="45000"/>
                </a:tc>
              </a:tr>
              <a:tr h="370840">
                <a:tc>
                  <a:txBody>
                    <a:bodyPr/>
                    <a:lstStyle/>
                    <a:p>
                      <a:r>
                        <a:rPr sz="1300" lang="en-GB"/>
                        <a:t>Run the file or current cell</a:t>
                      </a:r>
                    </a:p>
                  </a:txBody>
                  <a:tcPr marT="45000" marB="45000"/>
                </a:tc>
                <a:tc>
                  <a:txBody>
                    <a:bodyPr/>
                    <a:lstStyle/>
                    <a:p>
                      <a:r>
                        <a:rPr sz="1300" lang="en-GB">
                          <a:latin typeface="Consolas"/>
                        </a:rPr>
                        <a:t>Ctrl + Shift + Enter</a:t>
                      </a:r>
                    </a:p>
                  </a:txBody>
                  <a:tcPr marT="45000" marB="45000"/>
                </a:tc>
                <a:tc>
                  <a:txBody>
                    <a:bodyPr/>
                    <a:lstStyle/>
                    <a:p>
                      <a:r>
                        <a:rPr sz="1300" lang="en-GB">
                          <a:latin typeface="Consolas"/>
                        </a:rPr>
                        <a:t>Cmd + Shift + Enter</a:t>
                      </a:r>
                    </a:p>
                  </a:txBody>
                  <a:tcPr marT="45000" marB="45000"/>
                </a:tc>
              </a:tr>
              <a:tr h="370840">
                <a:tc>
                  <a:txBody>
                    <a:bodyPr/>
                    <a:lstStyle/>
                    <a:p>
                      <a:r>
                        <a:rPr sz="1300" lang="en-GB"/>
                        <a:t>Insert a code cell (# %%)</a:t>
                      </a:r>
                    </a:p>
                  </a:txBody>
                  <a:tcPr marT="45000" marB="45000"/>
                </a:tc>
                <a:tc>
                  <a:txBody>
                    <a:bodyPr/>
                    <a:lstStyle/>
                    <a:p>
                      <a:r>
                        <a:rPr sz="1300" lang="en-GB">
                          <a:latin typeface="Consolas"/>
                        </a:rPr>
                        <a:t>Ctrl + Shift + I</a:t>
                      </a:r>
                    </a:p>
                  </a:txBody>
                  <a:tcPr marT="45000" marB="45000"/>
                </a:tc>
                <a:tc>
                  <a:txBody>
                    <a:bodyPr/>
                    <a:lstStyle/>
                    <a:p>
                      <a:r>
                        <a:rPr sz="1300" lang="en-GB">
                          <a:latin typeface="Consolas"/>
                        </a:rPr>
                        <a:t>Cmd + Shift + I</a:t>
                      </a:r>
                    </a:p>
                  </a:txBody>
                  <a:tcPr marT="45000" marB="45000"/>
                </a:tc>
              </a:tr>
              <a:tr h="370840">
                <a:tc>
                  <a:txBody>
                    <a:bodyPr/>
                    <a:lstStyle/>
                    <a:p>
                      <a:r>
                        <a:rPr sz="1300" lang="en-GB"/>
                        <a:t>Restart the Python session</a:t>
                      </a:r>
                    </a:p>
                  </a:txBody>
                  <a:tcPr marT="45000" marB="45000"/>
                </a:tc>
                <a:tc>
                  <a:txBody>
                    <a:bodyPr/>
                    <a:lstStyle/>
                    <a:p>
                      <a:r>
                        <a:rPr sz="1300" lang="en-GB">
                          <a:latin typeface="Consolas"/>
                        </a:rPr>
                        <a:t>Ctrl + Shift + 0</a:t>
                      </a:r>
                    </a:p>
                  </a:txBody>
                  <a:tcPr marT="45000" marB="45000"/>
                </a:tc>
                <a:tc>
                  <a:txBody>
                    <a:bodyPr/>
                    <a:lstStyle/>
                    <a:p>
                      <a:r>
                        <a:rPr sz="1300" lang="en-GB">
                          <a:latin typeface="Consolas"/>
                        </a:rPr>
                        <a:t>Cmd + Shift + 0</a:t>
                      </a:r>
                    </a:p>
                  </a:txBody>
                  <a:tcPr marT="45000" marB="45000"/>
                </a:tc>
              </a:tr>
              <a:tr h="370840">
                <a:tc>
                  <a:txBody>
                    <a:bodyPr/>
                    <a:lstStyle/>
                    <a:p>
                      <a:r>
                        <a:rPr sz="1300" lang="en-GB"/>
                        <a:t>Clear the console</a:t>
                      </a:r>
                    </a:p>
                  </a:txBody>
                  <a:tcPr marT="45000" marB="45000"/>
                </a:tc>
                <a:tc>
                  <a:txBody>
                    <a:bodyPr/>
                    <a:lstStyle/>
                    <a:p>
                      <a:r>
                        <a:rPr sz="1300" lang="en-GB">
                          <a:latin typeface="Consolas"/>
                        </a:rPr>
                        <a:t>Ctrl + L</a:t>
                      </a:r>
                    </a:p>
                  </a:txBody>
                  <a:tcPr marT="45000" marB="45000"/>
                </a:tc>
                <a:tc>
                  <a:txBody>
                    <a:bodyPr/>
                    <a:lstStyle/>
                    <a:p>
                      <a:r>
                        <a:rPr sz="1300" lang="en-GB">
                          <a:latin typeface="Consolas"/>
                        </a:rPr>
                        <a:t>Ctrl + L</a:t>
                      </a:r>
                    </a:p>
                  </a:txBody>
                  <a:tcPr marT="45000" marB="45000"/>
                </a:tc>
              </a:tr>
              <a:tr h="370840">
                <a:tc>
                  <a:txBody>
                    <a:bodyPr/>
                    <a:lstStyle/>
                    <a:p>
                      <a:r>
                        <a:rPr sz="1300" lang="en-GB"/>
                        <a:t>Preview a Quarto document</a:t>
                      </a:r>
                    </a:p>
                  </a:txBody>
                  <a:tcPr marT="45000" marB="45000"/>
                </a:tc>
                <a:tc>
                  <a:txBody>
                    <a:bodyPr/>
                    <a:lstStyle/>
                    <a:p>
                      <a:r>
                        <a:rPr sz="1300" lang="en-GB">
                          <a:latin typeface="Consolas"/>
                        </a:rPr>
                        <a:t>Ctrl + Shift + K</a:t>
                      </a:r>
                    </a:p>
                  </a:txBody>
                  <a:tcPr marT="45000" marB="45000"/>
                </a:tc>
                <a:tc>
                  <a:txBody>
                    <a:bodyPr/>
                    <a:lstStyle/>
                    <a:p>
                      <a:r>
                        <a:rPr sz="1300" lang="en-GB">
                          <a:latin typeface="Consolas"/>
                        </a:rPr>
                        <a:t>Cmd + Shift + K</a:t>
                      </a:r>
                    </a:p>
                  </a:txBody>
                  <a:tcPr marT="45000" marB="45000"/>
                </a:tc>
              </a:tr>
              <a:tr h="370840">
                <a:tc>
                  <a:txBody>
                    <a:bodyPr/>
                    <a:lstStyle/>
                    <a:p>
                      <a:r>
                        <a:rPr sz="1300" lang="en-GB"/>
                        <a:t>Command Palette</a:t>
                      </a:r>
                    </a:p>
                  </a:txBody>
                  <a:tcPr marT="45000" marB="45000"/>
                </a:tc>
                <a:tc>
                  <a:txBody>
                    <a:bodyPr/>
                    <a:lstStyle/>
                    <a:p>
                      <a:r>
                        <a:rPr sz="1300" lang="en-GB">
                          <a:latin typeface="Consolas"/>
                        </a:rPr>
                        <a:t>Ctrl + Shift + P</a:t>
                      </a:r>
                    </a:p>
                  </a:txBody>
                  <a:tcPr marT="45000" marB="45000"/>
                </a:tc>
                <a:tc>
                  <a:txBody>
                    <a:bodyPr/>
                    <a:lstStyle/>
                    <a:p>
                      <a:r>
                        <a:rPr sz="1300" lang="en-GB">
                          <a:latin typeface="Consolas"/>
                        </a:rPr>
                        <a:t>Cmd + Shift + P</a:t>
                      </a:r>
                    </a:p>
                  </a:txBody>
                  <a:tcPr marT="45000" marB="45000"/>
                </a:tc>
              </a:tr>
              <a:tr h="370840">
                <a:tc>
                  <a:txBody>
                    <a:bodyPr/>
                    <a:lstStyle/>
                    <a:p>
                      <a:r>
                        <a:rPr sz="1300" lang="en-GB"/>
                        <a:t>Help for the word under the cursor</a:t>
                      </a:r>
                    </a:p>
                  </a:txBody>
                  <a:tcPr marT="45000" marB="45000"/>
                </a:tc>
                <a:tc>
                  <a:txBody>
                    <a:bodyPr/>
                    <a:lstStyle/>
                    <a:p>
                      <a:r>
                        <a:rPr sz="1300" lang="en-GB">
                          <a:latin typeface="Consolas"/>
                        </a:rPr>
                        <a:t>F1</a:t>
                      </a:r>
                    </a:p>
                  </a:txBody>
                  <a:tcPr marT="45000" marB="45000"/>
                </a:tc>
                <a:tc>
                  <a:txBody>
                    <a:bodyPr/>
                    <a:lstStyle/>
                    <a:p>
                      <a:r>
                        <a:rPr sz="1300" lang="en-GB">
                          <a:latin typeface="Consolas"/>
                        </a:rPr>
                        <a:t>F1</a:t>
                      </a:r>
                    </a:p>
                  </a:txBody>
                  <a:tcPr marT="45000" marB="45000"/>
                </a:tc>
              </a:tr>
              <a:tr h="370840">
                <a:tc>
                  <a:txBody>
                    <a:bodyPr/>
                    <a:lstStyle/>
                    <a:p>
                      <a:r>
                        <a:rPr sz="1300" lang="en-GB"/>
                        <a:t>Accept an AI suggestion</a:t>
                      </a:r>
                    </a:p>
                  </a:txBody>
                  <a:tcPr marT="45000" marB="45000"/>
                </a:tc>
                <a:tc>
                  <a:txBody>
                    <a:bodyPr/>
                    <a:lstStyle/>
                    <a:p>
                      <a:r>
                        <a:rPr sz="1300" lang="en-GB">
                          <a:latin typeface="Consolas"/>
                        </a:rPr>
                        <a:t>Tab</a:t>
                      </a:r>
                    </a:p>
                  </a:txBody>
                  <a:tcPr marT="45000" marB="45000"/>
                </a:tc>
                <a:tc>
                  <a:txBody>
                    <a:bodyPr/>
                    <a:lstStyle/>
                    <a:p>
                      <a:r>
                        <a:rPr sz="1300" lang="en-GB">
                          <a:latin typeface="Consolas"/>
                        </a:rPr>
                        <a:t>Tab</a:t>
                      </a:r>
                    </a:p>
                  </a:txBody>
                  <a:tcPr marT="45000" marB="45000"/>
                </a:tc>
              </a:tr>
            </a:tbl>
          </a:graphicData>
        </a:graphic>
      </p:graphicFrame>
      <p:sp>
        <p:nvSpPr>
          <p:cNvPr id="3" name="Title 2"/>
          <p:cNvSpPr>
            <a:spLocks noGrp="1"/>
          </p:cNvSpPr>
          <p:nvPr>
            <p:ph type="title"/>
          </p:nvPr>
        </p:nvSpPr>
        <p:spPr/>
        <p:txBody>
          <a:bodyPr/>
          <a:lstStyle/>
          <a:p>
            <a:r>
              <a:rPr sz="1600" lang="en-GB"/>
              <a:t>Shortcuts worth knowing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Posit Assistant: the AI inside Positron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Assistant card 1 body"/>
          <p:cNvSpPr/>
          <p:nvPr/>
        </p:nvSpPr>
        <p:spPr>
          <a:xfrm>
            <a:off x="457200" y="1645920"/>
            <a:ext cx="2651760" cy="1737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Assistant card 1 header"/>
          <p:cNvSpPr/>
          <p:nvPr/>
        </p:nvSpPr>
        <p:spPr>
          <a:xfrm>
            <a:off x="45720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Assistant card 1 heading"/>
          <p:cNvSpPr txBox="1"/>
          <p:nvPr/>
        </p:nvSpPr>
        <p:spPr>
          <a:xfrm>
            <a:off x="59436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What it sees</a:t>
            </a:r>
          </a:p>
        </p:txBody>
      </p:sp>
      <p:pic>
        <p:nvPicPr>
          <p:cNvPr id="13" name="Icon Assistant card 1" descr=""/>
          <p:cNvPicPr>
            <a:picLocks noChangeAspect="1"/>
          </p:cNvPicPr>
          <p:nvPr/>
        </p:nvPicPr>
        <p:blipFill>
          <a:blip r:embed="rId3"/>
          <a:stretch>
            <a:fillRect/>
          </a:stretch>
        </p:blipFill>
        <p:spPr>
          <a:xfrm>
            <a:off x="2670048" y="1284732"/>
            <a:ext cx="310896" cy="310896"/>
          </a:xfrm>
          <a:prstGeom prst="rect">
            <a:avLst/>
          </a:prstGeom>
        </p:spPr>
      </p:pic>
      <p:sp>
        <p:nvSpPr>
          <p:cNvPr id="14" name="Assistant card 1 text"/>
          <p:cNvSpPr txBox="1"/>
          <p:nvPr/>
        </p:nvSpPr>
        <p:spPr>
          <a:xfrm>
            <a:off x="621792" y="1783080"/>
            <a:ext cx="2350008" cy="14630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Your open files and project</a:t>
            </a:r>
          </a:p>
          <a:p>
            <a:pPr algn="l" marL="182880" indent="-182880">
              <a:spcAft>
                <a:spcPts val="600"/>
              </a:spcAft>
              <a:buClr>
                <a:schemeClr val="accent1"/>
              </a:buClr>
              <a:buFont typeface="Arial"/>
              <a:buChar char="▪"/>
            </a:pPr>
            <a:r>
              <a:rPr sz="1300" b="0" lang="en-GB">
                <a:solidFill>
                  <a:schemeClr val="tx1"/>
                </a:solidFill>
              </a:rPr>
              <a:t>Loaded data, variables and plots</a:t>
            </a:r>
          </a:p>
          <a:p>
            <a:pPr algn="l" marL="182880" indent="-182880">
              <a:spcAft>
                <a:spcPts val="600"/>
              </a:spcAft>
              <a:buClr>
                <a:schemeClr val="accent1"/>
              </a:buClr>
              <a:buFont typeface="Arial"/>
              <a:buChar char="▪"/>
            </a:pPr>
            <a:r>
              <a:rPr sz="1300" b="0" lang="en-GB">
                <a:solidFill>
                  <a:schemeClr val="tx1"/>
                </a:solidFill>
              </a:rPr>
              <a:t>Console history</a:t>
            </a:r>
          </a:p>
        </p:txBody>
      </p:sp>
      <p:sp>
        <p:nvSpPr>
          <p:cNvPr id="15" name="Assistant card 2 body"/>
          <p:cNvSpPr/>
          <p:nvPr/>
        </p:nvSpPr>
        <p:spPr>
          <a:xfrm>
            <a:off x="3246120" y="1645920"/>
            <a:ext cx="2651760" cy="1737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Assistant card 2 header"/>
          <p:cNvSpPr/>
          <p:nvPr/>
        </p:nvSpPr>
        <p:spPr>
          <a:xfrm>
            <a:off x="324612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Assistant card 2 heading"/>
          <p:cNvSpPr txBox="1"/>
          <p:nvPr/>
        </p:nvSpPr>
        <p:spPr>
          <a:xfrm>
            <a:off x="338328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What it does</a:t>
            </a:r>
          </a:p>
        </p:txBody>
      </p:sp>
      <p:pic>
        <p:nvPicPr>
          <p:cNvPr id="18" name="Icon Assistant card 2" descr=""/>
          <p:cNvPicPr>
            <a:picLocks noChangeAspect="1"/>
          </p:cNvPicPr>
          <p:nvPr/>
        </p:nvPicPr>
        <p:blipFill>
          <a:blip r:embed="rId4"/>
          <a:stretch>
            <a:fillRect/>
          </a:stretch>
        </p:blipFill>
        <p:spPr>
          <a:xfrm>
            <a:off x="5458968" y="1284732"/>
            <a:ext cx="310896" cy="310896"/>
          </a:xfrm>
          <a:prstGeom prst="rect">
            <a:avLst/>
          </a:prstGeom>
        </p:spPr>
      </p:pic>
      <p:sp>
        <p:nvSpPr>
          <p:cNvPr id="19" name="Assistant card 2 text"/>
          <p:cNvSpPr txBox="1"/>
          <p:nvPr/>
        </p:nvSpPr>
        <p:spPr>
          <a:xfrm>
            <a:off x="3410712" y="1783080"/>
            <a:ext cx="2350008" cy="14630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Explains, writes and fixes code</a:t>
            </a:r>
          </a:p>
          <a:p>
            <a:pPr algn="l" marL="182880" indent="-182880">
              <a:spcAft>
                <a:spcPts val="600"/>
              </a:spcAft>
              <a:buClr>
                <a:schemeClr val="accent1"/>
              </a:buClr>
              <a:buFont typeface="Arial"/>
              <a:buChar char="▪"/>
            </a:pPr>
            <a:r>
              <a:rPr sz="1300" b="0" lang="en-GB">
                <a:solidFill>
                  <a:schemeClr val="tx1"/>
                </a:solidFill>
              </a:rPr>
              <a:t>Runs code after you approve</a:t>
            </a:r>
          </a:p>
          <a:p>
            <a:pPr algn="l" marL="182880" indent="-182880">
              <a:spcAft>
                <a:spcPts val="600"/>
              </a:spcAft>
              <a:buClr>
                <a:schemeClr val="accent1"/>
              </a:buClr>
              <a:buFont typeface="Arial"/>
              <a:buChar char="▪"/>
            </a:pPr>
            <a:r>
              <a:rPr sz="1300" b="0" lang="en-GB">
                <a:solidFill>
                  <a:schemeClr val="tx1"/>
                </a:solidFill>
              </a:rPr>
              <a:t>Fix and Explain on any error</a:t>
            </a:r>
          </a:p>
        </p:txBody>
      </p:sp>
      <p:sp>
        <p:nvSpPr>
          <p:cNvPr id="20" name="Assistant card 3 body"/>
          <p:cNvSpPr/>
          <p:nvPr/>
        </p:nvSpPr>
        <p:spPr>
          <a:xfrm>
            <a:off x="6035040" y="1645920"/>
            <a:ext cx="2651760" cy="1737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Assistant card 3 header"/>
          <p:cNvSpPr/>
          <p:nvPr/>
        </p:nvSpPr>
        <p:spPr>
          <a:xfrm>
            <a:off x="603504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Assistant card 3 heading"/>
          <p:cNvSpPr txBox="1"/>
          <p:nvPr/>
        </p:nvSpPr>
        <p:spPr>
          <a:xfrm>
            <a:off x="617220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How you steer it</a:t>
            </a:r>
          </a:p>
        </p:txBody>
      </p:sp>
      <p:pic>
        <p:nvPicPr>
          <p:cNvPr id="23" name="Icon Assistant card 3" descr=""/>
          <p:cNvPicPr>
            <a:picLocks noChangeAspect="1"/>
          </p:cNvPicPr>
          <p:nvPr/>
        </p:nvPicPr>
        <p:blipFill>
          <a:blip r:embed="rId5"/>
          <a:stretch>
            <a:fillRect/>
          </a:stretch>
        </p:blipFill>
        <p:spPr>
          <a:xfrm>
            <a:off x="8247888" y="1284732"/>
            <a:ext cx="310896" cy="310896"/>
          </a:xfrm>
          <a:prstGeom prst="rect">
            <a:avLst/>
          </a:prstGeom>
        </p:spPr>
      </p:pic>
      <p:sp>
        <p:nvSpPr>
          <p:cNvPr id="24" name="Assistant card 3 text"/>
          <p:cNvSpPr txBox="1"/>
          <p:nvPr/>
        </p:nvSpPr>
        <p:spPr>
          <a:xfrm>
            <a:off x="6199632" y="1783080"/>
            <a:ext cx="2350008" cy="14630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/plan: a plan before any code</a:t>
            </a:r>
          </a:p>
          <a:p>
            <a:pPr algn="l" marL="182880" indent="-182880">
              <a:spcAft>
                <a:spcPts val="600"/>
              </a:spcAft>
              <a:buClr>
                <a:schemeClr val="accent1"/>
              </a:buClr>
              <a:buFont typeface="Arial"/>
              <a:buChar char="▪"/>
            </a:pPr>
            <a:r>
              <a:rPr sz="1300" b="0" lang="en-GB">
                <a:solidFill>
                  <a:schemeClr val="tx1"/>
                </a:solidFill>
              </a:rPr>
              <a:t>@file: point it to a file</a:t>
            </a:r>
          </a:p>
          <a:p>
            <a:pPr algn="l" marL="182880" indent="-182880">
              <a:spcAft>
                <a:spcPts val="600"/>
              </a:spcAft>
              <a:buClr>
                <a:schemeClr val="accent1"/>
              </a:buClr>
              <a:buFont typeface="Arial"/>
              <a:buChar char="▪"/>
            </a:pPr>
            <a:r>
              <a:rPr sz="1300" b="0" lang="en-GB">
                <a:solidFill>
                  <a:schemeClr val="tx1"/>
                </a:solidFill>
              </a:rPr>
              <a:t>Permission mode: keep Normal</a:t>
            </a:r>
          </a:p>
        </p:txBody>
      </p:sp>
      <p:sp>
        <p:nvSpPr>
          <p:cNvPr id="25" name="Open label"/>
          <p:cNvSpPr txBox="1"/>
          <p:nvPr/>
        </p:nvSpPr>
        <p:spPr>
          <a:xfrm>
            <a:off x="457200" y="3520440"/>
            <a:ext cx="8229600" cy="274320"/>
          </a:xfrm>
          <a:prstGeom prst="rect">
            <a:avLst/>
          </a:prstGeom>
          <a:noFill/>
        </p:spPr>
        <p:txBody>
          <a:bodyPr wrap="square" lIns="0" rIns="0" tIns="0" bIns="0" anchor="t">
            <a:noAutofit/>
          </a:bodyPr>
          <a:lstStyle/>
          <a:p>
            <a:pPr algn="l">
              <a:spcAft>
                <a:spcPts val="400"/>
              </a:spcAft>
            </a:pPr>
            <a:r>
              <a:rPr sz="1300" b="1" lang="en-GB">
                <a:solidFill>
                  <a:schemeClr val="tx2"/>
                </a:solidFill>
              </a:rPr>
              <a:t>Open it</a:t>
            </a:r>
          </a:p>
        </p:txBody>
      </p:sp>
      <p:sp>
        <p:nvSpPr>
          <p:cNvPr id="26" name="Open command box"/>
          <p:cNvSpPr/>
          <p:nvPr/>
        </p:nvSpPr>
        <p:spPr>
          <a:xfrm>
            <a:off x="457200" y="3840480"/>
            <a:ext cx="402336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pen command code"/>
          <p:cNvSpPr txBox="1"/>
          <p:nvPr/>
        </p:nvSpPr>
        <p:spPr>
          <a:xfrm>
            <a:off x="594360" y="3931920"/>
            <a:ext cx="3749040" cy="365760"/>
          </a:xfrm>
          <a:prstGeom prst="rect">
            <a:avLst/>
          </a:prstGeom>
          <a:noFill/>
        </p:spPr>
        <p:txBody>
          <a:bodyPr wrap="square" lIns="0" rIns="0" tIns="0" bIns="0" anchor="t">
            <a:noAutofit/>
          </a:bodyPr>
          <a:lstStyle/>
          <a:p>
            <a:pPr algn="l">
              <a:spcAft>
                <a:spcPts val="0"/>
              </a:spcAft>
            </a:pPr>
            <a:r>
              <a:rPr sz="1150" b="0" lang="en-GB">
                <a:solidFill>
                  <a:schemeClr val="bg1"/>
                </a:solidFill>
                <a:latin typeface="Consolas"/>
              </a:rPr>
              <a:t>View: Show Posit Assistant</a:t>
            </a:r>
          </a:p>
        </p:txBody>
      </p:sp>
      <p:sp>
        <p:nvSpPr>
          <p:cNvPr id="28" name="Open note"/>
          <p:cNvSpPr txBox="1"/>
          <p:nvPr/>
        </p:nvSpPr>
        <p:spPr>
          <a:xfrm>
            <a:off x="4617720" y="3840480"/>
            <a:ext cx="4069080" cy="548640"/>
          </a:xfrm>
          <a:prstGeom prst="rect">
            <a:avLst/>
          </a:prstGeom>
          <a:noFill/>
        </p:spPr>
        <p:txBody>
          <a:bodyPr wrap="square" lIns="0" rIns="0" tIns="0" bIns="0" anchor="ctr">
            <a:noAutofit/>
          </a:bodyPr>
          <a:lstStyle/>
          <a:p>
            <a:pPr algn="l">
              <a:spcAft>
                <a:spcPts val="400"/>
              </a:spcAft>
            </a:pPr>
            <a:r>
              <a:rPr sz="1200" b="0" lang="en-GB">
                <a:solidFill>
                  <a:schemeClr val="tx1"/>
                </a:solidFill>
              </a:rPr>
              <a:t>Command Palette, or the Assistant icon in the Activity Bar</a:t>
            </a:r>
          </a:p>
        </p:txBody>
      </p:sp>
      <p:sp>
        <p:nvSpPr>
          <p:cNvPr id="29" name="Memory note"/>
          <p:cNvSpPr txBox="1"/>
          <p:nvPr/>
        </p:nvSpPr>
        <p:spPr>
          <a:xfrm>
            <a:off x="457200" y="4526280"/>
            <a:ext cx="82296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Memory: </a:t>
            </a:r>
            <a:r>
              <a:rPr sz="1200" b="0" lang="en-GB">
                <a:solidFill>
                  <a:schemeClr val="tx1"/>
                </a:solidFill>
              </a:rPr>
              <a:t>an AGENTS.md file in your project tells it your conventions, for example “use polars and plotnine”.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Working with AI in Positron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Ghost card body"/>
          <p:cNvSpPr/>
          <p:nvPr/>
        </p:nvSpPr>
        <p:spPr>
          <a:xfrm>
            <a:off x="457200" y="1645920"/>
            <a:ext cx="4046220"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Ghost card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Ghost card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Completions: ghost text</a:t>
            </a:r>
          </a:p>
        </p:txBody>
      </p:sp>
      <p:pic>
        <p:nvPicPr>
          <p:cNvPr id="13" name="Icon Ghost card" descr=""/>
          <p:cNvPicPr>
            <a:picLocks noChangeAspect="1"/>
          </p:cNvPicPr>
          <p:nvPr/>
        </p:nvPicPr>
        <p:blipFill>
          <a:blip r:embed="rId3"/>
          <a:stretch>
            <a:fillRect/>
          </a:stretch>
        </p:blipFill>
        <p:spPr>
          <a:xfrm>
            <a:off x="4064508" y="1284732"/>
            <a:ext cx="310896" cy="310896"/>
          </a:xfrm>
          <a:prstGeom prst="rect">
            <a:avLst/>
          </a:prstGeom>
        </p:spPr>
      </p:pic>
      <p:sp>
        <p:nvSpPr>
          <p:cNvPr id="14" name="Ghost card text"/>
          <p:cNvSpPr txBox="1"/>
          <p:nvPr/>
        </p:nvSpPr>
        <p:spPr>
          <a:xfrm>
            <a:off x="621792" y="1783080"/>
            <a:ext cx="3744468" cy="10058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Grey suggestions appear as you type</a:t>
            </a:r>
          </a:p>
          <a:p>
            <a:pPr algn="l" marL="182880" indent="-182880">
              <a:spcAft>
                <a:spcPts val="600"/>
              </a:spcAft>
              <a:buClr>
                <a:schemeClr val="accent1"/>
              </a:buClr>
              <a:buFont typeface="Arial"/>
              <a:buChar char="▪"/>
            </a:pPr>
            <a:r>
              <a:rPr sz="1300" b="0" lang="en-GB">
                <a:solidFill>
                  <a:schemeClr val="tx1"/>
                </a:solidFill>
              </a:rPr>
              <a:t>Tab accepts, Ctrl/Cmd + → word by word</a:t>
            </a:r>
          </a:p>
          <a:p>
            <a:pPr algn="l" marL="182880" indent="-182880">
              <a:spcAft>
                <a:spcPts val="600"/>
              </a:spcAft>
              <a:buClr>
                <a:schemeClr val="accent1"/>
              </a:buClr>
              <a:buFont typeface="Arial"/>
              <a:buChar char="▪"/>
            </a:pPr>
            <a:r>
              <a:rPr sz="1300" b="0" lang="en-GB">
                <a:solidFill>
                  <a:schemeClr val="tx1"/>
                </a:solidFill>
              </a:rPr>
              <a:t>Esc or keep typing to dismiss</a:t>
            </a:r>
          </a:p>
        </p:txBody>
      </p:sp>
      <p:sp>
        <p:nvSpPr>
          <p:cNvPr id="15" name="Assistant chat card body"/>
          <p:cNvSpPr/>
          <p:nvPr/>
        </p:nvSpPr>
        <p:spPr>
          <a:xfrm>
            <a:off x="4640580" y="1645920"/>
            <a:ext cx="4046220"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Assistant chat card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Assistant chat card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Chat: Posit Assistant</a:t>
            </a:r>
          </a:p>
        </p:txBody>
      </p:sp>
      <p:pic>
        <p:nvPicPr>
          <p:cNvPr id="18" name="Icon Assistant chat card" descr=""/>
          <p:cNvPicPr>
            <a:picLocks noChangeAspect="1"/>
          </p:cNvPicPr>
          <p:nvPr/>
        </p:nvPicPr>
        <p:blipFill>
          <a:blip r:embed="rId4"/>
          <a:stretch>
            <a:fillRect/>
          </a:stretch>
        </p:blipFill>
        <p:spPr>
          <a:xfrm>
            <a:off x="8247888" y="1284732"/>
            <a:ext cx="310896" cy="310896"/>
          </a:xfrm>
          <a:prstGeom prst="rect">
            <a:avLst/>
          </a:prstGeom>
        </p:spPr>
      </p:pic>
      <p:sp>
        <p:nvSpPr>
          <p:cNvPr id="19" name="Assistant chat card text"/>
          <p:cNvSpPr txBox="1"/>
          <p:nvPr/>
        </p:nvSpPr>
        <p:spPr>
          <a:xfrm>
            <a:off x="4805172" y="1783080"/>
            <a:ext cx="3744468" cy="10058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Ask in plain English, one step at a time</a:t>
            </a:r>
          </a:p>
          <a:p>
            <a:pPr algn="l" marL="182880" indent="-182880">
              <a:spcAft>
                <a:spcPts val="600"/>
              </a:spcAft>
              <a:buClr>
                <a:schemeClr val="accent1"/>
              </a:buClr>
              <a:buFont typeface="Arial"/>
              <a:buChar char="▪"/>
            </a:pPr>
            <a:r>
              <a:rPr sz="1300" b="0" lang="en-GB">
                <a:solidFill>
                  <a:schemeClr val="tx1"/>
                </a:solidFill>
              </a:rPr>
              <a:t>Check every result it reports</a:t>
            </a:r>
          </a:p>
          <a:p>
            <a:pPr algn="l" marL="182880" indent="-182880">
              <a:spcAft>
                <a:spcPts val="600"/>
              </a:spcAft>
              <a:buClr>
                <a:schemeClr val="accent1"/>
              </a:buClr>
              <a:buFont typeface="Arial"/>
              <a:buChar char="▪"/>
            </a:pPr>
            <a:r>
              <a:rPr sz="1300" b="0" lang="en-GB">
                <a:solidFill>
                  <a:schemeClr val="tx1"/>
                </a:solidFill>
              </a:rPr>
              <a:t>Export the chat: your prompt log</a:t>
            </a:r>
          </a:p>
        </p:txBody>
      </p:sp>
      <p:sp>
        <p:nvSpPr>
          <p:cNvPr id="20" name="Prompt label"/>
          <p:cNvSpPr txBox="1"/>
          <p:nvPr/>
        </p:nvSpPr>
        <p:spPr>
          <a:xfrm>
            <a:off x="457200" y="3063240"/>
            <a:ext cx="8229600" cy="274320"/>
          </a:xfrm>
          <a:prstGeom prst="rect">
            <a:avLst/>
          </a:prstGeom>
          <a:noFill/>
        </p:spPr>
        <p:txBody>
          <a:bodyPr wrap="square" lIns="0" rIns="0" tIns="0" bIns="0" anchor="t">
            <a:noAutofit/>
          </a:bodyPr>
          <a:lstStyle/>
          <a:p>
            <a:pPr algn="l">
              <a:spcAft>
                <a:spcPts val="400"/>
              </a:spcAft>
            </a:pPr>
            <a:r>
              <a:rPr sz="1300" b="1" lang="en-GB">
                <a:solidFill>
                  <a:schemeClr val="tx2"/>
                </a:solidFill>
              </a:rPr>
              <a:t>Good prompts</a:t>
            </a:r>
          </a:p>
        </p:txBody>
      </p:sp>
      <p:sp>
        <p:nvSpPr>
          <p:cNvPr id="21" name="Prompt code box"/>
          <p:cNvSpPr/>
          <p:nvPr/>
        </p:nvSpPr>
        <p:spPr>
          <a:xfrm>
            <a:off x="457200" y="338328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rompt code code"/>
          <p:cNvSpPr txBox="1"/>
          <p:nvPr/>
        </p:nvSpPr>
        <p:spPr>
          <a:xfrm>
            <a:off x="594360" y="3474720"/>
            <a:ext cx="7955280" cy="548640"/>
          </a:xfrm>
          <a:prstGeom prst="rect">
            <a:avLst/>
          </a:prstGeom>
          <a:noFill/>
        </p:spPr>
        <p:txBody>
          <a:bodyPr wrap="square" lIns="0" rIns="0" tIns="0" bIns="0" anchor="t">
            <a:noAutofit/>
          </a:bodyPr>
          <a:lstStyle/>
          <a:p>
            <a:pPr algn="l">
              <a:spcAft>
                <a:spcPts val="0"/>
              </a:spcAft>
            </a:pPr>
            <a:r>
              <a:rPr sz="1150" b="0" lang="en-GB">
                <a:solidFill>
                  <a:schemeClr val="bg1"/>
                </a:solidFill>
                <a:latin typeface="Consolas"/>
              </a:rPr>
              <a:t>"Sum revenue by country for 2025 with polars and sort it."</a:t>
            </a:r>
          </a:p>
          <a:p>
            <a:pPr algn="l">
              <a:spcAft>
                <a:spcPts val="0"/>
              </a:spcAft>
            </a:pPr>
            <a:r>
              <a:rPr sz="1150" b="0" lang="en-GB">
                <a:solidFill>
                  <a:schemeClr val="bg1"/>
                </a:solidFill>
                <a:latin typeface="Consolas"/>
              </a:rPr>
              <a:t>"Explain this error in two sentences, then fix it."</a:t>
            </a:r>
          </a:p>
        </p:txBody>
      </p:sp>
      <p:sp>
        <p:nvSpPr>
          <p:cNvPr id="23" name="Privacy box"/>
          <p:cNvSpPr/>
          <p:nvPr/>
        </p:nvSpPr>
        <p:spPr>
          <a:xfrm>
            <a:off x="457200" y="4297680"/>
            <a:ext cx="8229600" cy="777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Icon Privacy" descr=""/>
          <p:cNvPicPr>
            <a:picLocks noChangeAspect="1"/>
          </p:cNvPicPr>
          <p:nvPr/>
        </p:nvPicPr>
        <p:blipFill>
          <a:blip r:embed="rId5"/>
          <a:stretch>
            <a:fillRect/>
          </a:stretch>
        </p:blipFill>
        <p:spPr>
          <a:xfrm>
            <a:off x="658368" y="4494276"/>
            <a:ext cx="384048" cy="384048"/>
          </a:xfrm>
          <a:prstGeom prst="rect">
            <a:avLst/>
          </a:prstGeom>
        </p:spPr>
      </p:pic>
      <p:sp>
        <p:nvSpPr>
          <p:cNvPr id="25" name="Privacy text"/>
          <p:cNvSpPr txBox="1"/>
          <p:nvPr/>
        </p:nvSpPr>
        <p:spPr>
          <a:xfrm>
            <a:off x="1234440" y="4297680"/>
            <a:ext cx="7269480" cy="777240"/>
          </a:xfrm>
          <a:prstGeom prst="rect">
            <a:avLst/>
          </a:prstGeom>
          <a:noFill/>
        </p:spPr>
        <p:txBody>
          <a:bodyPr wrap="square" lIns="0" rIns="0" tIns="0" bIns="0" anchor="ctr">
            <a:noAutofit/>
          </a:bodyPr>
          <a:lstStyle/>
          <a:p>
            <a:pPr algn="l">
              <a:spcAft>
                <a:spcPts val="400"/>
              </a:spcAft>
            </a:pPr>
            <a:r>
              <a:rPr sz="1300" b="1" lang="en-GB">
                <a:solidFill>
                  <a:schemeClr val="tx2"/>
                </a:solidFill>
              </a:rPr>
              <a:t>Privacy: </a:t>
            </a:r>
            <a:r>
              <a:rPr sz="1300" b="0" lang="en-GB">
                <a:solidFill>
                  <a:schemeClr val="tx1"/>
                </a:solidFill>
              </a:rPr>
              <a:t>prompts, variable names and types go to the model provider; rows of data only if you ask. Never paste personal data.</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Claude in Positron: two ways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laude way 1 body"/>
          <p:cNvSpPr/>
          <p:nvPr/>
        </p:nvSpPr>
        <p:spPr>
          <a:xfrm>
            <a:off x="457200" y="1645920"/>
            <a:ext cx="404622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laude way 1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laude way 1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1 Claude in Posit Assistant</a:t>
            </a:r>
          </a:p>
        </p:txBody>
      </p:sp>
      <p:pic>
        <p:nvPicPr>
          <p:cNvPr id="13" name="Icon Claude way 1" descr=""/>
          <p:cNvPicPr>
            <a:picLocks noChangeAspect="1"/>
          </p:cNvPicPr>
          <p:nvPr/>
        </p:nvPicPr>
        <p:blipFill>
          <a:blip r:embed="rId3"/>
          <a:stretch>
            <a:fillRect/>
          </a:stretch>
        </p:blipFill>
        <p:spPr>
          <a:xfrm>
            <a:off x="4064508" y="1284732"/>
            <a:ext cx="310896" cy="310896"/>
          </a:xfrm>
          <a:prstGeom prst="rect">
            <a:avLst/>
          </a:prstGeom>
        </p:spPr>
      </p:pic>
      <p:sp>
        <p:nvSpPr>
          <p:cNvPr id="14" name="Claude way 1 text"/>
          <p:cNvSpPr txBox="1"/>
          <p:nvPr/>
        </p:nvSpPr>
        <p:spPr>
          <a:xfrm>
            <a:off x="621792" y="1783080"/>
            <a:ext cx="374446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Command Palette → Authentication: Configure Language Model Providers → Anthropic</a:t>
            </a:r>
          </a:p>
          <a:p>
            <a:pPr algn="l" marL="182880" indent="-182880">
              <a:spcAft>
                <a:spcPts val="600"/>
              </a:spcAft>
              <a:buClr>
                <a:schemeClr val="accent1"/>
              </a:buClr>
              <a:buFont typeface="Arial"/>
              <a:buChar char="▪"/>
            </a:pPr>
            <a:r>
              <a:rPr sz="1300" b="0" lang="en-GB">
                <a:solidFill>
                  <a:schemeClr val="tx1"/>
                </a:solidFill>
              </a:rPr>
              <a:t>Paste an API key from the Claude Console</a:t>
            </a:r>
          </a:p>
          <a:p>
            <a:pPr algn="l" marL="182880" indent="-182880">
              <a:spcAft>
                <a:spcPts val="600"/>
              </a:spcAft>
              <a:buClr>
                <a:schemeClr val="accent1"/>
              </a:buClr>
              <a:buFont typeface="Arial"/>
              <a:buChar char="▪"/>
            </a:pPr>
            <a:r>
              <a:rPr sz="1300" b="0" lang="en-GB">
                <a:solidFill>
                  <a:schemeClr val="tx1"/>
                </a:solidFill>
              </a:rPr>
              <a:t>Pick a Claude model in the chat</a:t>
            </a:r>
          </a:p>
        </p:txBody>
      </p:sp>
      <p:sp>
        <p:nvSpPr>
          <p:cNvPr id="15" name="Claude way 2 body"/>
          <p:cNvSpPr/>
          <p:nvPr/>
        </p:nvSpPr>
        <p:spPr>
          <a:xfrm>
            <a:off x="4640580" y="1645920"/>
            <a:ext cx="404622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laude way 2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laude way 2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2 Claude Code, the agent</a:t>
            </a:r>
          </a:p>
        </p:txBody>
      </p:sp>
      <p:pic>
        <p:nvPicPr>
          <p:cNvPr id="18" name="Icon Claude way 2" descr=""/>
          <p:cNvPicPr>
            <a:picLocks noChangeAspect="1"/>
          </p:cNvPicPr>
          <p:nvPr/>
        </p:nvPicPr>
        <p:blipFill>
          <a:blip r:embed="rId4"/>
          <a:stretch>
            <a:fillRect/>
          </a:stretch>
        </p:blipFill>
        <p:spPr>
          <a:xfrm>
            <a:off x="8247888" y="1284732"/>
            <a:ext cx="310896" cy="310896"/>
          </a:xfrm>
          <a:prstGeom prst="rect">
            <a:avLst/>
          </a:prstGeom>
        </p:spPr>
      </p:pic>
      <p:sp>
        <p:nvSpPr>
          <p:cNvPr id="19" name="Claude way 2 text"/>
          <p:cNvSpPr txBox="1"/>
          <p:nvPr/>
        </p:nvSpPr>
        <p:spPr>
          <a:xfrm>
            <a:off x="4805172" y="1783080"/>
            <a:ext cx="374446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Extensions view: search Claude Code (Anthropic), Install</a:t>
            </a:r>
          </a:p>
          <a:p>
            <a:pPr algn="l" marL="182880" indent="-182880">
              <a:spcAft>
                <a:spcPts val="600"/>
              </a:spcAft>
              <a:buClr>
                <a:schemeClr val="accent1"/>
              </a:buClr>
              <a:buFont typeface="Arial"/>
              <a:buChar char="▪"/>
            </a:pPr>
            <a:r>
              <a:rPr sz="1300" b="0" lang="en-GB">
                <a:solidFill>
                  <a:schemeClr val="tx1"/>
                </a:solidFill>
              </a:rPr>
              <a:t>Or run claude in the Positron terminal</a:t>
            </a:r>
          </a:p>
          <a:p>
            <a:pPr algn="l" marL="182880" indent="-182880">
              <a:spcAft>
                <a:spcPts val="600"/>
              </a:spcAft>
              <a:buClr>
                <a:schemeClr val="accent1"/>
              </a:buClr>
              <a:buFont typeface="Arial"/>
              <a:buChar char="▪"/>
            </a:pPr>
            <a:r>
              <a:rPr sz="1300" b="0" lang="en-GB">
                <a:solidFill>
                  <a:schemeClr val="tx1"/>
                </a:solidFill>
              </a:rPr>
              <a:t>Sign in with a paid Claude plan or Console account</a:t>
            </a:r>
          </a:p>
        </p:txBody>
      </p:sp>
      <p:sp>
        <p:nvSpPr>
          <p:cNvPr id="20" name="Claude cost box"/>
          <p:cNvSpPr/>
          <p:nvPr/>
        </p:nvSpPr>
        <p:spPr>
          <a:xfrm>
            <a:off x="457200" y="388620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laude cost text"/>
          <p:cNvSpPr txBox="1"/>
          <p:nvPr/>
        </p:nvSpPr>
        <p:spPr>
          <a:xfrm>
            <a:off x="640080" y="3886200"/>
            <a:ext cx="795528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Costs: </a:t>
            </a:r>
            <a:r>
              <a:rPr sz="1200" b="0" lang="en-GB">
                <a:solidFill>
                  <a:schemeClr val="tx1"/>
                </a:solidFill>
              </a:rPr>
              <a:t>API keys are paid per use; Claude Pro or Max does not include API access.</a:t>
            </a:r>
          </a:p>
        </p:txBody>
      </p:sp>
      <p:sp>
        <p:nvSpPr>
          <p:cNvPr id="22" name="Claude optional box"/>
          <p:cNvSpPr/>
          <p:nvPr/>
        </p:nvSpPr>
        <p:spPr>
          <a:xfrm>
            <a:off x="457200" y="452628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Claude optional" descr=""/>
          <p:cNvPicPr>
            <a:picLocks noChangeAspect="1"/>
          </p:cNvPicPr>
          <p:nvPr/>
        </p:nvPicPr>
        <p:blipFill>
          <a:blip r:embed="rId5"/>
          <a:stretch>
            <a:fillRect/>
          </a:stretch>
        </p:blipFill>
        <p:spPr>
          <a:xfrm>
            <a:off x="658368" y="4608576"/>
            <a:ext cx="384048" cy="384048"/>
          </a:xfrm>
          <a:prstGeom prst="rect">
            <a:avLst/>
          </a:prstGeom>
        </p:spPr>
      </p:pic>
      <p:sp>
        <p:nvSpPr>
          <p:cNvPr id="24" name="Claude optional text"/>
          <p:cNvSpPr txBox="1"/>
          <p:nvPr/>
        </p:nvSpPr>
        <p:spPr>
          <a:xfrm>
            <a:off x="1234440" y="4526280"/>
            <a:ext cx="7269480" cy="548640"/>
          </a:xfrm>
          <a:prstGeom prst="rect">
            <a:avLst/>
          </a:prstGeom>
          <a:noFill/>
        </p:spPr>
        <p:txBody>
          <a:bodyPr wrap="square" lIns="0" rIns="0" tIns="0" bIns="0" anchor="ctr">
            <a:noAutofit/>
          </a:bodyPr>
          <a:lstStyle/>
          <a:p>
            <a:pPr algn="l">
              <a:spcAft>
                <a:spcPts val="400"/>
              </a:spcAft>
            </a:pPr>
            <a:r>
              <a:rPr sz="1300" b="1" lang="en-GB">
                <a:solidFill>
                  <a:schemeClr val="bg1"/>
                </a:solidFill>
              </a:rPr>
              <a:t>Optional: </a:t>
            </a:r>
            <a:r>
              <a:rPr sz="1300" b="0" lang="en-GB">
                <a:solidFill>
                  <a:schemeClr val="bg1"/>
                </a:solidFill>
              </a:rPr>
              <a:t>the course default is GitHub Copilot, free with GitHub Education. Never share your API key.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Working with Claude Code in your project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laude steps step 1"/>
          <p:cNvSpPr/>
          <p:nvPr/>
        </p:nvSpPr>
        <p:spPr>
          <a:xfrm>
            <a:off x="457200" y="1234440"/>
            <a:ext cx="1733702"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Open your</a:t>
            </a:r>
            <a:br/>
            <a:r>
              <a:rPr sz="1200" b="1" lang="en-GB">
                <a:solidFill>
                  <a:schemeClr val="tx2"/>
                </a:solidFill>
              </a:rPr>
              <a:t>project</a:t>
            </a:r>
          </a:p>
        </p:txBody>
      </p:sp>
      <p:sp>
        <p:nvSpPr>
          <p:cNvPr id="11" name="Claude steps step 2"/>
          <p:cNvSpPr/>
          <p:nvPr/>
        </p:nvSpPr>
        <p:spPr>
          <a:xfrm>
            <a:off x="2081174"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Start</a:t>
            </a:r>
            <a:br/>
            <a:r>
              <a:rPr sz="1200" b="1" lang="en-GB">
                <a:solidFill>
                  <a:schemeClr val="tx2"/>
                </a:solidFill>
              </a:rPr>
              <a:t>Claude</a:t>
            </a:r>
          </a:p>
        </p:txBody>
      </p:sp>
      <p:sp>
        <p:nvSpPr>
          <p:cNvPr id="12" name="Claude steps step 3"/>
          <p:cNvSpPr/>
          <p:nvPr/>
        </p:nvSpPr>
        <p:spPr>
          <a:xfrm>
            <a:off x="3705149"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Ask in plain</a:t>
            </a:r>
            <a:br/>
            <a:r>
              <a:rPr sz="1200" b="1" lang="en-GB">
                <a:solidFill>
                  <a:schemeClr val="tx2"/>
                </a:solidFill>
              </a:rPr>
              <a:t>English</a:t>
            </a:r>
          </a:p>
        </p:txBody>
      </p:sp>
      <p:sp>
        <p:nvSpPr>
          <p:cNvPr id="13" name="Claude steps step 4"/>
          <p:cNvSpPr/>
          <p:nvPr/>
        </p:nvSpPr>
        <p:spPr>
          <a:xfrm>
            <a:off x="5329123"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Approve</a:t>
            </a:r>
            <a:br/>
            <a:r>
              <a:rPr sz="1200" b="1" lang="en-GB">
                <a:solidFill>
                  <a:schemeClr val="tx2"/>
                </a:solidFill>
              </a:rPr>
              <a:t>changes</a:t>
            </a:r>
          </a:p>
        </p:txBody>
      </p:sp>
      <p:sp>
        <p:nvSpPr>
          <p:cNvPr id="14" name="Claude steps step 5"/>
          <p:cNvSpPr/>
          <p:nvPr/>
        </p:nvSpPr>
        <p:spPr>
          <a:xfrm>
            <a:off x="6953098"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Run and</a:t>
            </a:r>
            <a:br/>
            <a:r>
              <a:rPr sz="1200" b="1" lang="en-GB">
                <a:solidFill>
                  <a:schemeClr val="tx2"/>
                </a:solidFill>
              </a:rPr>
              <a:t>check</a:t>
            </a:r>
          </a:p>
        </p:txBody>
      </p:sp>
      <p:sp>
        <p:nvSpPr>
          <p:cNvPr id="15" name="Claude install caption bar"/>
          <p:cNvSpPr/>
          <p:nvPr/>
        </p:nvSpPr>
        <p:spPr>
          <a:xfrm>
            <a:off x="457200" y="1920240"/>
            <a:ext cx="406908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laude install caption"/>
          <p:cNvSpPr txBox="1"/>
          <p:nvPr/>
        </p:nvSpPr>
        <p:spPr>
          <a:xfrm>
            <a:off x="566928" y="1920240"/>
            <a:ext cx="384962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Positron terminal: Windows, macOS, then start</a:t>
            </a:r>
          </a:p>
        </p:txBody>
      </p:sp>
      <p:sp>
        <p:nvSpPr>
          <p:cNvPr id="17" name="Claude install box"/>
          <p:cNvSpPr/>
          <p:nvPr/>
        </p:nvSpPr>
        <p:spPr>
          <a:xfrm>
            <a:off x="457200" y="2194560"/>
            <a:ext cx="4069080" cy="868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Claude install code"/>
          <p:cNvSpPr txBox="1"/>
          <p:nvPr/>
        </p:nvSpPr>
        <p:spPr>
          <a:xfrm>
            <a:off x="594360" y="2286000"/>
            <a:ext cx="3794760" cy="68580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irm https://claude.ai/install.ps1 | iex</a:t>
            </a:r>
          </a:p>
          <a:p>
            <a:pPr algn="l">
              <a:spcAft>
                <a:spcPts val="0"/>
              </a:spcAft>
            </a:pPr>
            <a:r>
              <a:rPr sz="1050" b="0" lang="en-GB">
                <a:solidFill>
                  <a:schemeClr val="bg1"/>
                </a:solidFill>
                <a:latin typeface="Consolas"/>
              </a:rPr>
              <a:t>curl -fsSL https://claude.ai/install.sh | bash</a:t>
            </a:r>
          </a:p>
          <a:p>
            <a:pPr algn="l">
              <a:spcAft>
                <a:spcPts val="0"/>
              </a:spcAft>
            </a:pPr>
            <a:r>
              <a:rPr sz="1050" b="0" lang="en-GB">
                <a:solidFill>
                  <a:schemeClr val="bg1"/>
                </a:solidFill>
                <a:latin typeface="Consolas"/>
              </a:rPr>
              <a:t>claude</a:t>
            </a:r>
          </a:p>
        </p:txBody>
      </p:sp>
      <p:sp>
        <p:nvSpPr>
          <p:cNvPr id="19" name="Claude memory caption bar"/>
          <p:cNvSpPr/>
          <p:nvPr/>
        </p:nvSpPr>
        <p:spPr>
          <a:xfrm>
            <a:off x="4663440" y="1920240"/>
            <a:ext cx="40233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Claude memory caption"/>
          <p:cNvSpPr txBox="1"/>
          <p:nvPr/>
        </p:nvSpPr>
        <p:spPr>
          <a:xfrm>
            <a:off x="4773168" y="1920240"/>
            <a:ext cx="38039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CLAUDE.md: standing instructions</a:t>
            </a:r>
          </a:p>
        </p:txBody>
      </p:sp>
      <p:sp>
        <p:nvSpPr>
          <p:cNvPr id="21" name="Claude memory box"/>
          <p:cNvSpPr/>
          <p:nvPr/>
        </p:nvSpPr>
        <p:spPr>
          <a:xfrm>
            <a:off x="4663440" y="2194560"/>
            <a:ext cx="4023360" cy="868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Claude memory code"/>
          <p:cNvSpPr txBox="1"/>
          <p:nvPr/>
        </p:nvSpPr>
        <p:spPr>
          <a:xfrm>
            <a:off x="4800600" y="2286000"/>
            <a:ext cx="3749040" cy="68580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use polars, plotnine, great_tables and</a:t>
            </a:r>
          </a:p>
          <a:p>
            <a:pPr algn="l">
              <a:spcAft>
                <a:spcPts val="0"/>
              </a:spcAft>
            </a:pPr>
            <a:r>
              <a:rPr sz="1050" b="0" lang="en-GB">
                <a:solidFill>
                  <a:schemeClr val="bg1"/>
                </a:solidFill>
                <a:latin typeface="Consolas"/>
              </a:rPr>
              <a:t>statsmodels only; explain every model</a:t>
            </a:r>
          </a:p>
          <a:p>
            <a:pPr algn="l">
              <a:spcAft>
                <a:spcPts val="0"/>
              </a:spcAft>
            </a:pPr>
            <a:r>
              <a:rPr sz="1050" b="0" lang="en-GB">
                <a:solidFill>
                  <a:schemeClr val="bg1"/>
                </a:solidFill>
                <a:latin typeface="Consolas"/>
              </a:rPr>
              <a:t>in two sentences</a:t>
            </a:r>
          </a:p>
        </p:txBody>
      </p:sp>
      <p:sp>
        <p:nvSpPr>
          <p:cNvPr id="23" name="Claude prompts caption bar"/>
          <p:cNvSpPr/>
          <p:nvPr/>
        </p:nvSpPr>
        <p:spPr>
          <a:xfrm>
            <a:off x="457200" y="3200400"/>
            <a:ext cx="82296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Claude prompts caption"/>
          <p:cNvSpPr txBox="1"/>
          <p:nvPr/>
        </p:nvSpPr>
        <p:spPr>
          <a:xfrm>
            <a:off x="566928" y="3200400"/>
            <a:ext cx="80101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Good prompts</a:t>
            </a:r>
          </a:p>
        </p:txBody>
      </p:sp>
      <p:sp>
        <p:nvSpPr>
          <p:cNvPr id="25" name="Claude prompts box"/>
          <p:cNvSpPr/>
          <p:nvPr/>
        </p:nvSpPr>
        <p:spPr>
          <a:xfrm>
            <a:off x="457200" y="3474720"/>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Claude prompts code"/>
          <p:cNvSpPr txBox="1"/>
          <p:nvPr/>
        </p:nvSpPr>
        <p:spPr>
          <a:xfrm>
            <a:off x="594360" y="3566160"/>
            <a:ext cx="7955280" cy="41148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"Read test_stack.qmd and explain each cell in one sentence."</a:t>
            </a:r>
          </a:p>
          <a:p>
            <a:pPr algn="l">
              <a:spcAft>
                <a:spcPts val="0"/>
              </a:spcAft>
            </a:pPr>
            <a:r>
              <a:rPr sz="1050" b="0" lang="en-GB">
                <a:solidFill>
                  <a:schemeClr val="bg1"/>
                </a:solidFill>
                <a:latin typeface="Consolas"/>
              </a:rPr>
              <a:t>"Add a residual plot to my regression; do not change the data."</a:t>
            </a:r>
          </a:p>
        </p:txBody>
      </p:sp>
      <p:sp>
        <p:nvSpPr>
          <p:cNvPr id="27" name="Claude rules box"/>
          <p:cNvSpPr/>
          <p:nvPr/>
        </p:nvSpPr>
        <p:spPr>
          <a:xfrm>
            <a:off x="457200" y="420624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Icon Claude rules" descr=""/>
          <p:cNvPicPr>
            <a:picLocks noChangeAspect="1"/>
          </p:cNvPicPr>
          <p:nvPr/>
        </p:nvPicPr>
        <p:blipFill>
          <a:blip r:embed="rId3"/>
          <a:stretch>
            <a:fillRect/>
          </a:stretch>
        </p:blipFill>
        <p:spPr>
          <a:xfrm>
            <a:off x="658368" y="4357116"/>
            <a:ext cx="384048" cy="384048"/>
          </a:xfrm>
          <a:prstGeom prst="rect">
            <a:avLst/>
          </a:prstGeom>
        </p:spPr>
      </p:pic>
      <p:sp>
        <p:nvSpPr>
          <p:cNvPr id="29" name="Claude rules text"/>
          <p:cNvSpPr txBox="1"/>
          <p:nvPr/>
        </p:nvSpPr>
        <p:spPr>
          <a:xfrm>
            <a:off x="1234440" y="4206240"/>
            <a:ext cx="726948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Same rules as for any AI: </a:t>
            </a:r>
            <a:r>
              <a:rPr sz="1300" b="0" lang="en-GB">
                <a:solidFill>
                  <a:schemeClr val="bg1"/>
                </a:solidFill>
              </a:rPr>
              <a:t>you own every number, keep a prompt log, and never paste personal data.</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4 of 7 · the window, the everyday workflow, working as a group</a:t>
            </a:r>
          </a:p>
        </p:txBody>
      </p:sp>
      <p:sp>
        <p:nvSpPr>
          <p:cNvPr id="3" name="Title 2"/>
          <p:cNvSpPr>
            <a:spLocks noGrp="1"/>
          </p:cNvSpPr>
          <p:nvPr>
            <p:ph type="ctrTitle"/>
          </p:nvPr>
        </p:nvSpPr>
        <p:spPr/>
        <p:txBody>
          <a:bodyPr/>
          <a:lstStyle/>
          <a:p>
            <a:r>
              <a:rPr sz="1600" lang="en-GB"/>
              <a:t>Work with GitHub Desktop</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GitHub Desktop at a glance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GD toolbar"/>
          <p:cNvSpPr/>
          <p:nvPr/>
        </p:nvSpPr>
        <p:spPr>
          <a:xfrm>
            <a:off x="457200" y="1234440"/>
            <a:ext cx="530352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GD seg 1"/>
          <p:cNvSpPr txBox="1"/>
          <p:nvPr/>
        </p:nvSpPr>
        <p:spPr>
          <a:xfrm>
            <a:off x="868680" y="1234440"/>
            <a:ext cx="1828800" cy="548640"/>
          </a:xfrm>
          <a:prstGeom prst="rect">
            <a:avLst/>
          </a:prstGeom>
          <a:noFill/>
        </p:spPr>
        <p:txBody>
          <a:bodyPr wrap="square" lIns="0" rIns="0" tIns="0" bIns="0" anchor="ctr">
            <a:noAutofit/>
          </a:bodyPr>
          <a:lstStyle/>
          <a:p>
            <a:pPr algn="l">
              <a:spcAft>
                <a:spcPts val="0"/>
              </a:spcAft>
            </a:pPr>
            <a:r>
              <a:rPr sz="1050" b="0" lang="en-GB">
                <a:solidFill>
                  <a:schemeClr val="bg1"/>
                </a:solidFill>
              </a:rPr>
              <a:t>Current repository</a:t>
            </a:r>
          </a:p>
          <a:p>
            <a:pPr algn="l">
              <a:spcAft>
                <a:spcPts val="0"/>
              </a:spcAft>
            </a:pPr>
            <a:r>
              <a:rPr sz="1050" b="1" lang="en-GB">
                <a:solidFill>
                  <a:schemeClr val="bg1"/>
                </a:solidFill>
              </a:rPr>
              <a:t>ima-teaching ▾</a:t>
            </a:r>
          </a:p>
        </p:txBody>
      </p:sp>
      <p:sp>
        <p:nvSpPr>
          <p:cNvPr id="12" name="GD badge 1"/>
          <p:cNvSpPr/>
          <p:nvPr/>
        </p:nvSpPr>
        <p:spPr>
          <a:xfrm>
            <a:off x="548640" y="1371600"/>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3" name="GD seg 2"/>
          <p:cNvSpPr txBox="1"/>
          <p:nvPr/>
        </p:nvSpPr>
        <p:spPr>
          <a:xfrm>
            <a:off x="3063240" y="1234440"/>
            <a:ext cx="1051560" cy="548640"/>
          </a:xfrm>
          <a:prstGeom prst="rect">
            <a:avLst/>
          </a:prstGeom>
          <a:noFill/>
        </p:spPr>
        <p:txBody>
          <a:bodyPr wrap="square" lIns="0" rIns="0" tIns="0" bIns="0" anchor="ctr">
            <a:noAutofit/>
          </a:bodyPr>
          <a:lstStyle/>
          <a:p>
            <a:pPr algn="l">
              <a:spcAft>
                <a:spcPts val="0"/>
              </a:spcAft>
            </a:pPr>
            <a:r>
              <a:rPr sz="1050" b="0" lang="en-GB">
                <a:solidFill>
                  <a:schemeClr val="bg1"/>
                </a:solidFill>
              </a:rPr>
              <a:t>Current branch</a:t>
            </a:r>
          </a:p>
          <a:p>
            <a:pPr algn="l">
              <a:spcAft>
                <a:spcPts val="0"/>
              </a:spcAft>
            </a:pPr>
            <a:r>
              <a:rPr sz="1050" b="1" lang="en-GB">
                <a:solidFill>
                  <a:schemeClr val="bg1"/>
                </a:solidFill>
              </a:rPr>
              <a:t>main ▾</a:t>
            </a:r>
          </a:p>
        </p:txBody>
      </p:sp>
      <p:sp>
        <p:nvSpPr>
          <p:cNvPr id="14" name="GD badge 2"/>
          <p:cNvSpPr/>
          <p:nvPr/>
        </p:nvSpPr>
        <p:spPr>
          <a:xfrm>
            <a:off x="2743200" y="1371600"/>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GD seg 3"/>
          <p:cNvSpPr txBox="1"/>
          <p:nvPr/>
        </p:nvSpPr>
        <p:spPr>
          <a:xfrm>
            <a:off x="4480560" y="1234440"/>
            <a:ext cx="1234440" cy="548640"/>
          </a:xfrm>
          <a:prstGeom prst="rect">
            <a:avLst/>
          </a:prstGeom>
          <a:noFill/>
        </p:spPr>
        <p:txBody>
          <a:bodyPr wrap="square" lIns="0" rIns="0" tIns="0" bIns="0" anchor="ctr">
            <a:noAutofit/>
          </a:bodyPr>
          <a:lstStyle/>
          <a:p>
            <a:pPr algn="l">
              <a:spcAft>
                <a:spcPts val="0"/>
              </a:spcAft>
            </a:pPr>
            <a:r>
              <a:rPr sz="1050" b="0" lang="en-GB">
                <a:solidFill>
                  <a:schemeClr val="bg1"/>
                </a:solidFill>
              </a:rPr>
              <a:t>Fetch origin</a:t>
            </a:r>
          </a:p>
          <a:p>
            <a:pPr algn="l">
              <a:spcAft>
                <a:spcPts val="0"/>
              </a:spcAft>
            </a:pPr>
            <a:r>
              <a:rPr sz="1050" b="1" lang="en-GB">
                <a:solidFill>
                  <a:schemeClr val="bg1"/>
                </a:solidFill>
              </a:rPr>
              <a:t>↻ now</a:t>
            </a:r>
          </a:p>
        </p:txBody>
      </p:sp>
      <p:sp>
        <p:nvSpPr>
          <p:cNvPr id="16" name="GD badge 3"/>
          <p:cNvSpPr/>
          <p:nvPr/>
        </p:nvSpPr>
        <p:spPr>
          <a:xfrm>
            <a:off x="4160520" y="1371600"/>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7" name="GD left"/>
          <p:cNvSpPr/>
          <p:nvPr/>
        </p:nvSpPr>
        <p:spPr>
          <a:xfrm>
            <a:off x="457200" y="1828800"/>
            <a:ext cx="2194560" cy="2697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GD tabs"/>
          <p:cNvSpPr txBox="1"/>
          <p:nvPr/>
        </p:nvSpPr>
        <p:spPr>
          <a:xfrm>
            <a:off x="868680" y="1874520"/>
            <a:ext cx="1737360" cy="320040"/>
          </a:xfrm>
          <a:prstGeom prst="rect">
            <a:avLst/>
          </a:prstGeom>
          <a:noFill/>
        </p:spPr>
        <p:txBody>
          <a:bodyPr wrap="square" lIns="0" rIns="0" tIns="0" bIns="0" anchor="ctr">
            <a:noAutofit/>
          </a:bodyPr>
          <a:lstStyle/>
          <a:p>
            <a:pPr algn="l">
              <a:spcAft>
                <a:spcPts val="400"/>
              </a:spcAft>
            </a:pPr>
            <a:r>
              <a:rPr sz="1100" b="1" lang="en-GB">
                <a:solidFill>
                  <a:schemeClr val="tx2"/>
                </a:solidFill>
              </a:rPr>
              <a:t>Changes (2)</a:t>
            </a:r>
            <a:r>
              <a:rPr sz="1100" b="0" lang="en-GB">
                <a:solidFill>
                  <a:schemeClr val="tx1"/>
                </a:solidFill>
              </a:rPr>
              <a:t>   History</a:t>
            </a:r>
          </a:p>
        </p:txBody>
      </p:sp>
      <p:sp>
        <p:nvSpPr>
          <p:cNvPr id="19" name="GD badge 4"/>
          <p:cNvSpPr/>
          <p:nvPr/>
        </p:nvSpPr>
        <p:spPr>
          <a:xfrm>
            <a:off x="530352" y="1892808"/>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0" name="GD check 1"/>
          <p:cNvSpPr/>
          <p:nvPr/>
        </p:nvSpPr>
        <p:spPr>
          <a:xfrm>
            <a:off x="594360" y="2350008"/>
            <a:ext cx="182880" cy="1828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GD file 1"/>
          <p:cNvSpPr txBox="1"/>
          <p:nvPr/>
        </p:nvSpPr>
        <p:spPr>
          <a:xfrm>
            <a:off x="868680" y="2286000"/>
            <a:ext cx="1737360" cy="310896"/>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analysis.py</a:t>
            </a:r>
          </a:p>
        </p:txBody>
      </p:sp>
      <p:sp>
        <p:nvSpPr>
          <p:cNvPr id="22" name="GD check 2"/>
          <p:cNvSpPr/>
          <p:nvPr/>
        </p:nvSpPr>
        <p:spPr>
          <a:xfrm>
            <a:off x="594360" y="2697480"/>
            <a:ext cx="182880" cy="1828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GD file 2"/>
          <p:cNvSpPr txBox="1"/>
          <p:nvPr/>
        </p:nvSpPr>
        <p:spPr>
          <a:xfrm>
            <a:off x="868680" y="2633472"/>
            <a:ext cx="1737360" cy="310896"/>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report.qmd</a:t>
            </a:r>
          </a:p>
        </p:txBody>
      </p:sp>
      <p:sp>
        <p:nvSpPr>
          <p:cNvPr id="24" name="GD summary"/>
          <p:cNvSpPr/>
          <p:nvPr/>
        </p:nvSpPr>
        <p:spPr>
          <a:xfrm>
            <a:off x="548640" y="3154680"/>
            <a:ext cx="201168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GD summary text"/>
          <p:cNvSpPr txBox="1"/>
          <p:nvPr/>
        </p:nvSpPr>
        <p:spPr>
          <a:xfrm>
            <a:off x="621792" y="3154680"/>
            <a:ext cx="1920240" cy="384048"/>
          </a:xfrm>
          <a:prstGeom prst="rect">
            <a:avLst/>
          </a:prstGeom>
          <a:noFill/>
        </p:spPr>
        <p:txBody>
          <a:bodyPr wrap="square" lIns="0" rIns="0" tIns="0" bIns="0" anchor="ctr">
            <a:noAutofit/>
          </a:bodyPr>
          <a:lstStyle/>
          <a:p>
            <a:pPr algn="l">
              <a:spcAft>
                <a:spcPts val="400"/>
              </a:spcAft>
            </a:pPr>
            <a:r>
              <a:rPr sz="1050" b="0" lang="en-GB">
                <a:solidFill>
                  <a:schemeClr val="tx1"/>
                </a:solidFill>
              </a:rPr>
              <a:t>Add Austria sales chart</a:t>
            </a:r>
          </a:p>
        </p:txBody>
      </p:sp>
      <p:sp>
        <p:nvSpPr>
          <p:cNvPr id="26" name="GD commit"/>
          <p:cNvSpPr/>
          <p:nvPr/>
        </p:nvSpPr>
        <p:spPr>
          <a:xfrm>
            <a:off x="548640" y="3657600"/>
            <a:ext cx="2011680" cy="384048"/>
          </a:xfrm>
          <a:prstGeom prst="round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GD commit text"/>
          <p:cNvSpPr txBox="1"/>
          <p:nvPr/>
        </p:nvSpPr>
        <p:spPr>
          <a:xfrm>
            <a:off x="548640" y="3657600"/>
            <a:ext cx="2011680" cy="384048"/>
          </a:xfrm>
          <a:prstGeom prst="rect">
            <a:avLst/>
          </a:prstGeom>
          <a:noFill/>
        </p:spPr>
        <p:txBody>
          <a:bodyPr wrap="square" lIns="0" rIns="0" tIns="0" bIns="0" anchor="ctr">
            <a:noAutofit/>
          </a:bodyPr>
          <a:lstStyle/>
          <a:p>
            <a:pPr algn="ctr">
              <a:spcAft>
                <a:spcPts val="400"/>
              </a:spcAft>
            </a:pPr>
            <a:r>
              <a:rPr sz="1100" b="1" lang="en-GB">
                <a:solidFill>
                  <a:schemeClr val="bg1"/>
                </a:solidFill>
              </a:rPr>
              <a:t>Commit to main</a:t>
            </a:r>
          </a:p>
        </p:txBody>
      </p:sp>
      <p:sp>
        <p:nvSpPr>
          <p:cNvPr id="28" name="GD badge 5"/>
          <p:cNvSpPr/>
          <p:nvPr/>
        </p:nvSpPr>
        <p:spPr>
          <a:xfrm>
            <a:off x="530352" y="4114800"/>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9" name="GD commit note"/>
          <p:cNvSpPr txBox="1"/>
          <p:nvPr/>
        </p:nvSpPr>
        <p:spPr>
          <a:xfrm>
            <a:off x="868680" y="4069080"/>
            <a:ext cx="1737360" cy="365760"/>
          </a:xfrm>
          <a:prstGeom prst="rect">
            <a:avLst/>
          </a:prstGeom>
          <a:noFill/>
        </p:spPr>
        <p:txBody>
          <a:bodyPr wrap="square" lIns="0" rIns="0" tIns="0" bIns="0" anchor="ctr">
            <a:noAutofit/>
          </a:bodyPr>
          <a:lstStyle/>
          <a:p>
            <a:pPr algn="l">
              <a:spcAft>
                <a:spcPts val="400"/>
              </a:spcAft>
            </a:pPr>
            <a:r>
              <a:rPr sz="1050" b="0" lang="en-GB">
                <a:solidFill>
                  <a:schemeClr val="tx1"/>
                </a:solidFill>
              </a:rPr>
              <a:t>summary, then commit</a:t>
            </a:r>
          </a:p>
        </p:txBody>
      </p:sp>
      <p:sp>
        <p:nvSpPr>
          <p:cNvPr id="30" name="GD diff"/>
          <p:cNvSpPr/>
          <p:nvPr/>
        </p:nvSpPr>
        <p:spPr>
          <a:xfrm>
            <a:off x="2697480" y="1828800"/>
            <a:ext cx="3063240" cy="2697480"/>
          </a:xfrm>
          <a:prstGeom prst="rect">
            <a:avLst/>
          </a:prstGeom>
          <a:solidFill>
            <a:srgbClr val="FFFFFF"/>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GD badge 6"/>
          <p:cNvSpPr/>
          <p:nvPr/>
        </p:nvSpPr>
        <p:spPr>
          <a:xfrm>
            <a:off x="2770632" y="1892808"/>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6</a:t>
            </a:r>
          </a:p>
        </p:txBody>
      </p:sp>
      <p:sp>
        <p:nvSpPr>
          <p:cNvPr id="32" name="GD diff head"/>
          <p:cNvSpPr txBox="1"/>
          <p:nvPr/>
        </p:nvSpPr>
        <p:spPr>
          <a:xfrm>
            <a:off x="3108960" y="1874520"/>
            <a:ext cx="2560320" cy="320040"/>
          </a:xfrm>
          <a:prstGeom prst="rect">
            <a:avLst/>
          </a:prstGeom>
          <a:noFill/>
        </p:spPr>
        <p:txBody>
          <a:bodyPr wrap="square" lIns="0" rIns="0" tIns="0" bIns="0" anchor="ctr">
            <a:noAutofit/>
          </a:bodyPr>
          <a:lstStyle/>
          <a:p>
            <a:pPr algn="l">
              <a:spcAft>
                <a:spcPts val="400"/>
              </a:spcAft>
            </a:pPr>
            <a:r>
              <a:rPr sz="1100" b="1" lang="en-GB">
                <a:solidFill>
                  <a:schemeClr val="tx2"/>
                </a:solidFill>
                <a:latin typeface="Consolas"/>
              </a:rPr>
              <a:t>report.qmd</a:t>
            </a:r>
          </a:p>
        </p:txBody>
      </p:sp>
      <p:sp>
        <p:nvSpPr>
          <p:cNvPr id="33" name="GD diff line 1"/>
          <p:cNvSpPr txBox="1"/>
          <p:nvPr/>
        </p:nvSpPr>
        <p:spPr>
          <a:xfrm>
            <a:off x="2816352" y="2331720"/>
            <a:ext cx="2880360" cy="310896"/>
          </a:xfrm>
          <a:prstGeom prst="rect">
            <a:avLst/>
          </a:prstGeom>
          <a:noFill/>
        </p:spPr>
        <p:txBody>
          <a:bodyPr wrap="square" lIns="0" rIns="0" tIns="0" bIns="0" anchor="ctr">
            <a:noAutofit/>
          </a:bodyPr>
          <a:lstStyle/>
          <a:p>
            <a:pPr algn="l">
              <a:spcAft>
                <a:spcPts val="400"/>
              </a:spcAft>
            </a:pPr>
            <a:r>
              <a:rPr sz="1050" b="0" lang="en-GB">
                <a:solidFill>
                  <a:schemeClr val="tx1"/>
                </a:solidFill>
                <a:latin typeface="Consolas"/>
              </a:rPr>
              <a:t>  at = sales.filter(...)</a:t>
            </a:r>
          </a:p>
        </p:txBody>
      </p:sp>
      <p:sp>
        <p:nvSpPr>
          <p:cNvPr id="34" name="GD diff bg 2"/>
          <p:cNvSpPr/>
          <p:nvPr/>
        </p:nvSpPr>
        <p:spPr>
          <a:xfrm>
            <a:off x="2743200" y="2660904"/>
            <a:ext cx="2971800" cy="310896"/>
          </a:xfrm>
          <a:prstGeom prst="rect">
            <a:avLst/>
          </a:prstGeom>
          <a:solidFill>
            <a:srgbClr val="FB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GD diff line 2"/>
          <p:cNvSpPr txBox="1"/>
          <p:nvPr/>
        </p:nvSpPr>
        <p:spPr>
          <a:xfrm>
            <a:off x="2816352" y="2660904"/>
            <a:ext cx="2880360" cy="310896"/>
          </a:xfrm>
          <a:prstGeom prst="rect">
            <a:avLst/>
          </a:prstGeom>
          <a:noFill/>
        </p:spPr>
        <p:txBody>
          <a:bodyPr wrap="square" lIns="0" rIns="0" tIns="0" bIns="0" anchor="ctr">
            <a:noAutofit/>
          </a:bodyPr>
          <a:lstStyle/>
          <a:p>
            <a:pPr algn="l">
              <a:spcAft>
                <a:spcPts val="400"/>
              </a:spcAft>
            </a:pPr>
            <a:r>
              <a:rPr sz="1050" b="0" lang="en-GB">
                <a:solidFill>
                  <a:srgbClr val="9F1D1D"/>
                </a:solidFill>
                <a:latin typeface="Consolas"/>
              </a:rPr>
              <a:t>- at.head()</a:t>
            </a:r>
          </a:p>
        </p:txBody>
      </p:sp>
      <p:sp>
        <p:nvSpPr>
          <p:cNvPr id="36" name="GD diff bg 3"/>
          <p:cNvSpPr/>
          <p:nvPr/>
        </p:nvSpPr>
        <p:spPr>
          <a:xfrm>
            <a:off x="2743200" y="2990088"/>
            <a:ext cx="2971800" cy="310896"/>
          </a:xfrm>
          <a:prstGeom prst="rect">
            <a:avLst/>
          </a:prstGeom>
          <a:solidFill>
            <a:srgbClr val="E3F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GD diff line 3"/>
          <p:cNvSpPr txBox="1"/>
          <p:nvPr/>
        </p:nvSpPr>
        <p:spPr>
          <a:xfrm>
            <a:off x="2816352" y="2990088"/>
            <a:ext cx="2880360" cy="310896"/>
          </a:xfrm>
          <a:prstGeom prst="rect">
            <a:avLst/>
          </a:prstGeom>
          <a:noFill/>
        </p:spPr>
        <p:txBody>
          <a:bodyPr wrap="square" lIns="0" rIns="0" tIns="0" bIns="0" anchor="ctr">
            <a:noAutofit/>
          </a:bodyPr>
          <a:lstStyle/>
          <a:p>
            <a:pPr algn="l">
              <a:spcAft>
                <a:spcPts val="400"/>
              </a:spcAft>
            </a:pPr>
            <a:r>
              <a:rPr sz="1050" b="0" lang="en-GB">
                <a:solidFill>
                  <a:srgbClr val="146C2E"/>
                </a:solidFill>
                <a:latin typeface="Consolas"/>
              </a:rPr>
              <a:t>+ ggplot(at, aes("week",</a:t>
            </a:r>
          </a:p>
        </p:txBody>
      </p:sp>
      <p:sp>
        <p:nvSpPr>
          <p:cNvPr id="38" name="GD diff bg 4"/>
          <p:cNvSpPr/>
          <p:nvPr/>
        </p:nvSpPr>
        <p:spPr>
          <a:xfrm>
            <a:off x="2743200" y="3319272"/>
            <a:ext cx="2971800" cy="310896"/>
          </a:xfrm>
          <a:prstGeom prst="rect">
            <a:avLst/>
          </a:prstGeom>
          <a:solidFill>
            <a:srgbClr val="E3F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GD diff line 4"/>
          <p:cNvSpPr txBox="1"/>
          <p:nvPr/>
        </p:nvSpPr>
        <p:spPr>
          <a:xfrm>
            <a:off x="2816352" y="3319272"/>
            <a:ext cx="2880360" cy="310896"/>
          </a:xfrm>
          <a:prstGeom prst="rect">
            <a:avLst/>
          </a:prstGeom>
          <a:noFill/>
        </p:spPr>
        <p:txBody>
          <a:bodyPr wrap="square" lIns="0" rIns="0" tIns="0" bIns="0" anchor="ctr">
            <a:noAutofit/>
          </a:bodyPr>
          <a:lstStyle/>
          <a:p>
            <a:pPr algn="l">
              <a:spcAft>
                <a:spcPts val="400"/>
              </a:spcAft>
            </a:pPr>
            <a:r>
              <a:rPr sz="1050" b="0" lang="en-GB">
                <a:solidFill>
                  <a:srgbClr val="146C2E"/>
                </a:solidFill>
                <a:latin typeface="Consolas"/>
              </a:rPr>
              <a:t>+   "sales_units_k"))</a:t>
            </a:r>
          </a:p>
        </p:txBody>
      </p:sp>
      <p:sp>
        <p:nvSpPr>
          <p:cNvPr id="40" name="GD diff bg 5"/>
          <p:cNvSpPr/>
          <p:nvPr/>
        </p:nvSpPr>
        <p:spPr>
          <a:xfrm>
            <a:off x="2743200" y="3648456"/>
            <a:ext cx="2971800" cy="310896"/>
          </a:xfrm>
          <a:prstGeom prst="rect">
            <a:avLst/>
          </a:prstGeom>
          <a:solidFill>
            <a:srgbClr val="E3F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GD diff line 5"/>
          <p:cNvSpPr txBox="1"/>
          <p:nvPr/>
        </p:nvSpPr>
        <p:spPr>
          <a:xfrm>
            <a:off x="2816352" y="3648456"/>
            <a:ext cx="2880360" cy="310896"/>
          </a:xfrm>
          <a:prstGeom prst="rect">
            <a:avLst/>
          </a:prstGeom>
          <a:noFill/>
        </p:spPr>
        <p:txBody>
          <a:bodyPr wrap="square" lIns="0" rIns="0" tIns="0" bIns="0" anchor="ctr">
            <a:noAutofit/>
          </a:bodyPr>
          <a:lstStyle/>
          <a:p>
            <a:pPr algn="l">
              <a:spcAft>
                <a:spcPts val="400"/>
              </a:spcAft>
            </a:pPr>
            <a:r>
              <a:rPr sz="1050" b="0" lang="en-GB">
                <a:solidFill>
                  <a:srgbClr val="146C2E"/>
                </a:solidFill>
                <a:latin typeface="Consolas"/>
              </a:rPr>
              <a:t>+   + geom_line()</a:t>
            </a:r>
          </a:p>
        </p:txBody>
      </p:sp>
      <p:sp>
        <p:nvSpPr>
          <p:cNvPr id="42" name="GD legend 1"/>
          <p:cNvSpPr/>
          <p:nvPr/>
        </p:nvSpPr>
        <p:spPr>
          <a:xfrm>
            <a:off x="5897880" y="1234440"/>
            <a:ext cx="278892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GD legend badge 1"/>
          <p:cNvSpPr/>
          <p:nvPr/>
        </p:nvSpPr>
        <p:spPr>
          <a:xfrm>
            <a:off x="5989320" y="1344168"/>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44" name="GD legend text 1"/>
          <p:cNvSpPr txBox="1"/>
          <p:nvPr/>
        </p:nvSpPr>
        <p:spPr>
          <a:xfrm>
            <a:off x="6355080" y="1234440"/>
            <a:ext cx="2286000" cy="502920"/>
          </a:xfrm>
          <a:prstGeom prst="rect">
            <a:avLst/>
          </a:prstGeom>
          <a:noFill/>
        </p:spPr>
        <p:txBody>
          <a:bodyPr wrap="square" lIns="0" rIns="0" tIns="0" bIns="0" anchor="ctr">
            <a:noAutofit/>
          </a:bodyPr>
          <a:lstStyle/>
          <a:p>
            <a:pPr algn="l">
              <a:spcAft>
                <a:spcPts val="0"/>
              </a:spcAft>
            </a:pPr>
            <a:r>
              <a:rPr sz="1100" b="1" lang="en-GB">
                <a:solidFill>
                  <a:schemeClr val="tx2"/>
                </a:solidFill>
              </a:rPr>
              <a:t>Current repository</a:t>
            </a:r>
          </a:p>
          <a:p>
            <a:pPr algn="l">
              <a:spcAft>
                <a:spcPts val="0"/>
              </a:spcAft>
            </a:pPr>
            <a:r>
              <a:rPr sz="1050" b="0" lang="en-GB">
                <a:solidFill>
                  <a:schemeClr val="tx1"/>
                </a:solidFill>
              </a:rPr>
              <a:t>which project you work on</a:t>
            </a:r>
          </a:p>
        </p:txBody>
      </p:sp>
      <p:sp>
        <p:nvSpPr>
          <p:cNvPr id="45" name="GD legend 2"/>
          <p:cNvSpPr/>
          <p:nvPr/>
        </p:nvSpPr>
        <p:spPr>
          <a:xfrm>
            <a:off x="5897880" y="1792224"/>
            <a:ext cx="278892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GD legend badge 2"/>
          <p:cNvSpPr/>
          <p:nvPr/>
        </p:nvSpPr>
        <p:spPr>
          <a:xfrm>
            <a:off x="5989320" y="1901952"/>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47" name="GD legend text 2"/>
          <p:cNvSpPr txBox="1"/>
          <p:nvPr/>
        </p:nvSpPr>
        <p:spPr>
          <a:xfrm>
            <a:off x="6355080" y="1792224"/>
            <a:ext cx="2286000" cy="502920"/>
          </a:xfrm>
          <a:prstGeom prst="rect">
            <a:avLst/>
          </a:prstGeom>
          <a:noFill/>
        </p:spPr>
        <p:txBody>
          <a:bodyPr wrap="square" lIns="0" rIns="0" tIns="0" bIns="0" anchor="ctr">
            <a:noAutofit/>
          </a:bodyPr>
          <a:lstStyle/>
          <a:p>
            <a:pPr algn="l">
              <a:spcAft>
                <a:spcPts val="0"/>
              </a:spcAft>
            </a:pPr>
            <a:r>
              <a:rPr sz="1100" b="1" lang="en-GB">
                <a:solidFill>
                  <a:schemeClr val="tx2"/>
                </a:solidFill>
              </a:rPr>
              <a:t>Current branch</a:t>
            </a:r>
          </a:p>
          <a:p>
            <a:pPr algn="l">
              <a:spcAft>
                <a:spcPts val="0"/>
              </a:spcAft>
            </a:pPr>
            <a:r>
              <a:rPr sz="1050" b="0" lang="en-GB">
                <a:solidFill>
                  <a:schemeClr val="tx1"/>
                </a:solidFill>
              </a:rPr>
              <a:t>main is all we need</a:t>
            </a:r>
          </a:p>
        </p:txBody>
      </p:sp>
      <p:sp>
        <p:nvSpPr>
          <p:cNvPr id="48" name="GD legend 3"/>
          <p:cNvSpPr/>
          <p:nvPr/>
        </p:nvSpPr>
        <p:spPr>
          <a:xfrm>
            <a:off x="5897880" y="2350008"/>
            <a:ext cx="278892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GD legend badge 3"/>
          <p:cNvSpPr/>
          <p:nvPr/>
        </p:nvSpPr>
        <p:spPr>
          <a:xfrm>
            <a:off x="5989320" y="2459736"/>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50" name="GD legend text 3"/>
          <p:cNvSpPr txBox="1"/>
          <p:nvPr/>
        </p:nvSpPr>
        <p:spPr>
          <a:xfrm>
            <a:off x="6355080" y="2350008"/>
            <a:ext cx="2286000" cy="502920"/>
          </a:xfrm>
          <a:prstGeom prst="rect">
            <a:avLst/>
          </a:prstGeom>
          <a:noFill/>
        </p:spPr>
        <p:txBody>
          <a:bodyPr wrap="square" lIns="0" rIns="0" tIns="0" bIns="0" anchor="ctr">
            <a:noAutofit/>
          </a:bodyPr>
          <a:lstStyle/>
          <a:p>
            <a:pPr algn="l">
              <a:spcAft>
                <a:spcPts val="0"/>
              </a:spcAft>
            </a:pPr>
            <a:r>
              <a:rPr sz="1100" b="1" lang="en-GB">
                <a:solidFill>
                  <a:schemeClr val="tx2"/>
                </a:solidFill>
              </a:rPr>
              <a:t>Fetch / Pull / Push origin</a:t>
            </a:r>
          </a:p>
          <a:p>
            <a:pPr algn="l">
              <a:spcAft>
                <a:spcPts val="0"/>
              </a:spcAft>
            </a:pPr>
            <a:r>
              <a:rPr sz="1050" b="0" lang="en-GB">
                <a:solidFill>
                  <a:schemeClr val="tx1"/>
                </a:solidFill>
              </a:rPr>
              <a:t>sync with GitHub</a:t>
            </a:r>
          </a:p>
        </p:txBody>
      </p:sp>
      <p:sp>
        <p:nvSpPr>
          <p:cNvPr id="51" name="GD legend 4"/>
          <p:cNvSpPr/>
          <p:nvPr/>
        </p:nvSpPr>
        <p:spPr>
          <a:xfrm>
            <a:off x="5897880" y="2907792"/>
            <a:ext cx="278892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GD legend badge 4"/>
          <p:cNvSpPr/>
          <p:nvPr/>
        </p:nvSpPr>
        <p:spPr>
          <a:xfrm>
            <a:off x="5989320" y="3017520"/>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53" name="GD legend text 4"/>
          <p:cNvSpPr txBox="1"/>
          <p:nvPr/>
        </p:nvSpPr>
        <p:spPr>
          <a:xfrm>
            <a:off x="6355080" y="2907792"/>
            <a:ext cx="2286000" cy="502920"/>
          </a:xfrm>
          <a:prstGeom prst="rect">
            <a:avLst/>
          </a:prstGeom>
          <a:noFill/>
        </p:spPr>
        <p:txBody>
          <a:bodyPr wrap="square" lIns="0" rIns="0" tIns="0" bIns="0" anchor="ctr">
            <a:noAutofit/>
          </a:bodyPr>
          <a:lstStyle/>
          <a:p>
            <a:pPr algn="l">
              <a:spcAft>
                <a:spcPts val="0"/>
              </a:spcAft>
            </a:pPr>
            <a:r>
              <a:rPr sz="1100" b="1" lang="en-GB">
                <a:solidFill>
                  <a:schemeClr val="tx2"/>
                </a:solidFill>
              </a:rPr>
              <a:t>Changes</a:t>
            </a:r>
          </a:p>
          <a:p>
            <a:pPr algn="l">
              <a:spcAft>
                <a:spcPts val="0"/>
              </a:spcAft>
            </a:pPr>
            <a:r>
              <a:rPr sz="1050" b="0" lang="en-GB">
                <a:solidFill>
                  <a:schemeClr val="tx1"/>
                </a:solidFill>
              </a:rPr>
              <a:t>files edited since last commit</a:t>
            </a:r>
          </a:p>
        </p:txBody>
      </p:sp>
      <p:sp>
        <p:nvSpPr>
          <p:cNvPr id="54" name="GD legend 5"/>
          <p:cNvSpPr/>
          <p:nvPr/>
        </p:nvSpPr>
        <p:spPr>
          <a:xfrm>
            <a:off x="5897880" y="3465576"/>
            <a:ext cx="278892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GD legend badge 5"/>
          <p:cNvSpPr/>
          <p:nvPr/>
        </p:nvSpPr>
        <p:spPr>
          <a:xfrm>
            <a:off x="5989320" y="3575304"/>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56" name="GD legend text 5"/>
          <p:cNvSpPr txBox="1"/>
          <p:nvPr/>
        </p:nvSpPr>
        <p:spPr>
          <a:xfrm>
            <a:off x="6355080" y="3465576"/>
            <a:ext cx="2286000" cy="502920"/>
          </a:xfrm>
          <a:prstGeom prst="rect">
            <a:avLst/>
          </a:prstGeom>
          <a:noFill/>
        </p:spPr>
        <p:txBody>
          <a:bodyPr wrap="square" lIns="0" rIns="0" tIns="0" bIns="0" anchor="ctr">
            <a:noAutofit/>
          </a:bodyPr>
          <a:lstStyle/>
          <a:p>
            <a:pPr algn="l">
              <a:spcAft>
                <a:spcPts val="0"/>
              </a:spcAft>
            </a:pPr>
            <a:r>
              <a:rPr sz="1100" b="1" lang="en-GB">
                <a:solidFill>
                  <a:schemeClr val="tx2"/>
                </a:solidFill>
              </a:rPr>
              <a:t>Summary + Commit</a:t>
            </a:r>
          </a:p>
          <a:p>
            <a:pPr algn="l">
              <a:spcAft>
                <a:spcPts val="0"/>
              </a:spcAft>
            </a:pPr>
            <a:r>
              <a:rPr sz="1050" b="0" lang="en-GB">
                <a:solidFill>
                  <a:schemeClr val="tx1"/>
                </a:solidFill>
              </a:rPr>
              <a:t>save a snapshot with a message</a:t>
            </a:r>
          </a:p>
        </p:txBody>
      </p:sp>
      <p:sp>
        <p:nvSpPr>
          <p:cNvPr id="57" name="GD legend 6"/>
          <p:cNvSpPr/>
          <p:nvPr/>
        </p:nvSpPr>
        <p:spPr>
          <a:xfrm>
            <a:off x="5897880" y="4023360"/>
            <a:ext cx="278892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GD legend badge 6"/>
          <p:cNvSpPr/>
          <p:nvPr/>
        </p:nvSpPr>
        <p:spPr>
          <a:xfrm>
            <a:off x="5989320" y="4133088"/>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6</a:t>
            </a:r>
          </a:p>
        </p:txBody>
      </p:sp>
      <p:sp>
        <p:nvSpPr>
          <p:cNvPr id="59" name="GD legend text 6"/>
          <p:cNvSpPr txBox="1"/>
          <p:nvPr/>
        </p:nvSpPr>
        <p:spPr>
          <a:xfrm>
            <a:off x="6355080" y="4023360"/>
            <a:ext cx="2286000" cy="502920"/>
          </a:xfrm>
          <a:prstGeom prst="rect">
            <a:avLst/>
          </a:prstGeom>
          <a:noFill/>
        </p:spPr>
        <p:txBody>
          <a:bodyPr wrap="square" lIns="0" rIns="0" tIns="0" bIns="0" anchor="ctr">
            <a:noAutofit/>
          </a:bodyPr>
          <a:lstStyle/>
          <a:p>
            <a:pPr algn="l">
              <a:spcAft>
                <a:spcPts val="0"/>
              </a:spcAft>
            </a:pPr>
            <a:r>
              <a:rPr sz="1100" b="1" lang="en-GB">
                <a:solidFill>
                  <a:schemeClr val="tx2"/>
                </a:solidFill>
              </a:rPr>
              <a:t>Diff</a:t>
            </a:r>
          </a:p>
          <a:p>
            <a:pPr algn="l">
              <a:spcAft>
                <a:spcPts val="0"/>
              </a:spcAft>
            </a:pPr>
            <a:r>
              <a:rPr sz="1050" b="0" lang="en-GB">
                <a:solidFill>
                  <a:schemeClr val="tx1"/>
                </a:solidFill>
              </a:rPr>
              <a:t>red removed, green added</a:t>
            </a:r>
          </a:p>
        </p:txBody>
      </p:sp>
      <p:sp>
        <p:nvSpPr>
          <p:cNvPr id="60" name="GD note"/>
          <p:cNvSpPr txBox="1"/>
          <p:nvPr/>
        </p:nvSpPr>
        <p:spPr>
          <a:xfrm>
            <a:off x="457200" y="4617720"/>
            <a:ext cx="8229600" cy="411480"/>
          </a:xfrm>
          <a:prstGeom prst="rect">
            <a:avLst/>
          </a:prstGeom>
          <a:noFill/>
        </p:spPr>
        <p:txBody>
          <a:bodyPr wrap="square" lIns="0" rIns="0" tIns="0" bIns="0" anchor="ctr">
            <a:noAutofit/>
          </a:bodyPr>
          <a:lstStyle/>
          <a:p>
            <a:pPr algn="l">
              <a:spcAft>
                <a:spcPts val="400"/>
              </a:spcAft>
            </a:pPr>
            <a:r>
              <a:rPr sz="1200" b="1" lang="en-GB">
                <a:solidFill>
                  <a:schemeClr val="tx2"/>
                </a:solidFill>
              </a:rPr>
              <a:t>Course repository: </a:t>
            </a:r>
            <a:r>
              <a:rPr sz="1200" b="0" lang="en-GB">
                <a:solidFill>
                  <a:schemeClr val="tx1"/>
                </a:solidFill>
              </a:rPr>
              <a:t>you only pull. Work in your own folder; a group repository is optional.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everyday workflow</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Flow steps step 1"/>
          <p:cNvSpPr/>
          <p:nvPr/>
        </p:nvSpPr>
        <p:spPr>
          <a:xfrm>
            <a:off x="457200" y="1234440"/>
            <a:ext cx="2139696"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Fetch, then</a:t>
            </a:r>
            <a:br/>
            <a:r>
              <a:rPr sz="1200" b="1" lang="en-GB">
                <a:solidFill>
                  <a:schemeClr val="tx2"/>
                </a:solidFill>
              </a:rPr>
              <a:t>Pull origin</a:t>
            </a:r>
          </a:p>
        </p:txBody>
      </p:sp>
      <p:sp>
        <p:nvSpPr>
          <p:cNvPr id="11" name="Flow steps step 2"/>
          <p:cNvSpPr/>
          <p:nvPr/>
        </p:nvSpPr>
        <p:spPr>
          <a:xfrm>
            <a:off x="2487168" y="1234440"/>
            <a:ext cx="2139696"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Copy files into</a:t>
            </a:r>
            <a:br/>
            <a:r>
              <a:rPr sz="1200" b="1" lang="en-GB">
                <a:solidFill>
                  <a:schemeClr val="tx2"/>
                </a:solidFill>
              </a:rPr>
              <a:t>your own folder</a:t>
            </a:r>
          </a:p>
        </p:txBody>
      </p:sp>
      <p:sp>
        <p:nvSpPr>
          <p:cNvPr id="12" name="Flow steps step 3"/>
          <p:cNvSpPr/>
          <p:nvPr/>
        </p:nvSpPr>
        <p:spPr>
          <a:xfrm>
            <a:off x="4517136" y="1234440"/>
            <a:ext cx="2139696"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Work in</a:t>
            </a:r>
            <a:br/>
            <a:r>
              <a:rPr sz="1200" b="1" lang="en-GB">
                <a:solidFill>
                  <a:schemeClr val="tx2"/>
                </a:solidFill>
              </a:rPr>
              <a:t>Positron</a:t>
            </a:r>
          </a:p>
        </p:txBody>
      </p:sp>
      <p:sp>
        <p:nvSpPr>
          <p:cNvPr id="13" name="Flow steps step 4"/>
          <p:cNvSpPr/>
          <p:nvPr/>
        </p:nvSpPr>
        <p:spPr>
          <a:xfrm>
            <a:off x="6547104" y="1234440"/>
            <a:ext cx="2139696"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Optional:</a:t>
            </a:r>
            <a:br/>
            <a:r>
              <a:rPr sz="1200" b="1" lang="en-GB">
                <a:solidFill>
                  <a:schemeClr val="tx2"/>
                </a:solidFill>
              </a:rPr>
              <a:t>commit, push</a:t>
            </a:r>
          </a:p>
        </p:txBody>
      </p:sp>
      <p:sp>
        <p:nvSpPr>
          <p:cNvPr id="14" name="Flow card 1 body"/>
          <p:cNvSpPr/>
          <p:nvPr/>
        </p:nvSpPr>
        <p:spPr>
          <a:xfrm>
            <a:off x="457200" y="237744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Flow card 1 header"/>
          <p:cNvSpPr/>
          <p:nvPr/>
        </p:nvSpPr>
        <p:spPr>
          <a:xfrm>
            <a:off x="45720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Flow card 1 heading"/>
          <p:cNvSpPr txBox="1"/>
          <p:nvPr/>
        </p:nvSpPr>
        <p:spPr>
          <a:xfrm>
            <a:off x="59436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Course repository</a:t>
            </a:r>
          </a:p>
        </p:txBody>
      </p:sp>
      <p:pic>
        <p:nvPicPr>
          <p:cNvPr id="17" name="Icon Flow card 1" descr=""/>
          <p:cNvPicPr>
            <a:picLocks noChangeAspect="1"/>
          </p:cNvPicPr>
          <p:nvPr/>
        </p:nvPicPr>
        <p:blipFill>
          <a:blip r:embed="rId3"/>
          <a:stretch>
            <a:fillRect/>
          </a:stretch>
        </p:blipFill>
        <p:spPr>
          <a:xfrm>
            <a:off x="2670048" y="2016252"/>
            <a:ext cx="310896" cy="310896"/>
          </a:xfrm>
          <a:prstGeom prst="rect">
            <a:avLst/>
          </a:prstGeom>
        </p:spPr>
      </p:pic>
      <p:sp>
        <p:nvSpPr>
          <p:cNvPr id="18" name="Flow card 1 text"/>
          <p:cNvSpPr txBox="1"/>
          <p:nvPr/>
        </p:nvSpPr>
        <p:spPr>
          <a:xfrm>
            <a:off x="621792" y="251460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Required: pull before every session</a:t>
            </a:r>
          </a:p>
          <a:p>
            <a:pPr algn="l" marL="182880" indent="-182880">
              <a:spcAft>
                <a:spcPts val="600"/>
              </a:spcAft>
              <a:buClr>
                <a:schemeClr val="accent1"/>
              </a:buClr>
              <a:buFont typeface="Arial"/>
              <a:buChar char="▪"/>
            </a:pPr>
            <a:r>
              <a:rPr sz="1300" b="0" lang="en-GB">
                <a:solidFill>
                  <a:schemeClr val="tx1"/>
                </a:solidFill>
              </a:rPr>
              <a:t>Read-only for you: copy files into your own folder before editing</a:t>
            </a:r>
          </a:p>
        </p:txBody>
      </p:sp>
      <p:sp>
        <p:nvSpPr>
          <p:cNvPr id="19" name="Flow card 2 body"/>
          <p:cNvSpPr/>
          <p:nvPr/>
        </p:nvSpPr>
        <p:spPr>
          <a:xfrm>
            <a:off x="3246120" y="237744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Flow card 2 header"/>
          <p:cNvSpPr/>
          <p:nvPr/>
        </p:nvSpPr>
        <p:spPr>
          <a:xfrm>
            <a:off x="324612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Flow card 2 heading"/>
          <p:cNvSpPr txBox="1"/>
          <p:nvPr/>
        </p:nvSpPr>
        <p:spPr>
          <a:xfrm>
            <a:off x="338328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Group repository</a:t>
            </a:r>
          </a:p>
        </p:txBody>
      </p:sp>
      <p:pic>
        <p:nvPicPr>
          <p:cNvPr id="22" name="Icon Flow card 2" descr=""/>
          <p:cNvPicPr>
            <a:picLocks noChangeAspect="1"/>
          </p:cNvPicPr>
          <p:nvPr/>
        </p:nvPicPr>
        <p:blipFill>
          <a:blip r:embed="rId4"/>
          <a:stretch>
            <a:fillRect/>
          </a:stretch>
        </p:blipFill>
        <p:spPr>
          <a:xfrm>
            <a:off x="5458968" y="2016252"/>
            <a:ext cx="310896" cy="310896"/>
          </a:xfrm>
          <a:prstGeom prst="rect">
            <a:avLst/>
          </a:prstGeom>
        </p:spPr>
      </p:pic>
      <p:sp>
        <p:nvSpPr>
          <p:cNvPr id="23" name="Flow card 2 text"/>
          <p:cNvSpPr txBox="1"/>
          <p:nvPr/>
        </p:nvSpPr>
        <p:spPr>
          <a:xfrm>
            <a:off x="3410712" y="251460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Optional: one member publishes a private repository</a:t>
            </a:r>
          </a:p>
          <a:p>
            <a:pPr algn="l" marL="182880" indent="-182880">
              <a:spcAft>
                <a:spcPts val="600"/>
              </a:spcAft>
              <a:buClr>
                <a:schemeClr val="accent1"/>
              </a:buClr>
              <a:buFont typeface="Arial"/>
              <a:buChar char="▪"/>
            </a:pPr>
            <a:r>
              <a:rPr sz="1300" b="0" lang="en-GB">
                <a:solidFill>
                  <a:schemeClr val="tx1"/>
                </a:solidFill>
              </a:rPr>
              <a:t>Pull, work, commit, push</a:t>
            </a:r>
          </a:p>
          <a:p>
            <a:pPr algn="l" marL="182880" indent="-182880">
              <a:spcAft>
                <a:spcPts val="600"/>
              </a:spcAft>
              <a:buClr>
                <a:schemeClr val="accent1"/>
              </a:buClr>
              <a:buFont typeface="Arial"/>
              <a:buChar char="▪"/>
            </a:pPr>
            <a:r>
              <a:rPr sz="1300" b="0" lang="en-GB">
                <a:solidFill>
                  <a:schemeClr val="tx1"/>
                </a:solidFill>
              </a:rPr>
              <a:t>One person per file where you can</a:t>
            </a:r>
          </a:p>
        </p:txBody>
      </p:sp>
      <p:sp>
        <p:nvSpPr>
          <p:cNvPr id="24" name="Flow card 3 body"/>
          <p:cNvSpPr/>
          <p:nvPr/>
        </p:nvSpPr>
        <p:spPr>
          <a:xfrm>
            <a:off x="6035040" y="237744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Flow card 3 header"/>
          <p:cNvSpPr/>
          <p:nvPr/>
        </p:nvSpPr>
        <p:spPr>
          <a:xfrm>
            <a:off x="603504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Flow card 3 heading"/>
          <p:cNvSpPr txBox="1"/>
          <p:nvPr/>
        </p:nvSpPr>
        <p:spPr>
          <a:xfrm>
            <a:off x="617220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Good commits</a:t>
            </a:r>
          </a:p>
        </p:txBody>
      </p:sp>
      <p:pic>
        <p:nvPicPr>
          <p:cNvPr id="27" name="Icon Flow card 3" descr=""/>
          <p:cNvPicPr>
            <a:picLocks noChangeAspect="1"/>
          </p:cNvPicPr>
          <p:nvPr/>
        </p:nvPicPr>
        <p:blipFill>
          <a:blip r:embed="rId5"/>
          <a:stretch>
            <a:fillRect/>
          </a:stretch>
        </p:blipFill>
        <p:spPr>
          <a:xfrm>
            <a:off x="8247888" y="2016252"/>
            <a:ext cx="310896" cy="310896"/>
          </a:xfrm>
          <a:prstGeom prst="rect">
            <a:avLst/>
          </a:prstGeom>
        </p:spPr>
      </p:pic>
      <p:sp>
        <p:nvSpPr>
          <p:cNvPr id="28" name="Flow card 3 text"/>
          <p:cNvSpPr txBox="1"/>
          <p:nvPr/>
        </p:nvSpPr>
        <p:spPr>
          <a:xfrm>
            <a:off x="6199632" y="251460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If you commit: small steps, often</a:t>
            </a:r>
          </a:p>
          <a:p>
            <a:pPr algn="l" marL="182880" indent="-182880">
              <a:spcAft>
                <a:spcPts val="600"/>
              </a:spcAft>
              <a:buClr>
                <a:schemeClr val="accent1"/>
              </a:buClr>
              <a:buFont typeface="Arial"/>
              <a:buChar char="▪"/>
            </a:pPr>
            <a:r>
              <a:rPr sz="1300" b="0" lang="en-GB">
                <a:solidFill>
                  <a:schemeClr val="tx1"/>
                </a:solidFill>
              </a:rPr>
              <a:t>Summary says what changed: “Add AT sales chart”</a:t>
            </a:r>
          </a:p>
          <a:p>
            <a:pPr algn="l" marL="182880" indent="-182880">
              <a:spcAft>
                <a:spcPts val="600"/>
              </a:spcAft>
              <a:buClr>
                <a:schemeClr val="accent1"/>
              </a:buClr>
              <a:buFont typeface="Arial"/>
              <a:buChar char="▪"/>
            </a:pPr>
            <a:r>
              <a:rPr sz="1300" b="0" lang="en-GB">
                <a:solidFill>
                  <a:schemeClr val="tx1"/>
                </a:solidFill>
              </a:rPr>
              <a:t>Push when you stop</a:t>
            </a:r>
          </a:p>
        </p:txBody>
      </p:sp>
      <p:sp>
        <p:nvSpPr>
          <p:cNvPr id="29" name="Conflict box"/>
          <p:cNvSpPr/>
          <p:nvPr/>
        </p:nvSpPr>
        <p:spPr>
          <a:xfrm>
            <a:off x="457200" y="434340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Icon Conflict" descr=""/>
          <p:cNvPicPr>
            <a:picLocks noChangeAspect="1"/>
          </p:cNvPicPr>
          <p:nvPr/>
        </p:nvPicPr>
        <p:blipFill>
          <a:blip r:embed="rId6"/>
          <a:stretch>
            <a:fillRect/>
          </a:stretch>
        </p:blipFill>
        <p:spPr>
          <a:xfrm>
            <a:off x="658368" y="4517136"/>
            <a:ext cx="384048" cy="384048"/>
          </a:xfrm>
          <a:prstGeom prst="rect">
            <a:avLst/>
          </a:prstGeom>
        </p:spPr>
      </p:pic>
      <p:sp>
        <p:nvSpPr>
          <p:cNvPr id="31" name="Conflict text"/>
          <p:cNvSpPr txBox="1"/>
          <p:nvPr/>
        </p:nvSpPr>
        <p:spPr>
          <a:xfrm>
            <a:off x="1234440" y="4343400"/>
            <a:ext cx="7269480" cy="731520"/>
          </a:xfrm>
          <a:prstGeom prst="rect">
            <a:avLst/>
          </a:prstGeom>
          <a:noFill/>
        </p:spPr>
        <p:txBody>
          <a:bodyPr wrap="square" lIns="0" rIns="0" tIns="0" bIns="0" anchor="ctr">
            <a:noAutofit/>
          </a:bodyPr>
          <a:lstStyle/>
          <a:p>
            <a:pPr algn="l">
              <a:spcAft>
                <a:spcPts val="400"/>
              </a:spcAft>
            </a:pPr>
            <a:r>
              <a:rPr sz="1300" b="1" lang="en-GB">
                <a:solidFill>
                  <a:schemeClr val="bg1"/>
                </a:solidFill>
              </a:rPr>
              <a:t>Merge conflict in a group repository? </a:t>
            </a:r>
            <a:r>
              <a:rPr sz="1300" b="0" lang="en-GB">
                <a:solidFill>
                  <a:schemeClr val="bg1"/>
                </a:solidFill>
              </a:rPr>
              <a:t>Open the file, keep the lines you want, delete the markers (&lt;&lt;&lt; === &gt;&gt;&gt;), then commit and push.</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Working on the case study together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Group steps step 1"/>
          <p:cNvSpPr/>
          <p:nvPr/>
        </p:nvSpPr>
        <p:spPr>
          <a:xfrm>
            <a:off x="457200" y="1234440"/>
            <a:ext cx="1733702"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Pull course</a:t>
            </a:r>
            <a:br/>
            <a:r>
              <a:rPr sz="1200" b="1" lang="en-GB">
                <a:solidFill>
                  <a:schemeClr val="tx2"/>
                </a:solidFill>
              </a:rPr>
              <a:t>repository</a:t>
            </a:r>
          </a:p>
        </p:txBody>
      </p:sp>
      <p:sp>
        <p:nvSpPr>
          <p:cNvPr id="11" name="Group steps step 2"/>
          <p:cNvSpPr/>
          <p:nvPr/>
        </p:nvSpPr>
        <p:spPr>
          <a:xfrm>
            <a:off x="2081174"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Copy into</a:t>
            </a:r>
            <a:br/>
            <a:r>
              <a:rPr sz="1200" b="1" lang="en-GB">
                <a:solidFill>
                  <a:schemeClr val="tx2"/>
                </a:solidFill>
              </a:rPr>
              <a:t>your folder</a:t>
            </a:r>
          </a:p>
        </p:txBody>
      </p:sp>
      <p:sp>
        <p:nvSpPr>
          <p:cNvPr id="12" name="Group steps step 3"/>
          <p:cNvSpPr/>
          <p:nvPr/>
        </p:nvSpPr>
        <p:spPr>
          <a:xfrm>
            <a:off x="3705149"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Positron:</a:t>
            </a:r>
            <a:br/>
            <a:r>
              <a:rPr sz="1200" b="1" lang="en-GB">
                <a:solidFill>
                  <a:schemeClr val="tx2"/>
                </a:solidFill>
              </a:rPr>
              <a:t>.venv</a:t>
            </a:r>
          </a:p>
        </p:txBody>
      </p:sp>
      <p:sp>
        <p:nvSpPr>
          <p:cNvPr id="13" name="Group steps step 4"/>
          <p:cNvSpPr/>
          <p:nvPr/>
        </p:nvSpPr>
        <p:spPr>
          <a:xfrm>
            <a:off x="5329123"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Combine:</a:t>
            </a:r>
            <a:br/>
            <a:r>
              <a:rPr sz="1200" b="1" lang="en-GB">
                <a:solidFill>
                  <a:schemeClr val="tx2"/>
                </a:solidFill>
              </a:rPr>
              <a:t>2 ways</a:t>
            </a:r>
          </a:p>
        </p:txBody>
      </p:sp>
      <p:sp>
        <p:nvSpPr>
          <p:cNvPr id="14" name="Group steps step 5"/>
          <p:cNvSpPr/>
          <p:nvPr/>
        </p:nvSpPr>
        <p:spPr>
          <a:xfrm>
            <a:off x="6953098"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Upload</a:t>
            </a:r>
            <a:br/>
            <a:r>
              <a:rPr sz="1200" b="1" lang="en-GB">
                <a:solidFill>
                  <a:schemeClr val="tx2"/>
                </a:solidFill>
              </a:rPr>
              <a:t>to Canvas</a:t>
            </a:r>
          </a:p>
        </p:txBody>
      </p:sp>
      <p:sp>
        <p:nvSpPr>
          <p:cNvPr id="15" name="Group card 1 body"/>
          <p:cNvSpPr/>
          <p:nvPr/>
        </p:nvSpPr>
        <p:spPr>
          <a:xfrm>
            <a:off x="457200" y="237744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Group card 1 header"/>
          <p:cNvSpPr/>
          <p:nvPr/>
        </p:nvSpPr>
        <p:spPr>
          <a:xfrm>
            <a:off x="45720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Group card 1 heading"/>
          <p:cNvSpPr txBox="1"/>
          <p:nvPr/>
        </p:nvSpPr>
        <p:spPr>
          <a:xfrm>
            <a:off x="59436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Project folder</a:t>
            </a:r>
          </a:p>
        </p:txBody>
      </p:sp>
      <p:pic>
        <p:nvPicPr>
          <p:cNvPr id="18" name="Icon Group card 1" descr=""/>
          <p:cNvPicPr>
            <a:picLocks noChangeAspect="1"/>
          </p:cNvPicPr>
          <p:nvPr/>
        </p:nvPicPr>
        <p:blipFill>
          <a:blip r:embed="rId3"/>
          <a:stretch>
            <a:fillRect/>
          </a:stretch>
        </p:blipFill>
        <p:spPr>
          <a:xfrm>
            <a:off x="2670048" y="2016252"/>
            <a:ext cx="310896" cy="310896"/>
          </a:xfrm>
          <a:prstGeom prst="rect">
            <a:avLst/>
          </a:prstGeom>
        </p:spPr>
      </p:pic>
      <p:sp>
        <p:nvSpPr>
          <p:cNvPr id="19" name="Group card 1 text"/>
          <p:cNvSpPr txBox="1"/>
          <p:nvPr/>
        </p:nvSpPr>
        <p:spPr>
          <a:xfrm>
            <a:off x="621792" y="251460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Copy data/case, report.qmd and requirements.txt</a:t>
            </a:r>
          </a:p>
          <a:p>
            <a:pPr algn="l" marL="182880" indent="-182880">
              <a:spcAft>
                <a:spcPts val="600"/>
              </a:spcAft>
              <a:buClr>
                <a:schemeClr val="accent1"/>
              </a:buClr>
              <a:buFont typeface="Arial"/>
              <a:buChar char="▪"/>
            </a:pPr>
            <a:r>
              <a:rPr sz="1300" b="0" lang="en-GB">
                <a:solidFill>
                  <a:schemeClr val="tx1"/>
                </a:solidFill>
              </a:rPr>
              <a:t>report.qmd next to the data folder</a:t>
            </a:r>
          </a:p>
          <a:p>
            <a:pPr algn="l" marL="182880" indent="-182880">
              <a:spcAft>
                <a:spcPts val="600"/>
              </a:spcAft>
              <a:buClr>
                <a:schemeClr val="accent1"/>
              </a:buClr>
              <a:buFont typeface="Arial"/>
              <a:buChar char="▪"/>
            </a:pPr>
            <a:r>
              <a:rPr sz="1300" b="0" lang="en-GB">
                <a:solidFill>
                  <a:schemeClr val="tx1"/>
                </a:solidFill>
              </a:rPr>
              <a:t>Create Environment from requirements.txt</a:t>
            </a:r>
          </a:p>
        </p:txBody>
      </p:sp>
      <p:sp>
        <p:nvSpPr>
          <p:cNvPr id="20" name="Group card 2 body"/>
          <p:cNvSpPr/>
          <p:nvPr/>
        </p:nvSpPr>
        <p:spPr>
          <a:xfrm>
            <a:off x="3246120" y="237744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Group card 2 header"/>
          <p:cNvSpPr/>
          <p:nvPr/>
        </p:nvSpPr>
        <p:spPr>
          <a:xfrm>
            <a:off x="324612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Group card 2 heading"/>
          <p:cNvSpPr txBox="1"/>
          <p:nvPr/>
        </p:nvSpPr>
        <p:spPr>
          <a:xfrm>
            <a:off x="338328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Way 1: simple</a:t>
            </a:r>
          </a:p>
        </p:txBody>
      </p:sp>
      <p:pic>
        <p:nvPicPr>
          <p:cNvPr id="23" name="Icon Group card 2" descr=""/>
          <p:cNvPicPr>
            <a:picLocks noChangeAspect="1"/>
          </p:cNvPicPr>
          <p:nvPr/>
        </p:nvPicPr>
        <p:blipFill>
          <a:blip r:embed="rId4"/>
          <a:stretch>
            <a:fillRect/>
          </a:stretch>
        </p:blipFill>
        <p:spPr>
          <a:xfrm>
            <a:off x="5458968" y="2016252"/>
            <a:ext cx="310896" cy="310896"/>
          </a:xfrm>
          <a:prstGeom prst="rect">
            <a:avLst/>
          </a:prstGeom>
        </p:spPr>
      </p:pic>
      <p:sp>
        <p:nvSpPr>
          <p:cNvPr id="24" name="Group card 2 text"/>
          <p:cNvSpPr txBox="1"/>
          <p:nvPr/>
        </p:nvSpPr>
        <p:spPr>
          <a:xfrm>
            <a:off x="3410712" y="251460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One member keeps report.qmd</a:t>
            </a:r>
          </a:p>
          <a:p>
            <a:pPr algn="l" marL="182880" indent="-182880">
              <a:spcAft>
                <a:spcPts val="600"/>
              </a:spcAft>
              <a:buClr>
                <a:schemeClr val="accent1"/>
              </a:buClr>
              <a:buFont typeface="Arial"/>
              <a:buChar char="▪"/>
            </a:pPr>
            <a:r>
              <a:rPr sz="1300" b="0" lang="en-GB">
                <a:solidFill>
                  <a:schemeClr val="tx1"/>
                </a:solidFill>
              </a:rPr>
              <a:t>The others send code chunks and text</a:t>
            </a:r>
          </a:p>
          <a:p>
            <a:pPr algn="l" marL="182880" indent="-182880">
              <a:spcAft>
                <a:spcPts val="600"/>
              </a:spcAft>
              <a:buClr>
                <a:schemeClr val="accent1"/>
              </a:buClr>
              <a:buFont typeface="Arial"/>
              <a:buChar char="▪"/>
            </a:pPr>
            <a:r>
              <a:rPr sz="1300" b="0" lang="en-GB">
                <a:solidFill>
                  <a:schemeClr val="tx1"/>
                </a:solidFill>
              </a:rPr>
              <a:t>Render the combined file every week</a:t>
            </a:r>
          </a:p>
        </p:txBody>
      </p:sp>
      <p:sp>
        <p:nvSpPr>
          <p:cNvPr id="25" name="Group card 3 body"/>
          <p:cNvSpPr/>
          <p:nvPr/>
        </p:nvSpPr>
        <p:spPr>
          <a:xfrm>
            <a:off x="6035040" y="237744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Group card 3 header"/>
          <p:cNvSpPr/>
          <p:nvPr/>
        </p:nvSpPr>
        <p:spPr>
          <a:xfrm>
            <a:off x="603504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Group card 3 heading"/>
          <p:cNvSpPr txBox="1"/>
          <p:nvPr/>
        </p:nvSpPr>
        <p:spPr>
          <a:xfrm>
            <a:off x="617220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Way 2: GitHub</a:t>
            </a:r>
          </a:p>
        </p:txBody>
      </p:sp>
      <p:pic>
        <p:nvPicPr>
          <p:cNvPr id="28" name="Icon Group card 3" descr=""/>
          <p:cNvPicPr>
            <a:picLocks noChangeAspect="1"/>
          </p:cNvPicPr>
          <p:nvPr/>
        </p:nvPicPr>
        <p:blipFill>
          <a:blip r:embed="rId5"/>
          <a:stretch>
            <a:fillRect/>
          </a:stretch>
        </p:blipFill>
        <p:spPr>
          <a:xfrm>
            <a:off x="8247888" y="2016252"/>
            <a:ext cx="310896" cy="310896"/>
          </a:xfrm>
          <a:prstGeom prst="rect">
            <a:avLst/>
          </a:prstGeom>
        </p:spPr>
      </p:pic>
      <p:sp>
        <p:nvSpPr>
          <p:cNvPr id="29" name="Group card 3 text"/>
          <p:cNvSpPr txBox="1"/>
          <p:nvPr/>
        </p:nvSpPr>
        <p:spPr>
          <a:xfrm>
            <a:off x="6199632" y="251460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Optional: Publish repository, private</a:t>
            </a:r>
          </a:p>
          <a:p>
            <a:pPr algn="l" marL="182880" indent="-182880">
              <a:spcAft>
                <a:spcPts val="600"/>
              </a:spcAft>
              <a:buClr>
                <a:schemeClr val="accent1"/>
              </a:buClr>
              <a:buFont typeface="Arial"/>
              <a:buChar char="▪"/>
            </a:pPr>
            <a:r>
              <a:rPr sz="1300" b="0" lang="en-GB">
                <a:solidFill>
                  <a:schemeClr val="tx1"/>
                </a:solidFill>
              </a:rPr>
              <a:t>Invite on github.com: Collaborators</a:t>
            </a:r>
          </a:p>
          <a:p>
            <a:pPr algn="l" marL="182880" indent="-182880">
              <a:spcAft>
                <a:spcPts val="600"/>
              </a:spcAft>
              <a:buClr>
                <a:schemeClr val="accent1"/>
              </a:buClr>
              <a:buFont typeface="Arial"/>
              <a:buChar char="▪"/>
            </a:pPr>
            <a:r>
              <a:rPr sz="1300" b="0" lang="en-GB">
                <a:solidFill>
                  <a:schemeClr val="tx1"/>
                </a:solidFill>
              </a:rPr>
              <a:t>Pull, commit, push</a:t>
            </a:r>
          </a:p>
        </p:txBody>
      </p:sp>
      <p:sp>
        <p:nvSpPr>
          <p:cNvPr id="30" name="Group rule box"/>
          <p:cNvSpPr/>
          <p:nvPr/>
        </p:nvSpPr>
        <p:spPr>
          <a:xfrm>
            <a:off x="457200" y="438912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Icon Group rule" descr=""/>
          <p:cNvPicPr>
            <a:picLocks noChangeAspect="1"/>
          </p:cNvPicPr>
          <p:nvPr/>
        </p:nvPicPr>
        <p:blipFill>
          <a:blip r:embed="rId4"/>
          <a:stretch>
            <a:fillRect/>
          </a:stretch>
        </p:blipFill>
        <p:spPr>
          <a:xfrm>
            <a:off x="658368" y="4539996"/>
            <a:ext cx="384048" cy="384048"/>
          </a:xfrm>
          <a:prstGeom prst="rect">
            <a:avLst/>
          </a:prstGeom>
        </p:spPr>
      </p:pic>
      <p:sp>
        <p:nvSpPr>
          <p:cNvPr id="32" name="Group rule text"/>
          <p:cNvSpPr txBox="1"/>
          <p:nvPr/>
        </p:nvSpPr>
        <p:spPr>
          <a:xfrm>
            <a:off x="1234440" y="4389120"/>
            <a:ext cx="726948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Only Canvas counts: </a:t>
            </a:r>
            <a:r>
              <a:rPr sz="1300" b="0" lang="en-GB">
                <a:solidFill>
                  <a:schemeClr val="bg1"/>
                </a:solidFill>
              </a:rPr>
              <a:t>upload report.qmd and report.html; your commit history is not assessed.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5 of 7 · how it works, the YAML header, code cells, output formats</a:t>
            </a:r>
          </a:p>
        </p:txBody>
      </p:sp>
      <p:sp>
        <p:nvSpPr>
          <p:cNvPr id="3" name="Title 2"/>
          <p:cNvSpPr>
            <a:spLocks noGrp="1"/>
          </p:cNvSpPr>
          <p:nvPr>
            <p:ph type="ctrTitle"/>
          </p:nvPr>
        </p:nvSpPr>
        <p:spPr/>
        <p:txBody>
          <a:bodyPr/>
          <a:lstStyle/>
          <a:p>
            <a:r>
              <a:rPr sz="1600" lang="en-GB"/>
              <a:t>Write reports with Quarto</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Quarto: text, code and results in one file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Quarto steps step 1"/>
          <p:cNvSpPr/>
          <p:nvPr/>
        </p:nvSpPr>
        <p:spPr>
          <a:xfrm>
            <a:off x="457200" y="1234440"/>
            <a:ext cx="1733702"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report.qmd</a:t>
            </a:r>
          </a:p>
        </p:txBody>
      </p:sp>
      <p:sp>
        <p:nvSpPr>
          <p:cNvPr id="11" name="Quarto steps step 2"/>
          <p:cNvSpPr/>
          <p:nvPr/>
        </p:nvSpPr>
        <p:spPr>
          <a:xfrm>
            <a:off x="2081174"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Python runs</a:t>
            </a:r>
            <a:br/>
            <a:r>
              <a:rPr sz="1200" b="1" lang="en-GB">
                <a:solidFill>
                  <a:schemeClr val="tx2"/>
                </a:solidFill>
              </a:rPr>
              <a:t>the cells</a:t>
            </a:r>
          </a:p>
        </p:txBody>
      </p:sp>
      <p:sp>
        <p:nvSpPr>
          <p:cNvPr id="12" name="Quarto steps step 3"/>
          <p:cNvSpPr/>
          <p:nvPr/>
        </p:nvSpPr>
        <p:spPr>
          <a:xfrm>
            <a:off x="3705149"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Markdown</a:t>
            </a:r>
            <a:br/>
            <a:r>
              <a:rPr sz="1200" b="1" lang="en-GB">
                <a:solidFill>
                  <a:schemeClr val="tx2"/>
                </a:solidFill>
              </a:rPr>
              <a:t>+ results</a:t>
            </a:r>
          </a:p>
        </p:txBody>
      </p:sp>
      <p:sp>
        <p:nvSpPr>
          <p:cNvPr id="13" name="Quarto steps step 4"/>
          <p:cNvSpPr/>
          <p:nvPr/>
        </p:nvSpPr>
        <p:spPr>
          <a:xfrm>
            <a:off x="5329123"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Pandoc</a:t>
            </a:r>
            <a:br/>
            <a:r>
              <a:rPr sz="1200" b="1" lang="en-GB">
                <a:solidFill>
                  <a:schemeClr val="tx2"/>
                </a:solidFill>
              </a:rPr>
              <a:t>converts</a:t>
            </a:r>
          </a:p>
        </p:txBody>
      </p:sp>
      <p:sp>
        <p:nvSpPr>
          <p:cNvPr id="14" name="Quarto steps step 5"/>
          <p:cNvSpPr/>
          <p:nvPr/>
        </p:nvSpPr>
        <p:spPr>
          <a:xfrm>
            <a:off x="6953098"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HTML, PDF,</a:t>
            </a:r>
            <a:br/>
            <a:r>
              <a:rPr sz="1200" b="1" lang="en-GB">
                <a:solidFill>
                  <a:schemeClr val="tx2"/>
                </a:solidFill>
              </a:rPr>
              <a:t>Word, slides</a:t>
            </a:r>
          </a:p>
        </p:txBody>
      </p:sp>
      <p:sp>
        <p:nvSpPr>
          <p:cNvPr id="15" name="Anatomy code caption bar"/>
          <p:cNvSpPr/>
          <p:nvPr/>
        </p:nvSpPr>
        <p:spPr>
          <a:xfrm>
            <a:off x="457200" y="1920240"/>
            <a:ext cx="45720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Anatomy code caption"/>
          <p:cNvSpPr txBox="1"/>
          <p:nvPr/>
        </p:nvSpPr>
        <p:spPr>
          <a:xfrm>
            <a:off x="566928" y="1920240"/>
            <a:ext cx="43525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report.qmd</a:t>
            </a:r>
          </a:p>
        </p:txBody>
      </p:sp>
      <p:sp>
        <p:nvSpPr>
          <p:cNvPr id="17" name="Anatomy code box"/>
          <p:cNvSpPr/>
          <p:nvPr/>
        </p:nvSpPr>
        <p:spPr>
          <a:xfrm>
            <a:off x="457200" y="2194560"/>
            <a:ext cx="4572000" cy="23317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Anatomy code code"/>
          <p:cNvSpPr txBox="1"/>
          <p:nvPr/>
        </p:nvSpPr>
        <p:spPr>
          <a:xfrm>
            <a:off x="594360" y="2286000"/>
            <a:ext cx="4297680" cy="214884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a:t>
            </a:r>
          </a:p>
          <a:p>
            <a:pPr algn="l">
              <a:spcAft>
                <a:spcPts val="0"/>
              </a:spcAft>
            </a:pPr>
            <a:r>
              <a:rPr sz="1000" b="0" lang="en-GB">
                <a:solidFill>
                  <a:schemeClr val="bg1"/>
                </a:solidFill>
                <a:latin typeface="Consolas"/>
              </a:rPr>
              <a:t>title: "Alpenglow: sales in Austria"</a:t>
            </a:r>
          </a:p>
          <a:p>
            <a:pPr algn="l">
              <a:spcAft>
                <a:spcPts val="0"/>
              </a:spcAft>
            </a:pPr>
            <a:r>
              <a:rPr sz="1000" b="0" lang="en-GB">
                <a:solidFill>
                  <a:schemeClr val="bg1"/>
                </a:solidFill>
                <a:latin typeface="Consolas"/>
              </a:rPr>
              <a:t>author: "Anna Berger"</a:t>
            </a:r>
          </a:p>
          <a:p>
            <a:pPr algn="l">
              <a:spcAft>
                <a:spcPts val="0"/>
              </a:spcAft>
            </a:pPr>
            <a:r>
              <a:rPr sz="1000" b="0" lang="en-GB">
                <a:solidFill>
                  <a:schemeClr val="bg1"/>
                </a:solidFill>
                <a:latin typeface="Consolas"/>
              </a:rPr>
              <a:t>format: html</a:t>
            </a:r>
          </a:p>
          <a:p>
            <a:pPr algn="l">
              <a:spcAft>
                <a:spcPts val="0"/>
              </a:spcAft>
            </a:pPr>
            <a:r>
              <a:rPr sz="1000" b="0" lang="en-GB">
                <a:solidFill>
                  <a:schemeClr val="bg1"/>
                </a:solidFill>
                <a:latin typeface="Consolas"/>
              </a:rPr>
              <a:t>---</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 Weekly sales</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```{python}</a:t>
            </a:r>
          </a:p>
          <a:p>
            <a:pPr algn="l">
              <a:spcAft>
                <a:spcPts val="0"/>
              </a:spcAft>
            </a:pPr>
            <a:r>
              <a:rPr sz="1000" b="0" lang="en-GB">
                <a:solidFill>
                  <a:schemeClr val="bg1"/>
                </a:solidFill>
                <a:latin typeface="Consolas"/>
              </a:rPr>
              <a:t>at = sales.filter(pl.col("country") == "AT")</a:t>
            </a:r>
          </a:p>
          <a:p>
            <a:pPr algn="l">
              <a:spcAft>
                <a:spcPts val="0"/>
              </a:spcAft>
            </a:pPr>
            <a:r>
              <a:rPr sz="1000" b="0" lang="en-GB">
                <a:solidFill>
                  <a:schemeClr val="bg1"/>
                </a:solidFill>
                <a:latin typeface="Consolas"/>
              </a:rPr>
              <a:t>at.head()</a:t>
            </a:r>
          </a:p>
          <a:p>
            <a:pPr algn="l">
              <a:spcAft>
                <a:spcPts val="0"/>
              </a:spcAft>
            </a:pPr>
            <a:r>
              <a:rPr sz="1000" b="0" lang="en-GB">
                <a:solidFill>
                  <a:schemeClr val="bg1"/>
                </a:solidFill>
                <a:latin typeface="Consolas"/>
              </a:rPr>
              <a:t>```</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Austria is our smallest market.</a:t>
            </a:r>
          </a:p>
        </p:txBody>
      </p:sp>
      <p:sp>
        <p:nvSpPr>
          <p:cNvPr id="19" name="Anatomy row 1"/>
          <p:cNvSpPr/>
          <p:nvPr/>
        </p:nvSpPr>
        <p:spPr>
          <a:xfrm>
            <a:off x="5166360" y="1920240"/>
            <a:ext cx="3520440" cy="8046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Anatomy bar 1"/>
          <p:cNvSpPr/>
          <p:nvPr/>
        </p:nvSpPr>
        <p:spPr>
          <a:xfrm>
            <a:off x="5166360" y="1920240"/>
            <a:ext cx="64008" cy="8046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Anatomy text 1"/>
          <p:cNvSpPr txBox="1"/>
          <p:nvPr/>
        </p:nvSpPr>
        <p:spPr>
          <a:xfrm>
            <a:off x="5349240" y="1920240"/>
            <a:ext cx="3246120" cy="804672"/>
          </a:xfrm>
          <a:prstGeom prst="rect">
            <a:avLst/>
          </a:prstGeom>
          <a:noFill/>
        </p:spPr>
        <p:txBody>
          <a:bodyPr wrap="square" lIns="0" rIns="0" tIns="0" bIns="0" anchor="ctr">
            <a:noAutofit/>
          </a:bodyPr>
          <a:lstStyle/>
          <a:p>
            <a:pPr algn="l">
              <a:spcAft>
                <a:spcPts val="400"/>
              </a:spcAft>
            </a:pPr>
            <a:r>
              <a:rPr sz="1200" b="1" lang="en-GB">
                <a:solidFill>
                  <a:schemeClr val="tx2"/>
                </a:solidFill>
              </a:rPr>
              <a:t>1  YAML header: </a:t>
            </a:r>
            <a:r>
              <a:rPr sz="1200" b="0" lang="en-GB">
                <a:solidFill>
                  <a:schemeClr val="tx1"/>
                </a:solidFill>
              </a:rPr>
              <a:t>settings between the two --- lines</a:t>
            </a:r>
          </a:p>
        </p:txBody>
      </p:sp>
      <p:sp>
        <p:nvSpPr>
          <p:cNvPr id="22" name="Anatomy row 2"/>
          <p:cNvSpPr/>
          <p:nvPr/>
        </p:nvSpPr>
        <p:spPr>
          <a:xfrm>
            <a:off x="5166360" y="2816352"/>
            <a:ext cx="3520440" cy="8046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Anatomy bar 2"/>
          <p:cNvSpPr/>
          <p:nvPr/>
        </p:nvSpPr>
        <p:spPr>
          <a:xfrm>
            <a:off x="5166360" y="2816352"/>
            <a:ext cx="64008" cy="8046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Anatomy text 2"/>
          <p:cNvSpPr txBox="1"/>
          <p:nvPr/>
        </p:nvSpPr>
        <p:spPr>
          <a:xfrm>
            <a:off x="5349240" y="2816352"/>
            <a:ext cx="3246120" cy="804672"/>
          </a:xfrm>
          <a:prstGeom prst="rect">
            <a:avLst/>
          </a:prstGeom>
          <a:noFill/>
        </p:spPr>
        <p:txBody>
          <a:bodyPr wrap="square" lIns="0" rIns="0" tIns="0" bIns="0" anchor="ctr">
            <a:noAutofit/>
          </a:bodyPr>
          <a:lstStyle/>
          <a:p>
            <a:pPr algn="l">
              <a:spcAft>
                <a:spcPts val="400"/>
              </a:spcAft>
            </a:pPr>
            <a:r>
              <a:rPr sz="1200" b="1" lang="en-GB">
                <a:solidFill>
                  <a:schemeClr val="tx2"/>
                </a:solidFill>
              </a:rPr>
              <a:t>2  Markdown: </a:t>
            </a:r>
            <a:r>
              <a:rPr sz="1200" b="0" lang="en-GB">
                <a:solidFill>
                  <a:schemeClr val="tx1"/>
                </a:solidFill>
              </a:rPr>
              <a:t>headings (##), **bold**, lists, links</a:t>
            </a:r>
          </a:p>
        </p:txBody>
      </p:sp>
      <p:sp>
        <p:nvSpPr>
          <p:cNvPr id="25" name="Anatomy row 3"/>
          <p:cNvSpPr/>
          <p:nvPr/>
        </p:nvSpPr>
        <p:spPr>
          <a:xfrm>
            <a:off x="5166360" y="3712464"/>
            <a:ext cx="3520440" cy="8046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Anatomy bar 3"/>
          <p:cNvSpPr/>
          <p:nvPr/>
        </p:nvSpPr>
        <p:spPr>
          <a:xfrm>
            <a:off x="5166360" y="3712464"/>
            <a:ext cx="64008" cy="8046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Anatomy text 3"/>
          <p:cNvSpPr txBox="1"/>
          <p:nvPr/>
        </p:nvSpPr>
        <p:spPr>
          <a:xfrm>
            <a:off x="5349240" y="3712464"/>
            <a:ext cx="3246120" cy="804672"/>
          </a:xfrm>
          <a:prstGeom prst="rect">
            <a:avLst/>
          </a:prstGeom>
          <a:noFill/>
        </p:spPr>
        <p:txBody>
          <a:bodyPr wrap="square" lIns="0" rIns="0" tIns="0" bIns="0" anchor="ctr">
            <a:noAutofit/>
          </a:bodyPr>
          <a:lstStyle/>
          <a:p>
            <a:pPr algn="l">
              <a:spcAft>
                <a:spcPts val="400"/>
              </a:spcAft>
            </a:pPr>
            <a:r>
              <a:rPr sz="1200" b="1" lang="en-GB">
                <a:solidFill>
                  <a:schemeClr val="tx2"/>
                </a:solidFill>
              </a:rPr>
              <a:t>3  Code cells: </a:t>
            </a:r>
            <a:r>
              <a:rPr sz="1200" b="0" lang="en-GB">
                <a:solidFill>
                  <a:schemeClr val="tx1"/>
                </a:solidFill>
              </a:rPr>
              <a:t>```{python} … ``` run Python; the output lands under the cell</a:t>
            </a:r>
          </a:p>
        </p:txBody>
      </p:sp>
      <p:sp>
        <p:nvSpPr>
          <p:cNvPr id="28" name="Quarto preview box"/>
          <p:cNvSpPr/>
          <p:nvPr/>
        </p:nvSpPr>
        <p:spPr>
          <a:xfrm>
            <a:off x="457200" y="461772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Icon Quarto preview" descr=""/>
          <p:cNvPicPr>
            <a:picLocks noChangeAspect="1"/>
          </p:cNvPicPr>
          <p:nvPr/>
        </p:nvPicPr>
        <p:blipFill>
          <a:blip r:embed="rId3"/>
          <a:stretch>
            <a:fillRect/>
          </a:stretch>
        </p:blipFill>
        <p:spPr>
          <a:xfrm>
            <a:off x="658368" y="4654296"/>
            <a:ext cx="384048" cy="384048"/>
          </a:xfrm>
          <a:prstGeom prst="rect">
            <a:avLst/>
          </a:prstGeom>
        </p:spPr>
      </p:pic>
      <p:sp>
        <p:nvSpPr>
          <p:cNvPr id="30" name="Quarto preview text"/>
          <p:cNvSpPr txBox="1"/>
          <p:nvPr/>
        </p:nvSpPr>
        <p:spPr>
          <a:xfrm>
            <a:off x="1234440" y="4617720"/>
            <a:ext cx="7269480" cy="457200"/>
          </a:xfrm>
          <a:prstGeom prst="rect">
            <a:avLst/>
          </a:prstGeom>
          <a:noFill/>
        </p:spPr>
        <p:txBody>
          <a:bodyPr wrap="square" lIns="0" rIns="0" tIns="0" bIns="0" anchor="ctr">
            <a:noAutofit/>
          </a:bodyPr>
          <a:lstStyle/>
          <a:p>
            <a:pPr algn="l">
              <a:spcAft>
                <a:spcPts val="400"/>
              </a:spcAft>
            </a:pPr>
            <a:r>
              <a:rPr sz="1300" b="1" lang="en-GB">
                <a:solidFill>
                  <a:schemeClr val="tx2"/>
                </a:solidFill>
              </a:rPr>
              <a:t>Preview: </a:t>
            </a:r>
            <a:r>
              <a:rPr sz="1300" b="0" lang="en-GB">
                <a:solidFill>
                  <a:schemeClr val="tx1"/>
                </a:solidFill>
              </a:rPr>
              <a:t>Ctrl/Cmd + Shift + K in Positron.   Render: quarto render report.qmd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YAML header: settings for the whole document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YAML code caption bar"/>
          <p:cNvSpPr/>
          <p:nvPr/>
        </p:nvSpPr>
        <p:spPr>
          <a:xfrm>
            <a:off x="457200" y="1234440"/>
            <a:ext cx="39319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YAML code caption"/>
          <p:cNvSpPr txBox="1"/>
          <p:nvPr/>
        </p:nvSpPr>
        <p:spPr>
          <a:xfrm>
            <a:off x="566928" y="1234440"/>
            <a:ext cx="37124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Top of report.qmd</a:t>
            </a:r>
          </a:p>
        </p:txBody>
      </p:sp>
      <p:sp>
        <p:nvSpPr>
          <p:cNvPr id="12" name="YAML code box"/>
          <p:cNvSpPr/>
          <p:nvPr/>
        </p:nvSpPr>
        <p:spPr>
          <a:xfrm>
            <a:off x="457200" y="1508760"/>
            <a:ext cx="3931920" cy="2788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YAML code code"/>
          <p:cNvSpPr txBox="1"/>
          <p:nvPr/>
        </p:nvSpPr>
        <p:spPr>
          <a:xfrm>
            <a:off x="594360" y="1600200"/>
            <a:ext cx="3657600" cy="2606040"/>
          </a:xfrm>
          <a:prstGeom prst="rect">
            <a:avLst/>
          </a:prstGeom>
          <a:noFill/>
        </p:spPr>
        <p:txBody>
          <a:bodyPr wrap="square" lIns="0" rIns="0" tIns="0" bIns="0" anchor="t">
            <a:noAutofit/>
          </a:bodyPr>
          <a:lstStyle/>
          <a:p>
            <a:pPr algn="l">
              <a:spcAft>
                <a:spcPts val="0"/>
              </a:spcAft>
            </a:pPr>
            <a:r>
              <a:rPr sz="1150" b="0" lang="en-GB">
                <a:solidFill>
                  <a:schemeClr val="bg1"/>
                </a:solidFill>
                <a:latin typeface="Consolas"/>
              </a:rPr>
              <a:t>---</a:t>
            </a:r>
          </a:p>
          <a:p>
            <a:pPr algn="l">
              <a:spcAft>
                <a:spcPts val="0"/>
              </a:spcAft>
            </a:pPr>
            <a:r>
              <a:rPr sz="1150" b="0" lang="en-GB">
                <a:solidFill>
                  <a:schemeClr val="bg1"/>
                </a:solidFill>
                <a:latin typeface="Consolas"/>
              </a:rPr>
              <a:t>title: "Alpenglow: sales in Austria"</a:t>
            </a:r>
          </a:p>
          <a:p>
            <a:pPr algn="l">
              <a:spcAft>
                <a:spcPts val="0"/>
              </a:spcAft>
            </a:pPr>
            <a:r>
              <a:rPr sz="1150" b="0" lang="en-GB">
                <a:solidFill>
                  <a:schemeClr val="bg1"/>
                </a:solidFill>
                <a:latin typeface="Consolas"/>
              </a:rPr>
              <a:t>author: "Anna Berger"</a:t>
            </a:r>
          </a:p>
          <a:p>
            <a:pPr algn="l">
              <a:spcAft>
                <a:spcPts val="0"/>
              </a:spcAft>
            </a:pPr>
            <a:r>
              <a:rPr sz="1150" b="0" lang="en-GB">
                <a:solidFill>
                  <a:schemeClr val="bg1"/>
                </a:solidFill>
                <a:latin typeface="Consolas"/>
              </a:rPr>
              <a:t>date: today</a:t>
            </a:r>
          </a:p>
          <a:p>
            <a:pPr algn="l">
              <a:spcAft>
                <a:spcPts val="0"/>
              </a:spcAft>
            </a:pPr>
            <a:r>
              <a:rPr sz="1150" b="0" lang="en-GB">
                <a:solidFill>
                  <a:schemeClr val="bg1"/>
                </a:solidFill>
                <a:latin typeface="Consolas"/>
              </a:rPr>
              <a:t>format:</a:t>
            </a:r>
          </a:p>
          <a:p>
            <a:pPr algn="l">
              <a:spcAft>
                <a:spcPts val="0"/>
              </a:spcAft>
            </a:pPr>
            <a:r>
              <a:rPr sz="1150" b="0" lang="en-GB">
                <a:solidFill>
                  <a:schemeClr val="bg1"/>
                </a:solidFill>
                <a:latin typeface="Consolas"/>
              </a:rPr>
              <a:t>  html:</a:t>
            </a:r>
          </a:p>
          <a:p>
            <a:pPr algn="l">
              <a:spcAft>
                <a:spcPts val="0"/>
              </a:spcAft>
            </a:pPr>
            <a:r>
              <a:rPr sz="1150" b="0" lang="en-GB">
                <a:solidFill>
                  <a:schemeClr val="bg1"/>
                </a:solidFill>
                <a:latin typeface="Consolas"/>
              </a:rPr>
              <a:t>    toc: true</a:t>
            </a:r>
          </a:p>
          <a:p>
            <a:pPr algn="l">
              <a:spcAft>
                <a:spcPts val="0"/>
              </a:spcAft>
            </a:pPr>
            <a:r>
              <a:rPr sz="1150" b="0" lang="en-GB">
                <a:solidFill>
                  <a:schemeClr val="bg1"/>
                </a:solidFill>
                <a:latin typeface="Consolas"/>
              </a:rPr>
              <a:t>    code-fold: true</a:t>
            </a:r>
          </a:p>
          <a:p>
            <a:pPr algn="l">
              <a:spcAft>
                <a:spcPts val="0"/>
              </a:spcAft>
            </a:pPr>
            <a:r>
              <a:rPr sz="1150" b="0" lang="en-GB">
                <a:solidFill>
                  <a:schemeClr val="bg1"/>
                </a:solidFill>
                <a:latin typeface="Consolas"/>
              </a:rPr>
              <a:t>execute:</a:t>
            </a:r>
          </a:p>
          <a:p>
            <a:pPr algn="l">
              <a:spcAft>
                <a:spcPts val="0"/>
              </a:spcAft>
            </a:pPr>
            <a:r>
              <a:rPr sz="1150" b="0" lang="en-GB">
                <a:solidFill>
                  <a:schemeClr val="bg1"/>
                </a:solidFill>
                <a:latin typeface="Consolas"/>
              </a:rPr>
              <a:t>  warning: false</a:t>
            </a:r>
          </a:p>
          <a:p>
            <a:pPr algn="l">
              <a:spcAft>
                <a:spcPts val="0"/>
              </a:spcAft>
            </a:pPr>
            <a:r>
              <a:rPr sz="1150" b="0" lang="en-GB">
                <a:solidFill>
                  <a:schemeClr val="bg1"/>
                </a:solidFill>
                <a:latin typeface="Consolas"/>
              </a:rPr>
              <a:t>---</a:t>
            </a:r>
          </a:p>
        </p:txBody>
      </p:sp>
      <p:sp>
        <p:nvSpPr>
          <p:cNvPr id="14" name="YAML row 1"/>
          <p:cNvSpPr/>
          <p:nvPr/>
        </p:nvSpPr>
        <p:spPr>
          <a:xfrm>
            <a:off x="4526280" y="1234440"/>
            <a:ext cx="41605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YAML key 1"/>
          <p:cNvSpPr txBox="1"/>
          <p:nvPr/>
        </p:nvSpPr>
        <p:spPr>
          <a:xfrm>
            <a:off x="4663440" y="1234440"/>
            <a:ext cx="1965960" cy="457200"/>
          </a:xfrm>
          <a:prstGeom prst="rect">
            <a:avLst/>
          </a:prstGeom>
          <a:noFill/>
        </p:spPr>
        <p:txBody>
          <a:bodyPr wrap="square" lIns="0" rIns="0" tIns="0" bIns="0" anchor="ctr">
            <a:noAutofit/>
          </a:bodyPr>
          <a:lstStyle/>
          <a:p>
            <a:pPr algn="l">
              <a:spcAft>
                <a:spcPts val="400"/>
              </a:spcAft>
            </a:pPr>
            <a:r>
              <a:rPr sz="1100" b="1" lang="en-GB">
                <a:solidFill>
                  <a:schemeClr val="tx2"/>
                </a:solidFill>
                <a:latin typeface="Consolas"/>
              </a:rPr>
              <a:t>title, author</a:t>
            </a:r>
          </a:p>
        </p:txBody>
      </p:sp>
      <p:sp>
        <p:nvSpPr>
          <p:cNvPr id="16" name="YAML value 1"/>
          <p:cNvSpPr txBox="1"/>
          <p:nvPr/>
        </p:nvSpPr>
        <p:spPr>
          <a:xfrm>
            <a:off x="6629400" y="1234440"/>
            <a:ext cx="2011680" cy="457200"/>
          </a:xfrm>
          <a:prstGeom prst="rect">
            <a:avLst/>
          </a:prstGeom>
          <a:noFill/>
        </p:spPr>
        <p:txBody>
          <a:bodyPr wrap="square" lIns="0" rIns="0" tIns="0" bIns="0" anchor="ctr">
            <a:noAutofit/>
          </a:bodyPr>
          <a:lstStyle/>
          <a:p>
            <a:pPr algn="l">
              <a:spcAft>
                <a:spcPts val="400"/>
              </a:spcAft>
            </a:pPr>
            <a:r>
              <a:rPr sz="1100" b="0" lang="en-GB">
                <a:solidFill>
                  <a:schemeClr val="tx1"/>
                </a:solidFill>
              </a:rPr>
              <a:t>shown at the top</a:t>
            </a:r>
          </a:p>
        </p:txBody>
      </p:sp>
      <p:sp>
        <p:nvSpPr>
          <p:cNvPr id="17" name="YAML row 2"/>
          <p:cNvSpPr/>
          <p:nvPr/>
        </p:nvSpPr>
        <p:spPr>
          <a:xfrm>
            <a:off x="4526280" y="1746504"/>
            <a:ext cx="41605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YAML key 2"/>
          <p:cNvSpPr txBox="1"/>
          <p:nvPr/>
        </p:nvSpPr>
        <p:spPr>
          <a:xfrm>
            <a:off x="4663440" y="1746504"/>
            <a:ext cx="1965960" cy="457200"/>
          </a:xfrm>
          <a:prstGeom prst="rect">
            <a:avLst/>
          </a:prstGeom>
          <a:noFill/>
        </p:spPr>
        <p:txBody>
          <a:bodyPr wrap="square" lIns="0" rIns="0" tIns="0" bIns="0" anchor="ctr">
            <a:noAutofit/>
          </a:bodyPr>
          <a:lstStyle/>
          <a:p>
            <a:pPr algn="l">
              <a:spcAft>
                <a:spcPts val="400"/>
              </a:spcAft>
            </a:pPr>
            <a:r>
              <a:rPr sz="1100" b="1" lang="en-GB">
                <a:solidFill>
                  <a:schemeClr val="tx2"/>
                </a:solidFill>
                <a:latin typeface="Consolas"/>
              </a:rPr>
              <a:t>date: today</a:t>
            </a:r>
          </a:p>
        </p:txBody>
      </p:sp>
      <p:sp>
        <p:nvSpPr>
          <p:cNvPr id="19" name="YAML value 2"/>
          <p:cNvSpPr txBox="1"/>
          <p:nvPr/>
        </p:nvSpPr>
        <p:spPr>
          <a:xfrm>
            <a:off x="6629400" y="1746504"/>
            <a:ext cx="2011680" cy="457200"/>
          </a:xfrm>
          <a:prstGeom prst="rect">
            <a:avLst/>
          </a:prstGeom>
          <a:noFill/>
        </p:spPr>
        <p:txBody>
          <a:bodyPr wrap="square" lIns="0" rIns="0" tIns="0" bIns="0" anchor="ctr">
            <a:noAutofit/>
          </a:bodyPr>
          <a:lstStyle/>
          <a:p>
            <a:pPr algn="l">
              <a:spcAft>
                <a:spcPts val="400"/>
              </a:spcAft>
            </a:pPr>
            <a:r>
              <a:rPr sz="1100" b="0" lang="en-GB">
                <a:solidFill>
                  <a:schemeClr val="tx1"/>
                </a:solidFill>
              </a:rPr>
              <a:t>the day you render</a:t>
            </a:r>
          </a:p>
        </p:txBody>
      </p:sp>
      <p:sp>
        <p:nvSpPr>
          <p:cNvPr id="20" name="YAML row 3"/>
          <p:cNvSpPr/>
          <p:nvPr/>
        </p:nvSpPr>
        <p:spPr>
          <a:xfrm>
            <a:off x="4526280" y="2258568"/>
            <a:ext cx="41605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YAML key 3"/>
          <p:cNvSpPr txBox="1"/>
          <p:nvPr/>
        </p:nvSpPr>
        <p:spPr>
          <a:xfrm>
            <a:off x="4663440" y="2258568"/>
            <a:ext cx="1965960" cy="457200"/>
          </a:xfrm>
          <a:prstGeom prst="rect">
            <a:avLst/>
          </a:prstGeom>
          <a:noFill/>
        </p:spPr>
        <p:txBody>
          <a:bodyPr wrap="square" lIns="0" rIns="0" tIns="0" bIns="0" anchor="ctr">
            <a:noAutofit/>
          </a:bodyPr>
          <a:lstStyle/>
          <a:p>
            <a:pPr algn="l">
              <a:spcAft>
                <a:spcPts val="400"/>
              </a:spcAft>
            </a:pPr>
            <a:r>
              <a:rPr sz="1100" b="1" lang="en-GB">
                <a:solidFill>
                  <a:schemeClr val="tx2"/>
                </a:solidFill>
                <a:latin typeface="Consolas"/>
              </a:rPr>
              <a:t>format: html</a:t>
            </a:r>
          </a:p>
        </p:txBody>
      </p:sp>
      <p:sp>
        <p:nvSpPr>
          <p:cNvPr id="22" name="YAML value 3"/>
          <p:cNvSpPr txBox="1"/>
          <p:nvPr/>
        </p:nvSpPr>
        <p:spPr>
          <a:xfrm>
            <a:off x="6629400" y="2258568"/>
            <a:ext cx="2011680" cy="457200"/>
          </a:xfrm>
          <a:prstGeom prst="rect">
            <a:avLst/>
          </a:prstGeom>
          <a:noFill/>
        </p:spPr>
        <p:txBody>
          <a:bodyPr wrap="square" lIns="0" rIns="0" tIns="0" bIns="0" anchor="ctr">
            <a:noAutofit/>
          </a:bodyPr>
          <a:lstStyle/>
          <a:p>
            <a:pPr algn="l">
              <a:spcAft>
                <a:spcPts val="400"/>
              </a:spcAft>
            </a:pPr>
            <a:r>
              <a:rPr sz="1100" b="0" lang="en-GB">
                <a:solidFill>
                  <a:schemeClr val="tx1"/>
                </a:solidFill>
              </a:rPr>
              <a:t>the output; its options indented below</a:t>
            </a:r>
          </a:p>
        </p:txBody>
      </p:sp>
      <p:sp>
        <p:nvSpPr>
          <p:cNvPr id="23" name="YAML row 4"/>
          <p:cNvSpPr/>
          <p:nvPr/>
        </p:nvSpPr>
        <p:spPr>
          <a:xfrm>
            <a:off x="4526280" y="2770632"/>
            <a:ext cx="41605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YAML key 4"/>
          <p:cNvSpPr txBox="1"/>
          <p:nvPr/>
        </p:nvSpPr>
        <p:spPr>
          <a:xfrm>
            <a:off x="4663440" y="2770632"/>
            <a:ext cx="1965960" cy="457200"/>
          </a:xfrm>
          <a:prstGeom prst="rect">
            <a:avLst/>
          </a:prstGeom>
          <a:noFill/>
        </p:spPr>
        <p:txBody>
          <a:bodyPr wrap="square" lIns="0" rIns="0" tIns="0" bIns="0" anchor="ctr">
            <a:noAutofit/>
          </a:bodyPr>
          <a:lstStyle/>
          <a:p>
            <a:pPr algn="l">
              <a:spcAft>
                <a:spcPts val="400"/>
              </a:spcAft>
            </a:pPr>
            <a:r>
              <a:rPr sz="1100" b="1" lang="en-GB">
                <a:solidFill>
                  <a:schemeClr val="tx2"/>
                </a:solidFill>
                <a:latin typeface="Consolas"/>
              </a:rPr>
              <a:t>toc: true</a:t>
            </a:r>
          </a:p>
        </p:txBody>
      </p:sp>
      <p:sp>
        <p:nvSpPr>
          <p:cNvPr id="25" name="YAML value 4"/>
          <p:cNvSpPr txBox="1"/>
          <p:nvPr/>
        </p:nvSpPr>
        <p:spPr>
          <a:xfrm>
            <a:off x="6629400" y="2770632"/>
            <a:ext cx="2011680" cy="457200"/>
          </a:xfrm>
          <a:prstGeom prst="rect">
            <a:avLst/>
          </a:prstGeom>
          <a:noFill/>
        </p:spPr>
        <p:txBody>
          <a:bodyPr wrap="square" lIns="0" rIns="0" tIns="0" bIns="0" anchor="ctr">
            <a:noAutofit/>
          </a:bodyPr>
          <a:lstStyle/>
          <a:p>
            <a:pPr algn="l">
              <a:spcAft>
                <a:spcPts val="400"/>
              </a:spcAft>
            </a:pPr>
            <a:r>
              <a:rPr sz="1100" b="0" lang="en-GB">
                <a:solidFill>
                  <a:schemeClr val="tx1"/>
                </a:solidFill>
              </a:rPr>
              <a:t>table of contents</a:t>
            </a:r>
          </a:p>
        </p:txBody>
      </p:sp>
      <p:sp>
        <p:nvSpPr>
          <p:cNvPr id="26" name="YAML row 5"/>
          <p:cNvSpPr/>
          <p:nvPr/>
        </p:nvSpPr>
        <p:spPr>
          <a:xfrm>
            <a:off x="4526280" y="3282696"/>
            <a:ext cx="41605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YAML key 5"/>
          <p:cNvSpPr txBox="1"/>
          <p:nvPr/>
        </p:nvSpPr>
        <p:spPr>
          <a:xfrm>
            <a:off x="4663440" y="3282696"/>
            <a:ext cx="1965960" cy="457200"/>
          </a:xfrm>
          <a:prstGeom prst="rect">
            <a:avLst/>
          </a:prstGeom>
          <a:noFill/>
        </p:spPr>
        <p:txBody>
          <a:bodyPr wrap="square" lIns="0" rIns="0" tIns="0" bIns="0" anchor="ctr">
            <a:noAutofit/>
          </a:bodyPr>
          <a:lstStyle/>
          <a:p>
            <a:pPr algn="l">
              <a:spcAft>
                <a:spcPts val="400"/>
              </a:spcAft>
            </a:pPr>
            <a:r>
              <a:rPr sz="1100" b="1" lang="en-GB">
                <a:solidFill>
                  <a:schemeClr val="tx2"/>
                </a:solidFill>
                <a:latin typeface="Consolas"/>
              </a:rPr>
              <a:t>code-fold: true</a:t>
            </a:r>
          </a:p>
        </p:txBody>
      </p:sp>
      <p:sp>
        <p:nvSpPr>
          <p:cNvPr id="28" name="YAML value 5"/>
          <p:cNvSpPr txBox="1"/>
          <p:nvPr/>
        </p:nvSpPr>
        <p:spPr>
          <a:xfrm>
            <a:off x="6629400" y="3282696"/>
            <a:ext cx="2011680" cy="457200"/>
          </a:xfrm>
          <a:prstGeom prst="rect">
            <a:avLst/>
          </a:prstGeom>
          <a:noFill/>
        </p:spPr>
        <p:txBody>
          <a:bodyPr wrap="square" lIns="0" rIns="0" tIns="0" bIns="0" anchor="ctr">
            <a:noAutofit/>
          </a:bodyPr>
          <a:lstStyle/>
          <a:p>
            <a:pPr algn="l">
              <a:spcAft>
                <a:spcPts val="400"/>
              </a:spcAft>
            </a:pPr>
            <a:r>
              <a:rPr sz="1100" b="0" lang="en-GB">
                <a:solidFill>
                  <a:schemeClr val="tx1"/>
                </a:solidFill>
              </a:rPr>
              <a:t>code hidden behind a “Code” button</a:t>
            </a:r>
          </a:p>
        </p:txBody>
      </p:sp>
      <p:sp>
        <p:nvSpPr>
          <p:cNvPr id="29" name="YAML row 6"/>
          <p:cNvSpPr/>
          <p:nvPr/>
        </p:nvSpPr>
        <p:spPr>
          <a:xfrm>
            <a:off x="4526280" y="3794760"/>
            <a:ext cx="41605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YAML key 6"/>
          <p:cNvSpPr txBox="1"/>
          <p:nvPr/>
        </p:nvSpPr>
        <p:spPr>
          <a:xfrm>
            <a:off x="4663440" y="3794760"/>
            <a:ext cx="1965960" cy="457200"/>
          </a:xfrm>
          <a:prstGeom prst="rect">
            <a:avLst/>
          </a:prstGeom>
          <a:noFill/>
        </p:spPr>
        <p:txBody>
          <a:bodyPr wrap="square" lIns="0" rIns="0" tIns="0" bIns="0" anchor="ctr">
            <a:noAutofit/>
          </a:bodyPr>
          <a:lstStyle/>
          <a:p>
            <a:pPr algn="l">
              <a:spcAft>
                <a:spcPts val="400"/>
              </a:spcAft>
            </a:pPr>
            <a:r>
              <a:rPr sz="1100" b="1" lang="en-GB">
                <a:solidFill>
                  <a:schemeClr val="tx2"/>
                </a:solidFill>
                <a:latin typeface="Consolas"/>
              </a:rPr>
              <a:t>warning: false</a:t>
            </a:r>
          </a:p>
        </p:txBody>
      </p:sp>
      <p:sp>
        <p:nvSpPr>
          <p:cNvPr id="31" name="YAML value 6"/>
          <p:cNvSpPr txBox="1"/>
          <p:nvPr/>
        </p:nvSpPr>
        <p:spPr>
          <a:xfrm>
            <a:off x="6629400" y="3794760"/>
            <a:ext cx="2011680" cy="457200"/>
          </a:xfrm>
          <a:prstGeom prst="rect">
            <a:avLst/>
          </a:prstGeom>
          <a:noFill/>
        </p:spPr>
        <p:txBody>
          <a:bodyPr wrap="square" lIns="0" rIns="0" tIns="0" bIns="0" anchor="ctr">
            <a:noAutofit/>
          </a:bodyPr>
          <a:lstStyle/>
          <a:p>
            <a:pPr algn="l">
              <a:spcAft>
                <a:spcPts val="400"/>
              </a:spcAft>
            </a:pPr>
            <a:r>
              <a:rPr sz="1100" b="0" lang="en-GB">
                <a:solidFill>
                  <a:schemeClr val="tx1"/>
                </a:solidFill>
              </a:rPr>
              <a:t>no warnings in the output</a:t>
            </a:r>
          </a:p>
        </p:txBody>
      </p:sp>
      <p:sp>
        <p:nvSpPr>
          <p:cNvPr id="32" name="YAML rule box"/>
          <p:cNvSpPr/>
          <p:nvPr/>
        </p:nvSpPr>
        <p:spPr>
          <a:xfrm>
            <a:off x="457200" y="443484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3" name="Icon YAML rule" descr=""/>
          <p:cNvPicPr>
            <a:picLocks noChangeAspect="1"/>
          </p:cNvPicPr>
          <p:nvPr/>
        </p:nvPicPr>
        <p:blipFill>
          <a:blip r:embed="rId3"/>
          <a:stretch>
            <a:fillRect/>
          </a:stretch>
        </p:blipFill>
        <p:spPr>
          <a:xfrm>
            <a:off x="658368" y="4562856"/>
            <a:ext cx="384048" cy="384048"/>
          </a:xfrm>
          <a:prstGeom prst="rect">
            <a:avLst/>
          </a:prstGeom>
        </p:spPr>
      </p:pic>
      <p:sp>
        <p:nvSpPr>
          <p:cNvPr id="34" name="YAML rule text"/>
          <p:cNvSpPr txBox="1"/>
          <p:nvPr/>
        </p:nvSpPr>
        <p:spPr>
          <a:xfrm>
            <a:off x="1234440" y="4434840"/>
            <a:ext cx="7269480" cy="640080"/>
          </a:xfrm>
          <a:prstGeom prst="rect">
            <a:avLst/>
          </a:prstGeom>
          <a:noFill/>
        </p:spPr>
        <p:txBody>
          <a:bodyPr wrap="square" lIns="0" rIns="0" tIns="0" bIns="0" anchor="ctr">
            <a:noAutofit/>
          </a:bodyPr>
          <a:lstStyle/>
          <a:p>
            <a:pPr algn="l">
              <a:spcAft>
                <a:spcPts val="400"/>
              </a:spcAft>
            </a:pPr>
            <a:r>
              <a:rPr sz="1300" b="1" lang="en-GB">
                <a:solidFill>
                  <a:schemeClr val="bg1"/>
                </a:solidFill>
              </a:rPr>
              <a:t>Indentation matters: </a:t>
            </a:r>
            <a:r>
              <a:rPr sz="1300" b="0" lang="en-GB">
                <a:solidFill>
                  <a:schemeClr val="bg1"/>
                </a:solidFill>
              </a:rPr>
              <a:t>two spaces per level, no tabs, and a space after every colon.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Code cells: options and numbers in the text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ell code caption bar"/>
          <p:cNvSpPr/>
          <p:nvPr/>
        </p:nvSpPr>
        <p:spPr>
          <a:xfrm>
            <a:off x="457200" y="1234440"/>
            <a:ext cx="48463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ell code caption"/>
          <p:cNvSpPr txBox="1"/>
          <p:nvPr/>
        </p:nvSpPr>
        <p:spPr>
          <a:xfrm>
            <a:off x="566928" y="1234440"/>
            <a:ext cx="46268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Inside report.qmd</a:t>
            </a:r>
          </a:p>
        </p:txBody>
      </p:sp>
      <p:sp>
        <p:nvSpPr>
          <p:cNvPr id="12" name="Cell code box"/>
          <p:cNvSpPr/>
          <p:nvPr/>
        </p:nvSpPr>
        <p:spPr>
          <a:xfrm>
            <a:off x="457200" y="1508760"/>
            <a:ext cx="4846320" cy="22402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ell code code"/>
          <p:cNvSpPr txBox="1"/>
          <p:nvPr/>
        </p:nvSpPr>
        <p:spPr>
          <a:xfrm>
            <a:off x="594360" y="1600200"/>
            <a:ext cx="4572000" cy="205740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```{python}</a:t>
            </a:r>
          </a:p>
          <a:p>
            <a:pPr algn="l">
              <a:spcAft>
                <a:spcPts val="0"/>
              </a:spcAft>
            </a:pPr>
            <a:r>
              <a:rPr sz="1050" b="0" lang="en-GB">
                <a:solidFill>
                  <a:schemeClr val="bg1"/>
                </a:solidFill>
                <a:latin typeface="Consolas"/>
              </a:rPr>
              <a:t>#| label: fig-sales</a:t>
            </a:r>
          </a:p>
          <a:p>
            <a:pPr algn="l">
              <a:spcAft>
                <a:spcPts val="0"/>
              </a:spcAft>
            </a:pPr>
            <a:r>
              <a:rPr sz="1050" b="0" lang="en-GB">
                <a:solidFill>
                  <a:schemeClr val="bg1"/>
                </a:solidFill>
                <a:latin typeface="Consolas"/>
              </a:rPr>
              <a:t>#| fig-cap: "Weekly sales in Austria"</a:t>
            </a:r>
          </a:p>
          <a:p>
            <a:pPr algn="l">
              <a:spcAft>
                <a:spcPts val="0"/>
              </a:spcAft>
            </a:pPr>
            <a:r>
              <a:rPr sz="1050" b="0" lang="en-GB">
                <a:solidFill>
                  <a:schemeClr val="bg1"/>
                </a:solidFill>
                <a:latin typeface="Consolas"/>
              </a:rPr>
              <a:t>#| echo: false</a:t>
            </a:r>
          </a:p>
          <a:p>
            <a:pPr algn="l">
              <a:spcAft>
                <a:spcPts val="0"/>
              </a:spcAft>
            </a:pPr>
            <a:r>
              <a:rPr sz="1050" b="0" lang="en-GB">
                <a:solidFill>
                  <a:schemeClr val="bg1"/>
                </a:solidFill>
                <a:latin typeface="Consolas"/>
              </a:rPr>
              <a:t>ggplot(at, aes("week", "sales_units_k")) + geom_line()</a:t>
            </a:r>
          </a:p>
          <a:p>
            <a:pPr algn="l">
              <a:spcAft>
                <a:spcPts val="0"/>
              </a:spcAft>
            </a:pPr>
            <a:r>
              <a:rPr sz="1050" b="0" lang="en-GB">
                <a:solidFill>
                  <a:schemeClr val="bg1"/>
                </a:solidFill>
                <a:latin typeface="Consolas"/>
              </a:rPr>
              <a:t>```</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The chart covers `{python} at.height` weeks (@fig-sales).</a:t>
            </a:r>
          </a:p>
        </p:txBody>
      </p:sp>
      <p:sp>
        <p:nvSpPr>
          <p:cNvPr id="14" name="Opt row 1"/>
          <p:cNvSpPr/>
          <p:nvPr/>
        </p:nvSpPr>
        <p:spPr>
          <a:xfrm>
            <a:off x="5440680" y="1234440"/>
            <a:ext cx="32461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pt text 1"/>
          <p:cNvSpPr txBox="1"/>
          <p:nvPr/>
        </p:nvSpPr>
        <p:spPr>
          <a:xfrm>
            <a:off x="5559552" y="1234440"/>
            <a:ext cx="3108960" cy="457200"/>
          </a:xfrm>
          <a:prstGeom prst="rect">
            <a:avLst/>
          </a:prstGeom>
          <a:noFill/>
        </p:spPr>
        <p:txBody>
          <a:bodyPr wrap="square" lIns="0" rIns="0" tIns="0" bIns="0" anchor="ctr">
            <a:noAutofit/>
          </a:bodyPr>
          <a:lstStyle/>
          <a:p>
            <a:pPr algn="l">
              <a:spcAft>
                <a:spcPts val="0"/>
              </a:spcAft>
            </a:pPr>
            <a:r>
              <a:rPr sz="1050" b="1" lang="en-GB">
                <a:solidFill>
                  <a:schemeClr val="tx2"/>
                </a:solidFill>
                <a:latin typeface="Consolas"/>
              </a:rPr>
              <a:t>#| label: fig-sales</a:t>
            </a:r>
          </a:p>
          <a:p>
            <a:pPr algn="l">
              <a:spcAft>
                <a:spcPts val="0"/>
              </a:spcAft>
            </a:pPr>
            <a:r>
              <a:rPr sz="1050" b="0" lang="en-GB">
                <a:solidFill>
                  <a:schemeClr val="tx1"/>
                </a:solidFill>
              </a:rPr>
              <a:t>names the cell; fig- makes it a figure</a:t>
            </a:r>
          </a:p>
        </p:txBody>
      </p:sp>
      <p:sp>
        <p:nvSpPr>
          <p:cNvPr id="16" name="Opt row 2"/>
          <p:cNvSpPr/>
          <p:nvPr/>
        </p:nvSpPr>
        <p:spPr>
          <a:xfrm>
            <a:off x="5440680" y="1746504"/>
            <a:ext cx="32461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pt text 2"/>
          <p:cNvSpPr txBox="1"/>
          <p:nvPr/>
        </p:nvSpPr>
        <p:spPr>
          <a:xfrm>
            <a:off x="5559552" y="1746504"/>
            <a:ext cx="3108960" cy="457200"/>
          </a:xfrm>
          <a:prstGeom prst="rect">
            <a:avLst/>
          </a:prstGeom>
          <a:noFill/>
        </p:spPr>
        <p:txBody>
          <a:bodyPr wrap="square" lIns="0" rIns="0" tIns="0" bIns="0" anchor="ctr">
            <a:noAutofit/>
          </a:bodyPr>
          <a:lstStyle/>
          <a:p>
            <a:pPr algn="l">
              <a:spcAft>
                <a:spcPts val="0"/>
              </a:spcAft>
            </a:pPr>
            <a:r>
              <a:rPr sz="1050" b="1" lang="en-GB">
                <a:solidFill>
                  <a:schemeClr val="tx2"/>
                </a:solidFill>
                <a:latin typeface="Consolas"/>
              </a:rPr>
              <a:t>#| fig-cap:</a:t>
            </a:r>
          </a:p>
          <a:p>
            <a:pPr algn="l">
              <a:spcAft>
                <a:spcPts val="0"/>
              </a:spcAft>
            </a:pPr>
            <a:r>
              <a:rPr sz="1050" b="0" lang="en-GB">
                <a:solidFill>
                  <a:schemeClr val="tx1"/>
                </a:solidFill>
              </a:rPr>
              <a:t>the caption under the chart</a:t>
            </a:r>
          </a:p>
        </p:txBody>
      </p:sp>
      <p:sp>
        <p:nvSpPr>
          <p:cNvPr id="18" name="Opt row 3"/>
          <p:cNvSpPr/>
          <p:nvPr/>
        </p:nvSpPr>
        <p:spPr>
          <a:xfrm>
            <a:off x="5440680" y="2258568"/>
            <a:ext cx="32461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pt text 3"/>
          <p:cNvSpPr txBox="1"/>
          <p:nvPr/>
        </p:nvSpPr>
        <p:spPr>
          <a:xfrm>
            <a:off x="5559552" y="2258568"/>
            <a:ext cx="3108960" cy="457200"/>
          </a:xfrm>
          <a:prstGeom prst="rect">
            <a:avLst/>
          </a:prstGeom>
          <a:noFill/>
        </p:spPr>
        <p:txBody>
          <a:bodyPr wrap="square" lIns="0" rIns="0" tIns="0" bIns="0" anchor="ctr">
            <a:noAutofit/>
          </a:bodyPr>
          <a:lstStyle/>
          <a:p>
            <a:pPr algn="l">
              <a:spcAft>
                <a:spcPts val="0"/>
              </a:spcAft>
            </a:pPr>
            <a:r>
              <a:rPr sz="1050" b="1" lang="en-GB">
                <a:solidFill>
                  <a:schemeClr val="tx2"/>
                </a:solidFill>
                <a:latin typeface="Consolas"/>
              </a:rPr>
              <a:t>#| echo: false</a:t>
            </a:r>
          </a:p>
          <a:p>
            <a:pPr algn="l">
              <a:spcAft>
                <a:spcPts val="0"/>
              </a:spcAft>
            </a:pPr>
            <a:r>
              <a:rPr sz="1050" b="0" lang="en-GB">
                <a:solidFill>
                  <a:schemeClr val="tx1"/>
                </a:solidFill>
              </a:rPr>
              <a:t>show the result, hide the code</a:t>
            </a:r>
          </a:p>
        </p:txBody>
      </p:sp>
      <p:sp>
        <p:nvSpPr>
          <p:cNvPr id="20" name="Opt row 4"/>
          <p:cNvSpPr/>
          <p:nvPr/>
        </p:nvSpPr>
        <p:spPr>
          <a:xfrm>
            <a:off x="5440680" y="2770632"/>
            <a:ext cx="32461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pt text 4"/>
          <p:cNvSpPr txBox="1"/>
          <p:nvPr/>
        </p:nvSpPr>
        <p:spPr>
          <a:xfrm>
            <a:off x="5559552" y="2770632"/>
            <a:ext cx="3108960" cy="457200"/>
          </a:xfrm>
          <a:prstGeom prst="rect">
            <a:avLst/>
          </a:prstGeom>
          <a:noFill/>
        </p:spPr>
        <p:txBody>
          <a:bodyPr wrap="square" lIns="0" rIns="0" tIns="0" bIns="0" anchor="ctr">
            <a:noAutofit/>
          </a:bodyPr>
          <a:lstStyle/>
          <a:p>
            <a:pPr algn="l">
              <a:spcAft>
                <a:spcPts val="0"/>
              </a:spcAft>
            </a:pPr>
            <a:r>
              <a:rPr sz="1050" b="1" lang="en-GB">
                <a:solidFill>
                  <a:schemeClr val="tx2"/>
                </a:solidFill>
                <a:latin typeface="Consolas"/>
              </a:rPr>
              <a:t>`{python} …`</a:t>
            </a:r>
          </a:p>
          <a:p>
            <a:pPr algn="l">
              <a:spcAft>
                <a:spcPts val="0"/>
              </a:spcAft>
            </a:pPr>
            <a:r>
              <a:rPr sz="1050" b="0" lang="en-GB">
                <a:solidFill>
                  <a:schemeClr val="tx1"/>
                </a:solidFill>
              </a:rPr>
              <a:t>a computed number in the text</a:t>
            </a:r>
          </a:p>
        </p:txBody>
      </p:sp>
      <p:sp>
        <p:nvSpPr>
          <p:cNvPr id="22" name="Opt row 5"/>
          <p:cNvSpPr/>
          <p:nvPr/>
        </p:nvSpPr>
        <p:spPr>
          <a:xfrm>
            <a:off x="5440680" y="3282696"/>
            <a:ext cx="324612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pt text 5"/>
          <p:cNvSpPr txBox="1"/>
          <p:nvPr/>
        </p:nvSpPr>
        <p:spPr>
          <a:xfrm>
            <a:off x="5559552" y="3282696"/>
            <a:ext cx="3108960" cy="457200"/>
          </a:xfrm>
          <a:prstGeom prst="rect">
            <a:avLst/>
          </a:prstGeom>
          <a:noFill/>
        </p:spPr>
        <p:txBody>
          <a:bodyPr wrap="square" lIns="0" rIns="0" tIns="0" bIns="0" anchor="ctr">
            <a:noAutofit/>
          </a:bodyPr>
          <a:lstStyle/>
          <a:p>
            <a:pPr algn="l">
              <a:spcAft>
                <a:spcPts val="0"/>
              </a:spcAft>
            </a:pPr>
            <a:r>
              <a:rPr sz="1050" b="1" lang="en-GB">
                <a:solidFill>
                  <a:schemeClr val="tx2"/>
                </a:solidFill>
                <a:latin typeface="Consolas"/>
              </a:rPr>
              <a:t>@fig-sales</a:t>
            </a:r>
          </a:p>
          <a:p>
            <a:pPr algn="l">
              <a:spcAft>
                <a:spcPts val="0"/>
              </a:spcAft>
            </a:pPr>
            <a:r>
              <a:rPr sz="1050" b="0" lang="en-GB">
                <a:solidFill>
                  <a:schemeClr val="tx1"/>
                </a:solidFill>
              </a:rPr>
              <a:t>“Figure 1”, with a link</a:t>
            </a:r>
          </a:p>
        </p:txBody>
      </p:sp>
      <p:sp>
        <p:nvSpPr>
          <p:cNvPr id="24" name="Cell why box"/>
          <p:cNvSpPr/>
          <p:nvPr/>
        </p:nvSpPr>
        <p:spPr>
          <a:xfrm>
            <a:off x="457200" y="3931920"/>
            <a:ext cx="8229600" cy="10972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Cell why" descr=""/>
          <p:cNvPicPr>
            <a:picLocks noChangeAspect="1"/>
          </p:cNvPicPr>
          <p:nvPr/>
        </p:nvPicPr>
        <p:blipFill>
          <a:blip r:embed="rId3"/>
          <a:stretch>
            <a:fillRect/>
          </a:stretch>
        </p:blipFill>
        <p:spPr>
          <a:xfrm>
            <a:off x="658368" y="4288536"/>
            <a:ext cx="384048" cy="384048"/>
          </a:xfrm>
          <a:prstGeom prst="rect">
            <a:avLst/>
          </a:prstGeom>
        </p:spPr>
      </p:pic>
      <p:sp>
        <p:nvSpPr>
          <p:cNvPr id="26" name="Cell why text"/>
          <p:cNvSpPr txBox="1"/>
          <p:nvPr/>
        </p:nvSpPr>
        <p:spPr>
          <a:xfrm>
            <a:off x="1234440" y="3931920"/>
            <a:ext cx="7269480" cy="1097280"/>
          </a:xfrm>
          <a:prstGeom prst="rect">
            <a:avLst/>
          </a:prstGeom>
          <a:noFill/>
        </p:spPr>
        <p:txBody>
          <a:bodyPr wrap="square" lIns="0" rIns="0" tIns="0" bIns="0" anchor="ctr">
            <a:noAutofit/>
          </a:bodyPr>
          <a:lstStyle/>
          <a:p>
            <a:pPr algn="l">
              <a:spcAft>
                <a:spcPts val="400"/>
              </a:spcAft>
            </a:pPr>
            <a:r>
              <a:rPr sz="1300" b="1" lang="en-GB">
                <a:solidFill>
                  <a:schemeClr val="bg1"/>
                </a:solidFill>
              </a:rPr>
              <a:t>Why it matters: </a:t>
            </a:r>
            <a:r>
              <a:rPr sz="1300" b="0" lang="en-GB">
                <a:solidFill>
                  <a:schemeClr val="bg1"/>
                </a:solidFill>
              </a:rPr>
              <a:t>when the data change, you render again and every chart, table and number in the text updates. No copy and paste into Word.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One source, many output formats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Quarto html thumbnail" descr="The demo report rendered as web page (default)"/>
          <p:cNvPicPr>
            <a:picLocks noChangeAspect="1"/>
          </p:cNvPicPr>
          <p:nvPr/>
        </p:nvPicPr>
        <p:blipFill>
          <a:blip r:embed="rId3"/>
          <a:stretch>
            <a:fillRect/>
          </a:stretch>
        </p:blipFill>
        <p:spPr>
          <a:xfrm>
            <a:off x="457200" y="1234440"/>
            <a:ext cx="2194560" cy="1645920"/>
          </a:xfrm>
          <a:prstGeom prst="rect">
            <a:avLst/>
          </a:prstGeom>
          <a:ln w="9525">
            <a:solidFill>
              <a:schemeClr val="accent1"/>
            </a:solidFill>
          </a:ln>
        </p:spPr>
      </p:pic>
      <p:sp>
        <p:nvSpPr>
          <p:cNvPr id="11" name="Quarto html label"/>
          <p:cNvSpPr txBox="1"/>
          <p:nvPr/>
        </p:nvSpPr>
        <p:spPr>
          <a:xfrm>
            <a:off x="457200" y="2926080"/>
            <a:ext cx="2286000" cy="457200"/>
          </a:xfrm>
          <a:prstGeom prst="rect">
            <a:avLst/>
          </a:prstGeom>
          <a:noFill/>
        </p:spPr>
        <p:txBody>
          <a:bodyPr wrap="square" lIns="0" rIns="0" tIns="0" bIns="0" anchor="t">
            <a:noAutofit/>
          </a:bodyPr>
          <a:lstStyle/>
          <a:p>
            <a:pPr algn="l">
              <a:spcAft>
                <a:spcPts val="0"/>
              </a:spcAft>
            </a:pPr>
            <a:r>
              <a:rPr sz="1100" b="1" lang="en-GB">
                <a:solidFill>
                  <a:schemeClr val="tx2"/>
                </a:solidFill>
                <a:latin typeface="Consolas"/>
              </a:rPr>
              <a:t>html</a:t>
            </a:r>
          </a:p>
          <a:p>
            <a:pPr algn="l">
              <a:spcAft>
                <a:spcPts val="0"/>
              </a:spcAft>
            </a:pPr>
            <a:r>
              <a:rPr sz="1050" b="0" lang="en-GB">
                <a:solidFill>
                  <a:schemeClr val="tx1"/>
                </a:solidFill>
              </a:rPr>
              <a:t>web page (default)</a:t>
            </a:r>
          </a:p>
        </p:txBody>
      </p:sp>
      <p:pic>
        <p:nvPicPr>
          <p:cNvPr id="12" name="Quarto revealjs thumbnail" descr="The demo report rendered as slides in the browser"/>
          <p:cNvPicPr>
            <a:picLocks noChangeAspect="1"/>
          </p:cNvPicPr>
          <p:nvPr/>
        </p:nvPicPr>
        <p:blipFill>
          <a:blip r:embed="rId4"/>
          <a:stretch>
            <a:fillRect/>
          </a:stretch>
        </p:blipFill>
        <p:spPr>
          <a:xfrm>
            <a:off x="2938186" y="1234440"/>
            <a:ext cx="2632068" cy="1645920"/>
          </a:xfrm>
          <a:prstGeom prst="rect">
            <a:avLst/>
          </a:prstGeom>
          <a:ln w="9525">
            <a:solidFill>
              <a:schemeClr val="accent1"/>
            </a:solidFill>
          </a:ln>
        </p:spPr>
      </p:pic>
      <p:sp>
        <p:nvSpPr>
          <p:cNvPr id="13" name="Quarto revealjs label"/>
          <p:cNvSpPr txBox="1"/>
          <p:nvPr/>
        </p:nvSpPr>
        <p:spPr>
          <a:xfrm>
            <a:off x="2938186" y="2926080"/>
            <a:ext cx="2723508" cy="457200"/>
          </a:xfrm>
          <a:prstGeom prst="rect">
            <a:avLst/>
          </a:prstGeom>
          <a:noFill/>
        </p:spPr>
        <p:txBody>
          <a:bodyPr wrap="square" lIns="0" rIns="0" tIns="0" bIns="0" anchor="t">
            <a:noAutofit/>
          </a:bodyPr>
          <a:lstStyle/>
          <a:p>
            <a:pPr algn="l">
              <a:spcAft>
                <a:spcPts val="0"/>
              </a:spcAft>
            </a:pPr>
            <a:r>
              <a:rPr sz="1100" b="1" lang="en-GB">
                <a:solidFill>
                  <a:schemeClr val="tx2"/>
                </a:solidFill>
                <a:latin typeface="Consolas"/>
              </a:rPr>
              <a:t>revealjs</a:t>
            </a:r>
          </a:p>
          <a:p>
            <a:pPr algn="l">
              <a:spcAft>
                <a:spcPts val="0"/>
              </a:spcAft>
            </a:pPr>
            <a:r>
              <a:rPr sz="1050" b="0" lang="en-GB">
                <a:solidFill>
                  <a:schemeClr val="tx1"/>
                </a:solidFill>
              </a:rPr>
              <a:t>slides in the browser</a:t>
            </a:r>
          </a:p>
        </p:txBody>
      </p:sp>
      <p:pic>
        <p:nvPicPr>
          <p:cNvPr id="14" name="Quarto typst thumbnail" descr="The demo report rendered as PDF, no LaTeX needed"/>
          <p:cNvPicPr>
            <a:picLocks noChangeAspect="1"/>
          </p:cNvPicPr>
          <p:nvPr/>
        </p:nvPicPr>
        <p:blipFill>
          <a:blip r:embed="rId5"/>
          <a:stretch>
            <a:fillRect/>
          </a:stretch>
        </p:blipFill>
        <p:spPr>
          <a:xfrm>
            <a:off x="5856680" y="1234440"/>
            <a:ext cx="1271847" cy="1645920"/>
          </a:xfrm>
          <a:prstGeom prst="rect">
            <a:avLst/>
          </a:prstGeom>
          <a:ln w="9525">
            <a:solidFill>
              <a:schemeClr val="accent1"/>
            </a:solidFill>
          </a:ln>
        </p:spPr>
      </p:pic>
      <p:sp>
        <p:nvSpPr>
          <p:cNvPr id="15" name="Quarto typst label"/>
          <p:cNvSpPr txBox="1"/>
          <p:nvPr/>
        </p:nvSpPr>
        <p:spPr>
          <a:xfrm>
            <a:off x="5856680" y="2926080"/>
            <a:ext cx="1363287" cy="457200"/>
          </a:xfrm>
          <a:prstGeom prst="rect">
            <a:avLst/>
          </a:prstGeom>
          <a:noFill/>
        </p:spPr>
        <p:txBody>
          <a:bodyPr wrap="square" lIns="0" rIns="0" tIns="0" bIns="0" anchor="t">
            <a:noAutofit/>
          </a:bodyPr>
          <a:lstStyle/>
          <a:p>
            <a:pPr algn="l">
              <a:spcAft>
                <a:spcPts val="0"/>
              </a:spcAft>
            </a:pPr>
            <a:r>
              <a:rPr sz="1100" b="1" lang="en-GB">
                <a:solidFill>
                  <a:schemeClr val="tx2"/>
                </a:solidFill>
                <a:latin typeface="Consolas"/>
              </a:rPr>
              <a:t>typst</a:t>
            </a:r>
          </a:p>
          <a:p>
            <a:pPr algn="l">
              <a:spcAft>
                <a:spcPts val="0"/>
              </a:spcAft>
            </a:pPr>
            <a:r>
              <a:rPr sz="1050" b="0" lang="en-GB">
                <a:solidFill>
                  <a:schemeClr val="tx1"/>
                </a:solidFill>
              </a:rPr>
              <a:t>PDF, no LaTeX needed</a:t>
            </a:r>
          </a:p>
        </p:txBody>
      </p:sp>
      <p:pic>
        <p:nvPicPr>
          <p:cNvPr id="16" name="Quarto docx thumbnail" descr="The demo report rendered as Word, to edit further"/>
          <p:cNvPicPr>
            <a:picLocks noChangeAspect="1"/>
          </p:cNvPicPr>
          <p:nvPr/>
        </p:nvPicPr>
        <p:blipFill>
          <a:blip r:embed="rId6"/>
          <a:stretch>
            <a:fillRect/>
          </a:stretch>
        </p:blipFill>
        <p:spPr>
          <a:xfrm>
            <a:off x="7414953" y="1234440"/>
            <a:ext cx="1271847" cy="1645920"/>
          </a:xfrm>
          <a:prstGeom prst="rect">
            <a:avLst/>
          </a:prstGeom>
          <a:ln w="9525">
            <a:solidFill>
              <a:schemeClr val="accent1"/>
            </a:solidFill>
          </a:ln>
        </p:spPr>
      </p:pic>
      <p:sp>
        <p:nvSpPr>
          <p:cNvPr id="17" name="Quarto docx label"/>
          <p:cNvSpPr txBox="1"/>
          <p:nvPr/>
        </p:nvSpPr>
        <p:spPr>
          <a:xfrm>
            <a:off x="7414953" y="2926080"/>
            <a:ext cx="1363287" cy="457200"/>
          </a:xfrm>
          <a:prstGeom prst="rect">
            <a:avLst/>
          </a:prstGeom>
          <a:noFill/>
        </p:spPr>
        <p:txBody>
          <a:bodyPr wrap="square" lIns="0" rIns="0" tIns="0" bIns="0" anchor="t">
            <a:noAutofit/>
          </a:bodyPr>
          <a:lstStyle/>
          <a:p>
            <a:pPr algn="l">
              <a:spcAft>
                <a:spcPts val="0"/>
              </a:spcAft>
            </a:pPr>
            <a:r>
              <a:rPr sz="1100" b="1" lang="en-GB">
                <a:solidFill>
                  <a:schemeClr val="tx2"/>
                </a:solidFill>
                <a:latin typeface="Consolas"/>
              </a:rPr>
              <a:t>docx</a:t>
            </a:r>
          </a:p>
          <a:p>
            <a:pPr algn="l">
              <a:spcAft>
                <a:spcPts val="0"/>
              </a:spcAft>
            </a:pPr>
            <a:r>
              <a:rPr sz="1050" b="0" lang="en-GB">
                <a:solidFill>
                  <a:schemeClr val="tx1"/>
                </a:solidFill>
              </a:rPr>
              <a:t>Word, to edit further</a:t>
            </a:r>
          </a:p>
        </p:txBody>
      </p:sp>
      <p:sp>
        <p:nvSpPr>
          <p:cNvPr id="18" name="Formats code caption bar"/>
          <p:cNvSpPr/>
          <p:nvPr/>
        </p:nvSpPr>
        <p:spPr>
          <a:xfrm>
            <a:off x="457200" y="3520440"/>
            <a:ext cx="40233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Formats code caption"/>
          <p:cNvSpPr txBox="1"/>
          <p:nvPr/>
        </p:nvSpPr>
        <p:spPr>
          <a:xfrm>
            <a:off x="566928" y="3520440"/>
            <a:ext cx="38039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YAML: several formats</a:t>
            </a:r>
          </a:p>
        </p:txBody>
      </p:sp>
      <p:sp>
        <p:nvSpPr>
          <p:cNvPr id="20" name="Formats code box"/>
          <p:cNvSpPr/>
          <p:nvPr/>
        </p:nvSpPr>
        <p:spPr>
          <a:xfrm>
            <a:off x="457200" y="3794760"/>
            <a:ext cx="4023360" cy="12801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Formats code code"/>
          <p:cNvSpPr txBox="1"/>
          <p:nvPr/>
        </p:nvSpPr>
        <p:spPr>
          <a:xfrm>
            <a:off x="594360" y="3886200"/>
            <a:ext cx="3749040" cy="10972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format:</a:t>
            </a:r>
          </a:p>
          <a:p>
            <a:pPr algn="l">
              <a:spcAft>
                <a:spcPts val="0"/>
              </a:spcAft>
            </a:pPr>
            <a:r>
              <a:rPr sz="1100" b="0" lang="en-GB">
                <a:solidFill>
                  <a:schemeClr val="bg1"/>
                </a:solidFill>
                <a:latin typeface="Consolas"/>
              </a:rPr>
              <a:t>  html: default</a:t>
            </a:r>
          </a:p>
          <a:p>
            <a:pPr algn="l">
              <a:spcAft>
                <a:spcPts val="0"/>
              </a:spcAft>
            </a:pPr>
            <a:r>
              <a:rPr sz="1100" b="0" lang="en-GB">
                <a:solidFill>
                  <a:schemeClr val="bg1"/>
                </a:solidFill>
                <a:latin typeface="Consolas"/>
              </a:rPr>
              <a:t>  revealjs: default</a:t>
            </a:r>
          </a:p>
          <a:p>
            <a:pPr algn="l">
              <a:spcAft>
                <a:spcPts val="0"/>
              </a:spcAft>
            </a:pPr>
            <a:r>
              <a:rPr sz="1100" b="0" lang="en-GB">
                <a:solidFill>
                  <a:schemeClr val="bg1"/>
                </a:solidFill>
                <a:latin typeface="Consolas"/>
              </a:rPr>
              <a:t>  typst: default</a:t>
            </a:r>
          </a:p>
          <a:p>
            <a:pPr algn="l">
              <a:spcAft>
                <a:spcPts val="0"/>
              </a:spcAft>
            </a:pPr>
            <a:r>
              <a:rPr sz="1100" b="0" lang="en-GB">
                <a:solidFill>
                  <a:schemeClr val="bg1"/>
                </a:solidFill>
                <a:latin typeface="Consolas"/>
              </a:rPr>
              <a:t>  docx: default</a:t>
            </a:r>
          </a:p>
        </p:txBody>
      </p:sp>
      <p:sp>
        <p:nvSpPr>
          <p:cNvPr id="22" name="Render code caption bar"/>
          <p:cNvSpPr/>
          <p:nvPr/>
        </p:nvSpPr>
        <p:spPr>
          <a:xfrm>
            <a:off x="4617720" y="3520440"/>
            <a:ext cx="406908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nder code caption"/>
          <p:cNvSpPr txBox="1"/>
          <p:nvPr/>
        </p:nvSpPr>
        <p:spPr>
          <a:xfrm>
            <a:off x="4727448" y="3520440"/>
            <a:ext cx="384962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Terminal: all formats, or one</a:t>
            </a:r>
          </a:p>
        </p:txBody>
      </p:sp>
      <p:sp>
        <p:nvSpPr>
          <p:cNvPr id="24" name="Render code box"/>
          <p:cNvSpPr/>
          <p:nvPr/>
        </p:nvSpPr>
        <p:spPr>
          <a:xfrm>
            <a:off x="4617720" y="3794760"/>
            <a:ext cx="4069080" cy="12801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nder code code"/>
          <p:cNvSpPr txBox="1"/>
          <p:nvPr/>
        </p:nvSpPr>
        <p:spPr>
          <a:xfrm>
            <a:off x="4754880" y="3886200"/>
            <a:ext cx="3794760" cy="10972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quarto render report.qmd</a:t>
            </a:r>
          </a:p>
          <a:p>
            <a:pPr algn="l">
              <a:spcAft>
                <a:spcPts val="0"/>
              </a:spcAft>
            </a:pPr>
            <a:r>
              <a:rPr sz="1100" b="0" lang="en-GB">
                <a:solidFill>
                  <a:schemeClr val="bg1"/>
                </a:solidFill>
                <a:latin typeface="Consolas"/>
              </a:rPr>
              <a:t>quarto render report.qmd --to docx</a:t>
            </a:r>
          </a:p>
        </p:txBody>
      </p:sp>
      <p:sp>
        <p:nvSpPr>
          <p:cNvPr id="26" name="Formats also"/>
          <p:cNvSpPr txBox="1"/>
          <p:nvPr/>
        </p:nvSpPr>
        <p:spPr>
          <a:xfrm>
            <a:off x="4754880" y="4480560"/>
            <a:ext cx="3840480" cy="548640"/>
          </a:xfrm>
          <a:prstGeom prst="rect">
            <a:avLst/>
          </a:prstGeom>
          <a:noFill/>
        </p:spPr>
        <p:txBody>
          <a:bodyPr wrap="square" lIns="0" rIns="0" tIns="0" bIns="0" anchor="t">
            <a:noAutofit/>
          </a:bodyPr>
          <a:lstStyle/>
          <a:p>
            <a:pPr algn="l">
              <a:spcAft>
                <a:spcPts val="400"/>
              </a:spcAft>
            </a:pPr>
            <a:r>
              <a:rPr sz="1100" b="0" lang="en-GB">
                <a:solidFill>
                  <a:schemeClr val="bg1"/>
                </a:solidFill>
              </a:rPr>
              <a:t>Also: pptx, dashboard, pdf (LaTeX)</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6 of 7 · install and load; polars, plotnine, Great Tables, statsmodels</a:t>
            </a:r>
          </a:p>
        </p:txBody>
      </p:sp>
      <p:sp>
        <p:nvSpPr>
          <p:cNvPr id="3" name="Title 2"/>
          <p:cNvSpPr>
            <a:spLocks noGrp="1"/>
          </p:cNvSpPr>
          <p:nvPr>
            <p:ph type="ctrTitle"/>
          </p:nvPr>
        </p:nvSpPr>
        <p:spPr/>
        <p:txBody>
          <a:bodyPr/>
          <a:lstStyle/>
          <a:p>
            <a:r>
              <a:rPr sz="1600" lang="en-GB"/>
              <a:t>Python packages for this course</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Install packages: three ways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Install win caption bar"/>
          <p:cNvSpPr/>
          <p:nvPr/>
        </p:nvSpPr>
        <p:spPr>
          <a:xfrm>
            <a:off x="457200" y="1965960"/>
            <a:ext cx="82296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Install win caption"/>
          <p:cNvSpPr txBox="1"/>
          <p:nvPr/>
        </p:nvSpPr>
        <p:spPr>
          <a:xfrm>
            <a:off x="566928" y="1965960"/>
            <a:ext cx="80101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2  Windows: Positron terminal</a:t>
            </a:r>
          </a:p>
        </p:txBody>
      </p:sp>
      <p:sp>
        <p:nvSpPr>
          <p:cNvPr id="12" name="Install win box"/>
          <p:cNvSpPr/>
          <p:nvPr/>
        </p:nvSpPr>
        <p:spPr>
          <a:xfrm>
            <a:off x="457200" y="2240280"/>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Install win code"/>
          <p:cNvSpPr txBox="1"/>
          <p:nvPr/>
        </p:nvSpPr>
        <p:spPr>
          <a:xfrm>
            <a:off x="594360" y="2331720"/>
            <a:ext cx="7955280" cy="4114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.venv\Scripts\python -m pip install -r requirements.txt   # all course packages</a:t>
            </a:r>
          </a:p>
          <a:p>
            <a:pPr algn="l">
              <a:spcAft>
                <a:spcPts val="0"/>
              </a:spcAft>
            </a:pPr>
            <a:r>
              <a:rPr sz="1100" b="0" lang="en-GB">
                <a:solidFill>
                  <a:schemeClr val="bg1"/>
                </a:solidFill>
                <a:latin typeface="Consolas"/>
              </a:rPr>
              <a:t>.venv\Scripts\python -m pip install polars                # one package</a:t>
            </a:r>
          </a:p>
        </p:txBody>
      </p:sp>
      <p:sp>
        <p:nvSpPr>
          <p:cNvPr id="14" name="Install mac caption bar"/>
          <p:cNvSpPr/>
          <p:nvPr/>
        </p:nvSpPr>
        <p:spPr>
          <a:xfrm>
            <a:off x="457200" y="2944368"/>
            <a:ext cx="82296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Install mac caption"/>
          <p:cNvSpPr txBox="1"/>
          <p:nvPr/>
        </p:nvSpPr>
        <p:spPr>
          <a:xfrm>
            <a:off x="566928" y="2944368"/>
            <a:ext cx="80101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3  macOS: Positron terminal</a:t>
            </a:r>
          </a:p>
        </p:txBody>
      </p:sp>
      <p:sp>
        <p:nvSpPr>
          <p:cNvPr id="16" name="Install mac box"/>
          <p:cNvSpPr/>
          <p:nvPr/>
        </p:nvSpPr>
        <p:spPr>
          <a:xfrm>
            <a:off x="457200" y="3218688"/>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Install mac code"/>
          <p:cNvSpPr txBox="1"/>
          <p:nvPr/>
        </p:nvSpPr>
        <p:spPr>
          <a:xfrm>
            <a:off x="594360" y="3310128"/>
            <a:ext cx="7955280" cy="4114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.venv/bin/python -m pip install -r requirements.txt       # all course packages</a:t>
            </a:r>
          </a:p>
          <a:p>
            <a:pPr algn="l">
              <a:spcAft>
                <a:spcPts val="0"/>
              </a:spcAft>
            </a:pPr>
            <a:r>
              <a:rPr sz="1100" b="0" lang="en-GB">
                <a:solidFill>
                  <a:schemeClr val="bg1"/>
                </a:solidFill>
                <a:latin typeface="Consolas"/>
              </a:rPr>
              <a:t>.venv/bin/python -m pip install polars                    # one package</a:t>
            </a:r>
          </a:p>
        </p:txBody>
      </p:sp>
      <p:sp>
        <p:nvSpPr>
          <p:cNvPr id="18" name="Install console caption bar"/>
          <p:cNvSpPr/>
          <p:nvPr/>
        </p:nvSpPr>
        <p:spPr>
          <a:xfrm>
            <a:off x="457200" y="1234440"/>
            <a:ext cx="82296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Install console caption"/>
          <p:cNvSpPr txBox="1"/>
          <p:nvPr/>
        </p:nvSpPr>
        <p:spPr>
          <a:xfrm>
            <a:off x="566928" y="1234440"/>
            <a:ext cx="80101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1  Windows and macOS: Positron console (easiest)</a:t>
            </a:r>
          </a:p>
        </p:txBody>
      </p:sp>
      <p:sp>
        <p:nvSpPr>
          <p:cNvPr id="20" name="Install console box"/>
          <p:cNvSpPr/>
          <p:nvPr/>
        </p:nvSpPr>
        <p:spPr>
          <a:xfrm>
            <a:off x="457200" y="1508760"/>
            <a:ext cx="8229600" cy="3657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Install console code"/>
          <p:cNvSpPr txBox="1"/>
          <p:nvPr/>
        </p:nvSpPr>
        <p:spPr>
          <a:xfrm>
            <a:off x="594360" y="1600200"/>
            <a:ext cx="7955280" cy="1828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%pip install polars plotnine great-tables</a:t>
            </a:r>
          </a:p>
        </p:txBody>
      </p:sp>
      <p:sp>
        <p:nvSpPr>
          <p:cNvPr id="22" name="Names box"/>
          <p:cNvSpPr/>
          <p:nvPr/>
        </p:nvSpPr>
        <p:spPr>
          <a:xfrm>
            <a:off x="457200" y="3977640"/>
            <a:ext cx="8229600" cy="1097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Names" descr=""/>
          <p:cNvPicPr>
            <a:picLocks noChangeAspect="1"/>
          </p:cNvPicPr>
          <p:nvPr/>
        </p:nvPicPr>
        <p:blipFill>
          <a:blip r:embed="rId3"/>
          <a:stretch>
            <a:fillRect/>
          </a:stretch>
        </p:blipFill>
        <p:spPr>
          <a:xfrm>
            <a:off x="658368" y="4334256"/>
            <a:ext cx="384048" cy="384048"/>
          </a:xfrm>
          <a:prstGeom prst="rect">
            <a:avLst/>
          </a:prstGeom>
        </p:spPr>
      </p:pic>
      <p:sp>
        <p:nvSpPr>
          <p:cNvPr id="24" name="Names text"/>
          <p:cNvSpPr txBox="1"/>
          <p:nvPr/>
        </p:nvSpPr>
        <p:spPr>
          <a:xfrm>
            <a:off x="1234440" y="3977640"/>
            <a:ext cx="7269480" cy="1097280"/>
          </a:xfrm>
          <a:prstGeom prst="rect">
            <a:avLst/>
          </a:prstGeom>
          <a:noFill/>
        </p:spPr>
        <p:txBody>
          <a:bodyPr wrap="square" lIns="0" rIns="0" tIns="0" bIns="0" anchor="ctr">
            <a:noAutofit/>
          </a:bodyPr>
          <a:lstStyle/>
          <a:p>
            <a:pPr algn="l">
              <a:spcAft>
                <a:spcPts val="400"/>
              </a:spcAft>
            </a:pPr>
            <a:r>
              <a:rPr sz="1300" b="1" lang="en-GB">
                <a:solidFill>
                  <a:schemeClr val="tx2"/>
                </a:solidFill>
              </a:rPr>
              <a:t>Install name and import name can differ: </a:t>
            </a:r>
            <a:r>
              <a:rPr sz="1300" b="0" lang="en-GB">
                <a:solidFill>
                  <a:schemeClr val="tx1"/>
                </a:solidFill>
              </a:rPr>
              <a:t>pip install great-tables → import great_tables; scikit-learn → sklearn; pymc-marketing → pymc_marketing.</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Packages pane: install without code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ane steps step 1"/>
          <p:cNvSpPr/>
          <p:nvPr/>
        </p:nvSpPr>
        <p:spPr>
          <a:xfrm>
            <a:off x="457200" y="1234440"/>
            <a:ext cx="2139696"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Packages icon</a:t>
            </a:r>
            <a:br/>
            <a:r>
              <a:rPr sz="1200" b="1" lang="en-GB">
                <a:solidFill>
                  <a:schemeClr val="tx2"/>
                </a:solidFill>
              </a:rPr>
              <a:t>(Activity Bar)</a:t>
            </a:r>
          </a:p>
        </p:txBody>
      </p:sp>
      <p:sp>
        <p:nvSpPr>
          <p:cNvPr id="11" name="Pane steps step 2"/>
          <p:cNvSpPr/>
          <p:nvPr/>
        </p:nvSpPr>
        <p:spPr>
          <a:xfrm>
            <a:off x="2487168" y="1234440"/>
            <a:ext cx="2139696"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Install</a:t>
            </a:r>
            <a:br/>
            <a:r>
              <a:rPr sz="1200" b="1" lang="en-GB">
                <a:solidFill>
                  <a:schemeClr val="tx2"/>
                </a:solidFill>
              </a:rPr>
              <a:t>Package</a:t>
            </a:r>
          </a:p>
        </p:txBody>
      </p:sp>
      <p:sp>
        <p:nvSpPr>
          <p:cNvPr id="12" name="Pane steps step 3"/>
          <p:cNvSpPr/>
          <p:nvPr/>
        </p:nvSpPr>
        <p:spPr>
          <a:xfrm>
            <a:off x="4517136" y="1234440"/>
            <a:ext cx="2139696"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Search name,</a:t>
            </a:r>
            <a:br/>
            <a:r>
              <a:rPr sz="1200" b="1" lang="en-GB">
                <a:solidFill>
                  <a:schemeClr val="tx2"/>
                </a:solidFill>
              </a:rPr>
              <a:t>pick version</a:t>
            </a:r>
          </a:p>
        </p:txBody>
      </p:sp>
      <p:sp>
        <p:nvSpPr>
          <p:cNvPr id="13" name="Pane steps step 4"/>
          <p:cNvSpPr/>
          <p:nvPr/>
        </p:nvSpPr>
        <p:spPr>
          <a:xfrm>
            <a:off x="6547104" y="1234440"/>
            <a:ext cx="2139696"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Restart session</a:t>
            </a:r>
            <a:br/>
            <a:r>
              <a:rPr sz="1200" b="1" lang="en-GB">
                <a:solidFill>
                  <a:schemeClr val="tx2"/>
                </a:solidFill>
              </a:rPr>
              <a:t>when asked</a:t>
            </a:r>
          </a:p>
        </p:txBody>
      </p:sp>
      <p:sp>
        <p:nvSpPr>
          <p:cNvPr id="14" name="Pane mock"/>
          <p:cNvSpPr/>
          <p:nvPr/>
        </p:nvSpPr>
        <p:spPr>
          <a:xfrm>
            <a:off x="457200" y="1965960"/>
            <a:ext cx="4023360" cy="31089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Pane mock head"/>
          <p:cNvSpPr txBox="1"/>
          <p:nvPr/>
        </p:nvSpPr>
        <p:spPr>
          <a:xfrm>
            <a:off x="594360" y="2029968"/>
            <a:ext cx="3749040" cy="320040"/>
          </a:xfrm>
          <a:prstGeom prst="rect">
            <a:avLst/>
          </a:prstGeom>
          <a:noFill/>
        </p:spPr>
        <p:txBody>
          <a:bodyPr wrap="square" lIns="0" rIns="0" tIns="0" bIns="0" anchor="ctr">
            <a:noAutofit/>
          </a:bodyPr>
          <a:lstStyle/>
          <a:p>
            <a:pPr algn="l">
              <a:spcAft>
                <a:spcPts val="400"/>
              </a:spcAft>
            </a:pPr>
            <a:r>
              <a:rPr sz="1100" b="1" lang="en-GB">
                <a:solidFill>
                  <a:schemeClr val="tx2"/>
                </a:solidFill>
              </a:rPr>
              <a:t>PACKAGES</a:t>
            </a:r>
            <a:r>
              <a:rPr sz="1100" b="0" lang="en-GB">
                <a:solidFill>
                  <a:schemeClr val="tx1"/>
                </a:solidFill>
              </a:rPr>
              <a:t>     Python 3.14.8 (.venv)</a:t>
            </a:r>
          </a:p>
        </p:txBody>
      </p:sp>
      <p:sp>
        <p:nvSpPr>
          <p:cNvPr id="16" name="Pane row 1"/>
          <p:cNvSpPr/>
          <p:nvPr/>
        </p:nvSpPr>
        <p:spPr>
          <a:xfrm>
            <a:off x="594360" y="2423160"/>
            <a:ext cx="374904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ane name 1"/>
          <p:cNvSpPr txBox="1"/>
          <p:nvPr/>
        </p:nvSpPr>
        <p:spPr>
          <a:xfrm>
            <a:off x="713232" y="2423160"/>
            <a:ext cx="1737360" cy="347472"/>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great-tables</a:t>
            </a:r>
          </a:p>
        </p:txBody>
      </p:sp>
      <p:sp>
        <p:nvSpPr>
          <p:cNvPr id="18" name="Pane version 1"/>
          <p:cNvSpPr txBox="1"/>
          <p:nvPr/>
        </p:nvSpPr>
        <p:spPr>
          <a:xfrm>
            <a:off x="2331720" y="2423160"/>
            <a:ext cx="822960" cy="347472"/>
          </a:xfrm>
          <a:prstGeom prst="rect">
            <a:avLst/>
          </a:prstGeom>
          <a:noFill/>
        </p:spPr>
        <p:txBody>
          <a:bodyPr wrap="square" lIns="0" rIns="0" tIns="0" bIns="0" anchor="ctr">
            <a:noAutofit/>
          </a:bodyPr>
          <a:lstStyle/>
          <a:p>
            <a:pPr algn="l">
              <a:spcAft>
                <a:spcPts val="400"/>
              </a:spcAft>
            </a:pPr>
            <a:r>
              <a:rPr sz="1100" b="0" lang="en-GB">
                <a:solidFill>
                  <a:schemeClr val="tx1"/>
                </a:solidFill>
                <a:latin typeface="Consolas"/>
              </a:rPr>
              <a:t>1.0.0</a:t>
            </a:r>
          </a:p>
        </p:txBody>
      </p:sp>
      <p:sp>
        <p:nvSpPr>
          <p:cNvPr id="19" name="Pane attached 1"/>
          <p:cNvSpPr txBox="1"/>
          <p:nvPr/>
        </p:nvSpPr>
        <p:spPr>
          <a:xfrm>
            <a:off x="3154680" y="2423160"/>
            <a:ext cx="1143000" cy="347472"/>
          </a:xfrm>
          <a:prstGeom prst="rect">
            <a:avLst/>
          </a:prstGeom>
          <a:noFill/>
        </p:spPr>
        <p:txBody>
          <a:bodyPr wrap="square" lIns="0" rIns="0" tIns="0" bIns="0" anchor="ctr">
            <a:noAutofit/>
          </a:bodyPr>
          <a:lstStyle/>
          <a:p>
            <a:pPr algn="l">
              <a:spcAft>
                <a:spcPts val="400"/>
              </a:spcAft>
            </a:pPr>
            <a:r>
              <a:rPr sz="1050" b="0" lang="en-GB">
                <a:solidFill>
                  <a:schemeClr val="accent1"/>
                </a:solidFill>
              </a:rPr>
              <a:t/>
            </a:r>
          </a:p>
        </p:txBody>
      </p:sp>
      <p:sp>
        <p:nvSpPr>
          <p:cNvPr id="20" name="Pane row 2"/>
          <p:cNvSpPr/>
          <p:nvPr/>
        </p:nvSpPr>
        <p:spPr>
          <a:xfrm>
            <a:off x="594360" y="2834640"/>
            <a:ext cx="374904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Pane name 2"/>
          <p:cNvSpPr txBox="1"/>
          <p:nvPr/>
        </p:nvSpPr>
        <p:spPr>
          <a:xfrm>
            <a:off x="713232" y="2834640"/>
            <a:ext cx="1737360" cy="347472"/>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pandas</a:t>
            </a:r>
          </a:p>
        </p:txBody>
      </p:sp>
      <p:sp>
        <p:nvSpPr>
          <p:cNvPr id="22" name="Pane version 2"/>
          <p:cNvSpPr txBox="1"/>
          <p:nvPr/>
        </p:nvSpPr>
        <p:spPr>
          <a:xfrm>
            <a:off x="2331720" y="2834640"/>
            <a:ext cx="822960" cy="347472"/>
          </a:xfrm>
          <a:prstGeom prst="rect">
            <a:avLst/>
          </a:prstGeom>
          <a:noFill/>
        </p:spPr>
        <p:txBody>
          <a:bodyPr wrap="square" lIns="0" rIns="0" tIns="0" bIns="0" anchor="ctr">
            <a:noAutofit/>
          </a:bodyPr>
          <a:lstStyle/>
          <a:p>
            <a:pPr algn="l">
              <a:spcAft>
                <a:spcPts val="400"/>
              </a:spcAft>
            </a:pPr>
            <a:r>
              <a:rPr sz="1100" b="0" lang="en-GB">
                <a:solidFill>
                  <a:schemeClr val="tx1"/>
                </a:solidFill>
                <a:latin typeface="Consolas"/>
              </a:rPr>
              <a:t>3.0.6</a:t>
            </a:r>
          </a:p>
        </p:txBody>
      </p:sp>
      <p:sp>
        <p:nvSpPr>
          <p:cNvPr id="23" name="Pane attached 2"/>
          <p:cNvSpPr txBox="1"/>
          <p:nvPr/>
        </p:nvSpPr>
        <p:spPr>
          <a:xfrm>
            <a:off x="3154680" y="2834640"/>
            <a:ext cx="1143000" cy="347472"/>
          </a:xfrm>
          <a:prstGeom prst="rect">
            <a:avLst/>
          </a:prstGeom>
          <a:noFill/>
        </p:spPr>
        <p:txBody>
          <a:bodyPr wrap="square" lIns="0" rIns="0" tIns="0" bIns="0" anchor="ctr">
            <a:noAutofit/>
          </a:bodyPr>
          <a:lstStyle/>
          <a:p>
            <a:pPr algn="l">
              <a:spcAft>
                <a:spcPts val="400"/>
              </a:spcAft>
            </a:pPr>
            <a:r>
              <a:rPr sz="1050" b="0" lang="en-GB">
                <a:solidFill>
                  <a:schemeClr val="accent1"/>
                </a:solidFill>
              </a:rPr>
              <a:t>● attached</a:t>
            </a:r>
          </a:p>
        </p:txBody>
      </p:sp>
      <p:sp>
        <p:nvSpPr>
          <p:cNvPr id="24" name="Pane row 3"/>
          <p:cNvSpPr/>
          <p:nvPr/>
        </p:nvSpPr>
        <p:spPr>
          <a:xfrm>
            <a:off x="594360" y="3246120"/>
            <a:ext cx="374904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Pane name 3"/>
          <p:cNvSpPr txBox="1"/>
          <p:nvPr/>
        </p:nvSpPr>
        <p:spPr>
          <a:xfrm>
            <a:off x="713232" y="3246120"/>
            <a:ext cx="1737360" cy="347472"/>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plotnine</a:t>
            </a:r>
          </a:p>
        </p:txBody>
      </p:sp>
      <p:sp>
        <p:nvSpPr>
          <p:cNvPr id="26" name="Pane version 3"/>
          <p:cNvSpPr txBox="1"/>
          <p:nvPr/>
        </p:nvSpPr>
        <p:spPr>
          <a:xfrm>
            <a:off x="2331720" y="3246120"/>
            <a:ext cx="822960" cy="347472"/>
          </a:xfrm>
          <a:prstGeom prst="rect">
            <a:avLst/>
          </a:prstGeom>
          <a:noFill/>
        </p:spPr>
        <p:txBody>
          <a:bodyPr wrap="square" lIns="0" rIns="0" tIns="0" bIns="0" anchor="ctr">
            <a:noAutofit/>
          </a:bodyPr>
          <a:lstStyle/>
          <a:p>
            <a:pPr algn="l">
              <a:spcAft>
                <a:spcPts val="400"/>
              </a:spcAft>
            </a:pPr>
            <a:r>
              <a:rPr sz="1100" b="0" lang="en-GB">
                <a:solidFill>
                  <a:schemeClr val="tx1"/>
                </a:solidFill>
                <a:latin typeface="Consolas"/>
              </a:rPr>
              <a:t>0.15.8</a:t>
            </a:r>
          </a:p>
        </p:txBody>
      </p:sp>
      <p:sp>
        <p:nvSpPr>
          <p:cNvPr id="27" name="Pane attached 3"/>
          <p:cNvSpPr txBox="1"/>
          <p:nvPr/>
        </p:nvSpPr>
        <p:spPr>
          <a:xfrm>
            <a:off x="3154680" y="3246120"/>
            <a:ext cx="1143000" cy="347472"/>
          </a:xfrm>
          <a:prstGeom prst="rect">
            <a:avLst/>
          </a:prstGeom>
          <a:noFill/>
        </p:spPr>
        <p:txBody>
          <a:bodyPr wrap="square" lIns="0" rIns="0" tIns="0" bIns="0" anchor="ctr">
            <a:noAutofit/>
          </a:bodyPr>
          <a:lstStyle/>
          <a:p>
            <a:pPr algn="l">
              <a:spcAft>
                <a:spcPts val="400"/>
              </a:spcAft>
            </a:pPr>
            <a:r>
              <a:rPr sz="1050" b="0" lang="en-GB">
                <a:solidFill>
                  <a:schemeClr val="accent1"/>
                </a:solidFill>
              </a:rPr>
              <a:t/>
            </a:r>
          </a:p>
        </p:txBody>
      </p:sp>
      <p:sp>
        <p:nvSpPr>
          <p:cNvPr id="28" name="Pane row 4"/>
          <p:cNvSpPr/>
          <p:nvPr/>
        </p:nvSpPr>
        <p:spPr>
          <a:xfrm>
            <a:off x="594360" y="3657600"/>
            <a:ext cx="374904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Pane name 4"/>
          <p:cNvSpPr txBox="1"/>
          <p:nvPr/>
        </p:nvSpPr>
        <p:spPr>
          <a:xfrm>
            <a:off x="713232" y="3657600"/>
            <a:ext cx="1737360" cy="347472"/>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polars</a:t>
            </a:r>
          </a:p>
        </p:txBody>
      </p:sp>
      <p:sp>
        <p:nvSpPr>
          <p:cNvPr id="30" name="Pane version 4"/>
          <p:cNvSpPr txBox="1"/>
          <p:nvPr/>
        </p:nvSpPr>
        <p:spPr>
          <a:xfrm>
            <a:off x="2331720" y="3657600"/>
            <a:ext cx="822960" cy="347472"/>
          </a:xfrm>
          <a:prstGeom prst="rect">
            <a:avLst/>
          </a:prstGeom>
          <a:noFill/>
        </p:spPr>
        <p:txBody>
          <a:bodyPr wrap="square" lIns="0" rIns="0" tIns="0" bIns="0" anchor="ctr">
            <a:noAutofit/>
          </a:bodyPr>
          <a:lstStyle/>
          <a:p>
            <a:pPr algn="l">
              <a:spcAft>
                <a:spcPts val="400"/>
              </a:spcAft>
            </a:pPr>
            <a:r>
              <a:rPr sz="1100" b="0" lang="en-GB">
                <a:solidFill>
                  <a:schemeClr val="tx1"/>
                </a:solidFill>
                <a:latin typeface="Consolas"/>
              </a:rPr>
              <a:t>1.44.2</a:t>
            </a:r>
          </a:p>
        </p:txBody>
      </p:sp>
      <p:sp>
        <p:nvSpPr>
          <p:cNvPr id="31" name="Pane attached 4"/>
          <p:cNvSpPr txBox="1"/>
          <p:nvPr/>
        </p:nvSpPr>
        <p:spPr>
          <a:xfrm>
            <a:off x="3154680" y="3657600"/>
            <a:ext cx="1143000" cy="347472"/>
          </a:xfrm>
          <a:prstGeom prst="rect">
            <a:avLst/>
          </a:prstGeom>
          <a:noFill/>
        </p:spPr>
        <p:txBody>
          <a:bodyPr wrap="square" lIns="0" rIns="0" tIns="0" bIns="0" anchor="ctr">
            <a:noAutofit/>
          </a:bodyPr>
          <a:lstStyle/>
          <a:p>
            <a:pPr algn="l">
              <a:spcAft>
                <a:spcPts val="400"/>
              </a:spcAft>
            </a:pPr>
            <a:r>
              <a:rPr sz="1050" b="0" lang="en-GB">
                <a:solidFill>
                  <a:schemeClr val="accent1"/>
                </a:solidFill>
              </a:rPr>
              <a:t>● attached</a:t>
            </a:r>
          </a:p>
        </p:txBody>
      </p:sp>
      <p:sp>
        <p:nvSpPr>
          <p:cNvPr id="32" name="Pane row 5"/>
          <p:cNvSpPr/>
          <p:nvPr/>
        </p:nvSpPr>
        <p:spPr>
          <a:xfrm>
            <a:off x="594360" y="4069080"/>
            <a:ext cx="374904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Pane name 5"/>
          <p:cNvSpPr txBox="1"/>
          <p:nvPr/>
        </p:nvSpPr>
        <p:spPr>
          <a:xfrm>
            <a:off x="713232" y="4069080"/>
            <a:ext cx="1737360" cy="347472"/>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statsmodels</a:t>
            </a:r>
          </a:p>
        </p:txBody>
      </p:sp>
      <p:sp>
        <p:nvSpPr>
          <p:cNvPr id="34" name="Pane version 5"/>
          <p:cNvSpPr txBox="1"/>
          <p:nvPr/>
        </p:nvSpPr>
        <p:spPr>
          <a:xfrm>
            <a:off x="2331720" y="4069080"/>
            <a:ext cx="822960" cy="347472"/>
          </a:xfrm>
          <a:prstGeom prst="rect">
            <a:avLst/>
          </a:prstGeom>
          <a:noFill/>
        </p:spPr>
        <p:txBody>
          <a:bodyPr wrap="square" lIns="0" rIns="0" tIns="0" bIns="0" anchor="ctr">
            <a:noAutofit/>
          </a:bodyPr>
          <a:lstStyle/>
          <a:p>
            <a:pPr algn="l">
              <a:spcAft>
                <a:spcPts val="400"/>
              </a:spcAft>
            </a:pPr>
            <a:r>
              <a:rPr sz="1100" b="0" lang="en-GB">
                <a:solidFill>
                  <a:schemeClr val="tx1"/>
                </a:solidFill>
                <a:latin typeface="Consolas"/>
              </a:rPr>
              <a:t>0.15.0</a:t>
            </a:r>
          </a:p>
        </p:txBody>
      </p:sp>
      <p:sp>
        <p:nvSpPr>
          <p:cNvPr id="35" name="Pane attached 5"/>
          <p:cNvSpPr txBox="1"/>
          <p:nvPr/>
        </p:nvSpPr>
        <p:spPr>
          <a:xfrm>
            <a:off x="3154680" y="4069080"/>
            <a:ext cx="1143000" cy="347472"/>
          </a:xfrm>
          <a:prstGeom prst="rect">
            <a:avLst/>
          </a:prstGeom>
          <a:noFill/>
        </p:spPr>
        <p:txBody>
          <a:bodyPr wrap="square" lIns="0" rIns="0" tIns="0" bIns="0" anchor="ctr">
            <a:noAutofit/>
          </a:bodyPr>
          <a:lstStyle/>
          <a:p>
            <a:pPr algn="l">
              <a:spcAft>
                <a:spcPts val="400"/>
              </a:spcAft>
            </a:pPr>
            <a:r>
              <a:rPr sz="1050" b="0" lang="en-GB">
                <a:solidFill>
                  <a:schemeClr val="accent1"/>
                </a:solidFill>
              </a:rPr>
              <a:t>● attached</a:t>
            </a:r>
          </a:p>
        </p:txBody>
      </p:sp>
      <p:sp>
        <p:nvSpPr>
          <p:cNvPr id="36" name="Pane row 6"/>
          <p:cNvSpPr/>
          <p:nvPr/>
        </p:nvSpPr>
        <p:spPr>
          <a:xfrm>
            <a:off x="594360" y="4480560"/>
            <a:ext cx="374904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Pane name 6"/>
          <p:cNvSpPr txBox="1"/>
          <p:nvPr/>
        </p:nvSpPr>
        <p:spPr>
          <a:xfrm>
            <a:off x="713232" y="4480560"/>
            <a:ext cx="1737360" cy="347472"/>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a:t>
            </a:r>
          </a:p>
        </p:txBody>
      </p:sp>
      <p:sp>
        <p:nvSpPr>
          <p:cNvPr id="38" name="Pane version 6"/>
          <p:cNvSpPr txBox="1"/>
          <p:nvPr/>
        </p:nvSpPr>
        <p:spPr>
          <a:xfrm>
            <a:off x="2331720" y="4480560"/>
            <a:ext cx="822960" cy="347472"/>
          </a:xfrm>
          <a:prstGeom prst="rect">
            <a:avLst/>
          </a:prstGeom>
          <a:noFill/>
        </p:spPr>
        <p:txBody>
          <a:bodyPr wrap="square" lIns="0" rIns="0" tIns="0" bIns="0" anchor="ctr">
            <a:noAutofit/>
          </a:bodyPr>
          <a:lstStyle/>
          <a:p>
            <a:pPr algn="l">
              <a:spcAft>
                <a:spcPts val="400"/>
              </a:spcAft>
            </a:pPr>
            <a:r>
              <a:rPr sz="1100" b="0" lang="en-GB">
                <a:solidFill>
                  <a:schemeClr val="tx1"/>
                </a:solidFill>
                <a:latin typeface="Consolas"/>
              </a:rPr>
              <a:t/>
            </a:r>
          </a:p>
        </p:txBody>
      </p:sp>
      <p:sp>
        <p:nvSpPr>
          <p:cNvPr id="39" name="Pane attached 6"/>
          <p:cNvSpPr txBox="1"/>
          <p:nvPr/>
        </p:nvSpPr>
        <p:spPr>
          <a:xfrm>
            <a:off x="3154680" y="4480560"/>
            <a:ext cx="1143000" cy="347472"/>
          </a:xfrm>
          <a:prstGeom prst="rect">
            <a:avLst/>
          </a:prstGeom>
          <a:noFill/>
        </p:spPr>
        <p:txBody>
          <a:bodyPr wrap="square" lIns="0" rIns="0" tIns="0" bIns="0" anchor="ctr">
            <a:noAutofit/>
          </a:bodyPr>
          <a:lstStyle/>
          <a:p>
            <a:pPr algn="l">
              <a:spcAft>
                <a:spcPts val="400"/>
              </a:spcAft>
            </a:pPr>
            <a:r>
              <a:rPr sz="1050" b="0" lang="en-GB">
                <a:solidFill>
                  <a:schemeClr val="accent1"/>
                </a:solidFill>
              </a:rPr>
              <a:t/>
            </a:r>
          </a:p>
        </p:txBody>
      </p:sp>
      <p:sp>
        <p:nvSpPr>
          <p:cNvPr id="40" name="Pane card body"/>
          <p:cNvSpPr/>
          <p:nvPr/>
        </p:nvSpPr>
        <p:spPr>
          <a:xfrm>
            <a:off x="4617720" y="2377440"/>
            <a:ext cx="4069080" cy="2697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Pane card header"/>
          <p:cNvSpPr/>
          <p:nvPr/>
        </p:nvSpPr>
        <p:spPr>
          <a:xfrm>
            <a:off x="4617720" y="1965960"/>
            <a:ext cx="40690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Pane card heading"/>
          <p:cNvSpPr txBox="1"/>
          <p:nvPr/>
        </p:nvSpPr>
        <p:spPr>
          <a:xfrm>
            <a:off x="4754880" y="1965960"/>
            <a:ext cx="33832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What else it does</a:t>
            </a:r>
          </a:p>
        </p:txBody>
      </p:sp>
      <p:pic>
        <p:nvPicPr>
          <p:cNvPr id="43" name="Icon Pane card" descr=""/>
          <p:cNvPicPr>
            <a:picLocks noChangeAspect="1"/>
          </p:cNvPicPr>
          <p:nvPr/>
        </p:nvPicPr>
        <p:blipFill>
          <a:blip r:embed="rId3"/>
          <a:stretch>
            <a:fillRect/>
          </a:stretch>
        </p:blipFill>
        <p:spPr>
          <a:xfrm>
            <a:off x="8247888" y="2016252"/>
            <a:ext cx="310896" cy="310896"/>
          </a:xfrm>
          <a:prstGeom prst="rect">
            <a:avLst/>
          </a:prstGeom>
        </p:spPr>
      </p:pic>
      <p:sp>
        <p:nvSpPr>
          <p:cNvPr id="44" name="Pane card text"/>
          <p:cNvSpPr txBox="1"/>
          <p:nvPr/>
        </p:nvSpPr>
        <p:spPr>
          <a:xfrm>
            <a:off x="4782312" y="2514600"/>
            <a:ext cx="3767328" cy="242316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Shows which packages are loaded (attached)</a:t>
            </a:r>
          </a:p>
          <a:p>
            <a:pPr algn="l" marL="182880" indent="-182880">
              <a:spcAft>
                <a:spcPts val="600"/>
              </a:spcAft>
              <a:buClr>
                <a:schemeClr val="accent1"/>
              </a:buClr>
              <a:buFont typeface="Arial"/>
              <a:buChar char="▪"/>
            </a:pPr>
            <a:r>
              <a:rPr sz="1300" b="0" lang="en-GB">
                <a:solidFill>
                  <a:schemeClr val="tx1"/>
                </a:solidFill>
              </a:rPr>
              <a:t>Update one, or Update All Packages</a:t>
            </a:r>
          </a:p>
          <a:p>
            <a:pPr algn="l" marL="182880" indent="-182880">
              <a:spcAft>
                <a:spcPts val="600"/>
              </a:spcAft>
              <a:buClr>
                <a:schemeClr val="accent1"/>
              </a:buClr>
              <a:buFont typeface="Arial"/>
              <a:buChar char="▪"/>
            </a:pPr>
            <a:r>
              <a:rPr sz="1300" b="0" lang="en-GB">
                <a:solidFill>
                  <a:schemeClr val="tx1"/>
                </a:solidFill>
              </a:rPr>
              <a:t>Flags known security issues</a:t>
            </a:r>
          </a:p>
          <a:p>
            <a:pPr algn="l" marL="182880" indent="-182880">
              <a:spcAft>
                <a:spcPts val="600"/>
              </a:spcAft>
              <a:buClr>
                <a:schemeClr val="accent1"/>
              </a:buClr>
              <a:buFont typeface="Arial"/>
              <a:buChar char="▪"/>
            </a:pPr>
            <a:r>
              <a:rPr sz="1300" b="0" lang="en-GB">
                <a:solidFill>
                  <a:schemeClr val="tx1"/>
                </a:solidFill>
              </a:rPr>
              <a:t>Keeps versions in line with requirements.txt</a:t>
            </a:r>
          </a:p>
          <a:p>
            <a:pPr algn="l" marL="182880" indent="-182880">
              <a:spcAft>
                <a:spcPts val="600"/>
              </a:spcAft>
              <a:buClr>
                <a:schemeClr val="accent1"/>
              </a:buClr>
              <a:buFont typeface="Arial"/>
              <a:buChar char="▪"/>
            </a:pPr>
            <a:r>
              <a:rPr sz="1300" b="0" lang="en-GB">
                <a:solidFill>
                  <a:schemeClr val="tx1"/>
                </a:solidFill>
              </a:rPr>
              <a:t>Offers to install a missing package after an error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Load packages: import at the top of every file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ackage steps step 1"/>
          <p:cNvSpPr/>
          <p:nvPr/>
        </p:nvSpPr>
        <p:spPr>
          <a:xfrm>
            <a:off x="457200" y="1234440"/>
            <a:ext cx="2816352"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Install once</a:t>
            </a:r>
            <a:br/>
            <a:r>
              <a:rPr sz="1200" b="1" lang="en-GB">
                <a:solidFill>
                  <a:schemeClr val="tx2"/>
                </a:solidFill>
              </a:rPr>
              <a:t>per laptop</a:t>
            </a:r>
          </a:p>
        </p:txBody>
      </p:sp>
      <p:sp>
        <p:nvSpPr>
          <p:cNvPr id="11" name="Package steps step 2"/>
          <p:cNvSpPr/>
          <p:nvPr/>
        </p:nvSpPr>
        <p:spPr>
          <a:xfrm>
            <a:off x="3163824" y="1234440"/>
            <a:ext cx="281635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Import in every</a:t>
            </a:r>
            <a:br/>
            <a:r>
              <a:rPr sz="1200" b="1" lang="en-GB">
                <a:solidFill>
                  <a:schemeClr val="tx2"/>
                </a:solidFill>
              </a:rPr>
              <a:t>file and session</a:t>
            </a:r>
          </a:p>
        </p:txBody>
      </p:sp>
      <p:sp>
        <p:nvSpPr>
          <p:cNvPr id="12" name="Package steps step 3"/>
          <p:cNvSpPr/>
          <p:nvPr/>
        </p:nvSpPr>
        <p:spPr>
          <a:xfrm>
            <a:off x="5870448" y="1234440"/>
            <a:ext cx="281635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Use the short</a:t>
            </a:r>
            <a:br/>
            <a:r>
              <a:rPr sz="1200" b="1" lang="en-GB">
                <a:solidFill>
                  <a:schemeClr val="tx2"/>
                </a:solidFill>
              </a:rPr>
              <a:t>name: pl.read_csv()</a:t>
            </a:r>
          </a:p>
        </p:txBody>
      </p:sp>
      <p:sp>
        <p:nvSpPr>
          <p:cNvPr id="13" name="Import code caption bar"/>
          <p:cNvSpPr/>
          <p:nvPr/>
        </p:nvSpPr>
        <p:spPr>
          <a:xfrm>
            <a:off x="457200" y="1965960"/>
            <a:ext cx="48463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mport code caption"/>
          <p:cNvSpPr txBox="1"/>
          <p:nvPr/>
        </p:nvSpPr>
        <p:spPr>
          <a:xfrm>
            <a:off x="566928" y="1965960"/>
            <a:ext cx="46268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Windows and macOS: the same code</a:t>
            </a:r>
          </a:p>
        </p:txBody>
      </p:sp>
      <p:sp>
        <p:nvSpPr>
          <p:cNvPr id="15" name="Import code box"/>
          <p:cNvSpPr/>
          <p:nvPr/>
        </p:nvSpPr>
        <p:spPr>
          <a:xfrm>
            <a:off x="457200" y="2240280"/>
            <a:ext cx="4846320" cy="1600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Import code code"/>
          <p:cNvSpPr txBox="1"/>
          <p:nvPr/>
        </p:nvSpPr>
        <p:spPr>
          <a:xfrm>
            <a:off x="594360" y="2331720"/>
            <a:ext cx="4572000" cy="141732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import polars as pl</a:t>
            </a:r>
          </a:p>
          <a:p>
            <a:pPr algn="l">
              <a:spcAft>
                <a:spcPts val="0"/>
              </a:spcAft>
            </a:pPr>
            <a:r>
              <a:rPr sz="1100" b="0" lang="en-GB">
                <a:solidFill>
                  <a:schemeClr val="bg1"/>
                </a:solidFill>
                <a:latin typeface="Consolas"/>
              </a:rPr>
              <a:t>import statsmodels.formula.api as smf</a:t>
            </a:r>
          </a:p>
          <a:p>
            <a:pPr algn="l">
              <a:spcAft>
                <a:spcPts val="0"/>
              </a:spcAft>
            </a:pPr>
            <a:r>
              <a:rPr sz="1100" b="0" lang="en-GB">
                <a:solidFill>
                  <a:schemeClr val="bg1"/>
                </a:solidFill>
                <a:latin typeface="Consolas"/>
              </a:rPr>
              <a:t>from plotnine import ggplot, aes, geom_line</a:t>
            </a:r>
          </a:p>
          <a:p>
            <a:pPr algn="l">
              <a:spcAft>
                <a:spcPts val="0"/>
              </a:spcAft>
            </a:pPr>
            <a:r>
              <a:rPr sz="1100" b="0" lang="en-GB">
                <a:solidFill>
                  <a:schemeClr val="bg1"/>
                </a:solidFill>
                <a:latin typeface="Consolas"/>
              </a:rPr>
              <a:t>from great_tables import GT</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print(pl.__version__)    # 1.44.2</a:t>
            </a:r>
          </a:p>
        </p:txBody>
      </p:sp>
      <p:sp>
        <p:nvSpPr>
          <p:cNvPr id="17" name="Conventions card body"/>
          <p:cNvSpPr/>
          <p:nvPr/>
        </p:nvSpPr>
        <p:spPr>
          <a:xfrm>
            <a:off x="5486400" y="2377440"/>
            <a:ext cx="3200400" cy="1463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Conventions card header"/>
          <p:cNvSpPr/>
          <p:nvPr/>
        </p:nvSpPr>
        <p:spPr>
          <a:xfrm>
            <a:off x="5486400" y="1965960"/>
            <a:ext cx="320040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onventions card heading"/>
          <p:cNvSpPr txBox="1"/>
          <p:nvPr/>
        </p:nvSpPr>
        <p:spPr>
          <a:xfrm>
            <a:off x="5623560" y="1965960"/>
            <a:ext cx="251460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Conventions</a:t>
            </a:r>
          </a:p>
        </p:txBody>
      </p:sp>
      <p:pic>
        <p:nvPicPr>
          <p:cNvPr id="20" name="Icon Conventions card" descr=""/>
          <p:cNvPicPr>
            <a:picLocks noChangeAspect="1"/>
          </p:cNvPicPr>
          <p:nvPr/>
        </p:nvPicPr>
        <p:blipFill>
          <a:blip r:embed="rId3"/>
          <a:stretch>
            <a:fillRect/>
          </a:stretch>
        </p:blipFill>
        <p:spPr>
          <a:xfrm>
            <a:off x="8247888" y="2016252"/>
            <a:ext cx="310896" cy="310896"/>
          </a:xfrm>
          <a:prstGeom prst="rect">
            <a:avLst/>
          </a:prstGeom>
        </p:spPr>
      </p:pic>
      <p:sp>
        <p:nvSpPr>
          <p:cNvPr id="21" name="Conventions card text"/>
          <p:cNvSpPr txBox="1"/>
          <p:nvPr/>
        </p:nvSpPr>
        <p:spPr>
          <a:xfrm>
            <a:off x="5650992" y="2514600"/>
            <a:ext cx="2898648" cy="11887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pl and smf are the usual short names</a:t>
            </a:r>
          </a:p>
          <a:p>
            <a:pPr algn="l" marL="182880" indent="-182880">
              <a:spcAft>
                <a:spcPts val="600"/>
              </a:spcAft>
              <a:buClr>
                <a:schemeClr val="accent1"/>
              </a:buClr>
              <a:buFont typeface="Arial"/>
              <a:buChar char="▪"/>
            </a:pPr>
            <a:r>
              <a:rPr sz="1300" b="0" lang="en-GB">
                <a:solidFill>
                  <a:schemeClr val="tx1"/>
                </a:solidFill>
              </a:rPr>
              <a:t>Imports go at the top</a:t>
            </a:r>
          </a:p>
          <a:p>
            <a:pPr algn="l" marL="182880" indent="-182880">
              <a:spcAft>
                <a:spcPts val="600"/>
              </a:spcAft>
              <a:buClr>
                <a:schemeClr val="accent1"/>
              </a:buClr>
              <a:buFont typeface="Arial"/>
              <a:buChar char="▪"/>
            </a:pPr>
            <a:r>
              <a:rPr sz="1300" b="0" lang="en-GB">
                <a:solidFill>
                  <a:schemeClr val="tx1"/>
                </a:solidFill>
              </a:rPr>
              <a:t>Import only what you use</a:t>
            </a:r>
          </a:p>
        </p:txBody>
      </p:sp>
      <p:sp>
        <p:nvSpPr>
          <p:cNvPr id="22" name="Error box"/>
          <p:cNvSpPr/>
          <p:nvPr/>
        </p:nvSpPr>
        <p:spPr>
          <a:xfrm>
            <a:off x="457200" y="3977640"/>
            <a:ext cx="8229600" cy="10972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Error" descr=""/>
          <p:cNvPicPr>
            <a:picLocks noChangeAspect="1"/>
          </p:cNvPicPr>
          <p:nvPr/>
        </p:nvPicPr>
        <p:blipFill>
          <a:blip r:embed="rId4"/>
          <a:stretch>
            <a:fillRect/>
          </a:stretch>
        </p:blipFill>
        <p:spPr>
          <a:xfrm>
            <a:off x="658368" y="4334256"/>
            <a:ext cx="384048" cy="384048"/>
          </a:xfrm>
          <a:prstGeom prst="rect">
            <a:avLst/>
          </a:prstGeom>
        </p:spPr>
      </p:pic>
      <p:sp>
        <p:nvSpPr>
          <p:cNvPr id="24" name="Error text"/>
          <p:cNvSpPr txBox="1"/>
          <p:nvPr/>
        </p:nvSpPr>
        <p:spPr>
          <a:xfrm>
            <a:off x="1234440" y="3977640"/>
            <a:ext cx="7269480" cy="1097280"/>
          </a:xfrm>
          <a:prstGeom prst="rect">
            <a:avLst/>
          </a:prstGeom>
          <a:noFill/>
        </p:spPr>
        <p:txBody>
          <a:bodyPr wrap="square" lIns="0" rIns="0" tIns="0" bIns="0" anchor="ctr">
            <a:noAutofit/>
          </a:bodyPr>
          <a:lstStyle/>
          <a:p>
            <a:pPr algn="l">
              <a:spcAft>
                <a:spcPts val="400"/>
              </a:spcAft>
            </a:pPr>
            <a:r>
              <a:rPr sz="1300" b="1" lang="en-GB">
                <a:solidFill>
                  <a:schemeClr val="bg1"/>
                </a:solidFill>
              </a:rPr>
              <a:t>ModuleNotFoundError? </a:t>
            </a:r>
            <a:r>
              <a:rPr sz="1300" b="0" lang="en-GB">
                <a:solidFill>
                  <a:schemeClr val="bg1"/>
                </a:solidFill>
              </a:rPr>
              <a:t>Either the wrong interpreter is selected (pick the one in .venv) or the package is missing: %pip install it.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Your toolkit, from data to report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Kit card 1 body"/>
          <p:cNvSpPr/>
          <p:nvPr/>
        </p:nvSpPr>
        <p:spPr>
          <a:xfrm>
            <a:off x="457200" y="1691640"/>
            <a:ext cx="195453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Kit card 1 header"/>
          <p:cNvSpPr/>
          <p:nvPr/>
        </p:nvSpPr>
        <p:spPr>
          <a:xfrm>
            <a:off x="457200" y="1234440"/>
            <a:ext cx="195453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Kit card 1 heading"/>
          <p:cNvSpPr txBox="1"/>
          <p:nvPr/>
        </p:nvSpPr>
        <p:spPr>
          <a:xfrm>
            <a:off x="594360" y="1234440"/>
            <a:ext cx="1268730" cy="45720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1  Wrangle</a:t>
            </a:r>
          </a:p>
        </p:txBody>
      </p:sp>
      <p:pic>
        <p:nvPicPr>
          <p:cNvPr id="13" name="Icon Kit card 1" descr=""/>
          <p:cNvPicPr>
            <a:picLocks noChangeAspect="1"/>
          </p:cNvPicPr>
          <p:nvPr/>
        </p:nvPicPr>
        <p:blipFill>
          <a:blip r:embed="rId3"/>
          <a:stretch>
            <a:fillRect/>
          </a:stretch>
        </p:blipFill>
        <p:spPr>
          <a:xfrm>
            <a:off x="1972818" y="1307592"/>
            <a:ext cx="310896" cy="310896"/>
          </a:xfrm>
          <a:prstGeom prst="rect">
            <a:avLst/>
          </a:prstGeom>
        </p:spPr>
      </p:pic>
      <p:sp>
        <p:nvSpPr>
          <p:cNvPr id="14" name="Kit card 1 text"/>
          <p:cNvSpPr txBox="1"/>
          <p:nvPr/>
        </p:nvSpPr>
        <p:spPr>
          <a:xfrm>
            <a:off x="621792" y="1828800"/>
            <a:ext cx="1652778" cy="1051560"/>
          </a:xfrm>
          <a:prstGeom prst="rect">
            <a:avLst/>
          </a:prstGeom>
          <a:noFill/>
        </p:spPr>
        <p:txBody>
          <a:bodyPr wrap="square" lIns="0" rIns="0" tIns="0" bIns="0" anchor="t">
            <a:noAutofit/>
          </a:bodyPr>
          <a:lstStyle/>
          <a:p>
            <a:pPr algn="l">
              <a:spcAft>
                <a:spcPts val="600"/>
              </a:spcAft>
            </a:pPr>
            <a:r>
              <a:rPr sz="1300" b="1" lang="en-GB">
                <a:solidFill>
                  <a:schemeClr val="tx2"/>
                </a:solidFill>
                <a:latin typeface="Consolas"/>
              </a:rPr>
              <a:t>polars </a:t>
            </a:r>
            <a:r>
              <a:rPr sz="1300" b="0" lang="en-GB">
                <a:solidFill>
                  <a:schemeClr val="tx1"/>
                </a:solidFill>
              </a:rPr>
              <a:t>fast tables</a:t>
            </a:r>
          </a:p>
          <a:p>
            <a:pPr algn="l">
              <a:spcAft>
                <a:spcPts val="600"/>
              </a:spcAft>
            </a:pPr>
            <a:r>
              <a:rPr sz="1300" b="1" lang="en-GB">
                <a:solidFill>
                  <a:schemeClr val="tx2"/>
                </a:solidFill>
                <a:latin typeface="Consolas"/>
              </a:rPr>
              <a:t>pandas </a:t>
            </a:r>
            <a:r>
              <a:rPr sz="1300" b="0" lang="en-GB">
                <a:solidFill>
                  <a:schemeClr val="tx1"/>
                </a:solidFill>
              </a:rPr>
              <a:t>for model packages</a:t>
            </a:r>
          </a:p>
        </p:txBody>
      </p:sp>
      <p:sp>
        <p:nvSpPr>
          <p:cNvPr id="15" name="Kit arrow 1"/>
          <p:cNvSpPr/>
          <p:nvPr/>
        </p:nvSpPr>
        <p:spPr>
          <a:xfrm>
            <a:off x="2393442" y="2011680"/>
            <a:ext cx="173736" cy="274320"/>
          </a:xfrm>
          <a:prstGeom prst="chevron">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Kit card 2 body"/>
          <p:cNvSpPr/>
          <p:nvPr/>
        </p:nvSpPr>
        <p:spPr>
          <a:xfrm>
            <a:off x="2548890" y="1691640"/>
            <a:ext cx="195453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Kit card 2 header"/>
          <p:cNvSpPr/>
          <p:nvPr/>
        </p:nvSpPr>
        <p:spPr>
          <a:xfrm>
            <a:off x="2548890" y="1234440"/>
            <a:ext cx="195453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Kit card 2 heading"/>
          <p:cNvSpPr txBox="1"/>
          <p:nvPr/>
        </p:nvSpPr>
        <p:spPr>
          <a:xfrm>
            <a:off x="2686050" y="1234440"/>
            <a:ext cx="1268730" cy="45720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2  Visualise</a:t>
            </a:r>
          </a:p>
        </p:txBody>
      </p:sp>
      <p:pic>
        <p:nvPicPr>
          <p:cNvPr id="19" name="Icon Kit card 2" descr=""/>
          <p:cNvPicPr>
            <a:picLocks noChangeAspect="1"/>
          </p:cNvPicPr>
          <p:nvPr/>
        </p:nvPicPr>
        <p:blipFill>
          <a:blip r:embed="rId4"/>
          <a:stretch>
            <a:fillRect/>
          </a:stretch>
        </p:blipFill>
        <p:spPr>
          <a:xfrm>
            <a:off x="4064508" y="1307592"/>
            <a:ext cx="310896" cy="310896"/>
          </a:xfrm>
          <a:prstGeom prst="rect">
            <a:avLst/>
          </a:prstGeom>
        </p:spPr>
      </p:pic>
      <p:sp>
        <p:nvSpPr>
          <p:cNvPr id="20" name="Kit card 2 text"/>
          <p:cNvSpPr txBox="1"/>
          <p:nvPr/>
        </p:nvSpPr>
        <p:spPr>
          <a:xfrm>
            <a:off x="2713482" y="1828800"/>
            <a:ext cx="1652778" cy="1051560"/>
          </a:xfrm>
          <a:prstGeom prst="rect">
            <a:avLst/>
          </a:prstGeom>
          <a:noFill/>
        </p:spPr>
        <p:txBody>
          <a:bodyPr wrap="square" lIns="0" rIns="0" tIns="0" bIns="0" anchor="t">
            <a:noAutofit/>
          </a:bodyPr>
          <a:lstStyle/>
          <a:p>
            <a:pPr algn="l">
              <a:spcAft>
                <a:spcPts val="600"/>
              </a:spcAft>
            </a:pPr>
            <a:r>
              <a:rPr sz="1300" b="1" lang="en-GB">
                <a:solidFill>
                  <a:schemeClr val="tx2"/>
                </a:solidFill>
                <a:latin typeface="Consolas"/>
              </a:rPr>
              <a:t>plotnine </a:t>
            </a:r>
            <a:r>
              <a:rPr sz="1300" b="0" lang="en-GB">
                <a:solidFill>
                  <a:schemeClr val="tx1"/>
                </a:solidFill>
              </a:rPr>
              <a:t>charts by grammar</a:t>
            </a:r>
          </a:p>
        </p:txBody>
      </p:sp>
      <p:sp>
        <p:nvSpPr>
          <p:cNvPr id="21" name="Kit arrow 2"/>
          <p:cNvSpPr/>
          <p:nvPr/>
        </p:nvSpPr>
        <p:spPr>
          <a:xfrm>
            <a:off x="4485132" y="2011680"/>
            <a:ext cx="173736" cy="274320"/>
          </a:xfrm>
          <a:prstGeom prst="chevron">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Kit card 3 body"/>
          <p:cNvSpPr/>
          <p:nvPr/>
        </p:nvSpPr>
        <p:spPr>
          <a:xfrm>
            <a:off x="4640580" y="1691640"/>
            <a:ext cx="195453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Kit card 3 header"/>
          <p:cNvSpPr/>
          <p:nvPr/>
        </p:nvSpPr>
        <p:spPr>
          <a:xfrm>
            <a:off x="4640580" y="1234440"/>
            <a:ext cx="195453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Kit card 3 heading"/>
          <p:cNvSpPr txBox="1"/>
          <p:nvPr/>
        </p:nvSpPr>
        <p:spPr>
          <a:xfrm>
            <a:off x="4777740" y="1234440"/>
            <a:ext cx="1268730" cy="45720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3  Model</a:t>
            </a:r>
          </a:p>
        </p:txBody>
      </p:sp>
      <p:pic>
        <p:nvPicPr>
          <p:cNvPr id="25" name="Icon Kit card 3" descr=""/>
          <p:cNvPicPr>
            <a:picLocks noChangeAspect="1"/>
          </p:cNvPicPr>
          <p:nvPr/>
        </p:nvPicPr>
        <p:blipFill>
          <a:blip r:embed="rId5"/>
          <a:stretch>
            <a:fillRect/>
          </a:stretch>
        </p:blipFill>
        <p:spPr>
          <a:xfrm>
            <a:off x="6156198" y="1307592"/>
            <a:ext cx="310896" cy="310896"/>
          </a:xfrm>
          <a:prstGeom prst="rect">
            <a:avLst/>
          </a:prstGeom>
        </p:spPr>
      </p:pic>
      <p:sp>
        <p:nvSpPr>
          <p:cNvPr id="26" name="Kit card 3 text"/>
          <p:cNvSpPr txBox="1"/>
          <p:nvPr/>
        </p:nvSpPr>
        <p:spPr>
          <a:xfrm>
            <a:off x="4805172" y="1828800"/>
            <a:ext cx="1652778" cy="1051560"/>
          </a:xfrm>
          <a:prstGeom prst="rect">
            <a:avLst/>
          </a:prstGeom>
          <a:noFill/>
        </p:spPr>
        <p:txBody>
          <a:bodyPr wrap="square" lIns="0" rIns="0" tIns="0" bIns="0" anchor="t">
            <a:noAutofit/>
          </a:bodyPr>
          <a:lstStyle/>
          <a:p>
            <a:pPr algn="l">
              <a:spcAft>
                <a:spcPts val="600"/>
              </a:spcAft>
            </a:pPr>
            <a:r>
              <a:rPr sz="1300" b="1" lang="en-GB">
                <a:solidFill>
                  <a:schemeClr val="tx2"/>
                </a:solidFill>
                <a:latin typeface="Consolas"/>
              </a:rPr>
              <a:t>statsmodels </a:t>
            </a:r>
            <a:r>
              <a:rPr sz="1300" b="0" lang="en-GB">
                <a:solidFill>
                  <a:schemeClr val="tx1"/>
                </a:solidFill>
              </a:rPr>
              <a:t>regression</a:t>
            </a:r>
          </a:p>
          <a:p>
            <a:pPr algn="l">
              <a:spcAft>
                <a:spcPts val="600"/>
              </a:spcAft>
            </a:pPr>
            <a:r>
              <a:rPr sz="1300" b="1" lang="en-GB">
                <a:solidFill>
                  <a:schemeClr val="tx2"/>
                </a:solidFill>
                <a:latin typeface="Consolas"/>
              </a:rPr>
              <a:t>pymc-marketing </a:t>
            </a:r>
            <a:r>
              <a:rPr sz="1300" b="0" lang="en-GB">
                <a:solidFill>
                  <a:schemeClr val="tx1"/>
                </a:solidFill>
              </a:rPr>
              <a:t>Bayesian MMM</a:t>
            </a:r>
          </a:p>
        </p:txBody>
      </p:sp>
      <p:sp>
        <p:nvSpPr>
          <p:cNvPr id="27" name="Kit arrow 3"/>
          <p:cNvSpPr/>
          <p:nvPr/>
        </p:nvSpPr>
        <p:spPr>
          <a:xfrm>
            <a:off x="6576822" y="2011680"/>
            <a:ext cx="173736" cy="274320"/>
          </a:xfrm>
          <a:prstGeom prst="chevron">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Kit card 4 body"/>
          <p:cNvSpPr/>
          <p:nvPr/>
        </p:nvSpPr>
        <p:spPr>
          <a:xfrm>
            <a:off x="6732270" y="1691640"/>
            <a:ext cx="195453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Kit card 4 header"/>
          <p:cNvSpPr/>
          <p:nvPr/>
        </p:nvSpPr>
        <p:spPr>
          <a:xfrm>
            <a:off x="6732270" y="1234440"/>
            <a:ext cx="195453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Kit card 4 heading"/>
          <p:cNvSpPr txBox="1"/>
          <p:nvPr/>
        </p:nvSpPr>
        <p:spPr>
          <a:xfrm>
            <a:off x="6869430" y="1234440"/>
            <a:ext cx="1268730" cy="45720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4  Report</a:t>
            </a:r>
          </a:p>
        </p:txBody>
      </p:sp>
      <p:pic>
        <p:nvPicPr>
          <p:cNvPr id="31" name="Icon Kit card 4" descr=""/>
          <p:cNvPicPr>
            <a:picLocks noChangeAspect="1"/>
          </p:cNvPicPr>
          <p:nvPr/>
        </p:nvPicPr>
        <p:blipFill>
          <a:blip r:embed="rId6"/>
          <a:stretch>
            <a:fillRect/>
          </a:stretch>
        </p:blipFill>
        <p:spPr>
          <a:xfrm>
            <a:off x="8247888" y="1307592"/>
            <a:ext cx="310896" cy="310896"/>
          </a:xfrm>
          <a:prstGeom prst="rect">
            <a:avLst/>
          </a:prstGeom>
        </p:spPr>
      </p:pic>
      <p:sp>
        <p:nvSpPr>
          <p:cNvPr id="32" name="Kit card 4 text"/>
          <p:cNvSpPr txBox="1"/>
          <p:nvPr/>
        </p:nvSpPr>
        <p:spPr>
          <a:xfrm>
            <a:off x="6896862" y="1828800"/>
            <a:ext cx="1652778" cy="1051560"/>
          </a:xfrm>
          <a:prstGeom prst="rect">
            <a:avLst/>
          </a:prstGeom>
          <a:noFill/>
        </p:spPr>
        <p:txBody>
          <a:bodyPr wrap="square" lIns="0" rIns="0" tIns="0" bIns="0" anchor="t">
            <a:noAutofit/>
          </a:bodyPr>
          <a:lstStyle/>
          <a:p>
            <a:pPr algn="l">
              <a:spcAft>
                <a:spcPts val="600"/>
              </a:spcAft>
            </a:pPr>
            <a:r>
              <a:rPr sz="1300" b="1" lang="en-GB">
                <a:solidFill>
                  <a:schemeClr val="tx2"/>
                </a:solidFill>
                <a:latin typeface="Consolas"/>
              </a:rPr>
              <a:t>great_tables </a:t>
            </a:r>
            <a:r>
              <a:rPr sz="1300" b="0" lang="en-GB">
                <a:solidFill>
                  <a:schemeClr val="tx1"/>
                </a:solidFill>
              </a:rPr>
              <a:t>tables</a:t>
            </a:r>
          </a:p>
          <a:p>
            <a:pPr algn="l">
              <a:spcAft>
                <a:spcPts val="600"/>
              </a:spcAft>
            </a:pPr>
            <a:r>
              <a:rPr sz="1300" b="1" lang="en-GB">
                <a:solidFill>
                  <a:schemeClr val="tx2"/>
                </a:solidFill>
                <a:latin typeface="Consolas"/>
              </a:rPr>
              <a:t>Quarto </a:t>
            </a:r>
            <a:r>
              <a:rPr sz="1300" b="0" lang="en-GB">
                <a:solidFill>
                  <a:schemeClr val="tx1"/>
                </a:solidFill>
              </a:rPr>
              <a:t>documents</a:t>
            </a:r>
          </a:p>
        </p:txBody>
      </p:sp>
      <p:sp>
        <p:nvSpPr>
          <p:cNvPr id="33" name="Kit fact 1"/>
          <p:cNvSpPr/>
          <p:nvPr/>
        </p:nvSpPr>
        <p:spPr>
          <a:xfrm>
            <a:off x="457200" y="3154680"/>
            <a:ext cx="2651760" cy="10058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Kit fact bar 1"/>
          <p:cNvSpPr/>
          <p:nvPr/>
        </p:nvSpPr>
        <p:spPr>
          <a:xfrm>
            <a:off x="457200" y="3154680"/>
            <a:ext cx="64008" cy="10058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Kit fact text 1"/>
          <p:cNvSpPr txBox="1"/>
          <p:nvPr/>
        </p:nvSpPr>
        <p:spPr>
          <a:xfrm>
            <a:off x="685800" y="3154680"/>
            <a:ext cx="2331720" cy="1005840"/>
          </a:xfrm>
          <a:prstGeom prst="rect">
            <a:avLst/>
          </a:prstGeom>
          <a:noFill/>
        </p:spPr>
        <p:txBody>
          <a:bodyPr wrap="square" lIns="0" rIns="0" tIns="0" bIns="0" anchor="ctr">
            <a:noAutofit/>
          </a:bodyPr>
          <a:lstStyle/>
          <a:p>
            <a:pPr algn="l">
              <a:spcAft>
                <a:spcPts val="0"/>
              </a:spcAft>
            </a:pPr>
            <a:r>
              <a:rPr sz="2800" b="1" lang="en-GB">
                <a:solidFill>
                  <a:schemeClr val="tx2"/>
                </a:solidFill>
                <a:latin typeface="+mj-lt"/>
              </a:rPr>
              <a:t>22</a:t>
            </a:r>
          </a:p>
          <a:p>
            <a:pPr algn="l">
              <a:spcAft>
                <a:spcPts val="0"/>
              </a:spcAft>
            </a:pPr>
            <a:r>
              <a:rPr sz="1300" b="0" lang="en-GB">
                <a:solidFill>
                  <a:schemeClr val="tx1"/>
                </a:solidFill>
              </a:rPr>
              <a:t>packages pinned in requirements.txt</a:t>
            </a:r>
          </a:p>
        </p:txBody>
      </p:sp>
      <p:sp>
        <p:nvSpPr>
          <p:cNvPr id="36" name="Kit fact 2"/>
          <p:cNvSpPr/>
          <p:nvPr/>
        </p:nvSpPr>
        <p:spPr>
          <a:xfrm>
            <a:off x="3246120" y="3154680"/>
            <a:ext cx="2651760" cy="10058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Kit fact bar 2"/>
          <p:cNvSpPr/>
          <p:nvPr/>
        </p:nvSpPr>
        <p:spPr>
          <a:xfrm>
            <a:off x="3246120" y="3154680"/>
            <a:ext cx="64008" cy="10058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Kit fact text 2"/>
          <p:cNvSpPr txBox="1"/>
          <p:nvPr/>
        </p:nvSpPr>
        <p:spPr>
          <a:xfrm>
            <a:off x="3474720" y="3154680"/>
            <a:ext cx="2331720" cy="1005840"/>
          </a:xfrm>
          <a:prstGeom prst="rect">
            <a:avLst/>
          </a:prstGeom>
          <a:noFill/>
        </p:spPr>
        <p:txBody>
          <a:bodyPr wrap="square" lIns="0" rIns="0" tIns="0" bIns="0" anchor="ctr">
            <a:noAutofit/>
          </a:bodyPr>
          <a:lstStyle/>
          <a:p>
            <a:pPr algn="l">
              <a:spcAft>
                <a:spcPts val="0"/>
              </a:spcAft>
            </a:pPr>
            <a:r>
              <a:rPr sz="2800" b="1" lang="en-GB">
                <a:solidFill>
                  <a:schemeClr val="tx2"/>
                </a:solidFill>
                <a:latin typeface="+mj-lt"/>
              </a:rPr>
              <a:t>1</a:t>
            </a:r>
          </a:p>
          <a:p>
            <a:pPr algn="l">
              <a:spcAft>
                <a:spcPts val="0"/>
              </a:spcAft>
            </a:pPr>
            <a:r>
              <a:rPr sz="1300" b="0" lang="en-GB">
                <a:solidFill>
                  <a:schemeClr val="tx1"/>
                </a:solidFill>
              </a:rPr>
              <a:t>command installs them all</a:t>
            </a:r>
          </a:p>
        </p:txBody>
      </p:sp>
      <p:sp>
        <p:nvSpPr>
          <p:cNvPr id="39" name="Kit fact 3"/>
          <p:cNvSpPr/>
          <p:nvPr/>
        </p:nvSpPr>
        <p:spPr>
          <a:xfrm>
            <a:off x="6035040" y="3154680"/>
            <a:ext cx="2651760" cy="10058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Kit fact bar 3"/>
          <p:cNvSpPr/>
          <p:nvPr/>
        </p:nvSpPr>
        <p:spPr>
          <a:xfrm>
            <a:off x="6035040" y="3154680"/>
            <a:ext cx="64008" cy="10058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Kit fact text 3"/>
          <p:cNvSpPr txBox="1"/>
          <p:nvPr/>
        </p:nvSpPr>
        <p:spPr>
          <a:xfrm>
            <a:off x="6263640" y="3154680"/>
            <a:ext cx="2331720" cy="1005840"/>
          </a:xfrm>
          <a:prstGeom prst="rect">
            <a:avLst/>
          </a:prstGeom>
          <a:noFill/>
        </p:spPr>
        <p:txBody>
          <a:bodyPr wrap="square" lIns="0" rIns="0" tIns="0" bIns="0" anchor="ctr">
            <a:noAutofit/>
          </a:bodyPr>
          <a:lstStyle/>
          <a:p>
            <a:pPr algn="l">
              <a:spcAft>
                <a:spcPts val="0"/>
              </a:spcAft>
            </a:pPr>
            <a:r>
              <a:rPr sz="2800" b="1" lang="en-GB">
                <a:solidFill>
                  <a:schemeClr val="tx2"/>
                </a:solidFill>
                <a:latin typeface="+mj-lt"/>
              </a:rPr>
              <a:t>0</a:t>
            </a:r>
          </a:p>
          <a:p>
            <a:pPr algn="l">
              <a:spcAft>
                <a:spcPts val="0"/>
              </a:spcAft>
            </a:pPr>
            <a:r>
              <a:rPr sz="1300" b="0" lang="en-GB">
                <a:solidFill>
                  <a:schemeClr val="tx1"/>
                </a:solidFill>
              </a:rPr>
              <a:t>euros: all open source</a:t>
            </a:r>
          </a:p>
        </p:txBody>
      </p:sp>
      <p:sp>
        <p:nvSpPr>
          <p:cNvPr id="42" name="Older tools box"/>
          <p:cNvSpPr/>
          <p:nvPr/>
        </p:nvSpPr>
        <p:spPr>
          <a:xfrm>
            <a:off x="457200" y="4343400"/>
            <a:ext cx="822960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3" name="Icon Older tools" descr=""/>
          <p:cNvPicPr>
            <a:picLocks noChangeAspect="1"/>
          </p:cNvPicPr>
          <p:nvPr/>
        </p:nvPicPr>
        <p:blipFill>
          <a:blip r:embed="rId7"/>
          <a:stretch>
            <a:fillRect/>
          </a:stretch>
        </p:blipFill>
        <p:spPr>
          <a:xfrm>
            <a:off x="658368" y="4517136"/>
            <a:ext cx="384048" cy="384048"/>
          </a:xfrm>
          <a:prstGeom prst="rect">
            <a:avLst/>
          </a:prstGeom>
        </p:spPr>
      </p:pic>
      <p:sp>
        <p:nvSpPr>
          <p:cNvPr id="44" name="Older tools text"/>
          <p:cNvSpPr txBox="1"/>
          <p:nvPr/>
        </p:nvSpPr>
        <p:spPr>
          <a:xfrm>
            <a:off x="1234440" y="4343400"/>
            <a:ext cx="7269480" cy="731520"/>
          </a:xfrm>
          <a:prstGeom prst="rect">
            <a:avLst/>
          </a:prstGeom>
          <a:noFill/>
        </p:spPr>
        <p:txBody>
          <a:bodyPr wrap="square" lIns="0" rIns="0" tIns="0" bIns="0" anchor="ctr">
            <a:noAutofit/>
          </a:bodyPr>
          <a:lstStyle/>
          <a:p>
            <a:pPr algn="l">
              <a:spcAft>
                <a:spcPts val="400"/>
              </a:spcAft>
            </a:pPr>
            <a:r>
              <a:rPr sz="1300" b="1" lang="en-GB">
                <a:solidFill>
                  <a:schemeClr val="tx2"/>
                </a:solidFill>
              </a:rPr>
              <a:t>Online you will also meet pandas and matplotlib: </a:t>
            </a:r>
            <a:r>
              <a:rPr sz="1300" b="0" lang="en-GB">
                <a:solidFill>
                  <a:schemeClr val="tx1"/>
                </a:solidFill>
              </a:rPr>
              <a:t>older but common; the ideas carry over.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polars: data wrangling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olars cod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olars cod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Revenue and TV spend per country, 2025</a:t>
            </a:r>
          </a:p>
        </p:txBody>
      </p:sp>
      <p:sp>
        <p:nvSpPr>
          <p:cNvPr id="12" name="Polars code box"/>
          <p:cNvSpPr/>
          <p:nvPr/>
        </p:nvSpPr>
        <p:spPr>
          <a:xfrm>
            <a:off x="457200" y="1508760"/>
            <a:ext cx="4937760" cy="25603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olars code code"/>
          <p:cNvSpPr txBox="1"/>
          <p:nvPr/>
        </p:nvSpPr>
        <p:spPr>
          <a:xfrm>
            <a:off x="594360" y="1600200"/>
            <a:ext cx="4663440" cy="237744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import polars as pl</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sales = pl.read_csv("data/mmm/alpenglow_weekly.csv",</a:t>
            </a:r>
          </a:p>
          <a:p>
            <a:pPr algn="l">
              <a:spcAft>
                <a:spcPts val="0"/>
              </a:spcAft>
            </a:pPr>
            <a:r>
              <a:rPr sz="1050" b="0" lang="en-GB">
                <a:solidFill>
                  <a:schemeClr val="bg1"/>
                </a:solidFill>
                <a:latin typeface="Consolas"/>
              </a:rPr>
              <a:t>                    try_parse_dates=True)</a:t>
            </a:r>
          </a:p>
          <a:p>
            <a:pPr algn="l">
              <a:spcAft>
                <a:spcPts val="0"/>
              </a:spcAft>
            </a:pPr>
            <a:r>
              <a:rPr sz="1050" b="0" lang="en-GB">
                <a:solidFill>
                  <a:schemeClr val="bg1"/>
                </a:solidFill>
                <a:latin typeface="Consolas"/>
              </a:rPr>
              <a:t>summary = (</a:t>
            </a:r>
          </a:p>
          <a:p>
            <a:pPr algn="l">
              <a:spcAft>
                <a:spcPts val="0"/>
              </a:spcAft>
            </a:pPr>
            <a:r>
              <a:rPr sz="1050" b="0" lang="en-GB">
                <a:solidFill>
                  <a:schemeClr val="bg1"/>
                </a:solidFill>
                <a:latin typeface="Consolas"/>
              </a:rPr>
              <a:t>    sales</a:t>
            </a:r>
          </a:p>
          <a:p>
            <a:pPr algn="l">
              <a:spcAft>
                <a:spcPts val="0"/>
              </a:spcAft>
            </a:pPr>
            <a:r>
              <a:rPr sz="1050" b="0" lang="en-GB">
                <a:solidFill>
                  <a:schemeClr val="bg1"/>
                </a:solidFill>
                <a:latin typeface="Consolas"/>
              </a:rPr>
              <a:t>    .filter(pl.col("week").dt.year() == 2025)</a:t>
            </a:r>
          </a:p>
          <a:p>
            <a:pPr algn="l">
              <a:spcAft>
                <a:spcPts val="0"/>
              </a:spcAft>
            </a:pPr>
            <a:r>
              <a:rPr sz="1050" b="0" lang="en-GB">
                <a:solidFill>
                  <a:schemeClr val="bg1"/>
                </a:solidFill>
                <a:latin typeface="Consolas"/>
              </a:rPr>
              <a:t>    .group_by("country")</a:t>
            </a:r>
          </a:p>
          <a:p>
            <a:pPr algn="l">
              <a:spcAft>
                <a:spcPts val="0"/>
              </a:spcAft>
            </a:pPr>
            <a:r>
              <a:rPr sz="1050" b="0" lang="en-GB">
                <a:solidFill>
                  <a:schemeClr val="bg1"/>
                </a:solidFill>
                <a:latin typeface="Consolas"/>
              </a:rPr>
              <a:t>    .agg(pl.col("revenue_eur_k").sum().alias("revenue"),</a:t>
            </a:r>
          </a:p>
          <a:p>
            <a:pPr algn="l">
              <a:spcAft>
                <a:spcPts val="0"/>
              </a:spcAft>
            </a:pPr>
            <a:r>
              <a:rPr sz="1050" b="0" lang="en-GB">
                <a:solidFill>
                  <a:schemeClr val="bg1"/>
                </a:solidFill>
                <a:latin typeface="Consolas"/>
              </a:rPr>
              <a:t>         pl.col("spend_tv_k").sum().alias("tv"))</a:t>
            </a:r>
          </a:p>
          <a:p>
            <a:pPr algn="l">
              <a:spcAft>
                <a:spcPts val="0"/>
              </a:spcAft>
            </a:pPr>
            <a:r>
              <a:rPr sz="1050" b="0" lang="en-GB">
                <a:solidFill>
                  <a:schemeClr val="bg1"/>
                </a:solidFill>
                <a:latin typeface="Consolas"/>
              </a:rPr>
              <a:t>    .sort("revenue", descending=True)</a:t>
            </a:r>
          </a:p>
          <a:p>
            <a:pPr algn="l">
              <a:spcAft>
                <a:spcPts val="0"/>
              </a:spcAft>
            </a:pPr>
            <a:r>
              <a:rPr sz="1050" b="0" lang="en-GB">
                <a:solidFill>
                  <a:schemeClr val="bg1"/>
                </a:solidFill>
                <a:latin typeface="Consolas"/>
              </a:rPr>
              <a:t>)</a:t>
            </a:r>
          </a:p>
        </p:txBody>
      </p:sp>
      <p:sp>
        <p:nvSpPr>
          <p:cNvPr id="14" name="Polars row 1"/>
          <p:cNvSpPr/>
          <p:nvPr/>
        </p:nvSpPr>
        <p:spPr>
          <a:xfrm>
            <a:off x="5577840" y="1234440"/>
            <a:ext cx="310896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Polars bar 1"/>
          <p:cNvSpPr/>
          <p:nvPr/>
        </p:nvSpPr>
        <p:spPr>
          <a:xfrm>
            <a:off x="5577840" y="1234440"/>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Polars text 1"/>
          <p:cNvSpPr txBox="1"/>
          <p:nvPr/>
        </p:nvSpPr>
        <p:spPr>
          <a:xfrm>
            <a:off x="5760720" y="1234440"/>
            <a:ext cx="2834640" cy="640080"/>
          </a:xfrm>
          <a:prstGeom prst="rect">
            <a:avLst/>
          </a:prstGeom>
          <a:noFill/>
        </p:spPr>
        <p:txBody>
          <a:bodyPr wrap="square" lIns="0" rIns="0" tIns="0" bIns="0" anchor="ctr">
            <a:noAutofit/>
          </a:bodyPr>
          <a:lstStyle/>
          <a:p>
            <a:pPr algn="l">
              <a:spcAft>
                <a:spcPts val="400"/>
              </a:spcAft>
            </a:pPr>
            <a:r>
              <a:rPr sz="1200" b="1" lang="en-GB">
                <a:solidFill>
                  <a:schemeClr val="tx2"/>
                </a:solidFill>
              </a:rPr>
              <a:t>DataFrame: </a:t>
            </a:r>
            <a:r>
              <a:rPr sz="1200" b="0" lang="en-GB">
                <a:solidFill>
                  <a:schemeClr val="tx1"/>
                </a:solidFill>
              </a:rPr>
              <a:t>a table with typed columns</a:t>
            </a:r>
          </a:p>
        </p:txBody>
      </p:sp>
      <p:sp>
        <p:nvSpPr>
          <p:cNvPr id="17" name="Polars row 2"/>
          <p:cNvSpPr/>
          <p:nvPr/>
        </p:nvSpPr>
        <p:spPr>
          <a:xfrm>
            <a:off x="5577840" y="1965960"/>
            <a:ext cx="310896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Polars bar 2"/>
          <p:cNvSpPr/>
          <p:nvPr/>
        </p:nvSpPr>
        <p:spPr>
          <a:xfrm>
            <a:off x="5577840" y="1965960"/>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Polars text 2"/>
          <p:cNvSpPr txBox="1"/>
          <p:nvPr/>
        </p:nvSpPr>
        <p:spPr>
          <a:xfrm>
            <a:off x="5760720" y="1965960"/>
            <a:ext cx="2834640" cy="640080"/>
          </a:xfrm>
          <a:prstGeom prst="rect">
            <a:avLst/>
          </a:prstGeom>
          <a:noFill/>
        </p:spPr>
        <p:txBody>
          <a:bodyPr wrap="square" lIns="0" rIns="0" tIns="0" bIns="0" anchor="ctr">
            <a:noAutofit/>
          </a:bodyPr>
          <a:lstStyle/>
          <a:p>
            <a:pPr algn="l">
              <a:spcAft>
                <a:spcPts val="400"/>
              </a:spcAft>
            </a:pPr>
            <a:r>
              <a:rPr sz="1200" b="1" lang="en-GB">
                <a:solidFill>
                  <a:schemeClr val="tx2"/>
                </a:solidFill>
              </a:rPr>
              <a:t>Expressions: </a:t>
            </a:r>
            <a:r>
              <a:rPr sz="1200" b="0" lang="en-GB">
                <a:solidFill>
                  <a:schemeClr val="tx1"/>
                </a:solidFill>
              </a:rPr>
              <a:t>pl.col("tv").sum() says what to compute</a:t>
            </a:r>
          </a:p>
        </p:txBody>
      </p:sp>
      <p:sp>
        <p:nvSpPr>
          <p:cNvPr id="20" name="Polars row 3"/>
          <p:cNvSpPr/>
          <p:nvPr/>
        </p:nvSpPr>
        <p:spPr>
          <a:xfrm>
            <a:off x="5577840" y="2697480"/>
            <a:ext cx="310896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Polars bar 3"/>
          <p:cNvSpPr/>
          <p:nvPr/>
        </p:nvSpPr>
        <p:spPr>
          <a:xfrm>
            <a:off x="5577840" y="2697480"/>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olars text 3"/>
          <p:cNvSpPr txBox="1"/>
          <p:nvPr/>
        </p:nvSpPr>
        <p:spPr>
          <a:xfrm>
            <a:off x="5760720" y="2697480"/>
            <a:ext cx="2834640" cy="640080"/>
          </a:xfrm>
          <a:prstGeom prst="rect">
            <a:avLst/>
          </a:prstGeom>
          <a:noFill/>
        </p:spPr>
        <p:txBody>
          <a:bodyPr wrap="square" lIns="0" rIns="0" tIns="0" bIns="0" anchor="ctr">
            <a:noAutofit/>
          </a:bodyPr>
          <a:lstStyle/>
          <a:p>
            <a:pPr algn="l">
              <a:spcAft>
                <a:spcPts val="400"/>
              </a:spcAft>
            </a:pPr>
            <a:r>
              <a:rPr sz="1200" b="1" lang="en-GB">
                <a:solidFill>
                  <a:schemeClr val="tx2"/>
                </a:solidFill>
              </a:rPr>
              <a:t>Chaining: </a:t>
            </a:r>
            <a:r>
              <a:rPr sz="1200" b="0" lang="en-GB">
                <a:solidFill>
                  <a:schemeClr val="tx1"/>
                </a:solidFill>
              </a:rPr>
              <a:t>one step per line, read top to bottom</a:t>
            </a:r>
          </a:p>
        </p:txBody>
      </p:sp>
      <p:sp>
        <p:nvSpPr>
          <p:cNvPr id="23" name="Polars row 4"/>
          <p:cNvSpPr/>
          <p:nvPr/>
        </p:nvSpPr>
        <p:spPr>
          <a:xfrm>
            <a:off x="5577840" y="3429000"/>
            <a:ext cx="310896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olars bar 4"/>
          <p:cNvSpPr/>
          <p:nvPr/>
        </p:nvSpPr>
        <p:spPr>
          <a:xfrm>
            <a:off x="5577840" y="3429000"/>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Polars text 4"/>
          <p:cNvSpPr txBox="1"/>
          <p:nvPr/>
        </p:nvSpPr>
        <p:spPr>
          <a:xfrm>
            <a:off x="5760720" y="3429000"/>
            <a:ext cx="2834640" cy="640080"/>
          </a:xfrm>
          <a:prstGeom prst="rect">
            <a:avLst/>
          </a:prstGeom>
          <a:noFill/>
        </p:spPr>
        <p:txBody>
          <a:bodyPr wrap="square" lIns="0" rIns="0" tIns="0" bIns="0" anchor="ctr">
            <a:noAutofit/>
          </a:bodyPr>
          <a:lstStyle/>
          <a:p>
            <a:pPr algn="l">
              <a:spcAft>
                <a:spcPts val="400"/>
              </a:spcAft>
            </a:pPr>
            <a:r>
              <a:rPr sz="1200" b="1" lang="en-GB">
                <a:solidFill>
                  <a:schemeClr val="tx2"/>
                </a:solidFill>
              </a:rPr>
              <a:t>Fast: </a:t>
            </a:r>
            <a:r>
              <a:rPr sz="1200" b="0" lang="en-GB">
                <a:solidFill>
                  <a:schemeClr val="tx1"/>
                </a:solidFill>
              </a:rPr>
              <a:t>multi-threaded, written in Rust</a:t>
            </a:r>
          </a:p>
        </p:txBody>
      </p:sp>
      <p:sp>
        <p:nvSpPr>
          <p:cNvPr id="26" name="Polars result box"/>
          <p:cNvSpPr/>
          <p:nvPr/>
        </p:nvSpPr>
        <p:spPr>
          <a:xfrm>
            <a:off x="457200" y="4206240"/>
            <a:ext cx="8229600" cy="8686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Polars result" descr=""/>
          <p:cNvPicPr>
            <a:picLocks noChangeAspect="1"/>
          </p:cNvPicPr>
          <p:nvPr/>
        </p:nvPicPr>
        <p:blipFill>
          <a:blip r:embed="rId3"/>
          <a:stretch>
            <a:fillRect/>
          </a:stretch>
        </p:blipFill>
        <p:spPr>
          <a:xfrm>
            <a:off x="658368" y="4448556"/>
            <a:ext cx="384048" cy="384048"/>
          </a:xfrm>
          <a:prstGeom prst="rect">
            <a:avLst/>
          </a:prstGeom>
        </p:spPr>
      </p:pic>
      <p:sp>
        <p:nvSpPr>
          <p:cNvPr id="28" name="Polars result text"/>
          <p:cNvSpPr txBox="1"/>
          <p:nvPr/>
        </p:nvSpPr>
        <p:spPr>
          <a:xfrm>
            <a:off x="1234440" y="4206240"/>
            <a:ext cx="7269480" cy="868680"/>
          </a:xfrm>
          <a:prstGeom prst="rect">
            <a:avLst/>
          </a:prstGeom>
          <a:noFill/>
        </p:spPr>
        <p:txBody>
          <a:bodyPr wrap="square" lIns="0" rIns="0" tIns="0" bIns="0" anchor="ctr">
            <a:noAutofit/>
          </a:bodyPr>
          <a:lstStyle/>
          <a:p>
            <a:pPr algn="l">
              <a:spcAft>
                <a:spcPts val="400"/>
              </a:spcAft>
            </a:pPr>
            <a:r>
              <a:rPr sz="1300" b="1" lang="en-GB">
                <a:solidFill>
                  <a:schemeClr val="tx2"/>
                </a:solidFill>
              </a:rPr>
              <a:t>Result: </a:t>
            </a:r>
            <a:r>
              <a:rPr sz="1300" b="0" lang="en-GB">
                <a:solidFill>
                  <a:schemeClr val="tx1"/>
                </a:solidFill>
              </a:rPr>
              <a:t>six rows, one per country. Germany leads with about EUR 131 million revenue in 2025. Need pandas? Add .to_pandas().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plotnine: charts with the grammar of graphics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lotnine code caption bar"/>
          <p:cNvSpPr/>
          <p:nvPr/>
        </p:nvSpPr>
        <p:spPr>
          <a:xfrm>
            <a:off x="457200" y="1234440"/>
            <a:ext cx="42062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lotnine code caption"/>
          <p:cNvSpPr txBox="1"/>
          <p:nvPr/>
        </p:nvSpPr>
        <p:spPr>
          <a:xfrm>
            <a:off x="566928" y="1234440"/>
            <a:ext cx="39867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Weekly sales, Austria and Germany</a:t>
            </a:r>
          </a:p>
        </p:txBody>
      </p:sp>
      <p:sp>
        <p:nvSpPr>
          <p:cNvPr id="12" name="Plotnine code box"/>
          <p:cNvSpPr/>
          <p:nvPr/>
        </p:nvSpPr>
        <p:spPr>
          <a:xfrm>
            <a:off x="457200" y="1508760"/>
            <a:ext cx="4206240" cy="21031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lotnine code code"/>
          <p:cNvSpPr txBox="1"/>
          <p:nvPr/>
        </p:nvSpPr>
        <p:spPr>
          <a:xfrm>
            <a:off x="594360" y="1600200"/>
            <a:ext cx="3931920" cy="192024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(ggplot(sales.filter(</a:t>
            </a:r>
          </a:p>
          <a:p>
            <a:pPr algn="l">
              <a:spcAft>
                <a:spcPts val="0"/>
              </a:spcAft>
            </a:pPr>
            <a:r>
              <a:rPr sz="1050" b="0" lang="en-GB">
                <a:solidFill>
                  <a:schemeClr val="bg1"/>
                </a:solidFill>
                <a:latin typeface="Consolas"/>
              </a:rPr>
              <a:t>         pl.col("country").is_in(["AT", "DE"])),</a:t>
            </a:r>
          </a:p>
          <a:p>
            <a:pPr algn="l">
              <a:spcAft>
                <a:spcPts val="0"/>
              </a:spcAft>
            </a:pPr>
            <a:r>
              <a:rPr sz="1050" b="0" lang="en-GB">
                <a:solidFill>
                  <a:schemeClr val="bg1"/>
                </a:solidFill>
                <a:latin typeface="Consolas"/>
              </a:rPr>
              <a:t>        aes(x="week", y="sales_units_k"))</a:t>
            </a:r>
          </a:p>
          <a:p>
            <a:pPr algn="l">
              <a:spcAft>
                <a:spcPts val="0"/>
              </a:spcAft>
            </a:pPr>
            <a:r>
              <a:rPr sz="1050" b="0" lang="en-GB">
                <a:solidFill>
                  <a:schemeClr val="bg1"/>
                </a:solidFill>
                <a:latin typeface="Consolas"/>
              </a:rPr>
              <a:t> + geom_line(color="#0096D3")</a:t>
            </a:r>
          </a:p>
          <a:p>
            <a:pPr algn="l">
              <a:spcAft>
                <a:spcPts val="0"/>
              </a:spcAft>
            </a:pPr>
            <a:r>
              <a:rPr sz="1050" b="0" lang="en-GB">
                <a:solidFill>
                  <a:schemeClr val="bg1"/>
                </a:solidFill>
                <a:latin typeface="Consolas"/>
              </a:rPr>
              <a:t> + facet_wrap("country")</a:t>
            </a:r>
          </a:p>
          <a:p>
            <a:pPr algn="l">
              <a:spcAft>
                <a:spcPts val="0"/>
              </a:spcAft>
            </a:pPr>
            <a:r>
              <a:rPr sz="1050" b="0" lang="en-GB">
                <a:solidFill>
                  <a:schemeClr val="bg1"/>
                </a:solidFill>
                <a:latin typeface="Consolas"/>
              </a:rPr>
              <a:t> + scale_x_date(date_breaks="1 year",</a:t>
            </a:r>
          </a:p>
          <a:p>
            <a:pPr algn="l">
              <a:spcAft>
                <a:spcPts val="0"/>
              </a:spcAft>
            </a:pPr>
            <a:r>
              <a:rPr sz="1050" b="0" lang="en-GB">
                <a:solidFill>
                  <a:schemeClr val="bg1"/>
                </a:solidFill>
                <a:latin typeface="Consolas"/>
              </a:rPr>
              <a:t>                date_labels="%Y")</a:t>
            </a:r>
          </a:p>
          <a:p>
            <a:pPr algn="l">
              <a:spcAft>
                <a:spcPts val="0"/>
              </a:spcAft>
            </a:pPr>
            <a:r>
              <a:rPr sz="1050" b="0" lang="en-GB">
                <a:solidFill>
                  <a:schemeClr val="bg1"/>
                </a:solidFill>
                <a:latin typeface="Consolas"/>
              </a:rPr>
              <a:t> + labs(x="", y="Sales (k units)")</a:t>
            </a:r>
          </a:p>
          <a:p>
            <a:pPr algn="l">
              <a:spcAft>
                <a:spcPts val="0"/>
              </a:spcAft>
            </a:pPr>
            <a:r>
              <a:rPr sz="1050" b="0" lang="en-GB">
                <a:solidFill>
                  <a:schemeClr val="bg1"/>
                </a:solidFill>
                <a:latin typeface="Consolas"/>
              </a:rPr>
              <a:t> + theme_minimal())</a:t>
            </a:r>
          </a:p>
        </p:txBody>
      </p:sp>
      <p:pic>
        <p:nvPicPr>
          <p:cNvPr id="14" name="Plotnine chart" descr="Line chart of weekly sales in thousand units, 2023 to 2025, Austria (about 100 to 200) and Germany (about 500 to 1,700), with a Christmas peak every year"/>
          <p:cNvPicPr>
            <a:picLocks noChangeAspect="1"/>
          </p:cNvPicPr>
          <p:nvPr/>
        </p:nvPicPr>
        <p:blipFill>
          <a:blip r:embed="rId3"/>
          <a:stretch>
            <a:fillRect/>
          </a:stretch>
        </p:blipFill>
        <p:spPr>
          <a:xfrm>
            <a:off x="4800600" y="1234440"/>
            <a:ext cx="3886200" cy="2072670"/>
          </a:xfrm>
          <a:prstGeom prst="rect">
            <a:avLst/>
          </a:prstGeom>
        </p:spPr>
      </p:pic>
      <p:sp>
        <p:nvSpPr>
          <p:cNvPr id="15" name="Chart caption"/>
          <p:cNvSpPr txBox="1"/>
          <p:nvPr/>
        </p:nvSpPr>
        <p:spPr>
          <a:xfrm>
            <a:off x="4800600" y="3337560"/>
            <a:ext cx="3886200" cy="274320"/>
          </a:xfrm>
          <a:prstGeom prst="rect">
            <a:avLst/>
          </a:prstGeom>
          <a:noFill/>
        </p:spPr>
        <p:txBody>
          <a:bodyPr wrap="square" lIns="0" rIns="0" tIns="0" bIns="0" anchor="t">
            <a:noAutofit/>
          </a:bodyPr>
          <a:lstStyle/>
          <a:p>
            <a:pPr algn="l">
              <a:spcAft>
                <a:spcPts val="400"/>
              </a:spcAft>
            </a:pPr>
            <a:r>
              <a:rPr sz="1100" b="0" lang="en-GB">
                <a:solidFill>
                  <a:srgbClr val="595959"/>
                </a:solidFill>
              </a:rPr>
              <a:t>The output of the code on the left</a:t>
            </a:r>
          </a:p>
        </p:txBody>
      </p:sp>
      <p:sp>
        <p:nvSpPr>
          <p:cNvPr id="16" name="Grammar chip 1"/>
          <p:cNvSpPr/>
          <p:nvPr/>
        </p:nvSpPr>
        <p:spPr>
          <a:xfrm>
            <a:off x="457200" y="3794760"/>
            <a:ext cx="1572768" cy="777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Grammar text 1"/>
          <p:cNvSpPr txBox="1"/>
          <p:nvPr/>
        </p:nvSpPr>
        <p:spPr>
          <a:xfrm>
            <a:off x="548640" y="3794760"/>
            <a:ext cx="1389888" cy="777240"/>
          </a:xfrm>
          <a:prstGeom prst="rect">
            <a:avLst/>
          </a:prstGeom>
          <a:noFill/>
        </p:spPr>
        <p:txBody>
          <a:bodyPr wrap="square" lIns="0" rIns="0" tIns="0" bIns="0" anchor="ctr">
            <a:noAutofit/>
          </a:bodyPr>
          <a:lstStyle/>
          <a:p>
            <a:pPr algn="ctr">
              <a:spcAft>
                <a:spcPts val="0"/>
              </a:spcAft>
            </a:pPr>
            <a:r>
              <a:rPr sz="1300" b="1" lang="en-GB">
                <a:solidFill>
                  <a:schemeClr val="tx2"/>
                </a:solidFill>
                <a:latin typeface="Consolas"/>
              </a:rPr>
              <a:t>ggplot()</a:t>
            </a:r>
          </a:p>
          <a:p>
            <a:pPr algn="ctr">
              <a:spcAft>
                <a:spcPts val="0"/>
              </a:spcAft>
            </a:pPr>
            <a:r>
              <a:rPr sz="1200" b="0" lang="en-GB">
                <a:solidFill>
                  <a:schemeClr val="tx1"/>
                </a:solidFill>
              </a:rPr>
              <a:t>the data</a:t>
            </a:r>
          </a:p>
        </p:txBody>
      </p:sp>
      <p:sp>
        <p:nvSpPr>
          <p:cNvPr id="18" name="Grammar chip 2"/>
          <p:cNvSpPr/>
          <p:nvPr/>
        </p:nvSpPr>
        <p:spPr>
          <a:xfrm>
            <a:off x="2121408" y="3794760"/>
            <a:ext cx="1572768" cy="777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Grammar text 2"/>
          <p:cNvSpPr txBox="1"/>
          <p:nvPr/>
        </p:nvSpPr>
        <p:spPr>
          <a:xfrm>
            <a:off x="2212848" y="3794760"/>
            <a:ext cx="1389888" cy="777240"/>
          </a:xfrm>
          <a:prstGeom prst="rect">
            <a:avLst/>
          </a:prstGeom>
          <a:noFill/>
        </p:spPr>
        <p:txBody>
          <a:bodyPr wrap="square" lIns="0" rIns="0" tIns="0" bIns="0" anchor="ctr">
            <a:noAutofit/>
          </a:bodyPr>
          <a:lstStyle/>
          <a:p>
            <a:pPr algn="ctr">
              <a:spcAft>
                <a:spcPts val="0"/>
              </a:spcAft>
            </a:pPr>
            <a:r>
              <a:rPr sz="1300" b="1" lang="en-GB">
                <a:solidFill>
                  <a:schemeClr val="tx2"/>
                </a:solidFill>
                <a:latin typeface="Consolas"/>
              </a:rPr>
              <a:t>aes()</a:t>
            </a:r>
          </a:p>
          <a:p>
            <a:pPr algn="ctr">
              <a:spcAft>
                <a:spcPts val="0"/>
              </a:spcAft>
            </a:pPr>
            <a:r>
              <a:rPr sz="1200" b="0" lang="en-GB">
                <a:solidFill>
                  <a:schemeClr val="tx1"/>
                </a:solidFill>
              </a:rPr>
              <a:t>columns to x, y</a:t>
            </a:r>
          </a:p>
        </p:txBody>
      </p:sp>
      <p:sp>
        <p:nvSpPr>
          <p:cNvPr id="20" name="Grammar chip 3"/>
          <p:cNvSpPr/>
          <p:nvPr/>
        </p:nvSpPr>
        <p:spPr>
          <a:xfrm>
            <a:off x="3785616" y="3794760"/>
            <a:ext cx="1572768" cy="777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Grammar text 3"/>
          <p:cNvSpPr txBox="1"/>
          <p:nvPr/>
        </p:nvSpPr>
        <p:spPr>
          <a:xfrm>
            <a:off x="3877056" y="3794760"/>
            <a:ext cx="1389888" cy="777240"/>
          </a:xfrm>
          <a:prstGeom prst="rect">
            <a:avLst/>
          </a:prstGeom>
          <a:noFill/>
        </p:spPr>
        <p:txBody>
          <a:bodyPr wrap="square" lIns="0" rIns="0" tIns="0" bIns="0" anchor="ctr">
            <a:noAutofit/>
          </a:bodyPr>
          <a:lstStyle/>
          <a:p>
            <a:pPr algn="ctr">
              <a:spcAft>
                <a:spcPts val="0"/>
              </a:spcAft>
            </a:pPr>
            <a:r>
              <a:rPr sz="1300" b="1" lang="en-GB">
                <a:solidFill>
                  <a:schemeClr val="tx2"/>
                </a:solidFill>
                <a:latin typeface="Consolas"/>
              </a:rPr>
              <a:t>geom_</a:t>
            </a:r>
          </a:p>
          <a:p>
            <a:pPr algn="ctr">
              <a:spcAft>
                <a:spcPts val="0"/>
              </a:spcAft>
            </a:pPr>
            <a:r>
              <a:rPr sz="1200" b="0" lang="en-GB">
                <a:solidFill>
                  <a:schemeClr val="tx1"/>
                </a:solidFill>
              </a:rPr>
              <a:t>the marks</a:t>
            </a:r>
          </a:p>
        </p:txBody>
      </p:sp>
      <p:sp>
        <p:nvSpPr>
          <p:cNvPr id="22" name="Grammar chip 4"/>
          <p:cNvSpPr/>
          <p:nvPr/>
        </p:nvSpPr>
        <p:spPr>
          <a:xfrm>
            <a:off x="5449824" y="3794760"/>
            <a:ext cx="1572768" cy="777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Grammar text 4"/>
          <p:cNvSpPr txBox="1"/>
          <p:nvPr/>
        </p:nvSpPr>
        <p:spPr>
          <a:xfrm>
            <a:off x="5541264" y="3794760"/>
            <a:ext cx="1389888" cy="777240"/>
          </a:xfrm>
          <a:prstGeom prst="rect">
            <a:avLst/>
          </a:prstGeom>
          <a:noFill/>
        </p:spPr>
        <p:txBody>
          <a:bodyPr wrap="square" lIns="0" rIns="0" tIns="0" bIns="0" anchor="ctr">
            <a:noAutofit/>
          </a:bodyPr>
          <a:lstStyle/>
          <a:p>
            <a:pPr algn="ctr">
              <a:spcAft>
                <a:spcPts val="0"/>
              </a:spcAft>
            </a:pPr>
            <a:r>
              <a:rPr sz="1300" b="1" lang="en-GB">
                <a:solidFill>
                  <a:schemeClr val="tx2"/>
                </a:solidFill>
                <a:latin typeface="Consolas"/>
              </a:rPr>
              <a:t>facet_</a:t>
            </a:r>
          </a:p>
          <a:p>
            <a:pPr algn="ctr">
              <a:spcAft>
                <a:spcPts val="0"/>
              </a:spcAft>
            </a:pPr>
            <a:r>
              <a:rPr sz="1200" b="0" lang="en-GB">
                <a:solidFill>
                  <a:schemeClr val="tx1"/>
                </a:solidFill>
              </a:rPr>
              <a:t>one panel per group</a:t>
            </a:r>
          </a:p>
        </p:txBody>
      </p:sp>
      <p:sp>
        <p:nvSpPr>
          <p:cNvPr id="24" name="Grammar chip 5"/>
          <p:cNvSpPr/>
          <p:nvPr/>
        </p:nvSpPr>
        <p:spPr>
          <a:xfrm>
            <a:off x="7114032" y="3794760"/>
            <a:ext cx="1572768" cy="777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Grammar text 5"/>
          <p:cNvSpPr txBox="1"/>
          <p:nvPr/>
        </p:nvSpPr>
        <p:spPr>
          <a:xfrm>
            <a:off x="7205472" y="3794760"/>
            <a:ext cx="1389888" cy="777240"/>
          </a:xfrm>
          <a:prstGeom prst="rect">
            <a:avLst/>
          </a:prstGeom>
          <a:noFill/>
        </p:spPr>
        <p:txBody>
          <a:bodyPr wrap="square" lIns="0" rIns="0" tIns="0" bIns="0" anchor="ctr">
            <a:noAutofit/>
          </a:bodyPr>
          <a:lstStyle/>
          <a:p>
            <a:pPr algn="ctr">
              <a:spcAft>
                <a:spcPts val="0"/>
              </a:spcAft>
            </a:pPr>
            <a:r>
              <a:rPr sz="1300" b="1" lang="en-GB">
                <a:solidFill>
                  <a:schemeClr val="tx2"/>
                </a:solidFill>
                <a:latin typeface="Consolas"/>
              </a:rPr>
              <a:t>theme_</a:t>
            </a:r>
          </a:p>
          <a:p>
            <a:pPr algn="ctr">
              <a:spcAft>
                <a:spcPts val="0"/>
              </a:spcAft>
            </a:pPr>
            <a:r>
              <a:rPr sz="1200" b="0" lang="en-GB">
                <a:solidFill>
                  <a:schemeClr val="tx1"/>
                </a:solidFill>
              </a:rPr>
              <a:t>the look</a:t>
            </a:r>
          </a:p>
        </p:txBody>
      </p:sp>
      <p:sp>
        <p:nvSpPr>
          <p:cNvPr id="26" name="Grammar note"/>
          <p:cNvSpPr txBox="1"/>
          <p:nvPr/>
        </p:nvSpPr>
        <p:spPr>
          <a:xfrm>
            <a:off x="457200" y="4663440"/>
            <a:ext cx="8229600" cy="411480"/>
          </a:xfrm>
          <a:prstGeom prst="rect">
            <a:avLst/>
          </a:prstGeom>
          <a:noFill/>
        </p:spPr>
        <p:txBody>
          <a:bodyPr wrap="square" lIns="0" rIns="0" tIns="0" bIns="0" anchor="ctr">
            <a:noAutofit/>
          </a:bodyPr>
          <a:lstStyle/>
          <a:p>
            <a:pPr algn="l">
              <a:spcAft>
                <a:spcPts val="400"/>
              </a:spcAft>
            </a:pPr>
            <a:r>
              <a:rPr sz="1300" b="1" lang="en-GB">
                <a:solidFill>
                  <a:schemeClr val="tx2"/>
                </a:solidFill>
              </a:rPr>
              <a:t>Data + mapping + marks + panels + theme: </a:t>
            </a:r>
            <a:r>
              <a:rPr sz="1300" b="0" lang="en-GB">
                <a:solidFill>
                  <a:schemeClr val="tx1"/>
                </a:solidFill>
              </a:rPr>
              <a:t>each + adds one layer.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Great Tables: tables for reports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GT code caption bar"/>
          <p:cNvSpPr/>
          <p:nvPr/>
        </p:nvSpPr>
        <p:spPr>
          <a:xfrm>
            <a:off x="457200" y="1234440"/>
            <a:ext cx="475488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GT code caption"/>
          <p:cNvSpPr txBox="1"/>
          <p:nvPr/>
        </p:nvSpPr>
        <p:spPr>
          <a:xfrm>
            <a:off x="566928" y="1234440"/>
            <a:ext cx="453542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The polars summary as a table</a:t>
            </a:r>
          </a:p>
        </p:txBody>
      </p:sp>
      <p:sp>
        <p:nvSpPr>
          <p:cNvPr id="12" name="GT code box"/>
          <p:cNvSpPr/>
          <p:nvPr/>
        </p:nvSpPr>
        <p:spPr>
          <a:xfrm>
            <a:off x="457200" y="1508760"/>
            <a:ext cx="4754880" cy="1554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GT code code"/>
          <p:cNvSpPr txBox="1"/>
          <p:nvPr/>
        </p:nvSpPr>
        <p:spPr>
          <a:xfrm>
            <a:off x="594360" y="1600200"/>
            <a:ext cx="4480560" cy="137160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from great_tables import GT</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(GT(summary)</a:t>
            </a:r>
          </a:p>
          <a:p>
            <a:pPr algn="l">
              <a:spcAft>
                <a:spcPts val="0"/>
              </a:spcAft>
            </a:pPr>
            <a:r>
              <a:rPr sz="1050" b="0" lang="en-GB">
                <a:solidFill>
                  <a:schemeClr val="bg1"/>
                </a:solidFill>
                <a:latin typeface="Consolas"/>
              </a:rPr>
              <a:t> .tab_header(title="Revenue and TV spend, 2025")</a:t>
            </a:r>
          </a:p>
          <a:p>
            <a:pPr algn="l">
              <a:spcAft>
                <a:spcPts val="0"/>
              </a:spcAft>
            </a:pPr>
            <a:r>
              <a:rPr sz="1050" b="0" lang="en-GB">
                <a:solidFill>
                  <a:schemeClr val="bg1"/>
                </a:solidFill>
                <a:latin typeface="Consolas"/>
              </a:rPr>
              <a:t> .fmt_number(columns=["revenue", "tv"], decimals=0)</a:t>
            </a:r>
          </a:p>
          <a:p>
            <a:pPr algn="l">
              <a:spcAft>
                <a:spcPts val="0"/>
              </a:spcAft>
            </a:pPr>
            <a:r>
              <a:rPr sz="1050" b="0" lang="en-GB">
                <a:solidFill>
                  <a:schemeClr val="bg1"/>
                </a:solidFill>
                <a:latin typeface="Consolas"/>
              </a:rPr>
              <a:t> .cols_label(country="Country",</a:t>
            </a:r>
          </a:p>
          <a:p>
            <a:pPr algn="l">
              <a:spcAft>
                <a:spcPts val="0"/>
              </a:spcAft>
            </a:pPr>
            <a:r>
              <a:rPr sz="1050" b="0" lang="en-GB">
                <a:solidFill>
                  <a:schemeClr val="bg1"/>
                </a:solidFill>
                <a:latin typeface="Consolas"/>
              </a:rPr>
              <a:t>             revenue="Revenue (k EUR)",</a:t>
            </a:r>
          </a:p>
          <a:p>
            <a:pPr algn="l">
              <a:spcAft>
                <a:spcPts val="0"/>
              </a:spcAft>
            </a:pPr>
            <a:r>
              <a:rPr sz="1050" b="0" lang="en-GB">
                <a:solidFill>
                  <a:schemeClr val="bg1"/>
                </a:solidFill>
                <a:latin typeface="Consolas"/>
              </a:rPr>
              <a:t>             tv="TV spend (k EUR)"))</a:t>
            </a:r>
          </a:p>
        </p:txBody>
      </p:sp>
      <p:pic>
        <p:nvPicPr>
          <p:cNvPr id="14" name="Great Tables output" descr="Table of revenue and TV spend in 2025 by country, Germany first with 130,650 thousand euros revenue"/>
          <p:cNvPicPr>
            <a:picLocks noChangeAspect="1"/>
          </p:cNvPicPr>
          <p:nvPr/>
        </p:nvPicPr>
        <p:blipFill>
          <a:blip r:embed="rId3"/>
          <a:stretch>
            <a:fillRect/>
          </a:stretch>
        </p:blipFill>
        <p:spPr>
          <a:xfrm>
            <a:off x="5486400" y="1234440"/>
            <a:ext cx="2926080" cy="2417909"/>
          </a:xfrm>
          <a:prstGeom prst="rect">
            <a:avLst/>
          </a:prstGeom>
        </p:spPr>
      </p:pic>
      <p:sp>
        <p:nvSpPr>
          <p:cNvPr id="15" name="GT row 1"/>
          <p:cNvSpPr/>
          <p:nvPr/>
        </p:nvSpPr>
        <p:spPr>
          <a:xfrm>
            <a:off x="457200" y="3246120"/>
            <a:ext cx="475488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GT bar 1"/>
          <p:cNvSpPr/>
          <p:nvPr/>
        </p:nvSpPr>
        <p:spPr>
          <a:xfrm>
            <a:off x="457200" y="3246120"/>
            <a:ext cx="64008" cy="5303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GT text 1"/>
          <p:cNvSpPr txBox="1"/>
          <p:nvPr/>
        </p:nvSpPr>
        <p:spPr>
          <a:xfrm>
            <a:off x="658368" y="3246120"/>
            <a:ext cx="4480560" cy="530352"/>
          </a:xfrm>
          <a:prstGeom prst="rect">
            <a:avLst/>
          </a:prstGeom>
          <a:noFill/>
        </p:spPr>
        <p:txBody>
          <a:bodyPr wrap="square" lIns="0" rIns="0" tIns="0" bIns="0" anchor="ctr">
            <a:noAutofit/>
          </a:bodyPr>
          <a:lstStyle/>
          <a:p>
            <a:pPr algn="l">
              <a:spcAft>
                <a:spcPts val="400"/>
              </a:spcAft>
            </a:pPr>
            <a:r>
              <a:rPr sz="1200" b="1" lang="en-GB">
                <a:solidFill>
                  <a:schemeClr val="tx2"/>
                </a:solidFill>
              </a:rPr>
              <a:t>Header and labels: </a:t>
            </a:r>
            <a:r>
              <a:rPr sz="1200" b="0" lang="en-GB">
                <a:solidFill>
                  <a:schemeClr val="tx1"/>
                </a:solidFill>
              </a:rPr>
              <a:t>readable names instead of column codes</a:t>
            </a:r>
          </a:p>
        </p:txBody>
      </p:sp>
      <p:sp>
        <p:nvSpPr>
          <p:cNvPr id="18" name="GT row 2"/>
          <p:cNvSpPr/>
          <p:nvPr/>
        </p:nvSpPr>
        <p:spPr>
          <a:xfrm>
            <a:off x="457200" y="3867912"/>
            <a:ext cx="475488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GT bar 2"/>
          <p:cNvSpPr/>
          <p:nvPr/>
        </p:nvSpPr>
        <p:spPr>
          <a:xfrm>
            <a:off x="457200" y="3867912"/>
            <a:ext cx="64008" cy="5303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GT text 2"/>
          <p:cNvSpPr txBox="1"/>
          <p:nvPr/>
        </p:nvSpPr>
        <p:spPr>
          <a:xfrm>
            <a:off x="658368" y="3867912"/>
            <a:ext cx="4480560" cy="530352"/>
          </a:xfrm>
          <a:prstGeom prst="rect">
            <a:avLst/>
          </a:prstGeom>
          <a:noFill/>
        </p:spPr>
        <p:txBody>
          <a:bodyPr wrap="square" lIns="0" rIns="0" tIns="0" bIns="0" anchor="ctr">
            <a:noAutofit/>
          </a:bodyPr>
          <a:lstStyle/>
          <a:p>
            <a:pPr algn="l">
              <a:spcAft>
                <a:spcPts val="400"/>
              </a:spcAft>
            </a:pPr>
            <a:r>
              <a:rPr sz="1200" b="1" lang="en-GB">
                <a:solidFill>
                  <a:schemeClr val="tx2"/>
                </a:solidFill>
              </a:rPr>
              <a:t>Number formats: </a:t>
            </a:r>
            <a:r>
              <a:rPr sz="1200" b="0" lang="en-GB">
                <a:solidFill>
                  <a:schemeClr val="tx1"/>
                </a:solidFill>
              </a:rPr>
              <a:t>thousands separators, currency, percent</a:t>
            </a:r>
          </a:p>
        </p:txBody>
      </p:sp>
      <p:sp>
        <p:nvSpPr>
          <p:cNvPr id="21" name="GT row 3"/>
          <p:cNvSpPr/>
          <p:nvPr/>
        </p:nvSpPr>
        <p:spPr>
          <a:xfrm>
            <a:off x="457200" y="4489704"/>
            <a:ext cx="475488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GT bar 3"/>
          <p:cNvSpPr/>
          <p:nvPr/>
        </p:nvSpPr>
        <p:spPr>
          <a:xfrm>
            <a:off x="457200" y="4489704"/>
            <a:ext cx="64008" cy="5303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GT text 3"/>
          <p:cNvSpPr txBox="1"/>
          <p:nvPr/>
        </p:nvSpPr>
        <p:spPr>
          <a:xfrm>
            <a:off x="658368" y="4489704"/>
            <a:ext cx="4480560" cy="530352"/>
          </a:xfrm>
          <a:prstGeom prst="rect">
            <a:avLst/>
          </a:prstGeom>
          <a:noFill/>
        </p:spPr>
        <p:txBody>
          <a:bodyPr wrap="square" lIns="0" rIns="0" tIns="0" bIns="0" anchor="ctr">
            <a:noAutofit/>
          </a:bodyPr>
          <a:lstStyle/>
          <a:p>
            <a:pPr algn="l">
              <a:spcAft>
                <a:spcPts val="400"/>
              </a:spcAft>
            </a:pPr>
            <a:r>
              <a:rPr sz="1200" b="1" lang="en-GB">
                <a:solidFill>
                  <a:schemeClr val="tx2"/>
                </a:solidFill>
              </a:rPr>
              <a:t>Works with polars </a:t>
            </a:r>
            <a:r>
              <a:rPr sz="1200" b="0" lang="en-GB">
                <a:solidFill>
                  <a:schemeClr val="tx1"/>
                </a:solidFill>
              </a:rPr>
              <a:t>and pandas; renders in Quarto reports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statsmodels: regression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OLS cod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LS cod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Weekly sales in Austria, 2023 to 2025</a:t>
            </a:r>
          </a:p>
        </p:txBody>
      </p:sp>
      <p:sp>
        <p:nvSpPr>
          <p:cNvPr id="12" name="OLS code box"/>
          <p:cNvSpPr/>
          <p:nvPr/>
        </p:nvSpPr>
        <p:spPr>
          <a:xfrm>
            <a:off x="457200" y="1508760"/>
            <a:ext cx="4937760" cy="1920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LS code code"/>
          <p:cNvSpPr txBox="1"/>
          <p:nvPr/>
        </p:nvSpPr>
        <p:spPr>
          <a:xfrm>
            <a:off x="594360" y="1600200"/>
            <a:ext cx="4663440" cy="173736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import statsmodels.formula.api as smf</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at = sales.filter(pl.col("country") == "AT").to_pandas()</a:t>
            </a:r>
          </a:p>
          <a:p>
            <a:pPr algn="l">
              <a:spcAft>
                <a:spcPts val="0"/>
              </a:spcAft>
            </a:pPr>
            <a:r>
              <a:rPr sz="1050" b="0" lang="en-GB">
                <a:solidFill>
                  <a:schemeClr val="bg1"/>
                </a:solidFill>
                <a:latin typeface="Consolas"/>
              </a:rPr>
              <a:t>model = smf.ols(</a:t>
            </a:r>
          </a:p>
          <a:p>
            <a:pPr algn="l">
              <a:spcAft>
                <a:spcPts val="0"/>
              </a:spcAft>
            </a:pPr>
            <a:r>
              <a:rPr sz="1050" b="0" lang="en-GB">
                <a:solidFill>
                  <a:schemeClr val="bg1"/>
                </a:solidFill>
                <a:latin typeface="Consolas"/>
              </a:rPr>
              <a:t>    "sales_units_k ~ price_eur + spend_tv_k"</a:t>
            </a:r>
          </a:p>
          <a:p>
            <a:pPr algn="l">
              <a:spcAft>
                <a:spcPts val="0"/>
              </a:spcAft>
            </a:pPr>
            <a:r>
              <a:rPr sz="1050" b="0" lang="en-GB">
                <a:solidFill>
                  <a:schemeClr val="bg1"/>
                </a:solidFill>
                <a:latin typeface="Consolas"/>
              </a:rPr>
              <a:t>    " + spend_paid_search_k",</a:t>
            </a:r>
          </a:p>
          <a:p>
            <a:pPr algn="l">
              <a:spcAft>
                <a:spcPts val="0"/>
              </a:spcAft>
            </a:pPr>
            <a:r>
              <a:rPr sz="1050" b="0" lang="en-GB">
                <a:solidFill>
                  <a:schemeClr val="bg1"/>
                </a:solidFill>
                <a:latin typeface="Consolas"/>
              </a:rPr>
              <a:t>    data=at).fit()</a:t>
            </a:r>
          </a:p>
          <a:p>
            <a:pPr algn="l">
              <a:spcAft>
                <a:spcPts val="0"/>
              </a:spcAft>
            </a:pPr>
            <a:r>
              <a:rPr sz="1050" b="0" lang="en-GB">
                <a:solidFill>
                  <a:schemeClr val="bg1"/>
                </a:solidFill>
                <a:latin typeface="Consolas"/>
              </a:rPr>
              <a:t>print(model.summary())</a:t>
            </a:r>
          </a:p>
        </p:txBody>
      </p:sp>
      <p:sp>
        <p:nvSpPr>
          <p:cNvPr id="14" name="Coefficient panel"/>
          <p:cNvSpPr/>
          <p:nvPr/>
        </p:nvSpPr>
        <p:spPr>
          <a:xfrm>
            <a:off x="5577840" y="1234440"/>
            <a:ext cx="3108960" cy="21945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oef name 1"/>
          <p:cNvSpPr txBox="1"/>
          <p:nvPr/>
        </p:nvSpPr>
        <p:spPr>
          <a:xfrm>
            <a:off x="5715000" y="1325880"/>
            <a:ext cx="2011680" cy="338328"/>
          </a:xfrm>
          <a:prstGeom prst="rect">
            <a:avLst/>
          </a:prstGeom>
          <a:noFill/>
        </p:spPr>
        <p:txBody>
          <a:bodyPr wrap="square" lIns="0" rIns="0" tIns="0" bIns="0" anchor="ctr">
            <a:noAutofit/>
          </a:bodyPr>
          <a:lstStyle/>
          <a:p>
            <a:pPr algn="l">
              <a:spcAft>
                <a:spcPts val="400"/>
              </a:spcAft>
            </a:pPr>
            <a:r>
              <a:rPr sz="1200" b="1" lang="en-GB">
                <a:solidFill>
                  <a:schemeClr val="tx2"/>
                </a:solidFill>
              </a:rPr>
              <a:t>Coefficient</a:t>
            </a:r>
          </a:p>
        </p:txBody>
      </p:sp>
      <p:sp>
        <p:nvSpPr>
          <p:cNvPr id="16" name="Coef value 1"/>
          <p:cNvSpPr txBox="1"/>
          <p:nvPr/>
        </p:nvSpPr>
        <p:spPr>
          <a:xfrm>
            <a:off x="7635240" y="1325880"/>
            <a:ext cx="914400" cy="338328"/>
          </a:xfrm>
          <a:prstGeom prst="rect">
            <a:avLst/>
          </a:prstGeom>
          <a:noFill/>
        </p:spPr>
        <p:txBody>
          <a:bodyPr wrap="square" lIns="0" rIns="0" tIns="0" bIns="0" anchor="ctr">
            <a:noAutofit/>
          </a:bodyPr>
          <a:lstStyle/>
          <a:p>
            <a:pPr algn="r">
              <a:spcAft>
                <a:spcPts val="400"/>
              </a:spcAft>
            </a:pPr>
            <a:r>
              <a:rPr sz="1200" b="1" lang="en-GB">
                <a:solidFill>
                  <a:schemeClr val="tx2"/>
                </a:solidFill>
              </a:rPr>
              <a:t>Estimate</a:t>
            </a:r>
          </a:p>
        </p:txBody>
      </p:sp>
      <p:sp>
        <p:nvSpPr>
          <p:cNvPr id="17" name="Coef name 2"/>
          <p:cNvSpPr txBox="1"/>
          <p:nvPr/>
        </p:nvSpPr>
        <p:spPr>
          <a:xfrm>
            <a:off x="5715000" y="1664208"/>
            <a:ext cx="2011680" cy="338328"/>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Intercept</a:t>
            </a:r>
          </a:p>
        </p:txBody>
      </p:sp>
      <p:sp>
        <p:nvSpPr>
          <p:cNvPr id="18" name="Coef value 2"/>
          <p:cNvSpPr txBox="1"/>
          <p:nvPr/>
        </p:nvSpPr>
        <p:spPr>
          <a:xfrm>
            <a:off x="7635240" y="1664208"/>
            <a:ext cx="914400" cy="338328"/>
          </a:xfrm>
          <a:prstGeom prst="rect">
            <a:avLst/>
          </a:prstGeom>
          <a:noFill/>
        </p:spPr>
        <p:txBody>
          <a:bodyPr wrap="square" lIns="0" rIns="0" tIns="0" bIns="0" anchor="ctr">
            <a:noAutofit/>
          </a:bodyPr>
          <a:lstStyle/>
          <a:p>
            <a:pPr algn="r">
              <a:spcAft>
                <a:spcPts val="400"/>
              </a:spcAft>
            </a:pPr>
            <a:r>
              <a:rPr sz="1200" b="0" lang="en-GB">
                <a:solidFill>
                  <a:schemeClr val="tx2"/>
                </a:solidFill>
              </a:rPr>
              <a:t>250.63</a:t>
            </a:r>
          </a:p>
        </p:txBody>
      </p:sp>
      <p:sp>
        <p:nvSpPr>
          <p:cNvPr id="19" name="Coef name 3"/>
          <p:cNvSpPr txBox="1"/>
          <p:nvPr/>
        </p:nvSpPr>
        <p:spPr>
          <a:xfrm>
            <a:off x="5715000" y="2002536"/>
            <a:ext cx="2011680" cy="338328"/>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price_eur</a:t>
            </a:r>
          </a:p>
        </p:txBody>
      </p:sp>
      <p:sp>
        <p:nvSpPr>
          <p:cNvPr id="20" name="Coef value 3"/>
          <p:cNvSpPr txBox="1"/>
          <p:nvPr/>
        </p:nvSpPr>
        <p:spPr>
          <a:xfrm>
            <a:off x="7635240" y="2002536"/>
            <a:ext cx="914400" cy="338328"/>
          </a:xfrm>
          <a:prstGeom prst="rect">
            <a:avLst/>
          </a:prstGeom>
          <a:noFill/>
        </p:spPr>
        <p:txBody>
          <a:bodyPr wrap="square" lIns="0" rIns="0" tIns="0" bIns="0" anchor="ctr">
            <a:noAutofit/>
          </a:bodyPr>
          <a:lstStyle/>
          <a:p>
            <a:pPr algn="r">
              <a:spcAft>
                <a:spcPts val="400"/>
              </a:spcAft>
            </a:pPr>
            <a:r>
              <a:rPr sz="1200" b="0" lang="en-GB">
                <a:solidFill>
                  <a:schemeClr val="tx2"/>
                </a:solidFill>
              </a:rPr>
              <a:t>−48.31</a:t>
            </a:r>
          </a:p>
        </p:txBody>
      </p:sp>
      <p:sp>
        <p:nvSpPr>
          <p:cNvPr id="21" name="Coef name 4"/>
          <p:cNvSpPr txBox="1"/>
          <p:nvPr/>
        </p:nvSpPr>
        <p:spPr>
          <a:xfrm>
            <a:off x="5715000" y="2340864"/>
            <a:ext cx="2011680" cy="338328"/>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spend_tv_k</a:t>
            </a:r>
          </a:p>
        </p:txBody>
      </p:sp>
      <p:sp>
        <p:nvSpPr>
          <p:cNvPr id="22" name="Coef value 4"/>
          <p:cNvSpPr txBox="1"/>
          <p:nvPr/>
        </p:nvSpPr>
        <p:spPr>
          <a:xfrm>
            <a:off x="7635240" y="2340864"/>
            <a:ext cx="914400" cy="338328"/>
          </a:xfrm>
          <a:prstGeom prst="rect">
            <a:avLst/>
          </a:prstGeom>
          <a:noFill/>
        </p:spPr>
        <p:txBody>
          <a:bodyPr wrap="square" lIns="0" rIns="0" tIns="0" bIns="0" anchor="ctr">
            <a:noAutofit/>
          </a:bodyPr>
          <a:lstStyle/>
          <a:p>
            <a:pPr algn="r">
              <a:spcAft>
                <a:spcPts val="400"/>
              </a:spcAft>
            </a:pPr>
            <a:r>
              <a:rPr sz="1200" b="0" lang="en-GB">
                <a:solidFill>
                  <a:schemeClr val="tx2"/>
                </a:solidFill>
              </a:rPr>
              <a:t>0.41</a:t>
            </a:r>
          </a:p>
        </p:txBody>
      </p:sp>
      <p:sp>
        <p:nvSpPr>
          <p:cNvPr id="23" name="Coef name 5"/>
          <p:cNvSpPr txBox="1"/>
          <p:nvPr/>
        </p:nvSpPr>
        <p:spPr>
          <a:xfrm>
            <a:off x="5715000" y="2679192"/>
            <a:ext cx="2011680" cy="338328"/>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spend_paid_search_k</a:t>
            </a:r>
          </a:p>
        </p:txBody>
      </p:sp>
      <p:sp>
        <p:nvSpPr>
          <p:cNvPr id="24" name="Coef value 5"/>
          <p:cNvSpPr txBox="1"/>
          <p:nvPr/>
        </p:nvSpPr>
        <p:spPr>
          <a:xfrm>
            <a:off x="7635240" y="2679192"/>
            <a:ext cx="914400" cy="338328"/>
          </a:xfrm>
          <a:prstGeom prst="rect">
            <a:avLst/>
          </a:prstGeom>
          <a:noFill/>
        </p:spPr>
        <p:txBody>
          <a:bodyPr wrap="square" lIns="0" rIns="0" tIns="0" bIns="0" anchor="ctr">
            <a:noAutofit/>
          </a:bodyPr>
          <a:lstStyle/>
          <a:p>
            <a:pPr algn="r">
              <a:spcAft>
                <a:spcPts val="400"/>
              </a:spcAft>
            </a:pPr>
            <a:r>
              <a:rPr sz="1200" b="0" lang="en-GB">
                <a:solidFill>
                  <a:schemeClr val="tx2"/>
                </a:solidFill>
              </a:rPr>
              <a:t>4.03</a:t>
            </a:r>
          </a:p>
        </p:txBody>
      </p:sp>
      <p:sp>
        <p:nvSpPr>
          <p:cNvPr id="25" name="Coef name 6"/>
          <p:cNvSpPr txBox="1"/>
          <p:nvPr/>
        </p:nvSpPr>
        <p:spPr>
          <a:xfrm>
            <a:off x="5715000" y="3017520"/>
            <a:ext cx="2011680" cy="338328"/>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R²  (n = 156)</a:t>
            </a:r>
          </a:p>
        </p:txBody>
      </p:sp>
      <p:sp>
        <p:nvSpPr>
          <p:cNvPr id="26" name="Coef value 6"/>
          <p:cNvSpPr txBox="1"/>
          <p:nvPr/>
        </p:nvSpPr>
        <p:spPr>
          <a:xfrm>
            <a:off x="7635240" y="3017520"/>
            <a:ext cx="914400" cy="338328"/>
          </a:xfrm>
          <a:prstGeom prst="rect">
            <a:avLst/>
          </a:prstGeom>
          <a:noFill/>
        </p:spPr>
        <p:txBody>
          <a:bodyPr wrap="square" lIns="0" rIns="0" tIns="0" bIns="0" anchor="ctr">
            <a:noAutofit/>
          </a:bodyPr>
          <a:lstStyle/>
          <a:p>
            <a:pPr algn="r">
              <a:spcAft>
                <a:spcPts val="400"/>
              </a:spcAft>
            </a:pPr>
            <a:r>
              <a:rPr sz="1200" b="0" lang="en-GB">
                <a:solidFill>
                  <a:schemeClr val="tx2"/>
                </a:solidFill>
              </a:rPr>
              <a:t>0.43</a:t>
            </a:r>
          </a:p>
        </p:txBody>
      </p:sp>
      <p:sp>
        <p:nvSpPr>
          <p:cNvPr id="27" name="OLS reading box"/>
          <p:cNvSpPr/>
          <p:nvPr/>
        </p:nvSpPr>
        <p:spPr>
          <a:xfrm>
            <a:off x="457200" y="3611880"/>
            <a:ext cx="822960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Icon OLS reading" descr=""/>
          <p:cNvPicPr>
            <a:picLocks noChangeAspect="1"/>
          </p:cNvPicPr>
          <p:nvPr/>
        </p:nvPicPr>
        <p:blipFill>
          <a:blip r:embed="rId3"/>
          <a:stretch>
            <a:fillRect/>
          </a:stretch>
        </p:blipFill>
        <p:spPr>
          <a:xfrm>
            <a:off x="658368" y="3785616"/>
            <a:ext cx="384048" cy="384048"/>
          </a:xfrm>
          <a:prstGeom prst="rect">
            <a:avLst/>
          </a:prstGeom>
        </p:spPr>
      </p:pic>
      <p:sp>
        <p:nvSpPr>
          <p:cNvPr id="29" name="OLS reading text"/>
          <p:cNvSpPr txBox="1"/>
          <p:nvPr/>
        </p:nvSpPr>
        <p:spPr>
          <a:xfrm>
            <a:off x="1234440" y="3611880"/>
            <a:ext cx="7269480" cy="731520"/>
          </a:xfrm>
          <a:prstGeom prst="rect">
            <a:avLst/>
          </a:prstGeom>
          <a:noFill/>
        </p:spPr>
        <p:txBody>
          <a:bodyPr wrap="square" lIns="0" rIns="0" tIns="0" bIns="0" anchor="ctr">
            <a:noAutofit/>
          </a:bodyPr>
          <a:lstStyle/>
          <a:p>
            <a:pPr algn="l">
              <a:spcAft>
                <a:spcPts val="400"/>
              </a:spcAft>
            </a:pPr>
            <a:r>
              <a:rPr sz="1300" b="1" lang="en-GB">
                <a:solidFill>
                  <a:schemeClr val="tx2"/>
                </a:solidFill>
              </a:rPr>
              <a:t>Reading it: </a:t>
            </a:r>
            <a:r>
              <a:rPr sz="1300" b="0" lang="en-GB">
                <a:solidFill>
                  <a:schemeClr val="tx1"/>
                </a:solidFill>
              </a:rPr>
              <a:t>EUR 1,000 more paid search in a week goes with about 4,000 more units sold, holding price and TV constant.</a:t>
            </a:r>
          </a:p>
        </p:txBody>
      </p:sp>
      <p:sp>
        <p:nvSpPr>
          <p:cNvPr id="30" name="Later note"/>
          <p:cNvSpPr txBox="1"/>
          <p:nvPr/>
        </p:nvSpPr>
        <p:spPr>
          <a:xfrm>
            <a:off x="457200" y="4480560"/>
            <a:ext cx="8229600" cy="594360"/>
          </a:xfrm>
          <a:prstGeom prst="rect">
            <a:avLst/>
          </a:prstGeom>
          <a:noFill/>
        </p:spPr>
        <p:txBody>
          <a:bodyPr wrap="square" lIns="0" rIns="0" tIns="0" bIns="0" anchor="ctr">
            <a:noAutofit/>
          </a:bodyPr>
          <a:lstStyle/>
          <a:p>
            <a:pPr algn="l">
              <a:spcAft>
                <a:spcPts val="400"/>
              </a:spcAft>
            </a:pPr>
            <a:r>
              <a:rPr sz="1300" b="1" lang="en-GB">
                <a:solidFill>
                  <a:schemeClr val="tx2"/>
                </a:solidFill>
              </a:rPr>
              <a:t>Later in the course: </a:t>
            </a:r>
            <a:r>
              <a:rPr sz="1300" b="0" lang="en-GB">
                <a:solidFill>
                  <a:schemeClr val="tx1"/>
                </a:solidFill>
              </a:rPr>
              <a:t>scikit-learn for logistic regression and pymc-marketing for Bayesian MMM.</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7 of 7 · Positron, Python, the project's .venv, packages</a:t>
            </a:r>
          </a:p>
        </p:txBody>
      </p:sp>
      <p:sp>
        <p:nvSpPr>
          <p:cNvPr id="3" name="Title 2"/>
          <p:cNvSpPr>
            <a:spLocks noGrp="1"/>
          </p:cNvSpPr>
          <p:nvPr>
            <p:ph type="ctrTitle"/>
          </p:nvPr>
        </p:nvSpPr>
        <p:spPr/>
        <p:txBody>
          <a:bodyPr/>
          <a:lstStyle/>
          <a:p>
            <a:r>
              <a:rPr sz="1600" lang="en-GB"/>
              <a:t>Update within Positron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Keep your set-up up to date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Update tile 1 tile"/>
          <p:cNvSpPr/>
          <p:nvPr/>
        </p:nvSpPr>
        <p:spPr>
          <a:xfrm>
            <a:off x="457200" y="1234440"/>
            <a:ext cx="4046220" cy="1371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Update tile 1" descr=""/>
          <p:cNvPicPr>
            <a:picLocks noChangeAspect="1"/>
          </p:cNvPicPr>
          <p:nvPr/>
        </p:nvPicPr>
        <p:blipFill>
          <a:blip r:embed="rId3"/>
          <a:stretch>
            <a:fillRect/>
          </a:stretch>
        </p:blipFill>
        <p:spPr>
          <a:xfrm>
            <a:off x="594360" y="1371600"/>
            <a:ext cx="365760" cy="365760"/>
          </a:xfrm>
          <a:prstGeom prst="rect">
            <a:avLst/>
          </a:prstGeom>
        </p:spPr>
      </p:pic>
      <p:sp>
        <p:nvSpPr>
          <p:cNvPr id="12" name="Update tile 1 text"/>
          <p:cNvSpPr txBox="1"/>
          <p:nvPr/>
        </p:nvSpPr>
        <p:spPr>
          <a:xfrm>
            <a:off x="594360" y="1828800"/>
            <a:ext cx="3771900" cy="685800"/>
          </a:xfrm>
          <a:prstGeom prst="rect">
            <a:avLst/>
          </a:prstGeom>
          <a:noFill/>
        </p:spPr>
        <p:txBody>
          <a:bodyPr wrap="square" lIns="0" rIns="0" tIns="0" bIns="0" anchor="t">
            <a:noAutofit/>
          </a:bodyPr>
          <a:lstStyle/>
          <a:p>
            <a:pPr algn="l">
              <a:spcAft>
                <a:spcPts val="300"/>
              </a:spcAft>
            </a:pPr>
            <a:r>
              <a:rPr sz="1300" b="1" lang="en-GB">
                <a:solidFill>
                  <a:schemeClr val="tx2"/>
                </a:solidFill>
              </a:rPr>
              <a:t>Positron itself</a:t>
            </a:r>
          </a:p>
          <a:p>
            <a:pPr algn="l">
              <a:spcAft>
                <a:spcPts val="300"/>
              </a:spcAft>
            </a:pPr>
            <a:r>
              <a:rPr sz="1300" b="0" lang="en-GB">
                <a:solidFill>
                  <a:schemeClr val="tx1"/>
                </a:solidFill>
              </a:rPr>
              <a:t>Updates itself; restart to apply</a:t>
            </a:r>
          </a:p>
          <a:p>
            <a:pPr algn="l">
              <a:spcAft>
                <a:spcPts val="300"/>
              </a:spcAft>
            </a:pPr>
            <a:r>
              <a:rPr sz="1300" b="0" lang="en-GB">
                <a:solidFill>
                  <a:schemeClr val="tx1"/>
                </a:solidFill>
              </a:rPr>
              <a:t>By hand: Help → Check for Updates</a:t>
            </a:r>
          </a:p>
        </p:txBody>
      </p:sp>
      <p:sp>
        <p:nvSpPr>
          <p:cNvPr id="13" name="Update tile 2 tile"/>
          <p:cNvSpPr/>
          <p:nvPr/>
        </p:nvSpPr>
        <p:spPr>
          <a:xfrm>
            <a:off x="4640580" y="1234440"/>
            <a:ext cx="4046220" cy="1371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Icon Update tile 2" descr=""/>
          <p:cNvPicPr>
            <a:picLocks noChangeAspect="1"/>
          </p:cNvPicPr>
          <p:nvPr/>
        </p:nvPicPr>
        <p:blipFill>
          <a:blip r:embed="rId4"/>
          <a:stretch>
            <a:fillRect/>
          </a:stretch>
        </p:blipFill>
        <p:spPr>
          <a:xfrm>
            <a:off x="4777740" y="1371600"/>
            <a:ext cx="365760" cy="365760"/>
          </a:xfrm>
          <a:prstGeom prst="rect">
            <a:avLst/>
          </a:prstGeom>
        </p:spPr>
      </p:pic>
      <p:sp>
        <p:nvSpPr>
          <p:cNvPr id="15" name="Update tile 2 text"/>
          <p:cNvSpPr txBox="1"/>
          <p:nvPr/>
        </p:nvSpPr>
        <p:spPr>
          <a:xfrm>
            <a:off x="4777740" y="1828800"/>
            <a:ext cx="3771900" cy="685800"/>
          </a:xfrm>
          <a:prstGeom prst="rect">
            <a:avLst/>
          </a:prstGeom>
          <a:noFill/>
        </p:spPr>
        <p:txBody>
          <a:bodyPr wrap="square" lIns="0" rIns="0" tIns="0" bIns="0" anchor="t">
            <a:noAutofit/>
          </a:bodyPr>
          <a:lstStyle/>
          <a:p>
            <a:pPr algn="l">
              <a:spcAft>
                <a:spcPts val="300"/>
              </a:spcAft>
            </a:pPr>
            <a:r>
              <a:rPr sz="1300" b="1" lang="en-GB">
                <a:solidFill>
                  <a:schemeClr val="tx2"/>
                </a:solidFill>
              </a:rPr>
              <a:t>Python</a:t>
            </a:r>
          </a:p>
          <a:p>
            <a:pPr algn="l">
              <a:spcAft>
                <a:spcPts val="300"/>
              </a:spcAft>
            </a:pPr>
            <a:r>
              <a:rPr sz="1300" b="0" lang="en-GB">
                <a:solidFill>
                  <a:schemeClr val="tx1"/>
                </a:solidFill>
              </a:rPr>
              <a:t>Python: Install Python via uv</a:t>
            </a:r>
          </a:p>
          <a:p>
            <a:pPr algn="l">
              <a:spcAft>
                <a:spcPts val="300"/>
              </a:spcAft>
            </a:pPr>
            <a:r>
              <a:rPr sz="1300" b="0" lang="en-GB">
                <a:solidFill>
                  <a:schemeClr val="tx1"/>
                </a:solidFill>
              </a:rPr>
              <a:t>Command Palette; pick 3.14</a:t>
            </a:r>
          </a:p>
        </p:txBody>
      </p:sp>
      <p:sp>
        <p:nvSpPr>
          <p:cNvPr id="16" name="Update tile 3 tile"/>
          <p:cNvSpPr/>
          <p:nvPr/>
        </p:nvSpPr>
        <p:spPr>
          <a:xfrm>
            <a:off x="457200" y="2743200"/>
            <a:ext cx="4046220" cy="1371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Icon Update tile 3" descr=""/>
          <p:cNvPicPr>
            <a:picLocks noChangeAspect="1"/>
          </p:cNvPicPr>
          <p:nvPr/>
        </p:nvPicPr>
        <p:blipFill>
          <a:blip r:embed="rId5"/>
          <a:stretch>
            <a:fillRect/>
          </a:stretch>
        </p:blipFill>
        <p:spPr>
          <a:xfrm>
            <a:off x="594360" y="2880360"/>
            <a:ext cx="365760" cy="365760"/>
          </a:xfrm>
          <a:prstGeom prst="rect">
            <a:avLst/>
          </a:prstGeom>
        </p:spPr>
      </p:pic>
      <p:sp>
        <p:nvSpPr>
          <p:cNvPr id="18" name="Update tile 3 text"/>
          <p:cNvSpPr txBox="1"/>
          <p:nvPr/>
        </p:nvSpPr>
        <p:spPr>
          <a:xfrm>
            <a:off x="594360" y="3337560"/>
            <a:ext cx="3771900" cy="685800"/>
          </a:xfrm>
          <a:prstGeom prst="rect">
            <a:avLst/>
          </a:prstGeom>
          <a:noFill/>
        </p:spPr>
        <p:txBody>
          <a:bodyPr wrap="square" lIns="0" rIns="0" tIns="0" bIns="0" anchor="t">
            <a:noAutofit/>
          </a:bodyPr>
          <a:lstStyle/>
          <a:p>
            <a:pPr algn="l">
              <a:spcAft>
                <a:spcPts val="300"/>
              </a:spcAft>
            </a:pPr>
            <a:r>
              <a:rPr sz="1300" b="1" lang="en-GB">
                <a:solidFill>
                  <a:schemeClr val="tx2"/>
                </a:solidFill>
              </a:rPr>
              <a:t>The project's .venv</a:t>
            </a:r>
          </a:p>
          <a:p>
            <a:pPr algn="l">
              <a:spcAft>
                <a:spcPts val="300"/>
              </a:spcAft>
            </a:pPr>
            <a:r>
              <a:rPr sz="1300" b="0" lang="en-GB">
                <a:solidFill>
                  <a:schemeClr val="tx1"/>
                </a:solidFill>
              </a:rPr>
              <a:t>Tied to the Python that made it</a:t>
            </a:r>
          </a:p>
          <a:p>
            <a:pPr algn="l">
              <a:spcAft>
                <a:spcPts val="300"/>
              </a:spcAft>
            </a:pPr>
            <a:r>
              <a:rPr sz="1300" b="0" lang="en-GB">
                <a:solidFill>
                  <a:schemeClr val="tx1"/>
                </a:solidFill>
              </a:rPr>
              <a:t>New Python? Rebuild the .venv (next slide)</a:t>
            </a:r>
          </a:p>
        </p:txBody>
      </p:sp>
      <p:sp>
        <p:nvSpPr>
          <p:cNvPr id="19" name="Update tile 4 tile"/>
          <p:cNvSpPr/>
          <p:nvPr/>
        </p:nvSpPr>
        <p:spPr>
          <a:xfrm>
            <a:off x="4640580" y="2743200"/>
            <a:ext cx="4046220" cy="1371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Icon Update tile 4" descr=""/>
          <p:cNvPicPr>
            <a:picLocks noChangeAspect="1"/>
          </p:cNvPicPr>
          <p:nvPr/>
        </p:nvPicPr>
        <p:blipFill>
          <a:blip r:embed="rId6"/>
          <a:stretch>
            <a:fillRect/>
          </a:stretch>
        </p:blipFill>
        <p:spPr>
          <a:xfrm>
            <a:off x="4777740" y="2880360"/>
            <a:ext cx="365760" cy="365760"/>
          </a:xfrm>
          <a:prstGeom prst="rect">
            <a:avLst/>
          </a:prstGeom>
        </p:spPr>
      </p:pic>
      <p:sp>
        <p:nvSpPr>
          <p:cNvPr id="21" name="Update tile 4 text"/>
          <p:cNvSpPr txBox="1"/>
          <p:nvPr/>
        </p:nvSpPr>
        <p:spPr>
          <a:xfrm>
            <a:off x="4777740" y="3337560"/>
            <a:ext cx="3771900" cy="685800"/>
          </a:xfrm>
          <a:prstGeom prst="rect">
            <a:avLst/>
          </a:prstGeom>
          <a:noFill/>
        </p:spPr>
        <p:txBody>
          <a:bodyPr wrap="square" lIns="0" rIns="0" tIns="0" bIns="0" anchor="t">
            <a:noAutofit/>
          </a:bodyPr>
          <a:lstStyle/>
          <a:p>
            <a:pPr algn="l">
              <a:spcAft>
                <a:spcPts val="300"/>
              </a:spcAft>
            </a:pPr>
            <a:r>
              <a:rPr sz="1300" b="1" lang="en-GB">
                <a:solidFill>
                  <a:schemeClr val="tx2"/>
                </a:solidFill>
              </a:rPr>
              <a:t>Packages</a:t>
            </a:r>
          </a:p>
          <a:p>
            <a:pPr algn="l">
              <a:spcAft>
                <a:spcPts val="300"/>
              </a:spcAft>
            </a:pPr>
            <a:r>
              <a:rPr sz="1300" b="0" lang="en-GB">
                <a:solidFill>
                  <a:schemeClr val="tx1"/>
                </a:solidFill>
              </a:rPr>
              <a:t>After a pull: %pip install -r requirements.txt</a:t>
            </a:r>
          </a:p>
          <a:p>
            <a:pPr algn="l">
              <a:spcAft>
                <a:spcPts val="300"/>
              </a:spcAft>
            </a:pPr>
            <a:r>
              <a:rPr sz="1300" b="0" lang="en-GB">
                <a:solidFill>
                  <a:schemeClr val="tx1"/>
                </a:solidFill>
              </a:rPr>
              <a:t>One package: %pip install --upgrade polars</a:t>
            </a:r>
          </a:p>
        </p:txBody>
      </p:sp>
      <p:sp>
        <p:nvSpPr>
          <p:cNvPr id="22" name="Update materials box"/>
          <p:cNvSpPr/>
          <p:nvPr/>
        </p:nvSpPr>
        <p:spPr>
          <a:xfrm>
            <a:off x="457200" y="429768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Update materials" descr=""/>
          <p:cNvPicPr>
            <a:picLocks noChangeAspect="1"/>
          </p:cNvPicPr>
          <p:nvPr/>
        </p:nvPicPr>
        <p:blipFill>
          <a:blip r:embed="rId7"/>
          <a:stretch>
            <a:fillRect/>
          </a:stretch>
        </p:blipFill>
        <p:spPr>
          <a:xfrm>
            <a:off x="658368" y="4448556"/>
            <a:ext cx="384048" cy="384048"/>
          </a:xfrm>
          <a:prstGeom prst="rect">
            <a:avLst/>
          </a:prstGeom>
        </p:spPr>
      </p:pic>
      <p:sp>
        <p:nvSpPr>
          <p:cNvPr id="24" name="Update materials text"/>
          <p:cNvSpPr txBox="1"/>
          <p:nvPr/>
        </p:nvSpPr>
        <p:spPr>
          <a:xfrm>
            <a:off x="1234440" y="4297680"/>
            <a:ext cx="726948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Course materials: </a:t>
            </a:r>
            <a:r>
              <a:rPr sz="1300" b="0" lang="en-GB">
                <a:solidFill>
                  <a:schemeClr val="bg1"/>
                </a:solidFill>
              </a:rPr>
              <a:t>not in Positron. Pull in GitHub Desktop before every session.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Move a project to Python 3.14</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ove steps row 1"/>
          <p:cNvSpPr/>
          <p:nvPr/>
        </p:nvSpPr>
        <p:spPr>
          <a:xfrm>
            <a:off x="457200" y="1234440"/>
            <a:ext cx="512064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ove steps number 1"/>
          <p:cNvSpPr/>
          <p:nvPr/>
        </p:nvSpPr>
        <p:spPr>
          <a:xfrm>
            <a:off x="594360" y="136245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Move steps text 1"/>
          <p:cNvSpPr txBox="1"/>
          <p:nvPr/>
        </p:nvSpPr>
        <p:spPr>
          <a:xfrm>
            <a:off x="1051560" y="1234440"/>
            <a:ext cx="4389120" cy="566928"/>
          </a:xfrm>
          <a:prstGeom prst="rect">
            <a:avLst/>
          </a:prstGeom>
          <a:noFill/>
        </p:spPr>
        <p:txBody>
          <a:bodyPr wrap="square" lIns="0" rIns="0" tIns="0" bIns="0" anchor="ctr">
            <a:noAutofit/>
          </a:bodyPr>
          <a:lstStyle/>
          <a:p>
            <a:pPr algn="l">
              <a:spcAft>
                <a:spcPts val="400"/>
              </a:spcAft>
            </a:pPr>
            <a:r>
              <a:rPr sz="1300" b="1" lang="en-GB">
                <a:solidFill>
                  <a:schemeClr val="tx2"/>
                </a:solidFill>
              </a:rPr>
              <a:t>Install 3.14: </a:t>
            </a:r>
            <a:r>
              <a:rPr sz="1300" b="0" lang="en-GB">
                <a:solidFill>
                  <a:schemeClr val="tx1"/>
                </a:solidFill>
              </a:rPr>
              <a:t>Command Palette → Python: Install Python via uv → 3.14</a:t>
            </a:r>
          </a:p>
        </p:txBody>
      </p:sp>
      <p:sp>
        <p:nvSpPr>
          <p:cNvPr id="13" name="Move steps row 2"/>
          <p:cNvSpPr/>
          <p:nvPr/>
        </p:nvSpPr>
        <p:spPr>
          <a:xfrm>
            <a:off x="457200" y="1874520"/>
            <a:ext cx="512064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Move steps number 2"/>
          <p:cNvSpPr/>
          <p:nvPr/>
        </p:nvSpPr>
        <p:spPr>
          <a:xfrm>
            <a:off x="594360" y="200253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Move steps text 2"/>
          <p:cNvSpPr txBox="1"/>
          <p:nvPr/>
        </p:nvSpPr>
        <p:spPr>
          <a:xfrm>
            <a:off x="1051560" y="1874520"/>
            <a:ext cx="4389120" cy="566928"/>
          </a:xfrm>
          <a:prstGeom prst="rect">
            <a:avLst/>
          </a:prstGeom>
          <a:noFill/>
        </p:spPr>
        <p:txBody>
          <a:bodyPr wrap="square" lIns="0" rIns="0" tIns="0" bIns="0" anchor="ctr">
            <a:noAutofit/>
          </a:bodyPr>
          <a:lstStyle/>
          <a:p>
            <a:pPr algn="l">
              <a:spcAft>
                <a:spcPts val="400"/>
              </a:spcAft>
            </a:pPr>
            <a:r>
              <a:rPr sz="1300" b="1" lang="en-GB">
                <a:solidFill>
                  <a:schemeClr val="tx2"/>
                </a:solidFill>
              </a:rPr>
              <a:t>Stop Python: </a:t>
            </a:r>
            <a:r>
              <a:rPr sz="1300" b="0" lang="en-GB">
                <a:solidFill>
                  <a:schemeClr val="tx1"/>
                </a:solidFill>
              </a:rPr>
              <a:t>power icon in the Console</a:t>
            </a:r>
          </a:p>
        </p:txBody>
      </p:sp>
      <p:sp>
        <p:nvSpPr>
          <p:cNvPr id="16" name="Move steps row 3"/>
          <p:cNvSpPr/>
          <p:nvPr/>
        </p:nvSpPr>
        <p:spPr>
          <a:xfrm>
            <a:off x="457200" y="2514600"/>
            <a:ext cx="512064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ove steps number 3"/>
          <p:cNvSpPr/>
          <p:nvPr/>
        </p:nvSpPr>
        <p:spPr>
          <a:xfrm>
            <a:off x="594360" y="264261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Move steps text 3"/>
          <p:cNvSpPr txBox="1"/>
          <p:nvPr/>
        </p:nvSpPr>
        <p:spPr>
          <a:xfrm>
            <a:off x="1051560" y="2514600"/>
            <a:ext cx="4389120" cy="566928"/>
          </a:xfrm>
          <a:prstGeom prst="rect">
            <a:avLst/>
          </a:prstGeom>
          <a:noFill/>
        </p:spPr>
        <p:txBody>
          <a:bodyPr wrap="square" lIns="0" rIns="0" tIns="0" bIns="0" anchor="ctr">
            <a:noAutofit/>
          </a:bodyPr>
          <a:lstStyle/>
          <a:p>
            <a:pPr algn="l">
              <a:spcAft>
                <a:spcPts val="400"/>
              </a:spcAft>
            </a:pPr>
            <a:r>
              <a:rPr sz="1300" b="1" lang="en-GB">
                <a:solidFill>
                  <a:schemeClr val="tx2"/>
                </a:solidFill>
              </a:rPr>
              <a:t>Delete .venv: </a:t>
            </a:r>
            <a:r>
              <a:rPr sz="1300" b="0" lang="en-GB">
                <a:solidFill>
                  <a:schemeClr val="tx1"/>
                </a:solidFill>
              </a:rPr>
              <a:t>Explorer, right-click the .venv folder → Delete</a:t>
            </a:r>
          </a:p>
        </p:txBody>
      </p:sp>
      <p:sp>
        <p:nvSpPr>
          <p:cNvPr id="19" name="Move steps row 4"/>
          <p:cNvSpPr/>
          <p:nvPr/>
        </p:nvSpPr>
        <p:spPr>
          <a:xfrm>
            <a:off x="457200" y="3154680"/>
            <a:ext cx="512064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Move steps number 4"/>
          <p:cNvSpPr/>
          <p:nvPr/>
        </p:nvSpPr>
        <p:spPr>
          <a:xfrm>
            <a:off x="594360" y="328269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Move steps text 4"/>
          <p:cNvSpPr txBox="1"/>
          <p:nvPr/>
        </p:nvSpPr>
        <p:spPr>
          <a:xfrm>
            <a:off x="1051560" y="3154680"/>
            <a:ext cx="4389120" cy="566928"/>
          </a:xfrm>
          <a:prstGeom prst="rect">
            <a:avLst/>
          </a:prstGeom>
          <a:noFill/>
        </p:spPr>
        <p:txBody>
          <a:bodyPr wrap="square" lIns="0" rIns="0" tIns="0" bIns="0" anchor="ctr">
            <a:noAutofit/>
          </a:bodyPr>
          <a:lstStyle/>
          <a:p>
            <a:pPr algn="l">
              <a:spcAft>
                <a:spcPts val="400"/>
              </a:spcAft>
            </a:pPr>
            <a:r>
              <a:rPr sz="1300" b="1" lang="en-GB">
                <a:solidFill>
                  <a:schemeClr val="tx2"/>
                </a:solidFill>
              </a:rPr>
              <a:t>Create Environment: </a:t>
            </a:r>
            <a:r>
              <a:rPr sz="1300" b="0" lang="en-GB">
                <a:solidFill>
                  <a:schemeClr val="tx1"/>
                </a:solidFill>
              </a:rPr>
              <a:t>Venv → Python 3.14.8, tick requirements.txt</a:t>
            </a:r>
          </a:p>
        </p:txBody>
      </p:sp>
      <p:sp>
        <p:nvSpPr>
          <p:cNvPr id="22" name="Move steps row 5"/>
          <p:cNvSpPr/>
          <p:nvPr/>
        </p:nvSpPr>
        <p:spPr>
          <a:xfrm>
            <a:off x="457200" y="3794760"/>
            <a:ext cx="512064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Move steps number 5"/>
          <p:cNvSpPr/>
          <p:nvPr/>
        </p:nvSpPr>
        <p:spPr>
          <a:xfrm>
            <a:off x="594360" y="392277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Move steps text 5"/>
          <p:cNvSpPr txBox="1"/>
          <p:nvPr/>
        </p:nvSpPr>
        <p:spPr>
          <a:xfrm>
            <a:off x="1051560" y="3794760"/>
            <a:ext cx="4389120" cy="566928"/>
          </a:xfrm>
          <a:prstGeom prst="rect">
            <a:avLst/>
          </a:prstGeom>
          <a:noFill/>
        </p:spPr>
        <p:txBody>
          <a:bodyPr wrap="square" lIns="0" rIns="0" tIns="0" bIns="0" anchor="ctr">
            <a:noAutofit/>
          </a:bodyPr>
          <a:lstStyle/>
          <a:p>
            <a:pPr algn="l">
              <a:spcAft>
                <a:spcPts val="400"/>
              </a:spcAft>
            </a:pPr>
            <a:r>
              <a:rPr sz="1300" b="1" lang="en-GB">
                <a:solidFill>
                  <a:schemeClr val="tx2"/>
                </a:solidFill>
              </a:rPr>
              <a:t>Check: </a:t>
            </a:r>
            <a:r>
              <a:rPr sz="1300" b="0" lang="en-GB">
                <a:solidFill>
                  <a:schemeClr val="tx1"/>
                </a:solidFill>
              </a:rPr>
              <a:t>pick Python 3.14.8 (.venv), then %run setup/check_setup.py</a:t>
            </a:r>
          </a:p>
        </p:txBody>
      </p:sp>
      <p:sp>
        <p:nvSpPr>
          <p:cNvPr id="25" name="Move picker panel"/>
          <p:cNvSpPr/>
          <p:nvPr/>
        </p:nvSpPr>
        <p:spPr>
          <a:xfrm>
            <a:off x="5760720" y="1234440"/>
            <a:ext cx="2926080" cy="31272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Move picker head"/>
          <p:cNvSpPr txBox="1"/>
          <p:nvPr/>
        </p:nvSpPr>
        <p:spPr>
          <a:xfrm>
            <a:off x="5897880" y="1325880"/>
            <a:ext cx="2651760"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Interpreter picker</a:t>
            </a:r>
          </a:p>
        </p:txBody>
      </p:sp>
      <p:sp>
        <p:nvSpPr>
          <p:cNvPr id="27" name="Move pill 1"/>
          <p:cNvSpPr/>
          <p:nvPr/>
        </p:nvSpPr>
        <p:spPr>
          <a:xfrm>
            <a:off x="5897880" y="1783080"/>
            <a:ext cx="2651760" cy="384048"/>
          </a:xfrm>
          <a:prstGeom prst="roundRect">
            <a:avLst/>
          </a:prstGeom>
          <a:solidFill>
            <a:srgbClr val="FFFFFF"/>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Move pill text 1"/>
          <p:cNvSpPr txBox="1"/>
          <p:nvPr/>
        </p:nvSpPr>
        <p:spPr>
          <a:xfrm>
            <a:off x="5961888" y="1783080"/>
            <a:ext cx="2560320" cy="384048"/>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Python 3.13.5 (.venv)</a:t>
            </a:r>
          </a:p>
        </p:txBody>
      </p:sp>
      <p:sp>
        <p:nvSpPr>
          <p:cNvPr id="29" name="Move pill label 1"/>
          <p:cNvSpPr txBox="1"/>
          <p:nvPr/>
        </p:nvSpPr>
        <p:spPr>
          <a:xfrm>
            <a:off x="5897880" y="2167128"/>
            <a:ext cx="2651760" cy="320040"/>
          </a:xfrm>
          <a:prstGeom prst="rect">
            <a:avLst/>
          </a:prstGeom>
          <a:noFill/>
        </p:spPr>
        <p:txBody>
          <a:bodyPr wrap="square" lIns="0" rIns="0" tIns="0" bIns="0" anchor="ctr">
            <a:noAutofit/>
          </a:bodyPr>
          <a:lstStyle/>
          <a:p>
            <a:pPr algn="l">
              <a:spcAft>
                <a:spcPts val="400"/>
              </a:spcAft>
            </a:pPr>
            <a:r>
              <a:rPr sz="1100" b="0" lang="en-GB">
                <a:solidFill>
                  <a:schemeClr val="tx2"/>
                </a:solidFill>
              </a:rPr>
              <a:t>before</a:t>
            </a:r>
          </a:p>
        </p:txBody>
      </p:sp>
      <p:sp>
        <p:nvSpPr>
          <p:cNvPr id="30" name="Move pill 2"/>
          <p:cNvSpPr/>
          <p:nvPr/>
        </p:nvSpPr>
        <p:spPr>
          <a:xfrm>
            <a:off x="5897880" y="2560320"/>
            <a:ext cx="2651760" cy="384048"/>
          </a:xfrm>
          <a:prstGeom prst="roundRect">
            <a:avLst/>
          </a:prstGeom>
          <a:solidFill>
            <a:schemeClr val="tx2"/>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Move pill text 2"/>
          <p:cNvSpPr txBox="1"/>
          <p:nvPr/>
        </p:nvSpPr>
        <p:spPr>
          <a:xfrm>
            <a:off x="5961888" y="2560320"/>
            <a:ext cx="2560320" cy="384048"/>
          </a:xfrm>
          <a:prstGeom prst="rect">
            <a:avLst/>
          </a:prstGeom>
          <a:noFill/>
        </p:spPr>
        <p:txBody>
          <a:bodyPr wrap="square" lIns="0" rIns="0" tIns="0" bIns="0" anchor="ctr">
            <a:noAutofit/>
          </a:bodyPr>
          <a:lstStyle/>
          <a:p>
            <a:pPr algn="l">
              <a:spcAft>
                <a:spcPts val="400"/>
              </a:spcAft>
            </a:pPr>
            <a:r>
              <a:rPr sz="1100" b="0" lang="en-GB">
                <a:solidFill>
                  <a:schemeClr val="bg1"/>
                </a:solidFill>
                <a:latin typeface="Consolas"/>
              </a:rPr>
              <a:t>Python 3.14.8 (.venv) ✓</a:t>
            </a:r>
          </a:p>
        </p:txBody>
      </p:sp>
      <p:sp>
        <p:nvSpPr>
          <p:cNvPr id="32" name="Move pill label 2"/>
          <p:cNvSpPr txBox="1"/>
          <p:nvPr/>
        </p:nvSpPr>
        <p:spPr>
          <a:xfrm>
            <a:off x="5897880" y="2944368"/>
            <a:ext cx="2651760" cy="320040"/>
          </a:xfrm>
          <a:prstGeom prst="rect">
            <a:avLst/>
          </a:prstGeom>
          <a:noFill/>
        </p:spPr>
        <p:txBody>
          <a:bodyPr wrap="square" lIns="0" rIns="0" tIns="0" bIns="0" anchor="ctr">
            <a:noAutofit/>
          </a:bodyPr>
          <a:lstStyle/>
          <a:p>
            <a:pPr algn="l">
              <a:spcAft>
                <a:spcPts val="400"/>
              </a:spcAft>
            </a:pPr>
            <a:r>
              <a:rPr sz="1100" b="0" lang="en-GB">
                <a:solidFill>
                  <a:schemeClr val="tx2"/>
                </a:solidFill>
              </a:rPr>
              <a:t>after</a:t>
            </a:r>
          </a:p>
        </p:txBody>
      </p:sp>
      <p:sp>
        <p:nvSpPr>
          <p:cNvPr id="33" name="Move result"/>
          <p:cNvSpPr txBox="1"/>
          <p:nvPr/>
        </p:nvSpPr>
        <p:spPr>
          <a:xfrm>
            <a:off x="5897880" y="3383280"/>
            <a:ext cx="2651760" cy="914400"/>
          </a:xfrm>
          <a:prstGeom prst="rect">
            <a:avLst/>
          </a:prstGeom>
          <a:noFill/>
        </p:spPr>
        <p:txBody>
          <a:bodyPr wrap="square" lIns="0" rIns="0" tIns="0" bIns="0" anchor="ctr">
            <a:noAutofit/>
          </a:bodyPr>
          <a:lstStyle/>
          <a:p>
            <a:pPr algn="l">
              <a:spcAft>
                <a:spcPts val="400"/>
              </a:spcAft>
            </a:pPr>
            <a:r>
              <a:rPr sz="1200" b="0" lang="en-GB">
                <a:solidFill>
                  <a:schemeClr val="tx1"/>
                </a:solidFill>
              </a:rPr>
              <a:t>The check then reports </a:t>
            </a:r>
            <a:r>
              <a:rPr sz="1200" b="1" lang="en-GB">
                <a:solidFill>
                  <a:schemeClr val="tx2"/>
                </a:solidFill>
              </a:rPr>
              <a:t>3.14.8</a:t>
            </a:r>
            <a:r>
              <a:rPr sz="1200" b="0" lang="en-GB">
                <a:solidFill>
                  <a:schemeClr val="tx1"/>
                </a:solidFill>
              </a:rPr>
              <a:t> and ends with </a:t>
            </a:r>
            <a:r>
              <a:rPr sz="1200" b="1" lang="en-GB">
                <a:solidFill>
                  <a:schemeClr val="tx2"/>
                </a:solidFill>
              </a:rPr>
              <a:t>ready</a:t>
            </a:r>
            <a:r>
              <a:rPr sz="1200" b="0" lang="en-GB">
                <a:solidFill>
                  <a:schemeClr val="tx1"/>
                </a:solidFill>
              </a:rPr>
              <a:t>.</a:t>
            </a:r>
          </a:p>
        </p:txBody>
      </p:sp>
      <p:sp>
        <p:nvSpPr>
          <p:cNvPr id="34" name="Move why box"/>
          <p:cNvSpPr/>
          <p:nvPr/>
        </p:nvSpPr>
        <p:spPr>
          <a:xfrm>
            <a:off x="457200" y="45720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Move why" descr=""/>
          <p:cNvPicPr>
            <a:picLocks noChangeAspect="1"/>
          </p:cNvPicPr>
          <p:nvPr/>
        </p:nvPicPr>
        <p:blipFill>
          <a:blip r:embed="rId3"/>
          <a:stretch>
            <a:fillRect/>
          </a:stretch>
        </p:blipFill>
        <p:spPr>
          <a:xfrm>
            <a:off x="658368" y="4608576"/>
            <a:ext cx="384048" cy="384048"/>
          </a:xfrm>
          <a:prstGeom prst="rect">
            <a:avLst/>
          </a:prstGeom>
        </p:spPr>
      </p:pic>
      <p:sp>
        <p:nvSpPr>
          <p:cNvPr id="36" name="Move why text"/>
          <p:cNvSpPr txBox="1"/>
          <p:nvPr/>
        </p:nvSpPr>
        <p:spPr>
          <a:xfrm>
            <a:off x="1234440" y="4572000"/>
            <a:ext cx="7269480" cy="457200"/>
          </a:xfrm>
          <a:prstGeom prst="rect">
            <a:avLst/>
          </a:prstGeom>
          <a:noFill/>
        </p:spPr>
        <p:txBody>
          <a:bodyPr wrap="square" lIns="0" rIns="0" tIns="0" bIns="0" anchor="ctr">
            <a:noAutofit/>
          </a:bodyPr>
          <a:lstStyle/>
          <a:p>
            <a:pPr algn="l">
              <a:spcAft>
                <a:spcPts val="400"/>
              </a:spcAft>
            </a:pPr>
            <a:r>
              <a:rPr sz="1300" b="1" lang="en-GB">
                <a:solidFill>
                  <a:schemeClr val="bg1"/>
                </a:solidFill>
              </a:rPr>
              <a:t>Why rebuild? </a:t>
            </a:r>
            <a:r>
              <a:rPr sz="1300" b="0" lang="en-GB">
                <a:solidFill>
                  <a:schemeClr val="bg1"/>
                </a:solidFill>
              </a:rPr>
              <a:t>a .venv cannot be upgraded; the old Python can stay installed.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Table Placeholder 1"/>
          <p:cNvGraphicFramePr>
            <a:graphicFrameLocks noGrp="1"/>
          </p:cNvGraphicFramePr>
          <p:nvPr>
            <p:ph type="tbl" idx="1"/>
          </p:nvPr>
        </p:nvGraphicFramePr>
        <p:xfrm>
          <a:off x="462019" y="1344613"/>
          <a:ext cx="8229600" cy="3337560"/>
        </p:xfrm>
        <a:graphic>
          <a:graphicData uri="http://schemas.openxmlformats.org/drawingml/2006/table">
            <a:tbl>
              <a:tblPr firstRow="1" bandRow="1">
                <a:tableStyleId>{5C22544A-7EE6-4342-B048-85BDC9FD1C3A}</a:tableStyleId>
              </a:tblPr>
              <a:tblGrid>
                <a:gridCol w="3108960"/>
                <a:gridCol w="5120640"/>
              </a:tblGrid>
              <a:tr h="370840">
                <a:tc>
                  <a:txBody>
                    <a:bodyPr/>
                    <a:lstStyle/>
                    <a:p>
                      <a:r>
                        <a:rPr sz="1500" lang="en-GB"/>
                        <a:t>Problem</a:t>
                      </a:r>
                    </a:p>
                  </a:txBody>
                  <a:tcPr marT="54000" marB="54000"/>
                </a:tc>
                <a:tc>
                  <a:txBody>
                    <a:bodyPr/>
                    <a:lstStyle/>
                    <a:p>
                      <a:r>
                        <a:rPr sz="1500" lang="en-GB"/>
                        <a:t>Fix</a:t>
                      </a:r>
                    </a:p>
                  </a:txBody>
                  <a:tcPr marT="54000" marB="54000"/>
                </a:tc>
              </a:tr>
              <a:tr h="370840">
                <a:tc>
                  <a:txBody>
                    <a:bodyPr/>
                    <a:lstStyle/>
                    <a:p>
                      <a:r>
                        <a:rPr sz="1300" b="1" lang="en-GB"/>
                        <a:t>Windows: python or py is not recognised</a:t>
                      </a:r>
                    </a:p>
                  </a:txBody>
                  <a:tcPr marT="54000" marB="54000"/>
                </a:tc>
                <a:tc>
                  <a:txBody>
                    <a:bodyPr/>
                    <a:lstStyle/>
                    <a:p>
                      <a:r>
                        <a:rPr sz="1300" lang="en-GB"/>
                        <a:t>Reinstall the Python install manager, then run py install 3.14</a:t>
                      </a:r>
                    </a:p>
                  </a:txBody>
                  <a:tcPr marT="54000" marB="54000"/>
                </a:tc>
              </a:tr>
              <a:tr h="370840">
                <a:tc>
                  <a:txBody>
                    <a:bodyPr/>
                    <a:lstStyle/>
                    <a:p>
                      <a:r>
                        <a:rPr sz="1300" b="1" lang="en-GB"/>
                        <a:t>No .venv in the Interpreter picker</a:t>
                      </a:r>
                    </a:p>
                  </a:txBody>
                  <a:tcPr marT="54000" marB="54000"/>
                </a:tc>
                <a:tc>
                  <a:txBody>
                    <a:bodyPr/>
                    <a:lstStyle/>
                    <a:p>
                      <a:r>
                        <a:rPr sz="1300" lang="en-GB"/>
                        <a:t>Open the course folder, not a single file; then pick Python 3.14.8 (.venv)</a:t>
                      </a:r>
                    </a:p>
                  </a:txBody>
                  <a:tcPr marT="54000" marB="54000"/>
                </a:tc>
              </a:tr>
              <a:tr h="370840">
                <a:tc>
                  <a:txBody>
                    <a:bodyPr/>
                    <a:lstStyle/>
                    <a:p>
                      <a:r>
                        <a:rPr sz="1300" b="1" lang="en-GB"/>
                        <a:t>The check shows Python 3.13 or older</a:t>
                      </a:r>
                    </a:p>
                  </a:txBody>
                  <a:tcPr marT="54000" marB="54000"/>
                </a:tc>
                <a:tc>
                  <a:txBody>
                    <a:bodyPr/>
                    <a:lstStyle/>
                    <a:p>
                      <a:r>
                        <a:rPr sz="1300" lang="en-GB"/>
                        <a:t>Move the project to Python 3.14 (Part 7)</a:t>
                      </a:r>
                    </a:p>
                  </a:txBody>
                  <a:tcPr marT="54000" marB="54000"/>
                </a:tc>
              </a:tr>
              <a:tr h="370840">
                <a:tc>
                  <a:txBody>
                    <a:bodyPr/>
                    <a:lstStyle/>
                    <a:p>
                      <a:r>
                        <a:rPr sz="1300" b="1" lang="en-GB"/>
                        <a:t>ModuleNotFoundError</a:t>
                      </a:r>
                    </a:p>
                  </a:txBody>
                  <a:tcPr marT="54000" marB="54000"/>
                </a:tc>
                <a:tc>
                  <a:txBody>
                    <a:bodyPr/>
                    <a:lstStyle/>
                    <a:p>
                      <a:r>
                        <a:rPr sz="1300" lang="en-GB"/>
                        <a:t>Select the .venv interpreter, then %pip install the package</a:t>
                      </a:r>
                    </a:p>
                  </a:txBody>
                  <a:tcPr marT="54000" marB="54000"/>
                </a:tc>
              </a:tr>
              <a:tr h="370840">
                <a:tc>
                  <a:txBody>
                    <a:bodyPr/>
                    <a:lstStyle/>
                    <a:p>
                      <a:r>
                        <a:rPr sz="1300" b="1" lang="en-GB"/>
                        <a:t>macOS: externally-managed-environment</a:t>
                      </a:r>
                    </a:p>
                  </a:txBody>
                  <a:tcPr marT="54000" marB="54000"/>
                </a:tc>
                <a:tc>
                  <a:txBody>
                    <a:bodyPr/>
                    <a:lstStyle/>
                    <a:p>
                      <a:r>
                        <a:rPr sz="1300" lang="en-GB"/>
                        <a:t>You used the system Python: select the project's .venv first</a:t>
                      </a:r>
                    </a:p>
                  </a:txBody>
                  <a:tcPr marT="54000" marB="54000"/>
                </a:tc>
              </a:tr>
              <a:tr h="370840">
                <a:tc>
                  <a:txBody>
                    <a:bodyPr/>
                    <a:lstStyle/>
                    <a:p>
                      <a:r>
                        <a:rPr sz="1300" b="1" lang="en-GB"/>
                        <a:t>Quarto preview does not start</a:t>
                      </a:r>
                    </a:p>
                  </a:txBody>
                  <a:tcPr marT="54000" marB="54000"/>
                </a:tc>
                <a:tc>
                  <a:txBody>
                    <a:bodyPr/>
                    <a:lstStyle/>
                    <a:p>
                      <a:r>
                        <a:rPr sz="1300" lang="en-GB"/>
                        <a:t>Restart Positron; run quarto check in the terminal</a:t>
                      </a:r>
                    </a:p>
                  </a:txBody>
                  <a:tcPr marT="54000" marB="54000"/>
                </a:tc>
              </a:tr>
              <a:tr h="370840">
                <a:tc>
                  <a:txBody>
                    <a:bodyPr/>
                    <a:lstStyle/>
                    <a:p>
                      <a:r>
                        <a:rPr sz="1300" b="1" lang="en-GB"/>
                        <a:t>Clone fails in GitHub Desktop</a:t>
                      </a:r>
                    </a:p>
                  </a:txBody>
                  <a:tcPr marT="54000" marB="54000"/>
                </a:tc>
                <a:tc>
                  <a:txBody>
                    <a:bodyPr/>
                    <a:lstStyle/>
                    <a:p>
                      <a:r>
                        <a:rPr sz="1300" lang="en-GB"/>
                        <a:t>Sign in again under Accounts in the settings; check the URL</a:t>
                      </a:r>
                    </a:p>
                  </a:txBody>
                  <a:tcPr marT="54000" marB="54000"/>
                </a:tc>
              </a:tr>
              <a:tr h="370840">
                <a:tc>
                  <a:txBody>
                    <a:bodyPr/>
                    <a:lstStyle/>
                    <a:p>
                      <a:r>
                        <a:rPr sz="1300" b="1" lang="en-GB"/>
                        <a:t>Copilot is not offered</a:t>
                      </a:r>
                    </a:p>
                  </a:txBody>
                  <a:tcPr marT="54000" marB="54000"/>
                </a:tc>
                <a:tc>
                  <a:txBody>
                    <a:bodyPr/>
                    <a:lstStyle/>
                    <a:p>
                      <a:r>
                        <a:rPr sz="1300" lang="en-GB"/>
                        <a:t>GitHub Education still pending: use Copilot Free meanwhile</a:t>
                      </a:r>
                    </a:p>
                  </a:txBody>
                  <a:tcPr marT="54000" marB="54000"/>
                </a:tc>
              </a:tr>
            </a:tbl>
          </a:graphicData>
        </a:graphic>
      </p:graphicFrame>
      <p:sp>
        <p:nvSpPr>
          <p:cNvPr id="3" name="Title 2"/>
          <p:cNvSpPr>
            <a:spLocks noGrp="1"/>
          </p:cNvSpPr>
          <p:nvPr>
            <p:ph type="title"/>
          </p:nvPr>
        </p:nvSpPr>
        <p:spPr/>
        <p:txBody>
          <a:bodyPr/>
          <a:lstStyle/>
          <a:p>
            <a:r>
              <a:rPr sz="1600" lang="en-GB"/>
              <a:t>When something goes wrong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Checklist: before you leave today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hecklist Accounts body"/>
          <p:cNvSpPr/>
          <p:nvPr/>
        </p:nvSpPr>
        <p:spPr>
          <a:xfrm>
            <a:off x="457200" y="1645920"/>
            <a:ext cx="4046220" cy="2743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hecklist Accounts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hecklist Accounts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Accounts</a:t>
            </a:r>
          </a:p>
        </p:txBody>
      </p:sp>
      <p:pic>
        <p:nvPicPr>
          <p:cNvPr id="13" name="Icon checklist Accounts" descr=""/>
          <p:cNvPicPr>
            <a:picLocks noChangeAspect="1"/>
          </p:cNvPicPr>
          <p:nvPr/>
        </p:nvPicPr>
        <p:blipFill>
          <a:blip r:embed="rId3"/>
          <a:stretch>
            <a:fillRect/>
          </a:stretch>
        </p:blipFill>
        <p:spPr>
          <a:xfrm>
            <a:off x="4064508" y="1280160"/>
            <a:ext cx="310896" cy="310896"/>
          </a:xfrm>
          <a:prstGeom prst="rect">
            <a:avLst/>
          </a:prstGeom>
        </p:spPr>
      </p:pic>
      <p:sp>
        <p:nvSpPr>
          <p:cNvPr id="14" name="Checkbox Accounts 1"/>
          <p:cNvSpPr/>
          <p:nvPr/>
        </p:nvSpPr>
        <p:spPr>
          <a:xfrm>
            <a:off x="640080" y="1856232"/>
            <a:ext cx="237744" cy="237744"/>
          </a:xfrm>
          <a:prstGeom prst="rect">
            <a:avLst/>
          </a:prstGeom>
          <a:solidFill>
            <a:srgbClr val="FFFFFF"/>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hecklist Accounts item 1"/>
          <p:cNvSpPr txBox="1"/>
          <p:nvPr/>
        </p:nvSpPr>
        <p:spPr>
          <a:xfrm>
            <a:off x="1005840" y="1783080"/>
            <a:ext cx="3360420" cy="411480"/>
          </a:xfrm>
          <a:prstGeom prst="rect">
            <a:avLst/>
          </a:prstGeom>
          <a:noFill/>
        </p:spPr>
        <p:txBody>
          <a:bodyPr wrap="square" lIns="0" rIns="0" tIns="0" bIns="0" anchor="ctr">
            <a:noAutofit/>
          </a:bodyPr>
          <a:lstStyle/>
          <a:p>
            <a:pPr algn="l">
              <a:spcAft>
                <a:spcPts val="400"/>
              </a:spcAft>
            </a:pPr>
            <a:r>
              <a:rPr sz="1200" b="0" lang="en-GB">
                <a:solidFill>
                  <a:schemeClr val="tx1"/>
                </a:solidFill>
              </a:rPr>
              <a:t>GitHub account with two-factor sign-in</a:t>
            </a:r>
          </a:p>
        </p:txBody>
      </p:sp>
      <p:sp>
        <p:nvSpPr>
          <p:cNvPr id="16" name="Checkbox Accounts 2"/>
          <p:cNvSpPr/>
          <p:nvPr/>
        </p:nvSpPr>
        <p:spPr>
          <a:xfrm>
            <a:off x="640080" y="2359152"/>
            <a:ext cx="237744" cy="237744"/>
          </a:xfrm>
          <a:prstGeom prst="rect">
            <a:avLst/>
          </a:prstGeom>
          <a:solidFill>
            <a:srgbClr val="FFFFFF"/>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hecklist Accounts item 2"/>
          <p:cNvSpPr txBox="1"/>
          <p:nvPr/>
        </p:nvSpPr>
        <p:spPr>
          <a:xfrm>
            <a:off x="1005840" y="2286000"/>
            <a:ext cx="3360420" cy="411480"/>
          </a:xfrm>
          <a:prstGeom prst="rect">
            <a:avLst/>
          </a:prstGeom>
          <a:noFill/>
        </p:spPr>
        <p:txBody>
          <a:bodyPr wrap="square" lIns="0" rIns="0" tIns="0" bIns="0" anchor="ctr">
            <a:noAutofit/>
          </a:bodyPr>
          <a:lstStyle/>
          <a:p>
            <a:pPr algn="l">
              <a:spcAft>
                <a:spcPts val="400"/>
              </a:spcAft>
            </a:pPr>
            <a:r>
              <a:rPr sz="1200" b="0" lang="en-GB">
                <a:solidFill>
                  <a:schemeClr val="tx1"/>
                </a:solidFill>
              </a:rPr>
              <a:t>GitHub Education application sent</a:t>
            </a:r>
          </a:p>
        </p:txBody>
      </p:sp>
      <p:sp>
        <p:nvSpPr>
          <p:cNvPr id="18" name="Checkbox Accounts 3"/>
          <p:cNvSpPr/>
          <p:nvPr/>
        </p:nvSpPr>
        <p:spPr>
          <a:xfrm>
            <a:off x="640080" y="2862072"/>
            <a:ext cx="237744" cy="237744"/>
          </a:xfrm>
          <a:prstGeom prst="rect">
            <a:avLst/>
          </a:prstGeom>
          <a:solidFill>
            <a:srgbClr val="FFFFFF"/>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hecklist Accounts item 3"/>
          <p:cNvSpPr txBox="1"/>
          <p:nvPr/>
        </p:nvSpPr>
        <p:spPr>
          <a:xfrm>
            <a:off x="1005840" y="2788920"/>
            <a:ext cx="3360420" cy="411480"/>
          </a:xfrm>
          <a:prstGeom prst="rect">
            <a:avLst/>
          </a:prstGeom>
          <a:noFill/>
        </p:spPr>
        <p:txBody>
          <a:bodyPr wrap="square" lIns="0" rIns="0" tIns="0" bIns="0" anchor="ctr">
            <a:noAutofit/>
          </a:bodyPr>
          <a:lstStyle/>
          <a:p>
            <a:pPr algn="l">
              <a:spcAft>
                <a:spcPts val="400"/>
              </a:spcAft>
            </a:pPr>
            <a:r>
              <a:rPr sz="1200" b="0" lang="en-GB">
                <a:solidFill>
                  <a:schemeClr val="tx1"/>
                </a:solidFill>
              </a:rPr>
              <a:t>DataCamp classroom joined</a:t>
            </a:r>
          </a:p>
        </p:txBody>
      </p:sp>
      <p:sp>
        <p:nvSpPr>
          <p:cNvPr id="20" name="Checklist Laptop body"/>
          <p:cNvSpPr/>
          <p:nvPr/>
        </p:nvSpPr>
        <p:spPr>
          <a:xfrm>
            <a:off x="4640580" y="1645920"/>
            <a:ext cx="4046220" cy="2743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hecklist Laptop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Checklist Laptop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Laptop</a:t>
            </a:r>
          </a:p>
        </p:txBody>
      </p:sp>
      <p:pic>
        <p:nvPicPr>
          <p:cNvPr id="23" name="Icon checklist Laptop" descr=""/>
          <p:cNvPicPr>
            <a:picLocks noChangeAspect="1"/>
          </p:cNvPicPr>
          <p:nvPr/>
        </p:nvPicPr>
        <p:blipFill>
          <a:blip r:embed="rId4"/>
          <a:stretch>
            <a:fillRect/>
          </a:stretch>
        </p:blipFill>
        <p:spPr>
          <a:xfrm>
            <a:off x="8247888" y="1280160"/>
            <a:ext cx="310896" cy="310896"/>
          </a:xfrm>
          <a:prstGeom prst="rect">
            <a:avLst/>
          </a:prstGeom>
        </p:spPr>
      </p:pic>
      <p:sp>
        <p:nvSpPr>
          <p:cNvPr id="24" name="Checkbox Laptop 1"/>
          <p:cNvSpPr/>
          <p:nvPr/>
        </p:nvSpPr>
        <p:spPr>
          <a:xfrm>
            <a:off x="4823460" y="1856232"/>
            <a:ext cx="237744" cy="237744"/>
          </a:xfrm>
          <a:prstGeom prst="rect">
            <a:avLst/>
          </a:prstGeom>
          <a:solidFill>
            <a:srgbClr val="FFFFFF"/>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Checklist Laptop item 1"/>
          <p:cNvSpPr txBox="1"/>
          <p:nvPr/>
        </p:nvSpPr>
        <p:spPr>
          <a:xfrm>
            <a:off x="5189220" y="1783080"/>
            <a:ext cx="3360420" cy="411480"/>
          </a:xfrm>
          <a:prstGeom prst="rect">
            <a:avLst/>
          </a:prstGeom>
          <a:noFill/>
        </p:spPr>
        <p:txBody>
          <a:bodyPr wrap="square" lIns="0" rIns="0" tIns="0" bIns="0" anchor="ctr">
            <a:noAutofit/>
          </a:bodyPr>
          <a:lstStyle/>
          <a:p>
            <a:pPr algn="l">
              <a:spcAft>
                <a:spcPts val="400"/>
              </a:spcAft>
            </a:pPr>
            <a:r>
              <a:rPr sz="1200" b="0" lang="en-GB">
                <a:solidFill>
                  <a:schemeClr val="tx1"/>
                </a:solidFill>
              </a:rPr>
              <a:t>Python 3.14, Positron, Quarto, GitHub Desktop</a:t>
            </a:r>
          </a:p>
        </p:txBody>
      </p:sp>
      <p:sp>
        <p:nvSpPr>
          <p:cNvPr id="26" name="Checkbox Laptop 2"/>
          <p:cNvSpPr/>
          <p:nvPr/>
        </p:nvSpPr>
        <p:spPr>
          <a:xfrm>
            <a:off x="4823460" y="2359152"/>
            <a:ext cx="237744" cy="237744"/>
          </a:xfrm>
          <a:prstGeom prst="rect">
            <a:avLst/>
          </a:prstGeom>
          <a:solidFill>
            <a:srgbClr val="FFFFFF"/>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Checklist Laptop item 2"/>
          <p:cNvSpPr txBox="1"/>
          <p:nvPr/>
        </p:nvSpPr>
        <p:spPr>
          <a:xfrm>
            <a:off x="5189220" y="2286000"/>
            <a:ext cx="3360420" cy="411480"/>
          </a:xfrm>
          <a:prstGeom prst="rect">
            <a:avLst/>
          </a:prstGeom>
          <a:noFill/>
        </p:spPr>
        <p:txBody>
          <a:bodyPr wrap="square" lIns="0" rIns="0" tIns="0" bIns="0" anchor="ctr">
            <a:noAutofit/>
          </a:bodyPr>
          <a:lstStyle/>
          <a:p>
            <a:pPr algn="l">
              <a:spcAft>
                <a:spcPts val="400"/>
              </a:spcAft>
            </a:pPr>
            <a:r>
              <a:rPr sz="1200" b="0" lang="en-GB">
                <a:solidFill>
                  <a:schemeClr val="tx1"/>
                </a:solidFill>
              </a:rPr>
              <a:t>Course repository cloned and open</a:t>
            </a:r>
          </a:p>
        </p:txBody>
      </p:sp>
      <p:sp>
        <p:nvSpPr>
          <p:cNvPr id="28" name="Checkbox Laptop 3"/>
          <p:cNvSpPr/>
          <p:nvPr/>
        </p:nvSpPr>
        <p:spPr>
          <a:xfrm>
            <a:off x="4823460" y="2862072"/>
            <a:ext cx="237744" cy="237744"/>
          </a:xfrm>
          <a:prstGeom prst="rect">
            <a:avLst/>
          </a:prstGeom>
          <a:solidFill>
            <a:srgbClr val="FFFFFF"/>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Checklist Laptop item 3"/>
          <p:cNvSpPr txBox="1"/>
          <p:nvPr/>
        </p:nvSpPr>
        <p:spPr>
          <a:xfrm>
            <a:off x="5189220" y="2788920"/>
            <a:ext cx="3360420" cy="411480"/>
          </a:xfrm>
          <a:prstGeom prst="rect">
            <a:avLst/>
          </a:prstGeom>
          <a:noFill/>
        </p:spPr>
        <p:txBody>
          <a:bodyPr wrap="square" lIns="0" rIns="0" tIns="0" bIns="0" anchor="ctr">
            <a:noAutofit/>
          </a:bodyPr>
          <a:lstStyle/>
          <a:p>
            <a:pPr algn="l">
              <a:spcAft>
                <a:spcPts val="400"/>
              </a:spcAft>
            </a:pPr>
            <a:r>
              <a:rPr sz="1200" b="0" lang="en-GB">
                <a:solidFill>
                  <a:schemeClr val="tx1"/>
                </a:solidFill>
              </a:rPr>
              <a:t>.venv created and selected</a:t>
            </a:r>
          </a:p>
        </p:txBody>
      </p:sp>
      <p:sp>
        <p:nvSpPr>
          <p:cNvPr id="30" name="Checkbox Laptop 4"/>
          <p:cNvSpPr/>
          <p:nvPr/>
        </p:nvSpPr>
        <p:spPr>
          <a:xfrm>
            <a:off x="4823460" y="3364992"/>
            <a:ext cx="237744" cy="237744"/>
          </a:xfrm>
          <a:prstGeom prst="rect">
            <a:avLst/>
          </a:prstGeom>
          <a:solidFill>
            <a:srgbClr val="FFFFFF"/>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Checklist Laptop item 4"/>
          <p:cNvSpPr txBox="1"/>
          <p:nvPr/>
        </p:nvSpPr>
        <p:spPr>
          <a:xfrm>
            <a:off x="5189220" y="3291840"/>
            <a:ext cx="3360420" cy="411480"/>
          </a:xfrm>
          <a:prstGeom prst="rect">
            <a:avLst/>
          </a:prstGeom>
          <a:noFill/>
        </p:spPr>
        <p:txBody>
          <a:bodyPr wrap="square" lIns="0" rIns="0" tIns="0" bIns="0" anchor="ctr">
            <a:noAutofit/>
          </a:bodyPr>
          <a:lstStyle/>
          <a:p>
            <a:pPr algn="l">
              <a:spcAft>
                <a:spcPts val="400"/>
              </a:spcAft>
            </a:pPr>
            <a:r>
              <a:rPr sz="1200" b="0" lang="en-GB">
                <a:solidFill>
                  <a:schemeClr val="tx1"/>
                </a:solidFill>
              </a:rPr>
              <a:t>“ready” and the test report renders</a:t>
            </a:r>
          </a:p>
        </p:txBody>
      </p:sp>
      <p:sp>
        <p:nvSpPr>
          <p:cNvPr id="32" name="Checkbox Laptop 5"/>
          <p:cNvSpPr/>
          <p:nvPr/>
        </p:nvSpPr>
        <p:spPr>
          <a:xfrm>
            <a:off x="4823460" y="3867912"/>
            <a:ext cx="237744" cy="237744"/>
          </a:xfrm>
          <a:prstGeom prst="rect">
            <a:avLst/>
          </a:prstGeom>
          <a:solidFill>
            <a:srgbClr val="FFFFFF"/>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Checklist Laptop item 5"/>
          <p:cNvSpPr txBox="1"/>
          <p:nvPr/>
        </p:nvSpPr>
        <p:spPr>
          <a:xfrm>
            <a:off x="5189220" y="3794760"/>
            <a:ext cx="3360420" cy="411480"/>
          </a:xfrm>
          <a:prstGeom prst="rect">
            <a:avLst/>
          </a:prstGeom>
          <a:noFill/>
        </p:spPr>
        <p:txBody>
          <a:bodyPr wrap="square" lIns="0" rIns="0" tIns="0" bIns="0" anchor="ctr">
            <a:noAutofit/>
          </a:bodyPr>
          <a:lstStyle/>
          <a:p>
            <a:pPr algn="l">
              <a:spcAft>
                <a:spcPts val="400"/>
              </a:spcAft>
            </a:pPr>
            <a:r>
              <a:rPr sz="1200" b="0" lang="en-GB">
                <a:solidFill>
                  <a:schemeClr val="tx1"/>
                </a:solidFill>
              </a:rPr>
              <a:t>Posit Assistant connected</a:t>
            </a:r>
          </a:p>
        </p:txBody>
      </p:sp>
      <p:sp>
        <p:nvSpPr>
          <p:cNvPr id="34" name="Help box"/>
          <p:cNvSpPr/>
          <p:nvPr/>
        </p:nvSpPr>
        <p:spPr>
          <a:xfrm>
            <a:off x="457200" y="452628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Help" descr=""/>
          <p:cNvPicPr>
            <a:picLocks noChangeAspect="1"/>
          </p:cNvPicPr>
          <p:nvPr/>
        </p:nvPicPr>
        <p:blipFill>
          <a:blip r:embed="rId5"/>
          <a:stretch>
            <a:fillRect/>
          </a:stretch>
        </p:blipFill>
        <p:spPr>
          <a:xfrm>
            <a:off x="658368" y="4608576"/>
            <a:ext cx="384048" cy="384048"/>
          </a:xfrm>
          <a:prstGeom prst="rect">
            <a:avLst/>
          </a:prstGeom>
        </p:spPr>
      </p:pic>
      <p:sp>
        <p:nvSpPr>
          <p:cNvPr id="36" name="Help text"/>
          <p:cNvSpPr txBox="1"/>
          <p:nvPr/>
        </p:nvSpPr>
        <p:spPr>
          <a:xfrm>
            <a:off x="1234440" y="4526280"/>
            <a:ext cx="7269480" cy="548640"/>
          </a:xfrm>
          <a:prstGeom prst="rect">
            <a:avLst/>
          </a:prstGeom>
          <a:noFill/>
        </p:spPr>
        <p:txBody>
          <a:bodyPr wrap="square" lIns="0" rIns="0" tIns="0" bIns="0" anchor="ctr">
            <a:noAutofit/>
          </a:bodyPr>
          <a:lstStyle/>
          <a:p>
            <a:pPr algn="l">
              <a:spcAft>
                <a:spcPts val="400"/>
              </a:spcAft>
            </a:pPr>
            <a:r>
              <a:rPr sz="1300" b="1" lang="en-GB">
                <a:solidFill>
                  <a:schemeClr val="bg1"/>
                </a:solidFill>
              </a:rPr>
              <a:t>Not ready yet? </a:t>
            </a:r>
            <a:r>
              <a:rPr sz="1300" b="0" lang="en-GB">
                <a:solidFill>
                  <a:schemeClr val="bg1"/>
                </a:solidFill>
              </a:rPr>
              <a:t>Post the failing step in the Q&amp;A forum on Canvas before Session 2.</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 name="Fußzeilenplatzhalter 8"/>
          <p:cNvSpPr>
            <a:spLocks noGrp="1"/>
          </p:cNvSpPr>
          <p:nvPr>
            <p:ph type="ftr" sz="quarter" idx="12"/>
          </p:nvPr>
        </p:nvSpPr>
        <p:spPr/>
        <p:txBody>
          <a:bodyPr/>
          <a:lstStyle/>
          <a:p>
            <a:r>
              <a:rPr lang="en-GB"/>
              <a:t>International Marketing Analytics · WT 2026/27</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ELECTEDLANGUAGE" val="English UK"/>
</p:tagLst>
</file>

<file path=ppt/theme/theme1.xml><?xml version="1.0" encoding="utf-8"?>
<a:theme xmlns:a="http://schemas.openxmlformats.org/drawingml/2006/main" name="WU 16:10">
  <a:themeElements>
    <a:clrScheme name="WU">
      <a:dk1>
        <a:srgbClr val="000000"/>
      </a:dk1>
      <a:lt1>
        <a:srgbClr val="FFFFFF"/>
      </a:lt1>
      <a:dk2>
        <a:srgbClr val="002350"/>
      </a:dk2>
      <a:lt2>
        <a:srgbClr val="E5F5FA"/>
      </a:lt2>
      <a:accent1>
        <a:srgbClr val="0096D3"/>
      </a:accent1>
      <a:accent2>
        <a:srgbClr val="002350"/>
      </a:accent2>
      <a:accent3>
        <a:srgbClr val="4B2582"/>
      </a:accent3>
      <a:accent4>
        <a:srgbClr val="457AA0"/>
      </a:accent4>
      <a:accent5>
        <a:srgbClr val="A592C0"/>
      </a:accent5>
      <a:accent6>
        <a:srgbClr val="80CFE9"/>
      </a:accent6>
      <a:hlink>
        <a:srgbClr val="405A7C"/>
      </a:hlink>
      <a:folHlink>
        <a:srgbClr val="0082AA"/>
      </a:folHlink>
    </a:clrScheme>
    <a:fontScheme name="WU neu">
      <a:majorFont>
        <a:latin typeface="Georgia"/>
        <a:ea typeface=""/>
        <a:cs typeface=""/>
      </a:majorFont>
      <a:minorFont>
        <a:latin typeface="Verdan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WU Farbschema neu">
        <a:dk1>
          <a:srgbClr val="000000"/>
        </a:dk1>
        <a:lt1>
          <a:sysClr val="window" lastClr="FFFFFF"/>
        </a:lt1>
        <a:dk2>
          <a:srgbClr val="002E60"/>
        </a:dk2>
        <a:lt2>
          <a:srgbClr val="E5F5FA"/>
        </a:lt2>
        <a:accent1>
          <a:srgbClr val="0096D3"/>
        </a:accent1>
        <a:accent2>
          <a:srgbClr val="002E60"/>
        </a:accent2>
        <a:accent3>
          <a:srgbClr val="532481"/>
        </a:accent3>
        <a:accent4>
          <a:srgbClr val="457AA0"/>
        </a:accent4>
        <a:accent5>
          <a:srgbClr val="A991C0"/>
        </a:accent5>
        <a:accent6>
          <a:srgbClr val="7FCAE9"/>
        </a:accent6>
        <a:hlink>
          <a:srgbClr val="406288"/>
        </a:hlink>
        <a:folHlink>
          <a:srgbClr val="008FAA"/>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WU Sample Presentation 16x10 V1.1.potx" id="{74DD536C-D372-4256-BA4D-24C734E7AF81}" vid="{99E22345-25BB-45DF-85CE-FC929AE6991A}"/>
    </a:ext>
  </a:extLst>
</a:theme>
</file>

<file path=ppt/theme/theme2.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Kategorie xmlns="dde413db-0745-4f3a-8dca-564dc7ff6f7d">Präsentationen</Kategorie>
    <Beschreibung xmlns="dde413db-0745-4f3a-8dca-564dc7ff6f7d">Sample presenation in format 16:10 (= WU standard)</Beschreibung>
    <TaxCatchAll xmlns="08b0a3ee-3d2a-451c-9a1a-7e5d5b0c9c77">
      <Value>266</Value>
      <Value>403</Value>
    </TaxCatchAll>
    <DokumentenartTaxHTField0 xmlns="1a8d9a65-8471-4209-a900-f8e11db75e0a">
      <Terms xmlns="http://schemas.microsoft.com/office/infopath/2007/PartnerControls">
        <TermInfo xmlns="http://schemas.microsoft.com/office/infopath/2007/PartnerControls">
          <TermName xmlns="http://schemas.microsoft.com/office/infopath/2007/PartnerControls">Vorlagen</TermName>
          <TermId xmlns="http://schemas.microsoft.com/office/infopath/2007/PartnerControls">17fc50ed-8ad1-47be-ab12-04243fd74ddb</TermId>
        </TermInfo>
      </Terms>
    </DokumentenartTaxHTField0>
    <WU_x0020_ThemaTaxHTField0 xmlns="1a8d9a65-8471-4209-a900-f8e11db75e0a">
      <Terms xmlns="http://schemas.microsoft.com/office/infopath/2007/PartnerControls">
        <TermInfo xmlns="http://schemas.microsoft.com/office/infopath/2007/PartnerControls">
          <TermName xmlns="http://schemas.microsoft.com/office/infopath/2007/PartnerControls">Corporate Design</TermName>
          <TermId xmlns="http://schemas.microsoft.com/office/infopath/2007/PartnerControls">19895bcd-b158-45ae-ab7b-f5ca217dfcec</TermId>
        </TermInfo>
      </Terms>
    </WU_x0020_ThemaTaxHTField0>
    <Format xmlns="dde413db-0745-4f3a-8dca-564dc7ff6f7d">Microsoft Office 2013/2016</Format>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BCF651A35DF3154DB01328AF51148DAE" ma:contentTypeVersion="1" ma:contentTypeDescription="Ein neues Dokument erstellen." ma:contentTypeScope="" ma:versionID="458c1b80f8d593bdc96b60ff34dd40b4">
  <xsd:schema xmlns:xsd="http://www.w3.org/2001/XMLSchema" xmlns:xs="http://www.w3.org/2001/XMLSchema" xmlns:p="http://schemas.microsoft.com/office/2006/metadata/properties" xmlns:ns2="1a8d9a65-8471-4209-a900-f8e11db75e0a" xmlns:ns3="08b0a3ee-3d2a-451c-9a1a-7e5d5b0c9c77" xmlns:ns4="dde413db-0745-4f3a-8dca-564dc7ff6f7d" targetNamespace="http://schemas.microsoft.com/office/2006/metadata/properties" ma:root="true" ma:fieldsID="2d31116d1a6b5af1b4a8b1ba7152d57a" ns2:_="" ns3:_="" ns4:_="">
    <xsd:import namespace="1a8d9a65-8471-4209-a900-f8e11db75e0a"/>
    <xsd:import namespace="08b0a3ee-3d2a-451c-9a1a-7e5d5b0c9c77"/>
    <xsd:import namespace="dde413db-0745-4f3a-8dca-564dc7ff6f7d"/>
    <xsd:element name="properties">
      <xsd:complexType>
        <xsd:sequence>
          <xsd:element name="documentManagement">
            <xsd:complexType>
              <xsd:all>
                <xsd:element ref="ns2:WU_x0020_ThemaTaxHTField0" minOccurs="0"/>
                <xsd:element ref="ns3:TaxCatchAll" minOccurs="0"/>
                <xsd:element ref="ns2:DokumentenartTaxHTField0" minOccurs="0"/>
                <xsd:element ref="ns4:Beschreibung" minOccurs="0"/>
                <xsd:element ref="ns4:Format" minOccurs="0"/>
                <xsd:element ref="ns4:Kategorie" minOccurs="0"/>
                <xsd:element ref="ns3: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a8d9a65-8471-4209-a900-f8e11db75e0a" elementFormDefault="qualified">
    <xsd:import namespace="http://schemas.microsoft.com/office/2006/documentManagement/types"/>
    <xsd:import namespace="http://schemas.microsoft.com/office/infopath/2007/PartnerControls"/>
    <xsd:element name="WU_x0020_ThemaTaxHTField0" ma:index="9" nillable="true" ma:taxonomy="true" ma:internalName="WU_x0020_ThemaTaxHTField0" ma:taxonomyFieldName="WU_x0020_Thema" ma:displayName="Schlagwort" ma:default="" ma:fieldId="{a2eb3201-e251-4055-97e9-466604fc777f}" ma:taxonomyMulti="true" ma:sspId="59da4ae5-1217-4de6-bd64-b7a740f353bb" ma:termSetId="c1edca97-812b-4584-b6b5-1e5cade81cae" ma:anchorId="00000000-0000-0000-0000-000000000000" ma:open="true" ma:isKeyword="false">
      <xsd:complexType>
        <xsd:sequence>
          <xsd:element ref="pc:Terms" minOccurs="0" maxOccurs="1"/>
        </xsd:sequence>
      </xsd:complexType>
    </xsd:element>
    <xsd:element name="DokumentenartTaxHTField0" ma:index="12" nillable="true" ma:taxonomy="true" ma:internalName="DokumentenartTaxHTField0" ma:taxonomyFieldName="Dokumentenart" ma:displayName="Dokumentenart" ma:default="" ma:fieldId="{0f2e647f-32b7-4850-b6be-ae358ed71e70}" ma:taxonomyMulti="true" ma:sspId="59da4ae5-1217-4de6-bd64-b7a740f353bb" ma:termSetId="325756d7-e24e-4b6f-ba71-3f779d34c1ea" ma:anchorId="00000000-0000-0000-0000-000000000000" ma:open="fals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08b0a3ee-3d2a-451c-9a1a-7e5d5b0c9c77" elementFormDefault="qualified">
    <xsd:import namespace="http://schemas.microsoft.com/office/2006/documentManagement/types"/>
    <xsd:import namespace="http://schemas.microsoft.com/office/infopath/2007/PartnerControls"/>
    <xsd:element name="TaxCatchAll" ma:index="10" nillable="true" ma:displayName="Taxonomy Catch All Column" ma:description="" ma:hidden="true" ma:list="{6a103bb8-3913-4e3b-a229-080a76572464}" ma:internalName="TaxCatchAll" ma:showField="CatchAllData" ma:web="08b0a3ee-3d2a-451c-9a1a-7e5d5b0c9c77">
      <xsd:complexType>
        <xsd:complexContent>
          <xsd:extension base="dms:MultiChoiceLookup">
            <xsd:sequence>
              <xsd:element name="Value" type="dms:Lookup" maxOccurs="unbounded" minOccurs="0" nillable="true"/>
            </xsd:sequence>
          </xsd:extension>
        </xsd:complexContent>
      </xsd:complexType>
    </xsd:element>
    <xsd:element name="SharedWithUsers" ma:index="16" nillable="true" ma:displayName="Freigegeben für"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dde413db-0745-4f3a-8dca-564dc7ff6f7d" elementFormDefault="qualified">
    <xsd:import namespace="http://schemas.microsoft.com/office/2006/documentManagement/types"/>
    <xsd:import namespace="http://schemas.microsoft.com/office/infopath/2007/PartnerControls"/>
    <xsd:element name="Beschreibung" ma:index="13" nillable="true" ma:displayName="Beschreibung" ma:internalName="Beschreibung">
      <xsd:simpleType>
        <xsd:restriction base="dms:Note">
          <xsd:maxLength value="255"/>
        </xsd:restriction>
      </xsd:simpleType>
    </xsd:element>
    <xsd:element name="Format" ma:index="14" nillable="true" ma:displayName="Format" ma:format="Dropdown" ma:internalName="Format">
      <xsd:simpleType>
        <xsd:union memberTypes="dms:Text">
          <xsd:simpleType>
            <xsd:restriction base="dms:Choice">
              <xsd:enumeration value="LaTeX"/>
              <xsd:enumeration value="Microsoft Office 2003"/>
              <xsd:enumeration value="Microsoft Office 2007-2013"/>
              <xsd:enumeration value="Microsoft Office 2013/2016"/>
              <xsd:enumeration value="OpenOffice 3.0"/>
            </xsd:restriction>
          </xsd:simpleType>
        </xsd:union>
      </xsd:simpleType>
    </xsd:element>
    <xsd:element name="Kategorie" ma:index="15" nillable="true" ma:displayName="Kategorie" ma:default="Anleitungen" ma:format="Dropdown" ma:internalName="Kategorie">
      <xsd:simpleType>
        <xsd:union memberTypes="dms:Text">
          <xsd:simpleType>
            <xsd:restriction base="dms:Choice">
              <xsd:enumeration value="Anleitungen"/>
              <xsd:enumeration value="Aushänge für Lift und Tür"/>
              <xsd:enumeration value="Basisvorlagen"/>
              <xsd:enumeration value="Brief-/Faxvorlagen"/>
              <xsd:enumeration value="Einladungen"/>
              <xsd:enumeration value="Etiketten"/>
              <xsd:enumeration value="Musterdateien"/>
              <xsd:enumeration value="Namensschilder"/>
              <xsd:enumeration value="Präsentationen"/>
              <xsd:enumeration value="Skripten-Cover"/>
            </xsd:restriction>
          </xsd:simpleType>
        </xsd:un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5929A89-D8E6-4794-A98F-6609FAAECB3B}">
  <ds:schemaRefs>
    <ds:schemaRef ds:uri="http://schemas.microsoft.com/office/2006/metadata/properties"/>
    <ds:schemaRef ds:uri="http://schemas.microsoft.com/office/infopath/2007/PartnerControls"/>
    <ds:schemaRef ds:uri="dde413db-0745-4f3a-8dca-564dc7ff6f7d"/>
    <ds:schemaRef ds:uri="08b0a3ee-3d2a-451c-9a1a-7e5d5b0c9c77"/>
    <ds:schemaRef ds:uri="1a8d9a65-8471-4209-a900-f8e11db75e0a"/>
  </ds:schemaRefs>
</ds:datastoreItem>
</file>

<file path=customXml/itemProps2.xml><?xml version="1.0" encoding="utf-8"?>
<ds:datastoreItem xmlns:ds="http://schemas.openxmlformats.org/officeDocument/2006/customXml" ds:itemID="{D81AF645-C4BF-4115-A9DE-6B087264731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a8d9a65-8471-4209-a900-f8e11db75e0a"/>
    <ds:schemaRef ds:uri="08b0a3ee-3d2a-451c-9a1a-7e5d5b0c9c77"/>
    <ds:schemaRef ds:uri="dde413db-0745-4f3a-8dca-564dc7ff6f7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89857B5-BC10-4782-8A0F-717F20E5E22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WU Sample Presentation 16x10</Template>
  <TotalTime>0</TotalTime>
  <Words>1441</Words>
  <Application>Microsoft Office PowerPoint</Application>
  <PresentationFormat>Bildschirmpräsentation (16:10)</PresentationFormat>
  <Paragraphs>207</Paragraphs>
  <Slides>26</Slides>
  <Notes>26</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26</vt:i4>
      </vt:variant>
    </vt:vector>
  </HeadingPairs>
  <TitlesOfParts>
    <vt:vector size="31" baseType="lpstr">
      <vt:lpstr>Arial</vt:lpstr>
      <vt:lpstr>Georgia</vt:lpstr>
      <vt:lpstr>Verdana</vt:lpstr>
      <vt:lpstr>Wingdings</vt:lpstr>
      <vt:lpstr>WU 16:10</vt:lpstr>
      <vt:lpstr>WU Presentation Template incl. Samples</vt:lpstr>
      <vt:lpstr>Basics</vt:lpstr>
      <vt:lpstr>Available slide layouts – overview</vt:lpstr>
      <vt:lpstr>Make use of the slide layouts</vt:lpstr>
      <vt:lpstr>Designing text slides</vt:lpstr>
      <vt:lpstr>Insert footer information</vt:lpstr>
      <vt:lpstr>Toner- and ink-reduced printing</vt:lpstr>
      <vt:lpstr>Sample Slides</vt:lpstr>
      <vt:lpstr>Layout „Titelfolie“ –  font Georgia 32 pt</vt:lpstr>
      <vt:lpstr>Layout „Titelfolie kurz“</vt:lpstr>
      <vt:lpstr>Layout „Titelfolie ohne Bild“ – for 2 lines of text</vt:lpstr>
      <vt:lpstr>Titleslide w/o pic. short</vt:lpstr>
      <vt:lpstr>Layout „Titelfolie Bild 2“ – for 2 lines of text</vt:lpstr>
      <vt:lpstr>Layout „Titelfolie Bild 3“ – for 2 lines of text</vt:lpstr>
      <vt:lpstr>Layout „Titel und Inhalt“ for title and content – font Georgia 24 pt</vt:lpstr>
      <vt:lpstr>Layout without footer for large graphics, tables or charts</vt:lpstr>
      <vt:lpstr>Layout “Zwei Inhalte” with two placeholders for different content types</vt:lpstr>
      <vt:lpstr>Layout „Vergleich“ – e.g. for comparison</vt:lpstr>
      <vt:lpstr>Sample table</vt:lpstr>
      <vt:lpstr>Sample for simple graphics  (based on SmartArt)</vt:lpstr>
      <vt:lpstr>Sample organizational chart  (based on SmartArt)</vt:lpstr>
      <vt:lpstr>Sample for bar chart </vt:lpstr>
      <vt:lpstr>Sample for column chart </vt:lpstr>
      <vt:lpstr>Sample for line chart </vt:lpstr>
      <vt:lpstr>Sample for doughnut chart </vt:lpstr>
      <vt:lpstr> </vt:lpstr>
    </vt:vector>
  </TitlesOfParts>
  <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2023-08-25T07:52:25Z</dcterms:created>
  <dcterms:modified xsi:type="dcterms:W3CDTF">2023-08-25T07:53:01Z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WU Thema">
    <vt:lpwstr>403;#Corporate Design|19895bcd-b158-45ae-ab7b-f5ca217dfcec</vt:lpwstr>
  </property>
  <property fmtid="{D5CDD505-2E9C-101B-9397-08002B2CF9AE}" pid="3" name="Dokumentenart">
    <vt:lpwstr>266;#Vorlagen|17fc50ed-8ad1-47be-ab12-04243fd74ddb</vt:lpwstr>
  </property>
  <property fmtid="{D5CDD505-2E9C-101B-9397-08002B2CF9AE}" pid="4" name="ContentTypeId">
    <vt:lpwstr>0x010100BCF651A35DF3154DB01328AF51148DAE</vt:lpwstr>
  </property>
</Properties>
</file>