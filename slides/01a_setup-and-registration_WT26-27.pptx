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set up every laptop together. Nothing had to be installed before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Start the GitHub Education application first, because approval can take a few days; everything else runs while it is pending.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Accounts first: they need e-mail confirmations and, for GitHub Education, an approval that can take days.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are free for students. Use the WU e-mail address everywhere, so the student benefits apply.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Two-factor authentication is required by GitHub for accounts that contribute code. GitHub Mobile is the easiest second factor.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Approval is often quick but can take several days, and benefits can take up to 72 hours more to appear. Check the Copilot Student plan status the week before term; it was paused once in 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DataCamp for the Classroom gives students free premium access for six months. Nobody needs to pay.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overview first, so students know why each tool is there before they install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the shared cloud copy. GitHub Desktop syncs it with a folder on the laptop. Positron is where students work on that folder, using Python, Quarto and an AI assistant.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3.14.8 (30 September 2026) is the latest release; every course package installs and runs on it. Windows and macOS do not come with Python, so it is always installed once. On Windows, python.org now distributes Python through the Python install manager, which installs and updates Python itself. Positron can also install Python for you: Command Palette, Python: Install Python via uv.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Python first, then these three. Current Positron: 2026.09 (September 2026); it updates monthly and offers updates itself. Its welcome page checks whether Python is ready. GitHub Desktop brings its own Git.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repository is public: anyone can clone it without sign-in or access rights. Students pull updates before each session. The cloned folder is the project they open in Positron.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Create Environment makes a .venv inside the open project folder with the chosen Python, offers to install the packages from requirements.txt, and selects the new interpreter. The first install takes a few minutes because PyMC is large. If packages were not installed, the console line does it, on Windows and macOS alike.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script lives in setup/check_setup.py. Every line marked !! says what to fix. test_stack.qmd then runs polars, plotnine and statsmodels on the course data and renders with Quarto. Alternatively open the file and press the Run button at the top right of the editor.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test_stack.qmd sits at the top of the course repository. Open it and press Preview: Quarto runs the three cells with the project's .venv and shows a report with a table, a chart and the regression coefficients. The text under it says the model explains 43 % of the weekly variation.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replaced Positron Assistant and Databot in Positron 2026.07; older videos show the old menus. GitHub Copilot gives chat and code completions and is the cheapest provider for students; in Positron it is still marked Preview.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2026.09. A five-minute tour with the live application next to the slides works best.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as in the Positron documentation: Activity Bar and Primary Side Bar on the left, Editor in the middle with the Panel (Console, Terminal) below, Secondary Side Bar on the right with the Session pane (Variables, Plots). The Top Bar holds the project switcher and the Interpreter picker.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it live: write one line, press Ctrl+Enter, point at the console, the Variables pane and the plot. %view df opens a table in the Data Explorer from the console.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Positron a project is simply a folder opened with File &gt; Open Folder (a workspace). Positron finds the .venv at the folder root and remembers the interpreter for that folder. Open folders, not single files.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Folder from Template sets up the folder, a .venv, Git and a running session in one dialog. Open it from the New menu (top left), the project switcher or the Command Palette (Workspaces: New Folder from Template).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Positron-specific shortcuts from the Positron documentation, plus the Quarto preview. On macOS, Cmd replaces Ctrl except where noted. The Command Palette finds every other command by name.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has been Positron's built-in AI since 2026.07, replacing Positron Assistant and Databot. It uses session context (variable names and types, plots, console history). Permission modes: Normal asks before acting, Restricted allows less, YOLO runs without asking; we use Normal.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 a conversation (Markdown) and attach it as the prompt log. Posit's FAQ: prompts and session information such as variable names and types go to the model provider; row-level data only when you ask for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Desktop is the bridge between the folder on the laptop and GitHub. Show it live with the course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as in GitHub Desktop: the toolbar shows Current repository, Current branch and the sync button, which reads Fetch origin, Pull origin or Push origin depending on what is waiting. The Changes tab lists edited files; the diff on the right shows removed lines in red and added lines in green.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before you start, commit small steps, push when you stop. A merge conflict happens when two people change the same lines; GitHub Desktop lists the files, and Posit Assistant can explain the markers.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in the browser is where the repository is created and the group is invited; GitHub Desktop keeps each laptop's copy in sync; Positron is where the work happens.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labs and the case study report are Quarto documents. One file holds text, code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Quarto runs the Python cells through Jupyter, writes the results into Markdown and lets Pandoc turn it into HTML, PDF, Word or slides. Since Positron 2026.08 cell output also shows inline in the editor, with Fix and Explain buttons on errors.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 is key: value pairs. Nesting is done by indentation, two spaces per level, never tabs. Options for one format sit under that format's name.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options start with #| at the top of a cell. A label starting with fig- makes the chart a numbered figure that @fig-sales refers to. Inline code puts a computed number into the sentence, so the text updates when the data change.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pictures are the same report.qmd rendered four ways (slides/quarto_demo/report.qmd). Typst makes PDFs without installing LaTeX. Positron's Preview shows the first format listed.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and load first, then one slide per package with code that runs on the course data.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install into the course .venv. The terminal lines call the Python inside .venv directly, so no activation is needed. %pip in the Positron console installs into the running session; restart the session afterwards if Positron asks.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Packages pane arrived in Positron 2026.07. It works on the active session's environment, uses the workspace requirements.txt to keep versions consistent, flags outdated packages and known security issues, and prompts for a session restart after changes.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Loading is the same on Windows and macOS. Installing happens once per laptop; importing in every file and every new session.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stages repeat in every lab and in the case study.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chain top to bottom: keep 2025, group by country, sum two columns, sort. statsmodels and PyMC expect pandas, so convert at the end with .to_pandas().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grammar as ggplot2 in R, so R tutorials transfer almost one to one. Each + adds one layer.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takes the polars summary from the polars slide directly. In a Quarto HTML report the table renders by itself; .save() writes a 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first look only: Sessions 1 and 2 explain how to read, check and improve such a model. The formula reads: sales explained by price, TV spend and paid search spend.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an old terminal window or the wrong interpreter.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tick these off. Anything still open goes to the Q&amp;A forum on Canvas before Session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hyperlink" Target="https://github.com/signup" TargetMode="External"/><Relationship Id="rId5" Type="http://schemas.openxmlformats.org/officeDocument/2006/relationships/image" Target="../media/image14.png"/><Relationship Id="rId6" Type="http://schemas.openxmlformats.org/officeDocument/2006/relationships/hyperlink" Target="https://education.github.com/pack" TargetMode="External"/><Relationship Id="rId7" Type="http://schemas.openxmlformats.org/officeDocument/2006/relationships/image" Target="../media/image15.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signup" TargetMode="Externa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hyperlink" Target="https://education.github.com/pack" TargetMode="External"/><Relationship Id="rId5" Type="http://schemas.openxmlformats.org/officeDocument/2006/relationships/image" Target="../media/image19.png"/><Relationship Id="rId6" Type="http://schemas.openxmlformats.org/officeDocument/2006/relationships/hyperlink" Target="https://github.com/settings/copilot" TargetMode="External"/><Relationship Id="rId7"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9.png"/><Relationship Id="rId5" Type="http://schemas.openxmlformats.org/officeDocument/2006/relationships/image" Target="../media/image29.png"/><Relationship Id="rId6" Type="http://schemas.openxmlformats.org/officeDocument/2006/relationships/hyperlink" Target="https://www.python.org/download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hyperlink" Target="https://positron.posit.co/download" TargetMode="External"/><Relationship Id="rId5" Type="http://schemas.openxmlformats.org/officeDocument/2006/relationships/image" Target="../media/image30.png"/><Relationship Id="rId6" Type="http://schemas.openxmlformats.org/officeDocument/2006/relationships/hyperlink" Target="https://quarto.org/docs/get-started/" TargetMode="External"/><Relationship Id="rId7" Type="http://schemas.openxmlformats.org/officeDocument/2006/relationships/image" Target="../media/image31.png"/><Relationship Id="rId8" Type="http://schemas.openxmlformats.org/officeDocument/2006/relationships/hyperlink" Target="https://desktop.github.com" TargetMode="External"/><Relationship Id="rId9"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43.png"/><Relationship Id="rId5"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5.png"/><Relationship Id="rId4" Type="http://schemas.openxmlformats.org/officeDocument/2006/relationships/image" Target="../media/image11.png"/><Relationship Id="rId5" Type="http://schemas.openxmlformats.org/officeDocument/2006/relationships/image" Target="../media/image46.png"/><Relationship Id="rId6"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8.png"/><Relationship Id="rId4" Type="http://schemas.openxmlformats.org/officeDocument/2006/relationships/image" Target="../media/image31.png"/><Relationship Id="rId5" Type="http://schemas.openxmlformats.org/officeDocument/2006/relationships/image" Target="../media/image28.png"/><Relationship Id="rId6"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7.png"/><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6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6.png"/><Relationship Id="rId4" Type="http://schemas.openxmlformats.org/officeDocument/2006/relationships/image" Target="../media/image9.png"/><Relationship Id="rId5" Type="http://schemas.openxmlformats.org/officeDocument/2006/relationships/image" Target="../media/image6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Set-up and registration</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 from zero to a working set-up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Accounts</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Tools</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Repo</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Project</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Check</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AI</a:t>
            </a:r>
          </a:p>
        </p:txBody>
      </p:sp>
      <p:sp>
        <p:nvSpPr>
          <p:cNvPr id="16" name="Plan card 1 body"/>
          <p:cNvSpPr/>
          <p:nvPr/>
        </p:nvSpPr>
        <p:spPr>
          <a:xfrm>
            <a:off x="45720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an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lan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you need</a:t>
            </a:r>
          </a:p>
        </p:txBody>
      </p:sp>
      <p:pic>
        <p:nvPicPr>
          <p:cNvPr id="19" name="Icon Plan card 1" descr=""/>
          <p:cNvPicPr>
            <a:picLocks noChangeAspect="1"/>
          </p:cNvPicPr>
          <p:nvPr/>
        </p:nvPicPr>
        <p:blipFill>
          <a:blip r:embed="rId3"/>
          <a:stretch>
            <a:fillRect/>
          </a:stretch>
        </p:blipFill>
        <p:spPr>
          <a:xfrm>
            <a:off x="2670048" y="2016252"/>
            <a:ext cx="310896" cy="310896"/>
          </a:xfrm>
          <a:prstGeom prst="rect">
            <a:avLst/>
          </a:prstGeom>
        </p:spPr>
      </p:pic>
      <p:sp>
        <p:nvSpPr>
          <p:cNvPr id="20" name="Plan card 1 text"/>
          <p:cNvSpPr txBox="1"/>
          <p:nvPr/>
        </p:nvSpPr>
        <p:spPr>
          <a:xfrm>
            <a:off x="62179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Your laptop and charger</a:t>
            </a:r>
          </a:p>
          <a:p>
            <a:pPr algn="l" marL="182880" indent="-182880">
              <a:spcAft>
                <a:spcPts val="600"/>
              </a:spcAft>
              <a:buClr>
                <a:schemeClr val="accent1"/>
              </a:buClr>
              <a:buFont typeface="Arial"/>
              <a:buChar char="▪"/>
            </a:pPr>
            <a:r>
              <a:rPr sz="1300" b="0" lang="en-GB">
                <a:solidFill>
                  <a:schemeClr val="tx1"/>
                </a:solidFill>
              </a:rPr>
              <a:t>Windows 10/11 or a recent macOS</a:t>
            </a:r>
          </a:p>
          <a:p>
            <a:pPr algn="l" marL="182880" indent="-182880">
              <a:spcAft>
                <a:spcPts val="600"/>
              </a:spcAft>
              <a:buClr>
                <a:schemeClr val="accent1"/>
              </a:buClr>
              <a:buFont typeface="Arial"/>
              <a:buChar char="▪"/>
            </a:pPr>
            <a:r>
              <a:rPr sz="1300" b="0" lang="en-GB">
                <a:solidFill>
                  <a:schemeClr val="tx1"/>
                </a:solidFill>
              </a:rPr>
              <a:t>About 10 GB free disk space</a:t>
            </a:r>
          </a:p>
          <a:p>
            <a:pPr algn="l" marL="182880" indent="-182880">
              <a:spcAft>
                <a:spcPts val="600"/>
              </a:spcAft>
              <a:buClr>
                <a:schemeClr val="accent1"/>
              </a:buClr>
              <a:buFont typeface="Arial"/>
              <a:buChar char="▪"/>
            </a:pPr>
            <a:r>
              <a:rPr sz="1300" b="0" lang="en-GB">
                <a:solidFill>
                  <a:schemeClr val="tx1"/>
                </a:solidFill>
              </a:rPr>
              <a:t>Admin rights to install software</a:t>
            </a:r>
          </a:p>
        </p:txBody>
      </p:sp>
      <p:sp>
        <p:nvSpPr>
          <p:cNvPr id="21" name="Plan card 2 body"/>
          <p:cNvSpPr/>
          <p:nvPr/>
        </p:nvSpPr>
        <p:spPr>
          <a:xfrm>
            <a:off x="324612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n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lan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Have at hand</a:t>
            </a:r>
          </a:p>
        </p:txBody>
      </p:sp>
      <p:pic>
        <p:nvPicPr>
          <p:cNvPr id="24" name="Icon Plan card 2" descr=""/>
          <p:cNvPicPr>
            <a:picLocks noChangeAspect="1"/>
          </p:cNvPicPr>
          <p:nvPr/>
        </p:nvPicPr>
        <p:blipFill>
          <a:blip r:embed="rId4"/>
          <a:stretch>
            <a:fillRect/>
          </a:stretch>
        </p:blipFill>
        <p:spPr>
          <a:xfrm>
            <a:off x="5458968" y="2016252"/>
            <a:ext cx="310896" cy="310896"/>
          </a:xfrm>
          <a:prstGeom prst="rect">
            <a:avLst/>
          </a:prstGeom>
        </p:spPr>
      </p:pic>
      <p:sp>
        <p:nvSpPr>
          <p:cNvPr id="25" name="Plan card 2 text"/>
          <p:cNvSpPr txBox="1"/>
          <p:nvPr/>
        </p:nvSpPr>
        <p:spPr>
          <a:xfrm>
            <a:off x="341071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Your WU e-mail and its password</a:t>
            </a:r>
          </a:p>
          <a:p>
            <a:pPr algn="l" marL="182880" indent="-182880">
              <a:spcAft>
                <a:spcPts val="600"/>
              </a:spcAft>
              <a:buClr>
                <a:schemeClr val="accent1"/>
              </a:buClr>
              <a:buFont typeface="Arial"/>
              <a:buChar char="▪"/>
            </a:pPr>
            <a:r>
              <a:rPr sz="1300" b="0" lang="en-GB">
                <a:solidFill>
                  <a:schemeClr val="tx1"/>
                </a:solidFill>
              </a:rPr>
              <a:t>Your phone, for two-factor sign-in</a:t>
            </a:r>
          </a:p>
          <a:p>
            <a:pPr algn="l" marL="182880" indent="-182880">
              <a:spcAft>
                <a:spcPts val="600"/>
              </a:spcAft>
              <a:buClr>
                <a:schemeClr val="accent1"/>
              </a:buClr>
              <a:buFont typeface="Arial"/>
              <a:buChar char="▪"/>
            </a:pPr>
            <a:r>
              <a:rPr sz="1300" b="0" lang="en-GB">
                <a:solidFill>
                  <a:schemeClr val="tx1"/>
                </a:solidFill>
              </a:rPr>
              <a:t>Your student ID or enrolment confirmation</a:t>
            </a:r>
          </a:p>
        </p:txBody>
      </p:sp>
      <p:sp>
        <p:nvSpPr>
          <p:cNvPr id="26" name="Plan card 3 body"/>
          <p:cNvSpPr/>
          <p:nvPr/>
        </p:nvSpPr>
        <p:spPr>
          <a:xfrm>
            <a:off x="603504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lan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lan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How we work</a:t>
            </a:r>
          </a:p>
        </p:txBody>
      </p:sp>
      <p:pic>
        <p:nvPicPr>
          <p:cNvPr id="29" name="Icon Plan card 3" descr=""/>
          <p:cNvPicPr>
            <a:picLocks noChangeAspect="1"/>
          </p:cNvPicPr>
          <p:nvPr/>
        </p:nvPicPr>
        <p:blipFill>
          <a:blip r:embed="rId5"/>
          <a:stretch>
            <a:fillRect/>
          </a:stretch>
        </p:blipFill>
        <p:spPr>
          <a:xfrm>
            <a:off x="8247888" y="2016252"/>
            <a:ext cx="310896" cy="310896"/>
          </a:xfrm>
          <a:prstGeom prst="rect">
            <a:avLst/>
          </a:prstGeom>
        </p:spPr>
      </p:pic>
      <p:sp>
        <p:nvSpPr>
          <p:cNvPr id="30" name="Plan card 3 text"/>
          <p:cNvSpPr txBox="1"/>
          <p:nvPr/>
        </p:nvSpPr>
        <p:spPr>
          <a:xfrm>
            <a:off x="619963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 step at a time, all together</a:t>
            </a:r>
          </a:p>
          <a:p>
            <a:pPr algn="l" marL="182880" indent="-182880">
              <a:spcAft>
                <a:spcPts val="600"/>
              </a:spcAft>
              <a:buClr>
                <a:schemeClr val="accent1"/>
              </a:buClr>
              <a:buFont typeface="Arial"/>
              <a:buChar char="▪"/>
            </a:pPr>
            <a:r>
              <a:rPr sz="1300" b="0" lang="en-GB">
                <a:solidFill>
                  <a:schemeClr val="tx1"/>
                </a:solidFill>
              </a:rPr>
              <a:t>Check your neighbour's screen</a:t>
            </a:r>
          </a:p>
          <a:p>
            <a:pPr algn="l" marL="182880" indent="-182880">
              <a:spcAft>
                <a:spcPts val="600"/>
              </a:spcAft>
              <a:buClr>
                <a:schemeClr val="accent1"/>
              </a:buClr>
              <a:buFont typeface="Arial"/>
              <a:buChar char="▪"/>
            </a:pPr>
            <a:r>
              <a:rPr sz="1300" b="0" lang="en-GB">
                <a:solidFill>
                  <a:schemeClr val="tx1"/>
                </a:solidFill>
              </a:rPr>
              <a:t>Stuck? Raise your hand, keep going with the next step</a:t>
            </a:r>
          </a:p>
        </p:txBody>
      </p:sp>
      <p:sp>
        <p:nvSpPr>
          <p:cNvPr id="31" name="Goal box"/>
          <p:cNvSpPr/>
          <p:nvPr/>
        </p:nvSpPr>
        <p:spPr>
          <a:xfrm>
            <a:off x="457200" y="43891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Goal" descr=""/>
          <p:cNvPicPr>
            <a:picLocks noChangeAspect="1"/>
          </p:cNvPicPr>
          <p:nvPr/>
        </p:nvPicPr>
        <p:blipFill>
          <a:blip r:embed="rId6"/>
          <a:stretch>
            <a:fillRect/>
          </a:stretch>
        </p:blipFill>
        <p:spPr>
          <a:xfrm>
            <a:off x="658368" y="4539996"/>
            <a:ext cx="384048" cy="384048"/>
          </a:xfrm>
          <a:prstGeom prst="rect">
            <a:avLst/>
          </a:prstGeom>
        </p:spPr>
      </p:pic>
      <p:sp>
        <p:nvSpPr>
          <p:cNvPr id="33" name="Goal text"/>
          <p:cNvSpPr txBox="1"/>
          <p:nvPr/>
        </p:nvSpPr>
        <p:spPr>
          <a:xfrm>
            <a:off x="1234440" y="4389120"/>
            <a:ext cx="726948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Goal: </a:t>
            </a:r>
            <a:r>
              <a:rPr sz="1300" b="0" lang="en-GB">
                <a:solidFill>
                  <a:schemeClr val="bg1"/>
                </a:solidFill>
              </a:rPr>
              <a:t>by the end of today the check script prints “ready” on every laptop.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6 · GitHub, GitHub Education, DataCamp</a:t>
            </a:r>
          </a:p>
        </p:txBody>
      </p:sp>
      <p:sp>
        <p:nvSpPr>
          <p:cNvPr id="3" name="Title 2"/>
          <p:cNvSpPr>
            <a:spLocks noGrp="1"/>
          </p:cNvSpPr>
          <p:nvPr>
            <p:ph type="ctrTitle"/>
          </p:nvPr>
        </p:nvSpPr>
        <p:spPr/>
        <p:txBody>
          <a:bodyPr/>
          <a:lstStyle/>
          <a:p>
            <a:r>
              <a:rPr sz="1600" lang="en-GB"/>
              <a:t>Register your accounts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registrations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bg1"/>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Account 1 tile"/>
          <p:cNvSpPr/>
          <p:nvPr/>
        </p:nvSpPr>
        <p:spPr>
          <a:xfrm>
            <a:off x="457200" y="1783080"/>
            <a:ext cx="2651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Account 1" descr=""/>
          <p:cNvPicPr>
            <a:picLocks noChangeAspect="1"/>
          </p:cNvPicPr>
          <p:nvPr/>
        </p:nvPicPr>
        <p:blipFill>
          <a:blip r:embed="rId3"/>
          <a:stretch>
            <a:fillRect/>
          </a:stretch>
        </p:blipFill>
        <p:spPr>
          <a:xfrm>
            <a:off x="594360" y="1920240"/>
            <a:ext cx="365760" cy="365760"/>
          </a:xfrm>
          <a:prstGeom prst="rect">
            <a:avLst/>
          </a:prstGeom>
        </p:spPr>
      </p:pic>
      <p:sp>
        <p:nvSpPr>
          <p:cNvPr id="18" name="Account 1 text"/>
          <p:cNvSpPr txBox="1"/>
          <p:nvPr/>
        </p:nvSpPr>
        <p:spPr>
          <a:xfrm>
            <a:off x="594360" y="2377440"/>
            <a:ext cx="2377440" cy="1828800"/>
          </a:xfrm>
          <a:prstGeom prst="rect">
            <a:avLst/>
          </a:prstGeom>
          <a:noFill/>
        </p:spPr>
        <p:txBody>
          <a:bodyPr wrap="square" lIns="0" rIns="0" tIns="0" bIns="0" anchor="t">
            <a:noAutofit/>
          </a:bodyPr>
          <a:lstStyle/>
          <a:p>
            <a:pPr algn="l">
              <a:spcAft>
                <a:spcPts val="300"/>
              </a:spcAft>
            </a:pPr>
            <a:r>
              <a:rPr sz="1300" b="1" lang="en-GB">
                <a:solidFill>
                  <a:schemeClr val="tx2"/>
                </a:solidFill>
              </a:rPr>
              <a:t>GitHub</a:t>
            </a:r>
          </a:p>
          <a:p>
            <a:pPr algn="l">
              <a:spcAft>
                <a:spcPts val="300"/>
              </a:spcAft>
            </a:pPr>
            <a:r>
              <a:rPr sz="1300" b="0" lang="en-GB">
                <a:solidFill>
                  <a:schemeClr val="tx1"/>
                </a:solidFill>
              </a:rPr>
              <a:t>Stores code and its history; hosts the course and group repositories</a:t>
            </a:r>
          </a:p>
        </p:txBody>
      </p:sp>
      <p:sp>
        <p:nvSpPr>
          <p:cNvPr id="19" name="Account 1 where"/>
          <p:cNvSpPr txBox="1"/>
          <p:nvPr/>
        </p:nvSpPr>
        <p:spPr>
          <a:xfrm>
            <a:off x="594360" y="3840480"/>
            <a:ext cx="2377440" cy="365760"/>
          </a:xfrm>
          <a:prstGeom prst="rect">
            <a:avLst/>
          </a:prstGeom>
          <a:noFill/>
        </p:spPr>
        <p:txBody>
          <a:bodyPr wrap="square" lIns="0" rIns="0" tIns="0" bIns="0" anchor="b">
            <a:noAutofit/>
          </a:bodyPr>
          <a:lstStyle/>
          <a:p>
            <a:pPr algn="l">
              <a:spcAft>
                <a:spcPts val="400"/>
              </a:spcAft>
            </a:pPr>
            <a:r>
              <a:rPr sz="1200" b="0" lang="en-GB">
                <a:solidFill>
                  <a:schemeClr val="accent1"/>
                </a:solidFill>
                <a:hlinkClick r:id="rId4"/>
              </a:rPr>
              <a:t>github.com/signup</a:t>
            </a:r>
          </a:p>
        </p:txBody>
      </p:sp>
      <p:sp>
        <p:nvSpPr>
          <p:cNvPr id="20" name="Account 2 tile"/>
          <p:cNvSpPr/>
          <p:nvPr/>
        </p:nvSpPr>
        <p:spPr>
          <a:xfrm>
            <a:off x="3246120" y="1783080"/>
            <a:ext cx="2651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Account 2" descr=""/>
          <p:cNvPicPr>
            <a:picLocks noChangeAspect="1"/>
          </p:cNvPicPr>
          <p:nvPr/>
        </p:nvPicPr>
        <p:blipFill>
          <a:blip r:embed="rId5"/>
          <a:stretch>
            <a:fillRect/>
          </a:stretch>
        </p:blipFill>
        <p:spPr>
          <a:xfrm>
            <a:off x="3383280" y="1920240"/>
            <a:ext cx="365760" cy="365760"/>
          </a:xfrm>
          <a:prstGeom prst="rect">
            <a:avLst/>
          </a:prstGeom>
        </p:spPr>
      </p:pic>
      <p:sp>
        <p:nvSpPr>
          <p:cNvPr id="22" name="Account 2 text"/>
          <p:cNvSpPr txBox="1"/>
          <p:nvPr/>
        </p:nvSpPr>
        <p:spPr>
          <a:xfrm>
            <a:off x="3383280" y="2377440"/>
            <a:ext cx="2377440" cy="1828800"/>
          </a:xfrm>
          <a:prstGeom prst="rect">
            <a:avLst/>
          </a:prstGeom>
          <a:noFill/>
        </p:spPr>
        <p:txBody>
          <a:bodyPr wrap="square" lIns="0" rIns="0" tIns="0" bIns="0" anchor="t">
            <a:noAutofit/>
          </a:bodyPr>
          <a:lstStyle/>
          <a:p>
            <a:pPr algn="l">
              <a:spcAft>
                <a:spcPts val="300"/>
              </a:spcAft>
            </a:pPr>
            <a:r>
              <a:rPr sz="1300" b="1" lang="en-GB">
                <a:solidFill>
                  <a:schemeClr val="tx2"/>
                </a:solidFill>
              </a:rPr>
              <a:t>GitHub Education</a:t>
            </a:r>
          </a:p>
          <a:p>
            <a:pPr algn="l">
              <a:spcAft>
                <a:spcPts val="300"/>
              </a:spcAft>
            </a:pPr>
            <a:r>
              <a:rPr sz="1300" b="0" lang="en-GB">
                <a:solidFill>
                  <a:schemeClr val="tx1"/>
                </a:solidFill>
              </a:rPr>
              <a:t>Free student benefits, including GitHub Copilot</a:t>
            </a:r>
          </a:p>
        </p:txBody>
      </p:sp>
      <p:sp>
        <p:nvSpPr>
          <p:cNvPr id="23" name="Account 2 where"/>
          <p:cNvSpPr txBox="1"/>
          <p:nvPr/>
        </p:nvSpPr>
        <p:spPr>
          <a:xfrm>
            <a:off x="3383280" y="3840480"/>
            <a:ext cx="2377440" cy="365760"/>
          </a:xfrm>
          <a:prstGeom prst="rect">
            <a:avLst/>
          </a:prstGeom>
          <a:noFill/>
        </p:spPr>
        <p:txBody>
          <a:bodyPr wrap="square" lIns="0" rIns="0" tIns="0" bIns="0" anchor="b">
            <a:noAutofit/>
          </a:bodyPr>
          <a:lstStyle/>
          <a:p>
            <a:pPr algn="l">
              <a:spcAft>
                <a:spcPts val="400"/>
              </a:spcAft>
            </a:pPr>
            <a:r>
              <a:rPr sz="1200" b="0" lang="en-GB">
                <a:solidFill>
                  <a:schemeClr val="accent1"/>
                </a:solidFill>
                <a:hlinkClick r:id="rId6"/>
              </a:rPr>
              <a:t>education.github.com/pack</a:t>
            </a:r>
          </a:p>
        </p:txBody>
      </p:sp>
      <p:sp>
        <p:nvSpPr>
          <p:cNvPr id="24" name="Account 3 tile"/>
          <p:cNvSpPr/>
          <p:nvPr/>
        </p:nvSpPr>
        <p:spPr>
          <a:xfrm>
            <a:off x="6035040" y="1783080"/>
            <a:ext cx="2651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Account 3" descr=""/>
          <p:cNvPicPr>
            <a:picLocks noChangeAspect="1"/>
          </p:cNvPicPr>
          <p:nvPr/>
        </p:nvPicPr>
        <p:blipFill>
          <a:blip r:embed="rId7"/>
          <a:stretch>
            <a:fillRect/>
          </a:stretch>
        </p:blipFill>
        <p:spPr>
          <a:xfrm>
            <a:off x="6172200" y="1920240"/>
            <a:ext cx="365760" cy="365760"/>
          </a:xfrm>
          <a:prstGeom prst="rect">
            <a:avLst/>
          </a:prstGeom>
        </p:spPr>
      </p:pic>
      <p:sp>
        <p:nvSpPr>
          <p:cNvPr id="26" name="Account 3 text"/>
          <p:cNvSpPr txBox="1"/>
          <p:nvPr/>
        </p:nvSpPr>
        <p:spPr>
          <a:xfrm>
            <a:off x="6172200" y="2377440"/>
            <a:ext cx="2377440" cy="1828800"/>
          </a:xfrm>
          <a:prstGeom prst="rect">
            <a:avLst/>
          </a:prstGeom>
          <a:noFill/>
        </p:spPr>
        <p:txBody>
          <a:bodyPr wrap="square" lIns="0" rIns="0" tIns="0" bIns="0" anchor="t">
            <a:noAutofit/>
          </a:bodyPr>
          <a:lstStyle/>
          <a:p>
            <a:pPr algn="l">
              <a:spcAft>
                <a:spcPts val="300"/>
              </a:spcAft>
            </a:pPr>
            <a:r>
              <a:rPr sz="1300" b="1" lang="en-GB">
                <a:solidFill>
                  <a:schemeClr val="tx2"/>
                </a:solidFill>
              </a:rPr>
              <a:t>DataCamp</a:t>
            </a:r>
          </a:p>
          <a:p>
            <a:pPr algn="l">
              <a:spcAft>
                <a:spcPts val="300"/>
              </a:spcAft>
            </a:pPr>
            <a:r>
              <a:rPr sz="1300" b="0" lang="en-GB">
                <a:solidFill>
                  <a:schemeClr val="tx1"/>
                </a:solidFill>
              </a:rPr>
              <a:t>Online Python courses; four certificates count 20 %</a:t>
            </a:r>
          </a:p>
        </p:txBody>
      </p:sp>
      <p:sp>
        <p:nvSpPr>
          <p:cNvPr id="27" name="Account 3 where"/>
          <p:cNvSpPr txBox="1"/>
          <p:nvPr/>
        </p:nvSpPr>
        <p:spPr>
          <a:xfrm>
            <a:off x="6172200" y="3840480"/>
            <a:ext cx="2377440" cy="365760"/>
          </a:xfrm>
          <a:prstGeom prst="rect">
            <a:avLst/>
          </a:prstGeom>
          <a:noFill/>
        </p:spPr>
        <p:txBody>
          <a:bodyPr wrap="square" lIns="0" rIns="0" tIns="0" bIns="0" anchor="b">
            <a:noAutofit/>
          </a:bodyPr>
          <a:lstStyle/>
          <a:p>
            <a:pPr algn="l">
              <a:spcAft>
                <a:spcPts val="400"/>
              </a:spcAft>
            </a:pPr>
            <a:r>
              <a:rPr sz="1200" b="1" lang="en-GB">
                <a:solidFill>
                  <a:schemeClr val="accent1"/>
                </a:solidFill>
              </a:rPr>
              <a:t>Invitation link on Canvas</a:t>
            </a:r>
          </a:p>
        </p:txBody>
      </p:sp>
      <p:sp>
        <p:nvSpPr>
          <p:cNvPr id="28" name="Email box"/>
          <p:cNvSpPr/>
          <p:nvPr/>
        </p:nvSpPr>
        <p:spPr>
          <a:xfrm>
            <a:off x="457200" y="448056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Email" descr=""/>
          <p:cNvPicPr>
            <a:picLocks noChangeAspect="1"/>
          </p:cNvPicPr>
          <p:nvPr/>
        </p:nvPicPr>
        <p:blipFill>
          <a:blip r:embed="rId8"/>
          <a:stretch>
            <a:fillRect/>
          </a:stretch>
        </p:blipFill>
        <p:spPr>
          <a:xfrm>
            <a:off x="658368" y="4585716"/>
            <a:ext cx="384048" cy="384048"/>
          </a:xfrm>
          <a:prstGeom prst="rect">
            <a:avLst/>
          </a:prstGeom>
        </p:spPr>
      </p:pic>
      <p:sp>
        <p:nvSpPr>
          <p:cNvPr id="30" name="Email text"/>
          <p:cNvSpPr txBox="1"/>
          <p:nvPr/>
        </p:nvSpPr>
        <p:spPr>
          <a:xfrm>
            <a:off x="1234440" y="4480560"/>
            <a:ext cx="7269480" cy="594360"/>
          </a:xfrm>
          <a:prstGeom prst="rect">
            <a:avLst/>
          </a:prstGeom>
          <a:noFill/>
        </p:spPr>
        <p:txBody>
          <a:bodyPr wrap="square" lIns="0" rIns="0" tIns="0" bIns="0" anchor="ctr">
            <a:noAutofit/>
          </a:bodyPr>
          <a:lstStyle/>
          <a:p>
            <a:pPr algn="l">
              <a:spcAft>
                <a:spcPts val="400"/>
              </a:spcAft>
            </a:pPr>
            <a:r>
              <a:rPr sz="1300" b="1" lang="en-GB">
                <a:solidFill>
                  <a:schemeClr val="tx2"/>
                </a:solidFill>
              </a:rPr>
              <a:t>Same e-mail everywhere: </a:t>
            </a:r>
            <a:r>
              <a:rPr sz="1300" b="0" lang="en-GB">
                <a:solidFill>
                  <a:schemeClr val="tx1"/>
                </a:solidFill>
              </a:rPr>
              <a:t>your WU student address unlocks the free plans.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GitHub account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bg1"/>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GitHub steps row 1"/>
          <p:cNvSpPr/>
          <p:nvPr/>
        </p:nvSpPr>
        <p:spPr>
          <a:xfrm>
            <a:off x="457200" y="178308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itHub steps number 1"/>
          <p:cNvSpPr/>
          <p:nvPr/>
        </p:nvSpPr>
        <p:spPr>
          <a:xfrm>
            <a:off x="594360" y="19019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8" name="GitHub steps text 1"/>
          <p:cNvSpPr txBox="1"/>
          <p:nvPr/>
        </p:nvSpPr>
        <p:spPr>
          <a:xfrm>
            <a:off x="1051560" y="1783080"/>
            <a:ext cx="4389120" cy="548640"/>
          </a:xfrm>
          <a:prstGeom prst="rect">
            <a:avLst/>
          </a:prstGeom>
          <a:noFill/>
        </p:spPr>
        <p:txBody>
          <a:bodyPr wrap="square" lIns="0" rIns="0" tIns="0" bIns="0" anchor="ctr">
            <a:noAutofit/>
          </a:bodyPr>
          <a:lstStyle/>
          <a:p>
            <a:pPr algn="l">
              <a:spcAft>
                <a:spcPts val="400"/>
              </a:spcAft>
            </a:pPr>
            <a:r>
              <a:rPr sz="1300" b="0" lang="en-GB">
                <a:solidFill>
                  <a:schemeClr val="tx1"/>
                </a:solidFill>
              </a:rPr>
              <a:t>Open </a:t>
            </a:r>
            <a:r>
              <a:rPr sz="1300" b="0" lang="en-GB">
                <a:solidFill>
                  <a:schemeClr val="accent1"/>
                </a:solidFill>
                <a:hlinkClick r:id="rId3"/>
              </a:rPr>
              <a:t>github.com/signup</a:t>
            </a:r>
          </a:p>
        </p:txBody>
      </p:sp>
      <p:sp>
        <p:nvSpPr>
          <p:cNvPr id="19" name="GitHub steps row 2"/>
          <p:cNvSpPr/>
          <p:nvPr/>
        </p:nvSpPr>
        <p:spPr>
          <a:xfrm>
            <a:off x="457200" y="242316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GitHub steps number 2"/>
          <p:cNvSpPr/>
          <p:nvPr/>
        </p:nvSpPr>
        <p:spPr>
          <a:xfrm>
            <a:off x="594360" y="25420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1" name="GitHub steps text 2"/>
          <p:cNvSpPr txBox="1"/>
          <p:nvPr/>
        </p:nvSpPr>
        <p:spPr>
          <a:xfrm>
            <a:off x="1051560" y="242316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WU e-mail: </a:t>
            </a:r>
            <a:r>
              <a:rPr sz="1300" b="0" lang="en-GB">
                <a:solidFill>
                  <a:schemeClr val="tx1"/>
                </a:solidFill>
              </a:rPr>
              <a:t>sign up with your student address</a:t>
            </a:r>
          </a:p>
        </p:txBody>
      </p:sp>
      <p:sp>
        <p:nvSpPr>
          <p:cNvPr id="22" name="GitHub steps row 3"/>
          <p:cNvSpPr/>
          <p:nvPr/>
        </p:nvSpPr>
        <p:spPr>
          <a:xfrm>
            <a:off x="457200" y="306324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GitHub steps number 3"/>
          <p:cNvSpPr/>
          <p:nvPr/>
        </p:nvSpPr>
        <p:spPr>
          <a:xfrm>
            <a:off x="594360" y="3182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4" name="GitHub steps text 3"/>
          <p:cNvSpPr txBox="1"/>
          <p:nvPr/>
        </p:nvSpPr>
        <p:spPr>
          <a:xfrm>
            <a:off x="1051560" y="306324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Username: </a:t>
            </a:r>
            <a:r>
              <a:rPr sz="1300" b="0" lang="en-GB">
                <a:solidFill>
                  <a:schemeClr val="tx1"/>
                </a:solidFill>
              </a:rPr>
              <a:t>short and professional, e.g. anna-berger</a:t>
            </a:r>
          </a:p>
        </p:txBody>
      </p:sp>
      <p:sp>
        <p:nvSpPr>
          <p:cNvPr id="25" name="GitHub steps row 4"/>
          <p:cNvSpPr/>
          <p:nvPr/>
        </p:nvSpPr>
        <p:spPr>
          <a:xfrm>
            <a:off x="457200" y="370332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GitHub steps number 4"/>
          <p:cNvSpPr/>
          <p:nvPr/>
        </p:nvSpPr>
        <p:spPr>
          <a:xfrm>
            <a:off x="594360" y="382219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7" name="GitHub steps text 4"/>
          <p:cNvSpPr txBox="1"/>
          <p:nvPr/>
        </p:nvSpPr>
        <p:spPr>
          <a:xfrm>
            <a:off x="1051560" y="370332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Verify </a:t>
            </a:r>
            <a:r>
              <a:rPr sz="1300" b="0" lang="en-GB">
                <a:solidFill>
                  <a:schemeClr val="tx1"/>
                </a:solidFill>
              </a:rPr>
              <a:t>the code GitHub sends to your inbox</a:t>
            </a:r>
          </a:p>
        </p:txBody>
      </p:sp>
      <p:sp>
        <p:nvSpPr>
          <p:cNvPr id="28" name="GitHub steps row 5"/>
          <p:cNvSpPr/>
          <p:nvPr/>
        </p:nvSpPr>
        <p:spPr>
          <a:xfrm>
            <a:off x="457200" y="434340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GitHub steps number 5"/>
          <p:cNvSpPr/>
          <p:nvPr/>
        </p:nvSpPr>
        <p:spPr>
          <a:xfrm>
            <a:off x="594360" y="44622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30" name="GitHub steps text 5"/>
          <p:cNvSpPr txBox="1"/>
          <p:nvPr/>
        </p:nvSpPr>
        <p:spPr>
          <a:xfrm>
            <a:off x="1051560" y="434340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Two-factor sign-in: </a:t>
            </a:r>
            <a:r>
              <a:rPr sz="1300" b="0" lang="en-GB">
                <a:solidFill>
                  <a:schemeClr val="tx1"/>
                </a:solidFill>
              </a:rPr>
              <a:t>GitHub Mobile or an authenticator app</a:t>
            </a:r>
          </a:p>
        </p:txBody>
      </p:sp>
      <p:sp>
        <p:nvSpPr>
          <p:cNvPr id="31" name="GitHub why card body"/>
          <p:cNvSpPr/>
          <p:nvPr/>
        </p:nvSpPr>
        <p:spPr>
          <a:xfrm>
            <a:off x="5760720" y="2194560"/>
            <a:ext cx="2926080"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GitHub why card header"/>
          <p:cNvSpPr/>
          <p:nvPr/>
        </p:nvSpPr>
        <p:spPr>
          <a:xfrm>
            <a:off x="5760720" y="1783080"/>
            <a:ext cx="29260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GitHub why card heading"/>
          <p:cNvSpPr txBox="1"/>
          <p:nvPr/>
        </p:nvSpPr>
        <p:spPr>
          <a:xfrm>
            <a:off x="5897880" y="1783080"/>
            <a:ext cx="22402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Why it matters</a:t>
            </a:r>
          </a:p>
        </p:txBody>
      </p:sp>
      <p:pic>
        <p:nvPicPr>
          <p:cNvPr id="34" name="Icon GitHub why card" descr=""/>
          <p:cNvPicPr>
            <a:picLocks noChangeAspect="1"/>
          </p:cNvPicPr>
          <p:nvPr/>
        </p:nvPicPr>
        <p:blipFill>
          <a:blip r:embed="rId4"/>
          <a:stretch>
            <a:fillRect/>
          </a:stretch>
        </p:blipFill>
        <p:spPr>
          <a:xfrm>
            <a:off x="8247888" y="1833372"/>
            <a:ext cx="310896" cy="310896"/>
          </a:xfrm>
          <a:prstGeom prst="rect">
            <a:avLst/>
          </a:prstGeom>
        </p:spPr>
      </p:pic>
      <p:sp>
        <p:nvSpPr>
          <p:cNvPr id="35" name="GitHub why card text"/>
          <p:cNvSpPr txBox="1"/>
          <p:nvPr/>
        </p:nvSpPr>
        <p:spPr>
          <a:xfrm>
            <a:off x="5925312" y="2331720"/>
            <a:ext cx="2624328" cy="2423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Your username appears on every commit you make</a:t>
            </a:r>
          </a:p>
          <a:p>
            <a:pPr algn="l" marL="182880" indent="-182880">
              <a:spcAft>
                <a:spcPts val="600"/>
              </a:spcAft>
              <a:buClr>
                <a:schemeClr val="accent1"/>
              </a:buClr>
              <a:buFont typeface="Arial"/>
              <a:buChar char="▪"/>
            </a:pPr>
            <a:r>
              <a:rPr sz="1300" b="0" lang="en-GB">
                <a:solidFill>
                  <a:schemeClr val="tx1"/>
                </a:solidFill>
              </a:rPr>
              <a:t>A clean GitHub profile is part of your CV</a:t>
            </a:r>
          </a:p>
          <a:p>
            <a:pPr algn="l" marL="182880" indent="-182880">
              <a:spcAft>
                <a:spcPts val="600"/>
              </a:spcAft>
              <a:buClr>
                <a:schemeClr val="accent1"/>
              </a:buClr>
              <a:buFont typeface="Arial"/>
              <a:buChar char="▪"/>
            </a:pPr>
            <a:r>
              <a:rPr sz="1300" b="0" lang="en-GB">
                <a:solidFill>
                  <a:schemeClr val="tx1"/>
                </a:solidFill>
              </a:rPr>
              <a:t>You need it for the group repository of the case study</a:t>
            </a:r>
          </a:p>
          <a:p>
            <a:pPr algn="l" marL="182880" indent="-182880">
              <a:spcAft>
                <a:spcPts val="600"/>
              </a:spcAft>
              <a:buClr>
                <a:schemeClr val="accent1"/>
              </a:buClr>
              <a:buFont typeface="Arial"/>
              <a:buChar char="▪"/>
            </a:pPr>
            <a:r>
              <a:rPr sz="1300" b="0" lang="en-GB">
                <a:solidFill>
                  <a:schemeClr val="tx1"/>
                </a:solidFill>
              </a:rPr>
              <a:t>The free plan is all you need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GitHub Education and Copilot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bg1"/>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Education steps step 1"/>
          <p:cNvSpPr/>
          <p:nvPr/>
        </p:nvSpPr>
        <p:spPr>
          <a:xfrm>
            <a:off x="457200" y="178308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Add WU e-mail</a:t>
            </a:r>
            <a:br/>
            <a:r>
              <a:rPr sz="1200" b="1" lang="en-GB">
                <a:solidFill>
                  <a:schemeClr val="tx2"/>
                </a:solidFill>
              </a:rPr>
              <a:t>to GitHub</a:t>
            </a:r>
          </a:p>
        </p:txBody>
      </p:sp>
      <p:sp>
        <p:nvSpPr>
          <p:cNvPr id="17" name="Education steps step 2"/>
          <p:cNvSpPr/>
          <p:nvPr/>
        </p:nvSpPr>
        <p:spPr>
          <a:xfrm>
            <a:off x="2081174"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Apply for</a:t>
            </a:r>
            <a:br/>
            <a:r>
              <a:rPr sz="1200" b="1" lang="en-GB">
                <a:solidFill>
                  <a:schemeClr val="tx2"/>
                </a:solidFill>
              </a:rPr>
              <a:t>benefits</a:t>
            </a:r>
          </a:p>
        </p:txBody>
      </p:sp>
      <p:sp>
        <p:nvSpPr>
          <p:cNvPr id="18" name="Education steps step 3"/>
          <p:cNvSpPr/>
          <p:nvPr/>
        </p:nvSpPr>
        <p:spPr>
          <a:xfrm>
            <a:off x="3705149"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Upload</a:t>
            </a:r>
            <a:br/>
            <a:r>
              <a:rPr sz="1200" b="1" lang="en-GB">
                <a:solidFill>
                  <a:schemeClr val="tx2"/>
                </a:solidFill>
              </a:rPr>
              <a:t>proof</a:t>
            </a:r>
          </a:p>
        </p:txBody>
      </p:sp>
      <p:sp>
        <p:nvSpPr>
          <p:cNvPr id="19" name="Education steps step 4"/>
          <p:cNvSpPr/>
          <p:nvPr/>
        </p:nvSpPr>
        <p:spPr>
          <a:xfrm>
            <a:off x="5329123"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Wait for</a:t>
            </a:r>
            <a:br/>
            <a:r>
              <a:rPr sz="1200" b="1" lang="en-GB">
                <a:solidFill>
                  <a:schemeClr val="tx2"/>
                </a:solidFill>
              </a:rPr>
              <a:t>approval</a:t>
            </a:r>
          </a:p>
        </p:txBody>
      </p:sp>
      <p:sp>
        <p:nvSpPr>
          <p:cNvPr id="20" name="Education steps step 5"/>
          <p:cNvSpPr/>
          <p:nvPr/>
        </p:nvSpPr>
        <p:spPr>
          <a:xfrm>
            <a:off x="6953098"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Turn on</a:t>
            </a:r>
            <a:br/>
            <a:r>
              <a:rPr sz="1200" b="1" lang="en-GB">
                <a:solidFill>
                  <a:schemeClr val="tx2"/>
                </a:solidFill>
              </a:rPr>
              <a:t>Copilot</a:t>
            </a:r>
          </a:p>
        </p:txBody>
      </p:sp>
      <p:sp>
        <p:nvSpPr>
          <p:cNvPr id="21" name="Apply card body"/>
          <p:cNvSpPr/>
          <p:nvPr/>
        </p:nvSpPr>
        <p:spPr>
          <a:xfrm>
            <a:off x="457200" y="292608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pply card header"/>
          <p:cNvSpPr/>
          <p:nvPr/>
        </p:nvSpPr>
        <p:spPr>
          <a:xfrm>
            <a:off x="457200" y="25146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pply card heading"/>
          <p:cNvSpPr txBox="1"/>
          <p:nvPr/>
        </p:nvSpPr>
        <p:spPr>
          <a:xfrm>
            <a:off x="594360" y="25146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Apply</a:t>
            </a:r>
          </a:p>
        </p:txBody>
      </p:sp>
      <p:pic>
        <p:nvPicPr>
          <p:cNvPr id="24" name="Icon Apply card" descr=""/>
          <p:cNvPicPr>
            <a:picLocks noChangeAspect="1"/>
          </p:cNvPicPr>
          <p:nvPr/>
        </p:nvPicPr>
        <p:blipFill>
          <a:blip r:embed="rId3"/>
          <a:stretch>
            <a:fillRect/>
          </a:stretch>
        </p:blipFill>
        <p:spPr>
          <a:xfrm>
            <a:off x="4064508" y="2564892"/>
            <a:ext cx="310896" cy="310896"/>
          </a:xfrm>
          <a:prstGeom prst="rect">
            <a:avLst/>
          </a:prstGeom>
        </p:spPr>
      </p:pic>
      <p:sp>
        <p:nvSpPr>
          <p:cNvPr id="25" name="Apply card text"/>
          <p:cNvSpPr txBox="1"/>
          <p:nvPr/>
        </p:nvSpPr>
        <p:spPr>
          <a:xfrm>
            <a:off x="621792" y="3063240"/>
            <a:ext cx="374446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Go to </a:t>
            </a:r>
            <a:r>
              <a:rPr sz="1300" b="0" lang="en-GB">
                <a:solidFill>
                  <a:schemeClr val="accent1"/>
                </a:solidFill>
                <a:hlinkClick r:id="rId4"/>
              </a:rPr>
              <a:t>education.github.com/pack</a:t>
            </a:r>
          </a:p>
          <a:p>
            <a:pPr algn="l" marL="182880" indent="-182880">
              <a:spcAft>
                <a:spcPts val="600"/>
              </a:spcAft>
              <a:buClr>
                <a:schemeClr val="accent1"/>
              </a:buClr>
              <a:buFont typeface="Arial"/>
              <a:buChar char="▪"/>
            </a:pPr>
            <a:r>
              <a:rPr sz="1300" b="0" lang="en-GB">
                <a:solidFill>
                  <a:schemeClr val="tx1"/>
                </a:solidFill>
              </a:rPr>
              <a:t>Your WU address must be verified in GitHub's e-mail settings</a:t>
            </a:r>
          </a:p>
          <a:p>
            <a:pPr algn="l" marL="182880" indent="-182880">
              <a:spcAft>
                <a:spcPts val="600"/>
              </a:spcAft>
              <a:buClr>
                <a:schemeClr val="accent1"/>
              </a:buClr>
              <a:buFont typeface="Arial"/>
              <a:buChar char="▪"/>
            </a:pPr>
            <a:r>
              <a:rPr sz="1300" b="0" lang="en-GB">
                <a:solidFill>
                  <a:schemeClr val="tx1"/>
                </a:solidFill>
              </a:rPr>
              <a:t>Proof: a photo of your student ID or enrolment confirmation</a:t>
            </a:r>
          </a:p>
        </p:txBody>
      </p:sp>
      <p:sp>
        <p:nvSpPr>
          <p:cNvPr id="26" name="Approval card body"/>
          <p:cNvSpPr/>
          <p:nvPr/>
        </p:nvSpPr>
        <p:spPr>
          <a:xfrm>
            <a:off x="4640580" y="292608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pproval card header"/>
          <p:cNvSpPr/>
          <p:nvPr/>
        </p:nvSpPr>
        <p:spPr>
          <a:xfrm>
            <a:off x="4640580" y="25146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Approval card heading"/>
          <p:cNvSpPr txBox="1"/>
          <p:nvPr/>
        </p:nvSpPr>
        <p:spPr>
          <a:xfrm>
            <a:off x="4777740" y="25146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After approval</a:t>
            </a:r>
          </a:p>
        </p:txBody>
      </p:sp>
      <p:pic>
        <p:nvPicPr>
          <p:cNvPr id="29" name="Icon Approval card" descr=""/>
          <p:cNvPicPr>
            <a:picLocks noChangeAspect="1"/>
          </p:cNvPicPr>
          <p:nvPr/>
        </p:nvPicPr>
        <p:blipFill>
          <a:blip r:embed="rId5"/>
          <a:stretch>
            <a:fillRect/>
          </a:stretch>
        </p:blipFill>
        <p:spPr>
          <a:xfrm>
            <a:off x="8247888" y="2564892"/>
            <a:ext cx="310896" cy="310896"/>
          </a:xfrm>
          <a:prstGeom prst="rect">
            <a:avLst/>
          </a:prstGeom>
        </p:spPr>
      </p:pic>
      <p:sp>
        <p:nvSpPr>
          <p:cNvPr id="30" name="Approval card text"/>
          <p:cNvSpPr txBox="1"/>
          <p:nvPr/>
        </p:nvSpPr>
        <p:spPr>
          <a:xfrm>
            <a:off x="4805172" y="3063240"/>
            <a:ext cx="374446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Turn on Copilot at </a:t>
            </a:r>
            <a:r>
              <a:rPr sz="1300" b="0" lang="en-GB">
                <a:solidFill>
                  <a:schemeClr val="accent1"/>
                </a:solidFill>
                <a:hlinkClick r:id="rId6"/>
              </a:rPr>
              <a:t>github.com/settings/copilot</a:t>
            </a:r>
          </a:p>
          <a:p>
            <a:pPr algn="l" marL="182880" indent="-182880">
              <a:spcAft>
                <a:spcPts val="600"/>
              </a:spcAft>
              <a:buClr>
                <a:schemeClr val="accent1"/>
              </a:buClr>
              <a:buFont typeface="Arial"/>
              <a:buChar char="▪"/>
            </a:pPr>
            <a:r>
              <a:rPr sz="1300" b="0" lang="en-GB">
                <a:solidFill>
                  <a:schemeClr val="tx1"/>
                </a:solidFill>
              </a:rPr>
              <a:t>Copilot Student is free while you study</a:t>
            </a:r>
          </a:p>
          <a:p>
            <a:pPr algn="l" marL="182880" indent="-182880">
              <a:spcAft>
                <a:spcPts val="600"/>
              </a:spcAft>
              <a:buClr>
                <a:schemeClr val="accent1"/>
              </a:buClr>
              <a:buFont typeface="Arial"/>
              <a:buChar char="▪"/>
            </a:pPr>
            <a:r>
              <a:rPr sz="1300" b="0" lang="en-GB">
                <a:solidFill>
                  <a:schemeClr val="tx1"/>
                </a:solidFill>
              </a:rPr>
              <a:t>Until then, Copilot Free works with monthly limits</a:t>
            </a:r>
          </a:p>
        </p:txBody>
      </p:sp>
      <p:sp>
        <p:nvSpPr>
          <p:cNvPr id="31" name="Education box"/>
          <p:cNvSpPr/>
          <p:nvPr/>
        </p:nvSpPr>
        <p:spPr>
          <a:xfrm>
            <a:off x="457200" y="448056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Education" descr=""/>
          <p:cNvPicPr>
            <a:picLocks noChangeAspect="1"/>
          </p:cNvPicPr>
          <p:nvPr/>
        </p:nvPicPr>
        <p:blipFill>
          <a:blip r:embed="rId7"/>
          <a:stretch>
            <a:fillRect/>
          </a:stretch>
        </p:blipFill>
        <p:spPr>
          <a:xfrm>
            <a:off x="658368" y="4585716"/>
            <a:ext cx="384048" cy="384048"/>
          </a:xfrm>
          <a:prstGeom prst="rect">
            <a:avLst/>
          </a:prstGeom>
        </p:spPr>
      </p:pic>
      <p:sp>
        <p:nvSpPr>
          <p:cNvPr id="33" name="Education text"/>
          <p:cNvSpPr txBox="1"/>
          <p:nvPr/>
        </p:nvSpPr>
        <p:spPr>
          <a:xfrm>
            <a:off x="1234440" y="4480560"/>
            <a:ext cx="7269480" cy="594360"/>
          </a:xfrm>
          <a:prstGeom prst="rect">
            <a:avLst/>
          </a:prstGeom>
          <a:noFill/>
        </p:spPr>
        <p:txBody>
          <a:bodyPr wrap="square" lIns="0" rIns="0" tIns="0" bIns="0" anchor="ctr">
            <a:noAutofit/>
          </a:bodyPr>
          <a:lstStyle/>
          <a:p>
            <a:pPr algn="l">
              <a:spcAft>
                <a:spcPts val="400"/>
              </a:spcAft>
            </a:pPr>
            <a:r>
              <a:rPr sz="1300" b="1" lang="en-GB">
                <a:solidFill>
                  <a:schemeClr val="bg1"/>
                </a:solidFill>
              </a:rPr>
              <a:t>Do this first: </a:t>
            </a:r>
            <a:r>
              <a:rPr sz="1300" b="0" lang="en-GB">
                <a:solidFill>
                  <a:schemeClr val="bg1"/>
                </a:solidFill>
              </a:rPr>
              <a:t>approval can take a few days, so apply today, then carry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DataCamp classroom</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bg1"/>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DataCamp steps row 1"/>
          <p:cNvSpPr/>
          <p:nvPr/>
        </p:nvSpPr>
        <p:spPr>
          <a:xfrm>
            <a:off x="457200" y="178308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ataCamp steps number 1"/>
          <p:cNvSpPr/>
          <p:nvPr/>
        </p:nvSpPr>
        <p:spPr>
          <a:xfrm>
            <a:off x="594360" y="19019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8" name="DataCamp steps text 1"/>
          <p:cNvSpPr txBox="1"/>
          <p:nvPr/>
        </p:nvSpPr>
        <p:spPr>
          <a:xfrm>
            <a:off x="1051560" y="178308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Open </a:t>
            </a:r>
            <a:r>
              <a:rPr sz="1300" b="0" lang="en-GB">
                <a:solidFill>
                  <a:schemeClr val="tx1"/>
                </a:solidFill>
              </a:rPr>
              <a:t>the invitation link on Canvas</a:t>
            </a:r>
          </a:p>
        </p:txBody>
      </p:sp>
      <p:sp>
        <p:nvSpPr>
          <p:cNvPr id="19" name="DataCamp steps row 2"/>
          <p:cNvSpPr/>
          <p:nvPr/>
        </p:nvSpPr>
        <p:spPr>
          <a:xfrm>
            <a:off x="457200" y="242316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ataCamp steps number 2"/>
          <p:cNvSpPr/>
          <p:nvPr/>
        </p:nvSpPr>
        <p:spPr>
          <a:xfrm>
            <a:off x="594360" y="25420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1" name="DataCamp steps text 2"/>
          <p:cNvSpPr txBox="1"/>
          <p:nvPr/>
        </p:nvSpPr>
        <p:spPr>
          <a:xfrm>
            <a:off x="1051560" y="242316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Sign up </a:t>
            </a:r>
            <a:r>
              <a:rPr sz="1300" b="0" lang="en-GB">
                <a:solidFill>
                  <a:schemeClr val="tx1"/>
                </a:solidFill>
              </a:rPr>
              <a:t>with your WU e-mail, or log in</a:t>
            </a:r>
          </a:p>
        </p:txBody>
      </p:sp>
      <p:sp>
        <p:nvSpPr>
          <p:cNvPr id="22" name="DataCamp steps row 3"/>
          <p:cNvSpPr/>
          <p:nvPr/>
        </p:nvSpPr>
        <p:spPr>
          <a:xfrm>
            <a:off x="457200" y="306324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ataCamp steps number 3"/>
          <p:cNvSpPr/>
          <p:nvPr/>
        </p:nvSpPr>
        <p:spPr>
          <a:xfrm>
            <a:off x="594360" y="3182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4" name="DataCamp steps text 3"/>
          <p:cNvSpPr txBox="1"/>
          <p:nvPr/>
        </p:nvSpPr>
        <p:spPr>
          <a:xfrm>
            <a:off x="1051560" y="306324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Join </a:t>
            </a:r>
            <a:r>
              <a:rPr sz="1300" b="0" lang="en-GB">
                <a:solidFill>
                  <a:schemeClr val="tx1"/>
                </a:solidFill>
              </a:rPr>
              <a:t>the classroom International Marketing Analytics</a:t>
            </a:r>
          </a:p>
        </p:txBody>
      </p:sp>
      <p:sp>
        <p:nvSpPr>
          <p:cNvPr id="25" name="DataCamp steps row 4"/>
          <p:cNvSpPr/>
          <p:nvPr/>
        </p:nvSpPr>
        <p:spPr>
          <a:xfrm>
            <a:off x="457200" y="370332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ataCamp steps number 4"/>
          <p:cNvSpPr/>
          <p:nvPr/>
        </p:nvSpPr>
        <p:spPr>
          <a:xfrm>
            <a:off x="594360" y="382219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7" name="DataCamp steps text 4"/>
          <p:cNvSpPr txBox="1"/>
          <p:nvPr/>
        </p:nvSpPr>
        <p:spPr>
          <a:xfrm>
            <a:off x="1051560" y="370332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Find </a:t>
            </a:r>
            <a:r>
              <a:rPr sz="1300" b="0" lang="en-GB">
                <a:solidFill>
                  <a:schemeClr val="tx1"/>
                </a:solidFill>
              </a:rPr>
              <a:t>the four assigned courses under Assignments</a:t>
            </a:r>
          </a:p>
        </p:txBody>
      </p:sp>
      <p:sp>
        <p:nvSpPr>
          <p:cNvPr id="28" name="DataCamp steps row 5"/>
          <p:cNvSpPr/>
          <p:nvPr/>
        </p:nvSpPr>
        <p:spPr>
          <a:xfrm>
            <a:off x="457200" y="4343400"/>
            <a:ext cx="5120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ataCamp steps number 5"/>
          <p:cNvSpPr/>
          <p:nvPr/>
        </p:nvSpPr>
        <p:spPr>
          <a:xfrm>
            <a:off x="594360" y="44622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30" name="DataCamp steps text 5"/>
          <p:cNvSpPr txBox="1"/>
          <p:nvPr/>
        </p:nvSpPr>
        <p:spPr>
          <a:xfrm>
            <a:off x="1051560" y="4343400"/>
            <a:ext cx="438912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Upload </a:t>
            </a:r>
            <a:r>
              <a:rPr sz="1300" b="0" lang="en-GB">
                <a:solidFill>
                  <a:schemeClr val="tx1"/>
                </a:solidFill>
              </a:rPr>
              <a:t>each certificate to Canvas by its deadline</a:t>
            </a:r>
          </a:p>
        </p:txBody>
      </p:sp>
      <p:sp>
        <p:nvSpPr>
          <p:cNvPr id="31" name="DataCamp facts"/>
          <p:cNvSpPr/>
          <p:nvPr/>
        </p:nvSpPr>
        <p:spPr>
          <a:xfrm>
            <a:off x="5760720" y="1783080"/>
            <a:ext cx="2926080" cy="3108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DataCamp bar 1"/>
          <p:cNvSpPr/>
          <p:nvPr/>
        </p:nvSpPr>
        <p:spPr>
          <a:xfrm>
            <a:off x="5897880" y="19202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DataCamp fact 1"/>
          <p:cNvSpPr txBox="1"/>
          <p:nvPr/>
        </p:nvSpPr>
        <p:spPr>
          <a:xfrm>
            <a:off x="6126480" y="1920240"/>
            <a:ext cx="2468880" cy="822960"/>
          </a:xfrm>
          <a:prstGeom prst="rect">
            <a:avLst/>
          </a:prstGeom>
          <a:noFill/>
        </p:spPr>
        <p:txBody>
          <a:bodyPr wrap="square" lIns="0" rIns="0" tIns="0" bIns="0" anchor="ctr">
            <a:noAutofit/>
          </a:bodyPr>
          <a:lstStyle/>
          <a:p>
            <a:pPr algn="l">
              <a:spcAft>
                <a:spcPts val="0"/>
              </a:spcAft>
            </a:pPr>
            <a:r>
              <a:rPr sz="2800" b="1" lang="en-GB">
                <a:solidFill>
                  <a:schemeClr val="tx2"/>
                </a:solidFill>
                <a:latin typeface="+mj-lt"/>
              </a:rPr>
              <a:t>6</a:t>
            </a:r>
          </a:p>
          <a:p>
            <a:pPr algn="l">
              <a:spcAft>
                <a:spcPts val="0"/>
              </a:spcAft>
            </a:pPr>
            <a:r>
              <a:rPr sz="1300" b="0" lang="en-GB">
                <a:solidFill>
                  <a:schemeClr val="tx1"/>
                </a:solidFill>
              </a:rPr>
              <a:t>months free premium access</a:t>
            </a:r>
          </a:p>
        </p:txBody>
      </p:sp>
      <p:sp>
        <p:nvSpPr>
          <p:cNvPr id="34" name="DataCamp bar 2"/>
          <p:cNvSpPr/>
          <p:nvPr/>
        </p:nvSpPr>
        <p:spPr>
          <a:xfrm>
            <a:off x="5897880" y="2898648"/>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DataCamp fact 2"/>
          <p:cNvSpPr txBox="1"/>
          <p:nvPr/>
        </p:nvSpPr>
        <p:spPr>
          <a:xfrm>
            <a:off x="6126480" y="2898648"/>
            <a:ext cx="2468880" cy="822960"/>
          </a:xfrm>
          <a:prstGeom prst="rect">
            <a:avLst/>
          </a:prstGeom>
          <a:noFill/>
        </p:spPr>
        <p:txBody>
          <a:bodyPr wrap="square" lIns="0" rIns="0" tIns="0" bIns="0" anchor="ctr">
            <a:noAutofit/>
          </a:bodyPr>
          <a:lstStyle/>
          <a:p>
            <a:pPr algn="l">
              <a:spcAft>
                <a:spcPts val="0"/>
              </a:spcAft>
            </a:pPr>
            <a:r>
              <a:rPr sz="2800" b="1" lang="en-GB">
                <a:solidFill>
                  <a:schemeClr val="tx2"/>
                </a:solidFill>
                <a:latin typeface="+mj-lt"/>
              </a:rPr>
              <a:t>4</a:t>
            </a:r>
          </a:p>
          <a:p>
            <a:pPr algn="l">
              <a:spcAft>
                <a:spcPts val="0"/>
              </a:spcAft>
            </a:pPr>
            <a:r>
              <a:rPr sz="1300" b="0" lang="en-GB">
                <a:solidFill>
                  <a:schemeClr val="tx1"/>
                </a:solidFill>
              </a:rPr>
              <a:t>courses with certificates</a:t>
            </a:r>
          </a:p>
        </p:txBody>
      </p:sp>
      <p:sp>
        <p:nvSpPr>
          <p:cNvPr id="36" name="DataCamp bar 3"/>
          <p:cNvSpPr/>
          <p:nvPr/>
        </p:nvSpPr>
        <p:spPr>
          <a:xfrm>
            <a:off x="5897880" y="3877056"/>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DataCamp fact 3"/>
          <p:cNvSpPr txBox="1"/>
          <p:nvPr/>
        </p:nvSpPr>
        <p:spPr>
          <a:xfrm>
            <a:off x="6126480" y="3877056"/>
            <a:ext cx="2468880" cy="822960"/>
          </a:xfrm>
          <a:prstGeom prst="rect">
            <a:avLst/>
          </a:prstGeom>
          <a:noFill/>
        </p:spPr>
        <p:txBody>
          <a:bodyPr wrap="square" lIns="0" rIns="0" tIns="0" bIns="0" anchor="ctr">
            <a:noAutofit/>
          </a:bodyPr>
          <a:lstStyle/>
          <a:p>
            <a:pPr algn="l">
              <a:spcAft>
                <a:spcPts val="0"/>
              </a:spcAft>
            </a:pPr>
            <a:r>
              <a:rPr sz="2800" b="1" lang="en-GB">
                <a:solidFill>
                  <a:schemeClr val="tx2"/>
                </a:solidFill>
                <a:latin typeface="+mj-lt"/>
              </a:rPr>
              <a:t>20 %</a:t>
            </a:r>
          </a:p>
          <a:p>
            <a:pPr algn="l">
              <a:spcAft>
                <a:spcPts val="0"/>
              </a:spcAft>
            </a:pPr>
            <a:r>
              <a:rPr sz="1300" b="0" lang="en-GB">
                <a:solidFill>
                  <a:schemeClr val="tx1"/>
                </a:solidFill>
              </a:rPr>
              <a:t>of the final grade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6 · Python, Positron, Quarto, GitHub Desktop, the course repository</a:t>
            </a:r>
          </a:p>
        </p:txBody>
      </p:sp>
      <p:sp>
        <p:nvSpPr>
          <p:cNvPr id="3" name="Title 2"/>
          <p:cNvSpPr>
            <a:spLocks noGrp="1"/>
          </p:cNvSpPr>
          <p:nvPr>
            <p:ph type="ctrTitle"/>
          </p:nvPr>
        </p:nvSpPr>
        <p:spPr/>
        <p:txBody>
          <a:bodyPr/>
          <a:lstStyle/>
          <a:p>
            <a:r>
              <a:rPr sz="1600" lang="en-GB"/>
              <a:t>Install the tools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How the pieces fit together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itHub box"/>
          <p:cNvSpPr/>
          <p:nvPr/>
        </p:nvSpPr>
        <p:spPr>
          <a:xfrm>
            <a:off x="2971800" y="1234440"/>
            <a:ext cx="32004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cloud" descr=""/>
          <p:cNvPicPr>
            <a:picLocks noChangeAspect="1"/>
          </p:cNvPicPr>
          <p:nvPr/>
        </p:nvPicPr>
        <p:blipFill>
          <a:blip r:embed="rId3"/>
          <a:stretch>
            <a:fillRect/>
          </a:stretch>
        </p:blipFill>
        <p:spPr>
          <a:xfrm>
            <a:off x="3108960" y="1307592"/>
            <a:ext cx="402336" cy="402336"/>
          </a:xfrm>
          <a:prstGeom prst="rect">
            <a:avLst/>
          </a:prstGeom>
        </p:spPr>
      </p:pic>
      <p:sp>
        <p:nvSpPr>
          <p:cNvPr id="12" name="GitHub text"/>
          <p:cNvSpPr txBox="1"/>
          <p:nvPr/>
        </p:nvSpPr>
        <p:spPr>
          <a:xfrm>
            <a:off x="3611880" y="1234440"/>
            <a:ext cx="2514600" cy="548640"/>
          </a:xfrm>
          <a:prstGeom prst="rect">
            <a:avLst/>
          </a:prstGeom>
          <a:noFill/>
        </p:spPr>
        <p:txBody>
          <a:bodyPr wrap="square" lIns="0" rIns="0" tIns="0" bIns="0" anchor="ctr">
            <a:noAutofit/>
          </a:bodyPr>
          <a:lstStyle/>
          <a:p>
            <a:pPr algn="l">
              <a:spcAft>
                <a:spcPts val="0"/>
              </a:spcAft>
            </a:pPr>
            <a:r>
              <a:rPr sz="1300" b="1" lang="en-GB">
                <a:solidFill>
                  <a:schemeClr val="bg1"/>
                </a:solidFill>
              </a:rPr>
              <a:t>GitHub.com</a:t>
            </a:r>
          </a:p>
          <a:p>
            <a:pPr algn="l">
              <a:spcAft>
                <a:spcPts val="0"/>
              </a:spcAft>
            </a:pPr>
            <a:r>
              <a:rPr sz="1100" b="0" lang="en-GB">
                <a:solidFill>
                  <a:schemeClr val="bg1"/>
                </a:solidFill>
              </a:rPr>
              <a:t>course and group repositories</a:t>
            </a:r>
          </a:p>
        </p:txBody>
      </p:sp>
      <p:sp>
        <p:nvSpPr>
          <p:cNvPr id="13" name="Sync arrow"/>
          <p:cNvSpPr/>
          <p:nvPr/>
        </p:nvSpPr>
        <p:spPr>
          <a:xfrm>
            <a:off x="4407408" y="1801368"/>
            <a:ext cx="329184" cy="457200"/>
          </a:xfrm>
          <a:prstGeom prst="upDown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aptop area"/>
          <p:cNvSpPr/>
          <p:nvPr/>
        </p:nvSpPr>
        <p:spPr>
          <a:xfrm>
            <a:off x="457200" y="2286000"/>
            <a:ext cx="822960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ptop label"/>
          <p:cNvSpPr txBox="1"/>
          <p:nvPr/>
        </p:nvSpPr>
        <p:spPr>
          <a:xfrm>
            <a:off x="594360" y="2331720"/>
            <a:ext cx="2743200" cy="274320"/>
          </a:xfrm>
          <a:prstGeom prst="rect">
            <a:avLst/>
          </a:prstGeom>
          <a:noFill/>
        </p:spPr>
        <p:txBody>
          <a:bodyPr wrap="square" lIns="0" rIns="0" tIns="0" bIns="0" anchor="t">
            <a:noAutofit/>
          </a:bodyPr>
          <a:lstStyle/>
          <a:p>
            <a:pPr algn="l">
              <a:spcAft>
                <a:spcPts val="400"/>
              </a:spcAft>
            </a:pPr>
            <a:r>
              <a:rPr sz="1200" b="1" lang="en-GB">
                <a:solidFill>
                  <a:schemeClr val="tx2"/>
                </a:solidFill>
              </a:rPr>
              <a:t>Your laptop</a:t>
            </a:r>
          </a:p>
        </p:txBody>
      </p:sp>
      <p:sp>
        <p:nvSpPr>
          <p:cNvPr id="16" name="Laptop box 1"/>
          <p:cNvSpPr/>
          <p:nvPr/>
        </p:nvSpPr>
        <p:spPr>
          <a:xfrm>
            <a:off x="685800" y="269748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laptop 1" descr=""/>
          <p:cNvPicPr>
            <a:picLocks noChangeAspect="1"/>
          </p:cNvPicPr>
          <p:nvPr/>
        </p:nvPicPr>
        <p:blipFill>
          <a:blip r:embed="rId4"/>
          <a:stretch>
            <a:fillRect/>
          </a:stretch>
        </p:blipFill>
        <p:spPr>
          <a:xfrm>
            <a:off x="795528" y="2880360"/>
            <a:ext cx="411480" cy="411480"/>
          </a:xfrm>
          <a:prstGeom prst="rect">
            <a:avLst/>
          </a:prstGeom>
        </p:spPr>
      </p:pic>
      <p:sp>
        <p:nvSpPr>
          <p:cNvPr id="18" name="Laptop text 1"/>
          <p:cNvSpPr txBox="1"/>
          <p:nvPr/>
        </p:nvSpPr>
        <p:spPr>
          <a:xfrm>
            <a:off x="1325880" y="2697480"/>
            <a:ext cx="1645920" cy="777240"/>
          </a:xfrm>
          <a:prstGeom prst="rect">
            <a:avLst/>
          </a:prstGeom>
          <a:noFill/>
        </p:spPr>
        <p:txBody>
          <a:bodyPr wrap="square" lIns="0" rIns="0" tIns="0" bIns="0" anchor="ctr">
            <a:noAutofit/>
          </a:bodyPr>
          <a:lstStyle/>
          <a:p>
            <a:pPr algn="l">
              <a:spcAft>
                <a:spcPts val="0"/>
              </a:spcAft>
            </a:pPr>
            <a:r>
              <a:rPr sz="1300" b="1" lang="en-GB">
                <a:solidFill>
                  <a:schemeClr val="tx2"/>
                </a:solidFill>
              </a:rPr>
              <a:t>GitHub Desktop</a:t>
            </a:r>
          </a:p>
          <a:p>
            <a:pPr algn="l">
              <a:spcAft>
                <a:spcPts val="0"/>
              </a:spcAft>
            </a:pPr>
            <a:r>
              <a:rPr sz="1100" b="0" lang="en-GB">
                <a:solidFill>
                  <a:schemeClr val="tx1"/>
                </a:solidFill>
              </a:rPr>
              <a:t>clone, pull and push</a:t>
            </a:r>
          </a:p>
        </p:txBody>
      </p:sp>
      <p:sp>
        <p:nvSpPr>
          <p:cNvPr id="19" name="Laptop box 2"/>
          <p:cNvSpPr/>
          <p:nvPr/>
        </p:nvSpPr>
        <p:spPr>
          <a:xfrm>
            <a:off x="3383280" y="269748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laptop 2" descr=""/>
          <p:cNvPicPr>
            <a:picLocks noChangeAspect="1"/>
          </p:cNvPicPr>
          <p:nvPr/>
        </p:nvPicPr>
        <p:blipFill>
          <a:blip r:embed="rId5"/>
          <a:stretch>
            <a:fillRect/>
          </a:stretch>
        </p:blipFill>
        <p:spPr>
          <a:xfrm>
            <a:off x="3493008" y="2880360"/>
            <a:ext cx="411480" cy="411480"/>
          </a:xfrm>
          <a:prstGeom prst="rect">
            <a:avLst/>
          </a:prstGeom>
        </p:spPr>
      </p:pic>
      <p:sp>
        <p:nvSpPr>
          <p:cNvPr id="21" name="Laptop text 2"/>
          <p:cNvSpPr txBox="1"/>
          <p:nvPr/>
        </p:nvSpPr>
        <p:spPr>
          <a:xfrm>
            <a:off x="4023360" y="2697480"/>
            <a:ext cx="1645920" cy="777240"/>
          </a:xfrm>
          <a:prstGeom prst="rect">
            <a:avLst/>
          </a:prstGeom>
          <a:noFill/>
        </p:spPr>
        <p:txBody>
          <a:bodyPr wrap="square" lIns="0" rIns="0" tIns="0" bIns="0" anchor="ctr">
            <a:noAutofit/>
          </a:bodyPr>
          <a:lstStyle/>
          <a:p>
            <a:pPr algn="l">
              <a:spcAft>
                <a:spcPts val="0"/>
              </a:spcAft>
            </a:pPr>
            <a:r>
              <a:rPr sz="1300" b="1" lang="en-GB">
                <a:solidFill>
                  <a:schemeClr val="tx2"/>
                </a:solidFill>
              </a:rPr>
              <a:t>Course folder</a:t>
            </a:r>
          </a:p>
          <a:p>
            <a:pPr algn="l">
              <a:spcAft>
                <a:spcPts val="0"/>
              </a:spcAft>
            </a:pPr>
            <a:r>
              <a:rPr sz="1100" b="0" lang="en-GB">
                <a:solidFill>
                  <a:schemeClr val="tx1"/>
                </a:solidFill>
              </a:rPr>
              <a:t>data, code, requirements.txt</a:t>
            </a:r>
          </a:p>
        </p:txBody>
      </p:sp>
      <p:sp>
        <p:nvSpPr>
          <p:cNvPr id="22" name="Laptop box 3"/>
          <p:cNvSpPr/>
          <p:nvPr/>
        </p:nvSpPr>
        <p:spPr>
          <a:xfrm>
            <a:off x="6080760" y="269748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laptop 3" descr=""/>
          <p:cNvPicPr>
            <a:picLocks noChangeAspect="1"/>
          </p:cNvPicPr>
          <p:nvPr/>
        </p:nvPicPr>
        <p:blipFill>
          <a:blip r:embed="rId6"/>
          <a:stretch>
            <a:fillRect/>
          </a:stretch>
        </p:blipFill>
        <p:spPr>
          <a:xfrm>
            <a:off x="6190488" y="2880360"/>
            <a:ext cx="411480" cy="411480"/>
          </a:xfrm>
          <a:prstGeom prst="rect">
            <a:avLst/>
          </a:prstGeom>
        </p:spPr>
      </p:pic>
      <p:sp>
        <p:nvSpPr>
          <p:cNvPr id="24" name="Laptop text 3"/>
          <p:cNvSpPr txBox="1"/>
          <p:nvPr/>
        </p:nvSpPr>
        <p:spPr>
          <a:xfrm>
            <a:off x="6720840" y="2697480"/>
            <a:ext cx="1645920" cy="777240"/>
          </a:xfrm>
          <a:prstGeom prst="rect">
            <a:avLst/>
          </a:prstGeom>
          <a:noFill/>
        </p:spPr>
        <p:txBody>
          <a:bodyPr wrap="square" lIns="0" rIns="0" tIns="0" bIns="0" anchor="ctr">
            <a:noAutofit/>
          </a:bodyPr>
          <a:lstStyle/>
          <a:p>
            <a:pPr algn="l">
              <a:spcAft>
                <a:spcPts val="0"/>
              </a:spcAft>
            </a:pPr>
            <a:r>
              <a:rPr sz="1300" b="1" lang="en-GB">
                <a:solidFill>
                  <a:schemeClr val="tx2"/>
                </a:solidFill>
              </a:rPr>
              <a:t>Positron</a:t>
            </a:r>
          </a:p>
          <a:p>
            <a:pPr algn="l">
              <a:spcAft>
                <a:spcPts val="0"/>
              </a:spcAft>
            </a:pPr>
            <a:r>
              <a:rPr sz="1100" b="0" lang="en-GB">
                <a:solidFill>
                  <a:schemeClr val="tx1"/>
                </a:solidFill>
              </a:rPr>
              <a:t>where you write and run code</a:t>
            </a:r>
          </a:p>
        </p:txBody>
      </p:sp>
      <p:sp>
        <p:nvSpPr>
          <p:cNvPr id="25" name="Laptop arrow 1"/>
          <p:cNvSpPr txBox="1"/>
          <p:nvPr/>
        </p:nvSpPr>
        <p:spPr>
          <a:xfrm>
            <a:off x="3063240" y="2697480"/>
            <a:ext cx="320040" cy="777240"/>
          </a:xfrm>
          <a:prstGeom prst="rect">
            <a:avLst/>
          </a:prstGeom>
          <a:noFill/>
        </p:spPr>
        <p:txBody>
          <a:bodyPr wrap="square" lIns="0" rIns="0" tIns="0" bIns="0" anchor="ctr">
            <a:noAutofit/>
          </a:bodyPr>
          <a:lstStyle/>
          <a:p>
            <a:pPr algn="ctr">
              <a:spcAft>
                <a:spcPts val="400"/>
              </a:spcAft>
            </a:pPr>
            <a:r>
              <a:rPr sz="2200" b="1" lang="en-GB">
                <a:solidFill>
                  <a:schemeClr val="accent1"/>
                </a:solidFill>
              </a:rPr>
              <a:t>↔</a:t>
            </a:r>
          </a:p>
        </p:txBody>
      </p:sp>
      <p:sp>
        <p:nvSpPr>
          <p:cNvPr id="26" name="Laptop arrow 2"/>
          <p:cNvSpPr txBox="1"/>
          <p:nvPr/>
        </p:nvSpPr>
        <p:spPr>
          <a:xfrm>
            <a:off x="5760720" y="2697480"/>
            <a:ext cx="320040" cy="777240"/>
          </a:xfrm>
          <a:prstGeom prst="rect">
            <a:avLst/>
          </a:prstGeom>
          <a:noFill/>
        </p:spPr>
        <p:txBody>
          <a:bodyPr wrap="square" lIns="0" rIns="0" tIns="0" bIns="0" anchor="ctr">
            <a:noAutofit/>
          </a:bodyPr>
          <a:lstStyle/>
          <a:p>
            <a:pPr algn="ctr">
              <a:spcAft>
                <a:spcPts val="400"/>
              </a:spcAft>
            </a:pPr>
            <a:r>
              <a:rPr sz="2200" b="1" lang="en-GB">
                <a:solidFill>
                  <a:schemeClr val="accent1"/>
                </a:solidFill>
              </a:rPr>
              <a:t>↔</a:t>
            </a:r>
          </a:p>
        </p:txBody>
      </p:sp>
      <p:sp>
        <p:nvSpPr>
          <p:cNvPr id="27" name="Inside label"/>
          <p:cNvSpPr txBox="1"/>
          <p:nvPr/>
        </p:nvSpPr>
        <p:spPr>
          <a:xfrm>
            <a:off x="685800" y="3611880"/>
            <a:ext cx="7772400" cy="274320"/>
          </a:xfrm>
          <a:prstGeom prst="rect">
            <a:avLst/>
          </a:prstGeom>
          <a:noFill/>
        </p:spPr>
        <p:txBody>
          <a:bodyPr wrap="square" lIns="0" rIns="0" tIns="0" bIns="0" anchor="t">
            <a:noAutofit/>
          </a:bodyPr>
          <a:lstStyle/>
          <a:p>
            <a:pPr algn="l">
              <a:spcAft>
                <a:spcPts val="400"/>
              </a:spcAft>
            </a:pPr>
            <a:r>
              <a:rPr sz="1200" b="1" lang="en-GB">
                <a:solidFill>
                  <a:schemeClr val="tx2"/>
                </a:solidFill>
              </a:rPr>
              <a:t>Inside Positron you use</a:t>
            </a:r>
          </a:p>
        </p:txBody>
      </p:sp>
      <p:sp>
        <p:nvSpPr>
          <p:cNvPr id="28" name="Inside box 1"/>
          <p:cNvSpPr/>
          <p:nvPr/>
        </p:nvSpPr>
        <p:spPr>
          <a:xfrm>
            <a:off x="685800" y="3931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inside 1" descr=""/>
          <p:cNvPicPr>
            <a:picLocks noChangeAspect="1"/>
          </p:cNvPicPr>
          <p:nvPr/>
        </p:nvPicPr>
        <p:blipFill>
          <a:blip r:embed="rId7"/>
          <a:stretch>
            <a:fillRect/>
          </a:stretch>
        </p:blipFill>
        <p:spPr>
          <a:xfrm>
            <a:off x="795528" y="4114800"/>
            <a:ext cx="411480" cy="411480"/>
          </a:xfrm>
          <a:prstGeom prst="rect">
            <a:avLst/>
          </a:prstGeom>
        </p:spPr>
      </p:pic>
      <p:sp>
        <p:nvSpPr>
          <p:cNvPr id="30" name="Inside text 1"/>
          <p:cNvSpPr txBox="1"/>
          <p:nvPr/>
        </p:nvSpPr>
        <p:spPr>
          <a:xfrm>
            <a:off x="1325880" y="3931920"/>
            <a:ext cx="1645920" cy="777240"/>
          </a:xfrm>
          <a:prstGeom prst="rect">
            <a:avLst/>
          </a:prstGeom>
          <a:noFill/>
        </p:spPr>
        <p:txBody>
          <a:bodyPr wrap="square" lIns="0" rIns="0" tIns="0" bIns="0" anchor="ctr">
            <a:noAutofit/>
          </a:bodyPr>
          <a:lstStyle/>
          <a:p>
            <a:pPr algn="l">
              <a:spcAft>
                <a:spcPts val="0"/>
              </a:spcAft>
            </a:pPr>
            <a:r>
              <a:rPr sz="1300" b="1" lang="en-GB">
                <a:solidFill>
                  <a:schemeClr val="tx2"/>
                </a:solidFill>
              </a:rPr>
              <a:t>Python + packages</a:t>
            </a:r>
          </a:p>
          <a:p>
            <a:pPr algn="l">
              <a:spcAft>
                <a:spcPts val="0"/>
              </a:spcAft>
            </a:pPr>
            <a:r>
              <a:rPr sz="1100" b="0" lang="en-GB">
                <a:solidFill>
                  <a:schemeClr val="tx1"/>
                </a:solidFill>
              </a:rPr>
              <a:t>in a private .venv folder</a:t>
            </a:r>
          </a:p>
        </p:txBody>
      </p:sp>
      <p:sp>
        <p:nvSpPr>
          <p:cNvPr id="31" name="Inside box 2"/>
          <p:cNvSpPr/>
          <p:nvPr/>
        </p:nvSpPr>
        <p:spPr>
          <a:xfrm>
            <a:off x="3383280" y="3931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inside 2" descr=""/>
          <p:cNvPicPr>
            <a:picLocks noChangeAspect="1"/>
          </p:cNvPicPr>
          <p:nvPr/>
        </p:nvPicPr>
        <p:blipFill>
          <a:blip r:embed="rId8"/>
          <a:stretch>
            <a:fillRect/>
          </a:stretch>
        </p:blipFill>
        <p:spPr>
          <a:xfrm>
            <a:off x="3493008" y="4114800"/>
            <a:ext cx="411480" cy="411480"/>
          </a:xfrm>
          <a:prstGeom prst="rect">
            <a:avLst/>
          </a:prstGeom>
        </p:spPr>
      </p:pic>
      <p:sp>
        <p:nvSpPr>
          <p:cNvPr id="33" name="Inside text 2"/>
          <p:cNvSpPr txBox="1"/>
          <p:nvPr/>
        </p:nvSpPr>
        <p:spPr>
          <a:xfrm>
            <a:off x="4023360" y="3931920"/>
            <a:ext cx="1645920" cy="777240"/>
          </a:xfrm>
          <a:prstGeom prst="rect">
            <a:avLst/>
          </a:prstGeom>
          <a:noFill/>
        </p:spPr>
        <p:txBody>
          <a:bodyPr wrap="square" lIns="0" rIns="0" tIns="0" bIns="0" anchor="ctr">
            <a:noAutofit/>
          </a:bodyPr>
          <a:lstStyle/>
          <a:p>
            <a:pPr algn="l">
              <a:spcAft>
                <a:spcPts val="0"/>
              </a:spcAft>
            </a:pPr>
            <a:r>
              <a:rPr sz="1300" b="1" lang="en-GB">
                <a:solidFill>
                  <a:schemeClr val="tx2"/>
                </a:solidFill>
              </a:rPr>
              <a:t>Quarto</a:t>
            </a:r>
          </a:p>
          <a:p>
            <a:pPr algn="l">
              <a:spcAft>
                <a:spcPts val="0"/>
              </a:spcAft>
            </a:pPr>
            <a:r>
              <a:rPr sz="1100" b="0" lang="en-GB">
                <a:solidFill>
                  <a:schemeClr val="tx1"/>
                </a:solidFill>
              </a:rPr>
              <a:t>turns .qmd files into reports</a:t>
            </a:r>
          </a:p>
        </p:txBody>
      </p:sp>
      <p:sp>
        <p:nvSpPr>
          <p:cNvPr id="34" name="Inside box 3"/>
          <p:cNvSpPr/>
          <p:nvPr/>
        </p:nvSpPr>
        <p:spPr>
          <a:xfrm>
            <a:off x="6080760" y="3931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inside 3" descr=""/>
          <p:cNvPicPr>
            <a:picLocks noChangeAspect="1"/>
          </p:cNvPicPr>
          <p:nvPr/>
        </p:nvPicPr>
        <p:blipFill>
          <a:blip r:embed="rId9"/>
          <a:stretch>
            <a:fillRect/>
          </a:stretch>
        </p:blipFill>
        <p:spPr>
          <a:xfrm>
            <a:off x="6190488" y="4114800"/>
            <a:ext cx="411480" cy="411480"/>
          </a:xfrm>
          <a:prstGeom prst="rect">
            <a:avLst/>
          </a:prstGeom>
        </p:spPr>
      </p:pic>
      <p:sp>
        <p:nvSpPr>
          <p:cNvPr id="36" name="Inside text 3"/>
          <p:cNvSpPr txBox="1"/>
          <p:nvPr/>
        </p:nvSpPr>
        <p:spPr>
          <a:xfrm>
            <a:off x="6720840" y="3931920"/>
            <a:ext cx="1645920" cy="777240"/>
          </a:xfrm>
          <a:prstGeom prst="rect">
            <a:avLst/>
          </a:prstGeom>
          <a:noFill/>
        </p:spPr>
        <p:txBody>
          <a:bodyPr wrap="square" lIns="0" rIns="0" tIns="0" bIns="0" anchor="ctr">
            <a:noAutofit/>
          </a:bodyPr>
          <a:lstStyle/>
          <a:p>
            <a:pPr algn="l">
              <a:spcAft>
                <a:spcPts val="0"/>
              </a:spcAft>
            </a:pPr>
            <a:r>
              <a:rPr sz="1300" b="1" lang="en-GB">
                <a:solidFill>
                  <a:schemeClr val="tx2"/>
                </a:solidFill>
              </a:rPr>
              <a:t>AI assistant</a:t>
            </a:r>
          </a:p>
          <a:p>
            <a:pPr algn="l">
              <a:spcAft>
                <a:spcPts val="0"/>
              </a:spcAft>
            </a:pPr>
            <a:r>
              <a:rPr sz="1100" b="0" lang="en-GB">
                <a:solidFill>
                  <a:schemeClr val="tx1"/>
                </a:solidFill>
              </a:rPr>
              <a:t>writes and explains 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install Python 3.14.8</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Accounts</a:t>
            </a:r>
          </a:p>
        </p:txBody>
      </p:sp>
      <p:sp>
        <p:nvSpPr>
          <p:cNvPr id="11" name="Progress step 2"/>
          <p:cNvSpPr/>
          <p:nvPr/>
        </p:nvSpPr>
        <p:spPr>
          <a:xfrm>
            <a:off x="1810512" y="1188720"/>
            <a:ext cx="1463040" cy="384048"/>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Windows card body"/>
          <p:cNvSpPr/>
          <p:nvPr/>
        </p:nvSpPr>
        <p:spPr>
          <a:xfrm>
            <a:off x="457200" y="2194560"/>
            <a:ext cx="404622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Windows card header"/>
          <p:cNvSpPr/>
          <p:nvPr/>
        </p:nvSpPr>
        <p:spPr>
          <a:xfrm>
            <a:off x="457200" y="17830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Windows card heading"/>
          <p:cNvSpPr txBox="1"/>
          <p:nvPr/>
        </p:nvSpPr>
        <p:spPr>
          <a:xfrm>
            <a:off x="594360" y="178308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Windows</a:t>
            </a:r>
          </a:p>
        </p:txBody>
      </p:sp>
      <p:pic>
        <p:nvPicPr>
          <p:cNvPr id="19" name="Icon Windows card" descr=""/>
          <p:cNvPicPr>
            <a:picLocks noChangeAspect="1"/>
          </p:cNvPicPr>
          <p:nvPr/>
        </p:nvPicPr>
        <p:blipFill>
          <a:blip r:embed="rId3"/>
          <a:stretch>
            <a:fillRect/>
          </a:stretch>
        </p:blipFill>
        <p:spPr>
          <a:xfrm>
            <a:off x="4064508" y="1833372"/>
            <a:ext cx="310896" cy="310896"/>
          </a:xfrm>
          <a:prstGeom prst="rect">
            <a:avLst/>
          </a:prstGeom>
        </p:spPr>
      </p:pic>
      <p:sp>
        <p:nvSpPr>
          <p:cNvPr id="20" name="Windows card text"/>
          <p:cNvSpPr txBox="1"/>
          <p:nvPr/>
        </p:nvSpPr>
        <p:spPr>
          <a:xfrm>
            <a:off x="621792" y="2331720"/>
            <a:ext cx="3744468" cy="1188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Download: </a:t>
            </a:r>
            <a:r>
              <a:rPr sz="1300" b="0" lang="en-GB">
                <a:solidFill>
                  <a:schemeClr val="tx1"/>
                </a:solidFill>
              </a:rPr>
              <a:t>Python install manager</a:t>
            </a:r>
          </a:p>
          <a:p>
            <a:pPr algn="l" marL="182880" indent="-182880">
              <a:spcAft>
                <a:spcPts val="600"/>
              </a:spcAft>
              <a:buClr>
                <a:schemeClr val="accent1"/>
              </a:buClr>
              <a:buFont typeface="Arial"/>
              <a:buChar char="▪"/>
            </a:pPr>
            <a:r>
              <a:rPr sz="1300" b="0" lang="en-GB">
                <a:solidFill>
                  <a:schemeClr val="tx1"/>
                </a:solidFill>
              </a:rPr>
              <a:t>Install it with a double-click</a:t>
            </a:r>
          </a:p>
          <a:p>
            <a:pPr algn="l" marL="182880" indent="-182880">
              <a:spcAft>
                <a:spcPts val="600"/>
              </a:spcAft>
              <a:buClr>
                <a:schemeClr val="accent1"/>
              </a:buClr>
              <a:buFont typeface="Arial"/>
              <a:buChar char="▪"/>
            </a:pPr>
            <a:r>
              <a:rPr sz="1300" b="0" lang="en-GB">
                <a:solidFill>
                  <a:schemeClr val="tx1"/>
                </a:solidFill>
              </a:rPr>
              <a:t>Start menu → Terminal: py install 3.14</a:t>
            </a:r>
          </a:p>
        </p:txBody>
      </p:sp>
      <p:sp>
        <p:nvSpPr>
          <p:cNvPr id="21" name="Windows check box"/>
          <p:cNvSpPr/>
          <p:nvPr/>
        </p:nvSpPr>
        <p:spPr>
          <a:xfrm>
            <a:off x="457200" y="3749040"/>
            <a:ext cx="4046220" cy="56692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indows check code"/>
          <p:cNvSpPr txBox="1"/>
          <p:nvPr/>
        </p:nvSpPr>
        <p:spPr>
          <a:xfrm>
            <a:off x="594360" y="3840480"/>
            <a:ext cx="3771900" cy="384048"/>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py -3.14 --version</a:t>
            </a:r>
          </a:p>
        </p:txBody>
      </p:sp>
      <p:sp>
        <p:nvSpPr>
          <p:cNvPr id="23" name="macOS card body"/>
          <p:cNvSpPr/>
          <p:nvPr/>
        </p:nvSpPr>
        <p:spPr>
          <a:xfrm>
            <a:off x="4640580" y="2194560"/>
            <a:ext cx="404622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macOS card header"/>
          <p:cNvSpPr/>
          <p:nvPr/>
        </p:nvSpPr>
        <p:spPr>
          <a:xfrm>
            <a:off x="4640580" y="17830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acOS card heading"/>
          <p:cNvSpPr txBox="1"/>
          <p:nvPr/>
        </p:nvSpPr>
        <p:spPr>
          <a:xfrm>
            <a:off x="4777740" y="178308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macOS</a:t>
            </a:r>
          </a:p>
        </p:txBody>
      </p:sp>
      <p:pic>
        <p:nvPicPr>
          <p:cNvPr id="26" name="Icon macOS card" descr=""/>
          <p:cNvPicPr>
            <a:picLocks noChangeAspect="1"/>
          </p:cNvPicPr>
          <p:nvPr/>
        </p:nvPicPr>
        <p:blipFill>
          <a:blip r:embed="rId4"/>
          <a:stretch>
            <a:fillRect/>
          </a:stretch>
        </p:blipFill>
        <p:spPr>
          <a:xfrm>
            <a:off x="8247888" y="1833372"/>
            <a:ext cx="310896" cy="310896"/>
          </a:xfrm>
          <a:prstGeom prst="rect">
            <a:avLst/>
          </a:prstGeom>
        </p:spPr>
      </p:pic>
      <p:sp>
        <p:nvSpPr>
          <p:cNvPr id="27" name="macOS card text"/>
          <p:cNvSpPr txBox="1"/>
          <p:nvPr/>
        </p:nvSpPr>
        <p:spPr>
          <a:xfrm>
            <a:off x="4805172" y="2331720"/>
            <a:ext cx="3744468" cy="1188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Download: </a:t>
            </a:r>
            <a:r>
              <a:rPr sz="1300" b="0" lang="en-GB">
                <a:solidFill>
                  <a:schemeClr val="tx1"/>
                </a:solidFill>
              </a:rPr>
              <a:t>macOS installer (Python 3.14.8)</a:t>
            </a:r>
          </a:p>
          <a:p>
            <a:pPr algn="l" marL="182880" indent="-182880">
              <a:spcAft>
                <a:spcPts val="600"/>
              </a:spcAft>
              <a:buClr>
                <a:schemeClr val="accent1"/>
              </a:buClr>
              <a:buFont typeface="Arial"/>
              <a:buChar char="▪"/>
            </a:pPr>
            <a:r>
              <a:rPr sz="1300" b="0" lang="en-GB">
                <a:solidFill>
                  <a:schemeClr val="tx1"/>
                </a:solidFill>
              </a:rPr>
              <a:t>Open the .pkg and click through</a:t>
            </a:r>
          </a:p>
          <a:p>
            <a:pPr algn="l" marL="182880" indent="-182880">
              <a:spcAft>
                <a:spcPts val="600"/>
              </a:spcAft>
              <a:buClr>
                <a:schemeClr val="accent1"/>
              </a:buClr>
              <a:buFont typeface="Arial"/>
              <a:buChar char="▪"/>
            </a:pPr>
            <a:r>
              <a:rPr sz="1300" b="0" lang="en-GB">
                <a:solidFill>
                  <a:schemeClr val="tx1"/>
                </a:solidFill>
              </a:rPr>
              <a:t>Apple silicon and Intel</a:t>
            </a:r>
          </a:p>
        </p:txBody>
      </p:sp>
      <p:sp>
        <p:nvSpPr>
          <p:cNvPr id="28" name="macOS check box"/>
          <p:cNvSpPr/>
          <p:nvPr/>
        </p:nvSpPr>
        <p:spPr>
          <a:xfrm>
            <a:off x="4640580" y="3749040"/>
            <a:ext cx="4046220" cy="56692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acOS check code"/>
          <p:cNvSpPr txBox="1"/>
          <p:nvPr/>
        </p:nvSpPr>
        <p:spPr>
          <a:xfrm>
            <a:off x="4777740" y="3840480"/>
            <a:ext cx="3771900" cy="384048"/>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python3.14 --version</a:t>
            </a:r>
          </a:p>
        </p:txBody>
      </p:sp>
      <p:sp>
        <p:nvSpPr>
          <p:cNvPr id="30" name="Python link box"/>
          <p:cNvSpPr/>
          <p:nvPr/>
        </p:nvSpPr>
        <p:spPr>
          <a:xfrm>
            <a:off x="457200" y="4453128"/>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download" descr=""/>
          <p:cNvPicPr>
            <a:picLocks noChangeAspect="1"/>
          </p:cNvPicPr>
          <p:nvPr/>
        </p:nvPicPr>
        <p:blipFill>
          <a:blip r:embed="rId5"/>
          <a:stretch>
            <a:fillRect/>
          </a:stretch>
        </p:blipFill>
        <p:spPr>
          <a:xfrm>
            <a:off x="658368" y="4562856"/>
            <a:ext cx="384048" cy="384048"/>
          </a:xfrm>
          <a:prstGeom prst="rect">
            <a:avLst/>
          </a:prstGeom>
        </p:spPr>
      </p:pic>
      <p:sp>
        <p:nvSpPr>
          <p:cNvPr id="32" name="Python link text"/>
          <p:cNvSpPr txBox="1"/>
          <p:nvPr/>
        </p:nvSpPr>
        <p:spPr>
          <a:xfrm>
            <a:off x="1234440" y="4453128"/>
            <a:ext cx="7315200" cy="621792"/>
          </a:xfrm>
          <a:prstGeom prst="rect">
            <a:avLst/>
          </a:prstGeom>
          <a:noFill/>
        </p:spPr>
        <p:txBody>
          <a:bodyPr wrap="square" lIns="0" rIns="0" tIns="0" bIns="0" anchor="ctr">
            <a:noAutofit/>
          </a:bodyPr>
          <a:lstStyle/>
          <a:p>
            <a:pPr algn="l">
              <a:spcAft>
                <a:spcPts val="0"/>
              </a:spcAft>
            </a:pPr>
            <a:r>
              <a:rPr sz="1300" b="1" lang="en-GB">
                <a:solidFill>
                  <a:schemeClr val="tx2"/>
                </a:solidFill>
              </a:rPr>
              <a:t>Both downloads: </a:t>
            </a:r>
            <a:r>
              <a:rPr sz="1300" b="0" lang="en-GB">
                <a:solidFill>
                  <a:schemeClr val="accent1"/>
                </a:solidFill>
                <a:hlinkClick r:id="rId6"/>
              </a:rPr>
              <a:t>python.org/downloads</a:t>
            </a:r>
          </a:p>
          <a:p>
            <a:pPr algn="l">
              <a:spcAft>
                <a:spcPts val="0"/>
              </a:spcAft>
            </a:pPr>
            <a:r>
              <a:rPr sz="1200" b="0" lang="en-GB">
                <a:solidFill>
                  <a:schemeClr val="tx1"/>
                </a:solidFill>
              </a:rPr>
              <a:t>Or let Positron install it: Command Palette → Python: Install Python via uv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install Positron, Quarto and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Accounts</a:t>
            </a:r>
          </a:p>
        </p:txBody>
      </p:sp>
      <p:sp>
        <p:nvSpPr>
          <p:cNvPr id="11" name="Progress step 2"/>
          <p:cNvSpPr/>
          <p:nvPr/>
        </p:nvSpPr>
        <p:spPr>
          <a:xfrm>
            <a:off x="1810512" y="1188720"/>
            <a:ext cx="1463040" cy="384048"/>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Tool card 1 body"/>
          <p:cNvSpPr/>
          <p:nvPr/>
        </p:nvSpPr>
        <p:spPr>
          <a:xfrm>
            <a:off x="457200" y="2194560"/>
            <a:ext cx="2651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ool card 1 header"/>
          <p:cNvSpPr/>
          <p:nvPr/>
        </p:nvSpPr>
        <p:spPr>
          <a:xfrm>
            <a:off x="457200" y="17830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ool card 1 heading"/>
          <p:cNvSpPr txBox="1"/>
          <p:nvPr/>
        </p:nvSpPr>
        <p:spPr>
          <a:xfrm>
            <a:off x="594360" y="17830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Positron</a:t>
            </a:r>
          </a:p>
        </p:txBody>
      </p:sp>
      <p:pic>
        <p:nvPicPr>
          <p:cNvPr id="19" name="Icon Tool card 1" descr=""/>
          <p:cNvPicPr>
            <a:picLocks noChangeAspect="1"/>
          </p:cNvPicPr>
          <p:nvPr/>
        </p:nvPicPr>
        <p:blipFill>
          <a:blip r:embed="rId3"/>
          <a:stretch>
            <a:fillRect/>
          </a:stretch>
        </p:blipFill>
        <p:spPr>
          <a:xfrm>
            <a:off x="2670048" y="1833372"/>
            <a:ext cx="310896" cy="310896"/>
          </a:xfrm>
          <a:prstGeom prst="rect">
            <a:avLst/>
          </a:prstGeom>
        </p:spPr>
      </p:pic>
      <p:sp>
        <p:nvSpPr>
          <p:cNvPr id="20" name="Tool card 1 text"/>
          <p:cNvSpPr txBox="1"/>
          <p:nvPr/>
        </p:nvSpPr>
        <p:spPr>
          <a:xfrm>
            <a:off x="621792" y="2331720"/>
            <a:ext cx="2350008" cy="2057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editor for code, data and charts</a:t>
            </a:r>
          </a:p>
          <a:p>
            <a:pPr algn="l" marL="182880" indent="-182880">
              <a:spcAft>
                <a:spcPts val="600"/>
              </a:spcAft>
              <a:buClr>
                <a:schemeClr val="accent1"/>
              </a:buClr>
              <a:buFont typeface="Arial"/>
              <a:buChar char="▪"/>
            </a:pPr>
            <a:r>
              <a:rPr sz="1300" b="0" lang="en-GB">
                <a:solidFill>
                  <a:schemeClr val="tx1"/>
                </a:solidFill>
              </a:rPr>
              <a:t>Version 2026.09, free</a:t>
            </a:r>
          </a:p>
          <a:p>
            <a:pPr algn="l" marL="182880" indent="-182880">
              <a:spcAft>
                <a:spcPts val="600"/>
              </a:spcAft>
              <a:buClr>
                <a:schemeClr val="accent1"/>
              </a:buClr>
              <a:buFont typeface="Arial"/>
              <a:buChar char="▪"/>
            </a:pPr>
            <a:r>
              <a:rPr sz="1300" b="0" lang="en-GB">
                <a:solidFill>
                  <a:schemeClr val="tx1"/>
                </a:solidFill>
              </a:rPr>
              <a:t>Welcome page checks that Python is ready</a:t>
            </a:r>
          </a:p>
        </p:txBody>
      </p:sp>
      <p:sp>
        <p:nvSpPr>
          <p:cNvPr id="21" name="Tool link 1"/>
          <p:cNvSpPr txBox="1"/>
          <p:nvPr/>
        </p:nvSpPr>
        <p:spPr>
          <a:xfrm>
            <a:off x="621792" y="4069080"/>
            <a:ext cx="2350008" cy="320040"/>
          </a:xfrm>
          <a:prstGeom prst="rect">
            <a:avLst/>
          </a:prstGeom>
          <a:noFill/>
        </p:spPr>
        <p:txBody>
          <a:bodyPr wrap="square" lIns="0" rIns="0" tIns="0" bIns="0" anchor="b">
            <a:noAutofit/>
          </a:bodyPr>
          <a:lstStyle/>
          <a:p>
            <a:pPr algn="l">
              <a:spcAft>
                <a:spcPts val="400"/>
              </a:spcAft>
            </a:pPr>
            <a:r>
              <a:rPr sz="1200" b="0" lang="en-GB">
                <a:solidFill>
                  <a:schemeClr val="accent1"/>
                </a:solidFill>
                <a:hlinkClick r:id="rId4"/>
              </a:rPr>
              <a:t>positron.posit.co/download</a:t>
            </a:r>
          </a:p>
        </p:txBody>
      </p:sp>
      <p:sp>
        <p:nvSpPr>
          <p:cNvPr id="22" name="Tool card 2 body"/>
          <p:cNvSpPr/>
          <p:nvPr/>
        </p:nvSpPr>
        <p:spPr>
          <a:xfrm>
            <a:off x="3246120" y="2194560"/>
            <a:ext cx="2651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ool card 2 header"/>
          <p:cNvSpPr/>
          <p:nvPr/>
        </p:nvSpPr>
        <p:spPr>
          <a:xfrm>
            <a:off x="3246120" y="17830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ool card 2 heading"/>
          <p:cNvSpPr txBox="1"/>
          <p:nvPr/>
        </p:nvSpPr>
        <p:spPr>
          <a:xfrm>
            <a:off x="3383280" y="17830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Quarto</a:t>
            </a:r>
          </a:p>
        </p:txBody>
      </p:sp>
      <p:pic>
        <p:nvPicPr>
          <p:cNvPr id="25" name="Icon Tool card 2" descr=""/>
          <p:cNvPicPr>
            <a:picLocks noChangeAspect="1"/>
          </p:cNvPicPr>
          <p:nvPr/>
        </p:nvPicPr>
        <p:blipFill>
          <a:blip r:embed="rId5"/>
          <a:stretch>
            <a:fillRect/>
          </a:stretch>
        </p:blipFill>
        <p:spPr>
          <a:xfrm>
            <a:off x="5458968" y="1833372"/>
            <a:ext cx="310896" cy="310896"/>
          </a:xfrm>
          <a:prstGeom prst="rect">
            <a:avLst/>
          </a:prstGeom>
        </p:spPr>
      </p:pic>
      <p:sp>
        <p:nvSpPr>
          <p:cNvPr id="26" name="Tool card 2 text"/>
          <p:cNvSpPr txBox="1"/>
          <p:nvPr/>
        </p:nvSpPr>
        <p:spPr>
          <a:xfrm>
            <a:off x="3410712" y="2331720"/>
            <a:ext cx="2350008" cy="2057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Turns text and code into reports and slides</a:t>
            </a:r>
          </a:p>
          <a:p>
            <a:pPr algn="l" marL="182880" indent="-182880">
              <a:spcAft>
                <a:spcPts val="600"/>
              </a:spcAft>
              <a:buClr>
                <a:schemeClr val="accent1"/>
              </a:buClr>
              <a:buFont typeface="Arial"/>
              <a:buChar char="▪"/>
            </a:pPr>
            <a:r>
              <a:rPr sz="1300" b="0" lang="en-GB">
                <a:solidFill>
                  <a:schemeClr val="tx1"/>
                </a:solidFill>
              </a:rPr>
              <a:t>Check in a terminal: quarto --version</a:t>
            </a:r>
          </a:p>
        </p:txBody>
      </p:sp>
      <p:sp>
        <p:nvSpPr>
          <p:cNvPr id="27" name="Tool link 2"/>
          <p:cNvSpPr txBox="1"/>
          <p:nvPr/>
        </p:nvSpPr>
        <p:spPr>
          <a:xfrm>
            <a:off x="3410712" y="4069080"/>
            <a:ext cx="2350008" cy="320040"/>
          </a:xfrm>
          <a:prstGeom prst="rect">
            <a:avLst/>
          </a:prstGeom>
          <a:noFill/>
        </p:spPr>
        <p:txBody>
          <a:bodyPr wrap="square" lIns="0" rIns="0" tIns="0" bIns="0" anchor="b">
            <a:noAutofit/>
          </a:bodyPr>
          <a:lstStyle/>
          <a:p>
            <a:pPr algn="l">
              <a:spcAft>
                <a:spcPts val="400"/>
              </a:spcAft>
            </a:pPr>
            <a:r>
              <a:rPr sz="1200" b="0" lang="en-GB">
                <a:solidFill>
                  <a:schemeClr val="accent1"/>
                </a:solidFill>
                <a:hlinkClick r:id="rId6"/>
              </a:rPr>
              <a:t>quarto.org/docs/get-started</a:t>
            </a:r>
          </a:p>
        </p:txBody>
      </p:sp>
      <p:sp>
        <p:nvSpPr>
          <p:cNvPr id="28" name="Tool card 3 body"/>
          <p:cNvSpPr/>
          <p:nvPr/>
        </p:nvSpPr>
        <p:spPr>
          <a:xfrm>
            <a:off x="6035040" y="2194560"/>
            <a:ext cx="2651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ool card 3 header"/>
          <p:cNvSpPr/>
          <p:nvPr/>
        </p:nvSpPr>
        <p:spPr>
          <a:xfrm>
            <a:off x="6035040" y="17830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ool card 3 heading"/>
          <p:cNvSpPr txBox="1"/>
          <p:nvPr/>
        </p:nvSpPr>
        <p:spPr>
          <a:xfrm>
            <a:off x="6172200" y="17830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 Desktop</a:t>
            </a:r>
          </a:p>
        </p:txBody>
      </p:sp>
      <p:pic>
        <p:nvPicPr>
          <p:cNvPr id="31" name="Icon Tool card 3" descr=""/>
          <p:cNvPicPr>
            <a:picLocks noChangeAspect="1"/>
          </p:cNvPicPr>
          <p:nvPr/>
        </p:nvPicPr>
        <p:blipFill>
          <a:blip r:embed="rId7"/>
          <a:stretch>
            <a:fillRect/>
          </a:stretch>
        </p:blipFill>
        <p:spPr>
          <a:xfrm>
            <a:off x="8247888" y="1833372"/>
            <a:ext cx="310896" cy="310896"/>
          </a:xfrm>
          <a:prstGeom prst="rect">
            <a:avLst/>
          </a:prstGeom>
        </p:spPr>
      </p:pic>
      <p:sp>
        <p:nvSpPr>
          <p:cNvPr id="32" name="Tool card 3 text"/>
          <p:cNvSpPr txBox="1"/>
          <p:nvPr/>
        </p:nvSpPr>
        <p:spPr>
          <a:xfrm>
            <a:off x="6199632" y="2331720"/>
            <a:ext cx="2350008" cy="2057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Clone, pull and push with clicks</a:t>
            </a:r>
          </a:p>
          <a:p>
            <a:pPr algn="l" marL="182880" indent="-182880">
              <a:spcAft>
                <a:spcPts val="600"/>
              </a:spcAft>
              <a:buClr>
                <a:schemeClr val="accent1"/>
              </a:buClr>
              <a:buFont typeface="Arial"/>
              <a:buChar char="▪"/>
            </a:pPr>
            <a:r>
              <a:rPr sz="1300" b="0" lang="en-GB">
                <a:solidFill>
                  <a:schemeClr val="tx1"/>
                </a:solidFill>
              </a:rPr>
              <a:t>Installs Git for you</a:t>
            </a:r>
          </a:p>
          <a:p>
            <a:pPr algn="l" marL="182880" indent="-182880">
              <a:spcAft>
                <a:spcPts val="600"/>
              </a:spcAft>
              <a:buClr>
                <a:schemeClr val="accent1"/>
              </a:buClr>
              <a:buFont typeface="Arial"/>
              <a:buChar char="▪"/>
            </a:pPr>
            <a:r>
              <a:rPr sz="1300" b="0" lang="en-GB">
                <a:solidFill>
                  <a:schemeClr val="tx1"/>
                </a:solidFill>
              </a:rPr>
              <a:t>Sign in with your GitHub account</a:t>
            </a:r>
          </a:p>
        </p:txBody>
      </p:sp>
      <p:sp>
        <p:nvSpPr>
          <p:cNvPr id="33" name="Tool link 3"/>
          <p:cNvSpPr txBox="1"/>
          <p:nvPr/>
        </p:nvSpPr>
        <p:spPr>
          <a:xfrm>
            <a:off x="6199632" y="4069080"/>
            <a:ext cx="2350008" cy="320040"/>
          </a:xfrm>
          <a:prstGeom prst="rect">
            <a:avLst/>
          </a:prstGeom>
          <a:noFill/>
        </p:spPr>
        <p:txBody>
          <a:bodyPr wrap="square" lIns="0" rIns="0" tIns="0" bIns="0" anchor="b">
            <a:noAutofit/>
          </a:bodyPr>
          <a:lstStyle/>
          <a:p>
            <a:pPr algn="l">
              <a:spcAft>
                <a:spcPts val="400"/>
              </a:spcAft>
            </a:pPr>
            <a:r>
              <a:rPr sz="1200" b="0" lang="en-GB">
                <a:solidFill>
                  <a:schemeClr val="accent1"/>
                </a:solidFill>
                <a:hlinkClick r:id="rId8"/>
              </a:rPr>
              <a:t>desktop.github.com</a:t>
            </a:r>
          </a:p>
        </p:txBody>
      </p:sp>
      <p:sp>
        <p:nvSpPr>
          <p:cNvPr id="34" name="Restart box"/>
          <p:cNvSpPr/>
          <p:nvPr/>
        </p:nvSpPr>
        <p:spPr>
          <a:xfrm>
            <a:off x="457200" y="461772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Restart" descr=""/>
          <p:cNvPicPr>
            <a:picLocks noChangeAspect="1"/>
          </p:cNvPicPr>
          <p:nvPr/>
        </p:nvPicPr>
        <p:blipFill>
          <a:blip r:embed="rId9"/>
          <a:stretch>
            <a:fillRect/>
          </a:stretch>
        </p:blipFill>
        <p:spPr>
          <a:xfrm>
            <a:off x="658368" y="4654296"/>
            <a:ext cx="384048" cy="384048"/>
          </a:xfrm>
          <a:prstGeom prst="rect">
            <a:avLst/>
          </a:prstGeom>
        </p:spPr>
      </p:pic>
      <p:sp>
        <p:nvSpPr>
          <p:cNvPr id="36" name="Restart text"/>
          <p:cNvSpPr txBox="1"/>
          <p:nvPr/>
        </p:nvSpPr>
        <p:spPr>
          <a:xfrm>
            <a:off x="1234440" y="4617720"/>
            <a:ext cx="7269480" cy="457200"/>
          </a:xfrm>
          <a:prstGeom prst="rect">
            <a:avLst/>
          </a:prstGeom>
          <a:noFill/>
        </p:spPr>
        <p:txBody>
          <a:bodyPr wrap="square" lIns="0" rIns="0" tIns="0" bIns="0" anchor="ctr">
            <a:noAutofit/>
          </a:bodyPr>
          <a:lstStyle/>
          <a:p>
            <a:pPr algn="l">
              <a:spcAft>
                <a:spcPts val="400"/>
              </a:spcAft>
            </a:pPr>
            <a:r>
              <a:rPr sz="1300" b="1" lang="en-GB">
                <a:solidFill>
                  <a:schemeClr val="tx2"/>
                </a:solidFill>
              </a:rPr>
              <a:t>Restart Positron </a:t>
            </a:r>
            <a:r>
              <a:rPr sz="1300" b="0" lang="en-GB">
                <a:solidFill>
                  <a:schemeClr val="tx1"/>
                </a:solidFill>
              </a:rPr>
              <a:t>after installing Quarto, so it finds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get the course repository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Clone steps step 1"/>
          <p:cNvSpPr/>
          <p:nvPr/>
        </p:nvSpPr>
        <p:spPr>
          <a:xfrm>
            <a:off x="457200" y="1783080"/>
            <a:ext cx="2139696"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Copy the URL</a:t>
            </a:r>
            <a:br/>
            <a:r>
              <a:rPr sz="1200" b="1" lang="en-GB">
                <a:solidFill>
                  <a:schemeClr val="tx2"/>
                </a:solidFill>
              </a:rPr>
              <a:t>(below)</a:t>
            </a:r>
          </a:p>
        </p:txBody>
      </p:sp>
      <p:sp>
        <p:nvSpPr>
          <p:cNvPr id="17" name="Clone steps step 2"/>
          <p:cNvSpPr/>
          <p:nvPr/>
        </p:nvSpPr>
        <p:spPr>
          <a:xfrm>
            <a:off x="2487168" y="178308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GitHub Desktop:</a:t>
            </a:r>
            <a:br/>
            <a:r>
              <a:rPr sz="1200" b="1" lang="en-GB">
                <a:solidFill>
                  <a:schemeClr val="tx2"/>
                </a:solidFill>
              </a:rPr>
              <a:t>Clone repository</a:t>
            </a:r>
          </a:p>
        </p:txBody>
      </p:sp>
      <p:sp>
        <p:nvSpPr>
          <p:cNvPr id="18" name="Clone steps step 3"/>
          <p:cNvSpPr/>
          <p:nvPr/>
        </p:nvSpPr>
        <p:spPr>
          <a:xfrm>
            <a:off x="4517136" y="178308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Pick a folder</a:t>
            </a:r>
            <a:br/>
            <a:r>
              <a:rPr sz="1200" b="1" lang="en-GB">
                <a:solidFill>
                  <a:schemeClr val="tx2"/>
                </a:solidFill>
              </a:rPr>
              <a:t>without spaces</a:t>
            </a:r>
          </a:p>
        </p:txBody>
      </p:sp>
      <p:sp>
        <p:nvSpPr>
          <p:cNvPr id="19" name="Clone steps step 4"/>
          <p:cNvSpPr/>
          <p:nvPr/>
        </p:nvSpPr>
        <p:spPr>
          <a:xfrm>
            <a:off x="6547104" y="178308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Positron:</a:t>
            </a:r>
            <a:br/>
            <a:r>
              <a:rPr sz="1200" b="1" lang="en-GB">
                <a:solidFill>
                  <a:schemeClr val="tx2"/>
                </a:solidFill>
              </a:rPr>
              <a:t>Open Folder</a:t>
            </a:r>
          </a:p>
        </p:txBody>
      </p:sp>
      <p:sp>
        <p:nvSpPr>
          <p:cNvPr id="20" name="Repo URL code caption bar"/>
          <p:cNvSpPr/>
          <p:nvPr/>
        </p:nvSpPr>
        <p:spPr>
          <a:xfrm>
            <a:off x="457200" y="251460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po URL code caption"/>
          <p:cNvSpPr txBox="1"/>
          <p:nvPr/>
        </p:nvSpPr>
        <p:spPr>
          <a:xfrm>
            <a:off x="566928" y="251460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Course repository (public)</a:t>
            </a:r>
          </a:p>
        </p:txBody>
      </p:sp>
      <p:sp>
        <p:nvSpPr>
          <p:cNvPr id="22" name="Repo URL code box"/>
          <p:cNvSpPr/>
          <p:nvPr/>
        </p:nvSpPr>
        <p:spPr>
          <a:xfrm>
            <a:off x="457200" y="2788920"/>
            <a:ext cx="402336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po URL code code"/>
          <p:cNvSpPr txBox="1"/>
          <p:nvPr/>
        </p:nvSpPr>
        <p:spPr>
          <a:xfrm>
            <a:off x="594360" y="2880360"/>
            <a:ext cx="3749040" cy="5029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https://github.com/arnefloh-wu/</a:t>
            </a:r>
          </a:p>
          <a:p>
            <a:pPr algn="l">
              <a:spcAft>
                <a:spcPts val="0"/>
              </a:spcAft>
            </a:pPr>
            <a:r>
              <a:rPr sz="1050" b="0" lang="en-GB">
                <a:solidFill>
                  <a:schemeClr val="bg1"/>
                </a:solidFill>
                <a:latin typeface="Consolas"/>
              </a:rPr>
              <a:t>  international-marketing-analytics-teaching</a:t>
            </a:r>
          </a:p>
        </p:txBody>
      </p:sp>
      <p:sp>
        <p:nvSpPr>
          <p:cNvPr id="24" name="Folder note"/>
          <p:cNvSpPr txBox="1"/>
          <p:nvPr/>
        </p:nvSpPr>
        <p:spPr>
          <a:xfrm>
            <a:off x="457200" y="3566160"/>
            <a:ext cx="4023360" cy="777240"/>
          </a:xfrm>
          <a:prstGeom prst="rect">
            <a:avLst/>
          </a:prstGeom>
          <a:noFill/>
        </p:spPr>
        <p:txBody>
          <a:bodyPr wrap="square" lIns="0" rIns="0" tIns="0" bIns="0" anchor="t">
            <a:noAutofit/>
          </a:bodyPr>
          <a:lstStyle/>
          <a:p>
            <a:pPr algn="l">
              <a:spcAft>
                <a:spcPts val="400"/>
              </a:spcAft>
            </a:pPr>
            <a:r>
              <a:rPr sz="1200" b="1" lang="en-GB">
                <a:solidFill>
                  <a:schemeClr val="tx2"/>
                </a:solidFill>
              </a:rPr>
              <a:t>Folder: </a:t>
            </a:r>
            <a:r>
              <a:rPr sz="1200" b="0" lang="en-GB">
                <a:solidFill>
                  <a:schemeClr val="tx1"/>
                </a:solidFill>
              </a:rPr>
              <a:t>e.g. C:\Users\anna\wu\ima or ~/wu/ima. Avoid spaces, umlauts and OneDrive or iCloud folders.</a:t>
            </a:r>
          </a:p>
        </p:txBody>
      </p:sp>
      <p:sp>
        <p:nvSpPr>
          <p:cNvPr id="25" name="Git word 1"/>
          <p:cNvSpPr/>
          <p:nvPr/>
        </p:nvSpPr>
        <p:spPr>
          <a:xfrm>
            <a:off x="4663440" y="2514600"/>
            <a:ext cx="402336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Git word bar 1"/>
          <p:cNvSpPr/>
          <p:nvPr/>
        </p:nvSpPr>
        <p:spPr>
          <a:xfrm>
            <a:off x="4663440" y="2514600"/>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Git word text 1"/>
          <p:cNvSpPr txBox="1"/>
          <p:nvPr/>
        </p:nvSpPr>
        <p:spPr>
          <a:xfrm>
            <a:off x="4864608" y="2514600"/>
            <a:ext cx="373075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Clone: </a:t>
            </a:r>
            <a:r>
              <a:rPr sz="1200" b="0" lang="en-GB">
                <a:solidFill>
                  <a:schemeClr val="tx1"/>
                </a:solidFill>
              </a:rPr>
              <a:t>your own copy of a repository; a public one needs no sign-in</a:t>
            </a:r>
          </a:p>
        </p:txBody>
      </p:sp>
      <p:sp>
        <p:nvSpPr>
          <p:cNvPr id="28" name="Git word 2"/>
          <p:cNvSpPr/>
          <p:nvPr/>
        </p:nvSpPr>
        <p:spPr>
          <a:xfrm>
            <a:off x="4663440" y="3136392"/>
            <a:ext cx="402336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Git word bar 2"/>
          <p:cNvSpPr/>
          <p:nvPr/>
        </p:nvSpPr>
        <p:spPr>
          <a:xfrm>
            <a:off x="4663440" y="3136392"/>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Git word text 2"/>
          <p:cNvSpPr txBox="1"/>
          <p:nvPr/>
        </p:nvSpPr>
        <p:spPr>
          <a:xfrm>
            <a:off x="4864608" y="3136392"/>
            <a:ext cx="373075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Pull: </a:t>
            </a:r>
            <a:r>
              <a:rPr sz="1200" b="0" lang="en-GB">
                <a:solidFill>
                  <a:schemeClr val="tx1"/>
                </a:solidFill>
              </a:rPr>
              <a:t>get the latest materials; do it before every session</a:t>
            </a:r>
          </a:p>
        </p:txBody>
      </p:sp>
      <p:sp>
        <p:nvSpPr>
          <p:cNvPr id="31" name="Git word 3"/>
          <p:cNvSpPr/>
          <p:nvPr/>
        </p:nvSpPr>
        <p:spPr>
          <a:xfrm>
            <a:off x="4663440" y="3758184"/>
            <a:ext cx="402336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Git word bar 3"/>
          <p:cNvSpPr/>
          <p:nvPr/>
        </p:nvSpPr>
        <p:spPr>
          <a:xfrm>
            <a:off x="4663440" y="3758184"/>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Git word text 3"/>
          <p:cNvSpPr txBox="1"/>
          <p:nvPr/>
        </p:nvSpPr>
        <p:spPr>
          <a:xfrm>
            <a:off x="4864608" y="3758184"/>
            <a:ext cx="373075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Commit and push: </a:t>
            </a:r>
            <a:r>
              <a:rPr sz="1200" b="0" lang="en-GB">
                <a:solidFill>
                  <a:schemeClr val="tx1"/>
                </a:solidFill>
              </a:rPr>
              <a:t>save and upload your changes (group repository)</a:t>
            </a:r>
          </a:p>
        </p:txBody>
      </p:sp>
      <p:sp>
        <p:nvSpPr>
          <p:cNvPr id="34" name="Open folder box"/>
          <p:cNvSpPr/>
          <p:nvPr/>
        </p:nvSpPr>
        <p:spPr>
          <a:xfrm>
            <a:off x="457200" y="448056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Open folder" descr=""/>
          <p:cNvPicPr>
            <a:picLocks noChangeAspect="1"/>
          </p:cNvPicPr>
          <p:nvPr/>
        </p:nvPicPr>
        <p:blipFill>
          <a:blip r:embed="rId3"/>
          <a:stretch>
            <a:fillRect/>
          </a:stretch>
        </p:blipFill>
        <p:spPr>
          <a:xfrm>
            <a:off x="658368" y="4585716"/>
            <a:ext cx="384048" cy="384048"/>
          </a:xfrm>
          <a:prstGeom prst="rect">
            <a:avLst/>
          </a:prstGeom>
        </p:spPr>
      </p:pic>
      <p:sp>
        <p:nvSpPr>
          <p:cNvPr id="36" name="Open folder text"/>
          <p:cNvSpPr txBox="1"/>
          <p:nvPr/>
        </p:nvSpPr>
        <p:spPr>
          <a:xfrm>
            <a:off x="1234440" y="4480560"/>
            <a:ext cx="7269480" cy="594360"/>
          </a:xfrm>
          <a:prstGeom prst="rect">
            <a:avLst/>
          </a:prstGeom>
          <a:noFill/>
        </p:spPr>
        <p:txBody>
          <a:bodyPr wrap="square" lIns="0" rIns="0" tIns="0" bIns="0" anchor="ctr">
            <a:noAutofit/>
          </a:bodyPr>
          <a:lstStyle/>
          <a:p>
            <a:pPr algn="l">
              <a:spcAft>
                <a:spcPts val="400"/>
              </a:spcAft>
            </a:pPr>
            <a:r>
              <a:rPr sz="1300" b="1" lang="en-GB">
                <a:solidFill>
                  <a:schemeClr val="tx2"/>
                </a:solidFill>
              </a:rPr>
              <a:t>In Positron: </a:t>
            </a:r>
            <a:r>
              <a:rPr sz="1300" b="0" lang="en-GB">
                <a:solidFill>
                  <a:schemeClr val="tx1"/>
                </a:solidFill>
              </a:rPr>
              <a:t>File → Open Folder. The cloned folder is now your project.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set up the project's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Env steps step 1"/>
          <p:cNvSpPr/>
          <p:nvPr/>
        </p:nvSpPr>
        <p:spPr>
          <a:xfrm>
            <a:off x="457200" y="178308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Create</a:t>
            </a:r>
            <a:br/>
            <a:r>
              <a:rPr sz="1200" b="1" lang="en-GB">
                <a:solidFill>
                  <a:schemeClr val="tx2"/>
                </a:solidFill>
              </a:rPr>
              <a:t>Environment</a:t>
            </a:r>
          </a:p>
        </p:txBody>
      </p:sp>
      <p:sp>
        <p:nvSpPr>
          <p:cNvPr id="17" name="Env steps step 2"/>
          <p:cNvSpPr/>
          <p:nvPr/>
        </p:nvSpPr>
        <p:spPr>
          <a:xfrm>
            <a:off x="2081174"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Venv</a:t>
            </a:r>
          </a:p>
        </p:txBody>
      </p:sp>
      <p:sp>
        <p:nvSpPr>
          <p:cNvPr id="18" name="Env steps step 3"/>
          <p:cNvSpPr/>
          <p:nvPr/>
        </p:nvSpPr>
        <p:spPr>
          <a:xfrm>
            <a:off x="3705149"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a:t>
            </a:r>
            <a:br/>
            <a:r>
              <a:rPr sz="1200" b="1" lang="en-GB">
                <a:solidFill>
                  <a:schemeClr val="tx2"/>
                </a:solidFill>
              </a:rPr>
              <a:t>3.14.8</a:t>
            </a:r>
          </a:p>
        </p:txBody>
      </p:sp>
      <p:sp>
        <p:nvSpPr>
          <p:cNvPr id="19" name="Env steps step 4"/>
          <p:cNvSpPr/>
          <p:nvPr/>
        </p:nvSpPr>
        <p:spPr>
          <a:xfrm>
            <a:off x="5329123"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Install</a:t>
            </a:r>
            <a:br/>
            <a:r>
              <a:rPr sz="1200" b="1" lang="en-GB">
                <a:solidFill>
                  <a:schemeClr val="tx2"/>
                </a:solidFill>
              </a:rPr>
              <a:t>packages</a:t>
            </a:r>
          </a:p>
        </p:txBody>
      </p:sp>
      <p:sp>
        <p:nvSpPr>
          <p:cNvPr id="20" name="Env steps step 5"/>
          <p:cNvSpPr/>
          <p:nvPr/>
        </p:nvSpPr>
        <p:spPr>
          <a:xfrm>
            <a:off x="6953098" y="178308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.venv</a:t>
            </a:r>
            <a:br/>
            <a:r>
              <a:rPr sz="1200" b="1" lang="en-GB">
                <a:solidFill>
                  <a:schemeClr val="tx2"/>
                </a:solidFill>
              </a:rPr>
              <a:t>selected</a:t>
            </a:r>
          </a:p>
        </p:txBody>
      </p:sp>
      <p:sp>
        <p:nvSpPr>
          <p:cNvPr id="21" name="Env card body"/>
          <p:cNvSpPr/>
          <p:nvPr/>
        </p:nvSpPr>
        <p:spPr>
          <a:xfrm>
            <a:off x="457200" y="2926080"/>
            <a:ext cx="393192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nv card header"/>
          <p:cNvSpPr/>
          <p:nvPr/>
        </p:nvSpPr>
        <p:spPr>
          <a:xfrm>
            <a:off x="457200" y="2514600"/>
            <a:ext cx="39319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nv card heading"/>
          <p:cNvSpPr txBox="1"/>
          <p:nvPr/>
        </p:nvSpPr>
        <p:spPr>
          <a:xfrm>
            <a:off x="594360" y="2514600"/>
            <a:ext cx="32461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Positron then</a:t>
            </a:r>
          </a:p>
        </p:txBody>
      </p:sp>
      <p:pic>
        <p:nvPicPr>
          <p:cNvPr id="24" name="Icon Env card" descr=""/>
          <p:cNvPicPr>
            <a:picLocks noChangeAspect="1"/>
          </p:cNvPicPr>
          <p:nvPr/>
        </p:nvPicPr>
        <p:blipFill>
          <a:blip r:embed="rId3"/>
          <a:stretch>
            <a:fillRect/>
          </a:stretch>
        </p:blipFill>
        <p:spPr>
          <a:xfrm>
            <a:off x="3950208" y="2564892"/>
            <a:ext cx="310896" cy="310896"/>
          </a:xfrm>
          <a:prstGeom prst="rect">
            <a:avLst/>
          </a:prstGeom>
        </p:spPr>
      </p:pic>
      <p:sp>
        <p:nvSpPr>
          <p:cNvPr id="25" name="Env card text"/>
          <p:cNvSpPr txBox="1"/>
          <p:nvPr/>
        </p:nvSpPr>
        <p:spPr>
          <a:xfrm>
            <a:off x="621792" y="3063240"/>
            <a:ext cx="3630168" cy="1188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Start: Command Palette → Python: Create Environment</a:t>
            </a:r>
          </a:p>
          <a:p>
            <a:pPr algn="l" marL="182880" indent="-182880">
              <a:spcAft>
                <a:spcPts val="600"/>
              </a:spcAft>
              <a:buClr>
                <a:schemeClr val="accent1"/>
              </a:buClr>
              <a:buFont typeface="Arial"/>
              <a:buChar char="▪"/>
            </a:pPr>
            <a:r>
              <a:rPr sz="1300" b="0" lang="en-GB">
                <a:solidFill>
                  <a:schemeClr val="tx1"/>
                </a:solidFill>
              </a:rPr>
              <a:t>Creates .venv inside the project</a:t>
            </a:r>
          </a:p>
          <a:p>
            <a:pPr algn="l" marL="182880" indent="-182880">
              <a:spcAft>
                <a:spcPts val="600"/>
              </a:spcAft>
              <a:buClr>
                <a:schemeClr val="accent1"/>
              </a:buClr>
              <a:buFont typeface="Arial"/>
              <a:buChar char="▪"/>
            </a:pPr>
            <a:r>
              <a:rPr sz="1300" b="0" lang="en-GB">
                <a:solidFill>
                  <a:schemeClr val="tx1"/>
                </a:solidFill>
              </a:rPr>
              <a:t>Installs all course packages</a:t>
            </a:r>
          </a:p>
          <a:p>
            <a:pPr algn="l" marL="182880" indent="-182880">
              <a:spcAft>
                <a:spcPts val="600"/>
              </a:spcAft>
              <a:buClr>
                <a:schemeClr val="accent1"/>
              </a:buClr>
              <a:buFont typeface="Arial"/>
              <a:buChar char="▪"/>
            </a:pPr>
            <a:r>
              <a:rPr sz="1300" b="0" lang="en-GB">
                <a:solidFill>
                  <a:schemeClr val="tx1"/>
                </a:solidFill>
              </a:rPr>
              <a:t>Starts Python from .venv</a:t>
            </a:r>
          </a:p>
        </p:txBody>
      </p:sp>
      <p:sp>
        <p:nvSpPr>
          <p:cNvPr id="26" name="Interpreter panel"/>
          <p:cNvSpPr/>
          <p:nvPr/>
        </p:nvSpPr>
        <p:spPr>
          <a:xfrm>
            <a:off x="4526280" y="2514600"/>
            <a:ext cx="416052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nterpreter head"/>
          <p:cNvSpPr txBox="1"/>
          <p:nvPr/>
        </p:nvSpPr>
        <p:spPr>
          <a:xfrm>
            <a:off x="4663440" y="2514600"/>
            <a:ext cx="1463040" cy="868680"/>
          </a:xfrm>
          <a:prstGeom prst="rect">
            <a:avLst/>
          </a:prstGeom>
          <a:noFill/>
        </p:spPr>
        <p:txBody>
          <a:bodyPr wrap="square" lIns="0" rIns="0" tIns="0" bIns="0" anchor="ctr">
            <a:noAutofit/>
          </a:bodyPr>
          <a:lstStyle/>
          <a:p>
            <a:pPr algn="l">
              <a:spcAft>
                <a:spcPts val="0"/>
              </a:spcAft>
            </a:pPr>
            <a:r>
              <a:rPr sz="1200" b="1" lang="en-GB">
                <a:solidFill>
                  <a:schemeClr val="tx2"/>
                </a:solidFill>
              </a:rPr>
              <a:t>Interpreter picker</a:t>
            </a:r>
          </a:p>
          <a:p>
            <a:pPr algn="l">
              <a:spcAft>
                <a:spcPts val="0"/>
              </a:spcAft>
            </a:pPr>
            <a:r>
              <a:rPr sz="1100" b="0" lang="en-GB">
                <a:solidFill>
                  <a:schemeClr val="tx1"/>
                </a:solidFill>
              </a:rPr>
              <a:t>top right</a:t>
            </a:r>
          </a:p>
        </p:txBody>
      </p:sp>
      <p:sp>
        <p:nvSpPr>
          <p:cNvPr id="28" name="Interpreter pill"/>
          <p:cNvSpPr/>
          <p:nvPr/>
        </p:nvSpPr>
        <p:spPr>
          <a:xfrm>
            <a:off x="6080760" y="2761488"/>
            <a:ext cx="2468880" cy="384048"/>
          </a:xfrm>
          <a:prstGeom prst="roundRect">
            <a:avLst/>
          </a:prstGeom>
          <a:solidFill>
            <a:srgbClr val="FFFFFF"/>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ill text"/>
          <p:cNvSpPr txBox="1"/>
          <p:nvPr/>
        </p:nvSpPr>
        <p:spPr>
          <a:xfrm>
            <a:off x="6144768" y="2761488"/>
            <a:ext cx="2377440" cy="384048"/>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Python 3.14.8 (.venv) ▾</a:t>
            </a:r>
          </a:p>
        </p:txBody>
      </p:sp>
      <p:sp>
        <p:nvSpPr>
          <p:cNvPr id="30" name="Env console caption bar"/>
          <p:cNvSpPr/>
          <p:nvPr/>
        </p:nvSpPr>
        <p:spPr>
          <a:xfrm>
            <a:off x="4526280" y="3520440"/>
            <a:ext cx="41605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nv console caption"/>
          <p:cNvSpPr txBox="1"/>
          <p:nvPr/>
        </p:nvSpPr>
        <p:spPr>
          <a:xfrm>
            <a:off x="4636008" y="3520440"/>
            <a:ext cx="39410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Packages missing? Positron console</a:t>
            </a:r>
          </a:p>
        </p:txBody>
      </p:sp>
      <p:sp>
        <p:nvSpPr>
          <p:cNvPr id="32" name="Env console box"/>
          <p:cNvSpPr/>
          <p:nvPr/>
        </p:nvSpPr>
        <p:spPr>
          <a:xfrm>
            <a:off x="4526280" y="3794760"/>
            <a:ext cx="416052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Env console code"/>
          <p:cNvSpPr txBox="1"/>
          <p:nvPr/>
        </p:nvSpPr>
        <p:spPr>
          <a:xfrm>
            <a:off x="4663440" y="3886200"/>
            <a:ext cx="3886200" cy="411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%pip install -r requirements.txt</a:t>
            </a:r>
          </a:p>
        </p:txBody>
      </p:sp>
      <p:sp>
        <p:nvSpPr>
          <p:cNvPr id="34" name="Once note box"/>
          <p:cNvSpPr/>
          <p:nvPr/>
        </p:nvSpPr>
        <p:spPr>
          <a:xfrm>
            <a:off x="457200" y="452628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Once note" descr=""/>
          <p:cNvPicPr>
            <a:picLocks noChangeAspect="1"/>
          </p:cNvPicPr>
          <p:nvPr/>
        </p:nvPicPr>
        <p:blipFill>
          <a:blip r:embed="rId4"/>
          <a:stretch>
            <a:fillRect/>
          </a:stretch>
        </p:blipFill>
        <p:spPr>
          <a:xfrm>
            <a:off x="658368" y="4608576"/>
            <a:ext cx="384048" cy="384048"/>
          </a:xfrm>
          <a:prstGeom prst="rect">
            <a:avLst/>
          </a:prstGeom>
        </p:spPr>
      </p:pic>
      <p:sp>
        <p:nvSpPr>
          <p:cNvPr id="36" name="Once note text"/>
          <p:cNvSpPr txBox="1"/>
          <p:nvPr/>
        </p:nvSpPr>
        <p:spPr>
          <a:xfrm>
            <a:off x="1234440" y="4526280"/>
            <a:ext cx="726948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Once per project: </a:t>
            </a:r>
            <a:r>
              <a:rPr sz="1300" b="0" lang="en-GB">
                <a:solidFill>
                  <a:schemeClr val="tx1"/>
                </a:solidFill>
              </a:rPr>
              <a:t>Positron remembers the .venv and starts it whenever you open the folder.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run the check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Check</a:t>
            </a:r>
          </a:p>
        </p:txBody>
      </p:sp>
      <p:sp>
        <p:nvSpPr>
          <p:cNvPr id="15" name="Progress step 6"/>
          <p:cNvSpPr/>
          <p:nvPr/>
        </p:nvSpPr>
        <p:spPr>
          <a:xfrm>
            <a:off x="7223760"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AI</a:t>
            </a:r>
          </a:p>
        </p:txBody>
      </p:sp>
      <p:sp>
        <p:nvSpPr>
          <p:cNvPr id="16" name="Check command caption bar"/>
          <p:cNvSpPr/>
          <p:nvPr/>
        </p:nvSpPr>
        <p:spPr>
          <a:xfrm>
            <a:off x="457200" y="178308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command caption"/>
          <p:cNvSpPr txBox="1"/>
          <p:nvPr/>
        </p:nvSpPr>
        <p:spPr>
          <a:xfrm>
            <a:off x="566928" y="178308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Positron console (Windows and macOS)</a:t>
            </a:r>
          </a:p>
        </p:txBody>
      </p:sp>
      <p:sp>
        <p:nvSpPr>
          <p:cNvPr id="18" name="Check command box"/>
          <p:cNvSpPr/>
          <p:nvPr/>
        </p:nvSpPr>
        <p:spPr>
          <a:xfrm>
            <a:off x="457200" y="20574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heck command code"/>
          <p:cNvSpPr txBox="1"/>
          <p:nvPr/>
        </p:nvSpPr>
        <p:spPr>
          <a:xfrm>
            <a:off x="594360" y="2148840"/>
            <a:ext cx="7955280" cy="2286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%run setup/check_setup.py</a:t>
            </a:r>
          </a:p>
        </p:txBody>
      </p:sp>
      <p:sp>
        <p:nvSpPr>
          <p:cNvPr id="20" name="Check output caption bar"/>
          <p:cNvSpPr/>
          <p:nvPr/>
        </p:nvSpPr>
        <p:spPr>
          <a:xfrm>
            <a:off x="457200" y="2606040"/>
            <a:ext cx="5120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heck output caption"/>
          <p:cNvSpPr txBox="1"/>
          <p:nvPr/>
        </p:nvSpPr>
        <p:spPr>
          <a:xfrm>
            <a:off x="566928" y="2606040"/>
            <a:ext cx="4901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Example output (shortened)</a:t>
            </a:r>
          </a:p>
        </p:txBody>
      </p:sp>
      <p:sp>
        <p:nvSpPr>
          <p:cNvPr id="22" name="Check output box"/>
          <p:cNvSpPr/>
          <p:nvPr/>
        </p:nvSpPr>
        <p:spPr>
          <a:xfrm>
            <a:off x="457200" y="2880360"/>
            <a:ext cx="5120640" cy="1645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output code"/>
          <p:cNvSpPr txBox="1"/>
          <p:nvPr/>
        </p:nvSpPr>
        <p:spPr>
          <a:xfrm>
            <a:off x="594360" y="2971800"/>
            <a:ext cx="4846320" cy="14630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Packages</a:t>
            </a:r>
          </a:p>
          <a:p>
            <a:pPr algn="l">
              <a:spcAft>
                <a:spcPts val="0"/>
              </a:spcAft>
            </a:pPr>
            <a:r>
              <a:rPr sz="1100" b="0" lang="en-GB">
                <a:solidFill>
                  <a:schemeClr val="bg1"/>
                </a:solidFill>
                <a:latin typeface="Consolas"/>
              </a:rPr>
              <a:t>  [ok] polars           1.44.2     data wrangling</a:t>
            </a:r>
          </a:p>
          <a:p>
            <a:pPr algn="l">
              <a:spcAft>
                <a:spcPts val="0"/>
              </a:spcAft>
            </a:pPr>
            <a:r>
              <a:rPr sz="1100" b="0" lang="en-GB">
                <a:solidFill>
                  <a:schemeClr val="bg1"/>
                </a:solidFill>
                <a:latin typeface="Consolas"/>
              </a:rPr>
              <a:t>  [ok] plotnine         0.15.8     charts</a:t>
            </a:r>
          </a:p>
          <a:p>
            <a:pPr algn="l">
              <a:spcAft>
                <a:spcPts val="0"/>
              </a:spcAft>
            </a:pPr>
            <a:r>
              <a:rPr sz="1100" b="0" lang="en-GB">
                <a:solidFill>
                  <a:schemeClr val="bg1"/>
                </a:solidFill>
                <a:latin typeface="Consolas"/>
              </a:rPr>
              <a:t>  [ok] great_tables     1.0.0      tables</a:t>
            </a:r>
          </a:p>
          <a:p>
            <a:pPr algn="l">
              <a:spcAft>
                <a:spcPts val="0"/>
              </a:spcAft>
            </a:pPr>
            <a:r>
              <a:rPr sz="1100" b="0" lang="en-GB">
                <a:solidFill>
                  <a:schemeClr val="bg1"/>
                </a:solidFill>
                <a:latin typeface="Consolas"/>
              </a:rPr>
              <a:t>  [ok] statsmodels      0.15.0     regression</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ready</a:t>
            </a:r>
          </a:p>
        </p:txBody>
      </p:sp>
      <p:sp>
        <p:nvSpPr>
          <p:cNvPr id="24" name="Check card body"/>
          <p:cNvSpPr/>
          <p:nvPr/>
        </p:nvSpPr>
        <p:spPr>
          <a:xfrm>
            <a:off x="5760720" y="3017520"/>
            <a:ext cx="292608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heck card header"/>
          <p:cNvSpPr/>
          <p:nvPr/>
        </p:nvSpPr>
        <p:spPr>
          <a:xfrm>
            <a:off x="5760720" y="2606040"/>
            <a:ext cx="29260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card heading"/>
          <p:cNvSpPr txBox="1"/>
          <p:nvPr/>
        </p:nvSpPr>
        <p:spPr>
          <a:xfrm>
            <a:off x="5897880" y="2606040"/>
            <a:ext cx="22402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Reading it</a:t>
            </a:r>
          </a:p>
        </p:txBody>
      </p:sp>
      <p:pic>
        <p:nvPicPr>
          <p:cNvPr id="27" name="Icon Check card" descr=""/>
          <p:cNvPicPr>
            <a:picLocks noChangeAspect="1"/>
          </p:cNvPicPr>
          <p:nvPr/>
        </p:nvPicPr>
        <p:blipFill>
          <a:blip r:embed="rId3"/>
          <a:stretch>
            <a:fillRect/>
          </a:stretch>
        </p:blipFill>
        <p:spPr>
          <a:xfrm>
            <a:off x="8247888" y="2656332"/>
            <a:ext cx="310896" cy="310896"/>
          </a:xfrm>
          <a:prstGeom prst="rect">
            <a:avLst/>
          </a:prstGeom>
        </p:spPr>
      </p:pic>
      <p:sp>
        <p:nvSpPr>
          <p:cNvPr id="28" name="Check card text"/>
          <p:cNvSpPr txBox="1"/>
          <p:nvPr/>
        </p:nvSpPr>
        <p:spPr>
          <a:xfrm>
            <a:off x="5925312" y="3154680"/>
            <a:ext cx="262432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[ok]: in place</a:t>
            </a:r>
          </a:p>
          <a:p>
            <a:pPr algn="l" marL="182880" indent="-182880">
              <a:spcAft>
                <a:spcPts val="600"/>
              </a:spcAft>
              <a:buClr>
                <a:schemeClr val="accent1"/>
              </a:buClr>
              <a:buFont typeface="Arial"/>
              <a:buChar char="▪"/>
            </a:pPr>
            <a:r>
              <a:rPr sz="1300" b="0" lang="en-GB">
                <a:solidFill>
                  <a:schemeClr val="tx1"/>
                </a:solidFill>
              </a:rPr>
              <a:t>[!!]: the line says what to fix</a:t>
            </a:r>
          </a:p>
          <a:p>
            <a:pPr algn="l" marL="182880" indent="-182880">
              <a:spcAft>
                <a:spcPts val="600"/>
              </a:spcAft>
              <a:buClr>
                <a:schemeClr val="accent1"/>
              </a:buClr>
              <a:buFont typeface="Arial"/>
              <a:buChar char="▪"/>
            </a:pPr>
            <a:r>
              <a:rPr sz="1300" b="0" lang="en-GB">
                <a:solidFill>
                  <a:schemeClr val="tx1"/>
                </a:solidFill>
              </a:rPr>
              <a:t>Ends with “ready”: done</a:t>
            </a:r>
          </a:p>
        </p:txBody>
      </p:sp>
      <p:sp>
        <p:nvSpPr>
          <p:cNvPr id="29" name="Run button box"/>
          <p:cNvSpPr/>
          <p:nvPr/>
        </p:nvSpPr>
        <p:spPr>
          <a:xfrm>
            <a:off x="457200" y="461772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Run button" descr=""/>
          <p:cNvPicPr>
            <a:picLocks noChangeAspect="1"/>
          </p:cNvPicPr>
          <p:nvPr/>
        </p:nvPicPr>
        <p:blipFill>
          <a:blip r:embed="rId4"/>
          <a:stretch>
            <a:fillRect/>
          </a:stretch>
        </p:blipFill>
        <p:spPr>
          <a:xfrm>
            <a:off x="658368" y="4654296"/>
            <a:ext cx="384048" cy="384048"/>
          </a:xfrm>
          <a:prstGeom prst="rect">
            <a:avLst/>
          </a:prstGeom>
        </p:spPr>
      </p:pic>
      <p:sp>
        <p:nvSpPr>
          <p:cNvPr id="31" name="Run button text"/>
          <p:cNvSpPr txBox="1"/>
          <p:nvPr/>
        </p:nvSpPr>
        <p:spPr>
          <a:xfrm>
            <a:off x="1234440" y="4617720"/>
            <a:ext cx="7269480" cy="457200"/>
          </a:xfrm>
          <a:prstGeom prst="rect">
            <a:avLst/>
          </a:prstGeom>
          <a:noFill/>
        </p:spPr>
        <p:txBody>
          <a:bodyPr wrap="square" lIns="0" rIns="0" tIns="0" bIns="0" anchor="ctr">
            <a:noAutofit/>
          </a:bodyPr>
          <a:lstStyle/>
          <a:p>
            <a:pPr algn="l">
              <a:spcAft>
                <a:spcPts val="400"/>
              </a:spcAft>
            </a:pPr>
            <a:r>
              <a:rPr sz="1300" b="1" lang="en-GB">
                <a:solidFill>
                  <a:schemeClr val="tx2"/>
                </a:solidFill>
              </a:rPr>
              <a:t>Next: </a:t>
            </a:r>
            <a:r>
              <a:rPr sz="1300" b="0" lang="en-GB">
                <a:solidFill>
                  <a:schemeClr val="tx1"/>
                </a:solidFill>
              </a:rPr>
              <a:t>the full test with test_stack.qmd (next slide).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test the whole stack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polars caption bar"/>
          <p:cNvSpPr/>
          <p:nvPr/>
        </p:nvSpPr>
        <p:spPr>
          <a:xfrm>
            <a:off x="457200" y="1234440"/>
            <a:ext cx="41148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polars caption"/>
          <p:cNvSpPr txBox="1"/>
          <p:nvPr/>
        </p:nvSpPr>
        <p:spPr>
          <a:xfrm>
            <a:off x="566928" y="1234440"/>
            <a:ext cx="38953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test_stack.qmd · cell 1</a:t>
            </a:r>
          </a:p>
        </p:txBody>
      </p:sp>
      <p:sp>
        <p:nvSpPr>
          <p:cNvPr id="12" name="Test polars box"/>
          <p:cNvSpPr/>
          <p:nvPr/>
        </p:nvSpPr>
        <p:spPr>
          <a:xfrm>
            <a:off x="457200" y="1508760"/>
            <a:ext cx="4114800" cy="2514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st polars code"/>
          <p:cNvSpPr txBox="1"/>
          <p:nvPr/>
        </p:nvSpPr>
        <p:spPr>
          <a:xfrm>
            <a:off x="594360" y="1600200"/>
            <a:ext cx="3840480" cy="233172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polars: sum 2025 revenue by country</a:t>
            </a:r>
          </a:p>
          <a:p>
            <a:pPr algn="l">
              <a:spcAft>
                <a:spcPts val="0"/>
              </a:spcAft>
            </a:pPr>
            <a:r>
              <a:rPr sz="1000" b="0" lang="en-GB">
                <a:solidFill>
                  <a:schemeClr val="bg1"/>
                </a:solidFill>
                <a:latin typeface="Consolas"/>
              </a:rPr>
              <a:t>import polars as pl</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sales = pl.read_csv(</a:t>
            </a:r>
          </a:p>
          <a:p>
            <a:pPr algn="l">
              <a:spcAft>
                <a:spcPts val="0"/>
              </a:spcAft>
            </a:pPr>
            <a:r>
              <a:rPr sz="1000" b="0" lang="en-GB">
                <a:solidFill>
                  <a:schemeClr val="bg1"/>
                </a:solidFill>
                <a:latin typeface="Consolas"/>
              </a:rPr>
              <a:t>    "data/mmm/alpenglow_weekly.csv",</a:t>
            </a:r>
          </a:p>
          <a:p>
            <a:pPr algn="l">
              <a:spcAft>
                <a:spcPts val="0"/>
              </a:spcAft>
            </a:pPr>
            <a:r>
              <a:rPr sz="1000" b="0" lang="en-GB">
                <a:solidFill>
                  <a:schemeClr val="bg1"/>
                </a:solidFill>
                <a:latin typeface="Consolas"/>
              </a:rPr>
              <a:t>    try_parse_dates=True)</a:t>
            </a:r>
          </a:p>
          <a:p>
            <a:pPr algn="l">
              <a:spcAft>
                <a:spcPts val="0"/>
              </a:spcAft>
            </a:pPr>
            <a:r>
              <a:rPr sz="1000" b="0" lang="en-GB">
                <a:solidFill>
                  <a:schemeClr val="bg1"/>
                </a:solidFill>
                <a:latin typeface="Consolas"/>
              </a:rPr>
              <a:t>summary = (</a:t>
            </a:r>
          </a:p>
          <a:p>
            <a:pPr algn="l">
              <a:spcAft>
                <a:spcPts val="0"/>
              </a:spcAft>
            </a:pPr>
            <a:r>
              <a:rPr sz="1000" b="0" lang="en-GB">
                <a:solidFill>
                  <a:schemeClr val="bg1"/>
                </a:solidFill>
                <a:latin typeface="Consolas"/>
              </a:rPr>
              <a:t>    sales</a:t>
            </a:r>
          </a:p>
          <a:p>
            <a:pPr algn="l">
              <a:spcAft>
                <a:spcPts val="0"/>
              </a:spcAft>
            </a:pPr>
            <a:r>
              <a:rPr sz="1000" b="0" lang="en-GB">
                <a:solidFill>
                  <a:schemeClr val="bg1"/>
                </a:solidFill>
                <a:latin typeface="Consolas"/>
              </a:rPr>
              <a:t>    .filter(pl.col("week").dt.year() == 2025)</a:t>
            </a:r>
          </a:p>
          <a:p>
            <a:pPr algn="l">
              <a:spcAft>
                <a:spcPts val="0"/>
              </a:spcAft>
            </a:pPr>
            <a:r>
              <a:rPr sz="1000" b="0" lang="en-GB">
                <a:solidFill>
                  <a:schemeClr val="bg1"/>
                </a:solidFill>
                <a:latin typeface="Consolas"/>
              </a:rPr>
              <a:t>    .group_by("country")</a:t>
            </a:r>
          </a:p>
          <a:p>
            <a:pPr algn="l">
              <a:spcAft>
                <a:spcPts val="0"/>
              </a:spcAft>
            </a:pPr>
            <a:r>
              <a:rPr sz="1000" b="0" lang="en-GB">
                <a:solidFill>
                  <a:schemeClr val="bg1"/>
                </a:solidFill>
                <a:latin typeface="Consolas"/>
              </a:rPr>
              <a:t>    .agg(pl.col("revenue_eur_k").sum())</a:t>
            </a:r>
          </a:p>
          <a:p>
            <a:pPr algn="l">
              <a:spcAft>
                <a:spcPts val="0"/>
              </a:spcAft>
            </a:pPr>
            <a:r>
              <a:rPr sz="1000" b="0" lang="en-GB">
                <a:solidFill>
                  <a:schemeClr val="bg1"/>
                </a:solidFill>
                <a:latin typeface="Consolas"/>
              </a:rPr>
              <a:t>    .sort("revenue_eur_k", descending=True)</a:t>
            </a:r>
          </a:p>
          <a:p>
            <a:pPr algn="l">
              <a:spcAft>
                <a:spcPts val="0"/>
              </a:spcAft>
            </a:pPr>
            <a:r>
              <a:rPr sz="1000" b="0" lang="en-GB">
                <a:solidFill>
                  <a:schemeClr val="bg1"/>
                </a:solidFill>
                <a:latin typeface="Consolas"/>
              </a:rPr>
              <a:t>)</a:t>
            </a:r>
          </a:p>
          <a:p>
            <a:pPr algn="l">
              <a:spcAft>
                <a:spcPts val="0"/>
              </a:spcAft>
            </a:pPr>
            <a:r>
              <a:rPr sz="1000" b="0" lang="en-GB">
                <a:solidFill>
                  <a:schemeClr val="bg1"/>
                </a:solidFill>
                <a:latin typeface="Consolas"/>
              </a:rPr>
              <a:t>summary</a:t>
            </a:r>
          </a:p>
        </p:txBody>
      </p:sp>
      <p:sp>
        <p:nvSpPr>
          <p:cNvPr id="14" name="Test plotnine caption bar"/>
          <p:cNvSpPr/>
          <p:nvPr/>
        </p:nvSpPr>
        <p:spPr>
          <a:xfrm>
            <a:off x="4709160" y="1234440"/>
            <a:ext cx="3977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plotnine caption"/>
          <p:cNvSpPr txBox="1"/>
          <p:nvPr/>
        </p:nvSpPr>
        <p:spPr>
          <a:xfrm>
            <a:off x="4818888" y="1234440"/>
            <a:ext cx="3758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cell 2</a:t>
            </a:r>
          </a:p>
        </p:txBody>
      </p:sp>
      <p:sp>
        <p:nvSpPr>
          <p:cNvPr id="16" name="Test plotnine box"/>
          <p:cNvSpPr/>
          <p:nvPr/>
        </p:nvSpPr>
        <p:spPr>
          <a:xfrm>
            <a:off x="4709160" y="1508760"/>
            <a:ext cx="3977640" cy="1143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st plotnine code"/>
          <p:cNvSpPr txBox="1"/>
          <p:nvPr/>
        </p:nvSpPr>
        <p:spPr>
          <a:xfrm>
            <a:off x="4846320" y="1600200"/>
            <a:ext cx="3703320" cy="96012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plotnine: weekly sales, AT and DE</a:t>
            </a:r>
          </a:p>
          <a:p>
            <a:pPr algn="l">
              <a:spcAft>
                <a:spcPts val="0"/>
              </a:spcAft>
            </a:pPr>
            <a:r>
              <a:rPr sz="1000" b="0" lang="en-GB">
                <a:solidFill>
                  <a:schemeClr val="bg1"/>
                </a:solidFill>
                <a:latin typeface="Consolas"/>
              </a:rPr>
              <a:t>from plotnine import ggplot, aes, geom_line</a:t>
            </a:r>
          </a:p>
          <a:p>
            <a:pPr algn="l">
              <a:spcAft>
                <a:spcPts val="0"/>
              </a:spcAft>
            </a:pPr>
            <a:r>
              <a:rPr sz="1000" b="0" lang="en-GB">
                <a:solidFill>
                  <a:schemeClr val="bg1"/>
                </a:solidFill>
                <a:latin typeface="Consolas"/>
              </a:rPr>
              <a:t>two = sales.filter(</a:t>
            </a:r>
          </a:p>
          <a:p>
            <a:pPr algn="l">
              <a:spcAft>
                <a:spcPts val="0"/>
              </a:spcAft>
            </a:pPr>
            <a:r>
              <a:rPr sz="1000" b="0" lang="en-GB">
                <a:solidFill>
                  <a:schemeClr val="bg1"/>
                </a:solidFill>
                <a:latin typeface="Consolas"/>
              </a:rPr>
              <a:t>    pl.col("country").is_in(["AT", "DE"]))</a:t>
            </a:r>
          </a:p>
          <a:p>
            <a:pPr algn="l">
              <a:spcAft>
                <a:spcPts val="0"/>
              </a:spcAft>
            </a:pPr>
            <a:r>
              <a:rPr sz="1000" b="0" lang="en-GB">
                <a:solidFill>
                  <a:schemeClr val="bg1"/>
                </a:solidFill>
                <a:latin typeface="Consolas"/>
              </a:rPr>
              <a:t>ggplot(two, aes("week", "sales_units_k",</a:t>
            </a:r>
          </a:p>
          <a:p>
            <a:pPr algn="l">
              <a:spcAft>
                <a:spcPts val="0"/>
              </a:spcAft>
            </a:pPr>
            <a:r>
              <a:rPr sz="1000" b="0" lang="en-GB">
                <a:solidFill>
                  <a:schemeClr val="bg1"/>
                </a:solidFill>
                <a:latin typeface="Consolas"/>
              </a:rPr>
              <a:t>                color="country")) + geom_line()</a:t>
            </a:r>
          </a:p>
        </p:txBody>
      </p:sp>
      <p:sp>
        <p:nvSpPr>
          <p:cNvPr id="18" name="Test statsmodels caption bar"/>
          <p:cNvSpPr/>
          <p:nvPr/>
        </p:nvSpPr>
        <p:spPr>
          <a:xfrm>
            <a:off x="4709160" y="2743200"/>
            <a:ext cx="3977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statsmodels caption"/>
          <p:cNvSpPr txBox="1"/>
          <p:nvPr/>
        </p:nvSpPr>
        <p:spPr>
          <a:xfrm>
            <a:off x="4818888" y="2743200"/>
            <a:ext cx="3758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cell 3</a:t>
            </a:r>
          </a:p>
        </p:txBody>
      </p:sp>
      <p:sp>
        <p:nvSpPr>
          <p:cNvPr id="20" name="Test statsmodels box"/>
          <p:cNvSpPr/>
          <p:nvPr/>
        </p:nvSpPr>
        <p:spPr>
          <a:xfrm>
            <a:off x="4709160" y="3017520"/>
            <a:ext cx="3977640" cy="1554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st statsmodels code"/>
          <p:cNvSpPr txBox="1"/>
          <p:nvPr/>
        </p:nvSpPr>
        <p:spPr>
          <a:xfrm>
            <a:off x="4846320" y="3108960"/>
            <a:ext cx="3703320" cy="137160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statsmodels: regression for Austria</a:t>
            </a:r>
          </a:p>
          <a:p>
            <a:pPr algn="l">
              <a:spcAft>
                <a:spcPts val="0"/>
              </a:spcAft>
            </a:pPr>
            <a:r>
              <a:rPr sz="1000" b="0" lang="en-GB">
                <a:solidFill>
                  <a:schemeClr val="bg1"/>
                </a:solidFill>
                <a:latin typeface="Consolas"/>
              </a:rPr>
              <a:t>import statsmodels.formula.api as smf</a:t>
            </a:r>
          </a:p>
          <a:p>
            <a:pPr algn="l">
              <a:spcAft>
                <a:spcPts val="0"/>
              </a:spcAft>
            </a:pPr>
            <a:r>
              <a:rPr sz="1000" b="0" lang="en-GB">
                <a:solidFill>
                  <a:schemeClr val="bg1"/>
                </a:solidFill>
                <a:latin typeface="Consolas"/>
              </a:rPr>
              <a:t>at = (sales.filter(pl.col("country") == "AT")</a:t>
            </a:r>
          </a:p>
          <a:p>
            <a:pPr algn="l">
              <a:spcAft>
                <a:spcPts val="0"/>
              </a:spcAft>
            </a:pPr>
            <a:r>
              <a:rPr sz="1000" b="0" lang="en-GB">
                <a:solidFill>
                  <a:schemeClr val="bg1"/>
                </a:solidFill>
                <a:latin typeface="Consolas"/>
              </a:rPr>
              <a:t>      .to_pandas())</a:t>
            </a:r>
          </a:p>
          <a:p>
            <a:pPr algn="l">
              <a:spcAft>
                <a:spcPts val="0"/>
              </a:spcAft>
            </a:pPr>
            <a:r>
              <a:rPr sz="1000" b="0" lang="en-GB">
                <a:solidFill>
                  <a:schemeClr val="bg1"/>
                </a:solidFill>
                <a:latin typeface="Consolas"/>
              </a:rPr>
              <a:t>model = smf.ols(</a:t>
            </a:r>
          </a:p>
          <a:p>
            <a:pPr algn="l">
              <a:spcAft>
                <a:spcPts val="0"/>
              </a:spcAft>
            </a:pPr>
            <a:r>
              <a:rPr sz="1000" b="0" lang="en-GB">
                <a:solidFill>
                  <a:schemeClr val="bg1"/>
                </a:solidFill>
                <a:latin typeface="Consolas"/>
              </a:rPr>
              <a:t>    "sales_units_k ~ price_eur + spend_tv_k"</a:t>
            </a:r>
          </a:p>
          <a:p>
            <a:pPr algn="l">
              <a:spcAft>
                <a:spcPts val="0"/>
              </a:spcAft>
            </a:pPr>
            <a:r>
              <a:rPr sz="1000" b="0" lang="en-GB">
                <a:solidFill>
                  <a:schemeClr val="bg1"/>
                </a:solidFill>
                <a:latin typeface="Consolas"/>
              </a:rPr>
              <a:t>    " + spend_paid_search_k", data=at).fit()</a:t>
            </a:r>
          </a:p>
          <a:p>
            <a:pPr algn="l">
              <a:spcAft>
                <a:spcPts val="0"/>
              </a:spcAft>
            </a:pPr>
            <a:r>
              <a:rPr sz="1000" b="0" lang="en-GB">
                <a:solidFill>
                  <a:schemeClr val="bg1"/>
                </a:solidFill>
                <a:latin typeface="Consolas"/>
              </a:rPr>
              <a:t>model.params.round(2)</a:t>
            </a:r>
          </a:p>
        </p:txBody>
      </p:sp>
      <p:sp>
        <p:nvSpPr>
          <p:cNvPr id="22" name="Test result box"/>
          <p:cNvSpPr/>
          <p:nvPr/>
        </p:nvSpPr>
        <p:spPr>
          <a:xfrm>
            <a:off x="457200" y="4114800"/>
            <a:ext cx="41148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result"/>
          <p:cNvSpPr txBox="1"/>
          <p:nvPr/>
        </p:nvSpPr>
        <p:spPr>
          <a:xfrm>
            <a:off x="594360" y="4114800"/>
            <a:ext cx="393192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Result: </a:t>
            </a:r>
            <a:r>
              <a:rPr sz="1200" b="0" lang="en-GB">
                <a:solidFill>
                  <a:schemeClr val="tx1"/>
                </a:solidFill>
              </a:rPr>
              <a:t>a table, a chart and four coefficients</a:t>
            </a:r>
          </a:p>
        </p:txBody>
      </p:sp>
      <p:sp>
        <p:nvSpPr>
          <p:cNvPr id="24" name="Test run box"/>
          <p:cNvSpPr/>
          <p:nvPr/>
        </p:nvSpPr>
        <p:spPr>
          <a:xfrm>
            <a:off x="457200" y="4663440"/>
            <a:ext cx="82296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Test run" descr=""/>
          <p:cNvPicPr>
            <a:picLocks noChangeAspect="1"/>
          </p:cNvPicPr>
          <p:nvPr/>
        </p:nvPicPr>
        <p:blipFill>
          <a:blip r:embed="rId3"/>
          <a:stretch>
            <a:fillRect/>
          </a:stretch>
        </p:blipFill>
        <p:spPr>
          <a:xfrm>
            <a:off x="658368" y="4677156"/>
            <a:ext cx="384048" cy="384048"/>
          </a:xfrm>
          <a:prstGeom prst="rect">
            <a:avLst/>
          </a:prstGeom>
        </p:spPr>
      </p:pic>
      <p:sp>
        <p:nvSpPr>
          <p:cNvPr id="26" name="Test run text"/>
          <p:cNvSpPr txBox="1"/>
          <p:nvPr/>
        </p:nvSpPr>
        <p:spPr>
          <a:xfrm>
            <a:off x="1234440" y="4663440"/>
            <a:ext cx="7269480" cy="411480"/>
          </a:xfrm>
          <a:prstGeom prst="rect">
            <a:avLst/>
          </a:prstGeom>
          <a:noFill/>
        </p:spPr>
        <p:txBody>
          <a:bodyPr wrap="square" lIns="0" rIns="0" tIns="0" bIns="0" anchor="ctr">
            <a:noAutofit/>
          </a:bodyPr>
          <a:lstStyle/>
          <a:p>
            <a:pPr algn="l">
              <a:spcAft>
                <a:spcPts val="400"/>
              </a:spcAft>
            </a:pPr>
            <a:r>
              <a:rPr sz="1300" b="1" lang="en-GB">
                <a:solidFill>
                  <a:schemeClr val="tx2"/>
                </a:solidFill>
              </a:rPr>
              <a:t>Run it: </a:t>
            </a:r>
            <a:r>
              <a:rPr sz="1300" b="0" lang="en-GB">
                <a:solidFill>
                  <a:schemeClr val="tx1"/>
                </a:solidFill>
              </a:rPr>
              <a:t>open test_stack.qmd in Positron and press Preview (Ctrl/Cmd + Shift + 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6: connect your AI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gress step 1"/>
          <p:cNvSpPr/>
          <p:nvPr/>
        </p:nvSpPr>
        <p:spPr>
          <a:xfrm>
            <a:off x="457200" y="1188720"/>
            <a:ext cx="1463040" cy="384048"/>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Accounts</a:t>
            </a:r>
          </a:p>
        </p:txBody>
      </p:sp>
      <p:sp>
        <p:nvSpPr>
          <p:cNvPr id="11" name="Progress step 2"/>
          <p:cNvSpPr/>
          <p:nvPr/>
        </p:nvSpPr>
        <p:spPr>
          <a:xfrm>
            <a:off x="1810512"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Tools</a:t>
            </a:r>
          </a:p>
        </p:txBody>
      </p:sp>
      <p:sp>
        <p:nvSpPr>
          <p:cNvPr id="12" name="Progress step 3"/>
          <p:cNvSpPr/>
          <p:nvPr/>
        </p:nvSpPr>
        <p:spPr>
          <a:xfrm>
            <a:off x="3163824"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Repo</a:t>
            </a:r>
          </a:p>
        </p:txBody>
      </p:sp>
      <p:sp>
        <p:nvSpPr>
          <p:cNvPr id="13" name="Progress step 4"/>
          <p:cNvSpPr/>
          <p:nvPr/>
        </p:nvSpPr>
        <p:spPr>
          <a:xfrm>
            <a:off x="4517136"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Project</a:t>
            </a:r>
          </a:p>
        </p:txBody>
      </p:sp>
      <p:sp>
        <p:nvSpPr>
          <p:cNvPr id="14" name="Progress step 5"/>
          <p:cNvSpPr/>
          <p:nvPr/>
        </p:nvSpPr>
        <p:spPr>
          <a:xfrm>
            <a:off x="5870448" y="1188720"/>
            <a:ext cx="1463040" cy="384048"/>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Check</a:t>
            </a:r>
          </a:p>
        </p:txBody>
      </p:sp>
      <p:sp>
        <p:nvSpPr>
          <p:cNvPr id="15" name="Progress step 6"/>
          <p:cNvSpPr/>
          <p:nvPr/>
        </p:nvSpPr>
        <p:spPr>
          <a:xfrm>
            <a:off x="7223760" y="1188720"/>
            <a:ext cx="1463040" cy="384048"/>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AI</a:t>
            </a:r>
          </a:p>
        </p:txBody>
      </p:sp>
      <p:sp>
        <p:nvSpPr>
          <p:cNvPr id="16" name="AI steps row 1"/>
          <p:cNvSpPr/>
          <p:nvPr/>
        </p:nvSpPr>
        <p:spPr>
          <a:xfrm>
            <a:off x="457200" y="1783080"/>
            <a:ext cx="45720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I steps number 1"/>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8" name="AI steps text 1"/>
          <p:cNvSpPr txBox="1"/>
          <p:nvPr/>
        </p:nvSpPr>
        <p:spPr>
          <a:xfrm>
            <a:off x="1051560" y="1783080"/>
            <a:ext cx="3840480" cy="566928"/>
          </a:xfrm>
          <a:prstGeom prst="rect">
            <a:avLst/>
          </a:prstGeom>
          <a:noFill/>
        </p:spPr>
        <p:txBody>
          <a:bodyPr wrap="square" lIns="0" rIns="0" tIns="0" bIns="0" anchor="ctr">
            <a:noAutofit/>
          </a:bodyPr>
          <a:lstStyle/>
          <a:p>
            <a:pPr algn="l">
              <a:spcAft>
                <a:spcPts val="400"/>
              </a:spcAft>
            </a:pPr>
            <a:r>
              <a:rPr sz="1300" b="1" lang="en-GB">
                <a:solidFill>
                  <a:schemeClr val="tx2"/>
                </a:solidFill>
              </a:rPr>
              <a:t>Command Palette: </a:t>
            </a:r>
            <a:r>
              <a:rPr sz="1300" b="0" lang="en-GB">
                <a:solidFill>
                  <a:schemeClr val="tx1"/>
                </a:solidFill>
              </a:rPr>
              <a:t>Configure Language Model Providers</a:t>
            </a:r>
          </a:p>
        </p:txBody>
      </p:sp>
      <p:sp>
        <p:nvSpPr>
          <p:cNvPr id="19" name="AI steps row 2"/>
          <p:cNvSpPr/>
          <p:nvPr/>
        </p:nvSpPr>
        <p:spPr>
          <a:xfrm>
            <a:off x="457200" y="2441448"/>
            <a:ext cx="45720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I steps number 2"/>
          <p:cNvSpPr/>
          <p:nvPr/>
        </p:nvSpPr>
        <p:spPr>
          <a:xfrm>
            <a:off x="594360" y="256946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1" name="AI steps text 2"/>
          <p:cNvSpPr txBox="1"/>
          <p:nvPr/>
        </p:nvSpPr>
        <p:spPr>
          <a:xfrm>
            <a:off x="1051560" y="2441448"/>
            <a:ext cx="3840480" cy="566928"/>
          </a:xfrm>
          <a:prstGeom prst="rect">
            <a:avLst/>
          </a:prstGeom>
          <a:noFill/>
        </p:spPr>
        <p:txBody>
          <a:bodyPr wrap="square" lIns="0" rIns="0" tIns="0" bIns="0" anchor="ctr">
            <a:noAutofit/>
          </a:bodyPr>
          <a:lstStyle/>
          <a:p>
            <a:pPr algn="l">
              <a:spcAft>
                <a:spcPts val="400"/>
              </a:spcAft>
            </a:pPr>
            <a:r>
              <a:rPr sz="1300" b="1" lang="en-GB">
                <a:solidFill>
                  <a:schemeClr val="tx2"/>
                </a:solidFill>
              </a:rPr>
              <a:t>Choose GitHub Copilot </a:t>
            </a:r>
            <a:r>
              <a:rPr sz="1300" b="0" lang="en-GB">
                <a:solidFill>
                  <a:schemeClr val="tx1"/>
                </a:solidFill>
              </a:rPr>
              <a:t>and sign in with GitHub</a:t>
            </a:r>
          </a:p>
        </p:txBody>
      </p:sp>
      <p:sp>
        <p:nvSpPr>
          <p:cNvPr id="22" name="AI steps row 3"/>
          <p:cNvSpPr/>
          <p:nvPr/>
        </p:nvSpPr>
        <p:spPr>
          <a:xfrm>
            <a:off x="457200" y="3099816"/>
            <a:ext cx="45720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I steps number 3"/>
          <p:cNvSpPr/>
          <p:nvPr/>
        </p:nvSpPr>
        <p:spPr>
          <a:xfrm>
            <a:off x="594360" y="32278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4" name="AI steps text 3"/>
          <p:cNvSpPr txBox="1"/>
          <p:nvPr/>
        </p:nvSpPr>
        <p:spPr>
          <a:xfrm>
            <a:off x="1051560" y="3099816"/>
            <a:ext cx="3840480" cy="566928"/>
          </a:xfrm>
          <a:prstGeom prst="rect">
            <a:avLst/>
          </a:prstGeom>
          <a:noFill/>
        </p:spPr>
        <p:txBody>
          <a:bodyPr wrap="square" lIns="0" rIns="0" tIns="0" bIns="0" anchor="ctr">
            <a:noAutofit/>
          </a:bodyPr>
          <a:lstStyle/>
          <a:p>
            <a:pPr algn="l">
              <a:spcAft>
                <a:spcPts val="400"/>
              </a:spcAft>
            </a:pPr>
            <a:r>
              <a:rPr sz="1300" b="1" lang="en-GB">
                <a:solidFill>
                  <a:schemeClr val="tx2"/>
                </a:solidFill>
              </a:rPr>
              <a:t>Open the chat: </a:t>
            </a:r>
            <a:r>
              <a:rPr sz="1300" b="0" lang="en-GB">
                <a:solidFill>
                  <a:schemeClr val="tx1"/>
                </a:solidFill>
              </a:rPr>
              <a:t>View: Show Posit Assistant</a:t>
            </a:r>
          </a:p>
        </p:txBody>
      </p:sp>
      <p:sp>
        <p:nvSpPr>
          <p:cNvPr id="25" name="Options panel"/>
          <p:cNvSpPr/>
          <p:nvPr/>
        </p:nvSpPr>
        <p:spPr>
          <a:xfrm>
            <a:off x="5212080" y="1783080"/>
            <a:ext cx="3474720" cy="18836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ptions head"/>
          <p:cNvSpPr txBox="1"/>
          <p:nvPr/>
        </p:nvSpPr>
        <p:spPr>
          <a:xfrm>
            <a:off x="5394960" y="1828800"/>
            <a:ext cx="3108960" cy="320040"/>
          </a:xfrm>
          <a:prstGeom prst="rect">
            <a:avLst/>
          </a:prstGeom>
          <a:noFill/>
        </p:spPr>
        <p:txBody>
          <a:bodyPr wrap="square" lIns="0" rIns="0" tIns="0" bIns="0" anchor="t">
            <a:noAutofit/>
          </a:bodyPr>
          <a:lstStyle/>
          <a:p>
            <a:pPr algn="l">
              <a:spcAft>
                <a:spcPts val="400"/>
              </a:spcAft>
            </a:pPr>
            <a:r>
              <a:rPr sz="1300" b="1" lang="en-GB">
                <a:solidFill>
                  <a:schemeClr val="tx2"/>
                </a:solidFill>
              </a:rPr>
              <a:t>Providers</a:t>
            </a:r>
          </a:p>
        </p:txBody>
      </p:sp>
      <p:sp>
        <p:nvSpPr>
          <p:cNvPr id="27" name="Options text"/>
          <p:cNvSpPr txBox="1"/>
          <p:nvPr/>
        </p:nvSpPr>
        <p:spPr>
          <a:xfrm>
            <a:off x="5394960" y="2148840"/>
            <a:ext cx="3200400" cy="1463040"/>
          </a:xfrm>
          <a:prstGeom prst="rect">
            <a:avLst/>
          </a:prstGeom>
          <a:noFill/>
        </p:spPr>
        <p:txBody>
          <a:bodyPr wrap="square" lIns="0" rIns="0" tIns="0" bIns="0" anchor="t">
            <a:noAutofit/>
          </a:bodyPr>
          <a:lstStyle/>
          <a:p>
            <a:pPr algn="l">
              <a:spcAft>
                <a:spcPts val="400"/>
              </a:spcAft>
            </a:pPr>
            <a:r>
              <a:rPr sz="1200" b="1" lang="en-GB">
                <a:solidFill>
                  <a:schemeClr val="tx2"/>
                </a:solidFill>
              </a:rPr>
              <a:t>GitHub Copilot: </a:t>
            </a:r>
            <a:r>
              <a:rPr sz="1200" b="0" lang="en-GB">
                <a:solidFill>
                  <a:schemeClr val="tx1"/>
                </a:solidFill>
              </a:rPr>
              <a:t>chat and completions; free with Copilot Student or Copilot Free</a:t>
            </a:r>
          </a:p>
          <a:p>
            <a:pPr algn="l">
              <a:spcAft>
                <a:spcPts val="400"/>
              </a:spcAft>
            </a:pPr>
            <a:r>
              <a:rPr sz="1200" b="1" lang="en-GB">
                <a:solidFill>
                  <a:schemeClr val="tx2"/>
                </a:solidFill>
              </a:rPr>
              <a:t>Posit AI Pass: </a:t>
            </a:r>
            <a:r>
              <a:rPr sz="1200" b="0" lang="en-GB">
                <a:solidFill>
                  <a:schemeClr val="tx1"/>
                </a:solidFill>
              </a:rPr>
              <a:t>chat and completions; about USD 20 a month</a:t>
            </a:r>
          </a:p>
          <a:p>
            <a:pPr algn="l">
              <a:spcAft>
                <a:spcPts val="400"/>
              </a:spcAft>
            </a:pPr>
            <a:r>
              <a:rPr sz="1200" b="1" lang="en-GB">
                <a:solidFill>
                  <a:schemeClr val="tx2"/>
                </a:solidFill>
              </a:rPr>
              <a:t>Anthropic API key: </a:t>
            </a:r>
            <a:r>
              <a:rPr sz="1200" b="0" lang="en-GB">
                <a:solidFill>
                  <a:schemeClr val="tx1"/>
                </a:solidFill>
              </a:rPr>
              <a:t>chat; pay as you go</a:t>
            </a:r>
          </a:p>
        </p:txBody>
      </p:sp>
      <p:sp>
        <p:nvSpPr>
          <p:cNvPr id="28" name="AI rule box"/>
          <p:cNvSpPr/>
          <p:nvPr/>
        </p:nvSpPr>
        <p:spPr>
          <a:xfrm>
            <a:off x="457200" y="3886200"/>
            <a:ext cx="8229600" cy="10972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AI rule" descr=""/>
          <p:cNvPicPr>
            <a:picLocks noChangeAspect="1"/>
          </p:cNvPicPr>
          <p:nvPr/>
        </p:nvPicPr>
        <p:blipFill>
          <a:blip r:embed="rId3"/>
          <a:stretch>
            <a:fillRect/>
          </a:stretch>
        </p:blipFill>
        <p:spPr>
          <a:xfrm>
            <a:off x="658368" y="4242816"/>
            <a:ext cx="384048" cy="384048"/>
          </a:xfrm>
          <a:prstGeom prst="rect">
            <a:avLst/>
          </a:prstGeom>
        </p:spPr>
      </p:pic>
      <p:sp>
        <p:nvSpPr>
          <p:cNvPr id="30" name="AI rule text"/>
          <p:cNvSpPr txBox="1"/>
          <p:nvPr/>
        </p:nvSpPr>
        <p:spPr>
          <a:xfrm>
            <a:off x="1234440" y="3886200"/>
            <a:ext cx="7269480" cy="1097280"/>
          </a:xfrm>
          <a:prstGeom prst="rect">
            <a:avLst/>
          </a:prstGeom>
          <a:noFill/>
        </p:spPr>
        <p:txBody>
          <a:bodyPr wrap="square" lIns="0" rIns="0" tIns="0" bIns="0" anchor="ctr">
            <a:noAutofit/>
          </a:bodyPr>
          <a:lstStyle/>
          <a:p>
            <a:pPr algn="l">
              <a:spcAft>
                <a:spcPts val="400"/>
              </a:spcAft>
            </a:pPr>
            <a:r>
              <a:rPr sz="1300" b="1" lang="en-GB">
                <a:solidFill>
                  <a:schemeClr val="bg1"/>
                </a:solidFill>
              </a:rPr>
              <a:t>Our rule: </a:t>
            </a:r>
            <a:r>
              <a:rPr sz="1300" b="0" lang="en-GB">
                <a:solidFill>
                  <a:schemeClr val="bg1"/>
                </a:solidFill>
              </a:rPr>
              <a:t>the AI writes, you check. Run the code, read the output and keep a short prompt log for each submission.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6 · panes, running code, projects, shortcuts, Posit Assistant</a:t>
            </a:r>
          </a:p>
        </p:txBody>
      </p:sp>
      <p:sp>
        <p:nvSpPr>
          <p:cNvPr id="3" name="Title 2"/>
          <p:cNvSpPr>
            <a:spLocks noGrp="1"/>
          </p:cNvSpPr>
          <p:nvPr>
            <p:ph type="ctrTitle"/>
          </p:nvPr>
        </p:nvSpPr>
        <p:spPr/>
        <p:txBody>
          <a:bodyPr/>
          <a:lstStyle/>
          <a:p>
            <a:r>
              <a:rPr sz="1600" lang="en-GB"/>
              <a:t>How Positron works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Positron at a glance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p Bar"/>
          <p:cNvSpPr/>
          <p:nvPr/>
        </p:nvSpPr>
        <p:spPr>
          <a:xfrm>
            <a:off x="457200" y="1234440"/>
            <a:ext cx="8229600" cy="3291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op Bar left"/>
          <p:cNvSpPr txBox="1"/>
          <p:nvPr/>
        </p:nvSpPr>
        <p:spPr>
          <a:xfrm>
            <a:off x="594360" y="1234440"/>
            <a:ext cx="2743200" cy="329184"/>
          </a:xfrm>
          <a:prstGeom prst="rect">
            <a:avLst/>
          </a:prstGeom>
          <a:noFill/>
        </p:spPr>
        <p:txBody>
          <a:bodyPr wrap="square" lIns="0" rIns="0" tIns="0" bIns="0" anchor="ctr">
            <a:noAutofit/>
          </a:bodyPr>
          <a:lstStyle/>
          <a:p>
            <a:pPr algn="l">
              <a:spcAft>
                <a:spcPts val="400"/>
              </a:spcAft>
            </a:pPr>
            <a:r>
              <a:rPr sz="1100" b="0" lang="en-GB">
                <a:solidFill>
                  <a:schemeClr val="bg1"/>
                </a:solidFill>
              </a:rPr>
              <a:t>New ▾   Open ▾</a:t>
            </a:r>
          </a:p>
        </p:txBody>
      </p:sp>
      <p:sp>
        <p:nvSpPr>
          <p:cNvPr id="12" name="Project switcher"/>
          <p:cNvSpPr/>
          <p:nvPr/>
        </p:nvSpPr>
        <p:spPr>
          <a:xfrm>
            <a:off x="4572000" y="1271016"/>
            <a:ext cx="15087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oject switcher text"/>
          <p:cNvSpPr txBox="1"/>
          <p:nvPr/>
        </p:nvSpPr>
        <p:spPr>
          <a:xfrm>
            <a:off x="4617720" y="1271016"/>
            <a:ext cx="1417320" cy="256032"/>
          </a:xfrm>
          <a:prstGeom prst="rect">
            <a:avLst/>
          </a:prstGeom>
          <a:noFill/>
        </p:spPr>
        <p:txBody>
          <a:bodyPr wrap="square" lIns="0" rIns="0" tIns="0" bIns="0" anchor="ctr">
            <a:noAutofit/>
          </a:bodyPr>
          <a:lstStyle/>
          <a:p>
            <a:pPr algn="ctr">
              <a:spcAft>
                <a:spcPts val="400"/>
              </a:spcAft>
            </a:pPr>
            <a:r>
              <a:rPr sz="1050" b="0" lang="en-GB">
                <a:solidFill>
                  <a:schemeClr val="tx2"/>
                </a:solidFill>
              </a:rPr>
              <a:t>case-study ▾</a:t>
            </a:r>
          </a:p>
        </p:txBody>
      </p:sp>
      <p:sp>
        <p:nvSpPr>
          <p:cNvPr id="14" name="Window pill"/>
          <p:cNvSpPr/>
          <p:nvPr/>
        </p:nvSpPr>
        <p:spPr>
          <a:xfrm>
            <a:off x="6172200" y="1271016"/>
            <a:ext cx="24231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Window pill text"/>
          <p:cNvSpPr txBox="1"/>
          <p:nvPr/>
        </p:nvSpPr>
        <p:spPr>
          <a:xfrm>
            <a:off x="6217920" y="1271016"/>
            <a:ext cx="2331720" cy="256032"/>
          </a:xfrm>
          <a:prstGeom prst="rect">
            <a:avLst/>
          </a:prstGeom>
          <a:noFill/>
        </p:spPr>
        <p:txBody>
          <a:bodyPr wrap="square" lIns="0" rIns="0" tIns="0" bIns="0" anchor="ctr">
            <a:noAutofit/>
          </a:bodyPr>
          <a:lstStyle/>
          <a:p>
            <a:pPr algn="ctr">
              <a:spcAft>
                <a:spcPts val="400"/>
              </a:spcAft>
            </a:pPr>
            <a:r>
              <a:rPr sz="1050" b="0" lang="en-GB">
                <a:solidFill>
                  <a:schemeClr val="tx2"/>
                </a:solidFill>
                <a:latin typeface="Consolas"/>
              </a:rPr>
              <a:t>Python 3.14.8 (.venv) ▾</a:t>
            </a:r>
          </a:p>
        </p:txBody>
      </p:sp>
      <p:sp>
        <p:nvSpPr>
          <p:cNvPr id="16" name="Activity bar"/>
          <p:cNvSpPr/>
          <p:nvPr/>
        </p:nvSpPr>
        <p:spPr>
          <a:xfrm>
            <a:off x="457200" y="1563624"/>
            <a:ext cx="274320" cy="35112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ane Explorer"/>
          <p:cNvSpPr/>
          <p:nvPr/>
        </p:nvSpPr>
        <p:spPr>
          <a:xfrm>
            <a:off x="768096" y="1600200"/>
            <a:ext cx="1700784" cy="3474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ne number 1"/>
          <p:cNvSpPr/>
          <p:nvPr/>
        </p:nvSpPr>
        <p:spPr>
          <a:xfrm>
            <a:off x="859536" y="169164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9" name="Pane text 1"/>
          <p:cNvSpPr txBox="1"/>
          <p:nvPr/>
        </p:nvSpPr>
        <p:spPr>
          <a:xfrm>
            <a:off x="1225296" y="1673352"/>
            <a:ext cx="1152144" cy="548640"/>
          </a:xfrm>
          <a:prstGeom prst="rect">
            <a:avLst/>
          </a:prstGeom>
          <a:noFill/>
        </p:spPr>
        <p:txBody>
          <a:bodyPr wrap="square" lIns="0" rIns="0" tIns="0" bIns="0" anchor="t">
            <a:noAutofit/>
          </a:bodyPr>
          <a:lstStyle/>
          <a:p>
            <a:pPr algn="l">
              <a:spcAft>
                <a:spcPts val="0"/>
              </a:spcAft>
            </a:pPr>
            <a:r>
              <a:rPr sz="1200" b="1" lang="en-GB">
                <a:solidFill>
                  <a:schemeClr val="tx2"/>
                </a:solidFill>
              </a:rPr>
              <a:t>Explorer</a:t>
            </a:r>
          </a:p>
          <a:p>
            <a:pPr algn="l">
              <a:spcAft>
                <a:spcPts val="0"/>
              </a:spcAft>
            </a:pPr>
            <a:r>
              <a:rPr sz="1100" b="0" lang="en-GB">
                <a:solidFill>
                  <a:schemeClr val="tx1"/>
                </a:solidFill>
              </a:rPr>
              <a:t>files of the open folder</a:t>
            </a:r>
          </a:p>
        </p:txBody>
      </p:sp>
      <p:sp>
        <p:nvSpPr>
          <p:cNvPr id="20" name="Pane sample 1"/>
          <p:cNvSpPr txBox="1"/>
          <p:nvPr/>
        </p:nvSpPr>
        <p:spPr>
          <a:xfrm>
            <a:off x="905256" y="2377440"/>
            <a:ext cx="1426464" cy="2606040"/>
          </a:xfrm>
          <a:prstGeom prst="rect">
            <a:avLst/>
          </a:prstGeom>
          <a:noFill/>
        </p:spPr>
        <p:txBody>
          <a:bodyPr wrap="square" lIns="0" rIns="0" tIns="0" bIns="0" anchor="t">
            <a:noAutofit/>
          </a:bodyPr>
          <a:lstStyle/>
          <a:p>
            <a:pPr algn="l">
              <a:spcAft>
                <a:spcPts val="0"/>
              </a:spcAft>
            </a:pPr>
            <a:r>
              <a:rPr sz="1100" b="0" lang="en-GB">
                <a:solidFill>
                  <a:schemeClr val="tx2"/>
                </a:solidFill>
                <a:latin typeface="Consolas"/>
              </a:rPr>
              <a:t>data/</a:t>
            </a:r>
          </a:p>
          <a:p>
            <a:pPr algn="l">
              <a:spcAft>
                <a:spcPts val="0"/>
              </a:spcAft>
            </a:pPr>
            <a:r>
              <a:rPr sz="1100" b="0" lang="en-GB">
                <a:solidFill>
                  <a:schemeClr val="tx2"/>
                </a:solidFill>
                <a:latin typeface="Consolas"/>
              </a:rPr>
              <a:t>analysis.py</a:t>
            </a:r>
          </a:p>
          <a:p>
            <a:pPr algn="l">
              <a:spcAft>
                <a:spcPts val="0"/>
              </a:spcAft>
            </a:pPr>
            <a:r>
              <a:rPr sz="1100" b="0" lang="en-GB">
                <a:solidFill>
                  <a:schemeClr val="tx2"/>
                </a:solidFill>
                <a:latin typeface="Consolas"/>
              </a:rPr>
              <a:t>report.qmd</a:t>
            </a:r>
          </a:p>
          <a:p>
            <a:pPr algn="l">
              <a:spcAft>
                <a:spcPts val="0"/>
              </a:spcAft>
            </a:pPr>
            <a:r>
              <a:rPr sz="1100" b="0" lang="en-GB">
                <a:solidFill>
                  <a:schemeClr val="tx2"/>
                </a:solidFill>
                <a:latin typeface="Consolas"/>
              </a:rPr>
              <a:t>requirements.txt</a:t>
            </a:r>
          </a:p>
        </p:txBody>
      </p:sp>
      <p:sp>
        <p:nvSpPr>
          <p:cNvPr id="21" name="Pane Editor"/>
          <p:cNvSpPr/>
          <p:nvPr/>
        </p:nvSpPr>
        <p:spPr>
          <a:xfrm>
            <a:off x="2505456" y="1600200"/>
            <a:ext cx="3529584" cy="19019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ne number 2"/>
          <p:cNvSpPr/>
          <p:nvPr/>
        </p:nvSpPr>
        <p:spPr>
          <a:xfrm>
            <a:off x="2596896" y="169164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3" name="Pane text 2"/>
          <p:cNvSpPr txBox="1"/>
          <p:nvPr/>
        </p:nvSpPr>
        <p:spPr>
          <a:xfrm>
            <a:off x="2962656" y="1673352"/>
            <a:ext cx="2980944" cy="548640"/>
          </a:xfrm>
          <a:prstGeom prst="rect">
            <a:avLst/>
          </a:prstGeom>
          <a:noFill/>
        </p:spPr>
        <p:txBody>
          <a:bodyPr wrap="square" lIns="0" rIns="0" tIns="0" bIns="0" anchor="t">
            <a:noAutofit/>
          </a:bodyPr>
          <a:lstStyle/>
          <a:p>
            <a:pPr algn="l">
              <a:spcAft>
                <a:spcPts val="0"/>
              </a:spcAft>
            </a:pPr>
            <a:r>
              <a:rPr sz="1200" b="1" lang="en-GB">
                <a:solidFill>
                  <a:schemeClr val="tx2"/>
                </a:solidFill>
              </a:rPr>
              <a:t>Editor</a:t>
            </a:r>
          </a:p>
          <a:p>
            <a:pPr algn="l">
              <a:spcAft>
                <a:spcPts val="0"/>
              </a:spcAft>
            </a:pPr>
            <a:r>
              <a:rPr sz="1100" b="0" lang="en-GB">
                <a:solidFill>
                  <a:schemeClr val="tx1"/>
                </a:solidFill>
              </a:rPr>
              <a:t>write .py and .qmd files</a:t>
            </a:r>
          </a:p>
        </p:txBody>
      </p:sp>
      <p:sp>
        <p:nvSpPr>
          <p:cNvPr id="24" name="Pane sample 2"/>
          <p:cNvSpPr txBox="1"/>
          <p:nvPr/>
        </p:nvSpPr>
        <p:spPr>
          <a:xfrm>
            <a:off x="2642616" y="2377440"/>
            <a:ext cx="3255264" cy="1033272"/>
          </a:xfrm>
          <a:prstGeom prst="rect">
            <a:avLst/>
          </a:prstGeom>
          <a:noFill/>
        </p:spPr>
        <p:txBody>
          <a:bodyPr wrap="square" lIns="0" rIns="0" tIns="0" bIns="0" anchor="t">
            <a:noAutofit/>
          </a:bodyPr>
          <a:lstStyle/>
          <a:p>
            <a:pPr algn="l">
              <a:spcAft>
                <a:spcPts val="0"/>
              </a:spcAft>
            </a:pPr>
            <a:r>
              <a:rPr sz="1100" b="0" lang="en-GB">
                <a:solidFill>
                  <a:schemeClr val="tx2"/>
                </a:solidFill>
                <a:latin typeface="Consolas"/>
              </a:rPr>
              <a:t># %%</a:t>
            </a:r>
          </a:p>
          <a:p>
            <a:pPr algn="l">
              <a:spcAft>
                <a:spcPts val="0"/>
              </a:spcAft>
            </a:pPr>
            <a:r>
              <a:rPr sz="1100" b="0" lang="en-GB">
                <a:solidFill>
                  <a:schemeClr val="tx2"/>
                </a:solidFill>
                <a:latin typeface="Consolas"/>
              </a:rPr>
              <a:t>sales = pl.read_csv(...)</a:t>
            </a:r>
          </a:p>
          <a:p>
            <a:pPr algn="l">
              <a:spcAft>
                <a:spcPts val="0"/>
              </a:spcAft>
            </a:pPr>
            <a:r>
              <a:rPr sz="1100" b="0" lang="en-GB">
                <a:solidFill>
                  <a:schemeClr val="tx2"/>
                </a:solidFill>
                <a:latin typeface="Consolas"/>
              </a:rPr>
              <a:t>sales.head()</a:t>
            </a:r>
          </a:p>
        </p:txBody>
      </p:sp>
      <p:sp>
        <p:nvSpPr>
          <p:cNvPr id="25" name="Pane Console and Terminal"/>
          <p:cNvSpPr/>
          <p:nvPr/>
        </p:nvSpPr>
        <p:spPr>
          <a:xfrm>
            <a:off x="2505456" y="3538728"/>
            <a:ext cx="3529584" cy="15361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ane number 3"/>
          <p:cNvSpPr/>
          <p:nvPr/>
        </p:nvSpPr>
        <p:spPr>
          <a:xfrm>
            <a:off x="2596896" y="363016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7" name="Pane text 3"/>
          <p:cNvSpPr txBox="1"/>
          <p:nvPr/>
        </p:nvSpPr>
        <p:spPr>
          <a:xfrm>
            <a:off x="2962656" y="3611880"/>
            <a:ext cx="2980944" cy="548640"/>
          </a:xfrm>
          <a:prstGeom prst="rect">
            <a:avLst/>
          </a:prstGeom>
          <a:noFill/>
        </p:spPr>
        <p:txBody>
          <a:bodyPr wrap="square" lIns="0" rIns="0" tIns="0" bIns="0" anchor="t">
            <a:noAutofit/>
          </a:bodyPr>
          <a:lstStyle/>
          <a:p>
            <a:pPr algn="l">
              <a:spcAft>
                <a:spcPts val="0"/>
              </a:spcAft>
            </a:pPr>
            <a:r>
              <a:rPr sz="1200" b="1" lang="en-GB">
                <a:solidFill>
                  <a:schemeClr val="tx2"/>
                </a:solidFill>
              </a:rPr>
              <a:t>Console and Terminal</a:t>
            </a:r>
          </a:p>
          <a:p>
            <a:pPr algn="l">
              <a:spcAft>
                <a:spcPts val="0"/>
              </a:spcAft>
            </a:pPr>
            <a:r>
              <a:rPr sz="1100" b="0" lang="en-GB">
                <a:solidFill>
                  <a:schemeClr val="tx1"/>
                </a:solidFill>
              </a:rPr>
              <a:t>the Panel: code runs, results print</a:t>
            </a:r>
          </a:p>
        </p:txBody>
      </p:sp>
      <p:sp>
        <p:nvSpPr>
          <p:cNvPr id="28" name="Pane sample 3"/>
          <p:cNvSpPr txBox="1"/>
          <p:nvPr/>
        </p:nvSpPr>
        <p:spPr>
          <a:xfrm>
            <a:off x="2642616" y="4315968"/>
            <a:ext cx="3255264" cy="667512"/>
          </a:xfrm>
          <a:prstGeom prst="rect">
            <a:avLst/>
          </a:prstGeom>
          <a:noFill/>
        </p:spPr>
        <p:txBody>
          <a:bodyPr wrap="square" lIns="0" rIns="0" tIns="0" bIns="0" anchor="t">
            <a:noAutofit/>
          </a:bodyPr>
          <a:lstStyle/>
          <a:p>
            <a:pPr algn="l">
              <a:spcAft>
                <a:spcPts val="0"/>
              </a:spcAft>
            </a:pPr>
            <a:r>
              <a:rPr sz="1100" b="0" lang="en-GB">
                <a:solidFill>
                  <a:schemeClr val="tx2"/>
                </a:solidFill>
                <a:latin typeface="Consolas"/>
              </a:rPr>
              <a:t>&gt;&gt;&gt; sales.height</a:t>
            </a:r>
          </a:p>
          <a:p>
            <a:pPr algn="l">
              <a:spcAft>
                <a:spcPts val="0"/>
              </a:spcAft>
            </a:pPr>
            <a:r>
              <a:rPr sz="1100" b="0" lang="en-GB">
                <a:solidFill>
                  <a:schemeClr val="tx2"/>
                </a:solidFill>
                <a:latin typeface="Consolas"/>
              </a:rPr>
              <a:t>936</a:t>
            </a:r>
          </a:p>
        </p:txBody>
      </p:sp>
      <p:sp>
        <p:nvSpPr>
          <p:cNvPr id="29" name="Pane Variables"/>
          <p:cNvSpPr/>
          <p:nvPr/>
        </p:nvSpPr>
        <p:spPr>
          <a:xfrm>
            <a:off x="6071616" y="1600200"/>
            <a:ext cx="2615184" cy="1581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ane number 4"/>
          <p:cNvSpPr/>
          <p:nvPr/>
        </p:nvSpPr>
        <p:spPr>
          <a:xfrm>
            <a:off x="6163056" y="169164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31" name="Pane text 4"/>
          <p:cNvSpPr txBox="1"/>
          <p:nvPr/>
        </p:nvSpPr>
        <p:spPr>
          <a:xfrm>
            <a:off x="6528816" y="1673352"/>
            <a:ext cx="2066544" cy="548640"/>
          </a:xfrm>
          <a:prstGeom prst="rect">
            <a:avLst/>
          </a:prstGeom>
          <a:noFill/>
        </p:spPr>
        <p:txBody>
          <a:bodyPr wrap="square" lIns="0" rIns="0" tIns="0" bIns="0" anchor="t">
            <a:noAutofit/>
          </a:bodyPr>
          <a:lstStyle/>
          <a:p>
            <a:pPr algn="l">
              <a:spcAft>
                <a:spcPts val="0"/>
              </a:spcAft>
            </a:pPr>
            <a:r>
              <a:rPr sz="1200" b="1" lang="en-GB">
                <a:solidFill>
                  <a:schemeClr val="tx2"/>
                </a:solidFill>
              </a:rPr>
              <a:t>Variables</a:t>
            </a:r>
          </a:p>
          <a:p>
            <a:pPr algn="l">
              <a:spcAft>
                <a:spcPts val="0"/>
              </a:spcAft>
            </a:pPr>
            <a:r>
              <a:rPr sz="1100" b="0" lang="en-GB">
                <a:solidFill>
                  <a:schemeClr val="tx1"/>
                </a:solidFill>
              </a:rPr>
              <a:t>Session pane: what is in memory</a:t>
            </a:r>
          </a:p>
        </p:txBody>
      </p:sp>
      <p:sp>
        <p:nvSpPr>
          <p:cNvPr id="32" name="Pane Plots"/>
          <p:cNvSpPr/>
          <p:nvPr/>
        </p:nvSpPr>
        <p:spPr>
          <a:xfrm>
            <a:off x="6071616" y="3218688"/>
            <a:ext cx="2615184" cy="1856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ne number 5"/>
          <p:cNvSpPr/>
          <p:nvPr/>
        </p:nvSpPr>
        <p:spPr>
          <a:xfrm>
            <a:off x="6163056" y="331012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34" name="Pane text 5"/>
          <p:cNvSpPr txBox="1"/>
          <p:nvPr/>
        </p:nvSpPr>
        <p:spPr>
          <a:xfrm>
            <a:off x="6528816" y="3291840"/>
            <a:ext cx="2066544" cy="548640"/>
          </a:xfrm>
          <a:prstGeom prst="rect">
            <a:avLst/>
          </a:prstGeom>
          <a:noFill/>
        </p:spPr>
        <p:txBody>
          <a:bodyPr wrap="square" lIns="0" rIns="0" tIns="0" bIns="0" anchor="t">
            <a:noAutofit/>
          </a:bodyPr>
          <a:lstStyle/>
          <a:p>
            <a:pPr algn="l">
              <a:spcAft>
                <a:spcPts val="0"/>
              </a:spcAft>
            </a:pPr>
            <a:r>
              <a:rPr sz="1200" b="1" lang="en-GB">
                <a:solidFill>
                  <a:schemeClr val="tx2"/>
                </a:solidFill>
              </a:rPr>
              <a:t>Plots</a:t>
            </a:r>
          </a:p>
          <a:p>
            <a:pPr algn="l">
              <a:spcAft>
                <a:spcPts val="0"/>
              </a:spcAft>
            </a:pPr>
            <a:r>
              <a:rPr sz="1100" b="0" lang="en-GB">
                <a:solidFill>
                  <a:schemeClr val="tx1"/>
                </a:solidFill>
              </a:rPr>
              <a:t>Session pane: your charts</a:t>
            </a:r>
          </a:p>
        </p:txBody>
      </p:sp>
      <p:sp>
        <p:nvSpPr>
          <p:cNvPr id="35" name="Variable 1"/>
          <p:cNvSpPr txBox="1"/>
          <p:nvPr/>
        </p:nvSpPr>
        <p:spPr>
          <a:xfrm>
            <a:off x="6208776" y="2240280"/>
            <a:ext cx="2377440" cy="274320"/>
          </a:xfrm>
          <a:prstGeom prst="rect">
            <a:avLst/>
          </a:prstGeom>
          <a:noFill/>
        </p:spPr>
        <p:txBody>
          <a:bodyPr wrap="square" lIns="0" rIns="0" tIns="0" bIns="0" anchor="t">
            <a:noAutofit/>
          </a:bodyPr>
          <a:lstStyle/>
          <a:p>
            <a:pPr algn="l">
              <a:spcAft>
                <a:spcPts val="0"/>
              </a:spcAft>
            </a:pPr>
            <a:r>
              <a:rPr sz="1100" b="0" lang="en-GB">
                <a:solidFill>
                  <a:schemeClr val="tx2"/>
                </a:solidFill>
                <a:latin typeface="Consolas"/>
              </a:rPr>
              <a:t>sales</a:t>
            </a:r>
            <a:r>
              <a:rPr sz="1100" b="0" lang="en-GB">
                <a:solidFill>
                  <a:schemeClr val="tx1"/>
                </a:solidFill>
              </a:rPr>
              <a:t>   936 × 18</a:t>
            </a:r>
          </a:p>
        </p:txBody>
      </p:sp>
      <p:sp>
        <p:nvSpPr>
          <p:cNvPr id="36" name="Variable 2"/>
          <p:cNvSpPr txBox="1"/>
          <p:nvPr/>
        </p:nvSpPr>
        <p:spPr>
          <a:xfrm>
            <a:off x="6208776" y="2514600"/>
            <a:ext cx="2377440" cy="274320"/>
          </a:xfrm>
          <a:prstGeom prst="rect">
            <a:avLst/>
          </a:prstGeom>
          <a:noFill/>
        </p:spPr>
        <p:txBody>
          <a:bodyPr wrap="square" lIns="0" rIns="0" tIns="0" bIns="0" anchor="t">
            <a:noAutofit/>
          </a:bodyPr>
          <a:lstStyle/>
          <a:p>
            <a:pPr algn="l">
              <a:spcAft>
                <a:spcPts val="0"/>
              </a:spcAft>
            </a:pPr>
            <a:r>
              <a:rPr sz="1100" b="0" lang="en-GB">
                <a:solidFill>
                  <a:schemeClr val="tx2"/>
                </a:solidFill>
                <a:latin typeface="Consolas"/>
              </a:rPr>
              <a:t>summary</a:t>
            </a:r>
            <a:r>
              <a:rPr sz="1100" b="0" lang="en-GB">
                <a:solidFill>
                  <a:schemeClr val="tx1"/>
                </a:solidFill>
              </a:rPr>
              <a:t>   6 × 3</a:t>
            </a:r>
          </a:p>
        </p:txBody>
      </p:sp>
      <p:sp>
        <p:nvSpPr>
          <p:cNvPr id="37" name="Variable 3"/>
          <p:cNvSpPr txBox="1"/>
          <p:nvPr/>
        </p:nvSpPr>
        <p:spPr>
          <a:xfrm>
            <a:off x="6208776" y="2788920"/>
            <a:ext cx="2377440" cy="274320"/>
          </a:xfrm>
          <a:prstGeom prst="rect">
            <a:avLst/>
          </a:prstGeom>
          <a:noFill/>
        </p:spPr>
        <p:txBody>
          <a:bodyPr wrap="square" lIns="0" rIns="0" tIns="0" bIns="0" anchor="t">
            <a:noAutofit/>
          </a:bodyPr>
          <a:lstStyle/>
          <a:p>
            <a:pPr algn="l">
              <a:spcAft>
                <a:spcPts val="0"/>
              </a:spcAft>
            </a:pPr>
            <a:r>
              <a:rPr sz="1100" b="0" lang="en-GB">
                <a:solidFill>
                  <a:schemeClr val="tx2"/>
                </a:solidFill>
                <a:latin typeface="Consolas"/>
              </a:rPr>
              <a:t>model</a:t>
            </a:r>
            <a:r>
              <a:rPr sz="1100" b="0" lang="en-GB">
                <a:solidFill>
                  <a:schemeClr val="tx1"/>
                </a:solidFill>
              </a:rPr>
              <a:t>   OLS results</a:t>
            </a:r>
          </a:p>
        </p:txBody>
      </p:sp>
      <p:pic>
        <p:nvPicPr>
          <p:cNvPr id="38" name="Plot thumbnail" descr="Example line chart of weekly sales for Austria and Germany"/>
          <p:cNvPicPr>
            <a:picLocks noChangeAspect="1"/>
          </p:cNvPicPr>
          <p:nvPr/>
        </p:nvPicPr>
        <p:blipFill>
          <a:blip r:embed="rId3"/>
          <a:stretch>
            <a:fillRect/>
          </a:stretch>
        </p:blipFill>
        <p:spPr>
          <a:xfrm>
            <a:off x="6208776" y="3822192"/>
            <a:ext cx="2340864" cy="124843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code to result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un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Write code</a:t>
            </a:r>
            <a:br/>
            <a:r>
              <a:rPr sz="1200" b="1" lang="en-GB">
                <a:solidFill>
                  <a:schemeClr val="tx2"/>
                </a:solidFill>
              </a:rPr>
              <a:t>in the editor</a:t>
            </a:r>
          </a:p>
        </p:txBody>
      </p:sp>
      <p:sp>
        <p:nvSpPr>
          <p:cNvPr id="11" name="Run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Ctrl/Cmd</a:t>
            </a:r>
            <a:br/>
            <a:r>
              <a:rPr sz="1200" b="1" lang="en-GB">
                <a:solidFill>
                  <a:schemeClr val="tx2"/>
                </a:solidFill>
              </a:rPr>
              <a:t>+ Enter</a:t>
            </a:r>
          </a:p>
        </p:txBody>
      </p:sp>
      <p:sp>
        <p:nvSpPr>
          <p:cNvPr id="12" name="Run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It runs in</a:t>
            </a:r>
            <a:br/>
            <a:r>
              <a:rPr sz="1200" b="1" lang="en-GB">
                <a:solidFill>
                  <a:schemeClr val="tx2"/>
                </a:solidFill>
              </a:rPr>
              <a:t>the console</a:t>
            </a:r>
          </a:p>
        </p:txBody>
      </p:sp>
      <p:sp>
        <p:nvSpPr>
          <p:cNvPr id="13" name="Run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Objects in</a:t>
            </a:r>
            <a:br/>
            <a:r>
              <a:rPr sz="1200" b="1" lang="en-GB">
                <a:solidFill>
                  <a:schemeClr val="tx2"/>
                </a:solidFill>
              </a:rPr>
              <a:t>Variables</a:t>
            </a:r>
          </a:p>
        </p:txBody>
      </p:sp>
      <p:sp>
        <p:nvSpPr>
          <p:cNvPr id="14" name="Run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Charts in</a:t>
            </a:r>
            <a:br/>
            <a:r>
              <a:rPr sz="1200" b="1" lang="en-GB">
                <a:solidFill>
                  <a:schemeClr val="tx2"/>
                </a:solidFill>
              </a:rPr>
              <a:t>Plots</a:t>
            </a:r>
          </a:p>
        </p:txBody>
      </p:sp>
      <p:sp>
        <p:nvSpPr>
          <p:cNvPr id="15" name="Run card body"/>
          <p:cNvSpPr/>
          <p:nvPr/>
        </p:nvSpPr>
        <p:spPr>
          <a:xfrm>
            <a:off x="457200" y="2377440"/>
            <a:ext cx="404622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n card header"/>
          <p:cNvSpPr/>
          <p:nvPr/>
        </p:nvSpPr>
        <p:spPr>
          <a:xfrm>
            <a:off x="457200" y="196596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n card heading"/>
          <p:cNvSpPr txBox="1"/>
          <p:nvPr/>
        </p:nvSpPr>
        <p:spPr>
          <a:xfrm>
            <a:off x="594360" y="196596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Run code</a:t>
            </a:r>
          </a:p>
        </p:txBody>
      </p:sp>
      <p:pic>
        <p:nvPicPr>
          <p:cNvPr id="18" name="Icon Run card" descr=""/>
          <p:cNvPicPr>
            <a:picLocks noChangeAspect="1"/>
          </p:cNvPicPr>
          <p:nvPr/>
        </p:nvPicPr>
        <p:blipFill>
          <a:blip r:embed="rId3"/>
          <a:stretch>
            <a:fillRect/>
          </a:stretch>
        </p:blipFill>
        <p:spPr>
          <a:xfrm>
            <a:off x="4064508" y="2016252"/>
            <a:ext cx="310896" cy="310896"/>
          </a:xfrm>
          <a:prstGeom prst="rect">
            <a:avLst/>
          </a:prstGeom>
        </p:spPr>
      </p:pic>
      <p:sp>
        <p:nvSpPr>
          <p:cNvPr id="19" name="Run card text"/>
          <p:cNvSpPr txBox="1"/>
          <p:nvPr/>
        </p:nvSpPr>
        <p:spPr>
          <a:xfrm>
            <a:off x="621792" y="2514600"/>
            <a:ext cx="3744468" cy="14173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Ctrl/Cmd + Enter: the selection or current statement</a:t>
            </a:r>
          </a:p>
          <a:p>
            <a:pPr algn="l" marL="182880" indent="-182880">
              <a:spcAft>
                <a:spcPts val="600"/>
              </a:spcAft>
              <a:buClr>
                <a:schemeClr val="accent1"/>
              </a:buClr>
              <a:buFont typeface="Arial"/>
              <a:buChar char="▪"/>
            </a:pPr>
            <a:r>
              <a:rPr sz="1300" b="0" lang="en-GB">
                <a:solidFill>
                  <a:schemeClr val="tx1"/>
                </a:solidFill>
              </a:rPr>
              <a:t>Ctrl/Cmd + Shift + Enter: the whole file, or the current cell</a:t>
            </a:r>
          </a:p>
          <a:p>
            <a:pPr algn="l" marL="182880" indent="-182880">
              <a:spcAft>
                <a:spcPts val="600"/>
              </a:spcAft>
              <a:buClr>
                <a:schemeClr val="accent1"/>
              </a:buClr>
              <a:buFont typeface="Arial"/>
              <a:buChar char="▪"/>
            </a:pPr>
            <a:r>
              <a:rPr sz="1300" b="0" lang="en-GB">
                <a:solidFill>
                  <a:schemeClr val="tx1"/>
                </a:solidFill>
              </a:rPr>
              <a:t># %% starts a cell in a .py file</a:t>
            </a:r>
          </a:p>
        </p:txBody>
      </p:sp>
      <p:sp>
        <p:nvSpPr>
          <p:cNvPr id="20" name="Results card body"/>
          <p:cNvSpPr/>
          <p:nvPr/>
        </p:nvSpPr>
        <p:spPr>
          <a:xfrm>
            <a:off x="4640580" y="2377440"/>
            <a:ext cx="404622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sults card header"/>
          <p:cNvSpPr/>
          <p:nvPr/>
        </p:nvSpPr>
        <p:spPr>
          <a:xfrm>
            <a:off x="4640580" y="196596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sults card heading"/>
          <p:cNvSpPr txBox="1"/>
          <p:nvPr/>
        </p:nvSpPr>
        <p:spPr>
          <a:xfrm>
            <a:off x="4777740" y="196596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Look at results</a:t>
            </a:r>
          </a:p>
        </p:txBody>
      </p:sp>
      <p:pic>
        <p:nvPicPr>
          <p:cNvPr id="23" name="Icon Results card" descr=""/>
          <p:cNvPicPr>
            <a:picLocks noChangeAspect="1"/>
          </p:cNvPicPr>
          <p:nvPr/>
        </p:nvPicPr>
        <p:blipFill>
          <a:blip r:embed="rId4"/>
          <a:stretch>
            <a:fillRect/>
          </a:stretch>
        </p:blipFill>
        <p:spPr>
          <a:xfrm>
            <a:off x="8247888" y="2016252"/>
            <a:ext cx="310896" cy="310896"/>
          </a:xfrm>
          <a:prstGeom prst="rect">
            <a:avLst/>
          </a:prstGeom>
        </p:spPr>
      </p:pic>
      <p:sp>
        <p:nvSpPr>
          <p:cNvPr id="24" name="Results card text"/>
          <p:cNvSpPr txBox="1"/>
          <p:nvPr/>
        </p:nvSpPr>
        <p:spPr>
          <a:xfrm>
            <a:off x="4805172" y="2514600"/>
            <a:ext cx="3744468" cy="14173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Variables: every object, its type and size</a:t>
            </a:r>
          </a:p>
          <a:p>
            <a:pPr algn="l" marL="182880" indent="-182880">
              <a:spcAft>
                <a:spcPts val="600"/>
              </a:spcAft>
              <a:buClr>
                <a:schemeClr val="accent1"/>
              </a:buClr>
              <a:buFont typeface="Arial"/>
              <a:buChar char="▪"/>
            </a:pPr>
            <a:r>
              <a:rPr sz="1300" b="0" lang="en-GB">
                <a:solidFill>
                  <a:schemeClr val="tx1"/>
                </a:solidFill>
              </a:rPr>
              <a:t>Data Explorer: click a table, or type %view sales</a:t>
            </a:r>
          </a:p>
          <a:p>
            <a:pPr algn="l" marL="182880" indent="-182880">
              <a:spcAft>
                <a:spcPts val="600"/>
              </a:spcAft>
              <a:buClr>
                <a:schemeClr val="accent1"/>
              </a:buClr>
              <a:buFont typeface="Arial"/>
              <a:buChar char="▪"/>
            </a:pPr>
            <a:r>
              <a:rPr sz="1300" b="0" lang="en-GB">
                <a:solidFill>
                  <a:schemeClr val="tx1"/>
                </a:solidFill>
              </a:rPr>
              <a:t>Plots: earlier charts, zoom, save as PNG</a:t>
            </a:r>
          </a:p>
        </p:txBody>
      </p:sp>
      <p:sp>
        <p:nvSpPr>
          <p:cNvPr id="25" name="Console box"/>
          <p:cNvSpPr/>
          <p:nvPr/>
        </p:nvSpPr>
        <p:spPr>
          <a:xfrm>
            <a:off x="457200" y="4251960"/>
            <a:ext cx="822960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onsole" descr=""/>
          <p:cNvPicPr>
            <a:picLocks noChangeAspect="1"/>
          </p:cNvPicPr>
          <p:nvPr/>
        </p:nvPicPr>
        <p:blipFill>
          <a:blip r:embed="rId5"/>
          <a:stretch>
            <a:fillRect/>
          </a:stretch>
        </p:blipFill>
        <p:spPr>
          <a:xfrm>
            <a:off x="658368" y="4471416"/>
            <a:ext cx="384048" cy="384048"/>
          </a:xfrm>
          <a:prstGeom prst="rect">
            <a:avLst/>
          </a:prstGeom>
        </p:spPr>
      </p:pic>
      <p:sp>
        <p:nvSpPr>
          <p:cNvPr id="27" name="Console text"/>
          <p:cNvSpPr txBox="1"/>
          <p:nvPr/>
        </p:nvSpPr>
        <p:spPr>
          <a:xfrm>
            <a:off x="1234440" y="4251960"/>
            <a:ext cx="7269480" cy="822960"/>
          </a:xfrm>
          <a:prstGeom prst="rect">
            <a:avLst/>
          </a:prstGeom>
          <a:noFill/>
        </p:spPr>
        <p:txBody>
          <a:bodyPr wrap="square" lIns="0" rIns="0" tIns="0" bIns="0" anchor="ctr">
            <a:noAutofit/>
          </a:bodyPr>
          <a:lstStyle/>
          <a:p>
            <a:pPr algn="l">
              <a:spcAft>
                <a:spcPts val="400"/>
              </a:spcAft>
            </a:pPr>
            <a:r>
              <a:rPr sz="1300" b="1" lang="en-GB">
                <a:solidFill>
                  <a:schemeClr val="bg1"/>
                </a:solidFill>
              </a:rPr>
              <a:t>Console or terminal? </a:t>
            </a:r>
            <a:r>
              <a:rPr sz="1300" b="0" lang="en-GB">
                <a:solidFill>
                  <a:schemeClr val="bg1"/>
                </a:solidFill>
              </a:rPr>
              <a:t>The console speaks Python. The terminal speaks to your computer: pip, git and quarto commands go there.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Projects in Positron: one folder for everything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ject tre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oject tre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A project is a folder</a:t>
            </a:r>
          </a:p>
        </p:txBody>
      </p:sp>
      <p:sp>
        <p:nvSpPr>
          <p:cNvPr id="12" name="Project tree box"/>
          <p:cNvSpPr/>
          <p:nvPr/>
        </p:nvSpPr>
        <p:spPr>
          <a:xfrm>
            <a:off x="457200" y="1508760"/>
            <a:ext cx="4937760" cy="22402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oject tree code"/>
          <p:cNvSpPr txBox="1"/>
          <p:nvPr/>
        </p:nvSpPr>
        <p:spPr>
          <a:xfrm>
            <a:off x="594360" y="1600200"/>
            <a:ext cx="4663440" cy="20574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case-study/</a:t>
            </a:r>
          </a:p>
          <a:p>
            <a:pPr algn="l">
              <a:spcAft>
                <a:spcPts val="0"/>
              </a:spcAft>
            </a:pPr>
            <a:r>
              <a:rPr sz="1100" b="0" lang="en-GB">
                <a:solidFill>
                  <a:schemeClr val="bg1"/>
                </a:solidFill>
                <a:latin typeface="Consolas"/>
              </a:rPr>
              <a:t>├── .venv/            private Python + packages</a:t>
            </a:r>
          </a:p>
          <a:p>
            <a:pPr algn="l">
              <a:spcAft>
                <a:spcPts val="0"/>
              </a:spcAft>
            </a:pPr>
            <a:r>
              <a:rPr sz="1100" b="0" lang="en-GB">
                <a:solidFill>
                  <a:schemeClr val="bg1"/>
                </a:solidFill>
                <a:latin typeface="Consolas"/>
              </a:rPr>
              <a:t>├── .git/             version history</a:t>
            </a:r>
          </a:p>
          <a:p>
            <a:pPr algn="l">
              <a:spcAft>
                <a:spcPts val="0"/>
              </a:spcAft>
            </a:pPr>
            <a:r>
              <a:rPr sz="1100" b="0" lang="en-GB">
                <a:solidFill>
                  <a:schemeClr val="bg1"/>
                </a:solidFill>
                <a:latin typeface="Consolas"/>
              </a:rPr>
              <a:t>├── .gitignore        what Git leaves out</a:t>
            </a:r>
          </a:p>
          <a:p>
            <a:pPr algn="l">
              <a:spcAft>
                <a:spcPts val="0"/>
              </a:spcAft>
            </a:pPr>
            <a:r>
              <a:rPr sz="1100" b="0" lang="en-GB">
                <a:solidFill>
                  <a:schemeClr val="bg1"/>
                </a:solidFill>
                <a:latin typeface="Consolas"/>
              </a:rPr>
              <a:t>├── data/             raw data, never edit by hand</a:t>
            </a:r>
          </a:p>
          <a:p>
            <a:pPr algn="l">
              <a:spcAft>
                <a:spcPts val="0"/>
              </a:spcAft>
            </a:pPr>
            <a:r>
              <a:rPr sz="1100" b="0" lang="en-GB">
                <a:solidFill>
                  <a:schemeClr val="bg1"/>
                </a:solidFill>
                <a:latin typeface="Consolas"/>
              </a:rPr>
              <a:t>├── analysis.py       code, split into # %% cells</a:t>
            </a:r>
          </a:p>
          <a:p>
            <a:pPr algn="l">
              <a:spcAft>
                <a:spcPts val="0"/>
              </a:spcAft>
            </a:pPr>
            <a:r>
              <a:rPr sz="1100" b="0" lang="en-GB">
                <a:solidFill>
                  <a:schemeClr val="bg1"/>
                </a:solidFill>
                <a:latin typeface="Consolas"/>
              </a:rPr>
              <a:t>├── report.qmd        text, code and results</a:t>
            </a:r>
          </a:p>
          <a:p>
            <a:pPr algn="l">
              <a:spcAft>
                <a:spcPts val="0"/>
              </a:spcAft>
            </a:pPr>
            <a:r>
              <a:rPr sz="1100" b="0" lang="en-GB">
                <a:solidFill>
                  <a:schemeClr val="bg1"/>
                </a:solidFill>
                <a:latin typeface="Consolas"/>
              </a:rPr>
              <a:t>└── requirements.txt  packages and versions</a:t>
            </a:r>
          </a:p>
        </p:txBody>
      </p:sp>
      <p:sp>
        <p:nvSpPr>
          <p:cNvPr id="14" name="Project row 1"/>
          <p:cNvSpPr/>
          <p:nvPr/>
        </p:nvSpPr>
        <p:spPr>
          <a:xfrm>
            <a:off x="5577840" y="1234440"/>
            <a:ext cx="310896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roject bar 1"/>
          <p:cNvSpPr/>
          <p:nvPr/>
        </p:nvSpPr>
        <p:spPr>
          <a:xfrm>
            <a:off x="5577840" y="1234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oject text 1"/>
          <p:cNvSpPr txBox="1"/>
          <p:nvPr/>
        </p:nvSpPr>
        <p:spPr>
          <a:xfrm>
            <a:off x="5760720" y="1234440"/>
            <a:ext cx="2852928" cy="566928"/>
          </a:xfrm>
          <a:prstGeom prst="rect">
            <a:avLst/>
          </a:prstGeom>
          <a:noFill/>
        </p:spPr>
        <p:txBody>
          <a:bodyPr wrap="square" lIns="0" rIns="0" tIns="0" bIns="0" anchor="ctr">
            <a:noAutofit/>
          </a:bodyPr>
          <a:lstStyle/>
          <a:p>
            <a:pPr algn="l">
              <a:spcAft>
                <a:spcPts val="400"/>
              </a:spcAft>
            </a:pPr>
            <a:r>
              <a:rPr sz="1150" b="1" lang="en-GB">
                <a:solidFill>
                  <a:schemeClr val="tx2"/>
                </a:solidFill>
              </a:rPr>
              <a:t>Open the folder, </a:t>
            </a:r>
            <a:r>
              <a:rPr sz="1150" b="0" lang="en-GB">
                <a:solidFill>
                  <a:schemeClr val="tx1"/>
                </a:solidFill>
              </a:rPr>
              <a:t>not single files: File → Open Folder</a:t>
            </a:r>
          </a:p>
        </p:txBody>
      </p:sp>
      <p:sp>
        <p:nvSpPr>
          <p:cNvPr id="17" name="Project row 2"/>
          <p:cNvSpPr/>
          <p:nvPr/>
        </p:nvSpPr>
        <p:spPr>
          <a:xfrm>
            <a:off x="5577840" y="1883664"/>
            <a:ext cx="310896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roject bar 2"/>
          <p:cNvSpPr/>
          <p:nvPr/>
        </p:nvSpPr>
        <p:spPr>
          <a:xfrm>
            <a:off x="5577840" y="1883664"/>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roject text 2"/>
          <p:cNvSpPr txBox="1"/>
          <p:nvPr/>
        </p:nvSpPr>
        <p:spPr>
          <a:xfrm>
            <a:off x="5760720" y="1883664"/>
            <a:ext cx="2852928" cy="566928"/>
          </a:xfrm>
          <a:prstGeom prst="rect">
            <a:avLst/>
          </a:prstGeom>
          <a:noFill/>
        </p:spPr>
        <p:txBody>
          <a:bodyPr wrap="square" lIns="0" rIns="0" tIns="0" bIns="0" anchor="ctr">
            <a:noAutofit/>
          </a:bodyPr>
          <a:lstStyle/>
          <a:p>
            <a:pPr algn="l">
              <a:spcAft>
                <a:spcPts val="400"/>
              </a:spcAft>
            </a:pPr>
            <a:r>
              <a:rPr sz="1150" b="1" lang="en-GB">
                <a:solidFill>
                  <a:schemeClr val="tx2"/>
                </a:solidFill>
              </a:rPr>
              <a:t>Positron remembers </a:t>
            </a:r>
            <a:r>
              <a:rPr sz="1150" b="0" lang="en-GB">
                <a:solidFill>
                  <a:schemeClr val="tx1"/>
                </a:solidFill>
              </a:rPr>
              <a:t>the interpreter and open files per folder</a:t>
            </a:r>
          </a:p>
        </p:txBody>
      </p:sp>
      <p:sp>
        <p:nvSpPr>
          <p:cNvPr id="20" name="Project row 3"/>
          <p:cNvSpPr/>
          <p:nvPr/>
        </p:nvSpPr>
        <p:spPr>
          <a:xfrm>
            <a:off x="5577840" y="2532888"/>
            <a:ext cx="310896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oject bar 3"/>
          <p:cNvSpPr/>
          <p:nvPr/>
        </p:nvSpPr>
        <p:spPr>
          <a:xfrm>
            <a:off x="5577840" y="2532888"/>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oject text 3"/>
          <p:cNvSpPr txBox="1"/>
          <p:nvPr/>
        </p:nvSpPr>
        <p:spPr>
          <a:xfrm>
            <a:off x="5760720" y="2532888"/>
            <a:ext cx="2852928" cy="566928"/>
          </a:xfrm>
          <a:prstGeom prst="rect">
            <a:avLst/>
          </a:prstGeom>
          <a:noFill/>
        </p:spPr>
        <p:txBody>
          <a:bodyPr wrap="square" lIns="0" rIns="0" tIns="0" bIns="0" anchor="ctr">
            <a:noAutofit/>
          </a:bodyPr>
          <a:lstStyle/>
          <a:p>
            <a:pPr algn="l">
              <a:spcAft>
                <a:spcPts val="400"/>
              </a:spcAft>
            </a:pPr>
            <a:r>
              <a:rPr sz="1150" b="1" lang="en-GB">
                <a:solidFill>
                  <a:schemeClr val="tx2"/>
                </a:solidFill>
              </a:rPr>
              <a:t>Relative paths: </a:t>
            </a:r>
            <a:r>
              <a:rPr sz="1150" b="0" lang="en-GB">
                <a:solidFill>
                  <a:schemeClr val="tx1"/>
                </a:solidFill>
              </a:rPr>
              <a:t>data/sales.csv works on every laptop</a:t>
            </a:r>
          </a:p>
        </p:txBody>
      </p:sp>
      <p:sp>
        <p:nvSpPr>
          <p:cNvPr id="23" name="Project row 4"/>
          <p:cNvSpPr/>
          <p:nvPr/>
        </p:nvSpPr>
        <p:spPr>
          <a:xfrm>
            <a:off x="5577840" y="3182112"/>
            <a:ext cx="310896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ject bar 4"/>
          <p:cNvSpPr/>
          <p:nvPr/>
        </p:nvSpPr>
        <p:spPr>
          <a:xfrm>
            <a:off x="5577840" y="3182112"/>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oject text 4"/>
          <p:cNvSpPr txBox="1"/>
          <p:nvPr/>
        </p:nvSpPr>
        <p:spPr>
          <a:xfrm>
            <a:off x="5760720" y="3182112"/>
            <a:ext cx="2852928" cy="566928"/>
          </a:xfrm>
          <a:prstGeom prst="rect">
            <a:avLst/>
          </a:prstGeom>
          <a:noFill/>
        </p:spPr>
        <p:txBody>
          <a:bodyPr wrap="square" lIns="0" rIns="0" tIns="0" bIns="0" anchor="ctr">
            <a:noAutofit/>
          </a:bodyPr>
          <a:lstStyle/>
          <a:p>
            <a:pPr algn="l">
              <a:spcAft>
                <a:spcPts val="400"/>
              </a:spcAft>
            </a:pPr>
            <a:r>
              <a:rPr sz="1150" b="1" lang="en-GB">
                <a:solidFill>
                  <a:schemeClr val="tx2"/>
                </a:solidFill>
              </a:rPr>
              <a:t>Switch projects </a:t>
            </a:r>
            <a:r>
              <a:rPr sz="1150" b="0" lang="en-GB">
                <a:solidFill>
                  <a:schemeClr val="tx1"/>
                </a:solidFill>
              </a:rPr>
              <a:t>with the project switcher, top right</a:t>
            </a:r>
          </a:p>
        </p:txBody>
      </p:sp>
      <p:sp>
        <p:nvSpPr>
          <p:cNvPr id="26" name="Venv note box"/>
          <p:cNvSpPr/>
          <p:nvPr/>
        </p:nvSpPr>
        <p:spPr>
          <a:xfrm>
            <a:off x="457200" y="3931920"/>
            <a:ext cx="8229600" cy="1143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Venv note" descr=""/>
          <p:cNvPicPr>
            <a:picLocks noChangeAspect="1"/>
          </p:cNvPicPr>
          <p:nvPr/>
        </p:nvPicPr>
        <p:blipFill>
          <a:blip r:embed="rId3"/>
          <a:stretch>
            <a:fillRect/>
          </a:stretch>
        </p:blipFill>
        <p:spPr>
          <a:xfrm>
            <a:off x="658368" y="4311396"/>
            <a:ext cx="384048" cy="384048"/>
          </a:xfrm>
          <a:prstGeom prst="rect">
            <a:avLst/>
          </a:prstGeom>
        </p:spPr>
      </p:pic>
      <p:sp>
        <p:nvSpPr>
          <p:cNvPr id="28" name="Venv note text"/>
          <p:cNvSpPr txBox="1"/>
          <p:nvPr/>
        </p:nvSpPr>
        <p:spPr>
          <a:xfrm>
            <a:off x="1234440" y="3931920"/>
            <a:ext cx="7269480" cy="1143000"/>
          </a:xfrm>
          <a:prstGeom prst="rect">
            <a:avLst/>
          </a:prstGeom>
          <a:noFill/>
        </p:spPr>
        <p:txBody>
          <a:bodyPr wrap="square" lIns="0" rIns="0" tIns="0" bIns="0" anchor="ctr">
            <a:noAutofit/>
          </a:bodyPr>
          <a:lstStyle/>
          <a:p>
            <a:pPr algn="l">
              <a:spcAft>
                <a:spcPts val="400"/>
              </a:spcAft>
            </a:pPr>
            <a:r>
              <a:rPr sz="1300" b="1" lang="en-GB">
                <a:solidFill>
                  <a:schemeClr val="bg1"/>
                </a:solidFill>
              </a:rPr>
              <a:t>.venv stays on your laptop: </a:t>
            </a:r>
            <a:r>
              <a:rPr sz="1300" b="0" lang="en-GB">
                <a:solidFill>
                  <a:schemeClr val="bg1"/>
                </a:solidFill>
              </a:rPr>
              <a:t>.gitignore keeps it out of GitHub. requirements.txt travels instead, so your group rebuilds the same environment with one command.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Start a new project from a template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mplate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New Folder</a:t>
            </a:r>
            <a:br/>
            <a:r>
              <a:rPr sz="1200" b="1" lang="en-GB">
                <a:solidFill>
                  <a:schemeClr val="tx2"/>
                </a:solidFill>
              </a:rPr>
              <a:t>from Template</a:t>
            </a:r>
          </a:p>
        </p:txBody>
      </p:sp>
      <p:sp>
        <p:nvSpPr>
          <p:cNvPr id="11" name="Template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a:t>
            </a:r>
            <a:br/>
            <a:r>
              <a:rPr sz="1200" b="1" lang="en-GB">
                <a:solidFill>
                  <a:schemeClr val="tx2"/>
                </a:solidFill>
              </a:rPr>
              <a:t>Project</a:t>
            </a:r>
          </a:p>
        </p:txBody>
      </p:sp>
      <p:sp>
        <p:nvSpPr>
          <p:cNvPr id="12" name="Template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Name and</a:t>
            </a:r>
            <a:br/>
            <a:r>
              <a:rPr sz="1200" b="1" lang="en-GB">
                <a:solidFill>
                  <a:schemeClr val="tx2"/>
                </a:solidFill>
              </a:rPr>
              <a:t>location</a:t>
            </a:r>
          </a:p>
        </p:txBody>
      </p:sp>
      <p:sp>
        <p:nvSpPr>
          <p:cNvPr id="13" name="Template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 3.14</a:t>
            </a:r>
            <a:br/>
            <a:r>
              <a:rPr sz="1200" b="1" lang="en-GB">
                <a:solidFill>
                  <a:schemeClr val="tx2"/>
                </a:solidFill>
              </a:rPr>
              <a:t>+ venv</a:t>
            </a:r>
          </a:p>
        </p:txBody>
      </p:sp>
      <p:sp>
        <p:nvSpPr>
          <p:cNvPr id="14" name="Template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Create</a:t>
            </a:r>
          </a:p>
        </p:txBody>
      </p:sp>
      <p:sp>
        <p:nvSpPr>
          <p:cNvPr id="15" name="Template card body"/>
          <p:cNvSpPr/>
          <p:nvPr/>
        </p:nvSpPr>
        <p:spPr>
          <a:xfrm>
            <a:off x="457200" y="2377440"/>
            <a:ext cx="393192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mplate card header"/>
          <p:cNvSpPr/>
          <p:nvPr/>
        </p:nvSpPr>
        <p:spPr>
          <a:xfrm>
            <a:off x="457200" y="1965960"/>
            <a:ext cx="39319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mplate card heading"/>
          <p:cNvSpPr txBox="1"/>
          <p:nvPr/>
        </p:nvSpPr>
        <p:spPr>
          <a:xfrm>
            <a:off x="594360" y="1965960"/>
            <a:ext cx="32461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Positron sets up</a:t>
            </a:r>
          </a:p>
        </p:txBody>
      </p:sp>
      <p:pic>
        <p:nvPicPr>
          <p:cNvPr id="18" name="Icon Template card" descr=""/>
          <p:cNvPicPr>
            <a:picLocks noChangeAspect="1"/>
          </p:cNvPicPr>
          <p:nvPr/>
        </p:nvPicPr>
        <p:blipFill>
          <a:blip r:embed="rId3"/>
          <a:stretch>
            <a:fillRect/>
          </a:stretch>
        </p:blipFill>
        <p:spPr>
          <a:xfrm>
            <a:off x="3950208" y="2016252"/>
            <a:ext cx="310896" cy="310896"/>
          </a:xfrm>
          <a:prstGeom prst="rect">
            <a:avLst/>
          </a:prstGeom>
        </p:spPr>
      </p:pic>
      <p:sp>
        <p:nvSpPr>
          <p:cNvPr id="19" name="Template card text"/>
          <p:cNvSpPr txBox="1"/>
          <p:nvPr/>
        </p:nvSpPr>
        <p:spPr>
          <a:xfrm>
            <a:off x="621792" y="2514600"/>
            <a:ext cx="363016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folder with a .venv inside</a:t>
            </a:r>
          </a:p>
          <a:p>
            <a:pPr algn="l" marL="182880" indent="-182880">
              <a:spcAft>
                <a:spcPts val="600"/>
              </a:spcAft>
              <a:buClr>
                <a:schemeClr val="accent1"/>
              </a:buClr>
              <a:buFont typeface="Arial"/>
              <a:buChar char="▪"/>
            </a:pPr>
            <a:r>
              <a:rPr sz="1300" b="0" lang="en-GB">
                <a:solidFill>
                  <a:schemeClr val="tx1"/>
                </a:solidFill>
              </a:rPr>
              <a:t>Git: .git and a .gitignore</a:t>
            </a:r>
          </a:p>
          <a:p>
            <a:pPr algn="l" marL="182880" indent="-182880">
              <a:spcAft>
                <a:spcPts val="600"/>
              </a:spcAft>
              <a:buClr>
                <a:schemeClr val="accent1"/>
              </a:buClr>
              <a:buFont typeface="Arial"/>
              <a:buChar char="▪"/>
            </a:pPr>
            <a:r>
              <a:rPr sz="1300" b="0" lang="en-GB">
                <a:solidFill>
                  <a:schemeClr val="tx1"/>
                </a:solidFill>
              </a:rPr>
              <a:t>A running Python session</a:t>
            </a:r>
          </a:p>
          <a:p>
            <a:pPr algn="l" marL="182880" indent="-182880">
              <a:spcAft>
                <a:spcPts val="600"/>
              </a:spcAft>
              <a:buClr>
                <a:schemeClr val="accent1"/>
              </a:buClr>
              <a:buFont typeface="Arial"/>
              <a:buChar char="▪"/>
            </a:pPr>
            <a:r>
              <a:rPr sz="1300" b="0" lang="en-GB">
                <a:solidFill>
                  <a:schemeClr val="tx1"/>
                </a:solidFill>
              </a:rPr>
              <a:t>An empty file to start with</a:t>
            </a:r>
          </a:p>
        </p:txBody>
      </p:sp>
      <p:sp>
        <p:nvSpPr>
          <p:cNvPr id="20" name="Template code caption bar"/>
          <p:cNvSpPr/>
          <p:nvPr/>
        </p:nvSpPr>
        <p:spPr>
          <a:xfrm>
            <a:off x="4526280" y="1965960"/>
            <a:ext cx="41605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mplate code caption"/>
          <p:cNvSpPr txBox="1"/>
          <p:nvPr/>
        </p:nvSpPr>
        <p:spPr>
          <a:xfrm>
            <a:off x="4636008" y="1965960"/>
            <a:ext cx="39410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Then, in the Positron console</a:t>
            </a:r>
          </a:p>
        </p:txBody>
      </p:sp>
      <p:sp>
        <p:nvSpPr>
          <p:cNvPr id="22" name="Template code box"/>
          <p:cNvSpPr/>
          <p:nvPr/>
        </p:nvSpPr>
        <p:spPr>
          <a:xfrm>
            <a:off x="4526280" y="2240280"/>
            <a:ext cx="4160520" cy="1874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mplate code code"/>
          <p:cNvSpPr txBox="1"/>
          <p:nvPr/>
        </p:nvSpPr>
        <p:spPr>
          <a:xfrm>
            <a:off x="4663440" y="2331720"/>
            <a:ext cx="3886200" cy="16916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%pip install polars plotnine great-tables</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%pip freeze &gt; requirements.txt</a:t>
            </a:r>
          </a:p>
        </p:txBody>
      </p:sp>
      <p:sp>
        <p:nvSpPr>
          <p:cNvPr id="24" name="Template code note"/>
          <p:cNvSpPr txBox="1"/>
          <p:nvPr/>
        </p:nvSpPr>
        <p:spPr>
          <a:xfrm>
            <a:off x="4663440" y="3246120"/>
            <a:ext cx="3931920" cy="822960"/>
          </a:xfrm>
          <a:prstGeom prst="rect">
            <a:avLst/>
          </a:prstGeom>
          <a:noFill/>
        </p:spPr>
        <p:txBody>
          <a:bodyPr wrap="square" lIns="0" rIns="0" tIns="0" bIns="0" anchor="t">
            <a:noAutofit/>
          </a:bodyPr>
          <a:lstStyle/>
          <a:p>
            <a:pPr algn="l">
              <a:spcAft>
                <a:spcPts val="400"/>
              </a:spcAft>
            </a:pPr>
            <a:r>
              <a:rPr sz="1100" b="0" lang="en-GB">
                <a:solidFill>
                  <a:schemeClr val="bg1"/>
                </a:solidFill>
              </a:rPr>
              <a:t>Line 1 installs packages, line 2 writes their versions to requirements.txt.</a:t>
            </a:r>
          </a:p>
        </p:txBody>
      </p:sp>
      <p:sp>
        <p:nvSpPr>
          <p:cNvPr id="25" name="Template where box"/>
          <p:cNvSpPr/>
          <p:nvPr/>
        </p:nvSpPr>
        <p:spPr>
          <a:xfrm>
            <a:off x="457200" y="4297680"/>
            <a:ext cx="82296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emplate where" descr=""/>
          <p:cNvPicPr>
            <a:picLocks noChangeAspect="1"/>
          </p:cNvPicPr>
          <p:nvPr/>
        </p:nvPicPr>
        <p:blipFill>
          <a:blip r:embed="rId4"/>
          <a:stretch>
            <a:fillRect/>
          </a:stretch>
        </p:blipFill>
        <p:spPr>
          <a:xfrm>
            <a:off x="658368" y="4494276"/>
            <a:ext cx="384048" cy="384048"/>
          </a:xfrm>
          <a:prstGeom prst="rect">
            <a:avLst/>
          </a:prstGeom>
        </p:spPr>
      </p:pic>
      <p:sp>
        <p:nvSpPr>
          <p:cNvPr id="27" name="Template where text"/>
          <p:cNvSpPr txBox="1"/>
          <p:nvPr/>
        </p:nvSpPr>
        <p:spPr>
          <a:xfrm>
            <a:off x="1234440" y="4297680"/>
            <a:ext cx="7269480" cy="777240"/>
          </a:xfrm>
          <a:prstGeom prst="rect">
            <a:avLst/>
          </a:prstGeom>
          <a:noFill/>
        </p:spPr>
        <p:txBody>
          <a:bodyPr wrap="square" lIns="0" rIns="0" tIns="0" bIns="0" anchor="ctr">
            <a:noAutofit/>
          </a:bodyPr>
          <a:lstStyle/>
          <a:p>
            <a:pPr algn="l">
              <a:spcAft>
                <a:spcPts val="400"/>
              </a:spcAft>
            </a:pPr>
            <a:r>
              <a:rPr sz="1300" b="1" lang="en-GB">
                <a:solidFill>
                  <a:schemeClr val="tx2"/>
                </a:solidFill>
              </a:rPr>
              <a:t>Where: </a:t>
            </a:r>
            <a:r>
              <a:rPr sz="1300" b="0" lang="en-GB">
                <a:solidFill>
                  <a:schemeClr val="tx1"/>
                </a:solidFill>
              </a:rPr>
              <a:t>New ▾ (top left), the project switcher, or Command Palette → Workspaces: New Folder from Template.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Placeholder 1"/>
          <p:cNvGraphicFramePr>
            <a:graphicFrameLocks noGrp="1"/>
          </p:cNvGraphicFramePr>
          <p:nvPr>
            <p:ph type="tbl" idx="1"/>
          </p:nvPr>
        </p:nvGraphicFramePr>
        <p:xfrm>
          <a:off x="462019" y="1344613"/>
          <a:ext cx="8229600" cy="3708400"/>
        </p:xfrm>
        <a:graphic>
          <a:graphicData uri="http://schemas.openxmlformats.org/drawingml/2006/table">
            <a:tbl>
              <a:tblPr firstRow="1" bandRow="1">
                <a:tableStyleId>{5C22544A-7EE6-4342-B048-85BDC9FD1C3A}</a:tableStyleId>
              </a:tblPr>
              <a:tblGrid>
                <a:gridCol w="3657600"/>
                <a:gridCol w="2286000"/>
                <a:gridCol w="2286000"/>
              </a:tblGrid>
              <a:tr h="370840">
                <a:tc>
                  <a:txBody>
                    <a:bodyPr/>
                    <a:lstStyle/>
                    <a:p>
                      <a:r>
                        <a:rPr sz="1500" lang="en-GB"/>
                        <a:t>Action</a:t>
                      </a:r>
                    </a:p>
                  </a:txBody>
                  <a:tcPr marT="45000" marB="45000"/>
                </a:tc>
                <a:tc>
                  <a:txBody>
                    <a:bodyPr/>
                    <a:lstStyle/>
                    <a:p>
                      <a:r>
                        <a:rPr sz="1500" lang="en-GB"/>
                        <a:t>Windows</a:t>
                      </a:r>
                    </a:p>
                  </a:txBody>
                  <a:tcPr marT="45000" marB="45000"/>
                </a:tc>
                <a:tc>
                  <a:txBody>
                    <a:bodyPr/>
                    <a:lstStyle/>
                    <a:p>
                      <a:r>
                        <a:rPr sz="1500" lang="en-GB"/>
                        <a:t>macOS</a:t>
                      </a:r>
                    </a:p>
                  </a:txBody>
                  <a:tcPr marT="45000" marB="45000"/>
                </a:tc>
              </a:tr>
              <a:tr h="370840">
                <a:tc>
                  <a:txBody>
                    <a:bodyPr/>
                    <a:lstStyle/>
                    <a:p>
                      <a:r>
                        <a:rPr sz="1300" lang="en-GB"/>
                        <a:t>Run selection or current statement</a:t>
                      </a:r>
                    </a:p>
                  </a:txBody>
                  <a:tcPr marT="45000" marB="45000"/>
                </a:tc>
                <a:tc>
                  <a:txBody>
                    <a:bodyPr/>
                    <a:lstStyle/>
                    <a:p>
                      <a:r>
                        <a:rPr sz="1300" lang="en-GB">
                          <a:latin typeface="Consolas"/>
                        </a:rPr>
                        <a:t>Ctrl + Enter</a:t>
                      </a:r>
                    </a:p>
                  </a:txBody>
                  <a:tcPr marT="45000" marB="45000"/>
                </a:tc>
                <a:tc>
                  <a:txBody>
                    <a:bodyPr/>
                    <a:lstStyle/>
                    <a:p>
                      <a:r>
                        <a:rPr sz="1300" lang="en-GB">
                          <a:latin typeface="Consolas"/>
                        </a:rPr>
                        <a:t>Cmd + Enter</a:t>
                      </a:r>
                    </a:p>
                  </a:txBody>
                  <a:tcPr marT="45000" marB="45000"/>
                </a:tc>
              </a:tr>
              <a:tr h="370840">
                <a:tc>
                  <a:txBody>
                    <a:bodyPr/>
                    <a:lstStyle/>
                    <a:p>
                      <a:r>
                        <a:rPr sz="1300" lang="en-GB"/>
                        <a:t>Run the file or current cell</a:t>
                      </a:r>
                    </a:p>
                  </a:txBody>
                  <a:tcPr marT="45000" marB="45000"/>
                </a:tc>
                <a:tc>
                  <a:txBody>
                    <a:bodyPr/>
                    <a:lstStyle/>
                    <a:p>
                      <a:r>
                        <a:rPr sz="1300" lang="en-GB">
                          <a:latin typeface="Consolas"/>
                        </a:rPr>
                        <a:t>Ctrl + Shift + Enter</a:t>
                      </a:r>
                    </a:p>
                  </a:txBody>
                  <a:tcPr marT="45000" marB="45000"/>
                </a:tc>
                <a:tc>
                  <a:txBody>
                    <a:bodyPr/>
                    <a:lstStyle/>
                    <a:p>
                      <a:r>
                        <a:rPr sz="1300" lang="en-GB">
                          <a:latin typeface="Consolas"/>
                        </a:rPr>
                        <a:t>Cmd + Shift + Enter</a:t>
                      </a:r>
                    </a:p>
                  </a:txBody>
                  <a:tcPr marT="45000" marB="45000"/>
                </a:tc>
              </a:tr>
              <a:tr h="370840">
                <a:tc>
                  <a:txBody>
                    <a:bodyPr/>
                    <a:lstStyle/>
                    <a:p>
                      <a:r>
                        <a:rPr sz="1300" lang="en-GB"/>
                        <a:t>Insert a code cell (# %%)</a:t>
                      </a:r>
                    </a:p>
                  </a:txBody>
                  <a:tcPr marT="45000" marB="45000"/>
                </a:tc>
                <a:tc>
                  <a:txBody>
                    <a:bodyPr/>
                    <a:lstStyle/>
                    <a:p>
                      <a:r>
                        <a:rPr sz="1300" lang="en-GB">
                          <a:latin typeface="Consolas"/>
                        </a:rPr>
                        <a:t>Ctrl + Shift + I</a:t>
                      </a:r>
                    </a:p>
                  </a:txBody>
                  <a:tcPr marT="45000" marB="45000"/>
                </a:tc>
                <a:tc>
                  <a:txBody>
                    <a:bodyPr/>
                    <a:lstStyle/>
                    <a:p>
                      <a:r>
                        <a:rPr sz="1300" lang="en-GB">
                          <a:latin typeface="Consolas"/>
                        </a:rPr>
                        <a:t>Cmd + Shift + I</a:t>
                      </a:r>
                    </a:p>
                  </a:txBody>
                  <a:tcPr marT="45000" marB="45000"/>
                </a:tc>
              </a:tr>
              <a:tr h="370840">
                <a:tc>
                  <a:txBody>
                    <a:bodyPr/>
                    <a:lstStyle/>
                    <a:p>
                      <a:r>
                        <a:rPr sz="1300" lang="en-GB"/>
                        <a:t>Restart the Python session</a:t>
                      </a:r>
                    </a:p>
                  </a:txBody>
                  <a:tcPr marT="45000" marB="45000"/>
                </a:tc>
                <a:tc>
                  <a:txBody>
                    <a:bodyPr/>
                    <a:lstStyle/>
                    <a:p>
                      <a:r>
                        <a:rPr sz="1300" lang="en-GB">
                          <a:latin typeface="Consolas"/>
                        </a:rPr>
                        <a:t>Ctrl + Shift + 0</a:t>
                      </a:r>
                    </a:p>
                  </a:txBody>
                  <a:tcPr marT="45000" marB="45000"/>
                </a:tc>
                <a:tc>
                  <a:txBody>
                    <a:bodyPr/>
                    <a:lstStyle/>
                    <a:p>
                      <a:r>
                        <a:rPr sz="1300" lang="en-GB">
                          <a:latin typeface="Consolas"/>
                        </a:rPr>
                        <a:t>Cmd + Shift + 0</a:t>
                      </a:r>
                    </a:p>
                  </a:txBody>
                  <a:tcPr marT="45000" marB="45000"/>
                </a:tc>
              </a:tr>
              <a:tr h="370840">
                <a:tc>
                  <a:txBody>
                    <a:bodyPr/>
                    <a:lstStyle/>
                    <a:p>
                      <a:r>
                        <a:rPr sz="1300" lang="en-GB"/>
                        <a:t>Clear the console</a:t>
                      </a:r>
                    </a:p>
                  </a:txBody>
                  <a:tcPr marT="45000" marB="45000"/>
                </a:tc>
                <a:tc>
                  <a:txBody>
                    <a:bodyPr/>
                    <a:lstStyle/>
                    <a:p>
                      <a:r>
                        <a:rPr sz="1300" lang="en-GB">
                          <a:latin typeface="Consolas"/>
                        </a:rPr>
                        <a:t>Ctrl + L</a:t>
                      </a:r>
                    </a:p>
                  </a:txBody>
                  <a:tcPr marT="45000" marB="45000"/>
                </a:tc>
                <a:tc>
                  <a:txBody>
                    <a:bodyPr/>
                    <a:lstStyle/>
                    <a:p>
                      <a:r>
                        <a:rPr sz="1300" lang="en-GB">
                          <a:latin typeface="Consolas"/>
                        </a:rPr>
                        <a:t>Ctrl + L</a:t>
                      </a:r>
                    </a:p>
                  </a:txBody>
                  <a:tcPr marT="45000" marB="45000"/>
                </a:tc>
              </a:tr>
              <a:tr h="370840">
                <a:tc>
                  <a:txBody>
                    <a:bodyPr/>
                    <a:lstStyle/>
                    <a:p>
                      <a:r>
                        <a:rPr sz="1300" lang="en-GB"/>
                        <a:t>Preview a Quarto document</a:t>
                      </a:r>
                    </a:p>
                  </a:txBody>
                  <a:tcPr marT="45000" marB="45000"/>
                </a:tc>
                <a:tc>
                  <a:txBody>
                    <a:bodyPr/>
                    <a:lstStyle/>
                    <a:p>
                      <a:r>
                        <a:rPr sz="1300" lang="en-GB">
                          <a:latin typeface="Consolas"/>
                        </a:rPr>
                        <a:t>Ctrl + Shift + K</a:t>
                      </a:r>
                    </a:p>
                  </a:txBody>
                  <a:tcPr marT="45000" marB="45000"/>
                </a:tc>
                <a:tc>
                  <a:txBody>
                    <a:bodyPr/>
                    <a:lstStyle/>
                    <a:p>
                      <a:r>
                        <a:rPr sz="1300" lang="en-GB">
                          <a:latin typeface="Consolas"/>
                        </a:rPr>
                        <a:t>Cmd + Shift + K</a:t>
                      </a:r>
                    </a:p>
                  </a:txBody>
                  <a:tcPr marT="45000" marB="45000"/>
                </a:tc>
              </a:tr>
              <a:tr h="370840">
                <a:tc>
                  <a:txBody>
                    <a:bodyPr/>
                    <a:lstStyle/>
                    <a:p>
                      <a:r>
                        <a:rPr sz="1300" lang="en-GB"/>
                        <a:t>Command Palette</a:t>
                      </a:r>
                    </a:p>
                  </a:txBody>
                  <a:tcPr marT="45000" marB="45000"/>
                </a:tc>
                <a:tc>
                  <a:txBody>
                    <a:bodyPr/>
                    <a:lstStyle/>
                    <a:p>
                      <a:r>
                        <a:rPr sz="1300" lang="en-GB">
                          <a:latin typeface="Consolas"/>
                        </a:rPr>
                        <a:t>Ctrl + Shift + P</a:t>
                      </a:r>
                    </a:p>
                  </a:txBody>
                  <a:tcPr marT="45000" marB="45000"/>
                </a:tc>
                <a:tc>
                  <a:txBody>
                    <a:bodyPr/>
                    <a:lstStyle/>
                    <a:p>
                      <a:r>
                        <a:rPr sz="1300" lang="en-GB">
                          <a:latin typeface="Consolas"/>
                        </a:rPr>
                        <a:t>Cmd + Shift + P</a:t>
                      </a:r>
                    </a:p>
                  </a:txBody>
                  <a:tcPr marT="45000" marB="45000"/>
                </a:tc>
              </a:tr>
              <a:tr h="370840">
                <a:tc>
                  <a:txBody>
                    <a:bodyPr/>
                    <a:lstStyle/>
                    <a:p>
                      <a:r>
                        <a:rPr sz="1300" lang="en-GB"/>
                        <a:t>Help for the word under the cursor</a:t>
                      </a:r>
                    </a:p>
                  </a:txBody>
                  <a:tcPr marT="45000" marB="45000"/>
                </a:tc>
                <a:tc>
                  <a:txBody>
                    <a:bodyPr/>
                    <a:lstStyle/>
                    <a:p>
                      <a:r>
                        <a:rPr sz="1300" lang="en-GB">
                          <a:latin typeface="Consolas"/>
                        </a:rPr>
                        <a:t>F1</a:t>
                      </a:r>
                    </a:p>
                  </a:txBody>
                  <a:tcPr marT="45000" marB="45000"/>
                </a:tc>
                <a:tc>
                  <a:txBody>
                    <a:bodyPr/>
                    <a:lstStyle/>
                    <a:p>
                      <a:r>
                        <a:rPr sz="1300" lang="en-GB">
                          <a:latin typeface="Consolas"/>
                        </a:rPr>
                        <a:t>F1</a:t>
                      </a:r>
                    </a:p>
                  </a:txBody>
                  <a:tcPr marT="45000" marB="45000"/>
                </a:tc>
              </a:tr>
              <a:tr h="370840">
                <a:tc>
                  <a:txBody>
                    <a:bodyPr/>
                    <a:lstStyle/>
                    <a:p>
                      <a:r>
                        <a:rPr sz="1300" lang="en-GB"/>
                        <a:t>Accept an AI suggestion</a:t>
                      </a:r>
                    </a:p>
                  </a:txBody>
                  <a:tcPr marT="45000" marB="45000"/>
                </a:tc>
                <a:tc>
                  <a:txBody>
                    <a:bodyPr/>
                    <a:lstStyle/>
                    <a:p>
                      <a:r>
                        <a:rPr sz="1300" lang="en-GB">
                          <a:latin typeface="Consolas"/>
                        </a:rPr>
                        <a:t>Tab</a:t>
                      </a:r>
                    </a:p>
                  </a:txBody>
                  <a:tcPr marT="45000" marB="45000"/>
                </a:tc>
                <a:tc>
                  <a:txBody>
                    <a:bodyPr/>
                    <a:lstStyle/>
                    <a:p>
                      <a:r>
                        <a:rPr sz="1300" lang="en-GB">
                          <a:latin typeface="Consolas"/>
                        </a:rPr>
                        <a:t>Tab</a:t>
                      </a:r>
                    </a:p>
                  </a:txBody>
                  <a:tcPr marT="45000" marB="45000"/>
                </a:tc>
              </a:tr>
            </a:tbl>
          </a:graphicData>
        </a:graphic>
      </p:graphicFrame>
      <p:sp>
        <p:nvSpPr>
          <p:cNvPr id="3" name="Title 2"/>
          <p:cNvSpPr>
            <a:spLocks noGrp="1"/>
          </p:cNvSpPr>
          <p:nvPr>
            <p:ph type="title"/>
          </p:nvPr>
        </p:nvSpPr>
        <p:spPr/>
        <p:txBody>
          <a:bodyPr/>
          <a:lstStyle/>
          <a:p>
            <a:r>
              <a:rPr sz="1600" lang="en-GB"/>
              <a:t>Shortcuts worth knowing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Posit Assistant: the AI inside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ssistant card 1 body"/>
          <p:cNvSpPr/>
          <p:nvPr/>
        </p:nvSpPr>
        <p:spPr>
          <a:xfrm>
            <a:off x="45720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ssistant card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ssistant card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it sees</a:t>
            </a:r>
          </a:p>
        </p:txBody>
      </p:sp>
      <p:pic>
        <p:nvPicPr>
          <p:cNvPr id="13" name="Icon Assistant card 1" descr=""/>
          <p:cNvPicPr>
            <a:picLocks noChangeAspect="1"/>
          </p:cNvPicPr>
          <p:nvPr/>
        </p:nvPicPr>
        <p:blipFill>
          <a:blip r:embed="rId3"/>
          <a:stretch>
            <a:fillRect/>
          </a:stretch>
        </p:blipFill>
        <p:spPr>
          <a:xfrm>
            <a:off x="2670048" y="1284732"/>
            <a:ext cx="310896" cy="310896"/>
          </a:xfrm>
          <a:prstGeom prst="rect">
            <a:avLst/>
          </a:prstGeom>
        </p:spPr>
      </p:pic>
      <p:sp>
        <p:nvSpPr>
          <p:cNvPr id="14" name="Assistant card 1 text"/>
          <p:cNvSpPr txBox="1"/>
          <p:nvPr/>
        </p:nvSpPr>
        <p:spPr>
          <a:xfrm>
            <a:off x="62179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Your open files and project</a:t>
            </a:r>
          </a:p>
          <a:p>
            <a:pPr algn="l" marL="182880" indent="-182880">
              <a:spcAft>
                <a:spcPts val="600"/>
              </a:spcAft>
              <a:buClr>
                <a:schemeClr val="accent1"/>
              </a:buClr>
              <a:buFont typeface="Arial"/>
              <a:buChar char="▪"/>
            </a:pPr>
            <a:r>
              <a:rPr sz="1300" b="0" lang="en-GB">
                <a:solidFill>
                  <a:schemeClr val="tx1"/>
                </a:solidFill>
              </a:rPr>
              <a:t>Loaded data, variables and plots</a:t>
            </a:r>
          </a:p>
          <a:p>
            <a:pPr algn="l" marL="182880" indent="-182880">
              <a:spcAft>
                <a:spcPts val="600"/>
              </a:spcAft>
              <a:buClr>
                <a:schemeClr val="accent1"/>
              </a:buClr>
              <a:buFont typeface="Arial"/>
              <a:buChar char="▪"/>
            </a:pPr>
            <a:r>
              <a:rPr sz="1300" b="0" lang="en-GB">
                <a:solidFill>
                  <a:schemeClr val="tx1"/>
                </a:solidFill>
              </a:rPr>
              <a:t>Console history</a:t>
            </a:r>
          </a:p>
        </p:txBody>
      </p:sp>
      <p:sp>
        <p:nvSpPr>
          <p:cNvPr id="15" name="Assistant card 2 body"/>
          <p:cNvSpPr/>
          <p:nvPr/>
        </p:nvSpPr>
        <p:spPr>
          <a:xfrm>
            <a:off x="324612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ssistant card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ssistant card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it does</a:t>
            </a:r>
          </a:p>
        </p:txBody>
      </p:sp>
      <p:pic>
        <p:nvPicPr>
          <p:cNvPr id="18" name="Icon Assistant card 2" descr=""/>
          <p:cNvPicPr>
            <a:picLocks noChangeAspect="1"/>
          </p:cNvPicPr>
          <p:nvPr/>
        </p:nvPicPr>
        <p:blipFill>
          <a:blip r:embed="rId4"/>
          <a:stretch>
            <a:fillRect/>
          </a:stretch>
        </p:blipFill>
        <p:spPr>
          <a:xfrm>
            <a:off x="5458968" y="1284732"/>
            <a:ext cx="310896" cy="310896"/>
          </a:xfrm>
          <a:prstGeom prst="rect">
            <a:avLst/>
          </a:prstGeom>
        </p:spPr>
      </p:pic>
      <p:sp>
        <p:nvSpPr>
          <p:cNvPr id="19" name="Assistant card 2 text"/>
          <p:cNvSpPr txBox="1"/>
          <p:nvPr/>
        </p:nvSpPr>
        <p:spPr>
          <a:xfrm>
            <a:off x="341071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Explains, writes and fixes code</a:t>
            </a:r>
          </a:p>
          <a:p>
            <a:pPr algn="l" marL="182880" indent="-182880">
              <a:spcAft>
                <a:spcPts val="600"/>
              </a:spcAft>
              <a:buClr>
                <a:schemeClr val="accent1"/>
              </a:buClr>
              <a:buFont typeface="Arial"/>
              <a:buChar char="▪"/>
            </a:pPr>
            <a:r>
              <a:rPr sz="1300" b="0" lang="en-GB">
                <a:solidFill>
                  <a:schemeClr val="tx1"/>
                </a:solidFill>
              </a:rPr>
              <a:t>Runs code after you approve</a:t>
            </a:r>
          </a:p>
          <a:p>
            <a:pPr algn="l" marL="182880" indent="-182880">
              <a:spcAft>
                <a:spcPts val="600"/>
              </a:spcAft>
              <a:buClr>
                <a:schemeClr val="accent1"/>
              </a:buClr>
              <a:buFont typeface="Arial"/>
              <a:buChar char="▪"/>
            </a:pPr>
            <a:r>
              <a:rPr sz="1300" b="0" lang="en-GB">
                <a:solidFill>
                  <a:schemeClr val="tx1"/>
                </a:solidFill>
              </a:rPr>
              <a:t>Fix and Explain on any error</a:t>
            </a:r>
          </a:p>
        </p:txBody>
      </p:sp>
      <p:sp>
        <p:nvSpPr>
          <p:cNvPr id="20" name="Assistant card 3 body"/>
          <p:cNvSpPr/>
          <p:nvPr/>
        </p:nvSpPr>
        <p:spPr>
          <a:xfrm>
            <a:off x="603504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Assistant card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ssistant card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How you steer it</a:t>
            </a:r>
          </a:p>
        </p:txBody>
      </p:sp>
      <p:pic>
        <p:nvPicPr>
          <p:cNvPr id="23" name="Icon Assistant card 3" descr=""/>
          <p:cNvPicPr>
            <a:picLocks noChangeAspect="1"/>
          </p:cNvPicPr>
          <p:nvPr/>
        </p:nvPicPr>
        <p:blipFill>
          <a:blip r:embed="rId5"/>
          <a:stretch>
            <a:fillRect/>
          </a:stretch>
        </p:blipFill>
        <p:spPr>
          <a:xfrm>
            <a:off x="8247888" y="1284732"/>
            <a:ext cx="310896" cy="310896"/>
          </a:xfrm>
          <a:prstGeom prst="rect">
            <a:avLst/>
          </a:prstGeom>
        </p:spPr>
      </p:pic>
      <p:sp>
        <p:nvSpPr>
          <p:cNvPr id="24" name="Assistant card 3 text"/>
          <p:cNvSpPr txBox="1"/>
          <p:nvPr/>
        </p:nvSpPr>
        <p:spPr>
          <a:xfrm>
            <a:off x="619963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/plan: a plan before any code</a:t>
            </a:r>
          </a:p>
          <a:p>
            <a:pPr algn="l" marL="182880" indent="-182880">
              <a:spcAft>
                <a:spcPts val="600"/>
              </a:spcAft>
              <a:buClr>
                <a:schemeClr val="accent1"/>
              </a:buClr>
              <a:buFont typeface="Arial"/>
              <a:buChar char="▪"/>
            </a:pPr>
            <a:r>
              <a:rPr sz="1300" b="0" lang="en-GB">
                <a:solidFill>
                  <a:schemeClr val="tx1"/>
                </a:solidFill>
              </a:rPr>
              <a:t>@file: point it to a file</a:t>
            </a:r>
          </a:p>
          <a:p>
            <a:pPr algn="l" marL="182880" indent="-182880">
              <a:spcAft>
                <a:spcPts val="600"/>
              </a:spcAft>
              <a:buClr>
                <a:schemeClr val="accent1"/>
              </a:buClr>
              <a:buFont typeface="Arial"/>
              <a:buChar char="▪"/>
            </a:pPr>
            <a:r>
              <a:rPr sz="1300" b="0" lang="en-GB">
                <a:solidFill>
                  <a:schemeClr val="tx1"/>
                </a:solidFill>
              </a:rPr>
              <a:t>Permission mode: keep Normal</a:t>
            </a:r>
          </a:p>
        </p:txBody>
      </p:sp>
      <p:sp>
        <p:nvSpPr>
          <p:cNvPr id="25" name="Open label"/>
          <p:cNvSpPr txBox="1"/>
          <p:nvPr/>
        </p:nvSpPr>
        <p:spPr>
          <a:xfrm>
            <a:off x="457200" y="3520440"/>
            <a:ext cx="8229600" cy="274320"/>
          </a:xfrm>
          <a:prstGeom prst="rect">
            <a:avLst/>
          </a:prstGeom>
          <a:noFill/>
        </p:spPr>
        <p:txBody>
          <a:bodyPr wrap="square" lIns="0" rIns="0" tIns="0" bIns="0" anchor="t">
            <a:noAutofit/>
          </a:bodyPr>
          <a:lstStyle/>
          <a:p>
            <a:pPr algn="l">
              <a:spcAft>
                <a:spcPts val="400"/>
              </a:spcAft>
            </a:pPr>
            <a:r>
              <a:rPr sz="1300" b="1" lang="en-GB">
                <a:solidFill>
                  <a:schemeClr val="tx2"/>
                </a:solidFill>
              </a:rPr>
              <a:t>Open it</a:t>
            </a:r>
          </a:p>
        </p:txBody>
      </p:sp>
      <p:sp>
        <p:nvSpPr>
          <p:cNvPr id="26" name="Open command box"/>
          <p:cNvSpPr/>
          <p:nvPr/>
        </p:nvSpPr>
        <p:spPr>
          <a:xfrm>
            <a:off x="457200" y="3840480"/>
            <a:ext cx="402336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pen command code"/>
          <p:cNvSpPr txBox="1"/>
          <p:nvPr/>
        </p:nvSpPr>
        <p:spPr>
          <a:xfrm>
            <a:off x="594360" y="3931920"/>
            <a:ext cx="3749040" cy="36576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View: Show Posit Assistant</a:t>
            </a:r>
          </a:p>
        </p:txBody>
      </p:sp>
      <p:sp>
        <p:nvSpPr>
          <p:cNvPr id="28" name="Open note"/>
          <p:cNvSpPr txBox="1"/>
          <p:nvPr/>
        </p:nvSpPr>
        <p:spPr>
          <a:xfrm>
            <a:off x="4617720" y="3840480"/>
            <a:ext cx="4069080" cy="548640"/>
          </a:xfrm>
          <a:prstGeom prst="rect">
            <a:avLst/>
          </a:prstGeom>
          <a:noFill/>
        </p:spPr>
        <p:txBody>
          <a:bodyPr wrap="square" lIns="0" rIns="0" tIns="0" bIns="0" anchor="ctr">
            <a:noAutofit/>
          </a:bodyPr>
          <a:lstStyle/>
          <a:p>
            <a:pPr algn="l">
              <a:spcAft>
                <a:spcPts val="400"/>
              </a:spcAft>
            </a:pPr>
            <a:r>
              <a:rPr sz="1200" b="0" lang="en-GB">
                <a:solidFill>
                  <a:schemeClr val="tx1"/>
                </a:solidFill>
              </a:rPr>
              <a:t>Command Palette, or the Assistant icon in the Activity Bar</a:t>
            </a:r>
          </a:p>
        </p:txBody>
      </p:sp>
      <p:sp>
        <p:nvSpPr>
          <p:cNvPr id="29" name="Memory note"/>
          <p:cNvSpPr txBox="1"/>
          <p:nvPr/>
        </p:nvSpPr>
        <p:spPr>
          <a:xfrm>
            <a:off x="457200" y="4526280"/>
            <a:ext cx="82296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Memory: </a:t>
            </a:r>
            <a:r>
              <a:rPr sz="1200" b="0" lang="en-GB">
                <a:solidFill>
                  <a:schemeClr val="tx1"/>
                </a:solidFill>
              </a:rPr>
              <a:t>an AGENTS.md file in your project tells it your conventions, for example “use polars and plotnine”.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Working with AI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host card body"/>
          <p:cNvSpPr/>
          <p:nvPr/>
        </p:nvSpPr>
        <p:spPr>
          <a:xfrm>
            <a:off x="457200" y="1645920"/>
            <a:ext cx="404622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host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host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Completions: ghost text</a:t>
            </a:r>
          </a:p>
        </p:txBody>
      </p:sp>
      <p:pic>
        <p:nvPicPr>
          <p:cNvPr id="13" name="Icon Ghost card" descr=""/>
          <p:cNvPicPr>
            <a:picLocks noChangeAspect="1"/>
          </p:cNvPicPr>
          <p:nvPr/>
        </p:nvPicPr>
        <p:blipFill>
          <a:blip r:embed="rId3"/>
          <a:stretch>
            <a:fillRect/>
          </a:stretch>
        </p:blipFill>
        <p:spPr>
          <a:xfrm>
            <a:off x="4064508" y="1284732"/>
            <a:ext cx="310896" cy="310896"/>
          </a:xfrm>
          <a:prstGeom prst="rect">
            <a:avLst/>
          </a:prstGeom>
        </p:spPr>
      </p:pic>
      <p:sp>
        <p:nvSpPr>
          <p:cNvPr id="14" name="Ghost card text"/>
          <p:cNvSpPr txBox="1"/>
          <p:nvPr/>
        </p:nvSpPr>
        <p:spPr>
          <a:xfrm>
            <a:off x="621792" y="1783080"/>
            <a:ext cx="3744468" cy="10058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Grey suggestions appear as you type</a:t>
            </a:r>
          </a:p>
          <a:p>
            <a:pPr algn="l" marL="182880" indent="-182880">
              <a:spcAft>
                <a:spcPts val="600"/>
              </a:spcAft>
              <a:buClr>
                <a:schemeClr val="accent1"/>
              </a:buClr>
              <a:buFont typeface="Arial"/>
              <a:buChar char="▪"/>
            </a:pPr>
            <a:r>
              <a:rPr sz="1300" b="0" lang="en-GB">
                <a:solidFill>
                  <a:schemeClr val="tx1"/>
                </a:solidFill>
              </a:rPr>
              <a:t>Tab accepts, Ctrl/Cmd + → word by word</a:t>
            </a:r>
          </a:p>
          <a:p>
            <a:pPr algn="l" marL="182880" indent="-182880">
              <a:spcAft>
                <a:spcPts val="600"/>
              </a:spcAft>
              <a:buClr>
                <a:schemeClr val="accent1"/>
              </a:buClr>
              <a:buFont typeface="Arial"/>
              <a:buChar char="▪"/>
            </a:pPr>
            <a:r>
              <a:rPr sz="1300" b="0" lang="en-GB">
                <a:solidFill>
                  <a:schemeClr val="tx1"/>
                </a:solidFill>
              </a:rPr>
              <a:t>Esc or keep typing to dismiss</a:t>
            </a:r>
          </a:p>
        </p:txBody>
      </p:sp>
      <p:sp>
        <p:nvSpPr>
          <p:cNvPr id="15" name="Assistant chat card body"/>
          <p:cNvSpPr/>
          <p:nvPr/>
        </p:nvSpPr>
        <p:spPr>
          <a:xfrm>
            <a:off x="4640580" y="1645920"/>
            <a:ext cx="404622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ssistant chat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ssistant chat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Chat: Posit Assistant</a:t>
            </a:r>
          </a:p>
        </p:txBody>
      </p:sp>
      <p:pic>
        <p:nvPicPr>
          <p:cNvPr id="18" name="Icon Assistant chat card" descr=""/>
          <p:cNvPicPr>
            <a:picLocks noChangeAspect="1"/>
          </p:cNvPicPr>
          <p:nvPr/>
        </p:nvPicPr>
        <p:blipFill>
          <a:blip r:embed="rId4"/>
          <a:stretch>
            <a:fillRect/>
          </a:stretch>
        </p:blipFill>
        <p:spPr>
          <a:xfrm>
            <a:off x="8247888" y="1284732"/>
            <a:ext cx="310896" cy="310896"/>
          </a:xfrm>
          <a:prstGeom prst="rect">
            <a:avLst/>
          </a:prstGeom>
        </p:spPr>
      </p:pic>
      <p:sp>
        <p:nvSpPr>
          <p:cNvPr id="19" name="Assistant chat card text"/>
          <p:cNvSpPr txBox="1"/>
          <p:nvPr/>
        </p:nvSpPr>
        <p:spPr>
          <a:xfrm>
            <a:off x="4805172" y="1783080"/>
            <a:ext cx="3744468" cy="10058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Ask in plain English, one step at a time</a:t>
            </a:r>
          </a:p>
          <a:p>
            <a:pPr algn="l" marL="182880" indent="-182880">
              <a:spcAft>
                <a:spcPts val="600"/>
              </a:spcAft>
              <a:buClr>
                <a:schemeClr val="accent1"/>
              </a:buClr>
              <a:buFont typeface="Arial"/>
              <a:buChar char="▪"/>
            </a:pPr>
            <a:r>
              <a:rPr sz="1300" b="0" lang="en-GB">
                <a:solidFill>
                  <a:schemeClr val="tx1"/>
                </a:solidFill>
              </a:rPr>
              <a:t>Check every result it reports</a:t>
            </a:r>
          </a:p>
          <a:p>
            <a:pPr algn="l" marL="182880" indent="-182880">
              <a:spcAft>
                <a:spcPts val="600"/>
              </a:spcAft>
              <a:buClr>
                <a:schemeClr val="accent1"/>
              </a:buClr>
              <a:buFont typeface="Arial"/>
              <a:buChar char="▪"/>
            </a:pPr>
            <a:r>
              <a:rPr sz="1300" b="0" lang="en-GB">
                <a:solidFill>
                  <a:schemeClr val="tx1"/>
                </a:solidFill>
              </a:rPr>
              <a:t>Export the chat: your prompt log</a:t>
            </a:r>
          </a:p>
        </p:txBody>
      </p:sp>
      <p:sp>
        <p:nvSpPr>
          <p:cNvPr id="20" name="Prompt label"/>
          <p:cNvSpPr txBox="1"/>
          <p:nvPr/>
        </p:nvSpPr>
        <p:spPr>
          <a:xfrm>
            <a:off x="457200" y="3063240"/>
            <a:ext cx="8229600" cy="274320"/>
          </a:xfrm>
          <a:prstGeom prst="rect">
            <a:avLst/>
          </a:prstGeom>
          <a:noFill/>
        </p:spPr>
        <p:txBody>
          <a:bodyPr wrap="square" lIns="0" rIns="0" tIns="0" bIns="0" anchor="t">
            <a:noAutofit/>
          </a:bodyPr>
          <a:lstStyle/>
          <a:p>
            <a:pPr algn="l">
              <a:spcAft>
                <a:spcPts val="400"/>
              </a:spcAft>
            </a:pPr>
            <a:r>
              <a:rPr sz="1300" b="1" lang="en-GB">
                <a:solidFill>
                  <a:schemeClr val="tx2"/>
                </a:solidFill>
              </a:rPr>
              <a:t>Good prompts</a:t>
            </a:r>
          </a:p>
        </p:txBody>
      </p:sp>
      <p:sp>
        <p:nvSpPr>
          <p:cNvPr id="21" name="Prompt code box"/>
          <p:cNvSpPr/>
          <p:nvPr/>
        </p:nvSpPr>
        <p:spPr>
          <a:xfrm>
            <a:off x="457200" y="338328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ompt code code"/>
          <p:cNvSpPr txBox="1"/>
          <p:nvPr/>
        </p:nvSpPr>
        <p:spPr>
          <a:xfrm>
            <a:off x="594360" y="3474720"/>
            <a:ext cx="7955280" cy="54864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"Sum revenue by country for 2025 with polars and sort it."</a:t>
            </a:r>
          </a:p>
          <a:p>
            <a:pPr algn="l">
              <a:spcAft>
                <a:spcPts val="0"/>
              </a:spcAft>
            </a:pPr>
            <a:r>
              <a:rPr sz="1150" b="0" lang="en-GB">
                <a:solidFill>
                  <a:schemeClr val="bg1"/>
                </a:solidFill>
                <a:latin typeface="Consolas"/>
              </a:rPr>
              <a:t>"Explain this error in two sentences, then fix it."</a:t>
            </a:r>
          </a:p>
        </p:txBody>
      </p:sp>
      <p:sp>
        <p:nvSpPr>
          <p:cNvPr id="23" name="Privacy box"/>
          <p:cNvSpPr/>
          <p:nvPr/>
        </p:nvSpPr>
        <p:spPr>
          <a:xfrm>
            <a:off x="457200" y="4297680"/>
            <a:ext cx="82296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Privacy" descr=""/>
          <p:cNvPicPr>
            <a:picLocks noChangeAspect="1"/>
          </p:cNvPicPr>
          <p:nvPr/>
        </p:nvPicPr>
        <p:blipFill>
          <a:blip r:embed="rId5"/>
          <a:stretch>
            <a:fillRect/>
          </a:stretch>
        </p:blipFill>
        <p:spPr>
          <a:xfrm>
            <a:off x="658368" y="4494276"/>
            <a:ext cx="384048" cy="384048"/>
          </a:xfrm>
          <a:prstGeom prst="rect">
            <a:avLst/>
          </a:prstGeom>
        </p:spPr>
      </p:pic>
      <p:sp>
        <p:nvSpPr>
          <p:cNvPr id="25" name="Privacy text"/>
          <p:cNvSpPr txBox="1"/>
          <p:nvPr/>
        </p:nvSpPr>
        <p:spPr>
          <a:xfrm>
            <a:off x="1234440" y="4297680"/>
            <a:ext cx="7269480" cy="777240"/>
          </a:xfrm>
          <a:prstGeom prst="rect">
            <a:avLst/>
          </a:prstGeom>
          <a:noFill/>
        </p:spPr>
        <p:txBody>
          <a:bodyPr wrap="square" lIns="0" rIns="0" tIns="0" bIns="0" anchor="ctr">
            <a:noAutofit/>
          </a:bodyPr>
          <a:lstStyle/>
          <a:p>
            <a:pPr algn="l">
              <a:spcAft>
                <a:spcPts val="400"/>
              </a:spcAft>
            </a:pPr>
            <a:r>
              <a:rPr sz="1300" b="1" lang="en-GB">
                <a:solidFill>
                  <a:schemeClr val="tx2"/>
                </a:solidFill>
              </a:rPr>
              <a:t>Privacy: </a:t>
            </a:r>
            <a:r>
              <a:rPr sz="1300" b="0" lang="en-GB">
                <a:solidFill>
                  <a:schemeClr val="tx1"/>
                </a:solidFill>
              </a:rPr>
              <a:t>prompts, variable names and types go to the model provider; rows of data only if you ask. Never paste personal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6 · the window, the everyday workflow, your group project</a:t>
            </a:r>
          </a:p>
        </p:txBody>
      </p:sp>
      <p:sp>
        <p:nvSpPr>
          <p:cNvPr id="3" name="Title 2"/>
          <p:cNvSpPr>
            <a:spLocks noGrp="1"/>
          </p:cNvSpPr>
          <p:nvPr>
            <p:ph type="ctrTitle"/>
          </p:nvPr>
        </p:nvSpPr>
        <p:spPr/>
        <p:txBody>
          <a:bodyPr/>
          <a:lstStyle/>
          <a:p>
            <a:r>
              <a:rPr sz="1600" lang="en-GB"/>
              <a:t>Work with GitHub Desktop</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GitHub Desktop at a glance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D toolbar"/>
          <p:cNvSpPr/>
          <p:nvPr/>
        </p:nvSpPr>
        <p:spPr>
          <a:xfrm>
            <a:off x="457200" y="1234440"/>
            <a:ext cx="530352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D seg 1"/>
          <p:cNvSpPr txBox="1"/>
          <p:nvPr/>
        </p:nvSpPr>
        <p:spPr>
          <a:xfrm>
            <a:off x="868680" y="1234440"/>
            <a:ext cx="1828800" cy="548640"/>
          </a:xfrm>
          <a:prstGeom prst="rect">
            <a:avLst/>
          </a:prstGeom>
          <a:noFill/>
        </p:spPr>
        <p:txBody>
          <a:bodyPr wrap="square" lIns="0" rIns="0" tIns="0" bIns="0" anchor="ctr">
            <a:noAutofit/>
          </a:bodyPr>
          <a:lstStyle/>
          <a:p>
            <a:pPr algn="l">
              <a:spcAft>
                <a:spcPts val="0"/>
              </a:spcAft>
            </a:pPr>
            <a:r>
              <a:rPr sz="1050" b="0" lang="en-GB">
                <a:solidFill>
                  <a:schemeClr val="bg1"/>
                </a:solidFill>
              </a:rPr>
              <a:t>Current repository</a:t>
            </a:r>
          </a:p>
          <a:p>
            <a:pPr algn="l">
              <a:spcAft>
                <a:spcPts val="0"/>
              </a:spcAft>
            </a:pPr>
            <a:r>
              <a:rPr sz="1050" b="1" lang="en-GB">
                <a:solidFill>
                  <a:schemeClr val="bg1"/>
                </a:solidFill>
              </a:rPr>
              <a:t>ima-teaching ▾</a:t>
            </a:r>
          </a:p>
        </p:txBody>
      </p:sp>
      <p:sp>
        <p:nvSpPr>
          <p:cNvPr id="12" name="GD badge 1"/>
          <p:cNvSpPr/>
          <p:nvPr/>
        </p:nvSpPr>
        <p:spPr>
          <a:xfrm>
            <a:off x="548640" y="137160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3" name="GD seg 2"/>
          <p:cNvSpPr txBox="1"/>
          <p:nvPr/>
        </p:nvSpPr>
        <p:spPr>
          <a:xfrm>
            <a:off x="3063240" y="1234440"/>
            <a:ext cx="1051560" cy="548640"/>
          </a:xfrm>
          <a:prstGeom prst="rect">
            <a:avLst/>
          </a:prstGeom>
          <a:noFill/>
        </p:spPr>
        <p:txBody>
          <a:bodyPr wrap="square" lIns="0" rIns="0" tIns="0" bIns="0" anchor="ctr">
            <a:noAutofit/>
          </a:bodyPr>
          <a:lstStyle/>
          <a:p>
            <a:pPr algn="l">
              <a:spcAft>
                <a:spcPts val="0"/>
              </a:spcAft>
            </a:pPr>
            <a:r>
              <a:rPr sz="1050" b="0" lang="en-GB">
                <a:solidFill>
                  <a:schemeClr val="bg1"/>
                </a:solidFill>
              </a:rPr>
              <a:t>Current branch</a:t>
            </a:r>
          </a:p>
          <a:p>
            <a:pPr algn="l">
              <a:spcAft>
                <a:spcPts val="0"/>
              </a:spcAft>
            </a:pPr>
            <a:r>
              <a:rPr sz="1050" b="1" lang="en-GB">
                <a:solidFill>
                  <a:schemeClr val="bg1"/>
                </a:solidFill>
              </a:rPr>
              <a:t>main ▾</a:t>
            </a:r>
          </a:p>
        </p:txBody>
      </p:sp>
      <p:sp>
        <p:nvSpPr>
          <p:cNvPr id="14" name="GD badge 2"/>
          <p:cNvSpPr/>
          <p:nvPr/>
        </p:nvSpPr>
        <p:spPr>
          <a:xfrm>
            <a:off x="2743200" y="137160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GD seg 3"/>
          <p:cNvSpPr txBox="1"/>
          <p:nvPr/>
        </p:nvSpPr>
        <p:spPr>
          <a:xfrm>
            <a:off x="4480560" y="1234440"/>
            <a:ext cx="1234440" cy="548640"/>
          </a:xfrm>
          <a:prstGeom prst="rect">
            <a:avLst/>
          </a:prstGeom>
          <a:noFill/>
        </p:spPr>
        <p:txBody>
          <a:bodyPr wrap="square" lIns="0" rIns="0" tIns="0" bIns="0" anchor="ctr">
            <a:noAutofit/>
          </a:bodyPr>
          <a:lstStyle/>
          <a:p>
            <a:pPr algn="l">
              <a:spcAft>
                <a:spcPts val="0"/>
              </a:spcAft>
            </a:pPr>
            <a:r>
              <a:rPr sz="1050" b="0" lang="en-GB">
                <a:solidFill>
                  <a:schemeClr val="bg1"/>
                </a:solidFill>
              </a:rPr>
              <a:t>Fetch origin</a:t>
            </a:r>
          </a:p>
          <a:p>
            <a:pPr algn="l">
              <a:spcAft>
                <a:spcPts val="0"/>
              </a:spcAft>
            </a:pPr>
            <a:r>
              <a:rPr sz="1050" b="1" lang="en-GB">
                <a:solidFill>
                  <a:schemeClr val="bg1"/>
                </a:solidFill>
              </a:rPr>
              <a:t>↻ now</a:t>
            </a:r>
          </a:p>
        </p:txBody>
      </p:sp>
      <p:sp>
        <p:nvSpPr>
          <p:cNvPr id="16" name="GD badge 3"/>
          <p:cNvSpPr/>
          <p:nvPr/>
        </p:nvSpPr>
        <p:spPr>
          <a:xfrm>
            <a:off x="4160520" y="137160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7" name="GD left"/>
          <p:cNvSpPr/>
          <p:nvPr/>
        </p:nvSpPr>
        <p:spPr>
          <a:xfrm>
            <a:off x="457200" y="1828800"/>
            <a:ext cx="2194560"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GD tabs"/>
          <p:cNvSpPr txBox="1"/>
          <p:nvPr/>
        </p:nvSpPr>
        <p:spPr>
          <a:xfrm>
            <a:off x="868680" y="1874520"/>
            <a:ext cx="1737360" cy="320040"/>
          </a:xfrm>
          <a:prstGeom prst="rect">
            <a:avLst/>
          </a:prstGeom>
          <a:noFill/>
        </p:spPr>
        <p:txBody>
          <a:bodyPr wrap="square" lIns="0" rIns="0" tIns="0" bIns="0" anchor="ctr">
            <a:noAutofit/>
          </a:bodyPr>
          <a:lstStyle/>
          <a:p>
            <a:pPr algn="l">
              <a:spcAft>
                <a:spcPts val="400"/>
              </a:spcAft>
            </a:pPr>
            <a:r>
              <a:rPr sz="1100" b="1" lang="en-GB">
                <a:solidFill>
                  <a:schemeClr val="tx2"/>
                </a:solidFill>
              </a:rPr>
              <a:t>Changes (2)</a:t>
            </a:r>
            <a:r>
              <a:rPr sz="1100" b="0" lang="en-GB">
                <a:solidFill>
                  <a:schemeClr val="tx1"/>
                </a:solidFill>
              </a:rPr>
              <a:t>   History</a:t>
            </a:r>
          </a:p>
        </p:txBody>
      </p:sp>
      <p:sp>
        <p:nvSpPr>
          <p:cNvPr id="19" name="GD badge 4"/>
          <p:cNvSpPr/>
          <p:nvPr/>
        </p:nvSpPr>
        <p:spPr>
          <a:xfrm>
            <a:off x="530352" y="189280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0" name="GD check 1"/>
          <p:cNvSpPr/>
          <p:nvPr/>
        </p:nvSpPr>
        <p:spPr>
          <a:xfrm>
            <a:off x="594360" y="2350008"/>
            <a:ext cx="1828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GD file 1"/>
          <p:cNvSpPr txBox="1"/>
          <p:nvPr/>
        </p:nvSpPr>
        <p:spPr>
          <a:xfrm>
            <a:off x="868680" y="2286000"/>
            <a:ext cx="1737360" cy="310896"/>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analysis.py</a:t>
            </a:r>
          </a:p>
        </p:txBody>
      </p:sp>
      <p:sp>
        <p:nvSpPr>
          <p:cNvPr id="22" name="GD check 2"/>
          <p:cNvSpPr/>
          <p:nvPr/>
        </p:nvSpPr>
        <p:spPr>
          <a:xfrm>
            <a:off x="594360" y="2697480"/>
            <a:ext cx="182880"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GD file 2"/>
          <p:cNvSpPr txBox="1"/>
          <p:nvPr/>
        </p:nvSpPr>
        <p:spPr>
          <a:xfrm>
            <a:off x="868680" y="2633472"/>
            <a:ext cx="1737360" cy="310896"/>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report.qmd</a:t>
            </a:r>
          </a:p>
        </p:txBody>
      </p:sp>
      <p:sp>
        <p:nvSpPr>
          <p:cNvPr id="24" name="GD summary"/>
          <p:cNvSpPr/>
          <p:nvPr/>
        </p:nvSpPr>
        <p:spPr>
          <a:xfrm>
            <a:off x="548640" y="3154680"/>
            <a:ext cx="20116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GD summary text"/>
          <p:cNvSpPr txBox="1"/>
          <p:nvPr/>
        </p:nvSpPr>
        <p:spPr>
          <a:xfrm>
            <a:off x="621792" y="3154680"/>
            <a:ext cx="1920240" cy="384048"/>
          </a:xfrm>
          <a:prstGeom prst="rect">
            <a:avLst/>
          </a:prstGeom>
          <a:noFill/>
        </p:spPr>
        <p:txBody>
          <a:bodyPr wrap="square" lIns="0" rIns="0" tIns="0" bIns="0" anchor="ctr">
            <a:noAutofit/>
          </a:bodyPr>
          <a:lstStyle/>
          <a:p>
            <a:pPr algn="l">
              <a:spcAft>
                <a:spcPts val="400"/>
              </a:spcAft>
            </a:pPr>
            <a:r>
              <a:rPr sz="1050" b="0" lang="en-GB">
                <a:solidFill>
                  <a:schemeClr val="tx1"/>
                </a:solidFill>
              </a:rPr>
              <a:t>Add Austria sales chart</a:t>
            </a:r>
          </a:p>
        </p:txBody>
      </p:sp>
      <p:sp>
        <p:nvSpPr>
          <p:cNvPr id="26" name="GD commit"/>
          <p:cNvSpPr/>
          <p:nvPr/>
        </p:nvSpPr>
        <p:spPr>
          <a:xfrm>
            <a:off x="548640" y="3657600"/>
            <a:ext cx="2011680" cy="3840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GD commit text"/>
          <p:cNvSpPr txBox="1"/>
          <p:nvPr/>
        </p:nvSpPr>
        <p:spPr>
          <a:xfrm>
            <a:off x="548640" y="3657600"/>
            <a:ext cx="2011680" cy="384048"/>
          </a:xfrm>
          <a:prstGeom prst="rect">
            <a:avLst/>
          </a:prstGeom>
          <a:noFill/>
        </p:spPr>
        <p:txBody>
          <a:bodyPr wrap="square" lIns="0" rIns="0" tIns="0" bIns="0" anchor="ctr">
            <a:noAutofit/>
          </a:bodyPr>
          <a:lstStyle/>
          <a:p>
            <a:pPr algn="ctr">
              <a:spcAft>
                <a:spcPts val="400"/>
              </a:spcAft>
            </a:pPr>
            <a:r>
              <a:rPr sz="1100" b="1" lang="en-GB">
                <a:solidFill>
                  <a:schemeClr val="bg1"/>
                </a:solidFill>
              </a:rPr>
              <a:t>Commit to main</a:t>
            </a:r>
          </a:p>
        </p:txBody>
      </p:sp>
      <p:sp>
        <p:nvSpPr>
          <p:cNvPr id="28" name="GD badge 5"/>
          <p:cNvSpPr/>
          <p:nvPr/>
        </p:nvSpPr>
        <p:spPr>
          <a:xfrm>
            <a:off x="530352" y="411480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9" name="GD commit note"/>
          <p:cNvSpPr txBox="1"/>
          <p:nvPr/>
        </p:nvSpPr>
        <p:spPr>
          <a:xfrm>
            <a:off x="868680" y="4069080"/>
            <a:ext cx="1737360" cy="365760"/>
          </a:xfrm>
          <a:prstGeom prst="rect">
            <a:avLst/>
          </a:prstGeom>
          <a:noFill/>
        </p:spPr>
        <p:txBody>
          <a:bodyPr wrap="square" lIns="0" rIns="0" tIns="0" bIns="0" anchor="ctr">
            <a:noAutofit/>
          </a:bodyPr>
          <a:lstStyle/>
          <a:p>
            <a:pPr algn="l">
              <a:spcAft>
                <a:spcPts val="400"/>
              </a:spcAft>
            </a:pPr>
            <a:r>
              <a:rPr sz="1050" b="0" lang="en-GB">
                <a:solidFill>
                  <a:schemeClr val="tx1"/>
                </a:solidFill>
              </a:rPr>
              <a:t>summary, then commit</a:t>
            </a:r>
          </a:p>
        </p:txBody>
      </p:sp>
      <p:sp>
        <p:nvSpPr>
          <p:cNvPr id="30" name="GD diff"/>
          <p:cNvSpPr/>
          <p:nvPr/>
        </p:nvSpPr>
        <p:spPr>
          <a:xfrm>
            <a:off x="2697480" y="1828800"/>
            <a:ext cx="3063240" cy="2697480"/>
          </a:xfrm>
          <a:prstGeom prst="rect">
            <a:avLst/>
          </a:prstGeom>
          <a:solidFill>
            <a:srgbClr val="FFFFFF"/>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GD badge 6"/>
          <p:cNvSpPr/>
          <p:nvPr/>
        </p:nvSpPr>
        <p:spPr>
          <a:xfrm>
            <a:off x="2770632" y="189280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32" name="GD diff head"/>
          <p:cNvSpPr txBox="1"/>
          <p:nvPr/>
        </p:nvSpPr>
        <p:spPr>
          <a:xfrm>
            <a:off x="3108960" y="1874520"/>
            <a:ext cx="2560320" cy="320040"/>
          </a:xfrm>
          <a:prstGeom prst="rect">
            <a:avLst/>
          </a:prstGeom>
          <a:noFill/>
        </p:spPr>
        <p:txBody>
          <a:bodyPr wrap="square" lIns="0" rIns="0" tIns="0" bIns="0" anchor="ctr">
            <a:noAutofit/>
          </a:bodyPr>
          <a:lstStyle/>
          <a:p>
            <a:pPr algn="l">
              <a:spcAft>
                <a:spcPts val="400"/>
              </a:spcAft>
            </a:pPr>
            <a:r>
              <a:rPr sz="1100" b="1" lang="en-GB">
                <a:solidFill>
                  <a:schemeClr val="tx2"/>
                </a:solidFill>
                <a:latin typeface="Consolas"/>
              </a:rPr>
              <a:t>report.qmd</a:t>
            </a:r>
          </a:p>
        </p:txBody>
      </p:sp>
      <p:sp>
        <p:nvSpPr>
          <p:cNvPr id="33" name="GD diff line 1"/>
          <p:cNvSpPr txBox="1"/>
          <p:nvPr/>
        </p:nvSpPr>
        <p:spPr>
          <a:xfrm>
            <a:off x="2816352" y="2331720"/>
            <a:ext cx="2880360" cy="310896"/>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  at = sales.filter(...)</a:t>
            </a:r>
          </a:p>
        </p:txBody>
      </p:sp>
      <p:sp>
        <p:nvSpPr>
          <p:cNvPr id="34" name="GD diff bg 2"/>
          <p:cNvSpPr/>
          <p:nvPr/>
        </p:nvSpPr>
        <p:spPr>
          <a:xfrm>
            <a:off x="2743200" y="2660904"/>
            <a:ext cx="2971800" cy="310896"/>
          </a:xfrm>
          <a:prstGeom prst="rect">
            <a:avLst/>
          </a:prstGeom>
          <a:solidFill>
            <a:srgbClr val="FB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GD diff line 2"/>
          <p:cNvSpPr txBox="1"/>
          <p:nvPr/>
        </p:nvSpPr>
        <p:spPr>
          <a:xfrm>
            <a:off x="2816352" y="2660904"/>
            <a:ext cx="2880360" cy="310896"/>
          </a:xfrm>
          <a:prstGeom prst="rect">
            <a:avLst/>
          </a:prstGeom>
          <a:noFill/>
        </p:spPr>
        <p:txBody>
          <a:bodyPr wrap="square" lIns="0" rIns="0" tIns="0" bIns="0" anchor="ctr">
            <a:noAutofit/>
          </a:bodyPr>
          <a:lstStyle/>
          <a:p>
            <a:pPr algn="l">
              <a:spcAft>
                <a:spcPts val="400"/>
              </a:spcAft>
            </a:pPr>
            <a:r>
              <a:rPr sz="1050" b="0" lang="en-GB">
                <a:solidFill>
                  <a:srgbClr val="9F1D1D"/>
                </a:solidFill>
                <a:latin typeface="Consolas"/>
              </a:rPr>
              <a:t>- at.head()</a:t>
            </a:r>
          </a:p>
        </p:txBody>
      </p:sp>
      <p:sp>
        <p:nvSpPr>
          <p:cNvPr id="36" name="GD diff bg 3"/>
          <p:cNvSpPr/>
          <p:nvPr/>
        </p:nvSpPr>
        <p:spPr>
          <a:xfrm>
            <a:off x="2743200" y="2990088"/>
            <a:ext cx="2971800" cy="310896"/>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GD diff line 3"/>
          <p:cNvSpPr txBox="1"/>
          <p:nvPr/>
        </p:nvSpPr>
        <p:spPr>
          <a:xfrm>
            <a:off x="2816352" y="2990088"/>
            <a:ext cx="2880360" cy="310896"/>
          </a:xfrm>
          <a:prstGeom prst="rect">
            <a:avLst/>
          </a:prstGeom>
          <a:noFill/>
        </p:spPr>
        <p:txBody>
          <a:bodyPr wrap="square" lIns="0" rIns="0" tIns="0" bIns="0" anchor="ctr">
            <a:noAutofit/>
          </a:bodyPr>
          <a:lstStyle/>
          <a:p>
            <a:pPr algn="l">
              <a:spcAft>
                <a:spcPts val="400"/>
              </a:spcAft>
            </a:pPr>
            <a:r>
              <a:rPr sz="1050" b="0" lang="en-GB">
                <a:solidFill>
                  <a:srgbClr val="146C2E"/>
                </a:solidFill>
                <a:latin typeface="Consolas"/>
              </a:rPr>
              <a:t>+ ggplot(at, aes("week",</a:t>
            </a:r>
          </a:p>
        </p:txBody>
      </p:sp>
      <p:sp>
        <p:nvSpPr>
          <p:cNvPr id="38" name="GD diff bg 4"/>
          <p:cNvSpPr/>
          <p:nvPr/>
        </p:nvSpPr>
        <p:spPr>
          <a:xfrm>
            <a:off x="2743200" y="3319272"/>
            <a:ext cx="2971800" cy="310896"/>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GD diff line 4"/>
          <p:cNvSpPr txBox="1"/>
          <p:nvPr/>
        </p:nvSpPr>
        <p:spPr>
          <a:xfrm>
            <a:off x="2816352" y="3319272"/>
            <a:ext cx="2880360" cy="310896"/>
          </a:xfrm>
          <a:prstGeom prst="rect">
            <a:avLst/>
          </a:prstGeom>
          <a:noFill/>
        </p:spPr>
        <p:txBody>
          <a:bodyPr wrap="square" lIns="0" rIns="0" tIns="0" bIns="0" anchor="ctr">
            <a:noAutofit/>
          </a:bodyPr>
          <a:lstStyle/>
          <a:p>
            <a:pPr algn="l">
              <a:spcAft>
                <a:spcPts val="400"/>
              </a:spcAft>
            </a:pPr>
            <a:r>
              <a:rPr sz="1050" b="0" lang="en-GB">
                <a:solidFill>
                  <a:srgbClr val="146C2E"/>
                </a:solidFill>
                <a:latin typeface="Consolas"/>
              </a:rPr>
              <a:t>+   "sales_units_k"))</a:t>
            </a:r>
          </a:p>
        </p:txBody>
      </p:sp>
      <p:sp>
        <p:nvSpPr>
          <p:cNvPr id="40" name="GD diff bg 5"/>
          <p:cNvSpPr/>
          <p:nvPr/>
        </p:nvSpPr>
        <p:spPr>
          <a:xfrm>
            <a:off x="2743200" y="3648456"/>
            <a:ext cx="2971800" cy="310896"/>
          </a:xfrm>
          <a:prstGeom prst="rect">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GD diff line 5"/>
          <p:cNvSpPr txBox="1"/>
          <p:nvPr/>
        </p:nvSpPr>
        <p:spPr>
          <a:xfrm>
            <a:off x="2816352" y="3648456"/>
            <a:ext cx="2880360" cy="310896"/>
          </a:xfrm>
          <a:prstGeom prst="rect">
            <a:avLst/>
          </a:prstGeom>
          <a:noFill/>
        </p:spPr>
        <p:txBody>
          <a:bodyPr wrap="square" lIns="0" rIns="0" tIns="0" bIns="0" anchor="ctr">
            <a:noAutofit/>
          </a:bodyPr>
          <a:lstStyle/>
          <a:p>
            <a:pPr algn="l">
              <a:spcAft>
                <a:spcPts val="400"/>
              </a:spcAft>
            </a:pPr>
            <a:r>
              <a:rPr sz="1050" b="0" lang="en-GB">
                <a:solidFill>
                  <a:srgbClr val="146C2E"/>
                </a:solidFill>
                <a:latin typeface="Consolas"/>
              </a:rPr>
              <a:t>+   + geom_line()</a:t>
            </a:r>
          </a:p>
        </p:txBody>
      </p:sp>
      <p:sp>
        <p:nvSpPr>
          <p:cNvPr id="42" name="GD legend 1"/>
          <p:cNvSpPr/>
          <p:nvPr/>
        </p:nvSpPr>
        <p:spPr>
          <a:xfrm>
            <a:off x="5897880" y="1234440"/>
            <a:ext cx="27889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GD legend badge 1"/>
          <p:cNvSpPr/>
          <p:nvPr/>
        </p:nvSpPr>
        <p:spPr>
          <a:xfrm>
            <a:off x="5989320" y="134416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44" name="GD legend text 1"/>
          <p:cNvSpPr txBox="1"/>
          <p:nvPr/>
        </p:nvSpPr>
        <p:spPr>
          <a:xfrm>
            <a:off x="6355080" y="1234440"/>
            <a:ext cx="2286000" cy="502920"/>
          </a:xfrm>
          <a:prstGeom prst="rect">
            <a:avLst/>
          </a:prstGeom>
          <a:noFill/>
        </p:spPr>
        <p:txBody>
          <a:bodyPr wrap="square" lIns="0" rIns="0" tIns="0" bIns="0" anchor="ctr">
            <a:noAutofit/>
          </a:bodyPr>
          <a:lstStyle/>
          <a:p>
            <a:pPr algn="l">
              <a:spcAft>
                <a:spcPts val="0"/>
              </a:spcAft>
            </a:pPr>
            <a:r>
              <a:rPr sz="1100" b="1" lang="en-GB">
                <a:solidFill>
                  <a:schemeClr val="tx2"/>
                </a:solidFill>
              </a:rPr>
              <a:t>Current repository</a:t>
            </a:r>
          </a:p>
          <a:p>
            <a:pPr algn="l">
              <a:spcAft>
                <a:spcPts val="0"/>
              </a:spcAft>
            </a:pPr>
            <a:r>
              <a:rPr sz="1050" b="0" lang="en-GB">
                <a:solidFill>
                  <a:schemeClr val="tx1"/>
                </a:solidFill>
              </a:rPr>
              <a:t>which project you work on</a:t>
            </a:r>
          </a:p>
        </p:txBody>
      </p:sp>
      <p:sp>
        <p:nvSpPr>
          <p:cNvPr id="45" name="GD legend 2"/>
          <p:cNvSpPr/>
          <p:nvPr/>
        </p:nvSpPr>
        <p:spPr>
          <a:xfrm>
            <a:off x="5897880" y="1792224"/>
            <a:ext cx="27889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GD legend badge 2"/>
          <p:cNvSpPr/>
          <p:nvPr/>
        </p:nvSpPr>
        <p:spPr>
          <a:xfrm>
            <a:off x="5989320" y="1901952"/>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47" name="GD legend text 2"/>
          <p:cNvSpPr txBox="1"/>
          <p:nvPr/>
        </p:nvSpPr>
        <p:spPr>
          <a:xfrm>
            <a:off x="6355080" y="1792224"/>
            <a:ext cx="2286000" cy="502920"/>
          </a:xfrm>
          <a:prstGeom prst="rect">
            <a:avLst/>
          </a:prstGeom>
          <a:noFill/>
        </p:spPr>
        <p:txBody>
          <a:bodyPr wrap="square" lIns="0" rIns="0" tIns="0" bIns="0" anchor="ctr">
            <a:noAutofit/>
          </a:bodyPr>
          <a:lstStyle/>
          <a:p>
            <a:pPr algn="l">
              <a:spcAft>
                <a:spcPts val="0"/>
              </a:spcAft>
            </a:pPr>
            <a:r>
              <a:rPr sz="1100" b="1" lang="en-GB">
                <a:solidFill>
                  <a:schemeClr val="tx2"/>
                </a:solidFill>
              </a:rPr>
              <a:t>Current branch</a:t>
            </a:r>
          </a:p>
          <a:p>
            <a:pPr algn="l">
              <a:spcAft>
                <a:spcPts val="0"/>
              </a:spcAft>
            </a:pPr>
            <a:r>
              <a:rPr sz="1050" b="0" lang="en-GB">
                <a:solidFill>
                  <a:schemeClr val="tx1"/>
                </a:solidFill>
              </a:rPr>
              <a:t>main is all we need</a:t>
            </a:r>
          </a:p>
        </p:txBody>
      </p:sp>
      <p:sp>
        <p:nvSpPr>
          <p:cNvPr id="48" name="GD legend 3"/>
          <p:cNvSpPr/>
          <p:nvPr/>
        </p:nvSpPr>
        <p:spPr>
          <a:xfrm>
            <a:off x="5897880" y="2350008"/>
            <a:ext cx="27889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GD legend badge 3"/>
          <p:cNvSpPr/>
          <p:nvPr/>
        </p:nvSpPr>
        <p:spPr>
          <a:xfrm>
            <a:off x="5989320" y="2459736"/>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50" name="GD legend text 3"/>
          <p:cNvSpPr txBox="1"/>
          <p:nvPr/>
        </p:nvSpPr>
        <p:spPr>
          <a:xfrm>
            <a:off x="6355080" y="2350008"/>
            <a:ext cx="2286000" cy="502920"/>
          </a:xfrm>
          <a:prstGeom prst="rect">
            <a:avLst/>
          </a:prstGeom>
          <a:noFill/>
        </p:spPr>
        <p:txBody>
          <a:bodyPr wrap="square" lIns="0" rIns="0" tIns="0" bIns="0" anchor="ctr">
            <a:noAutofit/>
          </a:bodyPr>
          <a:lstStyle/>
          <a:p>
            <a:pPr algn="l">
              <a:spcAft>
                <a:spcPts val="0"/>
              </a:spcAft>
            </a:pPr>
            <a:r>
              <a:rPr sz="1100" b="1" lang="en-GB">
                <a:solidFill>
                  <a:schemeClr val="tx2"/>
                </a:solidFill>
              </a:rPr>
              <a:t>Fetch / Pull / Push origin</a:t>
            </a:r>
          </a:p>
          <a:p>
            <a:pPr algn="l">
              <a:spcAft>
                <a:spcPts val="0"/>
              </a:spcAft>
            </a:pPr>
            <a:r>
              <a:rPr sz="1050" b="0" lang="en-GB">
                <a:solidFill>
                  <a:schemeClr val="tx1"/>
                </a:solidFill>
              </a:rPr>
              <a:t>sync with GitHub</a:t>
            </a:r>
          </a:p>
        </p:txBody>
      </p:sp>
      <p:sp>
        <p:nvSpPr>
          <p:cNvPr id="51" name="GD legend 4"/>
          <p:cNvSpPr/>
          <p:nvPr/>
        </p:nvSpPr>
        <p:spPr>
          <a:xfrm>
            <a:off x="5897880" y="2907792"/>
            <a:ext cx="27889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GD legend badge 4"/>
          <p:cNvSpPr/>
          <p:nvPr/>
        </p:nvSpPr>
        <p:spPr>
          <a:xfrm>
            <a:off x="5989320" y="301752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53" name="GD legend text 4"/>
          <p:cNvSpPr txBox="1"/>
          <p:nvPr/>
        </p:nvSpPr>
        <p:spPr>
          <a:xfrm>
            <a:off x="6355080" y="2907792"/>
            <a:ext cx="2286000" cy="502920"/>
          </a:xfrm>
          <a:prstGeom prst="rect">
            <a:avLst/>
          </a:prstGeom>
          <a:noFill/>
        </p:spPr>
        <p:txBody>
          <a:bodyPr wrap="square" lIns="0" rIns="0" tIns="0" bIns="0" anchor="ctr">
            <a:noAutofit/>
          </a:bodyPr>
          <a:lstStyle/>
          <a:p>
            <a:pPr algn="l">
              <a:spcAft>
                <a:spcPts val="0"/>
              </a:spcAft>
            </a:pPr>
            <a:r>
              <a:rPr sz="1100" b="1" lang="en-GB">
                <a:solidFill>
                  <a:schemeClr val="tx2"/>
                </a:solidFill>
              </a:rPr>
              <a:t>Changes</a:t>
            </a:r>
          </a:p>
          <a:p>
            <a:pPr algn="l">
              <a:spcAft>
                <a:spcPts val="0"/>
              </a:spcAft>
            </a:pPr>
            <a:r>
              <a:rPr sz="1050" b="0" lang="en-GB">
                <a:solidFill>
                  <a:schemeClr val="tx1"/>
                </a:solidFill>
              </a:rPr>
              <a:t>files edited since last commit</a:t>
            </a:r>
          </a:p>
        </p:txBody>
      </p:sp>
      <p:sp>
        <p:nvSpPr>
          <p:cNvPr id="54" name="GD legend 5"/>
          <p:cNvSpPr/>
          <p:nvPr/>
        </p:nvSpPr>
        <p:spPr>
          <a:xfrm>
            <a:off x="5897880" y="3465576"/>
            <a:ext cx="27889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GD legend badge 5"/>
          <p:cNvSpPr/>
          <p:nvPr/>
        </p:nvSpPr>
        <p:spPr>
          <a:xfrm>
            <a:off x="5989320" y="3575304"/>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56" name="GD legend text 5"/>
          <p:cNvSpPr txBox="1"/>
          <p:nvPr/>
        </p:nvSpPr>
        <p:spPr>
          <a:xfrm>
            <a:off x="6355080" y="3465576"/>
            <a:ext cx="2286000" cy="502920"/>
          </a:xfrm>
          <a:prstGeom prst="rect">
            <a:avLst/>
          </a:prstGeom>
          <a:noFill/>
        </p:spPr>
        <p:txBody>
          <a:bodyPr wrap="square" lIns="0" rIns="0" tIns="0" bIns="0" anchor="ctr">
            <a:noAutofit/>
          </a:bodyPr>
          <a:lstStyle/>
          <a:p>
            <a:pPr algn="l">
              <a:spcAft>
                <a:spcPts val="0"/>
              </a:spcAft>
            </a:pPr>
            <a:r>
              <a:rPr sz="1100" b="1" lang="en-GB">
                <a:solidFill>
                  <a:schemeClr val="tx2"/>
                </a:solidFill>
              </a:rPr>
              <a:t>Summary + Commit</a:t>
            </a:r>
          </a:p>
          <a:p>
            <a:pPr algn="l">
              <a:spcAft>
                <a:spcPts val="0"/>
              </a:spcAft>
            </a:pPr>
            <a:r>
              <a:rPr sz="1050" b="0" lang="en-GB">
                <a:solidFill>
                  <a:schemeClr val="tx1"/>
                </a:solidFill>
              </a:rPr>
              <a:t>save a snapshot with a message</a:t>
            </a:r>
          </a:p>
        </p:txBody>
      </p:sp>
      <p:sp>
        <p:nvSpPr>
          <p:cNvPr id="57" name="GD legend 6"/>
          <p:cNvSpPr/>
          <p:nvPr/>
        </p:nvSpPr>
        <p:spPr>
          <a:xfrm>
            <a:off x="5897880" y="4023360"/>
            <a:ext cx="27889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GD legend badge 6"/>
          <p:cNvSpPr/>
          <p:nvPr/>
        </p:nvSpPr>
        <p:spPr>
          <a:xfrm>
            <a:off x="5989320" y="413308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59" name="GD legend text 6"/>
          <p:cNvSpPr txBox="1"/>
          <p:nvPr/>
        </p:nvSpPr>
        <p:spPr>
          <a:xfrm>
            <a:off x="6355080" y="4023360"/>
            <a:ext cx="2286000" cy="502920"/>
          </a:xfrm>
          <a:prstGeom prst="rect">
            <a:avLst/>
          </a:prstGeom>
          <a:noFill/>
        </p:spPr>
        <p:txBody>
          <a:bodyPr wrap="square" lIns="0" rIns="0" tIns="0" bIns="0" anchor="ctr">
            <a:noAutofit/>
          </a:bodyPr>
          <a:lstStyle/>
          <a:p>
            <a:pPr algn="l">
              <a:spcAft>
                <a:spcPts val="0"/>
              </a:spcAft>
            </a:pPr>
            <a:r>
              <a:rPr sz="1100" b="1" lang="en-GB">
                <a:solidFill>
                  <a:schemeClr val="tx2"/>
                </a:solidFill>
              </a:rPr>
              <a:t>Diff</a:t>
            </a:r>
          </a:p>
          <a:p>
            <a:pPr algn="l">
              <a:spcAft>
                <a:spcPts val="0"/>
              </a:spcAft>
            </a:pPr>
            <a:r>
              <a:rPr sz="1050" b="0" lang="en-GB">
                <a:solidFill>
                  <a:schemeClr val="tx1"/>
                </a:solidFill>
              </a:rPr>
              <a:t>red removed, green added</a:t>
            </a:r>
          </a:p>
        </p:txBody>
      </p:sp>
      <p:sp>
        <p:nvSpPr>
          <p:cNvPr id="60" name="GD note"/>
          <p:cNvSpPr txBox="1"/>
          <p:nvPr/>
        </p:nvSpPr>
        <p:spPr>
          <a:xfrm>
            <a:off x="457200" y="4617720"/>
            <a:ext cx="8229600"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Course repository: </a:t>
            </a:r>
            <a:r>
              <a:rPr sz="1200" b="0" lang="en-GB">
                <a:solidFill>
                  <a:schemeClr val="tx1"/>
                </a:solidFill>
              </a:rPr>
              <a:t>you only pull. Your own work goes in your files or in your group repository.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everyday workflow</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low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Fetch, then</a:t>
            </a:r>
            <a:br/>
            <a:r>
              <a:rPr sz="1200" b="1" lang="en-GB">
                <a:solidFill>
                  <a:schemeClr val="tx2"/>
                </a:solidFill>
              </a:rPr>
              <a:t>Pull origin</a:t>
            </a:r>
          </a:p>
        </p:txBody>
      </p:sp>
      <p:sp>
        <p:nvSpPr>
          <p:cNvPr id="11" name="Flow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Work in</a:t>
            </a:r>
            <a:br/>
            <a:r>
              <a:rPr sz="1200" b="1" lang="en-GB">
                <a:solidFill>
                  <a:schemeClr val="tx2"/>
                </a:solidFill>
              </a:rPr>
              <a:t>Positron</a:t>
            </a:r>
          </a:p>
        </p:txBody>
      </p:sp>
      <p:sp>
        <p:nvSpPr>
          <p:cNvPr id="12" name="Flow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Review</a:t>
            </a:r>
            <a:br/>
            <a:r>
              <a:rPr sz="1200" b="1" lang="en-GB">
                <a:solidFill>
                  <a:schemeClr val="tx2"/>
                </a:solidFill>
              </a:rPr>
              <a:t>Changes</a:t>
            </a:r>
          </a:p>
        </p:txBody>
      </p:sp>
      <p:sp>
        <p:nvSpPr>
          <p:cNvPr id="13" name="Flow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Summary +</a:t>
            </a:r>
            <a:br/>
            <a:r>
              <a:rPr sz="1200" b="1" lang="en-GB">
                <a:solidFill>
                  <a:schemeClr val="tx2"/>
                </a:solidFill>
              </a:rPr>
              <a:t>Commit</a:t>
            </a:r>
          </a:p>
        </p:txBody>
      </p:sp>
      <p:sp>
        <p:nvSpPr>
          <p:cNvPr id="14" name="Flow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Push</a:t>
            </a:r>
            <a:br/>
            <a:r>
              <a:rPr sz="1200" b="1" lang="en-GB">
                <a:solidFill>
                  <a:schemeClr val="tx2"/>
                </a:solidFill>
              </a:rPr>
              <a:t>origin</a:t>
            </a:r>
          </a:p>
        </p:txBody>
      </p:sp>
      <p:sp>
        <p:nvSpPr>
          <p:cNvPr id="15" name="Flow card 1 body"/>
          <p:cNvSpPr/>
          <p:nvPr/>
        </p:nvSpPr>
        <p:spPr>
          <a:xfrm>
            <a:off x="45720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low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low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Course repository</a:t>
            </a:r>
          </a:p>
        </p:txBody>
      </p:sp>
      <p:pic>
        <p:nvPicPr>
          <p:cNvPr id="18" name="Icon Flow card 1" descr=""/>
          <p:cNvPicPr>
            <a:picLocks noChangeAspect="1"/>
          </p:cNvPicPr>
          <p:nvPr/>
        </p:nvPicPr>
        <p:blipFill>
          <a:blip r:embed="rId3"/>
          <a:stretch>
            <a:fillRect/>
          </a:stretch>
        </p:blipFill>
        <p:spPr>
          <a:xfrm>
            <a:off x="2670048" y="2016252"/>
            <a:ext cx="310896" cy="310896"/>
          </a:xfrm>
          <a:prstGeom prst="rect">
            <a:avLst/>
          </a:prstGeom>
        </p:spPr>
      </p:pic>
      <p:sp>
        <p:nvSpPr>
          <p:cNvPr id="19" name="Flow card 1 text"/>
          <p:cNvSpPr txBox="1"/>
          <p:nvPr/>
        </p:nvSpPr>
        <p:spPr>
          <a:xfrm>
            <a:off x="62179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Pull before every session</a:t>
            </a:r>
          </a:p>
          <a:p>
            <a:pPr algn="l" marL="182880" indent="-182880">
              <a:spcAft>
                <a:spcPts val="600"/>
              </a:spcAft>
              <a:buClr>
                <a:schemeClr val="accent1"/>
              </a:buClr>
              <a:buFont typeface="Arial"/>
              <a:buChar char="▪"/>
            </a:pPr>
            <a:r>
              <a:rPr sz="1300" b="0" lang="en-GB">
                <a:solidFill>
                  <a:schemeClr val="tx1"/>
                </a:solidFill>
              </a:rPr>
              <a:t>Read-only for you: copy files into your own folder before editing</a:t>
            </a:r>
          </a:p>
        </p:txBody>
      </p:sp>
      <p:sp>
        <p:nvSpPr>
          <p:cNvPr id="20" name="Flow card 2 body"/>
          <p:cNvSpPr/>
          <p:nvPr/>
        </p:nvSpPr>
        <p:spPr>
          <a:xfrm>
            <a:off x="324612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low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Flow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Group repository</a:t>
            </a:r>
          </a:p>
        </p:txBody>
      </p:sp>
      <p:pic>
        <p:nvPicPr>
          <p:cNvPr id="23" name="Icon Flow card 2" descr=""/>
          <p:cNvPicPr>
            <a:picLocks noChangeAspect="1"/>
          </p:cNvPicPr>
          <p:nvPr/>
        </p:nvPicPr>
        <p:blipFill>
          <a:blip r:embed="rId4"/>
          <a:stretch>
            <a:fillRect/>
          </a:stretch>
        </p:blipFill>
        <p:spPr>
          <a:xfrm>
            <a:off x="5458968" y="2016252"/>
            <a:ext cx="310896" cy="310896"/>
          </a:xfrm>
          <a:prstGeom prst="rect">
            <a:avLst/>
          </a:prstGeom>
        </p:spPr>
      </p:pic>
      <p:sp>
        <p:nvSpPr>
          <p:cNvPr id="24" name="Flow card 2 text"/>
          <p:cNvSpPr txBox="1"/>
          <p:nvPr/>
        </p:nvSpPr>
        <p:spPr>
          <a:xfrm>
            <a:off x="341071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Pull, work, commit, push</a:t>
            </a:r>
          </a:p>
          <a:p>
            <a:pPr algn="l" marL="182880" indent="-182880">
              <a:spcAft>
                <a:spcPts val="600"/>
              </a:spcAft>
              <a:buClr>
                <a:schemeClr val="accent1"/>
              </a:buClr>
              <a:buFont typeface="Arial"/>
              <a:buChar char="▪"/>
            </a:pPr>
            <a:r>
              <a:rPr sz="1300" b="0" lang="en-GB">
                <a:solidFill>
                  <a:schemeClr val="tx1"/>
                </a:solidFill>
              </a:rPr>
              <a:t>One person per file where you can</a:t>
            </a:r>
          </a:p>
          <a:p>
            <a:pPr algn="l" marL="182880" indent="-182880">
              <a:spcAft>
                <a:spcPts val="600"/>
              </a:spcAft>
              <a:buClr>
                <a:schemeClr val="accent1"/>
              </a:buClr>
              <a:buFont typeface="Arial"/>
              <a:buChar char="▪"/>
            </a:pPr>
            <a:r>
              <a:rPr sz="1300" b="0" lang="en-GB">
                <a:solidFill>
                  <a:schemeClr val="tx1"/>
                </a:solidFill>
              </a:rPr>
              <a:t>Push before others start</a:t>
            </a:r>
          </a:p>
        </p:txBody>
      </p:sp>
      <p:sp>
        <p:nvSpPr>
          <p:cNvPr id="25" name="Flow card 3 body"/>
          <p:cNvSpPr/>
          <p:nvPr/>
        </p:nvSpPr>
        <p:spPr>
          <a:xfrm>
            <a:off x="603504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Flow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low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commits</a:t>
            </a:r>
          </a:p>
        </p:txBody>
      </p:sp>
      <p:pic>
        <p:nvPicPr>
          <p:cNvPr id="28" name="Icon Flow card 3" descr=""/>
          <p:cNvPicPr>
            <a:picLocks noChangeAspect="1"/>
          </p:cNvPicPr>
          <p:nvPr/>
        </p:nvPicPr>
        <p:blipFill>
          <a:blip r:embed="rId5"/>
          <a:stretch>
            <a:fillRect/>
          </a:stretch>
        </p:blipFill>
        <p:spPr>
          <a:xfrm>
            <a:off x="8247888" y="2016252"/>
            <a:ext cx="310896" cy="310896"/>
          </a:xfrm>
          <a:prstGeom prst="rect">
            <a:avLst/>
          </a:prstGeom>
        </p:spPr>
      </p:pic>
      <p:sp>
        <p:nvSpPr>
          <p:cNvPr id="29" name="Flow card 3 text"/>
          <p:cNvSpPr txBox="1"/>
          <p:nvPr/>
        </p:nvSpPr>
        <p:spPr>
          <a:xfrm>
            <a:off x="619963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Small steps, often</a:t>
            </a:r>
          </a:p>
          <a:p>
            <a:pPr algn="l" marL="182880" indent="-182880">
              <a:spcAft>
                <a:spcPts val="600"/>
              </a:spcAft>
              <a:buClr>
                <a:schemeClr val="accent1"/>
              </a:buClr>
              <a:buFont typeface="Arial"/>
              <a:buChar char="▪"/>
            </a:pPr>
            <a:r>
              <a:rPr sz="1300" b="0" lang="en-GB">
                <a:solidFill>
                  <a:schemeClr val="tx1"/>
                </a:solidFill>
              </a:rPr>
              <a:t>Summary says what changed: “Add AT sales chart”</a:t>
            </a:r>
          </a:p>
          <a:p>
            <a:pPr algn="l" marL="182880" indent="-182880">
              <a:spcAft>
                <a:spcPts val="600"/>
              </a:spcAft>
              <a:buClr>
                <a:schemeClr val="accent1"/>
              </a:buClr>
              <a:buFont typeface="Arial"/>
              <a:buChar char="▪"/>
            </a:pPr>
            <a:r>
              <a:rPr sz="1300" b="0" lang="en-GB">
                <a:solidFill>
                  <a:schemeClr val="tx1"/>
                </a:solidFill>
              </a:rPr>
              <a:t>Push when you stop</a:t>
            </a:r>
          </a:p>
        </p:txBody>
      </p:sp>
      <p:sp>
        <p:nvSpPr>
          <p:cNvPr id="30" name="Conflict box"/>
          <p:cNvSpPr/>
          <p:nvPr/>
        </p:nvSpPr>
        <p:spPr>
          <a:xfrm>
            <a:off x="457200" y="43434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Conflict" descr=""/>
          <p:cNvPicPr>
            <a:picLocks noChangeAspect="1"/>
          </p:cNvPicPr>
          <p:nvPr/>
        </p:nvPicPr>
        <p:blipFill>
          <a:blip r:embed="rId6"/>
          <a:stretch>
            <a:fillRect/>
          </a:stretch>
        </p:blipFill>
        <p:spPr>
          <a:xfrm>
            <a:off x="658368" y="4517136"/>
            <a:ext cx="384048" cy="384048"/>
          </a:xfrm>
          <a:prstGeom prst="rect">
            <a:avLst/>
          </a:prstGeom>
        </p:spPr>
      </p:pic>
      <p:sp>
        <p:nvSpPr>
          <p:cNvPr id="32" name="Conflict text"/>
          <p:cNvSpPr txBox="1"/>
          <p:nvPr/>
        </p:nvSpPr>
        <p:spPr>
          <a:xfrm>
            <a:off x="1234440" y="4343400"/>
            <a:ext cx="7269480" cy="731520"/>
          </a:xfrm>
          <a:prstGeom prst="rect">
            <a:avLst/>
          </a:prstGeom>
          <a:noFill/>
        </p:spPr>
        <p:txBody>
          <a:bodyPr wrap="square" lIns="0" rIns="0" tIns="0" bIns="0" anchor="ctr">
            <a:noAutofit/>
          </a:bodyPr>
          <a:lstStyle/>
          <a:p>
            <a:pPr algn="l">
              <a:spcAft>
                <a:spcPts val="400"/>
              </a:spcAft>
            </a:pPr>
            <a:r>
              <a:rPr sz="1300" b="1" lang="en-GB">
                <a:solidFill>
                  <a:schemeClr val="bg1"/>
                </a:solidFill>
              </a:rPr>
              <a:t>Merge conflict? </a:t>
            </a:r>
            <a:r>
              <a:rPr sz="1300" b="0" lang="en-GB">
                <a:solidFill>
                  <a:schemeClr val="bg1"/>
                </a:solidFill>
              </a:rPr>
              <a:t>Open the file, keep the lines you want, delete the conflict markers (&lt;&lt;&lt; === &gt;&gt;&gt;), then commit and push.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case study as a shared project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roup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github.com:</a:t>
            </a:r>
            <a:br/>
            <a:r>
              <a:rPr sz="1200" b="1" lang="en-GB">
                <a:solidFill>
                  <a:schemeClr val="tx2"/>
                </a:solidFill>
              </a:rPr>
              <a:t>new repository</a:t>
            </a:r>
          </a:p>
        </p:txBody>
      </p:sp>
      <p:sp>
        <p:nvSpPr>
          <p:cNvPr id="11" name="Group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Invite</a:t>
            </a:r>
            <a:br/>
            <a:r>
              <a:rPr sz="1200" b="1" lang="en-GB">
                <a:solidFill>
                  <a:schemeClr val="tx2"/>
                </a:solidFill>
              </a:rPr>
              <a:t>the group</a:t>
            </a:r>
          </a:p>
        </p:txBody>
      </p:sp>
      <p:sp>
        <p:nvSpPr>
          <p:cNvPr id="12" name="Group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Desktop:</a:t>
            </a:r>
            <a:br/>
            <a:r>
              <a:rPr sz="1200" b="1" lang="en-GB">
                <a:solidFill>
                  <a:schemeClr val="tx2"/>
                </a:solidFill>
              </a:rPr>
              <a:t>clone</a:t>
            </a:r>
          </a:p>
        </p:txBody>
      </p:sp>
      <p:sp>
        <p:nvSpPr>
          <p:cNvPr id="13" name="Group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Positron:</a:t>
            </a:r>
            <a:br/>
            <a:r>
              <a:rPr sz="1200" b="1" lang="en-GB">
                <a:solidFill>
                  <a:schemeClr val="tx2"/>
                </a:solidFill>
              </a:rPr>
              <a:t>Open Folder</a:t>
            </a:r>
          </a:p>
        </p:txBody>
      </p:sp>
      <p:sp>
        <p:nvSpPr>
          <p:cNvPr id="14" name="Group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Create</a:t>
            </a:r>
            <a:br/>
            <a:r>
              <a:rPr sz="1200" b="1" lang="en-GB">
                <a:solidFill>
                  <a:schemeClr val="tx2"/>
                </a:solidFill>
              </a:rPr>
              <a:t>.venv</a:t>
            </a:r>
          </a:p>
        </p:txBody>
      </p:sp>
      <p:sp>
        <p:nvSpPr>
          <p:cNvPr id="15" name="Group card 1 body"/>
          <p:cNvSpPr/>
          <p:nvPr/>
        </p:nvSpPr>
        <p:spPr>
          <a:xfrm>
            <a:off x="45720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Group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roup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github.com</a:t>
            </a:r>
          </a:p>
        </p:txBody>
      </p:sp>
      <p:pic>
        <p:nvPicPr>
          <p:cNvPr id="18" name="Icon Group card 1" descr=""/>
          <p:cNvPicPr>
            <a:picLocks noChangeAspect="1"/>
          </p:cNvPicPr>
          <p:nvPr/>
        </p:nvPicPr>
        <p:blipFill>
          <a:blip r:embed="rId3"/>
          <a:stretch>
            <a:fillRect/>
          </a:stretch>
        </p:blipFill>
        <p:spPr>
          <a:xfrm>
            <a:off x="2670048" y="2016252"/>
            <a:ext cx="310896" cy="310896"/>
          </a:xfrm>
          <a:prstGeom prst="rect">
            <a:avLst/>
          </a:prstGeom>
        </p:spPr>
      </p:pic>
      <p:sp>
        <p:nvSpPr>
          <p:cNvPr id="19" name="Group card 1 text"/>
          <p:cNvSpPr txBox="1"/>
          <p:nvPr/>
        </p:nvSpPr>
        <p:spPr>
          <a:xfrm>
            <a:off x="62179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 member creates the repository: Python .gitignore, README</a:t>
            </a:r>
          </a:p>
          <a:p>
            <a:pPr algn="l" marL="182880" indent="-182880">
              <a:spcAft>
                <a:spcPts val="600"/>
              </a:spcAft>
              <a:buClr>
                <a:schemeClr val="accent1"/>
              </a:buClr>
              <a:buFont typeface="Arial"/>
              <a:buChar char="▪"/>
            </a:pPr>
            <a:r>
              <a:rPr sz="1300" b="0" lang="en-GB">
                <a:solidFill>
                  <a:schemeClr val="tx1"/>
                </a:solidFill>
              </a:rPr>
              <a:t>Settings → Collaborators: invite the group</a:t>
            </a:r>
          </a:p>
        </p:txBody>
      </p:sp>
      <p:sp>
        <p:nvSpPr>
          <p:cNvPr id="20" name="Group card 2 body"/>
          <p:cNvSpPr/>
          <p:nvPr/>
        </p:nvSpPr>
        <p:spPr>
          <a:xfrm>
            <a:off x="324612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Group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Group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 Desktop</a:t>
            </a:r>
          </a:p>
        </p:txBody>
      </p:sp>
      <p:pic>
        <p:nvPicPr>
          <p:cNvPr id="23" name="Icon Group card 2" descr=""/>
          <p:cNvPicPr>
            <a:picLocks noChangeAspect="1"/>
          </p:cNvPicPr>
          <p:nvPr/>
        </p:nvPicPr>
        <p:blipFill>
          <a:blip r:embed="rId4"/>
          <a:stretch>
            <a:fillRect/>
          </a:stretch>
        </p:blipFill>
        <p:spPr>
          <a:xfrm>
            <a:off x="5458968" y="2016252"/>
            <a:ext cx="310896" cy="310896"/>
          </a:xfrm>
          <a:prstGeom prst="rect">
            <a:avLst/>
          </a:prstGeom>
        </p:spPr>
      </p:pic>
      <p:sp>
        <p:nvSpPr>
          <p:cNvPr id="24" name="Group card 2 text"/>
          <p:cNvSpPr txBox="1"/>
          <p:nvPr/>
        </p:nvSpPr>
        <p:spPr>
          <a:xfrm>
            <a:off x="341071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Pull before you start</a:t>
            </a:r>
          </a:p>
          <a:p>
            <a:pPr algn="l" marL="182880" indent="-182880">
              <a:spcAft>
                <a:spcPts val="600"/>
              </a:spcAft>
              <a:buClr>
                <a:schemeClr val="accent1"/>
              </a:buClr>
              <a:buFont typeface="Arial"/>
              <a:buChar char="▪"/>
            </a:pPr>
            <a:r>
              <a:rPr sz="1300" b="0" lang="en-GB">
                <a:solidFill>
                  <a:schemeClr val="tx1"/>
                </a:solidFill>
              </a:rPr>
              <a:t>Commit small steps with a clear message</a:t>
            </a:r>
          </a:p>
          <a:p>
            <a:pPr algn="l" marL="182880" indent="-182880">
              <a:spcAft>
                <a:spcPts val="600"/>
              </a:spcAft>
              <a:buClr>
                <a:schemeClr val="accent1"/>
              </a:buClr>
              <a:buFont typeface="Arial"/>
              <a:buChar char="▪"/>
            </a:pPr>
            <a:r>
              <a:rPr sz="1300" b="0" lang="en-GB">
                <a:solidFill>
                  <a:schemeClr val="tx1"/>
                </a:solidFill>
              </a:rPr>
              <a:t>Push when you stop</a:t>
            </a:r>
          </a:p>
        </p:txBody>
      </p:sp>
      <p:sp>
        <p:nvSpPr>
          <p:cNvPr id="25" name="Group card 3 body"/>
          <p:cNvSpPr/>
          <p:nvPr/>
        </p:nvSpPr>
        <p:spPr>
          <a:xfrm>
            <a:off x="603504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Group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Group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Positron</a:t>
            </a:r>
          </a:p>
        </p:txBody>
      </p:sp>
      <p:pic>
        <p:nvPicPr>
          <p:cNvPr id="28" name="Icon Group card 3" descr=""/>
          <p:cNvPicPr>
            <a:picLocks noChangeAspect="1"/>
          </p:cNvPicPr>
          <p:nvPr/>
        </p:nvPicPr>
        <p:blipFill>
          <a:blip r:embed="rId5"/>
          <a:stretch>
            <a:fillRect/>
          </a:stretch>
        </p:blipFill>
        <p:spPr>
          <a:xfrm>
            <a:off x="8247888" y="2016252"/>
            <a:ext cx="310896" cy="310896"/>
          </a:xfrm>
          <a:prstGeom prst="rect">
            <a:avLst/>
          </a:prstGeom>
        </p:spPr>
      </p:pic>
      <p:sp>
        <p:nvSpPr>
          <p:cNvPr id="29" name="Group card 3 text"/>
          <p:cNvSpPr txBox="1"/>
          <p:nvPr/>
        </p:nvSpPr>
        <p:spPr>
          <a:xfrm>
            <a:off x="619963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Open the cloned folder</a:t>
            </a:r>
          </a:p>
          <a:p>
            <a:pPr algn="l" marL="182880" indent="-182880">
              <a:spcAft>
                <a:spcPts val="600"/>
              </a:spcAft>
              <a:buClr>
                <a:schemeClr val="accent1"/>
              </a:buClr>
              <a:buFont typeface="Arial"/>
              <a:buChar char="▪"/>
            </a:pPr>
            <a:r>
              <a:rPr sz="1300" b="0" lang="en-GB">
                <a:solidFill>
                  <a:schemeClr val="tx1"/>
                </a:solidFill>
              </a:rPr>
              <a:t>Create Environment from requirements.txt (Step 4)</a:t>
            </a:r>
          </a:p>
          <a:p>
            <a:pPr algn="l" marL="182880" indent="-182880">
              <a:spcAft>
                <a:spcPts val="600"/>
              </a:spcAft>
              <a:buClr>
                <a:schemeClr val="accent1"/>
              </a:buClr>
              <a:buFont typeface="Arial"/>
              <a:buChar char="▪"/>
            </a:pPr>
            <a:r>
              <a:rPr sz="1300" b="0" lang="en-GB">
                <a:solidFill>
                  <a:schemeClr val="tx1"/>
                </a:solidFill>
              </a:rPr>
              <a:t>Work, save, then back to Desktop</a:t>
            </a:r>
          </a:p>
        </p:txBody>
      </p:sp>
      <p:sp>
        <p:nvSpPr>
          <p:cNvPr id="30" name="Group rule box"/>
          <p:cNvSpPr/>
          <p:nvPr/>
        </p:nvSpPr>
        <p:spPr>
          <a:xfrm>
            <a:off x="457200" y="43891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Group rule" descr=""/>
          <p:cNvPicPr>
            <a:picLocks noChangeAspect="1"/>
          </p:cNvPicPr>
          <p:nvPr/>
        </p:nvPicPr>
        <p:blipFill>
          <a:blip r:embed="rId6"/>
          <a:stretch>
            <a:fillRect/>
          </a:stretch>
        </p:blipFill>
        <p:spPr>
          <a:xfrm>
            <a:off x="658368" y="4539996"/>
            <a:ext cx="384048" cy="384048"/>
          </a:xfrm>
          <a:prstGeom prst="rect">
            <a:avLst/>
          </a:prstGeom>
        </p:spPr>
      </p:pic>
      <p:sp>
        <p:nvSpPr>
          <p:cNvPr id="32" name="Group rule text"/>
          <p:cNvSpPr txBox="1"/>
          <p:nvPr/>
        </p:nvSpPr>
        <p:spPr>
          <a:xfrm>
            <a:off x="1234440" y="4389120"/>
            <a:ext cx="726948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Fewer conflicts: </a:t>
            </a:r>
            <a:r>
              <a:rPr sz="1300" b="0" lang="en-GB">
                <a:solidFill>
                  <a:schemeClr val="bg1"/>
                </a:solidFill>
              </a:rPr>
              <a:t>pull first, push often, and one person per file where you can.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6 · how it works, the YAML header, code cells, output formats</a:t>
            </a:r>
          </a:p>
        </p:txBody>
      </p:sp>
      <p:sp>
        <p:nvSpPr>
          <p:cNvPr id="3" name="Title 2"/>
          <p:cNvSpPr>
            <a:spLocks noGrp="1"/>
          </p:cNvSpPr>
          <p:nvPr>
            <p:ph type="ctrTitle"/>
          </p:nvPr>
        </p:nvSpPr>
        <p:spPr/>
        <p:txBody>
          <a:bodyPr/>
          <a:lstStyle/>
          <a:p>
            <a:r>
              <a:rPr sz="1600" lang="en-GB"/>
              <a:t>Write reports with Quarto</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Quarto: text, code and results in one file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arto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report.qmd</a:t>
            </a:r>
          </a:p>
        </p:txBody>
      </p:sp>
      <p:sp>
        <p:nvSpPr>
          <p:cNvPr id="11" name="Quarto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 runs</a:t>
            </a:r>
            <a:br/>
            <a:r>
              <a:rPr sz="1200" b="1" lang="en-GB">
                <a:solidFill>
                  <a:schemeClr val="tx2"/>
                </a:solidFill>
              </a:rPr>
              <a:t>the cells</a:t>
            </a:r>
          </a:p>
        </p:txBody>
      </p:sp>
      <p:sp>
        <p:nvSpPr>
          <p:cNvPr id="12" name="Quarto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Markdown</a:t>
            </a:r>
            <a:br/>
            <a:r>
              <a:rPr sz="1200" b="1" lang="en-GB">
                <a:solidFill>
                  <a:schemeClr val="tx2"/>
                </a:solidFill>
              </a:rPr>
              <a:t>+ results</a:t>
            </a:r>
          </a:p>
        </p:txBody>
      </p:sp>
      <p:sp>
        <p:nvSpPr>
          <p:cNvPr id="13" name="Quarto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Pandoc</a:t>
            </a:r>
            <a:br/>
            <a:r>
              <a:rPr sz="1200" b="1" lang="en-GB">
                <a:solidFill>
                  <a:schemeClr val="tx2"/>
                </a:solidFill>
              </a:rPr>
              <a:t>converts</a:t>
            </a:r>
          </a:p>
        </p:txBody>
      </p:sp>
      <p:sp>
        <p:nvSpPr>
          <p:cNvPr id="14" name="Quarto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HTML, PDF,</a:t>
            </a:r>
            <a:br/>
            <a:r>
              <a:rPr sz="1200" b="1" lang="en-GB">
                <a:solidFill>
                  <a:schemeClr val="tx2"/>
                </a:solidFill>
              </a:rPr>
              <a:t>Word, slides</a:t>
            </a:r>
          </a:p>
        </p:txBody>
      </p:sp>
      <p:sp>
        <p:nvSpPr>
          <p:cNvPr id="15" name="Anatomy code caption bar"/>
          <p:cNvSpPr/>
          <p:nvPr/>
        </p:nvSpPr>
        <p:spPr>
          <a:xfrm>
            <a:off x="457200" y="1920240"/>
            <a:ext cx="45720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natomy code caption"/>
          <p:cNvSpPr txBox="1"/>
          <p:nvPr/>
        </p:nvSpPr>
        <p:spPr>
          <a:xfrm>
            <a:off x="566928" y="1920240"/>
            <a:ext cx="43525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report.qmd</a:t>
            </a:r>
          </a:p>
        </p:txBody>
      </p:sp>
      <p:sp>
        <p:nvSpPr>
          <p:cNvPr id="17" name="Anatomy code box"/>
          <p:cNvSpPr/>
          <p:nvPr/>
        </p:nvSpPr>
        <p:spPr>
          <a:xfrm>
            <a:off x="457200" y="2194560"/>
            <a:ext cx="4572000" cy="23317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natomy code code"/>
          <p:cNvSpPr txBox="1"/>
          <p:nvPr/>
        </p:nvSpPr>
        <p:spPr>
          <a:xfrm>
            <a:off x="594360" y="2286000"/>
            <a:ext cx="4297680" cy="21488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a:t>
            </a:r>
          </a:p>
          <a:p>
            <a:pPr algn="l">
              <a:spcAft>
                <a:spcPts val="0"/>
              </a:spcAft>
            </a:pPr>
            <a:r>
              <a:rPr sz="1000" b="0" lang="en-GB">
                <a:solidFill>
                  <a:schemeClr val="bg1"/>
                </a:solidFill>
                <a:latin typeface="Consolas"/>
              </a:rPr>
              <a:t>title: "Alpenglow: sales in Austria"</a:t>
            </a:r>
          </a:p>
          <a:p>
            <a:pPr algn="l">
              <a:spcAft>
                <a:spcPts val="0"/>
              </a:spcAft>
            </a:pPr>
            <a:r>
              <a:rPr sz="1000" b="0" lang="en-GB">
                <a:solidFill>
                  <a:schemeClr val="bg1"/>
                </a:solidFill>
                <a:latin typeface="Consolas"/>
              </a:rPr>
              <a:t>author: "Anna Berger"</a:t>
            </a:r>
          </a:p>
          <a:p>
            <a:pPr algn="l">
              <a:spcAft>
                <a:spcPts val="0"/>
              </a:spcAft>
            </a:pPr>
            <a:r>
              <a:rPr sz="1000" b="0" lang="en-GB">
                <a:solidFill>
                  <a:schemeClr val="bg1"/>
                </a:solidFill>
                <a:latin typeface="Consolas"/>
              </a:rPr>
              <a:t>format: html</a:t>
            </a:r>
          </a:p>
          <a:p>
            <a:pPr algn="l">
              <a:spcAft>
                <a:spcPts val="0"/>
              </a:spcAft>
            </a:pPr>
            <a:r>
              <a:rPr sz="1000" b="0" lang="en-GB">
                <a:solidFill>
                  <a:schemeClr val="bg1"/>
                </a:solidFill>
                <a:latin typeface="Consolas"/>
              </a:rPr>
              <a:t>---</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Weekly sales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```{python}</a:t>
            </a:r>
          </a:p>
          <a:p>
            <a:pPr algn="l">
              <a:spcAft>
                <a:spcPts val="0"/>
              </a:spcAft>
            </a:pPr>
            <a:r>
              <a:rPr sz="1000" b="0" lang="en-GB">
                <a:solidFill>
                  <a:schemeClr val="bg1"/>
                </a:solidFill>
                <a:latin typeface="Consolas"/>
              </a:rPr>
              <a:t>at = sales.filter(pl.col("country") == "AT")</a:t>
            </a:r>
          </a:p>
          <a:p>
            <a:pPr algn="l">
              <a:spcAft>
                <a:spcPts val="0"/>
              </a:spcAft>
            </a:pPr>
            <a:r>
              <a:rPr sz="1000" b="0" lang="en-GB">
                <a:solidFill>
                  <a:schemeClr val="bg1"/>
                </a:solidFill>
                <a:latin typeface="Consolas"/>
              </a:rPr>
              <a:t>at.head()</a:t>
            </a:r>
          </a:p>
          <a:p>
            <a:pPr algn="l">
              <a:spcAft>
                <a:spcPts val="0"/>
              </a:spcAft>
            </a:pPr>
            <a:r>
              <a:rPr sz="1000" b="0" lang="en-GB">
                <a:solidFill>
                  <a:schemeClr val="bg1"/>
                </a:solidFill>
                <a:latin typeface="Consolas"/>
              </a:rPr>
              <a:t>```</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Austria is our smallest market.</a:t>
            </a:r>
          </a:p>
        </p:txBody>
      </p:sp>
      <p:sp>
        <p:nvSpPr>
          <p:cNvPr id="19" name="Anatomy row 1"/>
          <p:cNvSpPr/>
          <p:nvPr/>
        </p:nvSpPr>
        <p:spPr>
          <a:xfrm>
            <a:off x="5166360" y="1920240"/>
            <a:ext cx="3520440" cy="8046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natomy bar 1"/>
          <p:cNvSpPr/>
          <p:nvPr/>
        </p:nvSpPr>
        <p:spPr>
          <a:xfrm>
            <a:off x="5166360" y="1920240"/>
            <a:ext cx="64008" cy="8046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Anatomy text 1"/>
          <p:cNvSpPr txBox="1"/>
          <p:nvPr/>
        </p:nvSpPr>
        <p:spPr>
          <a:xfrm>
            <a:off x="5349240" y="1920240"/>
            <a:ext cx="3246120" cy="804672"/>
          </a:xfrm>
          <a:prstGeom prst="rect">
            <a:avLst/>
          </a:prstGeom>
          <a:noFill/>
        </p:spPr>
        <p:txBody>
          <a:bodyPr wrap="square" lIns="0" rIns="0" tIns="0" bIns="0" anchor="ctr">
            <a:noAutofit/>
          </a:bodyPr>
          <a:lstStyle/>
          <a:p>
            <a:pPr algn="l">
              <a:spcAft>
                <a:spcPts val="400"/>
              </a:spcAft>
            </a:pPr>
            <a:r>
              <a:rPr sz="1200" b="1" lang="en-GB">
                <a:solidFill>
                  <a:schemeClr val="tx2"/>
                </a:solidFill>
              </a:rPr>
              <a:t>1  YAML header: </a:t>
            </a:r>
            <a:r>
              <a:rPr sz="1200" b="0" lang="en-GB">
                <a:solidFill>
                  <a:schemeClr val="tx1"/>
                </a:solidFill>
              </a:rPr>
              <a:t>settings between the two --- lines</a:t>
            </a:r>
          </a:p>
        </p:txBody>
      </p:sp>
      <p:sp>
        <p:nvSpPr>
          <p:cNvPr id="22" name="Anatomy row 2"/>
          <p:cNvSpPr/>
          <p:nvPr/>
        </p:nvSpPr>
        <p:spPr>
          <a:xfrm>
            <a:off x="5166360" y="2816352"/>
            <a:ext cx="3520440" cy="8046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natomy bar 2"/>
          <p:cNvSpPr/>
          <p:nvPr/>
        </p:nvSpPr>
        <p:spPr>
          <a:xfrm>
            <a:off x="5166360" y="2816352"/>
            <a:ext cx="64008" cy="8046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natomy text 2"/>
          <p:cNvSpPr txBox="1"/>
          <p:nvPr/>
        </p:nvSpPr>
        <p:spPr>
          <a:xfrm>
            <a:off x="5349240" y="2816352"/>
            <a:ext cx="3246120" cy="804672"/>
          </a:xfrm>
          <a:prstGeom prst="rect">
            <a:avLst/>
          </a:prstGeom>
          <a:noFill/>
        </p:spPr>
        <p:txBody>
          <a:bodyPr wrap="square" lIns="0" rIns="0" tIns="0" bIns="0" anchor="ctr">
            <a:noAutofit/>
          </a:bodyPr>
          <a:lstStyle/>
          <a:p>
            <a:pPr algn="l">
              <a:spcAft>
                <a:spcPts val="400"/>
              </a:spcAft>
            </a:pPr>
            <a:r>
              <a:rPr sz="1200" b="1" lang="en-GB">
                <a:solidFill>
                  <a:schemeClr val="tx2"/>
                </a:solidFill>
              </a:rPr>
              <a:t>2  Markdown: </a:t>
            </a:r>
            <a:r>
              <a:rPr sz="1200" b="0" lang="en-GB">
                <a:solidFill>
                  <a:schemeClr val="tx1"/>
                </a:solidFill>
              </a:rPr>
              <a:t>headings (##), **bold**, lists, links</a:t>
            </a:r>
          </a:p>
        </p:txBody>
      </p:sp>
      <p:sp>
        <p:nvSpPr>
          <p:cNvPr id="25" name="Anatomy row 3"/>
          <p:cNvSpPr/>
          <p:nvPr/>
        </p:nvSpPr>
        <p:spPr>
          <a:xfrm>
            <a:off x="5166360" y="3712464"/>
            <a:ext cx="3520440" cy="8046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natomy bar 3"/>
          <p:cNvSpPr/>
          <p:nvPr/>
        </p:nvSpPr>
        <p:spPr>
          <a:xfrm>
            <a:off x="5166360" y="3712464"/>
            <a:ext cx="64008" cy="8046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natomy text 3"/>
          <p:cNvSpPr txBox="1"/>
          <p:nvPr/>
        </p:nvSpPr>
        <p:spPr>
          <a:xfrm>
            <a:off x="5349240" y="3712464"/>
            <a:ext cx="3246120" cy="804672"/>
          </a:xfrm>
          <a:prstGeom prst="rect">
            <a:avLst/>
          </a:prstGeom>
          <a:noFill/>
        </p:spPr>
        <p:txBody>
          <a:bodyPr wrap="square" lIns="0" rIns="0" tIns="0" bIns="0" anchor="ctr">
            <a:noAutofit/>
          </a:bodyPr>
          <a:lstStyle/>
          <a:p>
            <a:pPr algn="l">
              <a:spcAft>
                <a:spcPts val="400"/>
              </a:spcAft>
            </a:pPr>
            <a:r>
              <a:rPr sz="1200" b="1" lang="en-GB">
                <a:solidFill>
                  <a:schemeClr val="tx2"/>
                </a:solidFill>
              </a:rPr>
              <a:t>3  Code cells: </a:t>
            </a:r>
            <a:r>
              <a:rPr sz="1200" b="0" lang="en-GB">
                <a:solidFill>
                  <a:schemeClr val="tx1"/>
                </a:solidFill>
              </a:rPr>
              <a:t>```{python} … ``` run Python; the output lands under the cell</a:t>
            </a:r>
          </a:p>
        </p:txBody>
      </p:sp>
      <p:sp>
        <p:nvSpPr>
          <p:cNvPr id="28" name="Quarto preview box"/>
          <p:cNvSpPr/>
          <p:nvPr/>
        </p:nvSpPr>
        <p:spPr>
          <a:xfrm>
            <a:off x="457200" y="461772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Quarto preview" descr=""/>
          <p:cNvPicPr>
            <a:picLocks noChangeAspect="1"/>
          </p:cNvPicPr>
          <p:nvPr/>
        </p:nvPicPr>
        <p:blipFill>
          <a:blip r:embed="rId3"/>
          <a:stretch>
            <a:fillRect/>
          </a:stretch>
        </p:blipFill>
        <p:spPr>
          <a:xfrm>
            <a:off x="658368" y="4654296"/>
            <a:ext cx="384048" cy="384048"/>
          </a:xfrm>
          <a:prstGeom prst="rect">
            <a:avLst/>
          </a:prstGeom>
        </p:spPr>
      </p:pic>
      <p:sp>
        <p:nvSpPr>
          <p:cNvPr id="30" name="Quarto preview text"/>
          <p:cNvSpPr txBox="1"/>
          <p:nvPr/>
        </p:nvSpPr>
        <p:spPr>
          <a:xfrm>
            <a:off x="1234440" y="4617720"/>
            <a:ext cx="7269480" cy="457200"/>
          </a:xfrm>
          <a:prstGeom prst="rect">
            <a:avLst/>
          </a:prstGeom>
          <a:noFill/>
        </p:spPr>
        <p:txBody>
          <a:bodyPr wrap="square" lIns="0" rIns="0" tIns="0" bIns="0" anchor="ctr">
            <a:noAutofit/>
          </a:bodyPr>
          <a:lstStyle/>
          <a:p>
            <a:pPr algn="l">
              <a:spcAft>
                <a:spcPts val="400"/>
              </a:spcAft>
            </a:pPr>
            <a:r>
              <a:rPr sz="1300" b="1" lang="en-GB">
                <a:solidFill>
                  <a:schemeClr val="tx2"/>
                </a:solidFill>
              </a:rPr>
              <a:t>Preview: </a:t>
            </a:r>
            <a:r>
              <a:rPr sz="1300" b="0" lang="en-GB">
                <a:solidFill>
                  <a:schemeClr val="tx1"/>
                </a:solidFill>
              </a:rPr>
              <a:t>Ctrl/Cmd + Shift + K in Positron.   Render: quarto render report.qmd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YAML header: settings for the whole document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YAML code caption bar"/>
          <p:cNvSpPr/>
          <p:nvPr/>
        </p:nvSpPr>
        <p:spPr>
          <a:xfrm>
            <a:off x="457200" y="1234440"/>
            <a:ext cx="39319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YAML code caption"/>
          <p:cNvSpPr txBox="1"/>
          <p:nvPr/>
        </p:nvSpPr>
        <p:spPr>
          <a:xfrm>
            <a:off x="566928" y="1234440"/>
            <a:ext cx="37124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Top of report.qmd</a:t>
            </a:r>
          </a:p>
        </p:txBody>
      </p:sp>
      <p:sp>
        <p:nvSpPr>
          <p:cNvPr id="12" name="YAML code box"/>
          <p:cNvSpPr/>
          <p:nvPr/>
        </p:nvSpPr>
        <p:spPr>
          <a:xfrm>
            <a:off x="457200" y="1508760"/>
            <a:ext cx="3931920" cy="2788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YAML code code"/>
          <p:cNvSpPr txBox="1"/>
          <p:nvPr/>
        </p:nvSpPr>
        <p:spPr>
          <a:xfrm>
            <a:off x="594360" y="1600200"/>
            <a:ext cx="3657600" cy="260604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a:t>
            </a:r>
          </a:p>
          <a:p>
            <a:pPr algn="l">
              <a:spcAft>
                <a:spcPts val="0"/>
              </a:spcAft>
            </a:pPr>
            <a:r>
              <a:rPr sz="1150" b="0" lang="en-GB">
                <a:solidFill>
                  <a:schemeClr val="bg1"/>
                </a:solidFill>
                <a:latin typeface="Consolas"/>
              </a:rPr>
              <a:t>title: "Alpenglow: sales in Austria"</a:t>
            </a:r>
          </a:p>
          <a:p>
            <a:pPr algn="l">
              <a:spcAft>
                <a:spcPts val="0"/>
              </a:spcAft>
            </a:pPr>
            <a:r>
              <a:rPr sz="1150" b="0" lang="en-GB">
                <a:solidFill>
                  <a:schemeClr val="bg1"/>
                </a:solidFill>
                <a:latin typeface="Consolas"/>
              </a:rPr>
              <a:t>author: "Anna Berger"</a:t>
            </a:r>
          </a:p>
          <a:p>
            <a:pPr algn="l">
              <a:spcAft>
                <a:spcPts val="0"/>
              </a:spcAft>
            </a:pPr>
            <a:r>
              <a:rPr sz="1150" b="0" lang="en-GB">
                <a:solidFill>
                  <a:schemeClr val="bg1"/>
                </a:solidFill>
                <a:latin typeface="Consolas"/>
              </a:rPr>
              <a:t>date: today</a:t>
            </a:r>
          </a:p>
          <a:p>
            <a:pPr algn="l">
              <a:spcAft>
                <a:spcPts val="0"/>
              </a:spcAft>
            </a:pPr>
            <a:r>
              <a:rPr sz="1150" b="0" lang="en-GB">
                <a:solidFill>
                  <a:schemeClr val="bg1"/>
                </a:solidFill>
                <a:latin typeface="Consolas"/>
              </a:rPr>
              <a:t>format:</a:t>
            </a:r>
          </a:p>
          <a:p>
            <a:pPr algn="l">
              <a:spcAft>
                <a:spcPts val="0"/>
              </a:spcAft>
            </a:pPr>
            <a:r>
              <a:rPr sz="1150" b="0" lang="en-GB">
                <a:solidFill>
                  <a:schemeClr val="bg1"/>
                </a:solidFill>
                <a:latin typeface="Consolas"/>
              </a:rPr>
              <a:t>  html:</a:t>
            </a:r>
          </a:p>
          <a:p>
            <a:pPr algn="l">
              <a:spcAft>
                <a:spcPts val="0"/>
              </a:spcAft>
            </a:pPr>
            <a:r>
              <a:rPr sz="1150" b="0" lang="en-GB">
                <a:solidFill>
                  <a:schemeClr val="bg1"/>
                </a:solidFill>
                <a:latin typeface="Consolas"/>
              </a:rPr>
              <a:t>    toc: true</a:t>
            </a:r>
          </a:p>
          <a:p>
            <a:pPr algn="l">
              <a:spcAft>
                <a:spcPts val="0"/>
              </a:spcAft>
            </a:pPr>
            <a:r>
              <a:rPr sz="1150" b="0" lang="en-GB">
                <a:solidFill>
                  <a:schemeClr val="bg1"/>
                </a:solidFill>
                <a:latin typeface="Consolas"/>
              </a:rPr>
              <a:t>    code-fold: true</a:t>
            </a:r>
          </a:p>
          <a:p>
            <a:pPr algn="l">
              <a:spcAft>
                <a:spcPts val="0"/>
              </a:spcAft>
            </a:pPr>
            <a:r>
              <a:rPr sz="1150" b="0" lang="en-GB">
                <a:solidFill>
                  <a:schemeClr val="bg1"/>
                </a:solidFill>
                <a:latin typeface="Consolas"/>
              </a:rPr>
              <a:t>execute:</a:t>
            </a:r>
          </a:p>
          <a:p>
            <a:pPr algn="l">
              <a:spcAft>
                <a:spcPts val="0"/>
              </a:spcAft>
            </a:pPr>
            <a:r>
              <a:rPr sz="1150" b="0" lang="en-GB">
                <a:solidFill>
                  <a:schemeClr val="bg1"/>
                </a:solidFill>
                <a:latin typeface="Consolas"/>
              </a:rPr>
              <a:t>  warning: false</a:t>
            </a:r>
          </a:p>
          <a:p>
            <a:pPr algn="l">
              <a:spcAft>
                <a:spcPts val="0"/>
              </a:spcAft>
            </a:pPr>
            <a:r>
              <a:rPr sz="1150" b="0" lang="en-GB">
                <a:solidFill>
                  <a:schemeClr val="bg1"/>
                </a:solidFill>
                <a:latin typeface="Consolas"/>
              </a:rPr>
              <a:t>---</a:t>
            </a:r>
          </a:p>
        </p:txBody>
      </p:sp>
      <p:sp>
        <p:nvSpPr>
          <p:cNvPr id="14" name="YAML row 1"/>
          <p:cNvSpPr/>
          <p:nvPr/>
        </p:nvSpPr>
        <p:spPr>
          <a:xfrm>
            <a:off x="4526280" y="1234440"/>
            <a:ext cx="41605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YAML key 1"/>
          <p:cNvSpPr txBox="1"/>
          <p:nvPr/>
        </p:nvSpPr>
        <p:spPr>
          <a:xfrm>
            <a:off x="4663440" y="1234440"/>
            <a:ext cx="1965960" cy="457200"/>
          </a:xfrm>
          <a:prstGeom prst="rect">
            <a:avLst/>
          </a:prstGeom>
          <a:noFill/>
        </p:spPr>
        <p:txBody>
          <a:bodyPr wrap="square" lIns="0" rIns="0" tIns="0" bIns="0" anchor="ctr">
            <a:noAutofit/>
          </a:bodyPr>
          <a:lstStyle/>
          <a:p>
            <a:pPr algn="l">
              <a:spcAft>
                <a:spcPts val="400"/>
              </a:spcAft>
            </a:pPr>
            <a:r>
              <a:rPr sz="1100" b="1" lang="en-GB">
                <a:solidFill>
                  <a:schemeClr val="tx2"/>
                </a:solidFill>
                <a:latin typeface="Consolas"/>
              </a:rPr>
              <a:t>title, author</a:t>
            </a:r>
          </a:p>
        </p:txBody>
      </p:sp>
      <p:sp>
        <p:nvSpPr>
          <p:cNvPr id="16" name="YAML value 1"/>
          <p:cNvSpPr txBox="1"/>
          <p:nvPr/>
        </p:nvSpPr>
        <p:spPr>
          <a:xfrm>
            <a:off x="6629400" y="1234440"/>
            <a:ext cx="2011680" cy="457200"/>
          </a:xfrm>
          <a:prstGeom prst="rect">
            <a:avLst/>
          </a:prstGeom>
          <a:noFill/>
        </p:spPr>
        <p:txBody>
          <a:bodyPr wrap="square" lIns="0" rIns="0" tIns="0" bIns="0" anchor="ctr">
            <a:noAutofit/>
          </a:bodyPr>
          <a:lstStyle/>
          <a:p>
            <a:pPr algn="l">
              <a:spcAft>
                <a:spcPts val="400"/>
              </a:spcAft>
            </a:pPr>
            <a:r>
              <a:rPr sz="1100" b="0" lang="en-GB">
                <a:solidFill>
                  <a:schemeClr val="tx1"/>
                </a:solidFill>
              </a:rPr>
              <a:t>shown at the top</a:t>
            </a:r>
          </a:p>
        </p:txBody>
      </p:sp>
      <p:sp>
        <p:nvSpPr>
          <p:cNvPr id="17" name="YAML row 2"/>
          <p:cNvSpPr/>
          <p:nvPr/>
        </p:nvSpPr>
        <p:spPr>
          <a:xfrm>
            <a:off x="4526280" y="1746504"/>
            <a:ext cx="41605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YAML key 2"/>
          <p:cNvSpPr txBox="1"/>
          <p:nvPr/>
        </p:nvSpPr>
        <p:spPr>
          <a:xfrm>
            <a:off x="4663440" y="1746504"/>
            <a:ext cx="1965960" cy="457200"/>
          </a:xfrm>
          <a:prstGeom prst="rect">
            <a:avLst/>
          </a:prstGeom>
          <a:noFill/>
        </p:spPr>
        <p:txBody>
          <a:bodyPr wrap="square" lIns="0" rIns="0" tIns="0" bIns="0" anchor="ctr">
            <a:noAutofit/>
          </a:bodyPr>
          <a:lstStyle/>
          <a:p>
            <a:pPr algn="l">
              <a:spcAft>
                <a:spcPts val="400"/>
              </a:spcAft>
            </a:pPr>
            <a:r>
              <a:rPr sz="1100" b="1" lang="en-GB">
                <a:solidFill>
                  <a:schemeClr val="tx2"/>
                </a:solidFill>
                <a:latin typeface="Consolas"/>
              </a:rPr>
              <a:t>date: today</a:t>
            </a:r>
          </a:p>
        </p:txBody>
      </p:sp>
      <p:sp>
        <p:nvSpPr>
          <p:cNvPr id="19" name="YAML value 2"/>
          <p:cNvSpPr txBox="1"/>
          <p:nvPr/>
        </p:nvSpPr>
        <p:spPr>
          <a:xfrm>
            <a:off x="6629400" y="1746504"/>
            <a:ext cx="2011680" cy="457200"/>
          </a:xfrm>
          <a:prstGeom prst="rect">
            <a:avLst/>
          </a:prstGeom>
          <a:noFill/>
        </p:spPr>
        <p:txBody>
          <a:bodyPr wrap="square" lIns="0" rIns="0" tIns="0" bIns="0" anchor="ctr">
            <a:noAutofit/>
          </a:bodyPr>
          <a:lstStyle/>
          <a:p>
            <a:pPr algn="l">
              <a:spcAft>
                <a:spcPts val="400"/>
              </a:spcAft>
            </a:pPr>
            <a:r>
              <a:rPr sz="1100" b="0" lang="en-GB">
                <a:solidFill>
                  <a:schemeClr val="tx1"/>
                </a:solidFill>
              </a:rPr>
              <a:t>the day you render</a:t>
            </a:r>
          </a:p>
        </p:txBody>
      </p:sp>
      <p:sp>
        <p:nvSpPr>
          <p:cNvPr id="20" name="YAML row 3"/>
          <p:cNvSpPr/>
          <p:nvPr/>
        </p:nvSpPr>
        <p:spPr>
          <a:xfrm>
            <a:off x="4526280" y="2258568"/>
            <a:ext cx="41605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YAML key 3"/>
          <p:cNvSpPr txBox="1"/>
          <p:nvPr/>
        </p:nvSpPr>
        <p:spPr>
          <a:xfrm>
            <a:off x="4663440" y="2258568"/>
            <a:ext cx="1965960" cy="457200"/>
          </a:xfrm>
          <a:prstGeom prst="rect">
            <a:avLst/>
          </a:prstGeom>
          <a:noFill/>
        </p:spPr>
        <p:txBody>
          <a:bodyPr wrap="square" lIns="0" rIns="0" tIns="0" bIns="0" anchor="ctr">
            <a:noAutofit/>
          </a:bodyPr>
          <a:lstStyle/>
          <a:p>
            <a:pPr algn="l">
              <a:spcAft>
                <a:spcPts val="400"/>
              </a:spcAft>
            </a:pPr>
            <a:r>
              <a:rPr sz="1100" b="1" lang="en-GB">
                <a:solidFill>
                  <a:schemeClr val="tx2"/>
                </a:solidFill>
                <a:latin typeface="Consolas"/>
              </a:rPr>
              <a:t>format: html</a:t>
            </a:r>
          </a:p>
        </p:txBody>
      </p:sp>
      <p:sp>
        <p:nvSpPr>
          <p:cNvPr id="22" name="YAML value 3"/>
          <p:cNvSpPr txBox="1"/>
          <p:nvPr/>
        </p:nvSpPr>
        <p:spPr>
          <a:xfrm>
            <a:off x="6629400" y="2258568"/>
            <a:ext cx="2011680" cy="457200"/>
          </a:xfrm>
          <a:prstGeom prst="rect">
            <a:avLst/>
          </a:prstGeom>
          <a:noFill/>
        </p:spPr>
        <p:txBody>
          <a:bodyPr wrap="square" lIns="0" rIns="0" tIns="0" bIns="0" anchor="ctr">
            <a:noAutofit/>
          </a:bodyPr>
          <a:lstStyle/>
          <a:p>
            <a:pPr algn="l">
              <a:spcAft>
                <a:spcPts val="400"/>
              </a:spcAft>
            </a:pPr>
            <a:r>
              <a:rPr sz="1100" b="0" lang="en-GB">
                <a:solidFill>
                  <a:schemeClr val="tx1"/>
                </a:solidFill>
              </a:rPr>
              <a:t>the output; its options indented below</a:t>
            </a:r>
          </a:p>
        </p:txBody>
      </p:sp>
      <p:sp>
        <p:nvSpPr>
          <p:cNvPr id="23" name="YAML row 4"/>
          <p:cNvSpPr/>
          <p:nvPr/>
        </p:nvSpPr>
        <p:spPr>
          <a:xfrm>
            <a:off x="4526280" y="2770632"/>
            <a:ext cx="41605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YAML key 4"/>
          <p:cNvSpPr txBox="1"/>
          <p:nvPr/>
        </p:nvSpPr>
        <p:spPr>
          <a:xfrm>
            <a:off x="4663440" y="2770632"/>
            <a:ext cx="1965960" cy="457200"/>
          </a:xfrm>
          <a:prstGeom prst="rect">
            <a:avLst/>
          </a:prstGeom>
          <a:noFill/>
        </p:spPr>
        <p:txBody>
          <a:bodyPr wrap="square" lIns="0" rIns="0" tIns="0" bIns="0" anchor="ctr">
            <a:noAutofit/>
          </a:bodyPr>
          <a:lstStyle/>
          <a:p>
            <a:pPr algn="l">
              <a:spcAft>
                <a:spcPts val="400"/>
              </a:spcAft>
            </a:pPr>
            <a:r>
              <a:rPr sz="1100" b="1" lang="en-GB">
                <a:solidFill>
                  <a:schemeClr val="tx2"/>
                </a:solidFill>
                <a:latin typeface="Consolas"/>
              </a:rPr>
              <a:t>toc: true</a:t>
            </a:r>
          </a:p>
        </p:txBody>
      </p:sp>
      <p:sp>
        <p:nvSpPr>
          <p:cNvPr id="25" name="YAML value 4"/>
          <p:cNvSpPr txBox="1"/>
          <p:nvPr/>
        </p:nvSpPr>
        <p:spPr>
          <a:xfrm>
            <a:off x="6629400" y="2770632"/>
            <a:ext cx="2011680" cy="457200"/>
          </a:xfrm>
          <a:prstGeom prst="rect">
            <a:avLst/>
          </a:prstGeom>
          <a:noFill/>
        </p:spPr>
        <p:txBody>
          <a:bodyPr wrap="square" lIns="0" rIns="0" tIns="0" bIns="0" anchor="ctr">
            <a:noAutofit/>
          </a:bodyPr>
          <a:lstStyle/>
          <a:p>
            <a:pPr algn="l">
              <a:spcAft>
                <a:spcPts val="400"/>
              </a:spcAft>
            </a:pPr>
            <a:r>
              <a:rPr sz="1100" b="0" lang="en-GB">
                <a:solidFill>
                  <a:schemeClr val="tx1"/>
                </a:solidFill>
              </a:rPr>
              <a:t>table of contents</a:t>
            </a:r>
          </a:p>
        </p:txBody>
      </p:sp>
      <p:sp>
        <p:nvSpPr>
          <p:cNvPr id="26" name="YAML row 5"/>
          <p:cNvSpPr/>
          <p:nvPr/>
        </p:nvSpPr>
        <p:spPr>
          <a:xfrm>
            <a:off x="4526280" y="3282696"/>
            <a:ext cx="41605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YAML key 5"/>
          <p:cNvSpPr txBox="1"/>
          <p:nvPr/>
        </p:nvSpPr>
        <p:spPr>
          <a:xfrm>
            <a:off x="4663440" y="3282696"/>
            <a:ext cx="1965960" cy="457200"/>
          </a:xfrm>
          <a:prstGeom prst="rect">
            <a:avLst/>
          </a:prstGeom>
          <a:noFill/>
        </p:spPr>
        <p:txBody>
          <a:bodyPr wrap="square" lIns="0" rIns="0" tIns="0" bIns="0" anchor="ctr">
            <a:noAutofit/>
          </a:bodyPr>
          <a:lstStyle/>
          <a:p>
            <a:pPr algn="l">
              <a:spcAft>
                <a:spcPts val="400"/>
              </a:spcAft>
            </a:pPr>
            <a:r>
              <a:rPr sz="1100" b="1" lang="en-GB">
                <a:solidFill>
                  <a:schemeClr val="tx2"/>
                </a:solidFill>
                <a:latin typeface="Consolas"/>
              </a:rPr>
              <a:t>code-fold: true</a:t>
            </a:r>
          </a:p>
        </p:txBody>
      </p:sp>
      <p:sp>
        <p:nvSpPr>
          <p:cNvPr id="28" name="YAML value 5"/>
          <p:cNvSpPr txBox="1"/>
          <p:nvPr/>
        </p:nvSpPr>
        <p:spPr>
          <a:xfrm>
            <a:off x="6629400" y="3282696"/>
            <a:ext cx="2011680" cy="457200"/>
          </a:xfrm>
          <a:prstGeom prst="rect">
            <a:avLst/>
          </a:prstGeom>
          <a:noFill/>
        </p:spPr>
        <p:txBody>
          <a:bodyPr wrap="square" lIns="0" rIns="0" tIns="0" bIns="0" anchor="ctr">
            <a:noAutofit/>
          </a:bodyPr>
          <a:lstStyle/>
          <a:p>
            <a:pPr algn="l">
              <a:spcAft>
                <a:spcPts val="400"/>
              </a:spcAft>
            </a:pPr>
            <a:r>
              <a:rPr sz="1100" b="0" lang="en-GB">
                <a:solidFill>
                  <a:schemeClr val="tx1"/>
                </a:solidFill>
              </a:rPr>
              <a:t>code hidden behind a “Code” button</a:t>
            </a:r>
          </a:p>
        </p:txBody>
      </p:sp>
      <p:sp>
        <p:nvSpPr>
          <p:cNvPr id="29" name="YAML row 6"/>
          <p:cNvSpPr/>
          <p:nvPr/>
        </p:nvSpPr>
        <p:spPr>
          <a:xfrm>
            <a:off x="4526280" y="3794760"/>
            <a:ext cx="41605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YAML key 6"/>
          <p:cNvSpPr txBox="1"/>
          <p:nvPr/>
        </p:nvSpPr>
        <p:spPr>
          <a:xfrm>
            <a:off x="4663440" y="3794760"/>
            <a:ext cx="1965960" cy="457200"/>
          </a:xfrm>
          <a:prstGeom prst="rect">
            <a:avLst/>
          </a:prstGeom>
          <a:noFill/>
        </p:spPr>
        <p:txBody>
          <a:bodyPr wrap="square" lIns="0" rIns="0" tIns="0" bIns="0" anchor="ctr">
            <a:noAutofit/>
          </a:bodyPr>
          <a:lstStyle/>
          <a:p>
            <a:pPr algn="l">
              <a:spcAft>
                <a:spcPts val="400"/>
              </a:spcAft>
            </a:pPr>
            <a:r>
              <a:rPr sz="1100" b="1" lang="en-GB">
                <a:solidFill>
                  <a:schemeClr val="tx2"/>
                </a:solidFill>
                <a:latin typeface="Consolas"/>
              </a:rPr>
              <a:t>warning: false</a:t>
            </a:r>
          </a:p>
        </p:txBody>
      </p:sp>
      <p:sp>
        <p:nvSpPr>
          <p:cNvPr id="31" name="YAML value 6"/>
          <p:cNvSpPr txBox="1"/>
          <p:nvPr/>
        </p:nvSpPr>
        <p:spPr>
          <a:xfrm>
            <a:off x="6629400" y="3794760"/>
            <a:ext cx="2011680" cy="457200"/>
          </a:xfrm>
          <a:prstGeom prst="rect">
            <a:avLst/>
          </a:prstGeom>
          <a:noFill/>
        </p:spPr>
        <p:txBody>
          <a:bodyPr wrap="square" lIns="0" rIns="0" tIns="0" bIns="0" anchor="ctr">
            <a:noAutofit/>
          </a:bodyPr>
          <a:lstStyle/>
          <a:p>
            <a:pPr algn="l">
              <a:spcAft>
                <a:spcPts val="400"/>
              </a:spcAft>
            </a:pPr>
            <a:r>
              <a:rPr sz="1100" b="0" lang="en-GB">
                <a:solidFill>
                  <a:schemeClr val="tx1"/>
                </a:solidFill>
              </a:rPr>
              <a:t>no warnings in the output</a:t>
            </a:r>
          </a:p>
        </p:txBody>
      </p:sp>
      <p:sp>
        <p:nvSpPr>
          <p:cNvPr id="32" name="YAML rule box"/>
          <p:cNvSpPr/>
          <p:nvPr/>
        </p:nvSpPr>
        <p:spPr>
          <a:xfrm>
            <a:off x="457200" y="443484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Icon YAML rule" descr=""/>
          <p:cNvPicPr>
            <a:picLocks noChangeAspect="1"/>
          </p:cNvPicPr>
          <p:nvPr/>
        </p:nvPicPr>
        <p:blipFill>
          <a:blip r:embed="rId3"/>
          <a:stretch>
            <a:fillRect/>
          </a:stretch>
        </p:blipFill>
        <p:spPr>
          <a:xfrm>
            <a:off x="658368" y="4562856"/>
            <a:ext cx="384048" cy="384048"/>
          </a:xfrm>
          <a:prstGeom prst="rect">
            <a:avLst/>
          </a:prstGeom>
        </p:spPr>
      </p:pic>
      <p:sp>
        <p:nvSpPr>
          <p:cNvPr id="34" name="YAML rule text"/>
          <p:cNvSpPr txBox="1"/>
          <p:nvPr/>
        </p:nvSpPr>
        <p:spPr>
          <a:xfrm>
            <a:off x="1234440" y="4434840"/>
            <a:ext cx="726948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Indentation matters: </a:t>
            </a:r>
            <a:r>
              <a:rPr sz="1300" b="0" lang="en-GB">
                <a:solidFill>
                  <a:schemeClr val="bg1"/>
                </a:solidFill>
              </a:rPr>
              <a:t>two spaces per level, no tabs, and a space after every colon.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Code cells: options and numbers in the text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ell code caption bar"/>
          <p:cNvSpPr/>
          <p:nvPr/>
        </p:nvSpPr>
        <p:spPr>
          <a:xfrm>
            <a:off x="457200" y="1234440"/>
            <a:ext cx="48463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ell code caption"/>
          <p:cNvSpPr txBox="1"/>
          <p:nvPr/>
        </p:nvSpPr>
        <p:spPr>
          <a:xfrm>
            <a:off x="566928" y="1234440"/>
            <a:ext cx="46268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Inside report.qmd</a:t>
            </a:r>
          </a:p>
        </p:txBody>
      </p:sp>
      <p:sp>
        <p:nvSpPr>
          <p:cNvPr id="12" name="Cell code box"/>
          <p:cNvSpPr/>
          <p:nvPr/>
        </p:nvSpPr>
        <p:spPr>
          <a:xfrm>
            <a:off x="457200" y="1508760"/>
            <a:ext cx="4846320" cy="22402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ell code code"/>
          <p:cNvSpPr txBox="1"/>
          <p:nvPr/>
        </p:nvSpPr>
        <p:spPr>
          <a:xfrm>
            <a:off x="594360" y="1600200"/>
            <a:ext cx="4572000" cy="205740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```{python}</a:t>
            </a:r>
          </a:p>
          <a:p>
            <a:pPr algn="l">
              <a:spcAft>
                <a:spcPts val="0"/>
              </a:spcAft>
            </a:pPr>
            <a:r>
              <a:rPr sz="1050" b="0" lang="en-GB">
                <a:solidFill>
                  <a:schemeClr val="bg1"/>
                </a:solidFill>
                <a:latin typeface="Consolas"/>
              </a:rPr>
              <a:t>#| label: fig-sales</a:t>
            </a:r>
          </a:p>
          <a:p>
            <a:pPr algn="l">
              <a:spcAft>
                <a:spcPts val="0"/>
              </a:spcAft>
            </a:pPr>
            <a:r>
              <a:rPr sz="1050" b="0" lang="en-GB">
                <a:solidFill>
                  <a:schemeClr val="bg1"/>
                </a:solidFill>
                <a:latin typeface="Consolas"/>
              </a:rPr>
              <a:t>#| fig-cap: "Weekly sales in Austria"</a:t>
            </a:r>
          </a:p>
          <a:p>
            <a:pPr algn="l">
              <a:spcAft>
                <a:spcPts val="0"/>
              </a:spcAft>
            </a:pPr>
            <a:r>
              <a:rPr sz="1050" b="0" lang="en-GB">
                <a:solidFill>
                  <a:schemeClr val="bg1"/>
                </a:solidFill>
                <a:latin typeface="Consolas"/>
              </a:rPr>
              <a:t>#| echo: false</a:t>
            </a:r>
          </a:p>
          <a:p>
            <a:pPr algn="l">
              <a:spcAft>
                <a:spcPts val="0"/>
              </a:spcAft>
            </a:pPr>
            <a:r>
              <a:rPr sz="1050" b="0" lang="en-GB">
                <a:solidFill>
                  <a:schemeClr val="bg1"/>
                </a:solidFill>
                <a:latin typeface="Consolas"/>
              </a:rPr>
              <a:t>ggplot(at, aes("week", "sales_units_k")) + geom_line()</a:t>
            </a:r>
          </a:p>
          <a:p>
            <a:pPr algn="l">
              <a:spcAft>
                <a:spcPts val="0"/>
              </a:spcAft>
            </a:pPr>
            <a:r>
              <a:rPr sz="1050" b="0" lang="en-GB">
                <a:solidFill>
                  <a:schemeClr val="bg1"/>
                </a:solidFill>
                <a:latin typeface="Consolas"/>
              </a:rPr>
              <a:t>```</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The chart covers `{python} at.height` weeks (@fig-sales).</a:t>
            </a:r>
          </a:p>
        </p:txBody>
      </p:sp>
      <p:sp>
        <p:nvSpPr>
          <p:cNvPr id="14" name="Opt row 1"/>
          <p:cNvSpPr/>
          <p:nvPr/>
        </p:nvSpPr>
        <p:spPr>
          <a:xfrm>
            <a:off x="5440680" y="1234440"/>
            <a:ext cx="32461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pt text 1"/>
          <p:cNvSpPr txBox="1"/>
          <p:nvPr/>
        </p:nvSpPr>
        <p:spPr>
          <a:xfrm>
            <a:off x="5559552" y="1234440"/>
            <a:ext cx="3108960" cy="457200"/>
          </a:xfrm>
          <a:prstGeom prst="rect">
            <a:avLst/>
          </a:prstGeom>
          <a:noFill/>
        </p:spPr>
        <p:txBody>
          <a:bodyPr wrap="square" lIns="0" rIns="0" tIns="0" bIns="0" anchor="ctr">
            <a:noAutofit/>
          </a:bodyPr>
          <a:lstStyle/>
          <a:p>
            <a:pPr algn="l">
              <a:spcAft>
                <a:spcPts val="0"/>
              </a:spcAft>
            </a:pPr>
            <a:r>
              <a:rPr sz="1050" b="1" lang="en-GB">
                <a:solidFill>
                  <a:schemeClr val="tx2"/>
                </a:solidFill>
                <a:latin typeface="Consolas"/>
              </a:rPr>
              <a:t>#| label: fig-sales</a:t>
            </a:r>
          </a:p>
          <a:p>
            <a:pPr algn="l">
              <a:spcAft>
                <a:spcPts val="0"/>
              </a:spcAft>
            </a:pPr>
            <a:r>
              <a:rPr sz="1050" b="0" lang="en-GB">
                <a:solidFill>
                  <a:schemeClr val="tx1"/>
                </a:solidFill>
              </a:rPr>
              <a:t>names the cell; fig- makes it a figure</a:t>
            </a:r>
          </a:p>
        </p:txBody>
      </p:sp>
      <p:sp>
        <p:nvSpPr>
          <p:cNvPr id="16" name="Opt row 2"/>
          <p:cNvSpPr/>
          <p:nvPr/>
        </p:nvSpPr>
        <p:spPr>
          <a:xfrm>
            <a:off x="5440680" y="1746504"/>
            <a:ext cx="32461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pt text 2"/>
          <p:cNvSpPr txBox="1"/>
          <p:nvPr/>
        </p:nvSpPr>
        <p:spPr>
          <a:xfrm>
            <a:off x="5559552" y="1746504"/>
            <a:ext cx="3108960" cy="457200"/>
          </a:xfrm>
          <a:prstGeom prst="rect">
            <a:avLst/>
          </a:prstGeom>
          <a:noFill/>
        </p:spPr>
        <p:txBody>
          <a:bodyPr wrap="square" lIns="0" rIns="0" tIns="0" bIns="0" anchor="ctr">
            <a:noAutofit/>
          </a:bodyPr>
          <a:lstStyle/>
          <a:p>
            <a:pPr algn="l">
              <a:spcAft>
                <a:spcPts val="0"/>
              </a:spcAft>
            </a:pPr>
            <a:r>
              <a:rPr sz="1050" b="1" lang="en-GB">
                <a:solidFill>
                  <a:schemeClr val="tx2"/>
                </a:solidFill>
                <a:latin typeface="Consolas"/>
              </a:rPr>
              <a:t>#| fig-cap:</a:t>
            </a:r>
          </a:p>
          <a:p>
            <a:pPr algn="l">
              <a:spcAft>
                <a:spcPts val="0"/>
              </a:spcAft>
            </a:pPr>
            <a:r>
              <a:rPr sz="1050" b="0" lang="en-GB">
                <a:solidFill>
                  <a:schemeClr val="tx1"/>
                </a:solidFill>
              </a:rPr>
              <a:t>the caption under the chart</a:t>
            </a:r>
          </a:p>
        </p:txBody>
      </p:sp>
      <p:sp>
        <p:nvSpPr>
          <p:cNvPr id="18" name="Opt row 3"/>
          <p:cNvSpPr/>
          <p:nvPr/>
        </p:nvSpPr>
        <p:spPr>
          <a:xfrm>
            <a:off x="5440680" y="2258568"/>
            <a:ext cx="32461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pt text 3"/>
          <p:cNvSpPr txBox="1"/>
          <p:nvPr/>
        </p:nvSpPr>
        <p:spPr>
          <a:xfrm>
            <a:off x="5559552" y="2258568"/>
            <a:ext cx="3108960" cy="457200"/>
          </a:xfrm>
          <a:prstGeom prst="rect">
            <a:avLst/>
          </a:prstGeom>
          <a:noFill/>
        </p:spPr>
        <p:txBody>
          <a:bodyPr wrap="square" lIns="0" rIns="0" tIns="0" bIns="0" anchor="ctr">
            <a:noAutofit/>
          </a:bodyPr>
          <a:lstStyle/>
          <a:p>
            <a:pPr algn="l">
              <a:spcAft>
                <a:spcPts val="0"/>
              </a:spcAft>
            </a:pPr>
            <a:r>
              <a:rPr sz="1050" b="1" lang="en-GB">
                <a:solidFill>
                  <a:schemeClr val="tx2"/>
                </a:solidFill>
                <a:latin typeface="Consolas"/>
              </a:rPr>
              <a:t>#| echo: false</a:t>
            </a:r>
          </a:p>
          <a:p>
            <a:pPr algn="l">
              <a:spcAft>
                <a:spcPts val="0"/>
              </a:spcAft>
            </a:pPr>
            <a:r>
              <a:rPr sz="1050" b="0" lang="en-GB">
                <a:solidFill>
                  <a:schemeClr val="tx1"/>
                </a:solidFill>
              </a:rPr>
              <a:t>show the result, hide the code</a:t>
            </a:r>
          </a:p>
        </p:txBody>
      </p:sp>
      <p:sp>
        <p:nvSpPr>
          <p:cNvPr id="20" name="Opt row 4"/>
          <p:cNvSpPr/>
          <p:nvPr/>
        </p:nvSpPr>
        <p:spPr>
          <a:xfrm>
            <a:off x="5440680" y="2770632"/>
            <a:ext cx="32461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pt text 4"/>
          <p:cNvSpPr txBox="1"/>
          <p:nvPr/>
        </p:nvSpPr>
        <p:spPr>
          <a:xfrm>
            <a:off x="5559552" y="2770632"/>
            <a:ext cx="3108960" cy="457200"/>
          </a:xfrm>
          <a:prstGeom prst="rect">
            <a:avLst/>
          </a:prstGeom>
          <a:noFill/>
        </p:spPr>
        <p:txBody>
          <a:bodyPr wrap="square" lIns="0" rIns="0" tIns="0" bIns="0" anchor="ctr">
            <a:noAutofit/>
          </a:bodyPr>
          <a:lstStyle/>
          <a:p>
            <a:pPr algn="l">
              <a:spcAft>
                <a:spcPts val="0"/>
              </a:spcAft>
            </a:pPr>
            <a:r>
              <a:rPr sz="1050" b="1" lang="en-GB">
                <a:solidFill>
                  <a:schemeClr val="tx2"/>
                </a:solidFill>
                <a:latin typeface="Consolas"/>
              </a:rPr>
              <a:t>`{python} …`</a:t>
            </a:r>
          </a:p>
          <a:p>
            <a:pPr algn="l">
              <a:spcAft>
                <a:spcPts val="0"/>
              </a:spcAft>
            </a:pPr>
            <a:r>
              <a:rPr sz="1050" b="0" lang="en-GB">
                <a:solidFill>
                  <a:schemeClr val="tx1"/>
                </a:solidFill>
              </a:rPr>
              <a:t>a computed number in the text</a:t>
            </a:r>
          </a:p>
        </p:txBody>
      </p:sp>
      <p:sp>
        <p:nvSpPr>
          <p:cNvPr id="22" name="Opt row 5"/>
          <p:cNvSpPr/>
          <p:nvPr/>
        </p:nvSpPr>
        <p:spPr>
          <a:xfrm>
            <a:off x="5440680" y="3282696"/>
            <a:ext cx="32461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pt text 5"/>
          <p:cNvSpPr txBox="1"/>
          <p:nvPr/>
        </p:nvSpPr>
        <p:spPr>
          <a:xfrm>
            <a:off x="5559552" y="3282696"/>
            <a:ext cx="3108960" cy="457200"/>
          </a:xfrm>
          <a:prstGeom prst="rect">
            <a:avLst/>
          </a:prstGeom>
          <a:noFill/>
        </p:spPr>
        <p:txBody>
          <a:bodyPr wrap="square" lIns="0" rIns="0" tIns="0" bIns="0" anchor="ctr">
            <a:noAutofit/>
          </a:bodyPr>
          <a:lstStyle/>
          <a:p>
            <a:pPr algn="l">
              <a:spcAft>
                <a:spcPts val="0"/>
              </a:spcAft>
            </a:pPr>
            <a:r>
              <a:rPr sz="1050" b="1" lang="en-GB">
                <a:solidFill>
                  <a:schemeClr val="tx2"/>
                </a:solidFill>
                <a:latin typeface="Consolas"/>
              </a:rPr>
              <a:t>@fig-sales</a:t>
            </a:r>
          </a:p>
          <a:p>
            <a:pPr algn="l">
              <a:spcAft>
                <a:spcPts val="0"/>
              </a:spcAft>
            </a:pPr>
            <a:r>
              <a:rPr sz="1050" b="0" lang="en-GB">
                <a:solidFill>
                  <a:schemeClr val="tx1"/>
                </a:solidFill>
              </a:rPr>
              <a:t>“Figure 1”, with a link</a:t>
            </a:r>
          </a:p>
        </p:txBody>
      </p:sp>
      <p:sp>
        <p:nvSpPr>
          <p:cNvPr id="24" name="Cell why box"/>
          <p:cNvSpPr/>
          <p:nvPr/>
        </p:nvSpPr>
        <p:spPr>
          <a:xfrm>
            <a:off x="457200" y="3931920"/>
            <a:ext cx="8229600" cy="10972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Cell why" descr=""/>
          <p:cNvPicPr>
            <a:picLocks noChangeAspect="1"/>
          </p:cNvPicPr>
          <p:nvPr/>
        </p:nvPicPr>
        <p:blipFill>
          <a:blip r:embed="rId3"/>
          <a:stretch>
            <a:fillRect/>
          </a:stretch>
        </p:blipFill>
        <p:spPr>
          <a:xfrm>
            <a:off x="658368" y="4288536"/>
            <a:ext cx="384048" cy="384048"/>
          </a:xfrm>
          <a:prstGeom prst="rect">
            <a:avLst/>
          </a:prstGeom>
        </p:spPr>
      </p:pic>
      <p:sp>
        <p:nvSpPr>
          <p:cNvPr id="26" name="Cell why text"/>
          <p:cNvSpPr txBox="1"/>
          <p:nvPr/>
        </p:nvSpPr>
        <p:spPr>
          <a:xfrm>
            <a:off x="1234440" y="3931920"/>
            <a:ext cx="7269480" cy="1097280"/>
          </a:xfrm>
          <a:prstGeom prst="rect">
            <a:avLst/>
          </a:prstGeom>
          <a:noFill/>
        </p:spPr>
        <p:txBody>
          <a:bodyPr wrap="square" lIns="0" rIns="0" tIns="0" bIns="0" anchor="ctr">
            <a:noAutofit/>
          </a:bodyPr>
          <a:lstStyle/>
          <a:p>
            <a:pPr algn="l">
              <a:spcAft>
                <a:spcPts val="400"/>
              </a:spcAft>
            </a:pPr>
            <a:r>
              <a:rPr sz="1300" b="1" lang="en-GB">
                <a:solidFill>
                  <a:schemeClr val="bg1"/>
                </a:solidFill>
              </a:rPr>
              <a:t>Why it matters: </a:t>
            </a:r>
            <a:r>
              <a:rPr sz="1300" b="0" lang="en-GB">
                <a:solidFill>
                  <a:schemeClr val="bg1"/>
                </a:solidFill>
              </a:rPr>
              <a:t>when the data change, you render again and every chart, table and number in the text updates. No copy and paste into Word.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One source, many output formats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Quarto html thumbnail" descr="The demo report rendered as web page (default)"/>
          <p:cNvPicPr>
            <a:picLocks noChangeAspect="1"/>
          </p:cNvPicPr>
          <p:nvPr/>
        </p:nvPicPr>
        <p:blipFill>
          <a:blip r:embed="rId3"/>
          <a:stretch>
            <a:fillRect/>
          </a:stretch>
        </p:blipFill>
        <p:spPr>
          <a:xfrm>
            <a:off x="457200" y="1234440"/>
            <a:ext cx="2194560" cy="1645920"/>
          </a:xfrm>
          <a:prstGeom prst="rect">
            <a:avLst/>
          </a:prstGeom>
          <a:ln w="9525">
            <a:solidFill>
              <a:schemeClr val="accent1"/>
            </a:solidFill>
          </a:ln>
        </p:spPr>
      </p:pic>
      <p:sp>
        <p:nvSpPr>
          <p:cNvPr id="11" name="Quarto html label"/>
          <p:cNvSpPr txBox="1"/>
          <p:nvPr/>
        </p:nvSpPr>
        <p:spPr>
          <a:xfrm>
            <a:off x="457200" y="2926080"/>
            <a:ext cx="2286000" cy="457200"/>
          </a:xfrm>
          <a:prstGeom prst="rect">
            <a:avLst/>
          </a:prstGeom>
          <a:noFill/>
        </p:spPr>
        <p:txBody>
          <a:bodyPr wrap="square" lIns="0" rIns="0" tIns="0" bIns="0" anchor="t">
            <a:noAutofit/>
          </a:bodyPr>
          <a:lstStyle/>
          <a:p>
            <a:pPr algn="l">
              <a:spcAft>
                <a:spcPts val="0"/>
              </a:spcAft>
            </a:pPr>
            <a:r>
              <a:rPr sz="1100" b="1" lang="en-GB">
                <a:solidFill>
                  <a:schemeClr val="tx2"/>
                </a:solidFill>
                <a:latin typeface="Consolas"/>
              </a:rPr>
              <a:t>html</a:t>
            </a:r>
          </a:p>
          <a:p>
            <a:pPr algn="l">
              <a:spcAft>
                <a:spcPts val="0"/>
              </a:spcAft>
            </a:pPr>
            <a:r>
              <a:rPr sz="1050" b="0" lang="en-GB">
                <a:solidFill>
                  <a:schemeClr val="tx1"/>
                </a:solidFill>
              </a:rPr>
              <a:t>web page (default)</a:t>
            </a:r>
          </a:p>
        </p:txBody>
      </p:sp>
      <p:pic>
        <p:nvPicPr>
          <p:cNvPr id="12" name="Quarto revealjs thumbnail" descr="The demo report rendered as slides in the browser"/>
          <p:cNvPicPr>
            <a:picLocks noChangeAspect="1"/>
          </p:cNvPicPr>
          <p:nvPr/>
        </p:nvPicPr>
        <p:blipFill>
          <a:blip r:embed="rId4"/>
          <a:stretch>
            <a:fillRect/>
          </a:stretch>
        </p:blipFill>
        <p:spPr>
          <a:xfrm>
            <a:off x="2938186" y="1234440"/>
            <a:ext cx="2632068" cy="1645920"/>
          </a:xfrm>
          <a:prstGeom prst="rect">
            <a:avLst/>
          </a:prstGeom>
          <a:ln w="9525">
            <a:solidFill>
              <a:schemeClr val="accent1"/>
            </a:solidFill>
          </a:ln>
        </p:spPr>
      </p:pic>
      <p:sp>
        <p:nvSpPr>
          <p:cNvPr id="13" name="Quarto revealjs label"/>
          <p:cNvSpPr txBox="1"/>
          <p:nvPr/>
        </p:nvSpPr>
        <p:spPr>
          <a:xfrm>
            <a:off x="2938186" y="2926080"/>
            <a:ext cx="2723508" cy="457200"/>
          </a:xfrm>
          <a:prstGeom prst="rect">
            <a:avLst/>
          </a:prstGeom>
          <a:noFill/>
        </p:spPr>
        <p:txBody>
          <a:bodyPr wrap="square" lIns="0" rIns="0" tIns="0" bIns="0" anchor="t">
            <a:noAutofit/>
          </a:bodyPr>
          <a:lstStyle/>
          <a:p>
            <a:pPr algn="l">
              <a:spcAft>
                <a:spcPts val="0"/>
              </a:spcAft>
            </a:pPr>
            <a:r>
              <a:rPr sz="1100" b="1" lang="en-GB">
                <a:solidFill>
                  <a:schemeClr val="tx2"/>
                </a:solidFill>
                <a:latin typeface="Consolas"/>
              </a:rPr>
              <a:t>revealjs</a:t>
            </a:r>
          </a:p>
          <a:p>
            <a:pPr algn="l">
              <a:spcAft>
                <a:spcPts val="0"/>
              </a:spcAft>
            </a:pPr>
            <a:r>
              <a:rPr sz="1050" b="0" lang="en-GB">
                <a:solidFill>
                  <a:schemeClr val="tx1"/>
                </a:solidFill>
              </a:rPr>
              <a:t>slides in the browser</a:t>
            </a:r>
          </a:p>
        </p:txBody>
      </p:sp>
      <p:pic>
        <p:nvPicPr>
          <p:cNvPr id="14" name="Quarto typst thumbnail" descr="The demo report rendered as PDF, no LaTeX needed"/>
          <p:cNvPicPr>
            <a:picLocks noChangeAspect="1"/>
          </p:cNvPicPr>
          <p:nvPr/>
        </p:nvPicPr>
        <p:blipFill>
          <a:blip r:embed="rId5"/>
          <a:stretch>
            <a:fillRect/>
          </a:stretch>
        </p:blipFill>
        <p:spPr>
          <a:xfrm>
            <a:off x="5856680" y="1234440"/>
            <a:ext cx="1271847" cy="1645920"/>
          </a:xfrm>
          <a:prstGeom prst="rect">
            <a:avLst/>
          </a:prstGeom>
          <a:ln w="9525">
            <a:solidFill>
              <a:schemeClr val="accent1"/>
            </a:solidFill>
          </a:ln>
        </p:spPr>
      </p:pic>
      <p:sp>
        <p:nvSpPr>
          <p:cNvPr id="15" name="Quarto typst label"/>
          <p:cNvSpPr txBox="1"/>
          <p:nvPr/>
        </p:nvSpPr>
        <p:spPr>
          <a:xfrm>
            <a:off x="5856680" y="2926080"/>
            <a:ext cx="1363287" cy="457200"/>
          </a:xfrm>
          <a:prstGeom prst="rect">
            <a:avLst/>
          </a:prstGeom>
          <a:noFill/>
        </p:spPr>
        <p:txBody>
          <a:bodyPr wrap="square" lIns="0" rIns="0" tIns="0" bIns="0" anchor="t">
            <a:noAutofit/>
          </a:bodyPr>
          <a:lstStyle/>
          <a:p>
            <a:pPr algn="l">
              <a:spcAft>
                <a:spcPts val="0"/>
              </a:spcAft>
            </a:pPr>
            <a:r>
              <a:rPr sz="1100" b="1" lang="en-GB">
                <a:solidFill>
                  <a:schemeClr val="tx2"/>
                </a:solidFill>
                <a:latin typeface="Consolas"/>
              </a:rPr>
              <a:t>typst</a:t>
            </a:r>
          </a:p>
          <a:p>
            <a:pPr algn="l">
              <a:spcAft>
                <a:spcPts val="0"/>
              </a:spcAft>
            </a:pPr>
            <a:r>
              <a:rPr sz="1050" b="0" lang="en-GB">
                <a:solidFill>
                  <a:schemeClr val="tx1"/>
                </a:solidFill>
              </a:rPr>
              <a:t>PDF, no LaTeX needed</a:t>
            </a:r>
          </a:p>
        </p:txBody>
      </p:sp>
      <p:pic>
        <p:nvPicPr>
          <p:cNvPr id="16" name="Quarto docx thumbnail" descr="The demo report rendered as Word, to edit further"/>
          <p:cNvPicPr>
            <a:picLocks noChangeAspect="1"/>
          </p:cNvPicPr>
          <p:nvPr/>
        </p:nvPicPr>
        <p:blipFill>
          <a:blip r:embed="rId6"/>
          <a:stretch>
            <a:fillRect/>
          </a:stretch>
        </p:blipFill>
        <p:spPr>
          <a:xfrm>
            <a:off x="7414953" y="1234440"/>
            <a:ext cx="1271847" cy="1645920"/>
          </a:xfrm>
          <a:prstGeom prst="rect">
            <a:avLst/>
          </a:prstGeom>
          <a:ln w="9525">
            <a:solidFill>
              <a:schemeClr val="accent1"/>
            </a:solidFill>
          </a:ln>
        </p:spPr>
      </p:pic>
      <p:sp>
        <p:nvSpPr>
          <p:cNvPr id="17" name="Quarto docx label"/>
          <p:cNvSpPr txBox="1"/>
          <p:nvPr/>
        </p:nvSpPr>
        <p:spPr>
          <a:xfrm>
            <a:off x="7414953" y="2926080"/>
            <a:ext cx="1363287" cy="457200"/>
          </a:xfrm>
          <a:prstGeom prst="rect">
            <a:avLst/>
          </a:prstGeom>
          <a:noFill/>
        </p:spPr>
        <p:txBody>
          <a:bodyPr wrap="square" lIns="0" rIns="0" tIns="0" bIns="0" anchor="t">
            <a:noAutofit/>
          </a:bodyPr>
          <a:lstStyle/>
          <a:p>
            <a:pPr algn="l">
              <a:spcAft>
                <a:spcPts val="0"/>
              </a:spcAft>
            </a:pPr>
            <a:r>
              <a:rPr sz="1100" b="1" lang="en-GB">
                <a:solidFill>
                  <a:schemeClr val="tx2"/>
                </a:solidFill>
                <a:latin typeface="Consolas"/>
              </a:rPr>
              <a:t>docx</a:t>
            </a:r>
          </a:p>
          <a:p>
            <a:pPr algn="l">
              <a:spcAft>
                <a:spcPts val="0"/>
              </a:spcAft>
            </a:pPr>
            <a:r>
              <a:rPr sz="1050" b="0" lang="en-GB">
                <a:solidFill>
                  <a:schemeClr val="tx1"/>
                </a:solidFill>
              </a:rPr>
              <a:t>Word, to edit further</a:t>
            </a:r>
          </a:p>
        </p:txBody>
      </p:sp>
      <p:sp>
        <p:nvSpPr>
          <p:cNvPr id="18" name="Formats code caption bar"/>
          <p:cNvSpPr/>
          <p:nvPr/>
        </p:nvSpPr>
        <p:spPr>
          <a:xfrm>
            <a:off x="457200" y="35204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Formats code caption"/>
          <p:cNvSpPr txBox="1"/>
          <p:nvPr/>
        </p:nvSpPr>
        <p:spPr>
          <a:xfrm>
            <a:off x="566928" y="35204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YAML: several formats</a:t>
            </a:r>
          </a:p>
        </p:txBody>
      </p:sp>
      <p:sp>
        <p:nvSpPr>
          <p:cNvPr id="20" name="Formats code box"/>
          <p:cNvSpPr/>
          <p:nvPr/>
        </p:nvSpPr>
        <p:spPr>
          <a:xfrm>
            <a:off x="457200" y="3794760"/>
            <a:ext cx="4023360" cy="12801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ormats code code"/>
          <p:cNvSpPr txBox="1"/>
          <p:nvPr/>
        </p:nvSpPr>
        <p:spPr>
          <a:xfrm>
            <a:off x="594360" y="3886200"/>
            <a:ext cx="3749040" cy="10972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format:</a:t>
            </a:r>
          </a:p>
          <a:p>
            <a:pPr algn="l">
              <a:spcAft>
                <a:spcPts val="0"/>
              </a:spcAft>
            </a:pPr>
            <a:r>
              <a:rPr sz="1100" b="0" lang="en-GB">
                <a:solidFill>
                  <a:schemeClr val="bg1"/>
                </a:solidFill>
                <a:latin typeface="Consolas"/>
              </a:rPr>
              <a:t>  html: default</a:t>
            </a:r>
          </a:p>
          <a:p>
            <a:pPr algn="l">
              <a:spcAft>
                <a:spcPts val="0"/>
              </a:spcAft>
            </a:pPr>
            <a:r>
              <a:rPr sz="1100" b="0" lang="en-GB">
                <a:solidFill>
                  <a:schemeClr val="bg1"/>
                </a:solidFill>
                <a:latin typeface="Consolas"/>
              </a:rPr>
              <a:t>  revealjs: default</a:t>
            </a:r>
          </a:p>
          <a:p>
            <a:pPr algn="l">
              <a:spcAft>
                <a:spcPts val="0"/>
              </a:spcAft>
            </a:pPr>
            <a:r>
              <a:rPr sz="1100" b="0" lang="en-GB">
                <a:solidFill>
                  <a:schemeClr val="bg1"/>
                </a:solidFill>
                <a:latin typeface="Consolas"/>
              </a:rPr>
              <a:t>  typst: default</a:t>
            </a:r>
          </a:p>
          <a:p>
            <a:pPr algn="l">
              <a:spcAft>
                <a:spcPts val="0"/>
              </a:spcAft>
            </a:pPr>
            <a:r>
              <a:rPr sz="1100" b="0" lang="en-GB">
                <a:solidFill>
                  <a:schemeClr val="bg1"/>
                </a:solidFill>
                <a:latin typeface="Consolas"/>
              </a:rPr>
              <a:t>  docx: default</a:t>
            </a:r>
          </a:p>
        </p:txBody>
      </p:sp>
      <p:sp>
        <p:nvSpPr>
          <p:cNvPr id="22" name="Render code caption bar"/>
          <p:cNvSpPr/>
          <p:nvPr/>
        </p:nvSpPr>
        <p:spPr>
          <a:xfrm>
            <a:off x="4617720" y="3520440"/>
            <a:ext cx="40690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nder code caption"/>
          <p:cNvSpPr txBox="1"/>
          <p:nvPr/>
        </p:nvSpPr>
        <p:spPr>
          <a:xfrm>
            <a:off x="4727448" y="3520440"/>
            <a:ext cx="38496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Terminal: all formats, or one</a:t>
            </a:r>
          </a:p>
        </p:txBody>
      </p:sp>
      <p:sp>
        <p:nvSpPr>
          <p:cNvPr id="24" name="Render code box"/>
          <p:cNvSpPr/>
          <p:nvPr/>
        </p:nvSpPr>
        <p:spPr>
          <a:xfrm>
            <a:off x="4617720" y="3794760"/>
            <a:ext cx="4069080" cy="12801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nder code code"/>
          <p:cNvSpPr txBox="1"/>
          <p:nvPr/>
        </p:nvSpPr>
        <p:spPr>
          <a:xfrm>
            <a:off x="4754880" y="3886200"/>
            <a:ext cx="3794760" cy="10972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quarto render report.qmd</a:t>
            </a:r>
          </a:p>
          <a:p>
            <a:pPr algn="l">
              <a:spcAft>
                <a:spcPts val="0"/>
              </a:spcAft>
            </a:pPr>
            <a:r>
              <a:rPr sz="1100" b="0" lang="en-GB">
                <a:solidFill>
                  <a:schemeClr val="bg1"/>
                </a:solidFill>
                <a:latin typeface="Consolas"/>
              </a:rPr>
              <a:t>quarto render report.qmd --to docx</a:t>
            </a:r>
          </a:p>
        </p:txBody>
      </p:sp>
      <p:sp>
        <p:nvSpPr>
          <p:cNvPr id="26" name="Formats also"/>
          <p:cNvSpPr txBox="1"/>
          <p:nvPr/>
        </p:nvSpPr>
        <p:spPr>
          <a:xfrm>
            <a:off x="4754880" y="4480560"/>
            <a:ext cx="3840480" cy="548640"/>
          </a:xfrm>
          <a:prstGeom prst="rect">
            <a:avLst/>
          </a:prstGeom>
          <a:noFill/>
        </p:spPr>
        <p:txBody>
          <a:bodyPr wrap="square" lIns="0" rIns="0" tIns="0" bIns="0" anchor="t">
            <a:noAutofit/>
          </a:bodyPr>
          <a:lstStyle/>
          <a:p>
            <a:pPr algn="l">
              <a:spcAft>
                <a:spcPts val="400"/>
              </a:spcAft>
            </a:pPr>
            <a:r>
              <a:rPr sz="1100" b="0" lang="en-GB">
                <a:solidFill>
                  <a:schemeClr val="bg1"/>
                </a:solidFill>
              </a:rPr>
              <a:t>Also: pptx, dashboard, pdf (LaTeX)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6 · install and load; polars, plotnine, Great Tables, statsmodels</a:t>
            </a:r>
          </a:p>
        </p:txBody>
      </p:sp>
      <p:sp>
        <p:nvSpPr>
          <p:cNvPr id="3" name="Title 2"/>
          <p:cNvSpPr>
            <a:spLocks noGrp="1"/>
          </p:cNvSpPr>
          <p:nvPr>
            <p:ph type="ctrTitle"/>
          </p:nvPr>
        </p:nvSpPr>
        <p:spPr/>
        <p:txBody>
          <a:bodyPr/>
          <a:lstStyle/>
          <a:p>
            <a:r>
              <a:rPr sz="1600" lang="en-GB"/>
              <a:t>Python packages for this course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packages: three 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stall win caption bar"/>
          <p:cNvSpPr/>
          <p:nvPr/>
        </p:nvSpPr>
        <p:spPr>
          <a:xfrm>
            <a:off x="457200" y="196596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stall win caption"/>
          <p:cNvSpPr txBox="1"/>
          <p:nvPr/>
        </p:nvSpPr>
        <p:spPr>
          <a:xfrm>
            <a:off x="566928" y="196596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2  Windows: Positron terminal</a:t>
            </a:r>
          </a:p>
        </p:txBody>
      </p:sp>
      <p:sp>
        <p:nvSpPr>
          <p:cNvPr id="12" name="Install win box"/>
          <p:cNvSpPr/>
          <p:nvPr/>
        </p:nvSpPr>
        <p:spPr>
          <a:xfrm>
            <a:off x="457200" y="224028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nstall win code"/>
          <p:cNvSpPr txBox="1"/>
          <p:nvPr/>
        </p:nvSpPr>
        <p:spPr>
          <a:xfrm>
            <a:off x="594360" y="2331720"/>
            <a:ext cx="7955280" cy="411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.venv\Scripts\python -m pip install -r requirements.txt   # all course packages</a:t>
            </a:r>
          </a:p>
          <a:p>
            <a:pPr algn="l">
              <a:spcAft>
                <a:spcPts val="0"/>
              </a:spcAft>
            </a:pPr>
            <a:r>
              <a:rPr sz="1100" b="0" lang="en-GB">
                <a:solidFill>
                  <a:schemeClr val="bg1"/>
                </a:solidFill>
                <a:latin typeface="Consolas"/>
              </a:rPr>
              <a:t>.venv\Scripts\python -m pip install polars                # one package</a:t>
            </a:r>
          </a:p>
        </p:txBody>
      </p:sp>
      <p:sp>
        <p:nvSpPr>
          <p:cNvPr id="14" name="Install mac caption bar"/>
          <p:cNvSpPr/>
          <p:nvPr/>
        </p:nvSpPr>
        <p:spPr>
          <a:xfrm>
            <a:off x="457200" y="2944368"/>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nstall mac caption"/>
          <p:cNvSpPr txBox="1"/>
          <p:nvPr/>
        </p:nvSpPr>
        <p:spPr>
          <a:xfrm>
            <a:off x="566928" y="2944368"/>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3  macOS: Positron terminal</a:t>
            </a:r>
          </a:p>
        </p:txBody>
      </p:sp>
      <p:sp>
        <p:nvSpPr>
          <p:cNvPr id="16" name="Install mac box"/>
          <p:cNvSpPr/>
          <p:nvPr/>
        </p:nvSpPr>
        <p:spPr>
          <a:xfrm>
            <a:off x="457200" y="3218688"/>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nstall mac code"/>
          <p:cNvSpPr txBox="1"/>
          <p:nvPr/>
        </p:nvSpPr>
        <p:spPr>
          <a:xfrm>
            <a:off x="594360" y="3310128"/>
            <a:ext cx="7955280" cy="411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.venv/bin/python -m pip install -r requirements.txt       # all course packages</a:t>
            </a:r>
          </a:p>
          <a:p>
            <a:pPr algn="l">
              <a:spcAft>
                <a:spcPts val="0"/>
              </a:spcAft>
            </a:pPr>
            <a:r>
              <a:rPr sz="1100" b="0" lang="en-GB">
                <a:solidFill>
                  <a:schemeClr val="bg1"/>
                </a:solidFill>
                <a:latin typeface="Consolas"/>
              </a:rPr>
              <a:t>.venv/bin/python -m pip install polars                    # one package</a:t>
            </a:r>
          </a:p>
        </p:txBody>
      </p:sp>
      <p:sp>
        <p:nvSpPr>
          <p:cNvPr id="18" name="Install console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nstall console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1  Windows and macOS: Positron console (easiest)</a:t>
            </a:r>
          </a:p>
        </p:txBody>
      </p:sp>
      <p:sp>
        <p:nvSpPr>
          <p:cNvPr id="20" name="Install console box"/>
          <p:cNvSpPr/>
          <p:nvPr/>
        </p:nvSpPr>
        <p:spPr>
          <a:xfrm>
            <a:off x="457200" y="1508760"/>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nstall console code"/>
          <p:cNvSpPr txBox="1"/>
          <p:nvPr/>
        </p:nvSpPr>
        <p:spPr>
          <a:xfrm>
            <a:off x="594360" y="1600200"/>
            <a:ext cx="7955280" cy="1828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%pip install polars plotnine great-tables</a:t>
            </a:r>
          </a:p>
        </p:txBody>
      </p:sp>
      <p:sp>
        <p:nvSpPr>
          <p:cNvPr id="22" name="Names box"/>
          <p:cNvSpPr/>
          <p:nvPr/>
        </p:nvSpPr>
        <p:spPr>
          <a:xfrm>
            <a:off x="457200" y="3977640"/>
            <a:ext cx="822960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Names" descr=""/>
          <p:cNvPicPr>
            <a:picLocks noChangeAspect="1"/>
          </p:cNvPicPr>
          <p:nvPr/>
        </p:nvPicPr>
        <p:blipFill>
          <a:blip r:embed="rId3"/>
          <a:stretch>
            <a:fillRect/>
          </a:stretch>
        </p:blipFill>
        <p:spPr>
          <a:xfrm>
            <a:off x="658368" y="4334256"/>
            <a:ext cx="384048" cy="384048"/>
          </a:xfrm>
          <a:prstGeom prst="rect">
            <a:avLst/>
          </a:prstGeom>
        </p:spPr>
      </p:pic>
      <p:sp>
        <p:nvSpPr>
          <p:cNvPr id="24" name="Names text"/>
          <p:cNvSpPr txBox="1"/>
          <p:nvPr/>
        </p:nvSpPr>
        <p:spPr>
          <a:xfrm>
            <a:off x="1234440" y="3977640"/>
            <a:ext cx="7269480" cy="1097280"/>
          </a:xfrm>
          <a:prstGeom prst="rect">
            <a:avLst/>
          </a:prstGeom>
          <a:noFill/>
        </p:spPr>
        <p:txBody>
          <a:bodyPr wrap="square" lIns="0" rIns="0" tIns="0" bIns="0" anchor="ctr">
            <a:noAutofit/>
          </a:bodyPr>
          <a:lstStyle/>
          <a:p>
            <a:pPr algn="l">
              <a:spcAft>
                <a:spcPts val="400"/>
              </a:spcAft>
            </a:pPr>
            <a:r>
              <a:rPr sz="1300" b="1" lang="en-GB">
                <a:solidFill>
                  <a:schemeClr val="tx2"/>
                </a:solidFill>
              </a:rPr>
              <a:t>Install name and import name can differ: </a:t>
            </a:r>
            <a:r>
              <a:rPr sz="1300" b="0" lang="en-GB">
                <a:solidFill>
                  <a:schemeClr val="tx1"/>
                </a:solidFill>
              </a:rPr>
              <a:t>pip install great-tables → import great_tables; scikit-learn → sklearn; pymc-marketing → pymc_marketing.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Packages pane: install without code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ane steps step 1"/>
          <p:cNvSpPr/>
          <p:nvPr/>
        </p:nvSpPr>
        <p:spPr>
          <a:xfrm>
            <a:off x="457200" y="1234440"/>
            <a:ext cx="2139696"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Packages icon</a:t>
            </a:r>
            <a:br/>
            <a:r>
              <a:rPr sz="1200" b="1" lang="en-GB">
                <a:solidFill>
                  <a:schemeClr val="tx2"/>
                </a:solidFill>
              </a:rPr>
              <a:t>(Activity Bar)</a:t>
            </a:r>
          </a:p>
        </p:txBody>
      </p:sp>
      <p:sp>
        <p:nvSpPr>
          <p:cNvPr id="11" name="Pane steps step 2"/>
          <p:cNvSpPr/>
          <p:nvPr/>
        </p:nvSpPr>
        <p:spPr>
          <a:xfrm>
            <a:off x="2487168" y="123444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Install</a:t>
            </a:r>
            <a:br/>
            <a:r>
              <a:rPr sz="1200" b="1" lang="en-GB">
                <a:solidFill>
                  <a:schemeClr val="tx2"/>
                </a:solidFill>
              </a:rPr>
              <a:t>Package</a:t>
            </a:r>
          </a:p>
        </p:txBody>
      </p:sp>
      <p:sp>
        <p:nvSpPr>
          <p:cNvPr id="12" name="Pane steps step 3"/>
          <p:cNvSpPr/>
          <p:nvPr/>
        </p:nvSpPr>
        <p:spPr>
          <a:xfrm>
            <a:off x="4517136" y="123444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Search name,</a:t>
            </a:r>
            <a:br/>
            <a:r>
              <a:rPr sz="1200" b="1" lang="en-GB">
                <a:solidFill>
                  <a:schemeClr val="tx2"/>
                </a:solidFill>
              </a:rPr>
              <a:t>pick version</a:t>
            </a:r>
          </a:p>
        </p:txBody>
      </p:sp>
      <p:sp>
        <p:nvSpPr>
          <p:cNvPr id="13" name="Pane steps step 4"/>
          <p:cNvSpPr/>
          <p:nvPr/>
        </p:nvSpPr>
        <p:spPr>
          <a:xfrm>
            <a:off x="6547104" y="123444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Restart session</a:t>
            </a:r>
            <a:br/>
            <a:r>
              <a:rPr sz="1200" b="1" lang="en-GB">
                <a:solidFill>
                  <a:schemeClr val="tx2"/>
                </a:solidFill>
              </a:rPr>
              <a:t>when asked</a:t>
            </a:r>
          </a:p>
        </p:txBody>
      </p:sp>
      <p:sp>
        <p:nvSpPr>
          <p:cNvPr id="14" name="Pane mock"/>
          <p:cNvSpPr/>
          <p:nvPr/>
        </p:nvSpPr>
        <p:spPr>
          <a:xfrm>
            <a:off x="457200" y="1965960"/>
            <a:ext cx="4023360" cy="3108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ane mock head"/>
          <p:cNvSpPr txBox="1"/>
          <p:nvPr/>
        </p:nvSpPr>
        <p:spPr>
          <a:xfrm>
            <a:off x="594360" y="2029968"/>
            <a:ext cx="3749040" cy="320040"/>
          </a:xfrm>
          <a:prstGeom prst="rect">
            <a:avLst/>
          </a:prstGeom>
          <a:noFill/>
        </p:spPr>
        <p:txBody>
          <a:bodyPr wrap="square" lIns="0" rIns="0" tIns="0" bIns="0" anchor="ctr">
            <a:noAutofit/>
          </a:bodyPr>
          <a:lstStyle/>
          <a:p>
            <a:pPr algn="l">
              <a:spcAft>
                <a:spcPts val="400"/>
              </a:spcAft>
            </a:pPr>
            <a:r>
              <a:rPr sz="1100" b="1" lang="en-GB">
                <a:solidFill>
                  <a:schemeClr val="tx2"/>
                </a:solidFill>
              </a:rPr>
              <a:t>PACKAGES</a:t>
            </a:r>
            <a:r>
              <a:rPr sz="1100" b="0" lang="en-GB">
                <a:solidFill>
                  <a:schemeClr val="tx1"/>
                </a:solidFill>
              </a:rPr>
              <a:t>     Python 3.14.8 (.venv)</a:t>
            </a:r>
          </a:p>
        </p:txBody>
      </p:sp>
      <p:sp>
        <p:nvSpPr>
          <p:cNvPr id="16" name="Pane row 1"/>
          <p:cNvSpPr/>
          <p:nvPr/>
        </p:nvSpPr>
        <p:spPr>
          <a:xfrm>
            <a:off x="594360" y="2423160"/>
            <a:ext cx="37490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ane name 1"/>
          <p:cNvSpPr txBox="1"/>
          <p:nvPr/>
        </p:nvSpPr>
        <p:spPr>
          <a:xfrm>
            <a:off x="713232" y="2423160"/>
            <a:ext cx="1737360" cy="347472"/>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great-tables</a:t>
            </a:r>
          </a:p>
        </p:txBody>
      </p:sp>
      <p:sp>
        <p:nvSpPr>
          <p:cNvPr id="18" name="Pane version 1"/>
          <p:cNvSpPr txBox="1"/>
          <p:nvPr/>
        </p:nvSpPr>
        <p:spPr>
          <a:xfrm>
            <a:off x="2331720" y="2423160"/>
            <a:ext cx="822960" cy="347472"/>
          </a:xfrm>
          <a:prstGeom prst="rect">
            <a:avLst/>
          </a:prstGeom>
          <a:noFill/>
        </p:spPr>
        <p:txBody>
          <a:bodyPr wrap="square" lIns="0" rIns="0" tIns="0" bIns="0" anchor="ctr">
            <a:noAutofit/>
          </a:bodyPr>
          <a:lstStyle/>
          <a:p>
            <a:pPr algn="l">
              <a:spcAft>
                <a:spcPts val="400"/>
              </a:spcAft>
            </a:pPr>
            <a:r>
              <a:rPr sz="1100" b="0" lang="en-GB">
                <a:solidFill>
                  <a:schemeClr val="tx1"/>
                </a:solidFill>
                <a:latin typeface="Consolas"/>
              </a:rPr>
              <a:t>1.0.0</a:t>
            </a:r>
          </a:p>
        </p:txBody>
      </p:sp>
      <p:sp>
        <p:nvSpPr>
          <p:cNvPr id="19" name="Pane attached 1"/>
          <p:cNvSpPr txBox="1"/>
          <p:nvPr/>
        </p:nvSpPr>
        <p:spPr>
          <a:xfrm>
            <a:off x="3154680" y="2423160"/>
            <a:ext cx="1143000" cy="347472"/>
          </a:xfrm>
          <a:prstGeom prst="rect">
            <a:avLst/>
          </a:prstGeom>
          <a:noFill/>
        </p:spPr>
        <p:txBody>
          <a:bodyPr wrap="square" lIns="0" rIns="0" tIns="0" bIns="0" anchor="ctr">
            <a:noAutofit/>
          </a:bodyPr>
          <a:lstStyle/>
          <a:p>
            <a:pPr algn="l">
              <a:spcAft>
                <a:spcPts val="400"/>
              </a:spcAft>
            </a:pPr>
            <a:r>
              <a:rPr sz="1050" b="0" lang="en-GB">
                <a:solidFill>
                  <a:schemeClr val="accent1"/>
                </a:solidFill>
              </a:rPr>
              <a:t/>
            </a:r>
          </a:p>
        </p:txBody>
      </p:sp>
      <p:sp>
        <p:nvSpPr>
          <p:cNvPr id="20" name="Pane row 2"/>
          <p:cNvSpPr/>
          <p:nvPr/>
        </p:nvSpPr>
        <p:spPr>
          <a:xfrm>
            <a:off x="594360" y="2834640"/>
            <a:ext cx="37490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ne name 2"/>
          <p:cNvSpPr txBox="1"/>
          <p:nvPr/>
        </p:nvSpPr>
        <p:spPr>
          <a:xfrm>
            <a:off x="713232" y="2834640"/>
            <a:ext cx="1737360" cy="347472"/>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pandas</a:t>
            </a:r>
          </a:p>
        </p:txBody>
      </p:sp>
      <p:sp>
        <p:nvSpPr>
          <p:cNvPr id="22" name="Pane version 2"/>
          <p:cNvSpPr txBox="1"/>
          <p:nvPr/>
        </p:nvSpPr>
        <p:spPr>
          <a:xfrm>
            <a:off x="2331720" y="2834640"/>
            <a:ext cx="822960" cy="347472"/>
          </a:xfrm>
          <a:prstGeom prst="rect">
            <a:avLst/>
          </a:prstGeom>
          <a:noFill/>
        </p:spPr>
        <p:txBody>
          <a:bodyPr wrap="square" lIns="0" rIns="0" tIns="0" bIns="0" anchor="ctr">
            <a:noAutofit/>
          </a:bodyPr>
          <a:lstStyle/>
          <a:p>
            <a:pPr algn="l">
              <a:spcAft>
                <a:spcPts val="400"/>
              </a:spcAft>
            </a:pPr>
            <a:r>
              <a:rPr sz="1100" b="0" lang="en-GB">
                <a:solidFill>
                  <a:schemeClr val="tx1"/>
                </a:solidFill>
                <a:latin typeface="Consolas"/>
              </a:rPr>
              <a:t>3.0.6</a:t>
            </a:r>
          </a:p>
        </p:txBody>
      </p:sp>
      <p:sp>
        <p:nvSpPr>
          <p:cNvPr id="23" name="Pane attached 2"/>
          <p:cNvSpPr txBox="1"/>
          <p:nvPr/>
        </p:nvSpPr>
        <p:spPr>
          <a:xfrm>
            <a:off x="3154680" y="2834640"/>
            <a:ext cx="1143000" cy="347472"/>
          </a:xfrm>
          <a:prstGeom prst="rect">
            <a:avLst/>
          </a:prstGeom>
          <a:noFill/>
        </p:spPr>
        <p:txBody>
          <a:bodyPr wrap="square" lIns="0" rIns="0" tIns="0" bIns="0" anchor="ctr">
            <a:noAutofit/>
          </a:bodyPr>
          <a:lstStyle/>
          <a:p>
            <a:pPr algn="l">
              <a:spcAft>
                <a:spcPts val="400"/>
              </a:spcAft>
            </a:pPr>
            <a:r>
              <a:rPr sz="1050" b="0" lang="en-GB">
                <a:solidFill>
                  <a:schemeClr val="accent1"/>
                </a:solidFill>
              </a:rPr>
              <a:t>● attached</a:t>
            </a:r>
          </a:p>
        </p:txBody>
      </p:sp>
      <p:sp>
        <p:nvSpPr>
          <p:cNvPr id="24" name="Pane row 3"/>
          <p:cNvSpPr/>
          <p:nvPr/>
        </p:nvSpPr>
        <p:spPr>
          <a:xfrm>
            <a:off x="594360" y="3246120"/>
            <a:ext cx="37490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ane name 3"/>
          <p:cNvSpPr txBox="1"/>
          <p:nvPr/>
        </p:nvSpPr>
        <p:spPr>
          <a:xfrm>
            <a:off x="713232" y="3246120"/>
            <a:ext cx="1737360" cy="347472"/>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plotnine</a:t>
            </a:r>
          </a:p>
        </p:txBody>
      </p:sp>
      <p:sp>
        <p:nvSpPr>
          <p:cNvPr id="26" name="Pane version 3"/>
          <p:cNvSpPr txBox="1"/>
          <p:nvPr/>
        </p:nvSpPr>
        <p:spPr>
          <a:xfrm>
            <a:off x="2331720" y="3246120"/>
            <a:ext cx="822960" cy="347472"/>
          </a:xfrm>
          <a:prstGeom prst="rect">
            <a:avLst/>
          </a:prstGeom>
          <a:noFill/>
        </p:spPr>
        <p:txBody>
          <a:bodyPr wrap="square" lIns="0" rIns="0" tIns="0" bIns="0" anchor="ctr">
            <a:noAutofit/>
          </a:bodyPr>
          <a:lstStyle/>
          <a:p>
            <a:pPr algn="l">
              <a:spcAft>
                <a:spcPts val="400"/>
              </a:spcAft>
            </a:pPr>
            <a:r>
              <a:rPr sz="1100" b="0" lang="en-GB">
                <a:solidFill>
                  <a:schemeClr val="tx1"/>
                </a:solidFill>
                <a:latin typeface="Consolas"/>
              </a:rPr>
              <a:t>0.15.8</a:t>
            </a:r>
          </a:p>
        </p:txBody>
      </p:sp>
      <p:sp>
        <p:nvSpPr>
          <p:cNvPr id="27" name="Pane attached 3"/>
          <p:cNvSpPr txBox="1"/>
          <p:nvPr/>
        </p:nvSpPr>
        <p:spPr>
          <a:xfrm>
            <a:off x="3154680" y="3246120"/>
            <a:ext cx="1143000" cy="347472"/>
          </a:xfrm>
          <a:prstGeom prst="rect">
            <a:avLst/>
          </a:prstGeom>
          <a:noFill/>
        </p:spPr>
        <p:txBody>
          <a:bodyPr wrap="square" lIns="0" rIns="0" tIns="0" bIns="0" anchor="ctr">
            <a:noAutofit/>
          </a:bodyPr>
          <a:lstStyle/>
          <a:p>
            <a:pPr algn="l">
              <a:spcAft>
                <a:spcPts val="400"/>
              </a:spcAft>
            </a:pPr>
            <a:r>
              <a:rPr sz="1050" b="0" lang="en-GB">
                <a:solidFill>
                  <a:schemeClr val="accent1"/>
                </a:solidFill>
              </a:rPr>
              <a:t/>
            </a:r>
          </a:p>
        </p:txBody>
      </p:sp>
      <p:sp>
        <p:nvSpPr>
          <p:cNvPr id="28" name="Pane row 4"/>
          <p:cNvSpPr/>
          <p:nvPr/>
        </p:nvSpPr>
        <p:spPr>
          <a:xfrm>
            <a:off x="594360" y="3657600"/>
            <a:ext cx="37490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ne name 4"/>
          <p:cNvSpPr txBox="1"/>
          <p:nvPr/>
        </p:nvSpPr>
        <p:spPr>
          <a:xfrm>
            <a:off x="713232" y="3657600"/>
            <a:ext cx="1737360" cy="347472"/>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polars</a:t>
            </a:r>
          </a:p>
        </p:txBody>
      </p:sp>
      <p:sp>
        <p:nvSpPr>
          <p:cNvPr id="30" name="Pane version 4"/>
          <p:cNvSpPr txBox="1"/>
          <p:nvPr/>
        </p:nvSpPr>
        <p:spPr>
          <a:xfrm>
            <a:off x="2331720" y="3657600"/>
            <a:ext cx="822960" cy="347472"/>
          </a:xfrm>
          <a:prstGeom prst="rect">
            <a:avLst/>
          </a:prstGeom>
          <a:noFill/>
        </p:spPr>
        <p:txBody>
          <a:bodyPr wrap="square" lIns="0" rIns="0" tIns="0" bIns="0" anchor="ctr">
            <a:noAutofit/>
          </a:bodyPr>
          <a:lstStyle/>
          <a:p>
            <a:pPr algn="l">
              <a:spcAft>
                <a:spcPts val="400"/>
              </a:spcAft>
            </a:pPr>
            <a:r>
              <a:rPr sz="1100" b="0" lang="en-GB">
                <a:solidFill>
                  <a:schemeClr val="tx1"/>
                </a:solidFill>
                <a:latin typeface="Consolas"/>
              </a:rPr>
              <a:t>1.44.2</a:t>
            </a:r>
          </a:p>
        </p:txBody>
      </p:sp>
      <p:sp>
        <p:nvSpPr>
          <p:cNvPr id="31" name="Pane attached 4"/>
          <p:cNvSpPr txBox="1"/>
          <p:nvPr/>
        </p:nvSpPr>
        <p:spPr>
          <a:xfrm>
            <a:off x="3154680" y="3657600"/>
            <a:ext cx="1143000" cy="347472"/>
          </a:xfrm>
          <a:prstGeom prst="rect">
            <a:avLst/>
          </a:prstGeom>
          <a:noFill/>
        </p:spPr>
        <p:txBody>
          <a:bodyPr wrap="square" lIns="0" rIns="0" tIns="0" bIns="0" anchor="ctr">
            <a:noAutofit/>
          </a:bodyPr>
          <a:lstStyle/>
          <a:p>
            <a:pPr algn="l">
              <a:spcAft>
                <a:spcPts val="400"/>
              </a:spcAft>
            </a:pPr>
            <a:r>
              <a:rPr sz="1050" b="0" lang="en-GB">
                <a:solidFill>
                  <a:schemeClr val="accent1"/>
                </a:solidFill>
              </a:rPr>
              <a:t>● attached</a:t>
            </a:r>
          </a:p>
        </p:txBody>
      </p:sp>
      <p:sp>
        <p:nvSpPr>
          <p:cNvPr id="32" name="Pane row 5"/>
          <p:cNvSpPr/>
          <p:nvPr/>
        </p:nvSpPr>
        <p:spPr>
          <a:xfrm>
            <a:off x="594360" y="4069080"/>
            <a:ext cx="37490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ne name 5"/>
          <p:cNvSpPr txBox="1"/>
          <p:nvPr/>
        </p:nvSpPr>
        <p:spPr>
          <a:xfrm>
            <a:off x="713232" y="4069080"/>
            <a:ext cx="1737360" cy="347472"/>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statsmodels</a:t>
            </a:r>
          </a:p>
        </p:txBody>
      </p:sp>
      <p:sp>
        <p:nvSpPr>
          <p:cNvPr id="34" name="Pane version 5"/>
          <p:cNvSpPr txBox="1"/>
          <p:nvPr/>
        </p:nvSpPr>
        <p:spPr>
          <a:xfrm>
            <a:off x="2331720" y="4069080"/>
            <a:ext cx="822960" cy="347472"/>
          </a:xfrm>
          <a:prstGeom prst="rect">
            <a:avLst/>
          </a:prstGeom>
          <a:noFill/>
        </p:spPr>
        <p:txBody>
          <a:bodyPr wrap="square" lIns="0" rIns="0" tIns="0" bIns="0" anchor="ctr">
            <a:noAutofit/>
          </a:bodyPr>
          <a:lstStyle/>
          <a:p>
            <a:pPr algn="l">
              <a:spcAft>
                <a:spcPts val="400"/>
              </a:spcAft>
            </a:pPr>
            <a:r>
              <a:rPr sz="1100" b="0" lang="en-GB">
                <a:solidFill>
                  <a:schemeClr val="tx1"/>
                </a:solidFill>
                <a:latin typeface="Consolas"/>
              </a:rPr>
              <a:t>0.15.0</a:t>
            </a:r>
          </a:p>
        </p:txBody>
      </p:sp>
      <p:sp>
        <p:nvSpPr>
          <p:cNvPr id="35" name="Pane attached 5"/>
          <p:cNvSpPr txBox="1"/>
          <p:nvPr/>
        </p:nvSpPr>
        <p:spPr>
          <a:xfrm>
            <a:off x="3154680" y="4069080"/>
            <a:ext cx="1143000" cy="347472"/>
          </a:xfrm>
          <a:prstGeom prst="rect">
            <a:avLst/>
          </a:prstGeom>
          <a:noFill/>
        </p:spPr>
        <p:txBody>
          <a:bodyPr wrap="square" lIns="0" rIns="0" tIns="0" bIns="0" anchor="ctr">
            <a:noAutofit/>
          </a:bodyPr>
          <a:lstStyle/>
          <a:p>
            <a:pPr algn="l">
              <a:spcAft>
                <a:spcPts val="400"/>
              </a:spcAft>
            </a:pPr>
            <a:r>
              <a:rPr sz="1050" b="0" lang="en-GB">
                <a:solidFill>
                  <a:schemeClr val="accent1"/>
                </a:solidFill>
              </a:rPr>
              <a:t>● attached</a:t>
            </a:r>
          </a:p>
        </p:txBody>
      </p:sp>
      <p:sp>
        <p:nvSpPr>
          <p:cNvPr id="36" name="Pane row 6"/>
          <p:cNvSpPr/>
          <p:nvPr/>
        </p:nvSpPr>
        <p:spPr>
          <a:xfrm>
            <a:off x="594360" y="4480560"/>
            <a:ext cx="37490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Pane name 6"/>
          <p:cNvSpPr txBox="1"/>
          <p:nvPr/>
        </p:nvSpPr>
        <p:spPr>
          <a:xfrm>
            <a:off x="713232" y="4480560"/>
            <a:ext cx="1737360" cy="347472"/>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a:t>
            </a:r>
          </a:p>
        </p:txBody>
      </p:sp>
      <p:sp>
        <p:nvSpPr>
          <p:cNvPr id="38" name="Pane version 6"/>
          <p:cNvSpPr txBox="1"/>
          <p:nvPr/>
        </p:nvSpPr>
        <p:spPr>
          <a:xfrm>
            <a:off x="2331720" y="4480560"/>
            <a:ext cx="822960" cy="347472"/>
          </a:xfrm>
          <a:prstGeom prst="rect">
            <a:avLst/>
          </a:prstGeom>
          <a:noFill/>
        </p:spPr>
        <p:txBody>
          <a:bodyPr wrap="square" lIns="0" rIns="0" tIns="0" bIns="0" anchor="ctr">
            <a:noAutofit/>
          </a:bodyPr>
          <a:lstStyle/>
          <a:p>
            <a:pPr algn="l">
              <a:spcAft>
                <a:spcPts val="400"/>
              </a:spcAft>
            </a:pPr>
            <a:r>
              <a:rPr sz="1100" b="0" lang="en-GB">
                <a:solidFill>
                  <a:schemeClr val="tx1"/>
                </a:solidFill>
                <a:latin typeface="Consolas"/>
              </a:rPr>
              <a:t/>
            </a:r>
          </a:p>
        </p:txBody>
      </p:sp>
      <p:sp>
        <p:nvSpPr>
          <p:cNvPr id="39" name="Pane attached 6"/>
          <p:cNvSpPr txBox="1"/>
          <p:nvPr/>
        </p:nvSpPr>
        <p:spPr>
          <a:xfrm>
            <a:off x="3154680" y="4480560"/>
            <a:ext cx="1143000" cy="347472"/>
          </a:xfrm>
          <a:prstGeom prst="rect">
            <a:avLst/>
          </a:prstGeom>
          <a:noFill/>
        </p:spPr>
        <p:txBody>
          <a:bodyPr wrap="square" lIns="0" rIns="0" tIns="0" bIns="0" anchor="ctr">
            <a:noAutofit/>
          </a:bodyPr>
          <a:lstStyle/>
          <a:p>
            <a:pPr algn="l">
              <a:spcAft>
                <a:spcPts val="400"/>
              </a:spcAft>
            </a:pPr>
            <a:r>
              <a:rPr sz="1050" b="0" lang="en-GB">
                <a:solidFill>
                  <a:schemeClr val="accent1"/>
                </a:solidFill>
              </a:rPr>
              <a:t/>
            </a:r>
          </a:p>
        </p:txBody>
      </p:sp>
      <p:sp>
        <p:nvSpPr>
          <p:cNvPr id="40" name="Pane card body"/>
          <p:cNvSpPr/>
          <p:nvPr/>
        </p:nvSpPr>
        <p:spPr>
          <a:xfrm>
            <a:off x="4617720" y="2377440"/>
            <a:ext cx="4069080"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Pane card header"/>
          <p:cNvSpPr/>
          <p:nvPr/>
        </p:nvSpPr>
        <p:spPr>
          <a:xfrm>
            <a:off x="4617720" y="1965960"/>
            <a:ext cx="40690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Pane card heading"/>
          <p:cNvSpPr txBox="1"/>
          <p:nvPr/>
        </p:nvSpPr>
        <p:spPr>
          <a:xfrm>
            <a:off x="4754880" y="1965960"/>
            <a:ext cx="33832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else it does</a:t>
            </a:r>
          </a:p>
        </p:txBody>
      </p:sp>
      <p:pic>
        <p:nvPicPr>
          <p:cNvPr id="43" name="Icon Pane card" descr=""/>
          <p:cNvPicPr>
            <a:picLocks noChangeAspect="1"/>
          </p:cNvPicPr>
          <p:nvPr/>
        </p:nvPicPr>
        <p:blipFill>
          <a:blip r:embed="rId3"/>
          <a:stretch>
            <a:fillRect/>
          </a:stretch>
        </p:blipFill>
        <p:spPr>
          <a:xfrm>
            <a:off x="8247888" y="2016252"/>
            <a:ext cx="310896" cy="310896"/>
          </a:xfrm>
          <a:prstGeom prst="rect">
            <a:avLst/>
          </a:prstGeom>
        </p:spPr>
      </p:pic>
      <p:sp>
        <p:nvSpPr>
          <p:cNvPr id="44" name="Pane card text"/>
          <p:cNvSpPr txBox="1"/>
          <p:nvPr/>
        </p:nvSpPr>
        <p:spPr>
          <a:xfrm>
            <a:off x="4782312" y="2514600"/>
            <a:ext cx="3767328" cy="2423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Shows which packages are loaded (attached)</a:t>
            </a:r>
          </a:p>
          <a:p>
            <a:pPr algn="l" marL="182880" indent="-182880">
              <a:spcAft>
                <a:spcPts val="600"/>
              </a:spcAft>
              <a:buClr>
                <a:schemeClr val="accent1"/>
              </a:buClr>
              <a:buFont typeface="Arial"/>
              <a:buChar char="▪"/>
            </a:pPr>
            <a:r>
              <a:rPr sz="1300" b="0" lang="en-GB">
                <a:solidFill>
                  <a:schemeClr val="tx1"/>
                </a:solidFill>
              </a:rPr>
              <a:t>Update one, or Update All Packages</a:t>
            </a:r>
          </a:p>
          <a:p>
            <a:pPr algn="l" marL="182880" indent="-182880">
              <a:spcAft>
                <a:spcPts val="600"/>
              </a:spcAft>
              <a:buClr>
                <a:schemeClr val="accent1"/>
              </a:buClr>
              <a:buFont typeface="Arial"/>
              <a:buChar char="▪"/>
            </a:pPr>
            <a:r>
              <a:rPr sz="1300" b="0" lang="en-GB">
                <a:solidFill>
                  <a:schemeClr val="tx1"/>
                </a:solidFill>
              </a:rPr>
              <a:t>Flags known security issues</a:t>
            </a:r>
          </a:p>
          <a:p>
            <a:pPr algn="l" marL="182880" indent="-182880">
              <a:spcAft>
                <a:spcPts val="600"/>
              </a:spcAft>
              <a:buClr>
                <a:schemeClr val="accent1"/>
              </a:buClr>
              <a:buFont typeface="Arial"/>
              <a:buChar char="▪"/>
            </a:pPr>
            <a:r>
              <a:rPr sz="1300" b="0" lang="en-GB">
                <a:solidFill>
                  <a:schemeClr val="tx1"/>
                </a:solidFill>
              </a:rPr>
              <a:t>Keeps versions in line with requirements.txt</a:t>
            </a:r>
          </a:p>
          <a:p>
            <a:pPr algn="l" marL="182880" indent="-182880">
              <a:spcAft>
                <a:spcPts val="600"/>
              </a:spcAft>
              <a:buClr>
                <a:schemeClr val="accent1"/>
              </a:buClr>
              <a:buFont typeface="Arial"/>
              <a:buChar char="▪"/>
            </a:pPr>
            <a:r>
              <a:rPr sz="1300" b="0" lang="en-GB">
                <a:solidFill>
                  <a:schemeClr val="tx1"/>
                </a:solidFill>
              </a:rPr>
              <a:t>Offers to install a missing package after an error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Load packages: import at the top of every file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ackage steps step 1"/>
          <p:cNvSpPr/>
          <p:nvPr/>
        </p:nvSpPr>
        <p:spPr>
          <a:xfrm>
            <a:off x="457200" y="1234440"/>
            <a:ext cx="281635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Install once</a:t>
            </a:r>
            <a:br/>
            <a:r>
              <a:rPr sz="1200" b="1" lang="en-GB">
                <a:solidFill>
                  <a:schemeClr val="tx2"/>
                </a:solidFill>
              </a:rPr>
              <a:t>per laptop</a:t>
            </a:r>
          </a:p>
        </p:txBody>
      </p:sp>
      <p:sp>
        <p:nvSpPr>
          <p:cNvPr id="11" name="Package steps step 2"/>
          <p:cNvSpPr/>
          <p:nvPr/>
        </p:nvSpPr>
        <p:spPr>
          <a:xfrm>
            <a:off x="3163824" y="1234440"/>
            <a:ext cx="281635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Import in every</a:t>
            </a:r>
            <a:br/>
            <a:r>
              <a:rPr sz="1200" b="1" lang="en-GB">
                <a:solidFill>
                  <a:schemeClr val="tx2"/>
                </a:solidFill>
              </a:rPr>
              <a:t>file and session</a:t>
            </a:r>
          </a:p>
        </p:txBody>
      </p:sp>
      <p:sp>
        <p:nvSpPr>
          <p:cNvPr id="12" name="Package steps step 3"/>
          <p:cNvSpPr/>
          <p:nvPr/>
        </p:nvSpPr>
        <p:spPr>
          <a:xfrm>
            <a:off x="5870448" y="1234440"/>
            <a:ext cx="281635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Use the short</a:t>
            </a:r>
            <a:br/>
            <a:r>
              <a:rPr sz="1200" b="1" lang="en-GB">
                <a:solidFill>
                  <a:schemeClr val="tx2"/>
                </a:solidFill>
              </a:rPr>
              <a:t>name: pl.read_csv()</a:t>
            </a:r>
          </a:p>
        </p:txBody>
      </p:sp>
      <p:sp>
        <p:nvSpPr>
          <p:cNvPr id="13" name="Import code caption bar"/>
          <p:cNvSpPr/>
          <p:nvPr/>
        </p:nvSpPr>
        <p:spPr>
          <a:xfrm>
            <a:off x="457200" y="1965960"/>
            <a:ext cx="48463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mport code caption"/>
          <p:cNvSpPr txBox="1"/>
          <p:nvPr/>
        </p:nvSpPr>
        <p:spPr>
          <a:xfrm>
            <a:off x="566928" y="1965960"/>
            <a:ext cx="46268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Windows and macOS: the same code</a:t>
            </a:r>
          </a:p>
        </p:txBody>
      </p:sp>
      <p:sp>
        <p:nvSpPr>
          <p:cNvPr id="15" name="Import code box"/>
          <p:cNvSpPr/>
          <p:nvPr/>
        </p:nvSpPr>
        <p:spPr>
          <a:xfrm>
            <a:off x="457200" y="2240280"/>
            <a:ext cx="484632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mport code code"/>
          <p:cNvSpPr txBox="1"/>
          <p:nvPr/>
        </p:nvSpPr>
        <p:spPr>
          <a:xfrm>
            <a:off x="594360" y="2331720"/>
            <a:ext cx="4572000" cy="141732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import polars as pl</a:t>
            </a:r>
          </a:p>
          <a:p>
            <a:pPr algn="l">
              <a:spcAft>
                <a:spcPts val="0"/>
              </a:spcAft>
            </a:pPr>
            <a:r>
              <a:rPr sz="1100" b="0" lang="en-GB">
                <a:solidFill>
                  <a:schemeClr val="bg1"/>
                </a:solidFill>
                <a:latin typeface="Consolas"/>
              </a:rPr>
              <a:t>import statsmodels.formula.api as smf</a:t>
            </a:r>
          </a:p>
          <a:p>
            <a:pPr algn="l">
              <a:spcAft>
                <a:spcPts val="0"/>
              </a:spcAft>
            </a:pPr>
            <a:r>
              <a:rPr sz="1100" b="0" lang="en-GB">
                <a:solidFill>
                  <a:schemeClr val="bg1"/>
                </a:solidFill>
                <a:latin typeface="Consolas"/>
              </a:rPr>
              <a:t>from plotnine import ggplot, aes, geom_line</a:t>
            </a:r>
          </a:p>
          <a:p>
            <a:pPr algn="l">
              <a:spcAft>
                <a:spcPts val="0"/>
              </a:spcAft>
            </a:pPr>
            <a:r>
              <a:rPr sz="1100" b="0" lang="en-GB">
                <a:solidFill>
                  <a:schemeClr val="bg1"/>
                </a:solidFill>
                <a:latin typeface="Consolas"/>
              </a:rPr>
              <a:t>from great_tables import GT</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print(pl.__version__)    # 1.44.2</a:t>
            </a:r>
          </a:p>
        </p:txBody>
      </p:sp>
      <p:sp>
        <p:nvSpPr>
          <p:cNvPr id="17" name="Conventions card body"/>
          <p:cNvSpPr/>
          <p:nvPr/>
        </p:nvSpPr>
        <p:spPr>
          <a:xfrm>
            <a:off x="5486400" y="2377440"/>
            <a:ext cx="320040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nventions card header"/>
          <p:cNvSpPr/>
          <p:nvPr/>
        </p:nvSpPr>
        <p:spPr>
          <a:xfrm>
            <a:off x="5486400" y="1965960"/>
            <a:ext cx="32004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nventions card heading"/>
          <p:cNvSpPr txBox="1"/>
          <p:nvPr/>
        </p:nvSpPr>
        <p:spPr>
          <a:xfrm>
            <a:off x="5623560" y="1965960"/>
            <a:ext cx="25146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Conventions</a:t>
            </a:r>
          </a:p>
        </p:txBody>
      </p:sp>
      <p:pic>
        <p:nvPicPr>
          <p:cNvPr id="20" name="Icon Conventions card" descr=""/>
          <p:cNvPicPr>
            <a:picLocks noChangeAspect="1"/>
          </p:cNvPicPr>
          <p:nvPr/>
        </p:nvPicPr>
        <p:blipFill>
          <a:blip r:embed="rId3"/>
          <a:stretch>
            <a:fillRect/>
          </a:stretch>
        </p:blipFill>
        <p:spPr>
          <a:xfrm>
            <a:off x="8247888" y="2016252"/>
            <a:ext cx="310896" cy="310896"/>
          </a:xfrm>
          <a:prstGeom prst="rect">
            <a:avLst/>
          </a:prstGeom>
        </p:spPr>
      </p:pic>
      <p:sp>
        <p:nvSpPr>
          <p:cNvPr id="21" name="Conventions card text"/>
          <p:cNvSpPr txBox="1"/>
          <p:nvPr/>
        </p:nvSpPr>
        <p:spPr>
          <a:xfrm>
            <a:off x="5650992" y="2514600"/>
            <a:ext cx="2898648" cy="1188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pl and smf are the usual short names</a:t>
            </a:r>
          </a:p>
          <a:p>
            <a:pPr algn="l" marL="182880" indent="-182880">
              <a:spcAft>
                <a:spcPts val="600"/>
              </a:spcAft>
              <a:buClr>
                <a:schemeClr val="accent1"/>
              </a:buClr>
              <a:buFont typeface="Arial"/>
              <a:buChar char="▪"/>
            </a:pPr>
            <a:r>
              <a:rPr sz="1300" b="0" lang="en-GB">
                <a:solidFill>
                  <a:schemeClr val="tx1"/>
                </a:solidFill>
              </a:rPr>
              <a:t>Imports go at the top</a:t>
            </a:r>
          </a:p>
          <a:p>
            <a:pPr algn="l" marL="182880" indent="-182880">
              <a:spcAft>
                <a:spcPts val="600"/>
              </a:spcAft>
              <a:buClr>
                <a:schemeClr val="accent1"/>
              </a:buClr>
              <a:buFont typeface="Arial"/>
              <a:buChar char="▪"/>
            </a:pPr>
            <a:r>
              <a:rPr sz="1300" b="0" lang="en-GB">
                <a:solidFill>
                  <a:schemeClr val="tx1"/>
                </a:solidFill>
              </a:rPr>
              <a:t>Import only what you use</a:t>
            </a:r>
          </a:p>
        </p:txBody>
      </p:sp>
      <p:sp>
        <p:nvSpPr>
          <p:cNvPr id="22" name="Error box"/>
          <p:cNvSpPr/>
          <p:nvPr/>
        </p:nvSpPr>
        <p:spPr>
          <a:xfrm>
            <a:off x="457200" y="3977640"/>
            <a:ext cx="8229600" cy="10972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Error" descr=""/>
          <p:cNvPicPr>
            <a:picLocks noChangeAspect="1"/>
          </p:cNvPicPr>
          <p:nvPr/>
        </p:nvPicPr>
        <p:blipFill>
          <a:blip r:embed="rId4"/>
          <a:stretch>
            <a:fillRect/>
          </a:stretch>
        </p:blipFill>
        <p:spPr>
          <a:xfrm>
            <a:off x="658368" y="4334256"/>
            <a:ext cx="384048" cy="384048"/>
          </a:xfrm>
          <a:prstGeom prst="rect">
            <a:avLst/>
          </a:prstGeom>
        </p:spPr>
      </p:pic>
      <p:sp>
        <p:nvSpPr>
          <p:cNvPr id="24" name="Error text"/>
          <p:cNvSpPr txBox="1"/>
          <p:nvPr/>
        </p:nvSpPr>
        <p:spPr>
          <a:xfrm>
            <a:off x="1234440" y="3977640"/>
            <a:ext cx="7269480" cy="1097280"/>
          </a:xfrm>
          <a:prstGeom prst="rect">
            <a:avLst/>
          </a:prstGeom>
          <a:noFill/>
        </p:spPr>
        <p:txBody>
          <a:bodyPr wrap="square" lIns="0" rIns="0" tIns="0" bIns="0" anchor="ctr">
            <a:noAutofit/>
          </a:bodyPr>
          <a:lstStyle/>
          <a:p>
            <a:pPr algn="l">
              <a:spcAft>
                <a:spcPts val="400"/>
              </a:spcAft>
            </a:pPr>
            <a:r>
              <a:rPr sz="1300" b="1" lang="en-GB">
                <a:solidFill>
                  <a:schemeClr val="bg1"/>
                </a:solidFill>
              </a:rPr>
              <a:t>ModuleNotFoundError? </a:t>
            </a:r>
            <a:r>
              <a:rPr sz="1300" b="0" lang="en-GB">
                <a:solidFill>
                  <a:schemeClr val="bg1"/>
                </a:solidFill>
              </a:rPr>
              <a:t>Either the wrong interpreter is selected (pick the one in .venv) or the package is missing: %pip install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toolkit, from data to report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Kit card 1 body"/>
          <p:cNvSpPr/>
          <p:nvPr/>
        </p:nvSpPr>
        <p:spPr>
          <a:xfrm>
            <a:off x="457200" y="1691640"/>
            <a:ext cx="195453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Kit card 1 header"/>
          <p:cNvSpPr/>
          <p:nvPr/>
        </p:nvSpPr>
        <p:spPr>
          <a:xfrm>
            <a:off x="457200" y="1234440"/>
            <a:ext cx="195453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Kit card 1 heading"/>
          <p:cNvSpPr txBox="1"/>
          <p:nvPr/>
        </p:nvSpPr>
        <p:spPr>
          <a:xfrm>
            <a:off x="594360" y="1234440"/>
            <a:ext cx="126873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1  Wrangle</a:t>
            </a:r>
          </a:p>
        </p:txBody>
      </p:sp>
      <p:pic>
        <p:nvPicPr>
          <p:cNvPr id="13" name="Icon Kit card 1" descr=""/>
          <p:cNvPicPr>
            <a:picLocks noChangeAspect="1"/>
          </p:cNvPicPr>
          <p:nvPr/>
        </p:nvPicPr>
        <p:blipFill>
          <a:blip r:embed="rId3"/>
          <a:stretch>
            <a:fillRect/>
          </a:stretch>
        </p:blipFill>
        <p:spPr>
          <a:xfrm>
            <a:off x="1972818" y="1307592"/>
            <a:ext cx="310896" cy="310896"/>
          </a:xfrm>
          <a:prstGeom prst="rect">
            <a:avLst/>
          </a:prstGeom>
        </p:spPr>
      </p:pic>
      <p:sp>
        <p:nvSpPr>
          <p:cNvPr id="14" name="Kit card 1 text"/>
          <p:cNvSpPr txBox="1"/>
          <p:nvPr/>
        </p:nvSpPr>
        <p:spPr>
          <a:xfrm>
            <a:off x="621792" y="1828800"/>
            <a:ext cx="1652778" cy="1051560"/>
          </a:xfrm>
          <a:prstGeom prst="rect">
            <a:avLst/>
          </a:prstGeom>
          <a:noFill/>
        </p:spPr>
        <p:txBody>
          <a:bodyPr wrap="square" lIns="0" rIns="0" tIns="0" bIns="0" anchor="t">
            <a:noAutofit/>
          </a:bodyPr>
          <a:lstStyle/>
          <a:p>
            <a:pPr algn="l">
              <a:spcAft>
                <a:spcPts val="600"/>
              </a:spcAft>
            </a:pPr>
            <a:r>
              <a:rPr sz="1300" b="1" lang="en-GB">
                <a:solidFill>
                  <a:schemeClr val="tx2"/>
                </a:solidFill>
                <a:latin typeface="Consolas"/>
              </a:rPr>
              <a:t>polars </a:t>
            </a:r>
            <a:r>
              <a:rPr sz="1300" b="0" lang="en-GB">
                <a:solidFill>
                  <a:schemeClr val="tx1"/>
                </a:solidFill>
              </a:rPr>
              <a:t>fast tables</a:t>
            </a:r>
          </a:p>
          <a:p>
            <a:pPr algn="l">
              <a:spcAft>
                <a:spcPts val="600"/>
              </a:spcAft>
            </a:pPr>
            <a:r>
              <a:rPr sz="1300" b="1" lang="en-GB">
                <a:solidFill>
                  <a:schemeClr val="tx2"/>
                </a:solidFill>
                <a:latin typeface="Consolas"/>
              </a:rPr>
              <a:t>pandas </a:t>
            </a:r>
            <a:r>
              <a:rPr sz="1300" b="0" lang="en-GB">
                <a:solidFill>
                  <a:schemeClr val="tx1"/>
                </a:solidFill>
              </a:rPr>
              <a:t>for model packages</a:t>
            </a:r>
          </a:p>
        </p:txBody>
      </p:sp>
      <p:sp>
        <p:nvSpPr>
          <p:cNvPr id="15" name="Kit arrow 1"/>
          <p:cNvSpPr/>
          <p:nvPr/>
        </p:nvSpPr>
        <p:spPr>
          <a:xfrm>
            <a:off x="2393442" y="2011680"/>
            <a:ext cx="173736" cy="27432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Kit card 2 body"/>
          <p:cNvSpPr/>
          <p:nvPr/>
        </p:nvSpPr>
        <p:spPr>
          <a:xfrm>
            <a:off x="2548890" y="1691640"/>
            <a:ext cx="195453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Kit card 2 header"/>
          <p:cNvSpPr/>
          <p:nvPr/>
        </p:nvSpPr>
        <p:spPr>
          <a:xfrm>
            <a:off x="2548890" y="1234440"/>
            <a:ext cx="195453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Kit card 2 heading"/>
          <p:cNvSpPr txBox="1"/>
          <p:nvPr/>
        </p:nvSpPr>
        <p:spPr>
          <a:xfrm>
            <a:off x="2686050" y="1234440"/>
            <a:ext cx="126873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2  Visualise</a:t>
            </a:r>
          </a:p>
        </p:txBody>
      </p:sp>
      <p:pic>
        <p:nvPicPr>
          <p:cNvPr id="19" name="Icon Kit card 2" descr=""/>
          <p:cNvPicPr>
            <a:picLocks noChangeAspect="1"/>
          </p:cNvPicPr>
          <p:nvPr/>
        </p:nvPicPr>
        <p:blipFill>
          <a:blip r:embed="rId4"/>
          <a:stretch>
            <a:fillRect/>
          </a:stretch>
        </p:blipFill>
        <p:spPr>
          <a:xfrm>
            <a:off x="4064508" y="1307592"/>
            <a:ext cx="310896" cy="310896"/>
          </a:xfrm>
          <a:prstGeom prst="rect">
            <a:avLst/>
          </a:prstGeom>
        </p:spPr>
      </p:pic>
      <p:sp>
        <p:nvSpPr>
          <p:cNvPr id="20" name="Kit card 2 text"/>
          <p:cNvSpPr txBox="1"/>
          <p:nvPr/>
        </p:nvSpPr>
        <p:spPr>
          <a:xfrm>
            <a:off x="2713482" y="1828800"/>
            <a:ext cx="1652778" cy="1051560"/>
          </a:xfrm>
          <a:prstGeom prst="rect">
            <a:avLst/>
          </a:prstGeom>
          <a:noFill/>
        </p:spPr>
        <p:txBody>
          <a:bodyPr wrap="square" lIns="0" rIns="0" tIns="0" bIns="0" anchor="t">
            <a:noAutofit/>
          </a:bodyPr>
          <a:lstStyle/>
          <a:p>
            <a:pPr algn="l">
              <a:spcAft>
                <a:spcPts val="600"/>
              </a:spcAft>
            </a:pPr>
            <a:r>
              <a:rPr sz="1300" b="1" lang="en-GB">
                <a:solidFill>
                  <a:schemeClr val="tx2"/>
                </a:solidFill>
                <a:latin typeface="Consolas"/>
              </a:rPr>
              <a:t>plotnine </a:t>
            </a:r>
            <a:r>
              <a:rPr sz="1300" b="0" lang="en-GB">
                <a:solidFill>
                  <a:schemeClr val="tx1"/>
                </a:solidFill>
              </a:rPr>
              <a:t>charts by grammar</a:t>
            </a:r>
          </a:p>
        </p:txBody>
      </p:sp>
      <p:sp>
        <p:nvSpPr>
          <p:cNvPr id="21" name="Kit arrow 2"/>
          <p:cNvSpPr/>
          <p:nvPr/>
        </p:nvSpPr>
        <p:spPr>
          <a:xfrm>
            <a:off x="4485132" y="2011680"/>
            <a:ext cx="173736" cy="27432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Kit card 3 body"/>
          <p:cNvSpPr/>
          <p:nvPr/>
        </p:nvSpPr>
        <p:spPr>
          <a:xfrm>
            <a:off x="4640580" y="1691640"/>
            <a:ext cx="195453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Kit card 3 header"/>
          <p:cNvSpPr/>
          <p:nvPr/>
        </p:nvSpPr>
        <p:spPr>
          <a:xfrm>
            <a:off x="4640580" y="1234440"/>
            <a:ext cx="195453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Kit card 3 heading"/>
          <p:cNvSpPr txBox="1"/>
          <p:nvPr/>
        </p:nvSpPr>
        <p:spPr>
          <a:xfrm>
            <a:off x="4777740" y="1234440"/>
            <a:ext cx="126873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3  Model</a:t>
            </a:r>
          </a:p>
        </p:txBody>
      </p:sp>
      <p:pic>
        <p:nvPicPr>
          <p:cNvPr id="25" name="Icon Kit card 3" descr=""/>
          <p:cNvPicPr>
            <a:picLocks noChangeAspect="1"/>
          </p:cNvPicPr>
          <p:nvPr/>
        </p:nvPicPr>
        <p:blipFill>
          <a:blip r:embed="rId5"/>
          <a:stretch>
            <a:fillRect/>
          </a:stretch>
        </p:blipFill>
        <p:spPr>
          <a:xfrm>
            <a:off x="6156198" y="1307592"/>
            <a:ext cx="310896" cy="310896"/>
          </a:xfrm>
          <a:prstGeom prst="rect">
            <a:avLst/>
          </a:prstGeom>
        </p:spPr>
      </p:pic>
      <p:sp>
        <p:nvSpPr>
          <p:cNvPr id="26" name="Kit card 3 text"/>
          <p:cNvSpPr txBox="1"/>
          <p:nvPr/>
        </p:nvSpPr>
        <p:spPr>
          <a:xfrm>
            <a:off x="4805172" y="1828800"/>
            <a:ext cx="1652778" cy="1051560"/>
          </a:xfrm>
          <a:prstGeom prst="rect">
            <a:avLst/>
          </a:prstGeom>
          <a:noFill/>
        </p:spPr>
        <p:txBody>
          <a:bodyPr wrap="square" lIns="0" rIns="0" tIns="0" bIns="0" anchor="t">
            <a:noAutofit/>
          </a:bodyPr>
          <a:lstStyle/>
          <a:p>
            <a:pPr algn="l">
              <a:spcAft>
                <a:spcPts val="600"/>
              </a:spcAft>
            </a:pPr>
            <a:r>
              <a:rPr sz="1300" b="1" lang="en-GB">
                <a:solidFill>
                  <a:schemeClr val="tx2"/>
                </a:solidFill>
                <a:latin typeface="Consolas"/>
              </a:rPr>
              <a:t>statsmodels </a:t>
            </a:r>
            <a:r>
              <a:rPr sz="1300" b="0" lang="en-GB">
                <a:solidFill>
                  <a:schemeClr val="tx1"/>
                </a:solidFill>
              </a:rPr>
              <a:t>regression</a:t>
            </a:r>
          </a:p>
          <a:p>
            <a:pPr algn="l">
              <a:spcAft>
                <a:spcPts val="600"/>
              </a:spcAft>
            </a:pPr>
            <a:r>
              <a:rPr sz="1300" b="1" lang="en-GB">
                <a:solidFill>
                  <a:schemeClr val="tx2"/>
                </a:solidFill>
                <a:latin typeface="Consolas"/>
              </a:rPr>
              <a:t>pymc-marketing </a:t>
            </a:r>
            <a:r>
              <a:rPr sz="1300" b="0" lang="en-GB">
                <a:solidFill>
                  <a:schemeClr val="tx1"/>
                </a:solidFill>
              </a:rPr>
              <a:t>Bayesian MMM</a:t>
            </a:r>
          </a:p>
        </p:txBody>
      </p:sp>
      <p:sp>
        <p:nvSpPr>
          <p:cNvPr id="27" name="Kit arrow 3"/>
          <p:cNvSpPr/>
          <p:nvPr/>
        </p:nvSpPr>
        <p:spPr>
          <a:xfrm>
            <a:off x="6576822" y="2011680"/>
            <a:ext cx="173736" cy="27432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Kit card 4 body"/>
          <p:cNvSpPr/>
          <p:nvPr/>
        </p:nvSpPr>
        <p:spPr>
          <a:xfrm>
            <a:off x="6732270" y="1691640"/>
            <a:ext cx="195453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Kit card 4 header"/>
          <p:cNvSpPr/>
          <p:nvPr/>
        </p:nvSpPr>
        <p:spPr>
          <a:xfrm>
            <a:off x="6732270" y="1234440"/>
            <a:ext cx="195453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Kit card 4 heading"/>
          <p:cNvSpPr txBox="1"/>
          <p:nvPr/>
        </p:nvSpPr>
        <p:spPr>
          <a:xfrm>
            <a:off x="6869430" y="1234440"/>
            <a:ext cx="126873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4  Report</a:t>
            </a:r>
          </a:p>
        </p:txBody>
      </p:sp>
      <p:pic>
        <p:nvPicPr>
          <p:cNvPr id="31" name="Icon Kit card 4" descr=""/>
          <p:cNvPicPr>
            <a:picLocks noChangeAspect="1"/>
          </p:cNvPicPr>
          <p:nvPr/>
        </p:nvPicPr>
        <p:blipFill>
          <a:blip r:embed="rId6"/>
          <a:stretch>
            <a:fillRect/>
          </a:stretch>
        </p:blipFill>
        <p:spPr>
          <a:xfrm>
            <a:off x="8247888" y="1307592"/>
            <a:ext cx="310896" cy="310896"/>
          </a:xfrm>
          <a:prstGeom prst="rect">
            <a:avLst/>
          </a:prstGeom>
        </p:spPr>
      </p:pic>
      <p:sp>
        <p:nvSpPr>
          <p:cNvPr id="32" name="Kit card 4 text"/>
          <p:cNvSpPr txBox="1"/>
          <p:nvPr/>
        </p:nvSpPr>
        <p:spPr>
          <a:xfrm>
            <a:off x="6896862" y="1828800"/>
            <a:ext cx="1652778" cy="1051560"/>
          </a:xfrm>
          <a:prstGeom prst="rect">
            <a:avLst/>
          </a:prstGeom>
          <a:noFill/>
        </p:spPr>
        <p:txBody>
          <a:bodyPr wrap="square" lIns="0" rIns="0" tIns="0" bIns="0" anchor="t">
            <a:noAutofit/>
          </a:bodyPr>
          <a:lstStyle/>
          <a:p>
            <a:pPr algn="l">
              <a:spcAft>
                <a:spcPts val="600"/>
              </a:spcAft>
            </a:pPr>
            <a:r>
              <a:rPr sz="1300" b="1" lang="en-GB">
                <a:solidFill>
                  <a:schemeClr val="tx2"/>
                </a:solidFill>
                <a:latin typeface="Consolas"/>
              </a:rPr>
              <a:t>great_tables </a:t>
            </a:r>
            <a:r>
              <a:rPr sz="1300" b="0" lang="en-GB">
                <a:solidFill>
                  <a:schemeClr val="tx1"/>
                </a:solidFill>
              </a:rPr>
              <a:t>tables</a:t>
            </a:r>
          </a:p>
          <a:p>
            <a:pPr algn="l">
              <a:spcAft>
                <a:spcPts val="600"/>
              </a:spcAft>
            </a:pPr>
            <a:r>
              <a:rPr sz="1300" b="1" lang="en-GB">
                <a:solidFill>
                  <a:schemeClr val="tx2"/>
                </a:solidFill>
                <a:latin typeface="Consolas"/>
              </a:rPr>
              <a:t>Quarto </a:t>
            </a:r>
            <a:r>
              <a:rPr sz="1300" b="0" lang="en-GB">
                <a:solidFill>
                  <a:schemeClr val="tx1"/>
                </a:solidFill>
              </a:rPr>
              <a:t>documents</a:t>
            </a:r>
          </a:p>
        </p:txBody>
      </p:sp>
      <p:sp>
        <p:nvSpPr>
          <p:cNvPr id="33" name="Kit fact 1"/>
          <p:cNvSpPr/>
          <p:nvPr/>
        </p:nvSpPr>
        <p:spPr>
          <a:xfrm>
            <a:off x="457200" y="3154680"/>
            <a:ext cx="265176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Kit fact bar 1"/>
          <p:cNvSpPr/>
          <p:nvPr/>
        </p:nvSpPr>
        <p:spPr>
          <a:xfrm>
            <a:off x="457200" y="3154680"/>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Kit fact text 1"/>
          <p:cNvSpPr txBox="1"/>
          <p:nvPr/>
        </p:nvSpPr>
        <p:spPr>
          <a:xfrm>
            <a:off x="685800" y="3154680"/>
            <a:ext cx="2331720" cy="1005840"/>
          </a:xfrm>
          <a:prstGeom prst="rect">
            <a:avLst/>
          </a:prstGeom>
          <a:noFill/>
        </p:spPr>
        <p:txBody>
          <a:bodyPr wrap="square" lIns="0" rIns="0" tIns="0" bIns="0" anchor="ctr">
            <a:noAutofit/>
          </a:bodyPr>
          <a:lstStyle/>
          <a:p>
            <a:pPr algn="l">
              <a:spcAft>
                <a:spcPts val="0"/>
              </a:spcAft>
            </a:pPr>
            <a:r>
              <a:rPr sz="2800" b="1" lang="en-GB">
                <a:solidFill>
                  <a:schemeClr val="tx2"/>
                </a:solidFill>
                <a:latin typeface="+mj-lt"/>
              </a:rPr>
              <a:t>22</a:t>
            </a:r>
          </a:p>
          <a:p>
            <a:pPr algn="l">
              <a:spcAft>
                <a:spcPts val="0"/>
              </a:spcAft>
            </a:pPr>
            <a:r>
              <a:rPr sz="1300" b="0" lang="en-GB">
                <a:solidFill>
                  <a:schemeClr val="tx1"/>
                </a:solidFill>
              </a:rPr>
              <a:t>packages pinned in requirements.txt</a:t>
            </a:r>
          </a:p>
        </p:txBody>
      </p:sp>
      <p:sp>
        <p:nvSpPr>
          <p:cNvPr id="36" name="Kit fact 2"/>
          <p:cNvSpPr/>
          <p:nvPr/>
        </p:nvSpPr>
        <p:spPr>
          <a:xfrm>
            <a:off x="3246120" y="3154680"/>
            <a:ext cx="265176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Kit fact bar 2"/>
          <p:cNvSpPr/>
          <p:nvPr/>
        </p:nvSpPr>
        <p:spPr>
          <a:xfrm>
            <a:off x="3246120" y="3154680"/>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Kit fact text 2"/>
          <p:cNvSpPr txBox="1"/>
          <p:nvPr/>
        </p:nvSpPr>
        <p:spPr>
          <a:xfrm>
            <a:off x="3474720" y="3154680"/>
            <a:ext cx="2331720" cy="1005840"/>
          </a:xfrm>
          <a:prstGeom prst="rect">
            <a:avLst/>
          </a:prstGeom>
          <a:noFill/>
        </p:spPr>
        <p:txBody>
          <a:bodyPr wrap="square" lIns="0" rIns="0" tIns="0" bIns="0" anchor="ctr">
            <a:noAutofit/>
          </a:bodyPr>
          <a:lstStyle/>
          <a:p>
            <a:pPr algn="l">
              <a:spcAft>
                <a:spcPts val="0"/>
              </a:spcAft>
            </a:pPr>
            <a:r>
              <a:rPr sz="2800" b="1" lang="en-GB">
                <a:solidFill>
                  <a:schemeClr val="tx2"/>
                </a:solidFill>
                <a:latin typeface="+mj-lt"/>
              </a:rPr>
              <a:t>1</a:t>
            </a:r>
          </a:p>
          <a:p>
            <a:pPr algn="l">
              <a:spcAft>
                <a:spcPts val="0"/>
              </a:spcAft>
            </a:pPr>
            <a:r>
              <a:rPr sz="1300" b="0" lang="en-GB">
                <a:solidFill>
                  <a:schemeClr val="tx1"/>
                </a:solidFill>
              </a:rPr>
              <a:t>command installs them all</a:t>
            </a:r>
          </a:p>
        </p:txBody>
      </p:sp>
      <p:sp>
        <p:nvSpPr>
          <p:cNvPr id="39" name="Kit fact 3"/>
          <p:cNvSpPr/>
          <p:nvPr/>
        </p:nvSpPr>
        <p:spPr>
          <a:xfrm>
            <a:off x="6035040" y="3154680"/>
            <a:ext cx="265176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Kit fact bar 3"/>
          <p:cNvSpPr/>
          <p:nvPr/>
        </p:nvSpPr>
        <p:spPr>
          <a:xfrm>
            <a:off x="6035040" y="3154680"/>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Kit fact text 3"/>
          <p:cNvSpPr txBox="1"/>
          <p:nvPr/>
        </p:nvSpPr>
        <p:spPr>
          <a:xfrm>
            <a:off x="6263640" y="3154680"/>
            <a:ext cx="2331720" cy="1005840"/>
          </a:xfrm>
          <a:prstGeom prst="rect">
            <a:avLst/>
          </a:prstGeom>
          <a:noFill/>
        </p:spPr>
        <p:txBody>
          <a:bodyPr wrap="square" lIns="0" rIns="0" tIns="0" bIns="0" anchor="ctr">
            <a:noAutofit/>
          </a:bodyPr>
          <a:lstStyle/>
          <a:p>
            <a:pPr algn="l">
              <a:spcAft>
                <a:spcPts val="0"/>
              </a:spcAft>
            </a:pPr>
            <a:r>
              <a:rPr sz="2800" b="1" lang="en-GB">
                <a:solidFill>
                  <a:schemeClr val="tx2"/>
                </a:solidFill>
                <a:latin typeface="+mj-lt"/>
              </a:rPr>
              <a:t>0</a:t>
            </a:r>
          </a:p>
          <a:p>
            <a:pPr algn="l">
              <a:spcAft>
                <a:spcPts val="0"/>
              </a:spcAft>
            </a:pPr>
            <a:r>
              <a:rPr sz="1300" b="0" lang="en-GB">
                <a:solidFill>
                  <a:schemeClr val="tx1"/>
                </a:solidFill>
              </a:rPr>
              <a:t>euros: all open source</a:t>
            </a:r>
          </a:p>
        </p:txBody>
      </p:sp>
      <p:sp>
        <p:nvSpPr>
          <p:cNvPr id="42" name="Older tools box"/>
          <p:cNvSpPr/>
          <p:nvPr/>
        </p:nvSpPr>
        <p:spPr>
          <a:xfrm>
            <a:off x="457200" y="4343400"/>
            <a:ext cx="82296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Icon Older tools" descr=""/>
          <p:cNvPicPr>
            <a:picLocks noChangeAspect="1"/>
          </p:cNvPicPr>
          <p:nvPr/>
        </p:nvPicPr>
        <p:blipFill>
          <a:blip r:embed="rId7"/>
          <a:stretch>
            <a:fillRect/>
          </a:stretch>
        </p:blipFill>
        <p:spPr>
          <a:xfrm>
            <a:off x="658368" y="4517136"/>
            <a:ext cx="384048" cy="384048"/>
          </a:xfrm>
          <a:prstGeom prst="rect">
            <a:avLst/>
          </a:prstGeom>
        </p:spPr>
      </p:pic>
      <p:sp>
        <p:nvSpPr>
          <p:cNvPr id="44" name="Older tools text"/>
          <p:cNvSpPr txBox="1"/>
          <p:nvPr/>
        </p:nvSpPr>
        <p:spPr>
          <a:xfrm>
            <a:off x="1234440" y="4343400"/>
            <a:ext cx="7269480" cy="731520"/>
          </a:xfrm>
          <a:prstGeom prst="rect">
            <a:avLst/>
          </a:prstGeom>
          <a:noFill/>
        </p:spPr>
        <p:txBody>
          <a:bodyPr wrap="square" lIns="0" rIns="0" tIns="0" bIns="0" anchor="ctr">
            <a:noAutofit/>
          </a:bodyPr>
          <a:lstStyle/>
          <a:p>
            <a:pPr algn="l">
              <a:spcAft>
                <a:spcPts val="400"/>
              </a:spcAft>
            </a:pPr>
            <a:r>
              <a:rPr sz="1300" b="1" lang="en-GB">
                <a:solidFill>
                  <a:schemeClr val="tx2"/>
                </a:solidFill>
              </a:rPr>
              <a:t>Online you will also meet pandas and matplotlib: </a:t>
            </a:r>
            <a:r>
              <a:rPr sz="1300" b="0" lang="en-GB">
                <a:solidFill>
                  <a:schemeClr val="tx1"/>
                </a:solidFill>
              </a:rPr>
              <a:t>older but common; the ideas carry over.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polars: data wrangling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olars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lars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Revenue and TV spend per country, 2025</a:t>
            </a:r>
          </a:p>
        </p:txBody>
      </p:sp>
      <p:sp>
        <p:nvSpPr>
          <p:cNvPr id="12" name="Polars code box"/>
          <p:cNvSpPr/>
          <p:nvPr/>
        </p:nvSpPr>
        <p:spPr>
          <a:xfrm>
            <a:off x="457200" y="1508760"/>
            <a:ext cx="4937760" cy="2560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olars code code"/>
          <p:cNvSpPr txBox="1"/>
          <p:nvPr/>
        </p:nvSpPr>
        <p:spPr>
          <a:xfrm>
            <a:off x="594360" y="1600200"/>
            <a:ext cx="4663440" cy="237744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polars as pl</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sales = pl.read_csv("data/mmm/alpenglow_weekly.csv",</a:t>
            </a:r>
          </a:p>
          <a:p>
            <a:pPr algn="l">
              <a:spcAft>
                <a:spcPts val="0"/>
              </a:spcAft>
            </a:pPr>
            <a:r>
              <a:rPr sz="1050" b="0" lang="en-GB">
                <a:solidFill>
                  <a:schemeClr val="bg1"/>
                </a:solidFill>
                <a:latin typeface="Consolas"/>
              </a:rPr>
              <a:t>                    try_parse_dates=True)</a:t>
            </a:r>
          </a:p>
          <a:p>
            <a:pPr algn="l">
              <a:spcAft>
                <a:spcPts val="0"/>
              </a:spcAft>
            </a:pPr>
            <a:r>
              <a:rPr sz="1050" b="0" lang="en-GB">
                <a:solidFill>
                  <a:schemeClr val="bg1"/>
                </a:solidFill>
                <a:latin typeface="Consolas"/>
              </a:rPr>
              <a:t>summary = (</a:t>
            </a:r>
          </a:p>
          <a:p>
            <a:pPr algn="l">
              <a:spcAft>
                <a:spcPts val="0"/>
              </a:spcAft>
            </a:pPr>
            <a:r>
              <a:rPr sz="1050" b="0" lang="en-GB">
                <a:solidFill>
                  <a:schemeClr val="bg1"/>
                </a:solidFill>
                <a:latin typeface="Consolas"/>
              </a:rPr>
              <a:t>    sales</a:t>
            </a:r>
          </a:p>
          <a:p>
            <a:pPr algn="l">
              <a:spcAft>
                <a:spcPts val="0"/>
              </a:spcAft>
            </a:pPr>
            <a:r>
              <a:rPr sz="1050" b="0" lang="en-GB">
                <a:solidFill>
                  <a:schemeClr val="bg1"/>
                </a:solidFill>
                <a:latin typeface="Consolas"/>
              </a:rPr>
              <a:t>    .filter(pl.col("week").dt.year() == 2025)</a:t>
            </a:r>
          </a:p>
          <a:p>
            <a:pPr algn="l">
              <a:spcAft>
                <a:spcPts val="0"/>
              </a:spcAft>
            </a:pPr>
            <a:r>
              <a:rPr sz="1050" b="0" lang="en-GB">
                <a:solidFill>
                  <a:schemeClr val="bg1"/>
                </a:solidFill>
                <a:latin typeface="Consolas"/>
              </a:rPr>
              <a:t>    .group_by("country")</a:t>
            </a:r>
          </a:p>
          <a:p>
            <a:pPr algn="l">
              <a:spcAft>
                <a:spcPts val="0"/>
              </a:spcAft>
            </a:pPr>
            <a:r>
              <a:rPr sz="1050" b="0" lang="en-GB">
                <a:solidFill>
                  <a:schemeClr val="bg1"/>
                </a:solidFill>
                <a:latin typeface="Consolas"/>
              </a:rPr>
              <a:t>    .agg(pl.col("revenue_eur_k").sum().alias("revenue"),</a:t>
            </a:r>
          </a:p>
          <a:p>
            <a:pPr algn="l">
              <a:spcAft>
                <a:spcPts val="0"/>
              </a:spcAft>
            </a:pPr>
            <a:r>
              <a:rPr sz="1050" b="0" lang="en-GB">
                <a:solidFill>
                  <a:schemeClr val="bg1"/>
                </a:solidFill>
                <a:latin typeface="Consolas"/>
              </a:rPr>
              <a:t>         pl.col("spend_tv_k").sum().alias("tv"))</a:t>
            </a:r>
          </a:p>
          <a:p>
            <a:pPr algn="l">
              <a:spcAft>
                <a:spcPts val="0"/>
              </a:spcAft>
            </a:pPr>
            <a:r>
              <a:rPr sz="1050" b="0" lang="en-GB">
                <a:solidFill>
                  <a:schemeClr val="bg1"/>
                </a:solidFill>
                <a:latin typeface="Consolas"/>
              </a:rPr>
              <a:t>    .sort("revenue", descending=True)</a:t>
            </a:r>
          </a:p>
          <a:p>
            <a:pPr algn="l">
              <a:spcAft>
                <a:spcPts val="0"/>
              </a:spcAft>
            </a:pPr>
            <a:r>
              <a:rPr sz="1050" b="0" lang="en-GB">
                <a:solidFill>
                  <a:schemeClr val="bg1"/>
                </a:solidFill>
                <a:latin typeface="Consolas"/>
              </a:rPr>
              <a:t>)</a:t>
            </a:r>
          </a:p>
        </p:txBody>
      </p:sp>
      <p:sp>
        <p:nvSpPr>
          <p:cNvPr id="14" name="Polars row 1"/>
          <p:cNvSpPr/>
          <p:nvPr/>
        </p:nvSpPr>
        <p:spPr>
          <a:xfrm>
            <a:off x="5577840" y="1234440"/>
            <a:ext cx="310896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olars bar 1"/>
          <p:cNvSpPr/>
          <p:nvPr/>
        </p:nvSpPr>
        <p:spPr>
          <a:xfrm>
            <a:off x="5577840" y="123444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olars text 1"/>
          <p:cNvSpPr txBox="1"/>
          <p:nvPr/>
        </p:nvSpPr>
        <p:spPr>
          <a:xfrm>
            <a:off x="5760720" y="1234440"/>
            <a:ext cx="2834640"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DataFrame: </a:t>
            </a:r>
            <a:r>
              <a:rPr sz="1200" b="0" lang="en-GB">
                <a:solidFill>
                  <a:schemeClr val="tx1"/>
                </a:solidFill>
              </a:rPr>
              <a:t>a table with typed columns</a:t>
            </a:r>
          </a:p>
        </p:txBody>
      </p:sp>
      <p:sp>
        <p:nvSpPr>
          <p:cNvPr id="17" name="Polars row 2"/>
          <p:cNvSpPr/>
          <p:nvPr/>
        </p:nvSpPr>
        <p:spPr>
          <a:xfrm>
            <a:off x="5577840" y="1965960"/>
            <a:ext cx="310896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olars bar 2"/>
          <p:cNvSpPr/>
          <p:nvPr/>
        </p:nvSpPr>
        <p:spPr>
          <a:xfrm>
            <a:off x="5577840" y="196596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olars text 2"/>
          <p:cNvSpPr txBox="1"/>
          <p:nvPr/>
        </p:nvSpPr>
        <p:spPr>
          <a:xfrm>
            <a:off x="5760720" y="1965960"/>
            <a:ext cx="2834640"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Expressions: </a:t>
            </a:r>
            <a:r>
              <a:rPr sz="1200" b="0" lang="en-GB">
                <a:solidFill>
                  <a:schemeClr val="tx1"/>
                </a:solidFill>
              </a:rPr>
              <a:t>pl.col("tv").sum() says what to compute</a:t>
            </a:r>
          </a:p>
        </p:txBody>
      </p:sp>
      <p:sp>
        <p:nvSpPr>
          <p:cNvPr id="20" name="Polars row 3"/>
          <p:cNvSpPr/>
          <p:nvPr/>
        </p:nvSpPr>
        <p:spPr>
          <a:xfrm>
            <a:off x="5577840" y="2697480"/>
            <a:ext cx="310896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olars bar 3"/>
          <p:cNvSpPr/>
          <p:nvPr/>
        </p:nvSpPr>
        <p:spPr>
          <a:xfrm>
            <a:off x="5577840" y="269748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olars text 3"/>
          <p:cNvSpPr txBox="1"/>
          <p:nvPr/>
        </p:nvSpPr>
        <p:spPr>
          <a:xfrm>
            <a:off x="5760720" y="2697480"/>
            <a:ext cx="2834640"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Chaining: </a:t>
            </a:r>
            <a:r>
              <a:rPr sz="1200" b="0" lang="en-GB">
                <a:solidFill>
                  <a:schemeClr val="tx1"/>
                </a:solidFill>
              </a:rPr>
              <a:t>one step per line, read top to bottom</a:t>
            </a:r>
          </a:p>
        </p:txBody>
      </p:sp>
      <p:sp>
        <p:nvSpPr>
          <p:cNvPr id="23" name="Polars row 4"/>
          <p:cNvSpPr/>
          <p:nvPr/>
        </p:nvSpPr>
        <p:spPr>
          <a:xfrm>
            <a:off x="5577840" y="3429000"/>
            <a:ext cx="310896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olars bar 4"/>
          <p:cNvSpPr/>
          <p:nvPr/>
        </p:nvSpPr>
        <p:spPr>
          <a:xfrm>
            <a:off x="5577840" y="342900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olars text 4"/>
          <p:cNvSpPr txBox="1"/>
          <p:nvPr/>
        </p:nvSpPr>
        <p:spPr>
          <a:xfrm>
            <a:off x="5760720" y="3429000"/>
            <a:ext cx="2834640"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Fast: </a:t>
            </a:r>
            <a:r>
              <a:rPr sz="1200" b="0" lang="en-GB">
                <a:solidFill>
                  <a:schemeClr val="tx1"/>
                </a:solidFill>
              </a:rPr>
              <a:t>multi-threaded, written in Rust</a:t>
            </a:r>
          </a:p>
        </p:txBody>
      </p:sp>
      <p:sp>
        <p:nvSpPr>
          <p:cNvPr id="26" name="Polars result box"/>
          <p:cNvSpPr/>
          <p:nvPr/>
        </p:nvSpPr>
        <p:spPr>
          <a:xfrm>
            <a:off x="457200" y="4206240"/>
            <a:ext cx="822960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Polars result" descr=""/>
          <p:cNvPicPr>
            <a:picLocks noChangeAspect="1"/>
          </p:cNvPicPr>
          <p:nvPr/>
        </p:nvPicPr>
        <p:blipFill>
          <a:blip r:embed="rId3"/>
          <a:stretch>
            <a:fillRect/>
          </a:stretch>
        </p:blipFill>
        <p:spPr>
          <a:xfrm>
            <a:off x="658368" y="4448556"/>
            <a:ext cx="384048" cy="384048"/>
          </a:xfrm>
          <a:prstGeom prst="rect">
            <a:avLst/>
          </a:prstGeom>
        </p:spPr>
      </p:pic>
      <p:sp>
        <p:nvSpPr>
          <p:cNvPr id="28" name="Polars result text"/>
          <p:cNvSpPr txBox="1"/>
          <p:nvPr/>
        </p:nvSpPr>
        <p:spPr>
          <a:xfrm>
            <a:off x="1234440" y="4206240"/>
            <a:ext cx="7269480" cy="868680"/>
          </a:xfrm>
          <a:prstGeom prst="rect">
            <a:avLst/>
          </a:prstGeom>
          <a:noFill/>
        </p:spPr>
        <p:txBody>
          <a:bodyPr wrap="square" lIns="0" rIns="0" tIns="0" bIns="0" anchor="ctr">
            <a:noAutofit/>
          </a:bodyPr>
          <a:lstStyle/>
          <a:p>
            <a:pPr algn="l">
              <a:spcAft>
                <a:spcPts val="400"/>
              </a:spcAft>
            </a:pPr>
            <a:r>
              <a:rPr sz="1300" b="1" lang="en-GB">
                <a:solidFill>
                  <a:schemeClr val="tx2"/>
                </a:solidFill>
              </a:rPr>
              <a:t>Result: </a:t>
            </a:r>
            <a:r>
              <a:rPr sz="1300" b="0" lang="en-GB">
                <a:solidFill>
                  <a:schemeClr val="tx1"/>
                </a:solidFill>
              </a:rPr>
              <a:t>six rows, one per country. Germany leads with about EUR 131 million revenue in 2025. Need pandas? Add .to_pandas().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plotnine: charts with the grammar of graphics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otnine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lotnine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Weekly sales, Austria and Germany</a:t>
            </a:r>
          </a:p>
        </p:txBody>
      </p:sp>
      <p:sp>
        <p:nvSpPr>
          <p:cNvPr id="12" name="Plotnine code box"/>
          <p:cNvSpPr/>
          <p:nvPr/>
        </p:nvSpPr>
        <p:spPr>
          <a:xfrm>
            <a:off x="457200" y="1508760"/>
            <a:ext cx="4206240" cy="2103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lotnine code code"/>
          <p:cNvSpPr txBox="1"/>
          <p:nvPr/>
        </p:nvSpPr>
        <p:spPr>
          <a:xfrm>
            <a:off x="594360" y="1600200"/>
            <a:ext cx="3931920" cy="192024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(ggplot(sales.filter(</a:t>
            </a:r>
          </a:p>
          <a:p>
            <a:pPr algn="l">
              <a:spcAft>
                <a:spcPts val="0"/>
              </a:spcAft>
            </a:pPr>
            <a:r>
              <a:rPr sz="1050" b="0" lang="en-GB">
                <a:solidFill>
                  <a:schemeClr val="bg1"/>
                </a:solidFill>
                <a:latin typeface="Consolas"/>
              </a:rPr>
              <a:t>         pl.col("country").is_in(["AT", "DE"])),</a:t>
            </a:r>
          </a:p>
          <a:p>
            <a:pPr algn="l">
              <a:spcAft>
                <a:spcPts val="0"/>
              </a:spcAft>
            </a:pPr>
            <a:r>
              <a:rPr sz="1050" b="0" lang="en-GB">
                <a:solidFill>
                  <a:schemeClr val="bg1"/>
                </a:solidFill>
                <a:latin typeface="Consolas"/>
              </a:rPr>
              <a:t>        aes(x="week", y="sales_units_k"))</a:t>
            </a:r>
          </a:p>
          <a:p>
            <a:pPr algn="l">
              <a:spcAft>
                <a:spcPts val="0"/>
              </a:spcAft>
            </a:pPr>
            <a:r>
              <a:rPr sz="1050" b="0" lang="en-GB">
                <a:solidFill>
                  <a:schemeClr val="bg1"/>
                </a:solidFill>
                <a:latin typeface="Consolas"/>
              </a:rPr>
              <a:t> + geom_line(color="#0096D3")</a:t>
            </a:r>
          </a:p>
          <a:p>
            <a:pPr algn="l">
              <a:spcAft>
                <a:spcPts val="0"/>
              </a:spcAft>
            </a:pPr>
            <a:r>
              <a:rPr sz="1050" b="0" lang="en-GB">
                <a:solidFill>
                  <a:schemeClr val="bg1"/>
                </a:solidFill>
                <a:latin typeface="Consolas"/>
              </a:rPr>
              <a:t> + facet_wrap("country")</a:t>
            </a:r>
          </a:p>
          <a:p>
            <a:pPr algn="l">
              <a:spcAft>
                <a:spcPts val="0"/>
              </a:spcAft>
            </a:pPr>
            <a:r>
              <a:rPr sz="1050" b="0" lang="en-GB">
                <a:solidFill>
                  <a:schemeClr val="bg1"/>
                </a:solidFill>
                <a:latin typeface="Consolas"/>
              </a:rPr>
              <a:t> + scale_x_date(date_breaks="1 year",</a:t>
            </a:r>
          </a:p>
          <a:p>
            <a:pPr algn="l">
              <a:spcAft>
                <a:spcPts val="0"/>
              </a:spcAft>
            </a:pPr>
            <a:r>
              <a:rPr sz="1050" b="0" lang="en-GB">
                <a:solidFill>
                  <a:schemeClr val="bg1"/>
                </a:solidFill>
                <a:latin typeface="Consolas"/>
              </a:rPr>
              <a:t>                date_labels="%Y")</a:t>
            </a:r>
          </a:p>
          <a:p>
            <a:pPr algn="l">
              <a:spcAft>
                <a:spcPts val="0"/>
              </a:spcAft>
            </a:pPr>
            <a:r>
              <a:rPr sz="1050" b="0" lang="en-GB">
                <a:solidFill>
                  <a:schemeClr val="bg1"/>
                </a:solidFill>
                <a:latin typeface="Consolas"/>
              </a:rPr>
              <a:t> + labs(x="", y="Sales (k units)")</a:t>
            </a:r>
          </a:p>
          <a:p>
            <a:pPr algn="l">
              <a:spcAft>
                <a:spcPts val="0"/>
              </a:spcAft>
            </a:pPr>
            <a:r>
              <a:rPr sz="1050" b="0" lang="en-GB">
                <a:solidFill>
                  <a:schemeClr val="bg1"/>
                </a:solidFill>
                <a:latin typeface="Consolas"/>
              </a:rPr>
              <a:t> + theme_minimal())</a:t>
            </a:r>
          </a:p>
        </p:txBody>
      </p:sp>
      <p:pic>
        <p:nvPicPr>
          <p:cNvPr id="14" name="Plotnine chart" descr="Line chart of weekly sales in thousand units, 2023 to 2025, Austria (about 100 to 200) and Germany (about 500 to 1,700), with a Christmas peak every year"/>
          <p:cNvPicPr>
            <a:picLocks noChangeAspect="1"/>
          </p:cNvPicPr>
          <p:nvPr/>
        </p:nvPicPr>
        <p:blipFill>
          <a:blip r:embed="rId3"/>
          <a:stretch>
            <a:fillRect/>
          </a:stretch>
        </p:blipFill>
        <p:spPr>
          <a:xfrm>
            <a:off x="4800600" y="1234440"/>
            <a:ext cx="3886200" cy="2072670"/>
          </a:xfrm>
          <a:prstGeom prst="rect">
            <a:avLst/>
          </a:prstGeom>
        </p:spPr>
      </p:pic>
      <p:sp>
        <p:nvSpPr>
          <p:cNvPr id="15" name="Chart caption"/>
          <p:cNvSpPr txBox="1"/>
          <p:nvPr/>
        </p:nvSpPr>
        <p:spPr>
          <a:xfrm>
            <a:off x="4800600" y="3337560"/>
            <a:ext cx="3886200" cy="274320"/>
          </a:xfrm>
          <a:prstGeom prst="rect">
            <a:avLst/>
          </a:prstGeom>
          <a:noFill/>
        </p:spPr>
        <p:txBody>
          <a:bodyPr wrap="square" lIns="0" rIns="0" tIns="0" bIns="0" anchor="t">
            <a:noAutofit/>
          </a:bodyPr>
          <a:lstStyle/>
          <a:p>
            <a:pPr algn="l">
              <a:spcAft>
                <a:spcPts val="400"/>
              </a:spcAft>
            </a:pPr>
            <a:r>
              <a:rPr sz="1100" b="0" lang="en-GB">
                <a:solidFill>
                  <a:srgbClr val="595959"/>
                </a:solidFill>
              </a:rPr>
              <a:t>The output of the code on the left</a:t>
            </a:r>
          </a:p>
        </p:txBody>
      </p:sp>
      <p:sp>
        <p:nvSpPr>
          <p:cNvPr id="16" name="Grammar chip 1"/>
          <p:cNvSpPr/>
          <p:nvPr/>
        </p:nvSpPr>
        <p:spPr>
          <a:xfrm>
            <a:off x="457200" y="3794760"/>
            <a:ext cx="1572768"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rammar text 1"/>
          <p:cNvSpPr txBox="1"/>
          <p:nvPr/>
        </p:nvSpPr>
        <p:spPr>
          <a:xfrm>
            <a:off x="548640" y="3794760"/>
            <a:ext cx="1389888" cy="777240"/>
          </a:xfrm>
          <a:prstGeom prst="rect">
            <a:avLst/>
          </a:prstGeom>
          <a:noFill/>
        </p:spPr>
        <p:txBody>
          <a:bodyPr wrap="square" lIns="0" rIns="0" tIns="0" bIns="0" anchor="ctr">
            <a:noAutofit/>
          </a:bodyPr>
          <a:lstStyle/>
          <a:p>
            <a:pPr algn="ctr">
              <a:spcAft>
                <a:spcPts val="0"/>
              </a:spcAft>
            </a:pPr>
            <a:r>
              <a:rPr sz="1300" b="1" lang="en-GB">
                <a:solidFill>
                  <a:schemeClr val="tx2"/>
                </a:solidFill>
                <a:latin typeface="Consolas"/>
              </a:rPr>
              <a:t>ggplot()</a:t>
            </a:r>
          </a:p>
          <a:p>
            <a:pPr algn="ctr">
              <a:spcAft>
                <a:spcPts val="0"/>
              </a:spcAft>
            </a:pPr>
            <a:r>
              <a:rPr sz="1200" b="0" lang="en-GB">
                <a:solidFill>
                  <a:schemeClr val="tx1"/>
                </a:solidFill>
              </a:rPr>
              <a:t>the data</a:t>
            </a:r>
          </a:p>
        </p:txBody>
      </p:sp>
      <p:sp>
        <p:nvSpPr>
          <p:cNvPr id="18" name="Grammar chip 2"/>
          <p:cNvSpPr/>
          <p:nvPr/>
        </p:nvSpPr>
        <p:spPr>
          <a:xfrm>
            <a:off x="2121408" y="3794760"/>
            <a:ext cx="1572768"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Grammar text 2"/>
          <p:cNvSpPr txBox="1"/>
          <p:nvPr/>
        </p:nvSpPr>
        <p:spPr>
          <a:xfrm>
            <a:off x="2212848" y="3794760"/>
            <a:ext cx="1389888" cy="777240"/>
          </a:xfrm>
          <a:prstGeom prst="rect">
            <a:avLst/>
          </a:prstGeom>
          <a:noFill/>
        </p:spPr>
        <p:txBody>
          <a:bodyPr wrap="square" lIns="0" rIns="0" tIns="0" bIns="0" anchor="ctr">
            <a:noAutofit/>
          </a:bodyPr>
          <a:lstStyle/>
          <a:p>
            <a:pPr algn="ctr">
              <a:spcAft>
                <a:spcPts val="0"/>
              </a:spcAft>
            </a:pPr>
            <a:r>
              <a:rPr sz="1300" b="1" lang="en-GB">
                <a:solidFill>
                  <a:schemeClr val="tx2"/>
                </a:solidFill>
                <a:latin typeface="Consolas"/>
              </a:rPr>
              <a:t>aes()</a:t>
            </a:r>
          </a:p>
          <a:p>
            <a:pPr algn="ctr">
              <a:spcAft>
                <a:spcPts val="0"/>
              </a:spcAft>
            </a:pPr>
            <a:r>
              <a:rPr sz="1200" b="0" lang="en-GB">
                <a:solidFill>
                  <a:schemeClr val="tx1"/>
                </a:solidFill>
              </a:rPr>
              <a:t>columns to x, y</a:t>
            </a:r>
          </a:p>
        </p:txBody>
      </p:sp>
      <p:sp>
        <p:nvSpPr>
          <p:cNvPr id="20" name="Grammar chip 3"/>
          <p:cNvSpPr/>
          <p:nvPr/>
        </p:nvSpPr>
        <p:spPr>
          <a:xfrm>
            <a:off x="3785616" y="3794760"/>
            <a:ext cx="1572768"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Grammar text 3"/>
          <p:cNvSpPr txBox="1"/>
          <p:nvPr/>
        </p:nvSpPr>
        <p:spPr>
          <a:xfrm>
            <a:off x="3877056" y="3794760"/>
            <a:ext cx="1389888" cy="777240"/>
          </a:xfrm>
          <a:prstGeom prst="rect">
            <a:avLst/>
          </a:prstGeom>
          <a:noFill/>
        </p:spPr>
        <p:txBody>
          <a:bodyPr wrap="square" lIns="0" rIns="0" tIns="0" bIns="0" anchor="ctr">
            <a:noAutofit/>
          </a:bodyPr>
          <a:lstStyle/>
          <a:p>
            <a:pPr algn="ctr">
              <a:spcAft>
                <a:spcPts val="0"/>
              </a:spcAft>
            </a:pPr>
            <a:r>
              <a:rPr sz="1300" b="1" lang="en-GB">
                <a:solidFill>
                  <a:schemeClr val="tx2"/>
                </a:solidFill>
                <a:latin typeface="Consolas"/>
              </a:rPr>
              <a:t>geom_</a:t>
            </a:r>
          </a:p>
          <a:p>
            <a:pPr algn="ctr">
              <a:spcAft>
                <a:spcPts val="0"/>
              </a:spcAft>
            </a:pPr>
            <a:r>
              <a:rPr sz="1200" b="0" lang="en-GB">
                <a:solidFill>
                  <a:schemeClr val="tx1"/>
                </a:solidFill>
              </a:rPr>
              <a:t>the marks</a:t>
            </a:r>
          </a:p>
        </p:txBody>
      </p:sp>
      <p:sp>
        <p:nvSpPr>
          <p:cNvPr id="22" name="Grammar chip 4"/>
          <p:cNvSpPr/>
          <p:nvPr/>
        </p:nvSpPr>
        <p:spPr>
          <a:xfrm>
            <a:off x="5449824" y="3794760"/>
            <a:ext cx="1572768"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Grammar text 4"/>
          <p:cNvSpPr txBox="1"/>
          <p:nvPr/>
        </p:nvSpPr>
        <p:spPr>
          <a:xfrm>
            <a:off x="5541264" y="3794760"/>
            <a:ext cx="1389888" cy="777240"/>
          </a:xfrm>
          <a:prstGeom prst="rect">
            <a:avLst/>
          </a:prstGeom>
          <a:noFill/>
        </p:spPr>
        <p:txBody>
          <a:bodyPr wrap="square" lIns="0" rIns="0" tIns="0" bIns="0" anchor="ctr">
            <a:noAutofit/>
          </a:bodyPr>
          <a:lstStyle/>
          <a:p>
            <a:pPr algn="ctr">
              <a:spcAft>
                <a:spcPts val="0"/>
              </a:spcAft>
            </a:pPr>
            <a:r>
              <a:rPr sz="1300" b="1" lang="en-GB">
                <a:solidFill>
                  <a:schemeClr val="tx2"/>
                </a:solidFill>
                <a:latin typeface="Consolas"/>
              </a:rPr>
              <a:t>facet_</a:t>
            </a:r>
          </a:p>
          <a:p>
            <a:pPr algn="ctr">
              <a:spcAft>
                <a:spcPts val="0"/>
              </a:spcAft>
            </a:pPr>
            <a:r>
              <a:rPr sz="1200" b="0" lang="en-GB">
                <a:solidFill>
                  <a:schemeClr val="tx1"/>
                </a:solidFill>
              </a:rPr>
              <a:t>one panel per group</a:t>
            </a:r>
          </a:p>
        </p:txBody>
      </p:sp>
      <p:sp>
        <p:nvSpPr>
          <p:cNvPr id="24" name="Grammar chip 5"/>
          <p:cNvSpPr/>
          <p:nvPr/>
        </p:nvSpPr>
        <p:spPr>
          <a:xfrm>
            <a:off x="7114032" y="3794760"/>
            <a:ext cx="1572768"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Grammar text 5"/>
          <p:cNvSpPr txBox="1"/>
          <p:nvPr/>
        </p:nvSpPr>
        <p:spPr>
          <a:xfrm>
            <a:off x="7205472" y="3794760"/>
            <a:ext cx="1389888" cy="777240"/>
          </a:xfrm>
          <a:prstGeom prst="rect">
            <a:avLst/>
          </a:prstGeom>
          <a:noFill/>
        </p:spPr>
        <p:txBody>
          <a:bodyPr wrap="square" lIns="0" rIns="0" tIns="0" bIns="0" anchor="ctr">
            <a:noAutofit/>
          </a:bodyPr>
          <a:lstStyle/>
          <a:p>
            <a:pPr algn="ctr">
              <a:spcAft>
                <a:spcPts val="0"/>
              </a:spcAft>
            </a:pPr>
            <a:r>
              <a:rPr sz="1300" b="1" lang="en-GB">
                <a:solidFill>
                  <a:schemeClr val="tx2"/>
                </a:solidFill>
                <a:latin typeface="Consolas"/>
              </a:rPr>
              <a:t>theme_</a:t>
            </a:r>
          </a:p>
          <a:p>
            <a:pPr algn="ctr">
              <a:spcAft>
                <a:spcPts val="0"/>
              </a:spcAft>
            </a:pPr>
            <a:r>
              <a:rPr sz="1200" b="0" lang="en-GB">
                <a:solidFill>
                  <a:schemeClr val="tx1"/>
                </a:solidFill>
              </a:rPr>
              <a:t>the look</a:t>
            </a:r>
          </a:p>
        </p:txBody>
      </p:sp>
      <p:sp>
        <p:nvSpPr>
          <p:cNvPr id="26" name="Grammar note"/>
          <p:cNvSpPr txBox="1"/>
          <p:nvPr/>
        </p:nvSpPr>
        <p:spPr>
          <a:xfrm>
            <a:off x="457200" y="4663440"/>
            <a:ext cx="8229600" cy="411480"/>
          </a:xfrm>
          <a:prstGeom prst="rect">
            <a:avLst/>
          </a:prstGeom>
          <a:noFill/>
        </p:spPr>
        <p:txBody>
          <a:bodyPr wrap="square" lIns="0" rIns="0" tIns="0" bIns="0" anchor="ctr">
            <a:noAutofit/>
          </a:bodyPr>
          <a:lstStyle/>
          <a:p>
            <a:pPr algn="l">
              <a:spcAft>
                <a:spcPts val="400"/>
              </a:spcAft>
            </a:pPr>
            <a:r>
              <a:rPr sz="1300" b="1" lang="en-GB">
                <a:solidFill>
                  <a:schemeClr val="tx2"/>
                </a:solidFill>
              </a:rPr>
              <a:t>Data + mapping + marks + panels + theme: </a:t>
            </a:r>
            <a:r>
              <a:rPr sz="1300" b="0" lang="en-GB">
                <a:solidFill>
                  <a:schemeClr val="tx1"/>
                </a:solidFill>
              </a:rPr>
              <a:t>each + adds one layer.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Great Tables: tables for reports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T code caption bar"/>
          <p:cNvSpPr/>
          <p:nvPr/>
        </p:nvSpPr>
        <p:spPr>
          <a:xfrm>
            <a:off x="457200" y="1234440"/>
            <a:ext cx="47548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T code caption"/>
          <p:cNvSpPr txBox="1"/>
          <p:nvPr/>
        </p:nvSpPr>
        <p:spPr>
          <a:xfrm>
            <a:off x="566928" y="1234440"/>
            <a:ext cx="45354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The polars summary as a table</a:t>
            </a:r>
          </a:p>
        </p:txBody>
      </p:sp>
      <p:sp>
        <p:nvSpPr>
          <p:cNvPr id="12" name="GT code box"/>
          <p:cNvSpPr/>
          <p:nvPr/>
        </p:nvSpPr>
        <p:spPr>
          <a:xfrm>
            <a:off x="457200" y="1508760"/>
            <a:ext cx="4754880" cy="1554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GT code code"/>
          <p:cNvSpPr txBox="1"/>
          <p:nvPr/>
        </p:nvSpPr>
        <p:spPr>
          <a:xfrm>
            <a:off x="594360" y="1600200"/>
            <a:ext cx="4480560" cy="137160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from great_tables import GT</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(GT(summary)</a:t>
            </a:r>
          </a:p>
          <a:p>
            <a:pPr algn="l">
              <a:spcAft>
                <a:spcPts val="0"/>
              </a:spcAft>
            </a:pPr>
            <a:r>
              <a:rPr sz="1050" b="0" lang="en-GB">
                <a:solidFill>
                  <a:schemeClr val="bg1"/>
                </a:solidFill>
                <a:latin typeface="Consolas"/>
              </a:rPr>
              <a:t> .tab_header(title="Revenue and TV spend, 2025")</a:t>
            </a:r>
          </a:p>
          <a:p>
            <a:pPr algn="l">
              <a:spcAft>
                <a:spcPts val="0"/>
              </a:spcAft>
            </a:pPr>
            <a:r>
              <a:rPr sz="1050" b="0" lang="en-GB">
                <a:solidFill>
                  <a:schemeClr val="bg1"/>
                </a:solidFill>
                <a:latin typeface="Consolas"/>
              </a:rPr>
              <a:t> .fmt_number(columns=["revenue", "tv"], decimals=0)</a:t>
            </a:r>
          </a:p>
          <a:p>
            <a:pPr algn="l">
              <a:spcAft>
                <a:spcPts val="0"/>
              </a:spcAft>
            </a:pPr>
            <a:r>
              <a:rPr sz="1050" b="0" lang="en-GB">
                <a:solidFill>
                  <a:schemeClr val="bg1"/>
                </a:solidFill>
                <a:latin typeface="Consolas"/>
              </a:rPr>
              <a:t> .cols_label(country="Country",</a:t>
            </a:r>
          </a:p>
          <a:p>
            <a:pPr algn="l">
              <a:spcAft>
                <a:spcPts val="0"/>
              </a:spcAft>
            </a:pPr>
            <a:r>
              <a:rPr sz="1050" b="0" lang="en-GB">
                <a:solidFill>
                  <a:schemeClr val="bg1"/>
                </a:solidFill>
                <a:latin typeface="Consolas"/>
              </a:rPr>
              <a:t>             revenue="Revenue (k EUR)",</a:t>
            </a:r>
          </a:p>
          <a:p>
            <a:pPr algn="l">
              <a:spcAft>
                <a:spcPts val="0"/>
              </a:spcAft>
            </a:pPr>
            <a:r>
              <a:rPr sz="1050" b="0" lang="en-GB">
                <a:solidFill>
                  <a:schemeClr val="bg1"/>
                </a:solidFill>
                <a:latin typeface="Consolas"/>
              </a:rPr>
              <a:t>             tv="TV spend (k EUR)"))</a:t>
            </a:r>
          </a:p>
        </p:txBody>
      </p:sp>
      <p:pic>
        <p:nvPicPr>
          <p:cNvPr id="14" name="Great Tables output" descr="Table of revenue and TV spend in 2025 by country, Germany first with 130,650 thousand euros revenue"/>
          <p:cNvPicPr>
            <a:picLocks noChangeAspect="1"/>
          </p:cNvPicPr>
          <p:nvPr/>
        </p:nvPicPr>
        <p:blipFill>
          <a:blip r:embed="rId3"/>
          <a:stretch>
            <a:fillRect/>
          </a:stretch>
        </p:blipFill>
        <p:spPr>
          <a:xfrm>
            <a:off x="5486400" y="1234440"/>
            <a:ext cx="2926080" cy="2417909"/>
          </a:xfrm>
          <a:prstGeom prst="rect">
            <a:avLst/>
          </a:prstGeom>
        </p:spPr>
      </p:pic>
      <p:sp>
        <p:nvSpPr>
          <p:cNvPr id="15" name="GT row 1"/>
          <p:cNvSpPr/>
          <p:nvPr/>
        </p:nvSpPr>
        <p:spPr>
          <a:xfrm>
            <a:off x="457200" y="3246120"/>
            <a:ext cx="475488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GT bar 1"/>
          <p:cNvSpPr/>
          <p:nvPr/>
        </p:nvSpPr>
        <p:spPr>
          <a:xfrm>
            <a:off x="457200" y="3246120"/>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T text 1"/>
          <p:cNvSpPr txBox="1"/>
          <p:nvPr/>
        </p:nvSpPr>
        <p:spPr>
          <a:xfrm>
            <a:off x="658368" y="3246120"/>
            <a:ext cx="4480560"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Header and labels: </a:t>
            </a:r>
            <a:r>
              <a:rPr sz="1200" b="0" lang="en-GB">
                <a:solidFill>
                  <a:schemeClr val="tx1"/>
                </a:solidFill>
              </a:rPr>
              <a:t>readable names instead of column codes</a:t>
            </a:r>
          </a:p>
        </p:txBody>
      </p:sp>
      <p:sp>
        <p:nvSpPr>
          <p:cNvPr id="18" name="GT row 2"/>
          <p:cNvSpPr/>
          <p:nvPr/>
        </p:nvSpPr>
        <p:spPr>
          <a:xfrm>
            <a:off x="457200" y="3867912"/>
            <a:ext cx="475488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GT bar 2"/>
          <p:cNvSpPr/>
          <p:nvPr/>
        </p:nvSpPr>
        <p:spPr>
          <a:xfrm>
            <a:off x="457200" y="3867912"/>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GT text 2"/>
          <p:cNvSpPr txBox="1"/>
          <p:nvPr/>
        </p:nvSpPr>
        <p:spPr>
          <a:xfrm>
            <a:off x="658368" y="3867912"/>
            <a:ext cx="4480560"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Number formats: </a:t>
            </a:r>
            <a:r>
              <a:rPr sz="1200" b="0" lang="en-GB">
                <a:solidFill>
                  <a:schemeClr val="tx1"/>
                </a:solidFill>
              </a:rPr>
              <a:t>thousands separators, currency, percent</a:t>
            </a:r>
          </a:p>
        </p:txBody>
      </p:sp>
      <p:sp>
        <p:nvSpPr>
          <p:cNvPr id="21" name="GT row 3"/>
          <p:cNvSpPr/>
          <p:nvPr/>
        </p:nvSpPr>
        <p:spPr>
          <a:xfrm>
            <a:off x="457200" y="4489704"/>
            <a:ext cx="475488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GT bar 3"/>
          <p:cNvSpPr/>
          <p:nvPr/>
        </p:nvSpPr>
        <p:spPr>
          <a:xfrm>
            <a:off x="457200" y="4489704"/>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GT text 3"/>
          <p:cNvSpPr txBox="1"/>
          <p:nvPr/>
        </p:nvSpPr>
        <p:spPr>
          <a:xfrm>
            <a:off x="658368" y="4489704"/>
            <a:ext cx="4480560"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Works with polars </a:t>
            </a:r>
            <a:r>
              <a:rPr sz="1200" b="0" lang="en-GB">
                <a:solidFill>
                  <a:schemeClr val="tx1"/>
                </a:solidFill>
              </a:rPr>
              <a:t>and pandas; renders in Quarto reports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statsmodels: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LS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LS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Weekly sales in Austria, 2023 to 2025</a:t>
            </a:r>
          </a:p>
        </p:txBody>
      </p:sp>
      <p:sp>
        <p:nvSpPr>
          <p:cNvPr id="12" name="OLS code box"/>
          <p:cNvSpPr/>
          <p:nvPr/>
        </p:nvSpPr>
        <p:spPr>
          <a:xfrm>
            <a:off x="457200" y="1508760"/>
            <a:ext cx="4937760" cy="1920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LS code code"/>
          <p:cNvSpPr txBox="1"/>
          <p:nvPr/>
        </p:nvSpPr>
        <p:spPr>
          <a:xfrm>
            <a:off x="594360" y="1600200"/>
            <a:ext cx="4663440" cy="173736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statsmodels.formula.api as smf</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at = sales.filter(pl.col("country") == "AT").to_pandas()</a:t>
            </a:r>
          </a:p>
          <a:p>
            <a:pPr algn="l">
              <a:spcAft>
                <a:spcPts val="0"/>
              </a:spcAft>
            </a:pPr>
            <a:r>
              <a:rPr sz="1050" b="0" lang="en-GB">
                <a:solidFill>
                  <a:schemeClr val="bg1"/>
                </a:solidFill>
                <a:latin typeface="Consolas"/>
              </a:rPr>
              <a:t>model = smf.ols(</a:t>
            </a:r>
          </a:p>
          <a:p>
            <a:pPr algn="l">
              <a:spcAft>
                <a:spcPts val="0"/>
              </a:spcAft>
            </a:pPr>
            <a:r>
              <a:rPr sz="1050" b="0" lang="en-GB">
                <a:solidFill>
                  <a:schemeClr val="bg1"/>
                </a:solidFill>
                <a:latin typeface="Consolas"/>
              </a:rPr>
              <a:t>    "sales_units_k ~ price_eur + spend_tv_k"</a:t>
            </a:r>
          </a:p>
          <a:p>
            <a:pPr algn="l">
              <a:spcAft>
                <a:spcPts val="0"/>
              </a:spcAft>
            </a:pPr>
            <a:r>
              <a:rPr sz="1050" b="0" lang="en-GB">
                <a:solidFill>
                  <a:schemeClr val="bg1"/>
                </a:solidFill>
                <a:latin typeface="Consolas"/>
              </a:rPr>
              <a:t>    " + spend_paid_search_k",</a:t>
            </a:r>
          </a:p>
          <a:p>
            <a:pPr algn="l">
              <a:spcAft>
                <a:spcPts val="0"/>
              </a:spcAft>
            </a:pPr>
            <a:r>
              <a:rPr sz="1050" b="0" lang="en-GB">
                <a:solidFill>
                  <a:schemeClr val="bg1"/>
                </a:solidFill>
                <a:latin typeface="Consolas"/>
              </a:rPr>
              <a:t>    data=at).fit()</a:t>
            </a:r>
          </a:p>
          <a:p>
            <a:pPr algn="l">
              <a:spcAft>
                <a:spcPts val="0"/>
              </a:spcAft>
            </a:pPr>
            <a:r>
              <a:rPr sz="1050" b="0" lang="en-GB">
                <a:solidFill>
                  <a:schemeClr val="bg1"/>
                </a:solidFill>
                <a:latin typeface="Consolas"/>
              </a:rPr>
              <a:t>print(model.summary())</a:t>
            </a:r>
          </a:p>
        </p:txBody>
      </p:sp>
      <p:sp>
        <p:nvSpPr>
          <p:cNvPr id="14" name="Coefficient panel"/>
          <p:cNvSpPr/>
          <p:nvPr/>
        </p:nvSpPr>
        <p:spPr>
          <a:xfrm>
            <a:off x="5577840" y="1234440"/>
            <a:ext cx="3108960" cy="2194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ef name 1"/>
          <p:cNvSpPr txBox="1"/>
          <p:nvPr/>
        </p:nvSpPr>
        <p:spPr>
          <a:xfrm>
            <a:off x="5715000" y="1325880"/>
            <a:ext cx="2011680" cy="338328"/>
          </a:xfrm>
          <a:prstGeom prst="rect">
            <a:avLst/>
          </a:prstGeom>
          <a:noFill/>
        </p:spPr>
        <p:txBody>
          <a:bodyPr wrap="square" lIns="0" rIns="0" tIns="0" bIns="0" anchor="ctr">
            <a:noAutofit/>
          </a:bodyPr>
          <a:lstStyle/>
          <a:p>
            <a:pPr algn="l">
              <a:spcAft>
                <a:spcPts val="400"/>
              </a:spcAft>
            </a:pPr>
            <a:r>
              <a:rPr sz="1200" b="1" lang="en-GB">
                <a:solidFill>
                  <a:schemeClr val="tx2"/>
                </a:solidFill>
              </a:rPr>
              <a:t>Coefficient</a:t>
            </a:r>
          </a:p>
        </p:txBody>
      </p:sp>
      <p:sp>
        <p:nvSpPr>
          <p:cNvPr id="16" name="Coef value 1"/>
          <p:cNvSpPr txBox="1"/>
          <p:nvPr/>
        </p:nvSpPr>
        <p:spPr>
          <a:xfrm>
            <a:off x="7635240" y="1325880"/>
            <a:ext cx="914400" cy="338328"/>
          </a:xfrm>
          <a:prstGeom prst="rect">
            <a:avLst/>
          </a:prstGeom>
          <a:noFill/>
        </p:spPr>
        <p:txBody>
          <a:bodyPr wrap="square" lIns="0" rIns="0" tIns="0" bIns="0" anchor="ctr">
            <a:noAutofit/>
          </a:bodyPr>
          <a:lstStyle/>
          <a:p>
            <a:pPr algn="r">
              <a:spcAft>
                <a:spcPts val="400"/>
              </a:spcAft>
            </a:pPr>
            <a:r>
              <a:rPr sz="1200" b="1" lang="en-GB">
                <a:solidFill>
                  <a:schemeClr val="tx2"/>
                </a:solidFill>
              </a:rPr>
              <a:t>Estimate</a:t>
            </a:r>
          </a:p>
        </p:txBody>
      </p:sp>
      <p:sp>
        <p:nvSpPr>
          <p:cNvPr id="17" name="Coef name 2"/>
          <p:cNvSpPr txBox="1"/>
          <p:nvPr/>
        </p:nvSpPr>
        <p:spPr>
          <a:xfrm>
            <a:off x="5715000" y="1664208"/>
            <a:ext cx="2011680" cy="338328"/>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Intercept</a:t>
            </a:r>
          </a:p>
        </p:txBody>
      </p:sp>
      <p:sp>
        <p:nvSpPr>
          <p:cNvPr id="18" name="Coef value 2"/>
          <p:cNvSpPr txBox="1"/>
          <p:nvPr/>
        </p:nvSpPr>
        <p:spPr>
          <a:xfrm>
            <a:off x="7635240" y="1664208"/>
            <a:ext cx="914400" cy="338328"/>
          </a:xfrm>
          <a:prstGeom prst="rect">
            <a:avLst/>
          </a:prstGeom>
          <a:noFill/>
        </p:spPr>
        <p:txBody>
          <a:bodyPr wrap="square" lIns="0" rIns="0" tIns="0" bIns="0" anchor="ctr">
            <a:noAutofit/>
          </a:bodyPr>
          <a:lstStyle/>
          <a:p>
            <a:pPr algn="r">
              <a:spcAft>
                <a:spcPts val="400"/>
              </a:spcAft>
            </a:pPr>
            <a:r>
              <a:rPr sz="1200" b="0" lang="en-GB">
                <a:solidFill>
                  <a:schemeClr val="tx2"/>
                </a:solidFill>
              </a:rPr>
              <a:t>250.63</a:t>
            </a:r>
          </a:p>
        </p:txBody>
      </p:sp>
      <p:sp>
        <p:nvSpPr>
          <p:cNvPr id="19" name="Coef name 3"/>
          <p:cNvSpPr txBox="1"/>
          <p:nvPr/>
        </p:nvSpPr>
        <p:spPr>
          <a:xfrm>
            <a:off x="5715000" y="2002536"/>
            <a:ext cx="2011680" cy="338328"/>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price_eur</a:t>
            </a:r>
          </a:p>
        </p:txBody>
      </p:sp>
      <p:sp>
        <p:nvSpPr>
          <p:cNvPr id="20" name="Coef value 3"/>
          <p:cNvSpPr txBox="1"/>
          <p:nvPr/>
        </p:nvSpPr>
        <p:spPr>
          <a:xfrm>
            <a:off x="7635240" y="2002536"/>
            <a:ext cx="914400" cy="338328"/>
          </a:xfrm>
          <a:prstGeom prst="rect">
            <a:avLst/>
          </a:prstGeom>
          <a:noFill/>
        </p:spPr>
        <p:txBody>
          <a:bodyPr wrap="square" lIns="0" rIns="0" tIns="0" bIns="0" anchor="ctr">
            <a:noAutofit/>
          </a:bodyPr>
          <a:lstStyle/>
          <a:p>
            <a:pPr algn="r">
              <a:spcAft>
                <a:spcPts val="400"/>
              </a:spcAft>
            </a:pPr>
            <a:r>
              <a:rPr sz="1200" b="0" lang="en-GB">
                <a:solidFill>
                  <a:schemeClr val="tx2"/>
                </a:solidFill>
              </a:rPr>
              <a:t>−48.31</a:t>
            </a:r>
          </a:p>
        </p:txBody>
      </p:sp>
      <p:sp>
        <p:nvSpPr>
          <p:cNvPr id="21" name="Coef name 4"/>
          <p:cNvSpPr txBox="1"/>
          <p:nvPr/>
        </p:nvSpPr>
        <p:spPr>
          <a:xfrm>
            <a:off x="5715000" y="2340864"/>
            <a:ext cx="2011680" cy="338328"/>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spend_tv_k</a:t>
            </a:r>
          </a:p>
        </p:txBody>
      </p:sp>
      <p:sp>
        <p:nvSpPr>
          <p:cNvPr id="22" name="Coef value 4"/>
          <p:cNvSpPr txBox="1"/>
          <p:nvPr/>
        </p:nvSpPr>
        <p:spPr>
          <a:xfrm>
            <a:off x="7635240" y="2340864"/>
            <a:ext cx="914400" cy="338328"/>
          </a:xfrm>
          <a:prstGeom prst="rect">
            <a:avLst/>
          </a:prstGeom>
          <a:noFill/>
        </p:spPr>
        <p:txBody>
          <a:bodyPr wrap="square" lIns="0" rIns="0" tIns="0" bIns="0" anchor="ctr">
            <a:noAutofit/>
          </a:bodyPr>
          <a:lstStyle/>
          <a:p>
            <a:pPr algn="r">
              <a:spcAft>
                <a:spcPts val="400"/>
              </a:spcAft>
            </a:pPr>
            <a:r>
              <a:rPr sz="1200" b="0" lang="en-GB">
                <a:solidFill>
                  <a:schemeClr val="tx2"/>
                </a:solidFill>
              </a:rPr>
              <a:t>0.41</a:t>
            </a:r>
          </a:p>
        </p:txBody>
      </p:sp>
      <p:sp>
        <p:nvSpPr>
          <p:cNvPr id="23" name="Coef name 5"/>
          <p:cNvSpPr txBox="1"/>
          <p:nvPr/>
        </p:nvSpPr>
        <p:spPr>
          <a:xfrm>
            <a:off x="5715000" y="2679192"/>
            <a:ext cx="2011680" cy="338328"/>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spend_paid_search_k</a:t>
            </a:r>
          </a:p>
        </p:txBody>
      </p:sp>
      <p:sp>
        <p:nvSpPr>
          <p:cNvPr id="24" name="Coef value 5"/>
          <p:cNvSpPr txBox="1"/>
          <p:nvPr/>
        </p:nvSpPr>
        <p:spPr>
          <a:xfrm>
            <a:off x="7635240" y="2679192"/>
            <a:ext cx="914400" cy="338328"/>
          </a:xfrm>
          <a:prstGeom prst="rect">
            <a:avLst/>
          </a:prstGeom>
          <a:noFill/>
        </p:spPr>
        <p:txBody>
          <a:bodyPr wrap="square" lIns="0" rIns="0" tIns="0" bIns="0" anchor="ctr">
            <a:noAutofit/>
          </a:bodyPr>
          <a:lstStyle/>
          <a:p>
            <a:pPr algn="r">
              <a:spcAft>
                <a:spcPts val="400"/>
              </a:spcAft>
            </a:pPr>
            <a:r>
              <a:rPr sz="1200" b="0" lang="en-GB">
                <a:solidFill>
                  <a:schemeClr val="tx2"/>
                </a:solidFill>
              </a:rPr>
              <a:t>4.03</a:t>
            </a:r>
          </a:p>
        </p:txBody>
      </p:sp>
      <p:sp>
        <p:nvSpPr>
          <p:cNvPr id="25" name="Coef name 6"/>
          <p:cNvSpPr txBox="1"/>
          <p:nvPr/>
        </p:nvSpPr>
        <p:spPr>
          <a:xfrm>
            <a:off x="5715000" y="3017520"/>
            <a:ext cx="2011680" cy="338328"/>
          </a:xfrm>
          <a:prstGeom prst="rect">
            <a:avLst/>
          </a:prstGeom>
          <a:noFill/>
        </p:spPr>
        <p:txBody>
          <a:bodyPr wrap="square" lIns="0" rIns="0" tIns="0" bIns="0" anchor="ctr">
            <a:noAutofit/>
          </a:bodyPr>
          <a:lstStyle/>
          <a:p>
            <a:pPr algn="l">
              <a:spcAft>
                <a:spcPts val="400"/>
              </a:spcAft>
            </a:pPr>
            <a:r>
              <a:rPr sz="1100" b="0" lang="en-GB">
                <a:solidFill>
                  <a:schemeClr val="tx2"/>
                </a:solidFill>
                <a:latin typeface="Consolas"/>
              </a:rPr>
              <a:t>R²  (n = 156)</a:t>
            </a:r>
          </a:p>
        </p:txBody>
      </p:sp>
      <p:sp>
        <p:nvSpPr>
          <p:cNvPr id="26" name="Coef value 6"/>
          <p:cNvSpPr txBox="1"/>
          <p:nvPr/>
        </p:nvSpPr>
        <p:spPr>
          <a:xfrm>
            <a:off x="7635240" y="3017520"/>
            <a:ext cx="914400" cy="338328"/>
          </a:xfrm>
          <a:prstGeom prst="rect">
            <a:avLst/>
          </a:prstGeom>
          <a:noFill/>
        </p:spPr>
        <p:txBody>
          <a:bodyPr wrap="square" lIns="0" rIns="0" tIns="0" bIns="0" anchor="ctr">
            <a:noAutofit/>
          </a:bodyPr>
          <a:lstStyle/>
          <a:p>
            <a:pPr algn="r">
              <a:spcAft>
                <a:spcPts val="400"/>
              </a:spcAft>
            </a:pPr>
            <a:r>
              <a:rPr sz="1200" b="0" lang="en-GB">
                <a:solidFill>
                  <a:schemeClr val="tx2"/>
                </a:solidFill>
              </a:rPr>
              <a:t>0.43</a:t>
            </a:r>
          </a:p>
        </p:txBody>
      </p:sp>
      <p:sp>
        <p:nvSpPr>
          <p:cNvPr id="27" name="OLS reading box"/>
          <p:cNvSpPr/>
          <p:nvPr/>
        </p:nvSpPr>
        <p:spPr>
          <a:xfrm>
            <a:off x="457200" y="3611880"/>
            <a:ext cx="82296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OLS reading" descr=""/>
          <p:cNvPicPr>
            <a:picLocks noChangeAspect="1"/>
          </p:cNvPicPr>
          <p:nvPr/>
        </p:nvPicPr>
        <p:blipFill>
          <a:blip r:embed="rId3"/>
          <a:stretch>
            <a:fillRect/>
          </a:stretch>
        </p:blipFill>
        <p:spPr>
          <a:xfrm>
            <a:off x="658368" y="3785616"/>
            <a:ext cx="384048" cy="384048"/>
          </a:xfrm>
          <a:prstGeom prst="rect">
            <a:avLst/>
          </a:prstGeom>
        </p:spPr>
      </p:pic>
      <p:sp>
        <p:nvSpPr>
          <p:cNvPr id="29" name="OLS reading text"/>
          <p:cNvSpPr txBox="1"/>
          <p:nvPr/>
        </p:nvSpPr>
        <p:spPr>
          <a:xfrm>
            <a:off x="1234440" y="3611880"/>
            <a:ext cx="7269480" cy="731520"/>
          </a:xfrm>
          <a:prstGeom prst="rect">
            <a:avLst/>
          </a:prstGeom>
          <a:noFill/>
        </p:spPr>
        <p:txBody>
          <a:bodyPr wrap="square" lIns="0" rIns="0" tIns="0" bIns="0" anchor="ctr">
            <a:noAutofit/>
          </a:bodyPr>
          <a:lstStyle/>
          <a:p>
            <a:pPr algn="l">
              <a:spcAft>
                <a:spcPts val="400"/>
              </a:spcAft>
            </a:pPr>
            <a:r>
              <a:rPr sz="1300" b="1" lang="en-GB">
                <a:solidFill>
                  <a:schemeClr val="tx2"/>
                </a:solidFill>
              </a:rPr>
              <a:t>Reading it: </a:t>
            </a:r>
            <a:r>
              <a:rPr sz="1300" b="0" lang="en-GB">
                <a:solidFill>
                  <a:schemeClr val="tx1"/>
                </a:solidFill>
              </a:rPr>
              <a:t>EUR 1,000 more paid search in a week goes with about 4,000 more units sold, holding price and TV constant.</a:t>
            </a:r>
          </a:p>
        </p:txBody>
      </p:sp>
      <p:sp>
        <p:nvSpPr>
          <p:cNvPr id="30" name="Later note"/>
          <p:cNvSpPr txBox="1"/>
          <p:nvPr/>
        </p:nvSpPr>
        <p:spPr>
          <a:xfrm>
            <a:off x="457200" y="4480560"/>
            <a:ext cx="8229600" cy="594360"/>
          </a:xfrm>
          <a:prstGeom prst="rect">
            <a:avLst/>
          </a:prstGeom>
          <a:noFill/>
        </p:spPr>
        <p:txBody>
          <a:bodyPr wrap="square" lIns="0" rIns="0" tIns="0" bIns="0" anchor="ctr">
            <a:noAutofit/>
          </a:bodyPr>
          <a:lstStyle/>
          <a:p>
            <a:pPr algn="l">
              <a:spcAft>
                <a:spcPts val="400"/>
              </a:spcAft>
            </a:pPr>
            <a:r>
              <a:rPr sz="1300" b="1" lang="en-GB">
                <a:solidFill>
                  <a:schemeClr val="tx2"/>
                </a:solidFill>
              </a:rPr>
              <a:t>Later in the course: </a:t>
            </a:r>
            <a:r>
              <a:rPr sz="1300" b="0" lang="en-GB">
                <a:solidFill>
                  <a:schemeClr val="tx1"/>
                </a:solidFill>
              </a:rPr>
              <a:t>scikit-learn for logistic regression and pymc-marketing for Bayesian MMM.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Placeholder 1"/>
          <p:cNvGraphicFramePr>
            <a:graphicFrameLocks noGrp="1"/>
          </p:cNvGraphicFramePr>
          <p:nvPr>
            <p:ph type="tbl" idx="1"/>
          </p:nvPr>
        </p:nvGraphicFramePr>
        <p:xfrm>
          <a:off x="462019" y="1344613"/>
          <a:ext cx="8229600" cy="2966720"/>
        </p:xfrm>
        <a:graphic>
          <a:graphicData uri="http://schemas.openxmlformats.org/drawingml/2006/table">
            <a:tbl>
              <a:tblPr firstRow="1" bandRow="1">
                <a:tableStyleId>{5C22544A-7EE6-4342-B048-85BDC9FD1C3A}</a:tableStyleId>
              </a:tblPr>
              <a:tblGrid>
                <a:gridCol w="3108960"/>
                <a:gridCol w="5120640"/>
              </a:tblGrid>
              <a:tr h="370840">
                <a:tc>
                  <a:txBody>
                    <a:bodyPr/>
                    <a:lstStyle/>
                    <a:p>
                      <a:r>
                        <a:rPr sz="1500" lang="en-GB"/>
                        <a:t>Problem</a:t>
                      </a:r>
                    </a:p>
                  </a:txBody>
                  <a:tcPr marT="54000" marB="54000"/>
                </a:tc>
                <a:tc>
                  <a:txBody>
                    <a:bodyPr/>
                    <a:lstStyle/>
                    <a:p>
                      <a:r>
                        <a:rPr sz="1500" lang="en-GB"/>
                        <a:t>Fix</a:t>
                      </a:r>
                    </a:p>
                  </a:txBody>
                  <a:tcPr marT="54000" marB="54000"/>
                </a:tc>
              </a:tr>
              <a:tr h="370840">
                <a:tc>
                  <a:txBody>
                    <a:bodyPr/>
                    <a:lstStyle/>
                    <a:p>
                      <a:r>
                        <a:rPr sz="1300" b="1" lang="en-GB"/>
                        <a:t>Windows: python or py is not recognised</a:t>
                      </a:r>
                    </a:p>
                  </a:txBody>
                  <a:tcPr marT="54000" marB="54000"/>
                </a:tc>
                <a:tc>
                  <a:txBody>
                    <a:bodyPr/>
                    <a:lstStyle/>
                    <a:p>
                      <a:r>
                        <a:rPr sz="1300" lang="en-GB"/>
                        <a:t>Reinstall the Python install manager, then run py install 3.14</a:t>
                      </a:r>
                    </a:p>
                  </a:txBody>
                  <a:tcPr marT="54000" marB="54000"/>
                </a:tc>
              </a:tr>
              <a:tr h="370840">
                <a:tc>
                  <a:txBody>
                    <a:bodyPr/>
                    <a:lstStyle/>
                    <a:p>
                      <a:r>
                        <a:rPr sz="1300" b="1" lang="en-GB"/>
                        <a:t>No .venv in the Interpreter picker</a:t>
                      </a:r>
                    </a:p>
                  </a:txBody>
                  <a:tcPr marT="54000" marB="54000"/>
                </a:tc>
                <a:tc>
                  <a:txBody>
                    <a:bodyPr/>
                    <a:lstStyle/>
                    <a:p>
                      <a:r>
                        <a:rPr sz="1300" lang="en-GB"/>
                        <a:t>Open the course folder, not a single file; then pick Python 3.14.8 (.venv)</a:t>
                      </a:r>
                    </a:p>
                  </a:txBody>
                  <a:tcPr marT="54000" marB="54000"/>
                </a:tc>
              </a:tr>
              <a:tr h="370840">
                <a:tc>
                  <a:txBody>
                    <a:bodyPr/>
                    <a:lstStyle/>
                    <a:p>
                      <a:r>
                        <a:rPr sz="1300" b="1" lang="en-GB"/>
                        <a:t>ModuleNotFoundError</a:t>
                      </a:r>
                    </a:p>
                  </a:txBody>
                  <a:tcPr marT="54000" marB="54000"/>
                </a:tc>
                <a:tc>
                  <a:txBody>
                    <a:bodyPr/>
                    <a:lstStyle/>
                    <a:p>
                      <a:r>
                        <a:rPr sz="1300" lang="en-GB"/>
                        <a:t>Select the .venv interpreter, then %pip install the package</a:t>
                      </a:r>
                    </a:p>
                  </a:txBody>
                  <a:tcPr marT="54000" marB="54000"/>
                </a:tc>
              </a:tr>
              <a:tr h="370840">
                <a:tc>
                  <a:txBody>
                    <a:bodyPr/>
                    <a:lstStyle/>
                    <a:p>
                      <a:r>
                        <a:rPr sz="1300" b="1" lang="en-GB"/>
                        <a:t>macOS: externally-managed-environment</a:t>
                      </a:r>
                    </a:p>
                  </a:txBody>
                  <a:tcPr marT="54000" marB="54000"/>
                </a:tc>
                <a:tc>
                  <a:txBody>
                    <a:bodyPr/>
                    <a:lstStyle/>
                    <a:p>
                      <a:r>
                        <a:rPr sz="1300" lang="en-GB"/>
                        <a:t>You used the system Python: select the project's .venv first</a:t>
                      </a:r>
                    </a:p>
                  </a:txBody>
                  <a:tcPr marT="54000" marB="54000"/>
                </a:tc>
              </a:tr>
              <a:tr h="370840">
                <a:tc>
                  <a:txBody>
                    <a:bodyPr/>
                    <a:lstStyle/>
                    <a:p>
                      <a:r>
                        <a:rPr sz="1300" b="1" lang="en-GB"/>
                        <a:t>Quarto preview does not start</a:t>
                      </a:r>
                    </a:p>
                  </a:txBody>
                  <a:tcPr marT="54000" marB="54000"/>
                </a:tc>
                <a:tc>
                  <a:txBody>
                    <a:bodyPr/>
                    <a:lstStyle/>
                    <a:p>
                      <a:r>
                        <a:rPr sz="1300" lang="en-GB"/>
                        <a:t>Restart Positron; run quarto check in the terminal</a:t>
                      </a:r>
                    </a:p>
                  </a:txBody>
                  <a:tcPr marT="54000" marB="54000"/>
                </a:tc>
              </a:tr>
              <a:tr h="370840">
                <a:tc>
                  <a:txBody>
                    <a:bodyPr/>
                    <a:lstStyle/>
                    <a:p>
                      <a:r>
                        <a:rPr sz="1300" b="1" lang="en-GB"/>
                        <a:t>Clone fails in GitHub Desktop</a:t>
                      </a:r>
                    </a:p>
                  </a:txBody>
                  <a:tcPr marT="54000" marB="54000"/>
                </a:tc>
                <a:tc>
                  <a:txBody>
                    <a:bodyPr/>
                    <a:lstStyle/>
                    <a:p>
                      <a:r>
                        <a:rPr sz="1300" lang="en-GB"/>
                        <a:t>Sign in again under Accounts in the settings; check the URL</a:t>
                      </a:r>
                    </a:p>
                  </a:txBody>
                  <a:tcPr marT="54000" marB="54000"/>
                </a:tc>
              </a:tr>
              <a:tr h="370840">
                <a:tc>
                  <a:txBody>
                    <a:bodyPr/>
                    <a:lstStyle/>
                    <a:p>
                      <a:r>
                        <a:rPr sz="1300" b="1" lang="en-GB"/>
                        <a:t>Copilot is not offered</a:t>
                      </a:r>
                    </a:p>
                  </a:txBody>
                  <a:tcPr marT="54000" marB="54000"/>
                </a:tc>
                <a:tc>
                  <a:txBody>
                    <a:bodyPr/>
                    <a:lstStyle/>
                    <a:p>
                      <a:r>
                        <a:rPr sz="1300" lang="en-GB"/>
                        <a:t>GitHub Education still pending: use Copilot Free meanwhile</a:t>
                      </a:r>
                    </a:p>
                  </a:txBody>
                  <a:tcPr marT="54000" marB="54000"/>
                </a:tc>
              </a:tr>
            </a:tbl>
          </a:graphicData>
        </a:graphic>
      </p:graphicFrame>
      <p:sp>
        <p:nvSpPr>
          <p:cNvPr id="3" name="Title 2"/>
          <p:cNvSpPr>
            <a:spLocks noGrp="1"/>
          </p:cNvSpPr>
          <p:nvPr>
            <p:ph type="title"/>
          </p:nvPr>
        </p:nvSpPr>
        <p:spPr/>
        <p:txBody>
          <a:bodyPr/>
          <a:lstStyle/>
          <a:p>
            <a:r>
              <a:rPr sz="1600" lang="en-GB"/>
              <a:t>When something goes wrong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 before you leave 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list Accounts body"/>
          <p:cNvSpPr/>
          <p:nvPr/>
        </p:nvSpPr>
        <p:spPr>
          <a:xfrm>
            <a:off x="457200" y="1645920"/>
            <a:ext cx="4046220"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list Accounts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ecklist Accounts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Accounts</a:t>
            </a:r>
          </a:p>
        </p:txBody>
      </p:sp>
      <p:pic>
        <p:nvPicPr>
          <p:cNvPr id="13" name="Icon checklist Accounts" descr=""/>
          <p:cNvPicPr>
            <a:picLocks noChangeAspect="1"/>
          </p:cNvPicPr>
          <p:nvPr/>
        </p:nvPicPr>
        <p:blipFill>
          <a:blip r:embed="rId3"/>
          <a:stretch>
            <a:fillRect/>
          </a:stretch>
        </p:blipFill>
        <p:spPr>
          <a:xfrm>
            <a:off x="4064508" y="1280160"/>
            <a:ext cx="310896" cy="310896"/>
          </a:xfrm>
          <a:prstGeom prst="rect">
            <a:avLst/>
          </a:prstGeom>
        </p:spPr>
      </p:pic>
      <p:sp>
        <p:nvSpPr>
          <p:cNvPr id="14" name="Checkbox Accounts 1"/>
          <p:cNvSpPr/>
          <p:nvPr/>
        </p:nvSpPr>
        <p:spPr>
          <a:xfrm>
            <a:off x="640080" y="185623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hecklist Accounts item 1"/>
          <p:cNvSpPr txBox="1"/>
          <p:nvPr/>
        </p:nvSpPr>
        <p:spPr>
          <a:xfrm>
            <a:off x="1005840" y="178308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GitHub account with two-factor sign-in</a:t>
            </a:r>
          </a:p>
        </p:txBody>
      </p:sp>
      <p:sp>
        <p:nvSpPr>
          <p:cNvPr id="16" name="Checkbox Accounts 2"/>
          <p:cNvSpPr/>
          <p:nvPr/>
        </p:nvSpPr>
        <p:spPr>
          <a:xfrm>
            <a:off x="640080" y="235915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list Accounts item 2"/>
          <p:cNvSpPr txBox="1"/>
          <p:nvPr/>
        </p:nvSpPr>
        <p:spPr>
          <a:xfrm>
            <a:off x="1005840" y="228600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GitHub Education application sent</a:t>
            </a:r>
          </a:p>
        </p:txBody>
      </p:sp>
      <p:sp>
        <p:nvSpPr>
          <p:cNvPr id="18" name="Checkbox Accounts 3"/>
          <p:cNvSpPr/>
          <p:nvPr/>
        </p:nvSpPr>
        <p:spPr>
          <a:xfrm>
            <a:off x="640080" y="286207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hecklist Accounts item 3"/>
          <p:cNvSpPr txBox="1"/>
          <p:nvPr/>
        </p:nvSpPr>
        <p:spPr>
          <a:xfrm>
            <a:off x="1005840" y="278892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DataCamp classroom joined</a:t>
            </a:r>
          </a:p>
        </p:txBody>
      </p:sp>
      <p:sp>
        <p:nvSpPr>
          <p:cNvPr id="20" name="Checklist Laptop body"/>
          <p:cNvSpPr/>
          <p:nvPr/>
        </p:nvSpPr>
        <p:spPr>
          <a:xfrm>
            <a:off x="4640580" y="1645920"/>
            <a:ext cx="4046220"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hecklist Laptop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hecklist Laptop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Laptop</a:t>
            </a:r>
          </a:p>
        </p:txBody>
      </p:sp>
      <p:pic>
        <p:nvPicPr>
          <p:cNvPr id="23" name="Icon checklist Laptop" descr=""/>
          <p:cNvPicPr>
            <a:picLocks noChangeAspect="1"/>
          </p:cNvPicPr>
          <p:nvPr/>
        </p:nvPicPr>
        <p:blipFill>
          <a:blip r:embed="rId4"/>
          <a:stretch>
            <a:fillRect/>
          </a:stretch>
        </p:blipFill>
        <p:spPr>
          <a:xfrm>
            <a:off x="8247888" y="1280160"/>
            <a:ext cx="310896" cy="310896"/>
          </a:xfrm>
          <a:prstGeom prst="rect">
            <a:avLst/>
          </a:prstGeom>
        </p:spPr>
      </p:pic>
      <p:sp>
        <p:nvSpPr>
          <p:cNvPr id="24" name="Checkbox Laptop 1"/>
          <p:cNvSpPr/>
          <p:nvPr/>
        </p:nvSpPr>
        <p:spPr>
          <a:xfrm>
            <a:off x="4823460" y="185623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hecklist Laptop item 1"/>
          <p:cNvSpPr txBox="1"/>
          <p:nvPr/>
        </p:nvSpPr>
        <p:spPr>
          <a:xfrm>
            <a:off x="5189220" y="178308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Python 3.14, Positron, Quarto, GitHub Desktop</a:t>
            </a:r>
          </a:p>
        </p:txBody>
      </p:sp>
      <p:sp>
        <p:nvSpPr>
          <p:cNvPr id="26" name="Checkbox Laptop 2"/>
          <p:cNvSpPr/>
          <p:nvPr/>
        </p:nvSpPr>
        <p:spPr>
          <a:xfrm>
            <a:off x="4823460" y="235915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cklist Laptop item 2"/>
          <p:cNvSpPr txBox="1"/>
          <p:nvPr/>
        </p:nvSpPr>
        <p:spPr>
          <a:xfrm>
            <a:off x="5189220" y="228600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Course repository cloned and open</a:t>
            </a:r>
          </a:p>
        </p:txBody>
      </p:sp>
      <p:sp>
        <p:nvSpPr>
          <p:cNvPr id="28" name="Checkbox Laptop 3"/>
          <p:cNvSpPr/>
          <p:nvPr/>
        </p:nvSpPr>
        <p:spPr>
          <a:xfrm>
            <a:off x="4823460" y="286207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hecklist Laptop item 3"/>
          <p:cNvSpPr txBox="1"/>
          <p:nvPr/>
        </p:nvSpPr>
        <p:spPr>
          <a:xfrm>
            <a:off x="5189220" y="278892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.venv created and selected</a:t>
            </a:r>
          </a:p>
        </p:txBody>
      </p:sp>
      <p:sp>
        <p:nvSpPr>
          <p:cNvPr id="30" name="Checkbox Laptop 4"/>
          <p:cNvSpPr/>
          <p:nvPr/>
        </p:nvSpPr>
        <p:spPr>
          <a:xfrm>
            <a:off x="4823460" y="336499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hecklist Laptop item 4"/>
          <p:cNvSpPr txBox="1"/>
          <p:nvPr/>
        </p:nvSpPr>
        <p:spPr>
          <a:xfrm>
            <a:off x="5189220" y="329184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“ready” and the test report renders</a:t>
            </a:r>
          </a:p>
        </p:txBody>
      </p:sp>
      <p:sp>
        <p:nvSpPr>
          <p:cNvPr id="32" name="Checkbox Laptop 5"/>
          <p:cNvSpPr/>
          <p:nvPr/>
        </p:nvSpPr>
        <p:spPr>
          <a:xfrm>
            <a:off x="4823460" y="3867912"/>
            <a:ext cx="237744" cy="237744"/>
          </a:xfrm>
          <a:prstGeom prst="rect">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cklist Laptop item 5"/>
          <p:cNvSpPr txBox="1"/>
          <p:nvPr/>
        </p:nvSpPr>
        <p:spPr>
          <a:xfrm>
            <a:off x="5189220" y="3794760"/>
            <a:ext cx="3360420" cy="411480"/>
          </a:xfrm>
          <a:prstGeom prst="rect">
            <a:avLst/>
          </a:prstGeom>
          <a:noFill/>
        </p:spPr>
        <p:txBody>
          <a:bodyPr wrap="square" lIns="0" rIns="0" tIns="0" bIns="0" anchor="ctr">
            <a:noAutofit/>
          </a:bodyPr>
          <a:lstStyle/>
          <a:p>
            <a:pPr algn="l">
              <a:spcAft>
                <a:spcPts val="400"/>
              </a:spcAft>
            </a:pPr>
            <a:r>
              <a:rPr sz="1200" b="0" lang="en-GB">
                <a:solidFill>
                  <a:schemeClr val="tx1"/>
                </a:solidFill>
              </a:rPr>
              <a:t>Posit Assistant connected</a:t>
            </a:r>
          </a:p>
        </p:txBody>
      </p:sp>
      <p:sp>
        <p:nvSpPr>
          <p:cNvPr id="34" name="Help box"/>
          <p:cNvSpPr/>
          <p:nvPr/>
        </p:nvSpPr>
        <p:spPr>
          <a:xfrm>
            <a:off x="457200" y="452628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Help" descr=""/>
          <p:cNvPicPr>
            <a:picLocks noChangeAspect="1"/>
          </p:cNvPicPr>
          <p:nvPr/>
        </p:nvPicPr>
        <p:blipFill>
          <a:blip r:embed="rId5"/>
          <a:stretch>
            <a:fillRect/>
          </a:stretch>
        </p:blipFill>
        <p:spPr>
          <a:xfrm>
            <a:off x="658368" y="4608576"/>
            <a:ext cx="384048" cy="384048"/>
          </a:xfrm>
          <a:prstGeom prst="rect">
            <a:avLst/>
          </a:prstGeom>
        </p:spPr>
      </p:pic>
      <p:sp>
        <p:nvSpPr>
          <p:cNvPr id="36" name="Help text"/>
          <p:cNvSpPr txBox="1"/>
          <p:nvPr/>
        </p:nvSpPr>
        <p:spPr>
          <a:xfrm>
            <a:off x="1234440" y="4526280"/>
            <a:ext cx="726948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Not ready yet? </a:t>
            </a:r>
            <a:r>
              <a:rPr sz="1300" b="0" lang="en-GB">
                <a:solidFill>
                  <a:schemeClr val="bg1"/>
                </a:solidFill>
              </a:rPr>
              <a:t>Post the failing step in the Q&amp;A forum on Canvas before Session 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