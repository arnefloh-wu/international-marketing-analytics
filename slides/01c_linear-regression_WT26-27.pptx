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 id="285" r:id="rId42"/>
    <p:sldId id="286" r:id="rId43"/>
    <p:sldId id="287" r:id="rId44"/>
    <p:sldId id="288" r:id="rId45"/>
    <p:sldId id="289" r:id="rId46"/>
    <p:sldId id="290" r:id="rId47"/>
    <p:sldId id="291" r:id="rId48"/>
    <p:sldId id="292" r:id="rId49"/>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Linear regression is the workhorse of the course: every marketing mix model is a regression with transformed variables. Today: the theory, the assumptions and how to test them, real-world uses, and a first model on real chocolate scanner data in Python. Readings: Bojinov, Parzen and Hamilton (2025), Skiera, Reiner and Albers (2022).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blocks. Theory and assumptions in the lecture; the chocolate data live in Positron; then an in-class assignment in groups and the instructions for the first individual coding exercise.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weekly scanner data for one chocolate brand (brand 1) and three competitors: 68 weeks of unit sales, prices, feature ads and in-store displays, plus temperature and holiday weeks. Brand 1 cut its price from about 1.50 to about 1.03 in seven weeks (blue dots); sales jumped to up to five times the normal level. The brand manager wants to know how strongly sales respond to price, and whether the regular price is right.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Concepts first, each shown on the chocolate data. Bojinov et al. (2025) and Skiera et al. (2022) cover the same steps in more depth.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correlation r lies between -1 and +1 and measures the direction and strength of a linear relationship. The rule of thumb in the HBS note: below 0.2 very weak, up to 0.4 weak to moderate, up to 0.6 medium to substantial, up to 0.8 very strong, above extremely strong. Sales and own price of brand 1 correlate at -0.94. Two warnings: r only measures linear association (a perfect U-shape has r = 0), and correlation is not causation.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 sales = 1,110 - 669 x price1 is the least-squares line for brand 1. The slope says: one unit (one euro) more price, 669 units fewer per week; more useful, 10 cents more price, about 67 units fewer. R-squared is 0.88. But look at the chart: the points curve. The line overshoots in the middle and misses the promotion weeks, a first hint that a straight line is the wrong form (logs follow).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residual is the vertical distance between an observed week and the line. Ordinary least squares (OLS) chooses intercept and slope so that the sum of squared residuals is as small as possible. Squaring makes positive and negative misses count equally and weighs large misses more, which is also why single extreme weeks can pull the line (outliers, Part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several explanatory variables each coefficient measures the effect of one variable while the others are held constant (ceteris paribus). This is exactly the marketing mix question: what does a price cut do if feature ads, competitor prices and the season stay the same? A variable left out of the model hands its effect to the variables that are in it (omitted variable bias).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coefficient comes with a standard error. t = b / se tests whether the true coefficient is zero; the p-value is the probability of a t this extreme if it were zero; below 0.05 we call it significant. The 95 % confidence interval is about b plus or minus two standard errors. The F-test asks whether all slopes together are zero. For brand 1: own-price elasticity -3.64, se 0.30, t -12.1, interval -4.24 to -3.04; F = 59.5, p &lt; 0.001.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R-squared is the share of the variation in the outcome that the model explains; it never falls when a variable is added, so adjusted R-squared penalises extra variables. The residual standard error (or RMSE) is the typical miss in the units of the outcome: in a log model, 0.169 means about 17 % per week. Compare R-squared only between models with the same outcome: the simple model (sales) has 0.88, the log model (log sales) 0.87, and these are not comparable.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Logs turn a multiplicative sales response function into a linear regression (Skiera et al. 2022): in the log-log form the coefficient is an elasticity, the per cent change in sales for a 1 % change in the driver. A dummy (0/1) in a log model shifts sales by exp(b) - 1 per cent: December -0.385 means exp(-0.385) - 1 = -32 %. For small b, b x 100 is a good approximation.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 constant elasticity e below -1, the profit-maximising price is marginal cost times e / (1 + e) (the Amoroso-Robinson relation). Skiera et al. estimate e = -2.34 with unit cost $30, which gives about $52. For brand 1 e = -3.64 gives a price 1.38 times marginal cost, a 38 % markup. Caveats: this is a short-term, promotion-driven elasticity; regular-price elasticities are usually smaller, competitors react, and the retailer takes a margin.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first (residual plots), then test, then decide. Skiera et al. (2022) recommend checking multicollinearity, autocorrelation and heteroscedasticity in every model.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Linearity and no omitted variables protect the coefficients themselves; homoscedasticity, no autocorrelation and normal residuals protect the standard errors and therefore the t- and F-tests. Normality matters least: with enough observations (Skiera et al.: even 10 to 20) the tests still work. Skiera et al. recommend at least three, better five times as many observations as coefficients. Exogeneity is the one no test can prove: it needs a good design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residuals against fitted values for the main brand-1 model. No curve and no funnel, so the linear log form and constant variance look acceptable; a few price-cut weeks sit to the right. Right: the histogram is roughly bell-shaped with slightly heavy tails.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Durbin-Watson 1.41: below 2, some positive autocorrelation between neighbouring weeks, which makes the usual standard errors a little too small; Newey-West (HAC) standard errors correct this (0.32 instead of 0.30 for own price). Breusch-Pagan p = 0.14 and Jarque-Bera p = 0.07: no evidence against constant variance and normal residuals at 5 %. Largest VIF 2.4: no multicollinearity.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fixes are one argument in statsmodels: cov_type='HC3' for heteroscedasticity-robust standard errors, cov_type='HAC' with maxlags for autocorrelation (Newey-West). Multicollinearity has no econometric cure: more variation in the data, combine variables, or run an experiment (Skiera et al.). Outliers: check the data first, report results with and without, never delete silently. Endogeneity needs design: experiments, instruments, panel data.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Multicollinearity: brand 1 ran displays in only four weeks, mostly together with features and price cuts; adding display1 and fand1 gives VIFs of 11.4 and 10.9. Influence: there is a single Easter week; an Easter dummy fits that week perfectly (leverage 1.00), so its coefficient says nothing. Skiera et al.: mailings and salespersons correlate at 0.989; with both in the model the VIF is 53 and the salesperson coefficient turns negative and insignificant.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OLS assumes that the explanatory variables are unrelated to the error. Marketing breaks this whenever managers spend more where they expect success: then high spend and high unexplained sales go together and the coefficient is too large (Skiera et al.). Price cuts are often timed with features and displays, so the price coefficient also carries their effect. Gordon et al. (2019) compared 15 Facebook experiments with regression-based estimates: the observational methods often overstated the lift, sometimes by a factor of three or more.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Regression is everywhere in marketing practice, usually with a different name.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Bijmolt, van Heerde and Pieters (2005) pool 1,851 price elasticities: mean -2.62. Sethuraman, Tellis and Briesch (2011): short-term advertising elasticity 0.12 on average. Datta et al. (2022): across 14 Asia-Pacific countries the average price elasticity is -0.42 and lower where power distance is high. Brand 1's -3.64 is more price-sensitive than the average brand: chocolate has many close substitutes and the estimate is driven by promotion weeks.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Meta's Robyn is a ridge regression on adstocked and saturated media variables: MMM in production. Microsoft and Booking.com add the pre-period metric as a covariate in A/B tests (CUPED), which cuts the sample size needed. Google estimates ad effectiveness from geo experiments with regressions of test on control regions. Walmart's M5 competition showed that forecasts need price, promotion and event regressors. statworx (Frankfurt) estimates price elasticities from retail sales with log-log regressions. Bayer reallocated its budget across countries with estimated elasticities (Fischer et al. 2011).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in Positron. The code on the next slides is complete: copy it into a Quarto file and run it cell by cell.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data/legacy/chocolate_dataset.csv in the course repository (also as the original .xlsx). Feature, display and fand (feature and display) are shares of stores between 0 and 1. Sales and prices are for brand 1 unless numbered otherwise; units are as delivered by the data provider.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polars reads the CSV; describe() gives counts, means and ranges. plotnine draws the scatter plot with the least-squares line in three lines of code. Always look before you model.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statsmodels takes a pandas data frame, so .to_pandas() converts the polars frame (pyarrow does the work in the background). The formula reads like the equation. summary() prints the full table; params, bse, pvalues and rsquared give single numbers for the text.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np.log inside the formula transforms the variables; numpy comes with statsmodels. Own price: elasticity -3.64, highly significant. Competitor prices are not significant at 5 %; the sign for brand 2 is negative, which would mean a complement and is not plausible, so we do not interpret it. December -0.385: exp(-0.385) - 1 = -32 %. Temperature: -0.66 % per degree.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functions, four numbers. Then refit with HAC standard errors because Durbin-Watson is below 2. The residual plot uses the same plotnine grammar as before.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alone, then compare with your neighbour; reveal the answers one by one. Answers: 1 C (the sum of squared residuals). 2 B (log-log: an elasticity, 1 % higher price, 3.6 % fewer sales). 3 B (multicollinearity; VIF above 10 is a warning). 4 A (below 2: positive autocorrelation between neighbouring weeks, so the usual standard errors are too small; report HAC errors). 5 B (R-squared never falls when a variable is added; compare adjusted R-squared or test the coefficient). Questions 1 and 3 adapted from the quantmethods exam bank.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code from Part 4, then answer the four questions. One group presents per question.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answers. 1 A falling cloud is weak for brands 3 and 4; brand 2 shows little relation: weak competition at the price level in these data. 2 With display1 and fand1 the VIFs exceed 10 and the display coefficients swing and lose significance: the four display weeks cannot separate the effects. 3 With marginal cost 0.80: p* = 0.80 x 1.38 = 1.10; the actual regular price is about 1.50, because the -3.64 is a short-term promotion elasticity, the retailer adds its margin and competitors would react. 4 For example: 'Promotions sell, but a permanent price cut to 1.10 would rest on a promotion elasticity; test it in a few stores first.'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of four coding exercises. It applies the code of this session to a similar task.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Individual work. The exercise reuses the data of this session with a different specification (display1 added, marginal cost 0.90), so the in-class code transfers but the answers differ. The file must render from top to bottom; deadline and upload on Canvas. AI assistants are allowed; the prompt log at the end shows how they were used.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Grading on 20 points, scaled to 5 % of the final grade. Interpretation counts most, because the AI writes much of the code. Deadline: see Canvas.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students remember one thing: in a log-log model the coefficient is an elasticity, and an elasticity turns into a price with one formula, but only if the assumptions hold and the data vary enough.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Core readings first. All sources are listed with notes in instructor/resources/regression-resource-guide.md.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Contact details on the card; office hours via the booking 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endParaRPr lang="en-GB" sz="1200"/>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19.png"/><Relationship Id="rId6" Type="http://schemas.openxmlformats.org/officeDocument/2006/relationships/image" Target="../media/image25.png"/><Relationship Id="rId7"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0.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15.png"/><Relationship Id="rId6"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6.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2.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2.png"/><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en-GB"/>
              <a:t>International Marketing Analytics</a:t>
            </a:r>
          </a:p>
        </p:txBody>
      </p:sp>
      <p:sp>
        <p:nvSpPr>
          <p:cNvPr id="3" name="Subtitle 2"/>
          <p:cNvSpPr>
            <a:spLocks noGrp="1"/>
          </p:cNvSpPr>
          <p:nvPr>
            <p:ph type="subTitle" idx="1"/>
          </p:nvPr>
        </p:nvSpPr>
        <p:spPr/>
        <p:txBody>
          <a:bodyPr/>
          <a:lstStyle/>
          <a:p>
            <a:r>
              <a:rPr lang="en-GB"/>
              <a:t>Linear regression</a:t>
            </a:r>
          </a:p>
        </p:txBody>
      </p:sp>
      <p:sp>
        <p:nvSpPr>
          <p:cNvPr id="4" name="Text Placeholder 3"/>
          <p:cNvSpPr>
            <a:spLocks noGrp="1"/>
          </p:cNvSpPr>
          <p:nvPr>
            <p:ph type="body" idx="12" sz="quarter"/>
          </p:nvPr>
        </p:nvSpPr>
        <p:spPr/>
        <p:txBody>
          <a:bodyPr/>
          <a:lstStyle/>
          <a:p>
            <a:r>
              <a:rPr lang="en-GB"/>
              <a:t>Session 1 · WT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Today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an steps step 1"/>
          <p:cNvSpPr/>
          <p:nvPr/>
        </p:nvSpPr>
        <p:spPr>
          <a:xfrm>
            <a:off x="457200" y="1234440"/>
            <a:ext cx="1463040"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Theory</a:t>
            </a:r>
          </a:p>
        </p:txBody>
      </p:sp>
      <p:sp>
        <p:nvSpPr>
          <p:cNvPr id="11" name="Plan steps step 2"/>
          <p:cNvSpPr/>
          <p:nvPr/>
        </p:nvSpPr>
        <p:spPr>
          <a:xfrm>
            <a:off x="1810512"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Tests</a:t>
            </a:r>
          </a:p>
        </p:txBody>
      </p:sp>
      <p:sp>
        <p:nvSpPr>
          <p:cNvPr id="12" name="Plan steps step 3"/>
          <p:cNvSpPr/>
          <p:nvPr/>
        </p:nvSpPr>
        <p:spPr>
          <a:xfrm>
            <a:off x="3163824"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Practice</a:t>
            </a:r>
          </a:p>
        </p:txBody>
      </p:sp>
      <p:sp>
        <p:nvSpPr>
          <p:cNvPr id="13" name="Plan steps step 4"/>
          <p:cNvSpPr/>
          <p:nvPr/>
        </p:nvSpPr>
        <p:spPr>
          <a:xfrm>
            <a:off x="4517136"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Python</a:t>
            </a:r>
          </a:p>
        </p:txBody>
      </p:sp>
      <p:sp>
        <p:nvSpPr>
          <p:cNvPr id="14" name="Plan steps step 5"/>
          <p:cNvSpPr/>
          <p:nvPr/>
        </p:nvSpPr>
        <p:spPr>
          <a:xfrm>
            <a:off x="5870448"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In class</a:t>
            </a:r>
          </a:p>
        </p:txBody>
      </p:sp>
      <p:sp>
        <p:nvSpPr>
          <p:cNvPr id="15" name="Plan steps step 6"/>
          <p:cNvSpPr/>
          <p:nvPr/>
        </p:nvSpPr>
        <p:spPr>
          <a:xfrm>
            <a:off x="7223760"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Exercise</a:t>
            </a:r>
          </a:p>
        </p:txBody>
      </p:sp>
      <p:sp>
        <p:nvSpPr>
          <p:cNvPr id="16" name="Plan card 1 body"/>
          <p:cNvSpPr/>
          <p:nvPr/>
        </p:nvSpPr>
        <p:spPr>
          <a:xfrm>
            <a:off x="457200" y="2377440"/>
            <a:ext cx="2651760" cy="1783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lan card 1 header"/>
          <p:cNvSpPr/>
          <p:nvPr/>
        </p:nvSpPr>
        <p:spPr>
          <a:xfrm>
            <a:off x="45720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lan card 1 heading"/>
          <p:cNvSpPr txBox="1"/>
          <p:nvPr/>
        </p:nvSpPr>
        <p:spPr>
          <a:xfrm>
            <a:off x="59436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Understand</a:t>
            </a:r>
          </a:p>
        </p:txBody>
      </p:sp>
      <p:pic>
        <p:nvPicPr>
          <p:cNvPr id="19" name="Icon Plan card 1" descr=""/>
          <p:cNvPicPr>
            <a:picLocks noChangeAspect="1"/>
          </p:cNvPicPr>
          <p:nvPr/>
        </p:nvPicPr>
        <p:blipFill>
          <a:blip r:embed="rId3"/>
          <a:stretch>
            <a:fillRect/>
          </a:stretch>
        </p:blipFill>
        <p:spPr>
          <a:xfrm>
            <a:off x="2670048" y="2016252"/>
            <a:ext cx="310896" cy="310896"/>
          </a:xfrm>
          <a:prstGeom prst="rect">
            <a:avLst/>
          </a:prstGeom>
        </p:spPr>
      </p:pic>
      <p:sp>
        <p:nvSpPr>
          <p:cNvPr id="20" name="Plan card 1 text"/>
          <p:cNvSpPr txBox="1"/>
          <p:nvPr/>
        </p:nvSpPr>
        <p:spPr>
          <a:xfrm>
            <a:off x="621792" y="2514600"/>
            <a:ext cx="2350008" cy="15087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What OLS does and what a coefficient means</a:t>
            </a:r>
          </a:p>
          <a:p>
            <a:pPr algn="l" marL="182880" indent="-182880">
              <a:spcAft>
                <a:spcPts val="600"/>
              </a:spcAft>
              <a:buClr>
                <a:schemeClr val="accent1"/>
              </a:buClr>
              <a:buFont typeface="Arial"/>
              <a:buChar char="▪"/>
            </a:pPr>
            <a:r>
              <a:rPr sz="1300" b="0" lang="en-GB">
                <a:solidFill>
                  <a:schemeClr val="tx1"/>
                </a:solidFill>
              </a:rPr>
              <a:t>t-test, p-value, confidence interval, R²</a:t>
            </a:r>
          </a:p>
          <a:p>
            <a:pPr algn="l" marL="182880" indent="-182880">
              <a:spcAft>
                <a:spcPts val="600"/>
              </a:spcAft>
              <a:buClr>
                <a:schemeClr val="accent1"/>
              </a:buClr>
              <a:buFont typeface="Arial"/>
              <a:buChar char="▪"/>
            </a:pPr>
            <a:r>
              <a:rPr sz="1300" b="0" lang="en-GB">
                <a:solidFill>
                  <a:schemeClr val="tx1"/>
                </a:solidFill>
              </a:rPr>
              <a:t>Logs and elasticities</a:t>
            </a:r>
          </a:p>
        </p:txBody>
      </p:sp>
      <p:sp>
        <p:nvSpPr>
          <p:cNvPr id="21" name="Plan card 2 body"/>
          <p:cNvSpPr/>
          <p:nvPr/>
        </p:nvSpPr>
        <p:spPr>
          <a:xfrm>
            <a:off x="3246120" y="2377440"/>
            <a:ext cx="2651760" cy="1783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lan card 2 header"/>
          <p:cNvSpPr/>
          <p:nvPr/>
        </p:nvSpPr>
        <p:spPr>
          <a:xfrm>
            <a:off x="324612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lan card 2 heading"/>
          <p:cNvSpPr txBox="1"/>
          <p:nvPr/>
        </p:nvSpPr>
        <p:spPr>
          <a:xfrm>
            <a:off x="338328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Check</a:t>
            </a:r>
          </a:p>
        </p:txBody>
      </p:sp>
      <p:pic>
        <p:nvPicPr>
          <p:cNvPr id="24" name="Icon Plan card 2" descr=""/>
          <p:cNvPicPr>
            <a:picLocks noChangeAspect="1"/>
          </p:cNvPicPr>
          <p:nvPr/>
        </p:nvPicPr>
        <p:blipFill>
          <a:blip r:embed="rId4"/>
          <a:stretch>
            <a:fillRect/>
          </a:stretch>
        </p:blipFill>
        <p:spPr>
          <a:xfrm>
            <a:off x="5458968" y="2016252"/>
            <a:ext cx="310896" cy="310896"/>
          </a:xfrm>
          <a:prstGeom prst="rect">
            <a:avLst/>
          </a:prstGeom>
        </p:spPr>
      </p:pic>
      <p:sp>
        <p:nvSpPr>
          <p:cNvPr id="25" name="Plan card 2 text"/>
          <p:cNvSpPr txBox="1"/>
          <p:nvPr/>
        </p:nvSpPr>
        <p:spPr>
          <a:xfrm>
            <a:off x="3410712" y="2514600"/>
            <a:ext cx="2350008" cy="15087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Seven assumptions behind OLS</a:t>
            </a:r>
          </a:p>
          <a:p>
            <a:pPr algn="l" marL="182880" indent="-182880">
              <a:spcAft>
                <a:spcPts val="600"/>
              </a:spcAft>
              <a:buClr>
                <a:schemeClr val="accent1"/>
              </a:buClr>
              <a:buFont typeface="Arial"/>
              <a:buChar char="▪"/>
            </a:pPr>
            <a:r>
              <a:rPr sz="1300" b="0" lang="en-GB">
                <a:solidFill>
                  <a:schemeClr val="tx1"/>
                </a:solidFill>
              </a:rPr>
              <a:t>Residual plots and four tests</a:t>
            </a:r>
          </a:p>
          <a:p>
            <a:pPr algn="l" marL="182880" indent="-182880">
              <a:spcAft>
                <a:spcPts val="600"/>
              </a:spcAft>
              <a:buClr>
                <a:schemeClr val="accent1"/>
              </a:buClr>
              <a:buFont typeface="Arial"/>
              <a:buChar char="▪"/>
            </a:pPr>
            <a:r>
              <a:rPr sz="1300" b="0" lang="en-GB">
                <a:solidFill>
                  <a:schemeClr val="tx1"/>
                </a:solidFill>
              </a:rPr>
              <a:t>What to do when a test fails</a:t>
            </a:r>
          </a:p>
        </p:txBody>
      </p:sp>
      <p:sp>
        <p:nvSpPr>
          <p:cNvPr id="26" name="Plan card 3 body"/>
          <p:cNvSpPr/>
          <p:nvPr/>
        </p:nvSpPr>
        <p:spPr>
          <a:xfrm>
            <a:off x="6035040" y="2377440"/>
            <a:ext cx="2651760" cy="1783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Plan card 3 header"/>
          <p:cNvSpPr/>
          <p:nvPr/>
        </p:nvSpPr>
        <p:spPr>
          <a:xfrm>
            <a:off x="603504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lan card 3 heading"/>
          <p:cNvSpPr txBox="1"/>
          <p:nvPr/>
        </p:nvSpPr>
        <p:spPr>
          <a:xfrm>
            <a:off x="617220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Code</a:t>
            </a:r>
          </a:p>
        </p:txBody>
      </p:sp>
      <p:pic>
        <p:nvPicPr>
          <p:cNvPr id="29" name="Icon Plan card 3" descr=""/>
          <p:cNvPicPr>
            <a:picLocks noChangeAspect="1"/>
          </p:cNvPicPr>
          <p:nvPr/>
        </p:nvPicPr>
        <p:blipFill>
          <a:blip r:embed="rId5"/>
          <a:stretch>
            <a:fillRect/>
          </a:stretch>
        </p:blipFill>
        <p:spPr>
          <a:xfrm>
            <a:off x="8247888" y="2016252"/>
            <a:ext cx="310896" cy="310896"/>
          </a:xfrm>
          <a:prstGeom prst="rect">
            <a:avLst/>
          </a:prstGeom>
        </p:spPr>
      </p:pic>
      <p:sp>
        <p:nvSpPr>
          <p:cNvPr id="30" name="Plan card 3 text"/>
          <p:cNvSpPr txBox="1"/>
          <p:nvPr/>
        </p:nvSpPr>
        <p:spPr>
          <a:xfrm>
            <a:off x="6199632" y="2514600"/>
            <a:ext cx="2350008" cy="15087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 first regression with statsmodels</a:t>
            </a:r>
          </a:p>
          <a:p>
            <a:pPr algn="l" marL="182880" indent="-182880">
              <a:spcAft>
                <a:spcPts val="600"/>
              </a:spcAft>
              <a:buClr>
                <a:schemeClr val="accent1"/>
              </a:buClr>
              <a:buFont typeface="Arial"/>
              <a:buChar char="▪"/>
            </a:pPr>
            <a:r>
              <a:rPr sz="1300" b="0" lang="en-GB">
                <a:solidFill>
                  <a:schemeClr val="tx1"/>
                </a:solidFill>
              </a:rPr>
              <a:t>Simple charts with plotnine</a:t>
            </a:r>
          </a:p>
          <a:p>
            <a:pPr algn="l" marL="182880" indent="-182880">
              <a:spcAft>
                <a:spcPts val="600"/>
              </a:spcAft>
              <a:buClr>
                <a:schemeClr val="accent1"/>
              </a:buClr>
              <a:buFont typeface="Arial"/>
              <a:buChar char="▪"/>
            </a:pPr>
            <a:r>
              <a:rPr sz="1300" b="0" lang="en-GB">
                <a:solidFill>
                  <a:schemeClr val="tx1"/>
                </a:solidFill>
              </a:rPr>
              <a:t>A pricing recommendation from data</a:t>
            </a:r>
          </a:p>
        </p:txBody>
      </p:sp>
      <p:sp>
        <p:nvSpPr>
          <p:cNvPr id="31" name="Readings box"/>
          <p:cNvSpPr/>
          <p:nvPr/>
        </p:nvSpPr>
        <p:spPr>
          <a:xfrm>
            <a:off x="457200" y="4315968"/>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Readings" descr=""/>
          <p:cNvPicPr>
            <a:picLocks noChangeAspect="1"/>
          </p:cNvPicPr>
          <p:nvPr/>
        </p:nvPicPr>
        <p:blipFill>
          <a:blip r:embed="rId6"/>
          <a:stretch>
            <a:fillRect/>
          </a:stretch>
        </p:blipFill>
        <p:spPr>
          <a:xfrm>
            <a:off x="658368" y="4407408"/>
            <a:ext cx="365760" cy="365760"/>
          </a:xfrm>
          <a:prstGeom prst="rect">
            <a:avLst/>
          </a:prstGeom>
        </p:spPr>
      </p:pic>
      <p:sp>
        <p:nvSpPr>
          <p:cNvPr id="33" name="Readings text"/>
          <p:cNvSpPr txBox="1"/>
          <p:nvPr/>
        </p:nvSpPr>
        <p:spPr>
          <a:xfrm>
            <a:off x="1207008" y="4315968"/>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Readings: </a:t>
            </a:r>
            <a:r>
              <a:rPr sz="1200" b="0" lang="en-GB">
                <a:solidFill>
                  <a:schemeClr val="bg1"/>
                </a:solidFill>
              </a:rPr>
              <a:t>Bojinov, Parzen &amp; Hamilton (2025), Linear Regression (HBS); Skiera, Reiner &amp; Albers (2022), Regression Analysis.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question: what does a price cut sell?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g_sales_time.png" descr="Line chart of weekly sales of brand 1 over 68 weeks: mostly between 60 and 120, with seven spikes up to about 530 in price-cut weeks, marked with blue dots"/>
          <p:cNvPicPr>
            <a:picLocks noChangeAspect="1"/>
          </p:cNvPicPr>
          <p:nvPr/>
        </p:nvPicPr>
        <p:blipFill>
          <a:blip r:embed="rId3"/>
          <a:stretch>
            <a:fillRect/>
          </a:stretch>
        </p:blipFill>
        <p:spPr>
          <a:xfrm>
            <a:off x="457200" y="1234440"/>
            <a:ext cx="4572000" cy="2743200"/>
          </a:xfrm>
          <a:prstGeom prst="rect">
            <a:avLst/>
          </a:prstGeom>
        </p:spPr>
      </p:pic>
      <p:sp>
        <p:nvSpPr>
          <p:cNvPr id="11" name="Sales caption"/>
          <p:cNvSpPr txBox="1"/>
          <p:nvPr/>
        </p:nvSpPr>
        <p:spPr>
          <a:xfrm>
            <a:off x="457200" y="4023360"/>
            <a:ext cx="457200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Weekly sales of brand 1; blue: weeks with a price cut (price below 1.20).</a:t>
            </a:r>
          </a:p>
        </p:txBody>
      </p:sp>
      <p:sp>
        <p:nvSpPr>
          <p:cNvPr id="12" name="Question row 1"/>
          <p:cNvSpPr/>
          <p:nvPr/>
        </p:nvSpPr>
        <p:spPr>
          <a:xfrm>
            <a:off x="5166360" y="1234440"/>
            <a:ext cx="352044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Question bar 1"/>
          <p:cNvSpPr/>
          <p:nvPr/>
        </p:nvSpPr>
        <p:spPr>
          <a:xfrm>
            <a:off x="5166360" y="1234440"/>
            <a:ext cx="64008" cy="6217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Question text 1"/>
          <p:cNvSpPr txBox="1"/>
          <p:nvPr/>
        </p:nvSpPr>
        <p:spPr>
          <a:xfrm>
            <a:off x="5367528" y="1234440"/>
            <a:ext cx="3227832"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Data: </a:t>
            </a:r>
            <a:r>
              <a:rPr sz="1200" b="0" lang="en-GB">
                <a:solidFill>
                  <a:schemeClr val="tx1"/>
                </a:solidFill>
              </a:rPr>
              <a:t>68 weeks of real scanner data, 4 brands</a:t>
            </a:r>
          </a:p>
        </p:txBody>
      </p:sp>
      <p:sp>
        <p:nvSpPr>
          <p:cNvPr id="15" name="Question row 2"/>
          <p:cNvSpPr/>
          <p:nvPr/>
        </p:nvSpPr>
        <p:spPr>
          <a:xfrm>
            <a:off x="5166360" y="1929384"/>
            <a:ext cx="352044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Question bar 2"/>
          <p:cNvSpPr/>
          <p:nvPr/>
        </p:nvSpPr>
        <p:spPr>
          <a:xfrm>
            <a:off x="5166360" y="1929384"/>
            <a:ext cx="64008" cy="6217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Question text 2"/>
          <p:cNvSpPr txBox="1"/>
          <p:nvPr/>
        </p:nvSpPr>
        <p:spPr>
          <a:xfrm>
            <a:off x="5367528" y="1929384"/>
            <a:ext cx="3227832"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Normal week: </a:t>
            </a:r>
            <a:r>
              <a:rPr sz="1200" b="0" lang="en-GB">
                <a:solidFill>
                  <a:schemeClr val="tx1"/>
                </a:solidFill>
              </a:rPr>
              <a:t>price about 1.50, sales about 100</a:t>
            </a:r>
          </a:p>
        </p:txBody>
      </p:sp>
      <p:sp>
        <p:nvSpPr>
          <p:cNvPr id="18" name="Question row 3"/>
          <p:cNvSpPr/>
          <p:nvPr/>
        </p:nvSpPr>
        <p:spPr>
          <a:xfrm>
            <a:off x="5166360" y="2624328"/>
            <a:ext cx="352044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Question bar 3"/>
          <p:cNvSpPr/>
          <p:nvPr/>
        </p:nvSpPr>
        <p:spPr>
          <a:xfrm>
            <a:off x="5166360" y="2624328"/>
            <a:ext cx="64008" cy="6217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Question text 3"/>
          <p:cNvSpPr txBox="1"/>
          <p:nvPr/>
        </p:nvSpPr>
        <p:spPr>
          <a:xfrm>
            <a:off x="5367528" y="2624328"/>
            <a:ext cx="3227832"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Price-cut week: </a:t>
            </a:r>
            <a:r>
              <a:rPr sz="1200" b="0" lang="en-GB">
                <a:solidFill>
                  <a:schemeClr val="tx1"/>
                </a:solidFill>
              </a:rPr>
              <a:t>price about 1.03, sales up to 530</a:t>
            </a:r>
          </a:p>
        </p:txBody>
      </p:sp>
      <p:sp>
        <p:nvSpPr>
          <p:cNvPr id="21" name="Question row 4"/>
          <p:cNvSpPr/>
          <p:nvPr/>
        </p:nvSpPr>
        <p:spPr>
          <a:xfrm>
            <a:off x="5166360" y="3319272"/>
            <a:ext cx="352044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Question bar 4"/>
          <p:cNvSpPr/>
          <p:nvPr/>
        </p:nvSpPr>
        <p:spPr>
          <a:xfrm>
            <a:off x="5166360" y="3319272"/>
            <a:ext cx="64008" cy="6217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Question text 4"/>
          <p:cNvSpPr txBox="1"/>
          <p:nvPr/>
        </p:nvSpPr>
        <p:spPr>
          <a:xfrm>
            <a:off x="5367528" y="3319272"/>
            <a:ext cx="3227832"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Also in the data: </a:t>
            </a:r>
            <a:r>
              <a:rPr sz="1200" b="0" lang="en-GB">
                <a:solidFill>
                  <a:schemeClr val="tx1"/>
                </a:solidFill>
              </a:rPr>
              <a:t>competitor prices, features, displays, temperature, holidays</a:t>
            </a:r>
          </a:p>
        </p:txBody>
      </p:sp>
      <p:sp>
        <p:nvSpPr>
          <p:cNvPr id="24" name="Manager question box"/>
          <p:cNvSpPr/>
          <p:nvPr/>
        </p:nvSpPr>
        <p:spPr>
          <a:xfrm>
            <a:off x="457200" y="438912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Manager question" descr=""/>
          <p:cNvPicPr>
            <a:picLocks noChangeAspect="1"/>
          </p:cNvPicPr>
          <p:nvPr/>
        </p:nvPicPr>
        <p:blipFill>
          <a:blip r:embed="rId4"/>
          <a:stretch>
            <a:fillRect/>
          </a:stretch>
        </p:blipFill>
        <p:spPr>
          <a:xfrm>
            <a:off x="658368" y="4480560"/>
            <a:ext cx="365760" cy="365760"/>
          </a:xfrm>
          <a:prstGeom prst="rect">
            <a:avLst/>
          </a:prstGeom>
        </p:spPr>
      </p:pic>
      <p:sp>
        <p:nvSpPr>
          <p:cNvPr id="26" name="Manager question text"/>
          <p:cNvSpPr txBox="1"/>
          <p:nvPr/>
        </p:nvSpPr>
        <p:spPr>
          <a:xfrm>
            <a:off x="1207008" y="4389120"/>
            <a:ext cx="7315200" cy="548640"/>
          </a:xfrm>
          <a:prstGeom prst="rect">
            <a:avLst/>
          </a:prstGeom>
          <a:noFill/>
        </p:spPr>
        <p:txBody>
          <a:bodyPr wrap="square" lIns="0" rIns="0" tIns="0" bIns="0" anchor="ctr">
            <a:noAutofit/>
          </a:bodyPr>
          <a:lstStyle/>
          <a:p>
            <a:pPr algn="l">
              <a:spcAft>
                <a:spcPts val="400"/>
              </a:spcAft>
            </a:pPr>
            <a:r>
              <a:rPr sz="1300" b="1" lang="en-GB">
                <a:solidFill>
                  <a:schemeClr val="bg1"/>
                </a:solidFill>
              </a:rPr>
              <a:t>The manager asks: </a:t>
            </a:r>
            <a:r>
              <a:rPr sz="1300" b="0" lang="en-GB">
                <a:solidFill>
                  <a:schemeClr val="bg1"/>
                </a:solidFill>
              </a:rPr>
              <a:t>how much does 1 % lower price sell, and is the regular price right?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 of 6 · correlation, simple and multiple regression, inference, fit, logs, from elasticity to price</a:t>
            </a:r>
          </a:p>
        </p:txBody>
      </p:sp>
      <p:sp>
        <p:nvSpPr>
          <p:cNvPr id="3" name="Title 2"/>
          <p:cNvSpPr>
            <a:spLocks noGrp="1"/>
          </p:cNvSpPr>
          <p:nvPr>
            <p:ph type="ctrTitle"/>
          </p:nvPr>
        </p:nvSpPr>
        <p:spPr/>
        <p:txBody>
          <a:bodyPr/>
          <a:lstStyle/>
          <a:p>
            <a:r>
              <a:rPr sz="1600" lang="en-GB"/>
              <a:t>Theory</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Correlation: direction and strength</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 label"/>
          <p:cNvSpPr txBox="1"/>
          <p:nvPr/>
        </p:nvSpPr>
        <p:spPr>
          <a:xfrm>
            <a:off x="457200" y="1234440"/>
            <a:ext cx="4023360" cy="32004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Rule of thumb for |r|</a:t>
            </a:r>
          </a:p>
        </p:txBody>
      </p:sp>
      <p:sp>
        <p:nvSpPr>
          <p:cNvPr id="11" name="r table 1-1"/>
          <p:cNvSpPr/>
          <p:nvPr/>
        </p:nvSpPr>
        <p:spPr>
          <a:xfrm>
            <a:off x="457200" y="1645920"/>
            <a:ext cx="134416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 table text 1-1"/>
          <p:cNvSpPr txBox="1"/>
          <p:nvPr/>
        </p:nvSpPr>
        <p:spPr>
          <a:xfrm>
            <a:off x="548640" y="1645920"/>
            <a:ext cx="1161288" cy="347472"/>
          </a:xfrm>
          <a:prstGeom prst="rect">
            <a:avLst/>
          </a:prstGeom>
          <a:noFill/>
        </p:spPr>
        <p:txBody>
          <a:bodyPr wrap="square" lIns="0" rIns="0" tIns="0" bIns="0" anchor="ctr">
            <a:noAutofit/>
          </a:bodyPr>
          <a:lstStyle/>
          <a:p>
            <a:pPr algn="l">
              <a:spcAft>
                <a:spcPts val="400"/>
              </a:spcAft>
            </a:pPr>
            <a:r>
              <a:rPr sz="1200" b="1" lang="en-GB">
                <a:solidFill>
                  <a:schemeClr val="bg1"/>
                </a:solidFill>
              </a:rPr>
              <a:t>|r|</a:t>
            </a:r>
          </a:p>
        </p:txBody>
      </p:sp>
      <p:sp>
        <p:nvSpPr>
          <p:cNvPr id="13" name="r table 1-2"/>
          <p:cNvSpPr/>
          <p:nvPr/>
        </p:nvSpPr>
        <p:spPr>
          <a:xfrm>
            <a:off x="1828800" y="1645920"/>
            <a:ext cx="26243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 table text 1-2"/>
          <p:cNvSpPr txBox="1"/>
          <p:nvPr/>
        </p:nvSpPr>
        <p:spPr>
          <a:xfrm>
            <a:off x="1920240" y="1645920"/>
            <a:ext cx="2441448" cy="347472"/>
          </a:xfrm>
          <a:prstGeom prst="rect">
            <a:avLst/>
          </a:prstGeom>
          <a:noFill/>
        </p:spPr>
        <p:txBody>
          <a:bodyPr wrap="square" lIns="0" rIns="0" tIns="0" bIns="0" anchor="ctr">
            <a:noAutofit/>
          </a:bodyPr>
          <a:lstStyle/>
          <a:p>
            <a:pPr algn="l">
              <a:spcAft>
                <a:spcPts val="400"/>
              </a:spcAft>
            </a:pPr>
            <a:r>
              <a:rPr sz="1200" b="1" lang="en-GB">
                <a:solidFill>
                  <a:schemeClr val="bg1"/>
                </a:solidFill>
              </a:rPr>
              <a:t>Interpretation</a:t>
            </a:r>
          </a:p>
        </p:txBody>
      </p:sp>
      <p:sp>
        <p:nvSpPr>
          <p:cNvPr id="15" name="r table 2-1"/>
          <p:cNvSpPr/>
          <p:nvPr/>
        </p:nvSpPr>
        <p:spPr>
          <a:xfrm>
            <a:off x="457200" y="2020824"/>
            <a:ext cx="13441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 table text 2-1"/>
          <p:cNvSpPr txBox="1"/>
          <p:nvPr/>
        </p:nvSpPr>
        <p:spPr>
          <a:xfrm>
            <a:off x="548640" y="2020824"/>
            <a:ext cx="11612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0 to 0.2</a:t>
            </a:r>
          </a:p>
        </p:txBody>
      </p:sp>
      <p:sp>
        <p:nvSpPr>
          <p:cNvPr id="17" name="r table 2-2"/>
          <p:cNvSpPr/>
          <p:nvPr/>
        </p:nvSpPr>
        <p:spPr>
          <a:xfrm>
            <a:off x="1828800" y="2020824"/>
            <a:ext cx="26243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 table text 2-2"/>
          <p:cNvSpPr txBox="1"/>
          <p:nvPr/>
        </p:nvSpPr>
        <p:spPr>
          <a:xfrm>
            <a:off x="1920240" y="2020824"/>
            <a:ext cx="2441448" cy="347472"/>
          </a:xfrm>
          <a:prstGeom prst="rect">
            <a:avLst/>
          </a:prstGeom>
          <a:noFill/>
        </p:spPr>
        <p:txBody>
          <a:bodyPr wrap="square" lIns="0" rIns="0" tIns="0" bIns="0" anchor="ctr">
            <a:noAutofit/>
          </a:bodyPr>
          <a:lstStyle/>
          <a:p>
            <a:pPr algn="l">
              <a:spcAft>
                <a:spcPts val="400"/>
              </a:spcAft>
            </a:pPr>
            <a:r>
              <a:rPr sz="1200" b="0" lang="en-GB">
                <a:solidFill>
                  <a:schemeClr val="tx1"/>
                </a:solidFill>
              </a:rPr>
              <a:t>very weak</a:t>
            </a:r>
          </a:p>
        </p:txBody>
      </p:sp>
      <p:sp>
        <p:nvSpPr>
          <p:cNvPr id="19" name="r table 3-1"/>
          <p:cNvSpPr/>
          <p:nvPr/>
        </p:nvSpPr>
        <p:spPr>
          <a:xfrm>
            <a:off x="457200" y="2395728"/>
            <a:ext cx="13441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 table text 3-1"/>
          <p:cNvSpPr txBox="1"/>
          <p:nvPr/>
        </p:nvSpPr>
        <p:spPr>
          <a:xfrm>
            <a:off x="548640" y="2395728"/>
            <a:ext cx="11612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0.2 to 0.4</a:t>
            </a:r>
          </a:p>
        </p:txBody>
      </p:sp>
      <p:sp>
        <p:nvSpPr>
          <p:cNvPr id="21" name="r table 3-2"/>
          <p:cNvSpPr/>
          <p:nvPr/>
        </p:nvSpPr>
        <p:spPr>
          <a:xfrm>
            <a:off x="1828800" y="2395728"/>
            <a:ext cx="26243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 table text 3-2"/>
          <p:cNvSpPr txBox="1"/>
          <p:nvPr/>
        </p:nvSpPr>
        <p:spPr>
          <a:xfrm>
            <a:off x="1920240" y="2395728"/>
            <a:ext cx="2441448" cy="347472"/>
          </a:xfrm>
          <a:prstGeom prst="rect">
            <a:avLst/>
          </a:prstGeom>
          <a:noFill/>
        </p:spPr>
        <p:txBody>
          <a:bodyPr wrap="square" lIns="0" rIns="0" tIns="0" bIns="0" anchor="ctr">
            <a:noAutofit/>
          </a:bodyPr>
          <a:lstStyle/>
          <a:p>
            <a:pPr algn="l">
              <a:spcAft>
                <a:spcPts val="400"/>
              </a:spcAft>
            </a:pPr>
            <a:r>
              <a:rPr sz="1200" b="0" lang="en-GB">
                <a:solidFill>
                  <a:schemeClr val="tx1"/>
                </a:solidFill>
              </a:rPr>
              <a:t>weak to moderate</a:t>
            </a:r>
          </a:p>
        </p:txBody>
      </p:sp>
      <p:sp>
        <p:nvSpPr>
          <p:cNvPr id="23" name="r table 4-1"/>
          <p:cNvSpPr/>
          <p:nvPr/>
        </p:nvSpPr>
        <p:spPr>
          <a:xfrm>
            <a:off x="457200" y="2770632"/>
            <a:ext cx="13441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 table text 4-1"/>
          <p:cNvSpPr txBox="1"/>
          <p:nvPr/>
        </p:nvSpPr>
        <p:spPr>
          <a:xfrm>
            <a:off x="548640" y="2770632"/>
            <a:ext cx="11612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0.4 to 0.6</a:t>
            </a:r>
          </a:p>
        </p:txBody>
      </p:sp>
      <p:sp>
        <p:nvSpPr>
          <p:cNvPr id="25" name="r table 4-2"/>
          <p:cNvSpPr/>
          <p:nvPr/>
        </p:nvSpPr>
        <p:spPr>
          <a:xfrm>
            <a:off x="1828800" y="2770632"/>
            <a:ext cx="26243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 table text 4-2"/>
          <p:cNvSpPr txBox="1"/>
          <p:nvPr/>
        </p:nvSpPr>
        <p:spPr>
          <a:xfrm>
            <a:off x="1920240" y="2770632"/>
            <a:ext cx="2441448" cy="347472"/>
          </a:xfrm>
          <a:prstGeom prst="rect">
            <a:avLst/>
          </a:prstGeom>
          <a:noFill/>
        </p:spPr>
        <p:txBody>
          <a:bodyPr wrap="square" lIns="0" rIns="0" tIns="0" bIns="0" anchor="ctr">
            <a:noAutofit/>
          </a:bodyPr>
          <a:lstStyle/>
          <a:p>
            <a:pPr algn="l">
              <a:spcAft>
                <a:spcPts val="400"/>
              </a:spcAft>
            </a:pPr>
            <a:r>
              <a:rPr sz="1200" b="0" lang="en-GB">
                <a:solidFill>
                  <a:schemeClr val="tx1"/>
                </a:solidFill>
              </a:rPr>
              <a:t>medium to substantial</a:t>
            </a:r>
          </a:p>
        </p:txBody>
      </p:sp>
      <p:sp>
        <p:nvSpPr>
          <p:cNvPr id="27" name="r table 5-1"/>
          <p:cNvSpPr/>
          <p:nvPr/>
        </p:nvSpPr>
        <p:spPr>
          <a:xfrm>
            <a:off x="457200" y="3145536"/>
            <a:ext cx="13441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 table text 5-1"/>
          <p:cNvSpPr txBox="1"/>
          <p:nvPr/>
        </p:nvSpPr>
        <p:spPr>
          <a:xfrm>
            <a:off x="548640" y="3145536"/>
            <a:ext cx="11612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0.6 to 0.8</a:t>
            </a:r>
          </a:p>
        </p:txBody>
      </p:sp>
      <p:sp>
        <p:nvSpPr>
          <p:cNvPr id="29" name="r table 5-2"/>
          <p:cNvSpPr/>
          <p:nvPr/>
        </p:nvSpPr>
        <p:spPr>
          <a:xfrm>
            <a:off x="1828800" y="3145536"/>
            <a:ext cx="26243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 table text 5-2"/>
          <p:cNvSpPr txBox="1"/>
          <p:nvPr/>
        </p:nvSpPr>
        <p:spPr>
          <a:xfrm>
            <a:off x="1920240" y="3145536"/>
            <a:ext cx="2441448" cy="347472"/>
          </a:xfrm>
          <a:prstGeom prst="rect">
            <a:avLst/>
          </a:prstGeom>
          <a:noFill/>
        </p:spPr>
        <p:txBody>
          <a:bodyPr wrap="square" lIns="0" rIns="0" tIns="0" bIns="0" anchor="ctr">
            <a:noAutofit/>
          </a:bodyPr>
          <a:lstStyle/>
          <a:p>
            <a:pPr algn="l">
              <a:spcAft>
                <a:spcPts val="400"/>
              </a:spcAft>
            </a:pPr>
            <a:r>
              <a:rPr sz="1200" b="0" lang="en-GB">
                <a:solidFill>
                  <a:schemeClr val="tx1"/>
                </a:solidFill>
              </a:rPr>
              <a:t>very strong</a:t>
            </a:r>
          </a:p>
        </p:txBody>
      </p:sp>
      <p:sp>
        <p:nvSpPr>
          <p:cNvPr id="31" name="r table 6-1"/>
          <p:cNvSpPr/>
          <p:nvPr/>
        </p:nvSpPr>
        <p:spPr>
          <a:xfrm>
            <a:off x="457200" y="3520440"/>
            <a:ext cx="13441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 table text 6-1"/>
          <p:cNvSpPr txBox="1"/>
          <p:nvPr/>
        </p:nvSpPr>
        <p:spPr>
          <a:xfrm>
            <a:off x="548640" y="3520440"/>
            <a:ext cx="11612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0.8 to 1.0</a:t>
            </a:r>
          </a:p>
        </p:txBody>
      </p:sp>
      <p:sp>
        <p:nvSpPr>
          <p:cNvPr id="33" name="r table 6-2"/>
          <p:cNvSpPr/>
          <p:nvPr/>
        </p:nvSpPr>
        <p:spPr>
          <a:xfrm>
            <a:off x="1828800" y="3520440"/>
            <a:ext cx="262432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 table text 6-2"/>
          <p:cNvSpPr txBox="1"/>
          <p:nvPr/>
        </p:nvSpPr>
        <p:spPr>
          <a:xfrm>
            <a:off x="1920240" y="3520440"/>
            <a:ext cx="2441448" cy="347472"/>
          </a:xfrm>
          <a:prstGeom prst="rect">
            <a:avLst/>
          </a:prstGeom>
          <a:noFill/>
        </p:spPr>
        <p:txBody>
          <a:bodyPr wrap="square" lIns="0" rIns="0" tIns="0" bIns="0" anchor="ctr">
            <a:noAutofit/>
          </a:bodyPr>
          <a:lstStyle/>
          <a:p>
            <a:pPr algn="l">
              <a:spcAft>
                <a:spcPts val="400"/>
              </a:spcAft>
            </a:pPr>
            <a:r>
              <a:rPr sz="1200" b="0" lang="en-GB">
                <a:solidFill>
                  <a:schemeClr val="tx1"/>
                </a:solidFill>
              </a:rPr>
              <a:t>extremely strong</a:t>
            </a:r>
          </a:p>
        </p:txBody>
      </p:sp>
      <p:sp>
        <p:nvSpPr>
          <p:cNvPr id="35" name="r stat box"/>
          <p:cNvSpPr/>
          <p:nvPr/>
        </p:nvSpPr>
        <p:spPr>
          <a:xfrm>
            <a:off x="4663440" y="1234440"/>
            <a:ext cx="4023360" cy="1143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 stat bar"/>
          <p:cNvSpPr/>
          <p:nvPr/>
        </p:nvSpPr>
        <p:spPr>
          <a:xfrm>
            <a:off x="4663440" y="1234440"/>
            <a:ext cx="64008" cy="1143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 stat figure"/>
          <p:cNvSpPr txBox="1"/>
          <p:nvPr/>
        </p:nvSpPr>
        <p:spPr>
          <a:xfrm>
            <a:off x="4846320" y="1234440"/>
            <a:ext cx="1280160" cy="11430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−0.94</a:t>
            </a:r>
          </a:p>
        </p:txBody>
      </p:sp>
      <p:sp>
        <p:nvSpPr>
          <p:cNvPr id="38" name="r stat label"/>
          <p:cNvSpPr txBox="1"/>
          <p:nvPr/>
        </p:nvSpPr>
        <p:spPr>
          <a:xfrm>
            <a:off x="6126480" y="1234440"/>
            <a:ext cx="2514600" cy="1143000"/>
          </a:xfrm>
          <a:prstGeom prst="rect">
            <a:avLst/>
          </a:prstGeom>
          <a:noFill/>
        </p:spPr>
        <p:txBody>
          <a:bodyPr wrap="square" lIns="0" rIns="0" tIns="0" bIns="0" anchor="ctr">
            <a:noAutofit/>
          </a:bodyPr>
          <a:lstStyle/>
          <a:p>
            <a:pPr algn="l">
              <a:spcAft>
                <a:spcPts val="400"/>
              </a:spcAft>
            </a:pPr>
            <a:r>
              <a:rPr sz="1200" b="0" lang="en-GB">
                <a:solidFill>
                  <a:schemeClr val="tx1"/>
                </a:solidFill>
              </a:rPr>
              <a:t>sales and own price of brand 1: an extremely strong negative relationship</a:t>
            </a:r>
          </a:p>
        </p:txBody>
      </p:sp>
      <p:sp>
        <p:nvSpPr>
          <p:cNvPr id="39" name="r warn row 1"/>
          <p:cNvSpPr/>
          <p:nvPr/>
        </p:nvSpPr>
        <p:spPr>
          <a:xfrm>
            <a:off x="4663440" y="2514600"/>
            <a:ext cx="402336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 warn bar 1"/>
          <p:cNvSpPr/>
          <p:nvPr/>
        </p:nvSpPr>
        <p:spPr>
          <a:xfrm>
            <a:off x="4663440" y="2514600"/>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 warn text 1"/>
          <p:cNvSpPr txBox="1"/>
          <p:nvPr/>
        </p:nvSpPr>
        <p:spPr>
          <a:xfrm>
            <a:off x="4864608" y="2514600"/>
            <a:ext cx="373075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Linear only: </a:t>
            </a:r>
            <a:r>
              <a:rPr sz="1200" b="0" lang="en-GB">
                <a:solidFill>
                  <a:schemeClr val="tx1"/>
                </a:solidFill>
              </a:rPr>
              <a:t>a perfect U-shape has r = 0</a:t>
            </a:r>
          </a:p>
        </p:txBody>
      </p:sp>
      <p:sp>
        <p:nvSpPr>
          <p:cNvPr id="42" name="r warn row 2"/>
          <p:cNvSpPr/>
          <p:nvPr/>
        </p:nvSpPr>
        <p:spPr>
          <a:xfrm>
            <a:off x="4663440" y="3136392"/>
            <a:ext cx="402336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 warn bar 2"/>
          <p:cNvSpPr/>
          <p:nvPr/>
        </p:nvSpPr>
        <p:spPr>
          <a:xfrm>
            <a:off x="4663440" y="3136392"/>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 warn text 2"/>
          <p:cNvSpPr txBox="1"/>
          <p:nvPr/>
        </p:nvSpPr>
        <p:spPr>
          <a:xfrm>
            <a:off x="4864608" y="3136392"/>
            <a:ext cx="373075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Not causation: </a:t>
            </a:r>
            <a:r>
              <a:rPr sz="1200" b="0" lang="en-GB">
                <a:solidFill>
                  <a:schemeClr val="tx1"/>
                </a:solidFill>
              </a:rPr>
              <a:t>ice cream and sunburn rise together; the sun drives both</a:t>
            </a:r>
          </a:p>
        </p:txBody>
      </p:sp>
      <p:sp>
        <p:nvSpPr>
          <p:cNvPr id="45" name="r next box"/>
          <p:cNvSpPr/>
          <p:nvPr/>
        </p:nvSpPr>
        <p:spPr>
          <a:xfrm>
            <a:off x="457200" y="402336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Icon r next" descr=""/>
          <p:cNvPicPr>
            <a:picLocks noChangeAspect="1"/>
          </p:cNvPicPr>
          <p:nvPr/>
        </p:nvPicPr>
        <p:blipFill>
          <a:blip r:embed="rId3"/>
          <a:stretch>
            <a:fillRect/>
          </a:stretch>
        </p:blipFill>
        <p:spPr>
          <a:xfrm>
            <a:off x="658368" y="4183380"/>
            <a:ext cx="365760" cy="365760"/>
          </a:xfrm>
          <a:prstGeom prst="rect">
            <a:avLst/>
          </a:prstGeom>
        </p:spPr>
      </p:pic>
      <p:sp>
        <p:nvSpPr>
          <p:cNvPr id="47" name="r next text"/>
          <p:cNvSpPr txBox="1"/>
          <p:nvPr/>
        </p:nvSpPr>
        <p:spPr>
          <a:xfrm>
            <a:off x="1207008" y="402336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Correlation describes; </a:t>
            </a:r>
            <a:r>
              <a:rPr sz="1200" b="0" lang="en-GB">
                <a:solidFill>
                  <a:schemeClr val="bg1"/>
                </a:solidFill>
              </a:rPr>
              <a:t>regression quantifies: how many units does one euro of price cost?</a:t>
            </a:r>
          </a:p>
        </p:txBody>
      </p:sp>
      <p:sp>
        <p:nvSpPr>
          <p:cNvPr id="48"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Bojinov, Parzen &amp; Hamilton 2025 (HBS note 9-622-100)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Simple linear regression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g_scatter.png" descr="Scatter plot of weekly sales against price of brand 1 with a falling straight line; most points sit near a price of 1.5 and sales of 100, seven points near a price of 1.03 with sales of 290 to 530"/>
          <p:cNvPicPr>
            <a:picLocks noChangeAspect="1"/>
          </p:cNvPicPr>
          <p:nvPr/>
        </p:nvPicPr>
        <p:blipFill>
          <a:blip r:embed="rId3"/>
          <a:stretch>
            <a:fillRect/>
          </a:stretch>
        </p:blipFill>
        <p:spPr>
          <a:xfrm>
            <a:off x="457200" y="1234440"/>
            <a:ext cx="4480560" cy="2971800"/>
          </a:xfrm>
          <a:prstGeom prst="rect">
            <a:avLst/>
          </a:prstGeom>
        </p:spPr>
      </p:pic>
      <p:sp>
        <p:nvSpPr>
          <p:cNvPr id="11" name="Simple formula box"/>
          <p:cNvSpPr/>
          <p:nvPr/>
        </p:nvSpPr>
        <p:spPr>
          <a:xfrm>
            <a:off x="5074920" y="1234440"/>
            <a:ext cx="361188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imple formula code"/>
          <p:cNvSpPr txBox="1"/>
          <p:nvPr/>
        </p:nvSpPr>
        <p:spPr>
          <a:xfrm>
            <a:off x="5212080" y="1325880"/>
            <a:ext cx="3337560" cy="36576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sales = b0 + b1 · price1 + e</a:t>
            </a:r>
          </a:p>
        </p:txBody>
      </p:sp>
      <p:sp>
        <p:nvSpPr>
          <p:cNvPr id="13" name="Simple rows row 1"/>
          <p:cNvSpPr/>
          <p:nvPr/>
        </p:nvSpPr>
        <p:spPr>
          <a:xfrm>
            <a:off x="5074920" y="1920240"/>
            <a:ext cx="36118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imple rows bar 1"/>
          <p:cNvSpPr/>
          <p:nvPr/>
        </p:nvSpPr>
        <p:spPr>
          <a:xfrm>
            <a:off x="5074920" y="1920240"/>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imple rows text 1"/>
          <p:cNvSpPr txBox="1"/>
          <p:nvPr/>
        </p:nvSpPr>
        <p:spPr>
          <a:xfrm>
            <a:off x="5276088" y="1920240"/>
            <a:ext cx="3319272" cy="658368"/>
          </a:xfrm>
          <a:prstGeom prst="rect">
            <a:avLst/>
          </a:prstGeom>
          <a:noFill/>
        </p:spPr>
        <p:txBody>
          <a:bodyPr wrap="square" lIns="0" rIns="0" tIns="0" bIns="0" anchor="ctr">
            <a:noAutofit/>
          </a:bodyPr>
          <a:lstStyle/>
          <a:p>
            <a:pPr algn="l">
              <a:spcAft>
                <a:spcPts val="400"/>
              </a:spcAft>
            </a:pPr>
            <a:r>
              <a:rPr sz="1200" b="1" lang="en-GB">
                <a:solidFill>
                  <a:schemeClr val="tx2"/>
                </a:solidFill>
              </a:rPr>
              <a:t>b0 = 1,110: </a:t>
            </a:r>
            <a:r>
              <a:rPr sz="1200" b="0" lang="en-GB">
                <a:solidFill>
                  <a:schemeClr val="tx1"/>
                </a:solidFill>
              </a:rPr>
              <a:t>intercept, sales at price 0 (not meaningful here)</a:t>
            </a:r>
          </a:p>
        </p:txBody>
      </p:sp>
      <p:sp>
        <p:nvSpPr>
          <p:cNvPr id="16" name="Simple rows row 2"/>
          <p:cNvSpPr/>
          <p:nvPr/>
        </p:nvSpPr>
        <p:spPr>
          <a:xfrm>
            <a:off x="5074920" y="2651760"/>
            <a:ext cx="36118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imple rows bar 2"/>
          <p:cNvSpPr/>
          <p:nvPr/>
        </p:nvSpPr>
        <p:spPr>
          <a:xfrm>
            <a:off x="5074920" y="2651760"/>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imple rows text 2"/>
          <p:cNvSpPr txBox="1"/>
          <p:nvPr/>
        </p:nvSpPr>
        <p:spPr>
          <a:xfrm>
            <a:off x="5276088" y="2651760"/>
            <a:ext cx="3319272" cy="658368"/>
          </a:xfrm>
          <a:prstGeom prst="rect">
            <a:avLst/>
          </a:prstGeom>
          <a:noFill/>
        </p:spPr>
        <p:txBody>
          <a:bodyPr wrap="square" lIns="0" rIns="0" tIns="0" bIns="0" anchor="ctr">
            <a:noAutofit/>
          </a:bodyPr>
          <a:lstStyle/>
          <a:p>
            <a:pPr algn="l">
              <a:spcAft>
                <a:spcPts val="400"/>
              </a:spcAft>
            </a:pPr>
            <a:r>
              <a:rPr sz="1200" b="1" lang="en-GB">
                <a:solidFill>
                  <a:schemeClr val="tx2"/>
                </a:solidFill>
              </a:rPr>
              <a:t>b1 = −669: </a:t>
            </a:r>
            <a:r>
              <a:rPr sz="1200" b="0" lang="en-GB">
                <a:solidFill>
                  <a:schemeClr val="tx1"/>
                </a:solidFill>
              </a:rPr>
              <a:t>10 cents more price, about 67 units fewer a week</a:t>
            </a:r>
          </a:p>
        </p:txBody>
      </p:sp>
      <p:sp>
        <p:nvSpPr>
          <p:cNvPr id="19" name="Simple rows row 3"/>
          <p:cNvSpPr/>
          <p:nvPr/>
        </p:nvSpPr>
        <p:spPr>
          <a:xfrm>
            <a:off x="5074920" y="3383280"/>
            <a:ext cx="36118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imple rows bar 3"/>
          <p:cNvSpPr/>
          <p:nvPr/>
        </p:nvSpPr>
        <p:spPr>
          <a:xfrm>
            <a:off x="5074920" y="3383280"/>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imple rows text 3"/>
          <p:cNvSpPr txBox="1"/>
          <p:nvPr/>
        </p:nvSpPr>
        <p:spPr>
          <a:xfrm>
            <a:off x="5276088" y="3383280"/>
            <a:ext cx="3319272" cy="658368"/>
          </a:xfrm>
          <a:prstGeom prst="rect">
            <a:avLst/>
          </a:prstGeom>
          <a:noFill/>
        </p:spPr>
        <p:txBody>
          <a:bodyPr wrap="square" lIns="0" rIns="0" tIns="0" bIns="0" anchor="ctr">
            <a:noAutofit/>
          </a:bodyPr>
          <a:lstStyle/>
          <a:p>
            <a:pPr algn="l">
              <a:spcAft>
                <a:spcPts val="400"/>
              </a:spcAft>
            </a:pPr>
            <a:r>
              <a:rPr sz="1200" b="1" lang="en-GB">
                <a:solidFill>
                  <a:schemeClr val="tx2"/>
                </a:solidFill>
              </a:rPr>
              <a:t>e: </a:t>
            </a:r>
            <a:r>
              <a:rPr sz="1200" b="0" lang="en-GB">
                <a:solidFill>
                  <a:schemeClr val="tx1"/>
                </a:solidFill>
              </a:rPr>
              <a:t>residual, what the line does not explain</a:t>
            </a:r>
          </a:p>
        </p:txBody>
      </p:sp>
      <p:sp>
        <p:nvSpPr>
          <p:cNvPr id="22" name="Simple look box"/>
          <p:cNvSpPr/>
          <p:nvPr/>
        </p:nvSpPr>
        <p:spPr>
          <a:xfrm>
            <a:off x="457200" y="434340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Simple look" descr=""/>
          <p:cNvPicPr>
            <a:picLocks noChangeAspect="1"/>
          </p:cNvPicPr>
          <p:nvPr/>
        </p:nvPicPr>
        <p:blipFill>
          <a:blip r:embed="rId4"/>
          <a:stretch>
            <a:fillRect/>
          </a:stretch>
        </p:blipFill>
        <p:spPr>
          <a:xfrm>
            <a:off x="658368" y="4411980"/>
            <a:ext cx="365760" cy="365760"/>
          </a:xfrm>
          <a:prstGeom prst="rect">
            <a:avLst/>
          </a:prstGeom>
        </p:spPr>
      </p:pic>
      <p:sp>
        <p:nvSpPr>
          <p:cNvPr id="24" name="Simple look text"/>
          <p:cNvSpPr txBox="1"/>
          <p:nvPr/>
        </p:nvSpPr>
        <p:spPr>
          <a:xfrm>
            <a:off x="1207008" y="4343400"/>
            <a:ext cx="7315200"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Look at the chart: </a:t>
            </a:r>
            <a:r>
              <a:rPr sz="1200" b="0" lang="en-GB">
                <a:solidFill>
                  <a:schemeClr val="tx1"/>
                </a:solidFill>
              </a:rPr>
              <a:t>the points curve, so a straight line misses the price-cut weeks.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Least squares: the line with the smallest squared errors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g_residuals.png" descr="The same scatter plot with the regression line and thin blue vertical segments from each point to the line, the residuals"/>
          <p:cNvPicPr>
            <a:picLocks noChangeAspect="1"/>
          </p:cNvPicPr>
          <p:nvPr/>
        </p:nvPicPr>
        <p:blipFill>
          <a:blip r:embed="rId3"/>
          <a:stretch>
            <a:fillRect/>
          </a:stretch>
        </p:blipFill>
        <p:spPr>
          <a:xfrm>
            <a:off x="457200" y="1234440"/>
            <a:ext cx="4206240" cy="2926080"/>
          </a:xfrm>
          <a:prstGeom prst="rect">
            <a:avLst/>
          </a:prstGeom>
        </p:spPr>
      </p:pic>
      <p:sp>
        <p:nvSpPr>
          <p:cNvPr id="11" name="LS formula box"/>
          <p:cNvSpPr/>
          <p:nvPr/>
        </p:nvSpPr>
        <p:spPr>
          <a:xfrm>
            <a:off x="4800600" y="1234440"/>
            <a:ext cx="3886200" cy="868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LS formula code"/>
          <p:cNvSpPr txBox="1"/>
          <p:nvPr/>
        </p:nvSpPr>
        <p:spPr>
          <a:xfrm>
            <a:off x="4937760" y="1325880"/>
            <a:ext cx="3611880" cy="68580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residual:  e_i = y_i − ŷ_i</a:t>
            </a:r>
          </a:p>
          <a:p>
            <a:pPr algn="l">
              <a:spcAft>
                <a:spcPts val="0"/>
              </a:spcAft>
            </a:pPr>
            <a:r>
              <a:rPr sz="1200" b="0" lang="en-GB">
                <a:solidFill>
                  <a:schemeClr val="bg1"/>
                </a:solidFill>
                <a:latin typeface="Consolas"/>
              </a:rPr>
              <a:t>OLS:       minimise Σ e_i²</a:t>
            </a:r>
          </a:p>
        </p:txBody>
      </p:sp>
      <p:sp>
        <p:nvSpPr>
          <p:cNvPr id="13" name="LS rows row 1"/>
          <p:cNvSpPr/>
          <p:nvPr/>
        </p:nvSpPr>
        <p:spPr>
          <a:xfrm>
            <a:off x="4800600" y="2240280"/>
            <a:ext cx="38862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LS rows bar 1"/>
          <p:cNvSpPr/>
          <p:nvPr/>
        </p:nvSpPr>
        <p:spPr>
          <a:xfrm>
            <a:off x="4800600" y="2240280"/>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S rows text 1"/>
          <p:cNvSpPr txBox="1"/>
          <p:nvPr/>
        </p:nvSpPr>
        <p:spPr>
          <a:xfrm>
            <a:off x="5001768" y="2240280"/>
            <a:ext cx="35935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Squared: </a:t>
            </a:r>
            <a:r>
              <a:rPr sz="1200" b="0" lang="en-GB">
                <a:solidFill>
                  <a:schemeClr val="tx1"/>
                </a:solidFill>
              </a:rPr>
              <a:t>misses above and below do not cancel</a:t>
            </a:r>
          </a:p>
        </p:txBody>
      </p:sp>
      <p:sp>
        <p:nvSpPr>
          <p:cNvPr id="16" name="LS rows row 2"/>
          <p:cNvSpPr/>
          <p:nvPr/>
        </p:nvSpPr>
        <p:spPr>
          <a:xfrm>
            <a:off x="4800600" y="2862072"/>
            <a:ext cx="38862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S rows bar 2"/>
          <p:cNvSpPr/>
          <p:nvPr/>
        </p:nvSpPr>
        <p:spPr>
          <a:xfrm>
            <a:off x="4800600" y="2862072"/>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LS rows text 2"/>
          <p:cNvSpPr txBox="1"/>
          <p:nvPr/>
        </p:nvSpPr>
        <p:spPr>
          <a:xfrm>
            <a:off x="5001768" y="2862072"/>
            <a:ext cx="35935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Large misses </a:t>
            </a:r>
            <a:r>
              <a:rPr sz="1200" b="0" lang="en-GB">
                <a:solidFill>
                  <a:schemeClr val="tx1"/>
                </a:solidFill>
              </a:rPr>
              <a:t>count much more than small ones</a:t>
            </a:r>
          </a:p>
        </p:txBody>
      </p:sp>
      <p:sp>
        <p:nvSpPr>
          <p:cNvPr id="19" name="LS rows row 3"/>
          <p:cNvSpPr/>
          <p:nvPr/>
        </p:nvSpPr>
        <p:spPr>
          <a:xfrm>
            <a:off x="4800600" y="3483864"/>
            <a:ext cx="38862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LS rows bar 3"/>
          <p:cNvSpPr/>
          <p:nvPr/>
        </p:nvSpPr>
        <p:spPr>
          <a:xfrm>
            <a:off x="4800600" y="3483864"/>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S rows text 3"/>
          <p:cNvSpPr txBox="1"/>
          <p:nvPr/>
        </p:nvSpPr>
        <p:spPr>
          <a:xfrm>
            <a:off x="5001768" y="3483864"/>
            <a:ext cx="35935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One line: </a:t>
            </a:r>
            <a:r>
              <a:rPr sz="1200" b="0" lang="en-GB">
                <a:solidFill>
                  <a:schemeClr val="tx1"/>
                </a:solidFill>
              </a:rPr>
              <a:t>the unique best fit for these data</a:t>
            </a:r>
          </a:p>
        </p:txBody>
      </p:sp>
      <p:sp>
        <p:nvSpPr>
          <p:cNvPr id="22" name="Sources"/>
          <p:cNvSpPr txBox="1"/>
          <p:nvPr/>
        </p:nvSpPr>
        <p:spPr>
          <a:xfrm>
            <a:off x="457200" y="434340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Bojinov, Parzen &amp; Hamilton 2025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Multiple regression: holding other things constant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Multiple formula box"/>
          <p:cNvSpPr/>
          <p:nvPr/>
        </p:nvSpPr>
        <p:spPr>
          <a:xfrm>
            <a:off x="457200" y="123444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ultiple formula code"/>
          <p:cNvSpPr txBox="1"/>
          <p:nvPr/>
        </p:nvSpPr>
        <p:spPr>
          <a:xfrm>
            <a:off x="594360" y="1325880"/>
            <a:ext cx="7955280" cy="50292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ln sales = b0 + b1·ln price1 + b2·ln price2 + b3·ln price3 + b4·ln price4</a:t>
            </a:r>
          </a:p>
          <a:p>
            <a:pPr algn="l">
              <a:spcAft>
                <a:spcPts val="0"/>
              </a:spcAft>
            </a:pPr>
            <a:r>
              <a:rPr sz="1200" b="0" lang="en-GB">
                <a:solidFill>
                  <a:schemeClr val="bg1"/>
                </a:solidFill>
                <a:latin typeface="Consolas"/>
              </a:rPr>
              <a:t>           + b5·feature1 + b6·temp + b7·december + e</a:t>
            </a:r>
          </a:p>
        </p:txBody>
      </p:sp>
      <p:sp>
        <p:nvSpPr>
          <p:cNvPr id="12" name="Mix 1 tile"/>
          <p:cNvSpPr/>
          <p:nvPr/>
        </p:nvSpPr>
        <p:spPr>
          <a:xfrm>
            <a:off x="457200" y="2057400"/>
            <a:ext cx="265176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Icon Mix 1" descr=""/>
          <p:cNvPicPr>
            <a:picLocks noChangeAspect="1"/>
          </p:cNvPicPr>
          <p:nvPr/>
        </p:nvPicPr>
        <p:blipFill>
          <a:blip r:embed="rId3"/>
          <a:stretch>
            <a:fillRect/>
          </a:stretch>
        </p:blipFill>
        <p:spPr>
          <a:xfrm>
            <a:off x="594360" y="2194560"/>
            <a:ext cx="365760" cy="365760"/>
          </a:xfrm>
          <a:prstGeom prst="rect">
            <a:avLst/>
          </a:prstGeom>
        </p:spPr>
      </p:pic>
      <p:sp>
        <p:nvSpPr>
          <p:cNvPr id="14" name="Mix 1 heading"/>
          <p:cNvSpPr txBox="1"/>
          <p:nvPr/>
        </p:nvSpPr>
        <p:spPr>
          <a:xfrm>
            <a:off x="1051560" y="219456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Own mix</a:t>
            </a:r>
          </a:p>
        </p:txBody>
      </p:sp>
      <p:sp>
        <p:nvSpPr>
          <p:cNvPr id="15" name="Mix 1 text"/>
          <p:cNvSpPr txBox="1"/>
          <p:nvPr/>
        </p:nvSpPr>
        <p:spPr>
          <a:xfrm>
            <a:off x="594360" y="2679192"/>
            <a:ext cx="2377440" cy="822960"/>
          </a:xfrm>
          <a:prstGeom prst="rect">
            <a:avLst/>
          </a:prstGeom>
          <a:noFill/>
        </p:spPr>
        <p:txBody>
          <a:bodyPr wrap="square" lIns="0" rIns="0" tIns="0" bIns="0" anchor="t">
            <a:noAutofit/>
          </a:bodyPr>
          <a:lstStyle/>
          <a:p>
            <a:pPr algn="l">
              <a:spcAft>
                <a:spcPts val="400"/>
              </a:spcAft>
            </a:pPr>
            <a:r>
              <a:rPr sz="1200" b="0" lang="en-GB">
                <a:solidFill>
                  <a:schemeClr val="tx1"/>
                </a:solidFill>
              </a:rPr>
              <a:t>Price of brand 1</a:t>
            </a:r>
          </a:p>
          <a:p>
            <a:pPr algn="l">
              <a:spcAft>
                <a:spcPts val="400"/>
              </a:spcAft>
            </a:pPr>
            <a:r>
              <a:rPr sz="1200" b="0" lang="en-GB">
                <a:solidFill>
                  <a:schemeClr val="tx1"/>
                </a:solidFill>
              </a:rPr>
              <a:t>Feature ads, displays</a:t>
            </a:r>
          </a:p>
        </p:txBody>
      </p:sp>
      <p:sp>
        <p:nvSpPr>
          <p:cNvPr id="16" name="Mix 2 tile"/>
          <p:cNvSpPr/>
          <p:nvPr/>
        </p:nvSpPr>
        <p:spPr>
          <a:xfrm>
            <a:off x="3246120" y="2057400"/>
            <a:ext cx="265176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Icon Mix 2" descr=""/>
          <p:cNvPicPr>
            <a:picLocks noChangeAspect="1"/>
          </p:cNvPicPr>
          <p:nvPr/>
        </p:nvPicPr>
        <p:blipFill>
          <a:blip r:embed="rId4"/>
          <a:stretch>
            <a:fillRect/>
          </a:stretch>
        </p:blipFill>
        <p:spPr>
          <a:xfrm>
            <a:off x="3383280" y="2194560"/>
            <a:ext cx="365760" cy="365760"/>
          </a:xfrm>
          <a:prstGeom prst="rect">
            <a:avLst/>
          </a:prstGeom>
        </p:spPr>
      </p:pic>
      <p:sp>
        <p:nvSpPr>
          <p:cNvPr id="18" name="Mix 2 heading"/>
          <p:cNvSpPr txBox="1"/>
          <p:nvPr/>
        </p:nvSpPr>
        <p:spPr>
          <a:xfrm>
            <a:off x="3840480" y="219456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Competitors</a:t>
            </a:r>
          </a:p>
        </p:txBody>
      </p:sp>
      <p:sp>
        <p:nvSpPr>
          <p:cNvPr id="19" name="Mix 2 text"/>
          <p:cNvSpPr txBox="1"/>
          <p:nvPr/>
        </p:nvSpPr>
        <p:spPr>
          <a:xfrm>
            <a:off x="3383280" y="2679192"/>
            <a:ext cx="2377440" cy="822960"/>
          </a:xfrm>
          <a:prstGeom prst="rect">
            <a:avLst/>
          </a:prstGeom>
          <a:noFill/>
        </p:spPr>
        <p:txBody>
          <a:bodyPr wrap="square" lIns="0" rIns="0" tIns="0" bIns="0" anchor="t">
            <a:noAutofit/>
          </a:bodyPr>
          <a:lstStyle/>
          <a:p>
            <a:pPr algn="l">
              <a:spcAft>
                <a:spcPts val="400"/>
              </a:spcAft>
            </a:pPr>
            <a:r>
              <a:rPr sz="1200" b="0" lang="en-GB">
                <a:solidFill>
                  <a:schemeClr val="tx1"/>
                </a:solidFill>
              </a:rPr>
              <a:t>Prices of brands 2 to 4</a:t>
            </a:r>
          </a:p>
          <a:p>
            <a:pPr algn="l">
              <a:spcAft>
                <a:spcPts val="400"/>
              </a:spcAft>
            </a:pPr>
            <a:r>
              <a:rPr sz="1200" b="0" lang="en-GB">
                <a:solidFill>
                  <a:schemeClr val="tx1"/>
                </a:solidFill>
              </a:rPr>
              <a:t>Their features and displays</a:t>
            </a:r>
          </a:p>
        </p:txBody>
      </p:sp>
      <p:sp>
        <p:nvSpPr>
          <p:cNvPr id="20" name="Mix 3 tile"/>
          <p:cNvSpPr/>
          <p:nvPr/>
        </p:nvSpPr>
        <p:spPr>
          <a:xfrm>
            <a:off x="6035040" y="2057400"/>
            <a:ext cx="265176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Mix 3" descr=""/>
          <p:cNvPicPr>
            <a:picLocks noChangeAspect="1"/>
          </p:cNvPicPr>
          <p:nvPr/>
        </p:nvPicPr>
        <p:blipFill>
          <a:blip r:embed="rId5"/>
          <a:stretch>
            <a:fillRect/>
          </a:stretch>
        </p:blipFill>
        <p:spPr>
          <a:xfrm>
            <a:off x="6172200" y="2194560"/>
            <a:ext cx="365760" cy="365760"/>
          </a:xfrm>
          <a:prstGeom prst="rect">
            <a:avLst/>
          </a:prstGeom>
        </p:spPr>
      </p:pic>
      <p:sp>
        <p:nvSpPr>
          <p:cNvPr id="22" name="Mix 3 heading"/>
          <p:cNvSpPr txBox="1"/>
          <p:nvPr/>
        </p:nvSpPr>
        <p:spPr>
          <a:xfrm>
            <a:off x="6629400" y="219456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Context</a:t>
            </a:r>
          </a:p>
        </p:txBody>
      </p:sp>
      <p:sp>
        <p:nvSpPr>
          <p:cNvPr id="23" name="Mix 3 text"/>
          <p:cNvSpPr txBox="1"/>
          <p:nvPr/>
        </p:nvSpPr>
        <p:spPr>
          <a:xfrm>
            <a:off x="6172200" y="2679192"/>
            <a:ext cx="2377440" cy="822960"/>
          </a:xfrm>
          <a:prstGeom prst="rect">
            <a:avLst/>
          </a:prstGeom>
          <a:noFill/>
        </p:spPr>
        <p:txBody>
          <a:bodyPr wrap="square" lIns="0" rIns="0" tIns="0" bIns="0" anchor="t">
            <a:noAutofit/>
          </a:bodyPr>
          <a:lstStyle/>
          <a:p>
            <a:pPr algn="l">
              <a:spcAft>
                <a:spcPts val="400"/>
              </a:spcAft>
            </a:pPr>
            <a:r>
              <a:rPr sz="1200" b="0" lang="en-GB">
                <a:solidFill>
                  <a:schemeClr val="tx1"/>
                </a:solidFill>
              </a:rPr>
              <a:t>Temperature</a:t>
            </a:r>
          </a:p>
          <a:p>
            <a:pPr algn="l">
              <a:spcAft>
                <a:spcPts val="400"/>
              </a:spcAft>
            </a:pPr>
            <a:r>
              <a:rPr sz="1200" b="0" lang="en-GB">
                <a:solidFill>
                  <a:schemeClr val="tx1"/>
                </a:solidFill>
              </a:rPr>
              <a:t>December and Easter weeks</a:t>
            </a:r>
          </a:p>
        </p:txBody>
      </p:sp>
      <p:sp>
        <p:nvSpPr>
          <p:cNvPr id="24" name="Ceteris box"/>
          <p:cNvSpPr/>
          <p:nvPr/>
        </p:nvSpPr>
        <p:spPr>
          <a:xfrm>
            <a:off x="457200" y="370332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Ceteris" descr=""/>
          <p:cNvPicPr>
            <a:picLocks noChangeAspect="1"/>
          </p:cNvPicPr>
          <p:nvPr/>
        </p:nvPicPr>
        <p:blipFill>
          <a:blip r:embed="rId6"/>
          <a:stretch>
            <a:fillRect/>
          </a:stretch>
        </p:blipFill>
        <p:spPr>
          <a:xfrm>
            <a:off x="658368" y="3840480"/>
            <a:ext cx="365760" cy="365760"/>
          </a:xfrm>
          <a:prstGeom prst="rect">
            <a:avLst/>
          </a:prstGeom>
        </p:spPr>
      </p:pic>
      <p:sp>
        <p:nvSpPr>
          <p:cNvPr id="26" name="Ceteris text"/>
          <p:cNvSpPr txBox="1"/>
          <p:nvPr/>
        </p:nvSpPr>
        <p:spPr>
          <a:xfrm>
            <a:off x="1207008" y="3703320"/>
            <a:ext cx="7315200" cy="640080"/>
          </a:xfrm>
          <a:prstGeom prst="rect">
            <a:avLst/>
          </a:prstGeom>
          <a:noFill/>
        </p:spPr>
        <p:txBody>
          <a:bodyPr wrap="square" lIns="0" rIns="0" tIns="0" bIns="0" anchor="ctr">
            <a:noAutofit/>
          </a:bodyPr>
          <a:lstStyle/>
          <a:p>
            <a:pPr algn="l">
              <a:spcAft>
                <a:spcPts val="400"/>
              </a:spcAft>
            </a:pPr>
            <a:r>
              <a:rPr sz="1300" b="1" lang="en-GB">
                <a:solidFill>
                  <a:schemeClr val="bg1"/>
                </a:solidFill>
              </a:rPr>
              <a:t>Each b: </a:t>
            </a:r>
            <a:r>
              <a:rPr sz="1300" b="0" lang="en-GB">
                <a:solidFill>
                  <a:schemeClr val="bg1"/>
                </a:solidFill>
              </a:rPr>
              <a:t>the effect of one variable with all others held constant (ceteris paribus).</a:t>
            </a:r>
          </a:p>
        </p:txBody>
      </p:sp>
      <p:sp>
        <p:nvSpPr>
          <p:cNvPr id="27" name="Omitted note"/>
          <p:cNvSpPr txBox="1"/>
          <p:nvPr/>
        </p:nvSpPr>
        <p:spPr>
          <a:xfrm>
            <a:off x="457200" y="4434840"/>
            <a:ext cx="8229600"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Left out </a:t>
            </a:r>
            <a:r>
              <a:rPr sz="1200" b="0" lang="en-GB">
                <a:solidFill>
                  <a:schemeClr val="tx1"/>
                </a:solidFill>
              </a:rPr>
              <a:t>a relevant variable? Its effect ends up in the others (omitted variable bias).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Is the effect real? t-test, p-value, interval, F-test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Inf 1 tile"/>
          <p:cNvSpPr/>
          <p:nvPr/>
        </p:nvSpPr>
        <p:spPr>
          <a:xfrm>
            <a:off x="457200" y="1234440"/>
            <a:ext cx="404622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Inf 1" descr=""/>
          <p:cNvPicPr>
            <a:picLocks noChangeAspect="1"/>
          </p:cNvPicPr>
          <p:nvPr/>
        </p:nvPicPr>
        <p:blipFill>
          <a:blip r:embed="rId3"/>
          <a:stretch>
            <a:fillRect/>
          </a:stretch>
        </p:blipFill>
        <p:spPr>
          <a:xfrm>
            <a:off x="594360" y="1371600"/>
            <a:ext cx="365760" cy="365760"/>
          </a:xfrm>
          <a:prstGeom prst="rect">
            <a:avLst/>
          </a:prstGeom>
        </p:spPr>
      </p:pic>
      <p:sp>
        <p:nvSpPr>
          <p:cNvPr id="12" name="Inf 1 heading"/>
          <p:cNvSpPr txBox="1"/>
          <p:nvPr/>
        </p:nvSpPr>
        <p:spPr>
          <a:xfrm>
            <a:off x="1051560" y="137160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t-test</a:t>
            </a:r>
          </a:p>
        </p:txBody>
      </p:sp>
      <p:sp>
        <p:nvSpPr>
          <p:cNvPr id="13" name="Inf 1 text"/>
          <p:cNvSpPr txBox="1"/>
          <p:nvPr/>
        </p:nvSpPr>
        <p:spPr>
          <a:xfrm>
            <a:off x="594360" y="1856232"/>
            <a:ext cx="3771900" cy="731520"/>
          </a:xfrm>
          <a:prstGeom prst="rect">
            <a:avLst/>
          </a:prstGeom>
          <a:noFill/>
        </p:spPr>
        <p:txBody>
          <a:bodyPr wrap="square" lIns="0" rIns="0" tIns="0" bIns="0" anchor="t">
            <a:noAutofit/>
          </a:bodyPr>
          <a:lstStyle/>
          <a:p>
            <a:pPr algn="l">
              <a:spcAft>
                <a:spcPts val="400"/>
              </a:spcAft>
            </a:pPr>
            <a:r>
              <a:rPr sz="1200" b="0" lang="en-GB">
                <a:solidFill>
                  <a:schemeClr val="tx1"/>
                </a:solidFill>
              </a:rPr>
              <a:t>t = b / se</a:t>
            </a:r>
          </a:p>
          <a:p>
            <a:pPr algn="l">
              <a:spcAft>
                <a:spcPts val="400"/>
              </a:spcAft>
            </a:pPr>
            <a:r>
              <a:rPr sz="1200" b="0" lang="en-GB">
                <a:solidFill>
                  <a:schemeClr val="tx1"/>
                </a:solidFill>
              </a:rPr>
              <a:t>Own price: −3.64 / 0.30 = −12.1</a:t>
            </a:r>
          </a:p>
        </p:txBody>
      </p:sp>
      <p:sp>
        <p:nvSpPr>
          <p:cNvPr id="14" name="Inf 2 tile"/>
          <p:cNvSpPr/>
          <p:nvPr/>
        </p:nvSpPr>
        <p:spPr>
          <a:xfrm>
            <a:off x="4640580" y="1234440"/>
            <a:ext cx="404622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Inf 2" descr=""/>
          <p:cNvPicPr>
            <a:picLocks noChangeAspect="1"/>
          </p:cNvPicPr>
          <p:nvPr/>
        </p:nvPicPr>
        <p:blipFill>
          <a:blip r:embed="rId4"/>
          <a:stretch>
            <a:fillRect/>
          </a:stretch>
        </p:blipFill>
        <p:spPr>
          <a:xfrm>
            <a:off x="4777740" y="1371600"/>
            <a:ext cx="365760" cy="365760"/>
          </a:xfrm>
          <a:prstGeom prst="rect">
            <a:avLst/>
          </a:prstGeom>
        </p:spPr>
      </p:pic>
      <p:sp>
        <p:nvSpPr>
          <p:cNvPr id="16" name="Inf 2 heading"/>
          <p:cNvSpPr txBox="1"/>
          <p:nvPr/>
        </p:nvSpPr>
        <p:spPr>
          <a:xfrm>
            <a:off x="5234940" y="137160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p-value</a:t>
            </a:r>
          </a:p>
        </p:txBody>
      </p:sp>
      <p:sp>
        <p:nvSpPr>
          <p:cNvPr id="17" name="Inf 2 text"/>
          <p:cNvSpPr txBox="1"/>
          <p:nvPr/>
        </p:nvSpPr>
        <p:spPr>
          <a:xfrm>
            <a:off x="4777740" y="1856232"/>
            <a:ext cx="3771900" cy="731520"/>
          </a:xfrm>
          <a:prstGeom prst="rect">
            <a:avLst/>
          </a:prstGeom>
          <a:noFill/>
        </p:spPr>
        <p:txBody>
          <a:bodyPr wrap="square" lIns="0" rIns="0" tIns="0" bIns="0" anchor="t">
            <a:noAutofit/>
          </a:bodyPr>
          <a:lstStyle/>
          <a:p>
            <a:pPr algn="l">
              <a:spcAft>
                <a:spcPts val="400"/>
              </a:spcAft>
            </a:pPr>
            <a:r>
              <a:rPr sz="1200" b="0" lang="en-GB">
                <a:solidFill>
                  <a:schemeClr val="tx1"/>
                </a:solidFill>
              </a:rPr>
              <a:t>Below 0.05: significant</a:t>
            </a:r>
          </a:p>
          <a:p>
            <a:pPr algn="l">
              <a:spcAft>
                <a:spcPts val="400"/>
              </a:spcAft>
            </a:pPr>
            <a:r>
              <a:rPr sz="1200" b="0" lang="en-GB">
                <a:solidFill>
                  <a:schemeClr val="tx1"/>
                </a:solidFill>
              </a:rPr>
              <a:t>Own price: p &lt; 0.001; brand 4: p = 0.86</a:t>
            </a:r>
          </a:p>
        </p:txBody>
      </p:sp>
      <p:sp>
        <p:nvSpPr>
          <p:cNvPr id="18" name="Inf 3 tile"/>
          <p:cNvSpPr/>
          <p:nvPr/>
        </p:nvSpPr>
        <p:spPr>
          <a:xfrm>
            <a:off x="457200" y="2788920"/>
            <a:ext cx="404622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Inf 3" descr=""/>
          <p:cNvPicPr>
            <a:picLocks noChangeAspect="1"/>
          </p:cNvPicPr>
          <p:nvPr/>
        </p:nvPicPr>
        <p:blipFill>
          <a:blip r:embed="rId5"/>
          <a:stretch>
            <a:fillRect/>
          </a:stretch>
        </p:blipFill>
        <p:spPr>
          <a:xfrm>
            <a:off x="594360" y="2926080"/>
            <a:ext cx="365760" cy="365760"/>
          </a:xfrm>
          <a:prstGeom prst="rect">
            <a:avLst/>
          </a:prstGeom>
        </p:spPr>
      </p:pic>
      <p:sp>
        <p:nvSpPr>
          <p:cNvPr id="20" name="Inf 3 heading"/>
          <p:cNvSpPr txBox="1"/>
          <p:nvPr/>
        </p:nvSpPr>
        <p:spPr>
          <a:xfrm>
            <a:off x="1051560" y="292608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95 % confidence interval</a:t>
            </a:r>
          </a:p>
        </p:txBody>
      </p:sp>
      <p:sp>
        <p:nvSpPr>
          <p:cNvPr id="21" name="Inf 3 text"/>
          <p:cNvSpPr txBox="1"/>
          <p:nvPr/>
        </p:nvSpPr>
        <p:spPr>
          <a:xfrm>
            <a:off x="594360" y="3410712"/>
            <a:ext cx="3771900" cy="731520"/>
          </a:xfrm>
          <a:prstGeom prst="rect">
            <a:avLst/>
          </a:prstGeom>
          <a:noFill/>
        </p:spPr>
        <p:txBody>
          <a:bodyPr wrap="square" lIns="0" rIns="0" tIns="0" bIns="0" anchor="t">
            <a:noAutofit/>
          </a:bodyPr>
          <a:lstStyle/>
          <a:p>
            <a:pPr algn="l">
              <a:spcAft>
                <a:spcPts val="400"/>
              </a:spcAft>
            </a:pPr>
            <a:r>
              <a:rPr sz="1200" b="0" lang="en-GB">
                <a:solidFill>
                  <a:schemeClr val="tx1"/>
                </a:solidFill>
              </a:rPr>
              <a:t>About b ± 2 se</a:t>
            </a:r>
          </a:p>
          <a:p>
            <a:pPr algn="l">
              <a:spcAft>
                <a:spcPts val="400"/>
              </a:spcAft>
            </a:pPr>
            <a:r>
              <a:rPr sz="1200" b="0" lang="en-GB">
                <a:solidFill>
                  <a:schemeClr val="tx1"/>
                </a:solidFill>
              </a:rPr>
              <a:t>Own price: −4.24 to −3.04</a:t>
            </a:r>
          </a:p>
        </p:txBody>
      </p:sp>
      <p:sp>
        <p:nvSpPr>
          <p:cNvPr id="22" name="Inf 4 tile"/>
          <p:cNvSpPr/>
          <p:nvPr/>
        </p:nvSpPr>
        <p:spPr>
          <a:xfrm>
            <a:off x="4640580" y="2788920"/>
            <a:ext cx="404622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Inf 4" descr=""/>
          <p:cNvPicPr>
            <a:picLocks noChangeAspect="1"/>
          </p:cNvPicPr>
          <p:nvPr/>
        </p:nvPicPr>
        <p:blipFill>
          <a:blip r:embed="rId6"/>
          <a:stretch>
            <a:fillRect/>
          </a:stretch>
        </p:blipFill>
        <p:spPr>
          <a:xfrm>
            <a:off x="4777740" y="2926080"/>
            <a:ext cx="365760" cy="365760"/>
          </a:xfrm>
          <a:prstGeom prst="rect">
            <a:avLst/>
          </a:prstGeom>
        </p:spPr>
      </p:pic>
      <p:sp>
        <p:nvSpPr>
          <p:cNvPr id="24" name="Inf 4 heading"/>
          <p:cNvSpPr txBox="1"/>
          <p:nvPr/>
        </p:nvSpPr>
        <p:spPr>
          <a:xfrm>
            <a:off x="5234940" y="292608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F-test</a:t>
            </a:r>
          </a:p>
        </p:txBody>
      </p:sp>
      <p:sp>
        <p:nvSpPr>
          <p:cNvPr id="25" name="Inf 4 text"/>
          <p:cNvSpPr txBox="1"/>
          <p:nvPr/>
        </p:nvSpPr>
        <p:spPr>
          <a:xfrm>
            <a:off x="4777740" y="3410712"/>
            <a:ext cx="3771900" cy="731520"/>
          </a:xfrm>
          <a:prstGeom prst="rect">
            <a:avLst/>
          </a:prstGeom>
          <a:noFill/>
        </p:spPr>
        <p:txBody>
          <a:bodyPr wrap="square" lIns="0" rIns="0" tIns="0" bIns="0" anchor="t">
            <a:noAutofit/>
          </a:bodyPr>
          <a:lstStyle/>
          <a:p>
            <a:pPr algn="l">
              <a:spcAft>
                <a:spcPts val="400"/>
              </a:spcAft>
            </a:pPr>
            <a:r>
              <a:rPr sz="1200" b="0" lang="en-GB">
                <a:solidFill>
                  <a:schemeClr val="tx1"/>
                </a:solidFill>
              </a:rPr>
              <a:t>Are all slopes together zero?</a:t>
            </a:r>
          </a:p>
          <a:p>
            <a:pPr algn="l">
              <a:spcAft>
                <a:spcPts val="400"/>
              </a:spcAft>
            </a:pPr>
            <a:r>
              <a:rPr sz="1200" b="0" lang="en-GB">
                <a:solidFill>
                  <a:schemeClr val="tx1"/>
                </a:solidFill>
              </a:rPr>
              <a:t>F = 59.5, p &lt; 0.001</a:t>
            </a:r>
          </a:p>
        </p:txBody>
      </p:sp>
      <p:sp>
        <p:nvSpPr>
          <p:cNvPr id="26" name="Inf warn box"/>
          <p:cNvSpPr/>
          <p:nvPr/>
        </p:nvSpPr>
        <p:spPr>
          <a:xfrm>
            <a:off x="457200" y="43434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Inf warn" descr=""/>
          <p:cNvPicPr>
            <a:picLocks noChangeAspect="1"/>
          </p:cNvPicPr>
          <p:nvPr/>
        </p:nvPicPr>
        <p:blipFill>
          <a:blip r:embed="rId7"/>
          <a:stretch>
            <a:fillRect/>
          </a:stretch>
        </p:blipFill>
        <p:spPr>
          <a:xfrm>
            <a:off x="658368" y="4411980"/>
            <a:ext cx="365760" cy="365760"/>
          </a:xfrm>
          <a:prstGeom prst="rect">
            <a:avLst/>
          </a:prstGeom>
        </p:spPr>
      </p:pic>
      <p:sp>
        <p:nvSpPr>
          <p:cNvPr id="28" name="Inf warn text"/>
          <p:cNvSpPr txBox="1"/>
          <p:nvPr/>
        </p:nvSpPr>
        <p:spPr>
          <a:xfrm>
            <a:off x="1207008" y="4343400"/>
            <a:ext cx="7315200"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Significant is not important: </a:t>
            </a:r>
            <a:r>
              <a:rPr sz="1200" b="0" lang="en-GB">
                <a:solidFill>
                  <a:schemeClr val="bg1"/>
                </a:solidFill>
              </a:rPr>
              <a:t>read the size of b and its interval, not just the stars.</a:t>
            </a:r>
          </a:p>
        </p:txBody>
      </p:sp>
      <p:sp>
        <p:nvSpPr>
          <p:cNvPr id="29"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Bojinov, Parzen &amp; Hamilton 2025; Skiera, Reiner &amp; Albers 2022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How well does the model fit?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Fit row 1"/>
          <p:cNvSpPr/>
          <p:nvPr/>
        </p:nvSpPr>
        <p:spPr>
          <a:xfrm>
            <a:off x="457200" y="1234440"/>
            <a:ext cx="493776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Fit stat 1 bar"/>
          <p:cNvSpPr/>
          <p:nvPr/>
        </p:nvSpPr>
        <p:spPr>
          <a:xfrm>
            <a:off x="457200" y="1234440"/>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Fit stat 1 figure"/>
          <p:cNvSpPr txBox="1"/>
          <p:nvPr/>
        </p:nvSpPr>
        <p:spPr>
          <a:xfrm>
            <a:off x="640080" y="1234440"/>
            <a:ext cx="1325880" cy="7315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0.874</a:t>
            </a:r>
          </a:p>
        </p:txBody>
      </p:sp>
      <p:sp>
        <p:nvSpPr>
          <p:cNvPr id="13" name="Fit stat 1 label"/>
          <p:cNvSpPr txBox="1"/>
          <p:nvPr/>
        </p:nvSpPr>
        <p:spPr>
          <a:xfrm>
            <a:off x="1965960" y="1234440"/>
            <a:ext cx="3383280" cy="731520"/>
          </a:xfrm>
          <a:prstGeom prst="rect">
            <a:avLst/>
          </a:prstGeom>
          <a:noFill/>
        </p:spPr>
        <p:txBody>
          <a:bodyPr wrap="square" lIns="0" rIns="0" tIns="0" bIns="0" anchor="ctr">
            <a:noAutofit/>
          </a:bodyPr>
          <a:lstStyle/>
          <a:p>
            <a:pPr algn="l">
              <a:spcAft>
                <a:spcPts val="400"/>
              </a:spcAft>
            </a:pPr>
            <a:r>
              <a:rPr sz="1200" b="0" lang="en-GB">
                <a:solidFill>
                  <a:schemeClr val="tx1"/>
                </a:solidFill>
              </a:rPr>
              <a:t>R²: the model explains 87 % of the weekly variation in log sales</a:t>
            </a:r>
          </a:p>
        </p:txBody>
      </p:sp>
      <p:sp>
        <p:nvSpPr>
          <p:cNvPr id="14" name="Fit row 2"/>
          <p:cNvSpPr/>
          <p:nvPr/>
        </p:nvSpPr>
        <p:spPr>
          <a:xfrm>
            <a:off x="457200" y="2039112"/>
            <a:ext cx="493776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Fit stat 2 bar"/>
          <p:cNvSpPr/>
          <p:nvPr/>
        </p:nvSpPr>
        <p:spPr>
          <a:xfrm>
            <a:off x="457200" y="2039112"/>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Fit stat 2 figure"/>
          <p:cNvSpPr txBox="1"/>
          <p:nvPr/>
        </p:nvSpPr>
        <p:spPr>
          <a:xfrm>
            <a:off x="640080" y="2039112"/>
            <a:ext cx="1325880" cy="7315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0.859</a:t>
            </a:r>
          </a:p>
        </p:txBody>
      </p:sp>
      <p:sp>
        <p:nvSpPr>
          <p:cNvPr id="17" name="Fit stat 2 label"/>
          <p:cNvSpPr txBox="1"/>
          <p:nvPr/>
        </p:nvSpPr>
        <p:spPr>
          <a:xfrm>
            <a:off x="1965960" y="2039112"/>
            <a:ext cx="3383280" cy="731520"/>
          </a:xfrm>
          <a:prstGeom prst="rect">
            <a:avLst/>
          </a:prstGeom>
          <a:noFill/>
        </p:spPr>
        <p:txBody>
          <a:bodyPr wrap="square" lIns="0" rIns="0" tIns="0" bIns="0" anchor="ctr">
            <a:noAutofit/>
          </a:bodyPr>
          <a:lstStyle/>
          <a:p>
            <a:pPr algn="l">
              <a:spcAft>
                <a:spcPts val="400"/>
              </a:spcAft>
            </a:pPr>
            <a:r>
              <a:rPr sz="1200" b="0" lang="en-GB">
                <a:solidFill>
                  <a:schemeClr val="tx1"/>
                </a:solidFill>
              </a:rPr>
              <a:t>adjusted R²: R² with a penalty for each extra variable</a:t>
            </a:r>
          </a:p>
        </p:txBody>
      </p:sp>
      <p:sp>
        <p:nvSpPr>
          <p:cNvPr id="18" name="Fit row 3"/>
          <p:cNvSpPr/>
          <p:nvPr/>
        </p:nvSpPr>
        <p:spPr>
          <a:xfrm>
            <a:off x="457200" y="2843784"/>
            <a:ext cx="493776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Fit stat 3 bar"/>
          <p:cNvSpPr/>
          <p:nvPr/>
        </p:nvSpPr>
        <p:spPr>
          <a:xfrm>
            <a:off x="457200" y="2843784"/>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Fit stat 3 figure"/>
          <p:cNvSpPr txBox="1"/>
          <p:nvPr/>
        </p:nvSpPr>
        <p:spPr>
          <a:xfrm>
            <a:off x="640080" y="2843784"/>
            <a:ext cx="1325880" cy="7315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0.169</a:t>
            </a:r>
          </a:p>
        </p:txBody>
      </p:sp>
      <p:sp>
        <p:nvSpPr>
          <p:cNvPr id="21" name="Fit stat 3 label"/>
          <p:cNvSpPr txBox="1"/>
          <p:nvPr/>
        </p:nvSpPr>
        <p:spPr>
          <a:xfrm>
            <a:off x="1965960" y="2843784"/>
            <a:ext cx="3383280" cy="731520"/>
          </a:xfrm>
          <a:prstGeom prst="rect">
            <a:avLst/>
          </a:prstGeom>
          <a:noFill/>
        </p:spPr>
        <p:txBody>
          <a:bodyPr wrap="square" lIns="0" rIns="0" tIns="0" bIns="0" anchor="ctr">
            <a:noAutofit/>
          </a:bodyPr>
          <a:lstStyle/>
          <a:p>
            <a:pPr algn="l">
              <a:spcAft>
                <a:spcPts val="400"/>
              </a:spcAft>
            </a:pPr>
            <a:r>
              <a:rPr sz="1200" b="0" lang="en-GB">
                <a:solidFill>
                  <a:schemeClr val="tx1"/>
                </a:solidFill>
              </a:rPr>
              <a:t>RMSE: the typical weekly miss, about 17 % in a log model</a:t>
            </a:r>
          </a:p>
        </p:txBody>
      </p:sp>
      <p:sp>
        <p:nvSpPr>
          <p:cNvPr id="22" name="Fit card body"/>
          <p:cNvSpPr/>
          <p:nvPr/>
        </p:nvSpPr>
        <p:spPr>
          <a:xfrm>
            <a:off x="5532120" y="1645920"/>
            <a:ext cx="3154680" cy="19293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Fit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Fit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Careful</a:t>
            </a:r>
          </a:p>
        </p:txBody>
      </p:sp>
      <p:pic>
        <p:nvPicPr>
          <p:cNvPr id="25" name="Icon Fit card" descr=""/>
          <p:cNvPicPr>
            <a:picLocks noChangeAspect="1"/>
          </p:cNvPicPr>
          <p:nvPr/>
        </p:nvPicPr>
        <p:blipFill>
          <a:blip r:embed="rId3"/>
          <a:stretch>
            <a:fillRect/>
          </a:stretch>
        </p:blipFill>
        <p:spPr>
          <a:xfrm>
            <a:off x="8247888" y="1284732"/>
            <a:ext cx="310896" cy="310896"/>
          </a:xfrm>
          <a:prstGeom prst="rect">
            <a:avLst/>
          </a:prstGeom>
        </p:spPr>
      </p:pic>
      <p:sp>
        <p:nvSpPr>
          <p:cNvPr id="26" name="Fit card text"/>
          <p:cNvSpPr txBox="1"/>
          <p:nvPr/>
        </p:nvSpPr>
        <p:spPr>
          <a:xfrm>
            <a:off x="5696712" y="1783080"/>
            <a:ext cx="2852928" cy="1655064"/>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R² never falls when you add a variable</a:t>
            </a:r>
          </a:p>
          <a:p>
            <a:pPr algn="l" marL="182880" indent="-182880">
              <a:spcAft>
                <a:spcPts val="600"/>
              </a:spcAft>
              <a:buClr>
                <a:schemeClr val="accent1"/>
              </a:buClr>
              <a:buFont typeface="Arial"/>
              <a:buChar char="▪"/>
            </a:pPr>
            <a:r>
              <a:rPr sz="1300" b="0" lang="en-GB">
                <a:solidFill>
                  <a:schemeClr val="tx1"/>
                </a:solidFill>
              </a:rPr>
              <a:t>Compare R² only for the same outcome (sales vs log sales)</a:t>
            </a:r>
          </a:p>
          <a:p>
            <a:pPr algn="l" marL="182880" indent="-182880">
              <a:spcAft>
                <a:spcPts val="600"/>
              </a:spcAft>
              <a:buClr>
                <a:schemeClr val="accent1"/>
              </a:buClr>
              <a:buFont typeface="Arial"/>
              <a:buChar char="▪"/>
            </a:pPr>
            <a:r>
              <a:rPr sz="1300" b="0" lang="en-GB">
                <a:solidFill>
                  <a:schemeClr val="tx1"/>
                </a:solidFill>
              </a:rPr>
              <a:t>High R² does not mean causal</a:t>
            </a:r>
          </a:p>
        </p:txBody>
      </p:sp>
      <p:sp>
        <p:nvSpPr>
          <p:cNvPr id="27" name="Fit model box"/>
          <p:cNvSpPr/>
          <p:nvPr/>
        </p:nvSpPr>
        <p:spPr>
          <a:xfrm>
            <a:off x="457200" y="374904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Icon Fit model" descr=""/>
          <p:cNvPicPr>
            <a:picLocks noChangeAspect="1"/>
          </p:cNvPicPr>
          <p:nvPr/>
        </p:nvPicPr>
        <p:blipFill>
          <a:blip r:embed="rId4"/>
          <a:stretch>
            <a:fillRect/>
          </a:stretch>
        </p:blipFill>
        <p:spPr>
          <a:xfrm>
            <a:off x="658368" y="3840480"/>
            <a:ext cx="365760" cy="365760"/>
          </a:xfrm>
          <a:prstGeom prst="rect">
            <a:avLst/>
          </a:prstGeom>
        </p:spPr>
      </p:pic>
      <p:sp>
        <p:nvSpPr>
          <p:cNvPr id="29" name="Fit model text"/>
          <p:cNvSpPr txBox="1"/>
          <p:nvPr/>
        </p:nvSpPr>
        <p:spPr>
          <a:xfrm>
            <a:off x="1207008" y="374904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Main model for brand 1: </a:t>
            </a:r>
            <a:r>
              <a:rPr sz="1200" b="0" lang="en-GB">
                <a:solidFill>
                  <a:schemeClr val="tx1"/>
                </a:solidFill>
              </a:rPr>
              <a:t>log-log, own and competitor prices, feature, temperature, December; 68 weeks.</a:t>
            </a:r>
          </a:p>
        </p:txBody>
      </p:sp>
      <p:sp>
        <p:nvSpPr>
          <p:cNvPr id="30" name="Sources"/>
          <p:cNvSpPr txBox="1"/>
          <p:nvPr/>
        </p:nvSpPr>
        <p:spPr>
          <a:xfrm>
            <a:off x="457200" y="443484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Bojinov, Parzen &amp; Hamilton 2025; Skiera, Reiner &amp; Albers 2022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Forms table"/>
          <p:cNvGraphicFramePr>
            <a:graphicFrameLocks noGrp="1"/>
          </p:cNvGraphicFramePr>
          <p:nvPr>
            <p:ph type="tbl" idx="1"/>
          </p:nvPr>
        </p:nvGraphicFramePr>
        <p:xfrm>
          <a:off x="457200" y="1234440"/>
          <a:ext cx="8229600" cy="1854200"/>
        </p:xfrm>
        <a:graphic>
          <a:graphicData uri="http://schemas.openxmlformats.org/drawingml/2006/table">
            <a:tbl>
              <a:tblPr firstRow="1" bandRow="1">
                <a:tableStyleId>{5C22544A-7EE6-4342-B048-85BDC9FD1C3A}</a:tableStyleId>
              </a:tblPr>
              <a:tblGrid>
                <a:gridCol w="1737360"/>
                <a:gridCol w="2377440"/>
                <a:gridCol w="2194560"/>
                <a:gridCol w="1920240"/>
              </a:tblGrid>
              <a:tr h="370840">
                <a:tc>
                  <a:txBody>
                    <a:bodyPr/>
                    <a:lstStyle/>
                    <a:p>
                      <a:r>
                        <a:rPr sz="1500" lang="en-GB"/>
                        <a:t>Model</a:t>
                      </a:r>
                    </a:p>
                  </a:txBody>
                  <a:tcPr marT="45000" marB="45000"/>
                </a:tc>
                <a:tc>
                  <a:txBody>
                    <a:bodyPr/>
                    <a:lstStyle/>
                    <a:p>
                      <a:r>
                        <a:rPr sz="1500" lang="en-GB"/>
                        <a:t>Equation</a:t>
                      </a:r>
                    </a:p>
                  </a:txBody>
                  <a:tcPr marT="45000" marB="45000"/>
                </a:tc>
                <a:tc>
                  <a:txBody>
                    <a:bodyPr/>
                    <a:lstStyle/>
                    <a:p>
                      <a:r>
                        <a:rPr sz="1500" lang="en-GB"/>
                        <a:t>b means</a:t>
                      </a:r>
                    </a:p>
                  </a:txBody>
                  <a:tcPr marT="45000" marB="45000"/>
                </a:tc>
                <a:tc>
                  <a:txBody>
                    <a:bodyPr/>
                    <a:lstStyle/>
                    <a:p>
                      <a:r>
                        <a:rPr sz="1500" lang="en-GB"/>
                        <a:t>Brand 1</a:t>
                      </a:r>
                    </a:p>
                  </a:txBody>
                  <a:tcPr marT="45000" marB="45000"/>
                </a:tc>
              </a:tr>
              <a:tr h="370840">
                <a:tc>
                  <a:txBody>
                    <a:bodyPr/>
                    <a:lstStyle/>
                    <a:p>
                      <a:r>
                        <a:rPr sz="1200" b="1" lang="en-GB"/>
                        <a:t>Linear</a:t>
                      </a:r>
                    </a:p>
                  </a:txBody>
                  <a:tcPr marT="45000" marB="45000"/>
                </a:tc>
                <a:tc>
                  <a:txBody>
                    <a:bodyPr/>
                    <a:lstStyle/>
                    <a:p>
                      <a:r>
                        <a:rPr sz="1200" lang="en-GB"/>
                        <a:t>sales = a + b·price</a:t>
                      </a:r>
                    </a:p>
                  </a:txBody>
                  <a:tcPr marT="45000" marB="45000"/>
                </a:tc>
                <a:tc>
                  <a:txBody>
                    <a:bodyPr/>
                    <a:lstStyle/>
                    <a:p>
                      <a:r>
                        <a:rPr sz="1200" lang="en-GB"/>
                        <a:t>+1 unit price: b units</a:t>
                      </a:r>
                    </a:p>
                  </a:txBody>
                  <a:tcPr marT="45000" marB="45000"/>
                </a:tc>
                <a:tc>
                  <a:txBody>
                    <a:bodyPr/>
                    <a:lstStyle/>
                    <a:p>
                      <a:r>
                        <a:rPr sz="1200" lang="en-GB"/>
                        <a:t>b = −669 units</a:t>
                      </a:r>
                    </a:p>
                  </a:txBody>
                  <a:tcPr marT="45000" marB="45000"/>
                </a:tc>
              </a:tr>
              <a:tr h="370840">
                <a:tc>
                  <a:txBody>
                    <a:bodyPr/>
                    <a:lstStyle/>
                    <a:p>
                      <a:r>
                        <a:rPr sz="1200" b="1" lang="en-GB"/>
                        <a:t>Log-log</a:t>
                      </a:r>
                    </a:p>
                  </a:txBody>
                  <a:tcPr marT="45000" marB="45000"/>
                </a:tc>
                <a:tc>
                  <a:txBody>
                    <a:bodyPr/>
                    <a:lstStyle/>
                    <a:p>
                      <a:r>
                        <a:rPr sz="1200" lang="en-GB"/>
                        <a:t>ln sales = a + b·ln price</a:t>
                      </a:r>
                    </a:p>
                  </a:txBody>
                  <a:tcPr marT="45000" marB="45000"/>
                </a:tc>
                <a:tc>
                  <a:txBody>
                    <a:bodyPr/>
                    <a:lstStyle/>
                    <a:p>
                      <a:r>
                        <a:rPr sz="1200" lang="en-GB"/>
                        <a:t>+1 % price: b %</a:t>
                      </a:r>
                    </a:p>
                  </a:txBody>
                  <a:tcPr marT="45000" marB="45000"/>
                </a:tc>
                <a:tc>
                  <a:txBody>
                    <a:bodyPr/>
                    <a:lstStyle/>
                    <a:p>
                      <a:r>
                        <a:rPr sz="1200" lang="en-GB"/>
                        <a:t>b = −3.64 (elasticity)</a:t>
                      </a:r>
                    </a:p>
                  </a:txBody>
                  <a:tcPr marT="45000" marB="45000"/>
                </a:tc>
              </a:tr>
              <a:tr h="370840">
                <a:tc>
                  <a:txBody>
                    <a:bodyPr/>
                    <a:lstStyle/>
                    <a:p>
                      <a:r>
                        <a:rPr sz="1200" b="1" lang="en-GB"/>
                        <a:t>Log-linear</a:t>
                      </a:r>
                    </a:p>
                  </a:txBody>
                  <a:tcPr marT="45000" marB="45000"/>
                </a:tc>
                <a:tc>
                  <a:txBody>
                    <a:bodyPr/>
                    <a:lstStyle/>
                    <a:p>
                      <a:r>
                        <a:rPr sz="1200" lang="en-GB"/>
                        <a:t>ln sales = a + b·temp</a:t>
                      </a:r>
                    </a:p>
                  </a:txBody>
                  <a:tcPr marT="45000" marB="45000"/>
                </a:tc>
                <a:tc>
                  <a:txBody>
                    <a:bodyPr/>
                    <a:lstStyle/>
                    <a:p>
                      <a:r>
                        <a:rPr sz="1200" lang="en-GB"/>
                        <a:t>+1 °C: about 100·b %</a:t>
                      </a:r>
                    </a:p>
                  </a:txBody>
                  <a:tcPr marT="45000" marB="45000"/>
                </a:tc>
                <a:tc>
                  <a:txBody>
                    <a:bodyPr/>
                    <a:lstStyle/>
                    <a:p>
                      <a:r>
                        <a:rPr sz="1200" lang="en-GB"/>
                        <a:t>b = −0.0066: −0.66 %</a:t>
                      </a:r>
                    </a:p>
                  </a:txBody>
                  <a:tcPr marT="45000" marB="45000"/>
                </a:tc>
              </a:tr>
              <a:tr h="370840">
                <a:tc>
                  <a:txBody>
                    <a:bodyPr/>
                    <a:lstStyle/>
                    <a:p>
                      <a:r>
                        <a:rPr sz="1200" b="1" lang="en-GB"/>
                        <a:t>Dummy in log model</a:t>
                      </a:r>
                    </a:p>
                  </a:txBody>
                  <a:tcPr marT="45000" marB="45000"/>
                </a:tc>
                <a:tc>
                  <a:txBody>
                    <a:bodyPr/>
                    <a:lstStyle/>
                    <a:p>
                      <a:r>
                        <a:rPr sz="1200" lang="en-GB"/>
                        <a:t>ln sales = a + b·december</a:t>
                      </a:r>
                    </a:p>
                  </a:txBody>
                  <a:tcPr marT="45000" marB="45000"/>
                </a:tc>
                <a:tc>
                  <a:txBody>
                    <a:bodyPr/>
                    <a:lstStyle/>
                    <a:p>
                      <a:r>
                        <a:rPr sz="1200" lang="en-GB"/>
                        <a:t>e^b − 1, vs other weeks</a:t>
                      </a:r>
                    </a:p>
                  </a:txBody>
                  <a:tcPr marT="45000" marB="45000"/>
                </a:tc>
                <a:tc>
                  <a:txBody>
                    <a:bodyPr/>
                    <a:lstStyle/>
                    <a:p>
                      <a:r>
                        <a:rPr sz="1200" lang="en-GB"/>
                        <a:t>b = −0.385: −32 %</a:t>
                      </a:r>
                    </a:p>
                  </a:txBody>
                  <a:tcPr marT="45000" marB="45000"/>
                </a:tc>
              </a:tr>
            </a:tbl>
          </a:graphicData>
        </a:graphic>
      </p:graphicFrame>
      <p:sp>
        <p:nvSpPr>
          <p:cNvPr id="3" name="Title 2"/>
          <p:cNvSpPr>
            <a:spLocks noGrp="1"/>
          </p:cNvSpPr>
          <p:nvPr>
            <p:ph type="title"/>
          </p:nvPr>
        </p:nvSpPr>
        <p:spPr/>
        <p:txBody>
          <a:bodyPr/>
          <a:lstStyle/>
          <a:p>
            <a:r>
              <a:rPr sz="1600" lang="en-GB"/>
              <a:t>Functional forms and dummy variables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Forms why box"/>
          <p:cNvSpPr/>
          <p:nvPr/>
        </p:nvSpPr>
        <p:spPr>
          <a:xfrm>
            <a:off x="457200" y="388620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Forms why" descr=""/>
          <p:cNvPicPr>
            <a:picLocks noChangeAspect="1"/>
          </p:cNvPicPr>
          <p:nvPr/>
        </p:nvPicPr>
        <p:blipFill>
          <a:blip r:embed="rId3"/>
          <a:stretch>
            <a:fillRect/>
          </a:stretch>
        </p:blipFill>
        <p:spPr>
          <a:xfrm>
            <a:off x="658368" y="4046220"/>
            <a:ext cx="365760" cy="365760"/>
          </a:xfrm>
          <a:prstGeom prst="rect">
            <a:avLst/>
          </a:prstGeom>
        </p:spPr>
      </p:pic>
      <p:sp>
        <p:nvSpPr>
          <p:cNvPr id="12" name="Forms why text"/>
          <p:cNvSpPr txBox="1"/>
          <p:nvPr/>
        </p:nvSpPr>
        <p:spPr>
          <a:xfrm>
            <a:off x="1207008" y="3886200"/>
            <a:ext cx="7315200" cy="685800"/>
          </a:xfrm>
          <a:prstGeom prst="rect">
            <a:avLst/>
          </a:prstGeom>
          <a:noFill/>
        </p:spPr>
        <p:txBody>
          <a:bodyPr wrap="square" lIns="0" rIns="0" tIns="0" bIns="0" anchor="ctr">
            <a:noAutofit/>
          </a:bodyPr>
          <a:lstStyle/>
          <a:p>
            <a:pPr algn="l">
              <a:spcAft>
                <a:spcPts val="400"/>
              </a:spcAft>
            </a:pPr>
            <a:r>
              <a:rPr sz="1300" b="1" lang="en-GB">
                <a:solidFill>
                  <a:schemeClr val="bg1"/>
                </a:solidFill>
              </a:rPr>
              <a:t>Why logs? </a:t>
            </a:r>
            <a:r>
              <a:rPr sz="1300" b="0" lang="en-GB">
                <a:solidFill>
                  <a:schemeClr val="bg1"/>
                </a:solidFill>
              </a:rPr>
              <a:t>sales respond in per cent, not in units, and the elasticity can be compared across brands and countries.</a:t>
            </a:r>
          </a:p>
        </p:txBody>
      </p:sp>
      <p:sp>
        <p:nvSpPr>
          <p:cNvPr id="13" name="Sources"/>
          <p:cNvSpPr txBox="1"/>
          <p:nvPr/>
        </p:nvSpPr>
        <p:spPr>
          <a:xfrm>
            <a:off x="457200" y="466344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Wooldridge 2025, ch. 6 to 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From elasticity to a pricing decision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ice formula box"/>
          <p:cNvSpPr/>
          <p:nvPr/>
        </p:nvSpPr>
        <p:spPr>
          <a:xfrm>
            <a:off x="457200" y="12344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rice formula code"/>
          <p:cNvSpPr txBox="1"/>
          <p:nvPr/>
        </p:nvSpPr>
        <p:spPr>
          <a:xfrm>
            <a:off x="594360" y="1325880"/>
            <a:ext cx="7955280" cy="36576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optimal price  p* = marginal cost × ε / (1 + ε)        (valid for ε &lt; −1)</a:t>
            </a:r>
          </a:p>
        </p:txBody>
      </p:sp>
      <p:sp>
        <p:nvSpPr>
          <p:cNvPr id="12" name="Skiera box"/>
          <p:cNvSpPr/>
          <p:nvPr/>
        </p:nvSpPr>
        <p:spPr>
          <a:xfrm>
            <a:off x="457200" y="1920240"/>
            <a:ext cx="4046220"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kiera stat bar"/>
          <p:cNvSpPr/>
          <p:nvPr/>
        </p:nvSpPr>
        <p:spPr>
          <a:xfrm>
            <a:off x="457200" y="1920240"/>
            <a:ext cx="64008" cy="1234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kiera stat figure"/>
          <p:cNvSpPr txBox="1"/>
          <p:nvPr/>
        </p:nvSpPr>
        <p:spPr>
          <a:xfrm>
            <a:off x="640080" y="1920240"/>
            <a:ext cx="1143000" cy="12344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$52</a:t>
            </a:r>
          </a:p>
        </p:txBody>
      </p:sp>
      <p:sp>
        <p:nvSpPr>
          <p:cNvPr id="15" name="Skiera stat label"/>
          <p:cNvSpPr txBox="1"/>
          <p:nvPr/>
        </p:nvSpPr>
        <p:spPr>
          <a:xfrm>
            <a:off x="1783080" y="1920240"/>
            <a:ext cx="2674620" cy="1234440"/>
          </a:xfrm>
          <a:prstGeom prst="rect">
            <a:avLst/>
          </a:prstGeom>
          <a:noFill/>
        </p:spPr>
        <p:txBody>
          <a:bodyPr wrap="square" lIns="0" rIns="0" tIns="0" bIns="0" anchor="ctr">
            <a:noAutofit/>
          </a:bodyPr>
          <a:lstStyle/>
          <a:p>
            <a:pPr algn="l">
              <a:spcAft>
                <a:spcPts val="400"/>
              </a:spcAft>
            </a:pPr>
            <a:r>
              <a:rPr sz="1200" b="0" lang="en-GB">
                <a:solidFill>
                  <a:schemeClr val="tx1"/>
                </a:solidFill>
              </a:rPr>
              <a:t>Skiera et al.: ε = −2.34, unit cost $30 → p* = 30 × 2.34 / 1.34</a:t>
            </a:r>
          </a:p>
        </p:txBody>
      </p:sp>
      <p:sp>
        <p:nvSpPr>
          <p:cNvPr id="16" name="Brand box"/>
          <p:cNvSpPr/>
          <p:nvPr/>
        </p:nvSpPr>
        <p:spPr>
          <a:xfrm>
            <a:off x="4640580" y="1920240"/>
            <a:ext cx="4046220" cy="1234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rand stat bar"/>
          <p:cNvSpPr/>
          <p:nvPr/>
        </p:nvSpPr>
        <p:spPr>
          <a:xfrm>
            <a:off x="4640580" y="1920240"/>
            <a:ext cx="64008" cy="1234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Brand stat figure"/>
          <p:cNvSpPr txBox="1"/>
          <p:nvPr/>
        </p:nvSpPr>
        <p:spPr>
          <a:xfrm>
            <a:off x="4823460" y="1920240"/>
            <a:ext cx="1234440" cy="12344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×1.38</a:t>
            </a:r>
          </a:p>
        </p:txBody>
      </p:sp>
      <p:sp>
        <p:nvSpPr>
          <p:cNvPr id="19" name="Brand stat label"/>
          <p:cNvSpPr txBox="1"/>
          <p:nvPr/>
        </p:nvSpPr>
        <p:spPr>
          <a:xfrm>
            <a:off x="6057900" y="1920240"/>
            <a:ext cx="2583180" cy="1234440"/>
          </a:xfrm>
          <a:prstGeom prst="rect">
            <a:avLst/>
          </a:prstGeom>
          <a:noFill/>
        </p:spPr>
        <p:txBody>
          <a:bodyPr wrap="square" lIns="0" rIns="0" tIns="0" bIns="0" anchor="ctr">
            <a:noAutofit/>
          </a:bodyPr>
          <a:lstStyle/>
          <a:p>
            <a:pPr algn="l">
              <a:spcAft>
                <a:spcPts val="400"/>
              </a:spcAft>
            </a:pPr>
            <a:r>
              <a:rPr sz="1200" b="0" lang="en-GB">
                <a:solidFill>
                  <a:schemeClr val="tx1"/>
                </a:solidFill>
              </a:rPr>
              <a:t>Brand 1: ε = −3.64 → price 38 % above marginal cost</a:t>
            </a:r>
          </a:p>
        </p:txBody>
      </p:sp>
      <p:sp>
        <p:nvSpPr>
          <p:cNvPr id="20" name="Price caveats row 1"/>
          <p:cNvSpPr/>
          <p:nvPr/>
        </p:nvSpPr>
        <p:spPr>
          <a:xfrm>
            <a:off x="457200" y="32918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rice caveats bar 1"/>
          <p:cNvSpPr/>
          <p:nvPr/>
        </p:nvSpPr>
        <p:spPr>
          <a:xfrm>
            <a:off x="457200" y="329184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rice caveats text 1"/>
          <p:cNvSpPr txBox="1"/>
          <p:nvPr/>
        </p:nvSpPr>
        <p:spPr>
          <a:xfrm>
            <a:off x="658368" y="329184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Short term: </a:t>
            </a:r>
            <a:r>
              <a:rPr sz="1200" b="0" lang="en-GB">
                <a:solidFill>
                  <a:schemeClr val="tx1"/>
                </a:solidFill>
              </a:rPr>
              <a:t>promotion weeks inflate the elasticity; regular-price elasticities are smaller</a:t>
            </a:r>
          </a:p>
        </p:txBody>
      </p:sp>
      <p:sp>
        <p:nvSpPr>
          <p:cNvPr id="23" name="Price caveats row 2"/>
          <p:cNvSpPr/>
          <p:nvPr/>
        </p:nvSpPr>
        <p:spPr>
          <a:xfrm>
            <a:off x="457200" y="38130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rice caveats bar 2"/>
          <p:cNvSpPr/>
          <p:nvPr/>
        </p:nvSpPr>
        <p:spPr>
          <a:xfrm>
            <a:off x="457200" y="381304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Price caveats text 2"/>
          <p:cNvSpPr txBox="1"/>
          <p:nvPr/>
        </p:nvSpPr>
        <p:spPr>
          <a:xfrm>
            <a:off x="658368" y="381304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Competitors react, </a:t>
            </a:r>
            <a:r>
              <a:rPr sz="1200" b="0" lang="en-GB">
                <a:solidFill>
                  <a:schemeClr val="tx1"/>
                </a:solidFill>
              </a:rPr>
              <a:t>and the retailer takes its margin</a:t>
            </a:r>
          </a:p>
        </p:txBody>
      </p:sp>
      <p:sp>
        <p:nvSpPr>
          <p:cNvPr id="26" name="Sources"/>
          <p:cNvSpPr txBox="1"/>
          <p:nvPr/>
        </p:nvSpPr>
        <p:spPr>
          <a:xfrm>
            <a:off x="457200" y="434340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Hanssens, Parsons &amp; Schultz 2001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2 of 6 · what OLS assumes, how to look, how to test, what to do</a:t>
            </a:r>
          </a:p>
        </p:txBody>
      </p:sp>
      <p:sp>
        <p:nvSpPr>
          <p:cNvPr id="3" name="Title 2"/>
          <p:cNvSpPr>
            <a:spLocks noGrp="1"/>
          </p:cNvSpPr>
          <p:nvPr>
            <p:ph type="ctrTitle"/>
          </p:nvPr>
        </p:nvSpPr>
        <p:spPr/>
        <p:txBody>
          <a:bodyPr/>
          <a:lstStyle/>
          <a:p>
            <a:r>
              <a:rPr sz="1600" lang="en-GB"/>
              <a:t>Assumptions and tests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Assumption table"/>
          <p:cNvGraphicFramePr>
            <a:graphicFrameLocks noGrp="1"/>
          </p:cNvGraphicFramePr>
          <p:nvPr>
            <p:ph type="tbl" idx="1"/>
          </p:nvPr>
        </p:nvGraphicFramePr>
        <p:xfrm>
          <a:off x="457200" y="1234440"/>
          <a:ext cx="8229600" cy="2966720"/>
        </p:xfrm>
        <a:graphic>
          <a:graphicData uri="http://schemas.openxmlformats.org/drawingml/2006/table">
            <a:tbl>
              <a:tblPr firstRow="1" bandRow="1">
                <a:tableStyleId>{5C22544A-7EE6-4342-B048-85BDC9FD1C3A}</a:tableStyleId>
              </a:tblPr>
              <a:tblGrid>
                <a:gridCol w="2834640"/>
                <a:gridCol w="2377440"/>
                <a:gridCol w="3017520"/>
              </a:tblGrid>
              <a:tr h="370840">
                <a:tc>
                  <a:txBody>
                    <a:bodyPr/>
                    <a:lstStyle/>
                    <a:p>
                      <a:r>
                        <a:rPr sz="1300" lang="en-GB"/>
                        <a:t>Assumption</a:t>
                      </a:r>
                    </a:p>
                  </a:txBody>
                  <a:tcPr marT="36000" marB="36000"/>
                </a:tc>
                <a:tc>
                  <a:txBody>
                    <a:bodyPr/>
                    <a:lstStyle/>
                    <a:p>
                      <a:r>
                        <a:rPr sz="1300" lang="en-GB"/>
                        <a:t>If violated</a:t>
                      </a:r>
                    </a:p>
                  </a:txBody>
                  <a:tcPr marT="36000" marB="36000"/>
                </a:tc>
                <a:tc>
                  <a:txBody>
                    <a:bodyPr/>
                    <a:lstStyle/>
                    <a:p>
                      <a:r>
                        <a:rPr sz="1300" lang="en-GB"/>
                        <a:t>Look or test (statsmodels)</a:t>
                      </a:r>
                    </a:p>
                  </a:txBody>
                  <a:tcPr marT="36000" marB="36000"/>
                </a:tc>
              </a:tr>
              <a:tr h="370840">
                <a:tc>
                  <a:txBody>
                    <a:bodyPr/>
                    <a:lstStyle/>
                    <a:p>
                      <a:r>
                        <a:rPr sz="1150" b="1" lang="en-GB"/>
                        <a:t>1 Linear form</a:t>
                      </a:r>
                    </a:p>
                  </a:txBody>
                  <a:tcPr marT="36000" marB="36000"/>
                </a:tc>
                <a:tc>
                  <a:txBody>
                    <a:bodyPr/>
                    <a:lstStyle/>
                    <a:p>
                      <a:r>
                        <a:rPr sz="1150" lang="en-GB"/>
                        <a:t>biased coefficients</a:t>
                      </a:r>
                    </a:p>
                  </a:txBody>
                  <a:tcPr marT="36000" marB="36000"/>
                </a:tc>
                <a:tc>
                  <a:txBody>
                    <a:bodyPr/>
                    <a:lstStyle/>
                    <a:p>
                      <a:r>
                        <a:rPr sz="1150" lang="en-GB"/>
                        <a:t>residuals vs fitted; try logs</a:t>
                      </a:r>
                    </a:p>
                  </a:txBody>
                  <a:tcPr marT="36000" marB="36000"/>
                </a:tc>
              </a:tr>
              <a:tr h="370840">
                <a:tc>
                  <a:txBody>
                    <a:bodyPr/>
                    <a:lstStyle/>
                    <a:p>
                      <a:r>
                        <a:rPr sz="1150" b="1" lang="en-GB"/>
                        <a:t>2 Exogeneity, no omitted variables</a:t>
                      </a:r>
                    </a:p>
                  </a:txBody>
                  <a:tcPr marT="36000" marB="36000"/>
                </a:tc>
                <a:tc>
                  <a:txBody>
                    <a:bodyPr/>
                    <a:lstStyle/>
                    <a:p>
                      <a:r>
                        <a:rPr sz="1150" lang="en-GB"/>
                        <a:t>biased, not causal</a:t>
                      </a:r>
                    </a:p>
                  </a:txBody>
                  <a:tcPr marT="36000" marB="36000"/>
                </a:tc>
                <a:tc>
                  <a:txBody>
                    <a:bodyPr/>
                    <a:lstStyle/>
                    <a:p>
                      <a:r>
                        <a:rPr sz="1150" lang="en-GB"/>
                        <a:t>theory, controls, experiments</a:t>
                      </a:r>
                    </a:p>
                  </a:txBody>
                  <a:tcPr marT="36000" marB="36000"/>
                </a:tc>
              </a:tr>
              <a:tr h="370840">
                <a:tc>
                  <a:txBody>
                    <a:bodyPr/>
                    <a:lstStyle/>
                    <a:p>
                      <a:r>
                        <a:rPr sz="1150" b="1" lang="en-GB"/>
                        <a:t>3 Constant error variance</a:t>
                      </a:r>
                    </a:p>
                  </a:txBody>
                  <a:tcPr marT="36000" marB="36000"/>
                </a:tc>
                <a:tc>
                  <a:txBody>
                    <a:bodyPr/>
                    <a:lstStyle/>
                    <a:p>
                      <a:r>
                        <a:rPr sz="1150" lang="en-GB"/>
                        <a:t>wrong standard errors</a:t>
                      </a:r>
                    </a:p>
                  </a:txBody>
                  <a:tcPr marT="36000" marB="36000"/>
                </a:tc>
                <a:tc>
                  <a:txBody>
                    <a:bodyPr/>
                    <a:lstStyle/>
                    <a:p>
                      <a:r>
                        <a:rPr sz="1150" lang="en-GB"/>
                        <a:t>funnel in plot; Breusch-Pagan</a:t>
                      </a:r>
                    </a:p>
                  </a:txBody>
                  <a:tcPr marT="36000" marB="36000"/>
                </a:tc>
              </a:tr>
              <a:tr h="370840">
                <a:tc>
                  <a:txBody>
                    <a:bodyPr/>
                    <a:lstStyle/>
                    <a:p>
                      <a:r>
                        <a:rPr sz="1150" b="1" lang="en-GB"/>
                        <a:t>4 No autocorrelation</a:t>
                      </a:r>
                    </a:p>
                  </a:txBody>
                  <a:tcPr marT="36000" marB="36000"/>
                </a:tc>
                <a:tc>
                  <a:txBody>
                    <a:bodyPr/>
                    <a:lstStyle/>
                    <a:p>
                      <a:r>
                        <a:rPr sz="1150" lang="en-GB"/>
                        <a:t>standard errors too small</a:t>
                      </a:r>
                    </a:p>
                  </a:txBody>
                  <a:tcPr marT="36000" marB="36000"/>
                </a:tc>
                <a:tc>
                  <a:txBody>
                    <a:bodyPr/>
                    <a:lstStyle/>
                    <a:p>
                      <a:r>
                        <a:rPr sz="1150" lang="en-GB"/>
                        <a:t>residuals over time; Durbin-Watson ≈ 2</a:t>
                      </a:r>
                    </a:p>
                  </a:txBody>
                  <a:tcPr marT="36000" marB="36000"/>
                </a:tc>
              </a:tr>
              <a:tr h="370840">
                <a:tc>
                  <a:txBody>
                    <a:bodyPr/>
                    <a:lstStyle/>
                    <a:p>
                      <a:r>
                        <a:rPr sz="1150" b="1" lang="en-GB"/>
                        <a:t>5 Normal residuals</a:t>
                      </a:r>
                    </a:p>
                  </a:txBody>
                  <a:tcPr marT="36000" marB="36000"/>
                </a:tc>
                <a:tc>
                  <a:txBody>
                    <a:bodyPr/>
                    <a:lstStyle/>
                    <a:p>
                      <a:r>
                        <a:rPr sz="1150" lang="en-GB"/>
                        <a:t>tests unreliable in small samples</a:t>
                      </a:r>
                    </a:p>
                  </a:txBody>
                  <a:tcPr marT="36000" marB="36000"/>
                </a:tc>
                <a:tc>
                  <a:txBody>
                    <a:bodyPr/>
                    <a:lstStyle/>
                    <a:p>
                      <a:r>
                        <a:rPr sz="1150" lang="en-GB"/>
                        <a:t>histogram; Jarque-Bera</a:t>
                      </a:r>
                    </a:p>
                  </a:txBody>
                  <a:tcPr marT="36000" marB="36000"/>
                </a:tc>
              </a:tr>
              <a:tr h="370840">
                <a:tc>
                  <a:txBody>
                    <a:bodyPr/>
                    <a:lstStyle/>
                    <a:p>
                      <a:r>
                        <a:rPr sz="1150" b="1" lang="en-GB"/>
                        <a:t>6 No multicollinearity</a:t>
                      </a:r>
                    </a:p>
                  </a:txBody>
                  <a:tcPr marT="36000" marB="36000"/>
                </a:tc>
                <a:tc>
                  <a:txBody>
                    <a:bodyPr/>
                    <a:lstStyle/>
                    <a:p>
                      <a:r>
                        <a:rPr sz="1150" lang="en-GB"/>
                        <a:t>unstable b, large se</a:t>
                      </a:r>
                    </a:p>
                  </a:txBody>
                  <a:tcPr marT="36000" marB="36000"/>
                </a:tc>
                <a:tc>
                  <a:txBody>
                    <a:bodyPr/>
                    <a:lstStyle/>
                    <a:p>
                      <a:r>
                        <a:rPr sz="1150" lang="en-GB"/>
                        <a:t>correlations; VIF below 10 (better 5)</a:t>
                      </a:r>
                    </a:p>
                  </a:txBody>
                  <a:tcPr marT="36000" marB="36000"/>
                </a:tc>
              </a:tr>
              <a:tr h="370840">
                <a:tc>
                  <a:txBody>
                    <a:bodyPr/>
                    <a:lstStyle/>
                    <a:p>
                      <a:r>
                        <a:rPr sz="1150" b="1" lang="en-GB"/>
                        <a:t>7 Enough data, no dominant week</a:t>
                      </a:r>
                    </a:p>
                  </a:txBody>
                  <a:tcPr marT="36000" marB="36000"/>
                </a:tc>
                <a:tc>
                  <a:txBody>
                    <a:bodyPr/>
                    <a:lstStyle/>
                    <a:p>
                      <a:r>
                        <a:rPr sz="1150" lang="en-GB"/>
                        <a:t>fragile results</a:t>
                      </a:r>
                    </a:p>
                  </a:txBody>
                  <a:tcPr marT="36000" marB="36000"/>
                </a:tc>
                <a:tc>
                  <a:txBody>
                    <a:bodyPr/>
                    <a:lstStyle/>
                    <a:p>
                      <a:r>
                        <a:rPr sz="1150" lang="en-GB"/>
                        <a:t>n ≥ 3 to 5 × coefficients; Cook's distance</a:t>
                      </a:r>
                    </a:p>
                  </a:txBody>
                  <a:tcPr marT="36000" marB="36000"/>
                </a:tc>
              </a:tr>
            </a:tbl>
          </a:graphicData>
        </a:graphic>
      </p:graphicFrame>
      <p:sp>
        <p:nvSpPr>
          <p:cNvPr id="3" name="Title 2"/>
          <p:cNvSpPr>
            <a:spLocks noGrp="1"/>
          </p:cNvSpPr>
          <p:nvPr>
            <p:ph type="title"/>
          </p:nvPr>
        </p:nvSpPr>
        <p:spPr/>
        <p:txBody>
          <a:bodyPr/>
          <a:lstStyle/>
          <a:p>
            <a:r>
              <a:rPr sz="1600" lang="en-GB"/>
              <a:t>Seven assumptions behind OLS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ources"/>
          <p:cNvSpPr txBox="1"/>
          <p:nvPr/>
        </p:nvSpPr>
        <p:spPr>
          <a:xfrm>
            <a:off x="457200" y="475488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Hair et al. 2019; Wooldridge 2025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Look first: two residual plots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reg_resid_fitted.png" descr="Residuals against fitted values: a cloud around zero between -0.5 and 0.5, most fitted values near 4.5, a few near 6, no curve or funnel"/>
          <p:cNvPicPr>
            <a:picLocks noChangeAspect="1"/>
          </p:cNvPicPr>
          <p:nvPr/>
        </p:nvPicPr>
        <p:blipFill>
          <a:blip r:embed="rId3"/>
          <a:stretch>
            <a:fillRect/>
          </a:stretch>
        </p:blipFill>
        <p:spPr>
          <a:xfrm>
            <a:off x="457200" y="1234440"/>
            <a:ext cx="3977640" cy="2779776"/>
          </a:xfrm>
          <a:prstGeom prst="rect">
            <a:avLst/>
          </a:prstGeom>
        </p:spPr>
      </p:pic>
      <p:pic>
        <p:nvPicPr>
          <p:cNvPr id="11" name="Chart reg_resid_hist.png" descr="Histogram of the residuals: roughly bell-shaped around zero, a few residuals around 0.4 to 0.6"/>
          <p:cNvPicPr>
            <a:picLocks noChangeAspect="1"/>
          </p:cNvPicPr>
          <p:nvPr/>
        </p:nvPicPr>
        <p:blipFill>
          <a:blip r:embed="rId4"/>
          <a:stretch>
            <a:fillRect/>
          </a:stretch>
        </p:blipFill>
        <p:spPr>
          <a:xfrm>
            <a:off x="4709160" y="1234440"/>
            <a:ext cx="3977640" cy="2779776"/>
          </a:xfrm>
          <a:prstGeom prst="rect">
            <a:avLst/>
          </a:prstGeom>
        </p:spPr>
      </p:pic>
      <p:sp>
        <p:nvSpPr>
          <p:cNvPr id="12" name="Look left"/>
          <p:cNvSpPr txBox="1"/>
          <p:nvPr/>
        </p:nvSpPr>
        <p:spPr>
          <a:xfrm>
            <a:off x="457200" y="4041648"/>
            <a:ext cx="397764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Look for: </a:t>
            </a:r>
            <a:r>
              <a:rPr sz="1200" b="0" lang="en-GB">
                <a:solidFill>
                  <a:schemeClr val="tx1"/>
                </a:solidFill>
              </a:rPr>
              <a:t>a curve (wrong form) or a funnel (unequal variance)</a:t>
            </a:r>
          </a:p>
        </p:txBody>
      </p:sp>
      <p:sp>
        <p:nvSpPr>
          <p:cNvPr id="13" name="Look right"/>
          <p:cNvSpPr txBox="1"/>
          <p:nvPr/>
        </p:nvSpPr>
        <p:spPr>
          <a:xfrm>
            <a:off x="4709160" y="4041648"/>
            <a:ext cx="397764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Look for: </a:t>
            </a:r>
            <a:r>
              <a:rPr sz="1200" b="0" lang="en-GB">
                <a:solidFill>
                  <a:schemeClr val="tx1"/>
                </a:solidFill>
              </a:rPr>
              <a:t>a rough bell shape, no extreme weeks</a:t>
            </a:r>
          </a:p>
        </p:txBody>
      </p:sp>
      <p:sp>
        <p:nvSpPr>
          <p:cNvPr id="14" name="Look verdict box"/>
          <p:cNvSpPr/>
          <p:nvPr/>
        </p:nvSpPr>
        <p:spPr>
          <a:xfrm>
            <a:off x="457200" y="452628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Look verdict" descr=""/>
          <p:cNvPicPr>
            <a:picLocks noChangeAspect="1"/>
          </p:cNvPicPr>
          <p:nvPr/>
        </p:nvPicPr>
        <p:blipFill>
          <a:blip r:embed="rId5"/>
          <a:stretch>
            <a:fillRect/>
          </a:stretch>
        </p:blipFill>
        <p:spPr>
          <a:xfrm>
            <a:off x="658368" y="4572000"/>
            <a:ext cx="365760" cy="365760"/>
          </a:xfrm>
          <a:prstGeom prst="rect">
            <a:avLst/>
          </a:prstGeom>
        </p:spPr>
      </p:pic>
      <p:sp>
        <p:nvSpPr>
          <p:cNvPr id="16" name="Look verdict text"/>
          <p:cNvSpPr txBox="1"/>
          <p:nvPr/>
        </p:nvSpPr>
        <p:spPr>
          <a:xfrm>
            <a:off x="1207008" y="452628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Brand 1: </a:t>
            </a:r>
            <a:r>
              <a:rPr sz="1200" b="0" lang="en-GB">
                <a:solidFill>
                  <a:schemeClr val="tx1"/>
                </a:solidFill>
              </a:rPr>
              <a:t>no curve, no funnel, a roughly bell-shaped histogram.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Then test: four numbers for the brand 1 model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est box 1"/>
          <p:cNvSpPr/>
          <p:nvPr/>
        </p:nvSpPr>
        <p:spPr>
          <a:xfrm>
            <a:off x="457200" y="123444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st stat 1 bar"/>
          <p:cNvSpPr/>
          <p:nvPr/>
        </p:nvSpPr>
        <p:spPr>
          <a:xfrm>
            <a:off x="457200" y="123444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st stat 1 figure"/>
          <p:cNvSpPr txBox="1"/>
          <p:nvPr/>
        </p:nvSpPr>
        <p:spPr>
          <a:xfrm>
            <a:off x="640080" y="1234440"/>
            <a:ext cx="109728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1.41</a:t>
            </a:r>
          </a:p>
        </p:txBody>
      </p:sp>
      <p:sp>
        <p:nvSpPr>
          <p:cNvPr id="13" name="Test stat 1 label"/>
          <p:cNvSpPr txBox="1"/>
          <p:nvPr/>
        </p:nvSpPr>
        <p:spPr>
          <a:xfrm>
            <a:off x="1737360" y="1234440"/>
            <a:ext cx="2720340" cy="914400"/>
          </a:xfrm>
          <a:prstGeom prst="rect">
            <a:avLst/>
          </a:prstGeom>
          <a:noFill/>
        </p:spPr>
        <p:txBody>
          <a:bodyPr wrap="square" lIns="0" rIns="0" tIns="0" bIns="0" anchor="ctr">
            <a:noAutofit/>
          </a:bodyPr>
          <a:lstStyle/>
          <a:p>
            <a:pPr algn="l">
              <a:spcAft>
                <a:spcPts val="400"/>
              </a:spcAft>
            </a:pPr>
            <a:r>
              <a:rPr sz="1200" b="0" lang="en-GB">
                <a:solidFill>
                  <a:schemeClr val="tx1"/>
                </a:solidFill>
              </a:rPr>
              <a:t>Durbin-Watson: below 2, some autocorrelation between weeks</a:t>
            </a:r>
          </a:p>
        </p:txBody>
      </p:sp>
      <p:sp>
        <p:nvSpPr>
          <p:cNvPr id="14" name="Test box 2"/>
          <p:cNvSpPr/>
          <p:nvPr/>
        </p:nvSpPr>
        <p:spPr>
          <a:xfrm>
            <a:off x="4640580" y="123444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st stat 2 bar"/>
          <p:cNvSpPr/>
          <p:nvPr/>
        </p:nvSpPr>
        <p:spPr>
          <a:xfrm>
            <a:off x="4640580" y="123444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st stat 2 figure"/>
          <p:cNvSpPr txBox="1"/>
          <p:nvPr/>
        </p:nvSpPr>
        <p:spPr>
          <a:xfrm>
            <a:off x="4823460" y="1234440"/>
            <a:ext cx="109728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0.14</a:t>
            </a:r>
          </a:p>
        </p:txBody>
      </p:sp>
      <p:sp>
        <p:nvSpPr>
          <p:cNvPr id="17" name="Test stat 2 label"/>
          <p:cNvSpPr txBox="1"/>
          <p:nvPr/>
        </p:nvSpPr>
        <p:spPr>
          <a:xfrm>
            <a:off x="5920740" y="1234440"/>
            <a:ext cx="2720340" cy="914400"/>
          </a:xfrm>
          <a:prstGeom prst="rect">
            <a:avLst/>
          </a:prstGeom>
          <a:noFill/>
        </p:spPr>
        <p:txBody>
          <a:bodyPr wrap="square" lIns="0" rIns="0" tIns="0" bIns="0" anchor="ctr">
            <a:noAutofit/>
          </a:bodyPr>
          <a:lstStyle/>
          <a:p>
            <a:pPr algn="l">
              <a:spcAft>
                <a:spcPts val="400"/>
              </a:spcAft>
            </a:pPr>
            <a:r>
              <a:rPr sz="1200" b="0" lang="en-GB">
                <a:solidFill>
                  <a:schemeClr val="tx1"/>
                </a:solidFill>
              </a:rPr>
              <a:t>Breusch-Pagan p: no evidence of unequal variance</a:t>
            </a:r>
          </a:p>
        </p:txBody>
      </p:sp>
      <p:sp>
        <p:nvSpPr>
          <p:cNvPr id="18" name="Test box 3"/>
          <p:cNvSpPr/>
          <p:nvPr/>
        </p:nvSpPr>
        <p:spPr>
          <a:xfrm>
            <a:off x="457200" y="228600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st stat 3 bar"/>
          <p:cNvSpPr/>
          <p:nvPr/>
        </p:nvSpPr>
        <p:spPr>
          <a:xfrm>
            <a:off x="457200" y="228600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st stat 3 figure"/>
          <p:cNvSpPr txBox="1"/>
          <p:nvPr/>
        </p:nvSpPr>
        <p:spPr>
          <a:xfrm>
            <a:off x="640080" y="2286000"/>
            <a:ext cx="109728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0.07</a:t>
            </a:r>
          </a:p>
        </p:txBody>
      </p:sp>
      <p:sp>
        <p:nvSpPr>
          <p:cNvPr id="21" name="Test stat 3 label"/>
          <p:cNvSpPr txBox="1"/>
          <p:nvPr/>
        </p:nvSpPr>
        <p:spPr>
          <a:xfrm>
            <a:off x="1737360" y="2286000"/>
            <a:ext cx="2720340" cy="914400"/>
          </a:xfrm>
          <a:prstGeom prst="rect">
            <a:avLst/>
          </a:prstGeom>
          <a:noFill/>
        </p:spPr>
        <p:txBody>
          <a:bodyPr wrap="square" lIns="0" rIns="0" tIns="0" bIns="0" anchor="ctr">
            <a:noAutofit/>
          </a:bodyPr>
          <a:lstStyle/>
          <a:p>
            <a:pPr algn="l">
              <a:spcAft>
                <a:spcPts val="400"/>
              </a:spcAft>
            </a:pPr>
            <a:r>
              <a:rPr sz="1200" b="0" lang="en-GB">
                <a:solidFill>
                  <a:schemeClr val="tx1"/>
                </a:solidFill>
              </a:rPr>
              <a:t>Jarque-Bera p: residuals roughly normal</a:t>
            </a:r>
          </a:p>
        </p:txBody>
      </p:sp>
      <p:sp>
        <p:nvSpPr>
          <p:cNvPr id="22" name="Test box 4"/>
          <p:cNvSpPr/>
          <p:nvPr/>
        </p:nvSpPr>
        <p:spPr>
          <a:xfrm>
            <a:off x="4640580" y="228600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st stat 4 bar"/>
          <p:cNvSpPr/>
          <p:nvPr/>
        </p:nvSpPr>
        <p:spPr>
          <a:xfrm>
            <a:off x="4640580" y="228600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st stat 4 figure"/>
          <p:cNvSpPr txBox="1"/>
          <p:nvPr/>
        </p:nvSpPr>
        <p:spPr>
          <a:xfrm>
            <a:off x="4823460" y="2286000"/>
            <a:ext cx="109728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2.4</a:t>
            </a:r>
          </a:p>
        </p:txBody>
      </p:sp>
      <p:sp>
        <p:nvSpPr>
          <p:cNvPr id="25" name="Test stat 4 label"/>
          <p:cNvSpPr txBox="1"/>
          <p:nvPr/>
        </p:nvSpPr>
        <p:spPr>
          <a:xfrm>
            <a:off x="5920740" y="2286000"/>
            <a:ext cx="2720340" cy="914400"/>
          </a:xfrm>
          <a:prstGeom prst="rect">
            <a:avLst/>
          </a:prstGeom>
          <a:noFill/>
        </p:spPr>
        <p:txBody>
          <a:bodyPr wrap="square" lIns="0" rIns="0" tIns="0" bIns="0" anchor="ctr">
            <a:noAutofit/>
          </a:bodyPr>
          <a:lstStyle/>
          <a:p>
            <a:pPr algn="l">
              <a:spcAft>
                <a:spcPts val="400"/>
              </a:spcAft>
            </a:pPr>
            <a:r>
              <a:rPr sz="1200" b="0" lang="en-GB">
                <a:solidFill>
                  <a:schemeClr val="tx1"/>
                </a:solidFill>
              </a:rPr>
              <a:t>largest VIF: no multicollinearity</a:t>
            </a:r>
          </a:p>
        </p:txBody>
      </p:sp>
      <p:pic>
        <p:nvPicPr>
          <p:cNvPr id="26" name="Chart reg_resid_time.png" descr="Bar chart of residuals by week: runs of positive and negative residuals, e.g. positive from week 35 to 50"/>
          <p:cNvPicPr>
            <a:picLocks noChangeAspect="1"/>
          </p:cNvPicPr>
          <p:nvPr/>
        </p:nvPicPr>
        <p:blipFill>
          <a:blip r:embed="rId3"/>
          <a:stretch>
            <a:fillRect/>
          </a:stretch>
        </p:blipFill>
        <p:spPr>
          <a:xfrm>
            <a:off x="457200" y="3291840"/>
            <a:ext cx="2377440" cy="1463040"/>
          </a:xfrm>
          <a:prstGeom prst="rect">
            <a:avLst/>
          </a:prstGeom>
        </p:spPr>
      </p:pic>
      <p:sp>
        <p:nvSpPr>
          <p:cNvPr id="27" name="Test verdict box"/>
          <p:cNvSpPr/>
          <p:nvPr/>
        </p:nvSpPr>
        <p:spPr>
          <a:xfrm>
            <a:off x="2971800" y="3291840"/>
            <a:ext cx="5715000" cy="14630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Icon Test verdict" descr=""/>
          <p:cNvPicPr>
            <a:picLocks noChangeAspect="1"/>
          </p:cNvPicPr>
          <p:nvPr/>
        </p:nvPicPr>
        <p:blipFill>
          <a:blip r:embed="rId4"/>
          <a:stretch>
            <a:fillRect/>
          </a:stretch>
        </p:blipFill>
        <p:spPr>
          <a:xfrm>
            <a:off x="3172968" y="3840480"/>
            <a:ext cx="365760" cy="365760"/>
          </a:xfrm>
          <a:prstGeom prst="rect">
            <a:avLst/>
          </a:prstGeom>
        </p:spPr>
      </p:pic>
      <p:sp>
        <p:nvSpPr>
          <p:cNvPr id="29" name="Test verdict text"/>
          <p:cNvSpPr txBox="1"/>
          <p:nvPr/>
        </p:nvSpPr>
        <p:spPr>
          <a:xfrm>
            <a:off x="3721608" y="3291840"/>
            <a:ext cx="4800600" cy="1463040"/>
          </a:xfrm>
          <a:prstGeom prst="rect">
            <a:avLst/>
          </a:prstGeom>
          <a:noFill/>
        </p:spPr>
        <p:txBody>
          <a:bodyPr wrap="square" lIns="0" rIns="0" tIns="0" bIns="0" anchor="ctr">
            <a:noAutofit/>
          </a:bodyPr>
          <a:lstStyle/>
          <a:p>
            <a:pPr algn="l">
              <a:spcAft>
                <a:spcPts val="400"/>
              </a:spcAft>
            </a:pPr>
            <a:r>
              <a:rPr sz="1200" b="1" lang="en-GB">
                <a:solidFill>
                  <a:schemeClr val="bg1"/>
                </a:solidFill>
              </a:rPr>
              <a:t>Verdict: </a:t>
            </a:r>
            <a:r>
              <a:rPr sz="1200" b="0" lang="en-GB">
                <a:solidFill>
                  <a:schemeClr val="bg1"/>
                </a:solidFill>
              </a:rPr>
              <a:t>usable. Report Newey-West (HAC) standard errors because of the autocorrelation: 0.32 instead of 0.30 for own price.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Remedy table"/>
          <p:cNvGraphicFramePr>
            <a:graphicFrameLocks noGrp="1"/>
          </p:cNvGraphicFramePr>
          <p:nvPr>
            <p:ph type="tbl" idx="1"/>
          </p:nvPr>
        </p:nvGraphicFramePr>
        <p:xfrm>
          <a:off x="457200" y="1234440"/>
          <a:ext cx="8229600" cy="2595880"/>
        </p:xfrm>
        <a:graphic>
          <a:graphicData uri="http://schemas.openxmlformats.org/drawingml/2006/table">
            <a:tbl>
              <a:tblPr firstRow="1" bandRow="1">
                <a:tableStyleId>{5C22544A-7EE6-4342-B048-85BDC9FD1C3A}</a:tableStyleId>
              </a:tblPr>
              <a:tblGrid>
                <a:gridCol w="2011680"/>
                <a:gridCol w="3108960"/>
                <a:gridCol w="3108960"/>
              </a:tblGrid>
              <a:tr h="370840">
                <a:tc>
                  <a:txBody>
                    <a:bodyPr/>
                    <a:lstStyle/>
                    <a:p>
                      <a:r>
                        <a:rPr sz="1300" lang="en-GB"/>
                        <a:t>Problem</a:t>
                      </a:r>
                    </a:p>
                  </a:txBody>
                  <a:tcPr marT="40000" marB="40000"/>
                </a:tc>
                <a:tc>
                  <a:txBody>
                    <a:bodyPr/>
                    <a:lstStyle/>
                    <a:p>
                      <a:r>
                        <a:rPr sz="1300" lang="en-GB"/>
                        <a:t>Remedy</a:t>
                      </a:r>
                    </a:p>
                  </a:txBody>
                  <a:tcPr marT="40000" marB="40000"/>
                </a:tc>
                <a:tc>
                  <a:txBody>
                    <a:bodyPr/>
                    <a:lstStyle/>
                    <a:p>
                      <a:r>
                        <a:rPr sz="1300" lang="en-GB"/>
                        <a:t>In statsmodels</a:t>
                      </a:r>
                    </a:p>
                  </a:txBody>
                  <a:tcPr marT="40000" marB="40000"/>
                </a:tc>
              </a:tr>
              <a:tr h="370840">
                <a:tc>
                  <a:txBody>
                    <a:bodyPr/>
                    <a:lstStyle/>
                    <a:p>
                      <a:r>
                        <a:rPr sz="1150" b="1" lang="en-GB"/>
                        <a:t>Curve in residuals</a:t>
                      </a:r>
                    </a:p>
                  </a:txBody>
                  <a:tcPr marT="40000" marB="40000"/>
                </a:tc>
                <a:tc>
                  <a:txBody>
                    <a:bodyPr/>
                    <a:lstStyle/>
                    <a:p>
                      <a:r>
                        <a:rPr sz="1150" lang="en-GB"/>
                        <a:t>logs, squares, interactions</a:t>
                      </a:r>
                    </a:p>
                  </a:txBody>
                  <a:tcPr marT="40000" marB="40000"/>
                </a:tc>
                <a:tc>
                  <a:txBody>
                    <a:bodyPr/>
                    <a:lstStyle/>
                    <a:p>
                      <a:r>
                        <a:rPr sz="1150" lang="en-GB"/>
                        <a:t>np.log(x), I(x**2)</a:t>
                      </a:r>
                    </a:p>
                  </a:txBody>
                  <a:tcPr marT="40000" marB="40000"/>
                </a:tc>
              </a:tr>
              <a:tr h="370840">
                <a:tc>
                  <a:txBody>
                    <a:bodyPr/>
                    <a:lstStyle/>
                    <a:p>
                      <a:r>
                        <a:rPr sz="1150" b="1" lang="en-GB"/>
                        <a:t>Unequal variance</a:t>
                      </a:r>
                    </a:p>
                  </a:txBody>
                  <a:tcPr marT="40000" marB="40000"/>
                </a:tc>
                <a:tc>
                  <a:txBody>
                    <a:bodyPr/>
                    <a:lstStyle/>
                    <a:p>
                      <a:r>
                        <a:rPr sz="1150" lang="en-GB"/>
                        <a:t>robust standard errors</a:t>
                      </a:r>
                    </a:p>
                  </a:txBody>
                  <a:tcPr marT="40000" marB="40000"/>
                </a:tc>
                <a:tc>
                  <a:txBody>
                    <a:bodyPr/>
                    <a:lstStyle/>
                    <a:p>
                      <a:r>
                        <a:rPr sz="1150" lang="en-GB"/>
                        <a:t>fit(cov_type="HC3")</a:t>
                      </a:r>
                    </a:p>
                  </a:txBody>
                  <a:tcPr marT="40000" marB="40000"/>
                </a:tc>
              </a:tr>
              <a:tr h="370840">
                <a:tc>
                  <a:txBody>
                    <a:bodyPr/>
                    <a:lstStyle/>
                    <a:p>
                      <a:r>
                        <a:rPr sz="1150" b="1" lang="en-GB"/>
                        <a:t>Autocorrelation</a:t>
                      </a:r>
                    </a:p>
                  </a:txBody>
                  <a:tcPr marT="40000" marB="40000"/>
                </a:tc>
                <a:tc>
                  <a:txBody>
                    <a:bodyPr/>
                    <a:lstStyle/>
                    <a:p>
                      <a:r>
                        <a:rPr sz="1150" lang="en-GB"/>
                        <a:t>HAC standard errors; lags; ARIMA errors (Session 4)</a:t>
                      </a:r>
                    </a:p>
                  </a:txBody>
                  <a:tcPr marT="40000" marB="40000"/>
                </a:tc>
                <a:tc>
                  <a:txBody>
                    <a:bodyPr/>
                    <a:lstStyle/>
                    <a:p>
                      <a:r>
                        <a:rPr sz="1150" lang="en-GB"/>
                        <a:t>fit(cov_type="HAC", cov_kwds={"maxlags": 1})</a:t>
                      </a:r>
                    </a:p>
                  </a:txBody>
                  <a:tcPr marT="40000" marB="40000"/>
                </a:tc>
              </a:tr>
              <a:tr h="370840">
                <a:tc>
                  <a:txBody>
                    <a:bodyPr/>
                    <a:lstStyle/>
                    <a:p>
                      <a:r>
                        <a:rPr sz="1150" b="1" lang="en-GB"/>
                        <a:t>Multicollinearity</a:t>
                      </a:r>
                    </a:p>
                  </a:txBody>
                  <a:tcPr marT="40000" marB="40000"/>
                </a:tc>
                <a:tc>
                  <a:txBody>
                    <a:bodyPr/>
                    <a:lstStyle/>
                    <a:p>
                      <a:r>
                        <a:rPr sz="1150" lang="en-GB"/>
                        <a:t>more variation, combine variables, experiments</a:t>
                      </a:r>
                    </a:p>
                  </a:txBody>
                  <a:tcPr marT="40000" marB="40000"/>
                </a:tc>
                <a:tc>
                  <a:txBody>
                    <a:bodyPr/>
                    <a:lstStyle/>
                    <a:p>
                      <a:r>
                        <a:rPr sz="1150" lang="en-GB"/>
                        <a:t>variance_inflation_factor</a:t>
                      </a:r>
                    </a:p>
                  </a:txBody>
                  <a:tcPr marT="40000" marB="40000"/>
                </a:tc>
              </a:tr>
              <a:tr h="370840">
                <a:tc>
                  <a:txBody>
                    <a:bodyPr/>
                    <a:lstStyle/>
                    <a:p>
                      <a:r>
                        <a:rPr sz="1150" b="1" lang="en-GB"/>
                        <a:t>Dominant weeks</a:t>
                      </a:r>
                    </a:p>
                  </a:txBody>
                  <a:tcPr marT="40000" marB="40000"/>
                </a:tc>
                <a:tc>
                  <a:txBody>
                    <a:bodyPr/>
                    <a:lstStyle/>
                    <a:p>
                      <a:r>
                        <a:rPr sz="1150" lang="en-GB"/>
                        <a:t>check data, report with and without</a:t>
                      </a:r>
                    </a:p>
                  </a:txBody>
                  <a:tcPr marT="40000" marB="40000"/>
                </a:tc>
                <a:tc>
                  <a:txBody>
                    <a:bodyPr/>
                    <a:lstStyle/>
                    <a:p>
                      <a:r>
                        <a:rPr sz="1150" lang="en-GB"/>
                        <a:t>get_influence().cooks_distance</a:t>
                      </a:r>
                    </a:p>
                  </a:txBody>
                  <a:tcPr marT="40000" marB="40000"/>
                </a:tc>
              </a:tr>
              <a:tr h="370840">
                <a:tc>
                  <a:txBody>
                    <a:bodyPr/>
                    <a:lstStyle/>
                    <a:p>
                      <a:r>
                        <a:rPr sz="1150" b="1" lang="en-GB"/>
                        <a:t>Endogeneity</a:t>
                      </a:r>
                    </a:p>
                  </a:txBody>
                  <a:tcPr marT="40000" marB="40000"/>
                </a:tc>
                <a:tc>
                  <a:txBody>
                    <a:bodyPr/>
                    <a:lstStyle/>
                    <a:p>
                      <a:r>
                        <a:rPr sz="1150" lang="en-GB"/>
                        <a:t>experiments, instruments, fixed effects</a:t>
                      </a:r>
                    </a:p>
                  </a:txBody>
                  <a:tcPr marT="40000" marB="40000"/>
                </a:tc>
                <a:tc>
                  <a:txBody>
                    <a:bodyPr/>
                    <a:lstStyle/>
                    <a:p>
                      <a:r>
                        <a:rPr sz="1150" lang="en-GB"/>
                        <a:t>Sessions 2 to 5</a:t>
                      </a:r>
                    </a:p>
                  </a:txBody>
                  <a:tcPr marT="40000" marB="40000"/>
                </a:tc>
              </a:tr>
            </a:tbl>
          </a:graphicData>
        </a:graphic>
      </p:graphicFrame>
      <p:sp>
        <p:nvSpPr>
          <p:cNvPr id="3" name="Title 2"/>
          <p:cNvSpPr>
            <a:spLocks noGrp="1"/>
          </p:cNvSpPr>
          <p:nvPr>
            <p:ph type="title"/>
          </p:nvPr>
        </p:nvSpPr>
        <p:spPr/>
        <p:txBody>
          <a:bodyPr/>
          <a:lstStyle/>
          <a:p>
            <a:r>
              <a:rPr sz="1600" lang="en-GB"/>
              <a:t>When a test fails: what to do</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ources"/>
          <p:cNvSpPr txBox="1"/>
          <p:nvPr/>
        </p:nvSpPr>
        <p:spPr>
          <a:xfrm>
            <a:off x="457200" y="470916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statsmodels documentation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Three warnings from real data</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Warn 1 body"/>
          <p:cNvSpPr/>
          <p:nvPr/>
        </p:nvSpPr>
        <p:spPr>
          <a:xfrm>
            <a:off x="457200" y="1645920"/>
            <a:ext cx="26517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Warn 1 header"/>
          <p:cNvSpPr/>
          <p:nvPr/>
        </p:nvSpPr>
        <p:spPr>
          <a:xfrm>
            <a:off x="45720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Warn 1 heading"/>
          <p:cNvSpPr txBox="1"/>
          <p:nvPr/>
        </p:nvSpPr>
        <p:spPr>
          <a:xfrm>
            <a:off x="59436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Displays</a:t>
            </a:r>
          </a:p>
        </p:txBody>
      </p:sp>
      <p:pic>
        <p:nvPicPr>
          <p:cNvPr id="13" name="Icon Warn 1" descr=""/>
          <p:cNvPicPr>
            <a:picLocks noChangeAspect="1"/>
          </p:cNvPicPr>
          <p:nvPr/>
        </p:nvPicPr>
        <p:blipFill>
          <a:blip r:embed="rId3"/>
          <a:stretch>
            <a:fillRect/>
          </a:stretch>
        </p:blipFill>
        <p:spPr>
          <a:xfrm>
            <a:off x="2670048" y="1284732"/>
            <a:ext cx="310896" cy="310896"/>
          </a:xfrm>
          <a:prstGeom prst="rect">
            <a:avLst/>
          </a:prstGeom>
        </p:spPr>
      </p:pic>
      <p:sp>
        <p:nvSpPr>
          <p:cNvPr id="14" name="Warn 1 text"/>
          <p:cNvSpPr txBox="1"/>
          <p:nvPr/>
        </p:nvSpPr>
        <p:spPr>
          <a:xfrm>
            <a:off x="621792" y="1783080"/>
            <a:ext cx="235000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Only 4 display weeks</a:t>
            </a:r>
          </a:p>
          <a:p>
            <a:pPr algn="l" marL="182880" indent="-182880">
              <a:spcAft>
                <a:spcPts val="600"/>
              </a:spcAft>
              <a:buClr>
                <a:schemeClr val="accent1"/>
              </a:buClr>
              <a:buFont typeface="Arial"/>
              <a:buChar char="▪"/>
            </a:pPr>
            <a:r>
              <a:rPr sz="1300" b="0" lang="en-GB">
                <a:solidFill>
                  <a:schemeClr val="tx1"/>
                </a:solidFill>
              </a:rPr>
              <a:t>VIF 11.4 and 10.9</a:t>
            </a:r>
          </a:p>
          <a:p>
            <a:pPr algn="l" marL="182880" indent="-182880">
              <a:spcAft>
                <a:spcPts val="600"/>
              </a:spcAft>
              <a:buClr>
                <a:schemeClr val="accent1"/>
              </a:buClr>
              <a:buFont typeface="Arial"/>
              <a:buChar char="▪"/>
            </a:pPr>
            <a:r>
              <a:rPr sz="1300" b="0" lang="en-GB">
                <a:solidFill>
                  <a:schemeClr val="tx1"/>
                </a:solidFill>
              </a:rPr>
              <a:t>Effects cannot be separated</a:t>
            </a:r>
          </a:p>
        </p:txBody>
      </p:sp>
      <p:sp>
        <p:nvSpPr>
          <p:cNvPr id="15" name="Warn 2 body"/>
          <p:cNvSpPr/>
          <p:nvPr/>
        </p:nvSpPr>
        <p:spPr>
          <a:xfrm>
            <a:off x="3246120" y="1645920"/>
            <a:ext cx="26517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Warn 2 header"/>
          <p:cNvSpPr/>
          <p:nvPr/>
        </p:nvSpPr>
        <p:spPr>
          <a:xfrm>
            <a:off x="324612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Warn 2 heading"/>
          <p:cNvSpPr txBox="1"/>
          <p:nvPr/>
        </p:nvSpPr>
        <p:spPr>
          <a:xfrm>
            <a:off x="338328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One Easter week</a:t>
            </a:r>
          </a:p>
        </p:txBody>
      </p:sp>
      <p:pic>
        <p:nvPicPr>
          <p:cNvPr id="18" name="Icon Warn 2" descr=""/>
          <p:cNvPicPr>
            <a:picLocks noChangeAspect="1"/>
          </p:cNvPicPr>
          <p:nvPr/>
        </p:nvPicPr>
        <p:blipFill>
          <a:blip r:embed="rId4"/>
          <a:stretch>
            <a:fillRect/>
          </a:stretch>
        </p:blipFill>
        <p:spPr>
          <a:xfrm>
            <a:off x="5458968" y="1284732"/>
            <a:ext cx="310896" cy="310896"/>
          </a:xfrm>
          <a:prstGeom prst="rect">
            <a:avLst/>
          </a:prstGeom>
        </p:spPr>
      </p:pic>
      <p:sp>
        <p:nvSpPr>
          <p:cNvPr id="19" name="Warn 2 text"/>
          <p:cNvSpPr txBox="1"/>
          <p:nvPr/>
        </p:nvSpPr>
        <p:spPr>
          <a:xfrm>
            <a:off x="3410712" y="1783080"/>
            <a:ext cx="235000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 dummy for one week fits it exactly</a:t>
            </a:r>
          </a:p>
          <a:p>
            <a:pPr algn="l" marL="182880" indent="-182880">
              <a:spcAft>
                <a:spcPts val="600"/>
              </a:spcAft>
              <a:buClr>
                <a:schemeClr val="accent1"/>
              </a:buClr>
              <a:buFont typeface="Arial"/>
              <a:buChar char="▪"/>
            </a:pPr>
            <a:r>
              <a:rPr sz="1300" b="0" lang="en-GB">
                <a:solidFill>
                  <a:schemeClr val="tx1"/>
                </a:solidFill>
              </a:rPr>
              <a:t>Leverage 1.00</a:t>
            </a:r>
          </a:p>
          <a:p>
            <a:pPr algn="l" marL="182880" indent="-182880">
              <a:spcAft>
                <a:spcPts val="600"/>
              </a:spcAft>
              <a:buClr>
                <a:schemeClr val="accent1"/>
              </a:buClr>
              <a:buFont typeface="Arial"/>
              <a:buChar char="▪"/>
            </a:pPr>
            <a:r>
              <a:rPr sz="1300" b="0" lang="en-GB">
                <a:solidFill>
                  <a:schemeClr val="tx1"/>
                </a:solidFill>
              </a:rPr>
              <a:t>No real estimate of Easter</a:t>
            </a:r>
          </a:p>
        </p:txBody>
      </p:sp>
      <p:sp>
        <p:nvSpPr>
          <p:cNvPr id="20" name="Warn 3 body"/>
          <p:cNvSpPr/>
          <p:nvPr/>
        </p:nvSpPr>
        <p:spPr>
          <a:xfrm>
            <a:off x="6035040" y="1645920"/>
            <a:ext cx="26517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Warn 3 header"/>
          <p:cNvSpPr/>
          <p:nvPr/>
        </p:nvSpPr>
        <p:spPr>
          <a:xfrm>
            <a:off x="603504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Warn 3 heading"/>
          <p:cNvSpPr txBox="1"/>
          <p:nvPr/>
        </p:nvSpPr>
        <p:spPr>
          <a:xfrm>
            <a:off x="617220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Mailings</a:t>
            </a:r>
          </a:p>
        </p:txBody>
      </p:sp>
      <p:pic>
        <p:nvPicPr>
          <p:cNvPr id="23" name="Icon Warn 3" descr=""/>
          <p:cNvPicPr>
            <a:picLocks noChangeAspect="1"/>
          </p:cNvPicPr>
          <p:nvPr/>
        </p:nvPicPr>
        <p:blipFill>
          <a:blip r:embed="rId5"/>
          <a:stretch>
            <a:fillRect/>
          </a:stretch>
        </p:blipFill>
        <p:spPr>
          <a:xfrm>
            <a:off x="8247888" y="1284732"/>
            <a:ext cx="310896" cy="310896"/>
          </a:xfrm>
          <a:prstGeom prst="rect">
            <a:avLst/>
          </a:prstGeom>
        </p:spPr>
      </p:pic>
      <p:sp>
        <p:nvSpPr>
          <p:cNvPr id="24" name="Warn 3 text"/>
          <p:cNvSpPr txBox="1"/>
          <p:nvPr/>
        </p:nvSpPr>
        <p:spPr>
          <a:xfrm>
            <a:off x="6199632" y="1783080"/>
            <a:ext cx="235000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Skiera et al.: mailings and salespersons r = 0.989</a:t>
            </a:r>
          </a:p>
          <a:p>
            <a:pPr algn="l" marL="182880" indent="-182880">
              <a:spcAft>
                <a:spcPts val="600"/>
              </a:spcAft>
              <a:buClr>
                <a:schemeClr val="accent1"/>
              </a:buClr>
              <a:buFont typeface="Arial"/>
              <a:buChar char="▪"/>
            </a:pPr>
            <a:r>
              <a:rPr sz="1300" b="0" lang="en-GB">
                <a:solidFill>
                  <a:schemeClr val="tx1"/>
                </a:solidFill>
              </a:rPr>
              <a:t>VIF 53</a:t>
            </a:r>
          </a:p>
          <a:p>
            <a:pPr algn="l" marL="182880" indent="-182880">
              <a:spcAft>
                <a:spcPts val="600"/>
              </a:spcAft>
              <a:buClr>
                <a:schemeClr val="accent1"/>
              </a:buClr>
              <a:buFont typeface="Arial"/>
              <a:buChar char="▪"/>
            </a:pPr>
            <a:r>
              <a:rPr sz="1300" b="0" lang="en-GB">
                <a:solidFill>
                  <a:schemeClr val="tx1"/>
                </a:solidFill>
              </a:rPr>
              <a:t>Salesperson effect flips sign</a:t>
            </a:r>
          </a:p>
        </p:txBody>
      </p:sp>
      <p:sp>
        <p:nvSpPr>
          <p:cNvPr id="25" name="Warn fix box"/>
          <p:cNvSpPr/>
          <p:nvPr/>
        </p:nvSpPr>
        <p:spPr>
          <a:xfrm>
            <a:off x="457200" y="393192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Warn fix" descr=""/>
          <p:cNvPicPr>
            <a:picLocks noChangeAspect="1"/>
          </p:cNvPicPr>
          <p:nvPr/>
        </p:nvPicPr>
        <p:blipFill>
          <a:blip r:embed="rId6"/>
          <a:stretch>
            <a:fillRect/>
          </a:stretch>
        </p:blipFill>
        <p:spPr>
          <a:xfrm>
            <a:off x="658368" y="4114800"/>
            <a:ext cx="365760" cy="365760"/>
          </a:xfrm>
          <a:prstGeom prst="rect">
            <a:avLst/>
          </a:prstGeom>
        </p:spPr>
      </p:pic>
      <p:sp>
        <p:nvSpPr>
          <p:cNvPr id="27" name="Warn fix text"/>
          <p:cNvSpPr txBox="1"/>
          <p:nvPr/>
        </p:nvSpPr>
        <p:spPr>
          <a:xfrm>
            <a:off x="1207008" y="3931920"/>
            <a:ext cx="7315200" cy="731520"/>
          </a:xfrm>
          <a:prstGeom prst="rect">
            <a:avLst/>
          </a:prstGeom>
          <a:noFill/>
        </p:spPr>
        <p:txBody>
          <a:bodyPr wrap="square" lIns="0" rIns="0" tIns="0" bIns="0" anchor="ctr">
            <a:noAutofit/>
          </a:bodyPr>
          <a:lstStyle/>
          <a:p>
            <a:pPr algn="l">
              <a:spcAft>
                <a:spcPts val="400"/>
              </a:spcAft>
            </a:pPr>
            <a:r>
              <a:rPr sz="1300" b="1" lang="en-GB">
                <a:solidFill>
                  <a:schemeClr val="bg1"/>
                </a:solidFill>
              </a:rPr>
              <a:t>The real fix: </a:t>
            </a:r>
            <a:r>
              <a:rPr sz="1300" b="0" lang="en-GB">
                <a:solidFill>
                  <a:schemeClr val="bg1"/>
                </a:solidFill>
              </a:rPr>
              <a:t>vary the marketing instruments independently, ideally in a field experiment.</a:t>
            </a:r>
          </a:p>
        </p:txBody>
      </p:sp>
      <p:sp>
        <p:nvSpPr>
          <p:cNvPr id="28" name="Sources"/>
          <p:cNvSpPr txBox="1"/>
          <p:nvPr/>
        </p:nvSpPr>
        <p:spPr>
          <a:xfrm>
            <a:off x="457200" y="475488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own calculation on the chocolate data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Endogeneity: when marketing follows demand</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Endo row 1"/>
          <p:cNvSpPr/>
          <p:nvPr/>
        </p:nvSpPr>
        <p:spPr>
          <a:xfrm>
            <a:off x="457200" y="123444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ndo bar 1"/>
          <p:cNvSpPr/>
          <p:nvPr/>
        </p:nvSpPr>
        <p:spPr>
          <a:xfrm>
            <a:off x="457200" y="1234440"/>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ndo text 1"/>
          <p:cNvSpPr txBox="1"/>
          <p:nvPr/>
        </p:nvSpPr>
        <p:spPr>
          <a:xfrm>
            <a:off x="658368" y="1234440"/>
            <a:ext cx="79369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The assumption: </a:t>
            </a:r>
            <a:r>
              <a:rPr sz="1200" b="0" lang="en-GB">
                <a:solidFill>
                  <a:schemeClr val="tx1"/>
                </a:solidFill>
              </a:rPr>
              <a:t>explanatory variables are unrelated to the error term</a:t>
            </a:r>
          </a:p>
        </p:txBody>
      </p:sp>
      <p:sp>
        <p:nvSpPr>
          <p:cNvPr id="13" name="Endo row 2"/>
          <p:cNvSpPr/>
          <p:nvPr/>
        </p:nvSpPr>
        <p:spPr>
          <a:xfrm>
            <a:off x="457200" y="1856232"/>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ndo bar 2"/>
          <p:cNvSpPr/>
          <p:nvPr/>
        </p:nvSpPr>
        <p:spPr>
          <a:xfrm>
            <a:off x="457200" y="1856232"/>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ndo text 2"/>
          <p:cNvSpPr txBox="1"/>
          <p:nvPr/>
        </p:nvSpPr>
        <p:spPr>
          <a:xfrm>
            <a:off x="658368" y="1856232"/>
            <a:ext cx="79369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Marketing breaks it: </a:t>
            </a:r>
            <a:r>
              <a:rPr sz="1200" b="0" lang="en-GB">
                <a:solidFill>
                  <a:schemeClr val="tx1"/>
                </a:solidFill>
              </a:rPr>
              <a:t>budgets go where managers expect success, so spend and unexplained sales rise together</a:t>
            </a:r>
          </a:p>
        </p:txBody>
      </p:sp>
      <p:sp>
        <p:nvSpPr>
          <p:cNvPr id="16" name="Endo row 3"/>
          <p:cNvSpPr/>
          <p:nvPr/>
        </p:nvSpPr>
        <p:spPr>
          <a:xfrm>
            <a:off x="457200" y="2478024"/>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ndo bar 3"/>
          <p:cNvSpPr/>
          <p:nvPr/>
        </p:nvSpPr>
        <p:spPr>
          <a:xfrm>
            <a:off x="457200" y="2478024"/>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Endo text 3"/>
          <p:cNvSpPr txBox="1"/>
          <p:nvPr/>
        </p:nvSpPr>
        <p:spPr>
          <a:xfrm>
            <a:off x="658368" y="2478024"/>
            <a:ext cx="79369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Brand 1: </a:t>
            </a:r>
            <a:r>
              <a:rPr sz="1200" b="0" lang="en-GB">
                <a:solidFill>
                  <a:schemeClr val="tx1"/>
                </a:solidFill>
              </a:rPr>
              <a:t>price cuts come with features, so the price effect partly measures the feature</a:t>
            </a:r>
          </a:p>
        </p:txBody>
      </p:sp>
      <p:sp>
        <p:nvSpPr>
          <p:cNvPr id="19" name="Endo row 4"/>
          <p:cNvSpPr/>
          <p:nvPr/>
        </p:nvSpPr>
        <p:spPr>
          <a:xfrm>
            <a:off x="457200" y="3099816"/>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ndo bar 4"/>
          <p:cNvSpPr/>
          <p:nvPr/>
        </p:nvSpPr>
        <p:spPr>
          <a:xfrm>
            <a:off x="457200" y="3099816"/>
            <a:ext cx="64008"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ndo text 4"/>
          <p:cNvSpPr txBox="1"/>
          <p:nvPr/>
        </p:nvSpPr>
        <p:spPr>
          <a:xfrm>
            <a:off x="658368" y="3099816"/>
            <a:ext cx="7936992"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Evidence: </a:t>
            </a:r>
            <a:r>
              <a:rPr sz="1200" b="0" lang="en-GB">
                <a:solidFill>
                  <a:schemeClr val="tx1"/>
                </a:solidFill>
              </a:rPr>
              <a:t>in 15 Facebook experiments, regression often overstated the true lift, sometimes 3 times</a:t>
            </a:r>
          </a:p>
        </p:txBody>
      </p:sp>
      <p:sp>
        <p:nvSpPr>
          <p:cNvPr id="22" name="Endo fix box"/>
          <p:cNvSpPr/>
          <p:nvPr/>
        </p:nvSpPr>
        <p:spPr>
          <a:xfrm>
            <a:off x="457200" y="388620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Endo fix" descr=""/>
          <p:cNvPicPr>
            <a:picLocks noChangeAspect="1"/>
          </p:cNvPicPr>
          <p:nvPr/>
        </p:nvPicPr>
        <p:blipFill>
          <a:blip r:embed="rId3"/>
          <a:stretch>
            <a:fillRect/>
          </a:stretch>
        </p:blipFill>
        <p:spPr>
          <a:xfrm>
            <a:off x="658368" y="4091940"/>
            <a:ext cx="365760" cy="365760"/>
          </a:xfrm>
          <a:prstGeom prst="rect">
            <a:avLst/>
          </a:prstGeom>
        </p:spPr>
      </p:pic>
      <p:sp>
        <p:nvSpPr>
          <p:cNvPr id="24" name="Endo fix text"/>
          <p:cNvSpPr txBox="1"/>
          <p:nvPr/>
        </p:nvSpPr>
        <p:spPr>
          <a:xfrm>
            <a:off x="1207008" y="3886200"/>
            <a:ext cx="7315200" cy="777240"/>
          </a:xfrm>
          <a:prstGeom prst="rect">
            <a:avLst/>
          </a:prstGeom>
          <a:noFill/>
        </p:spPr>
        <p:txBody>
          <a:bodyPr wrap="square" lIns="0" rIns="0" tIns="0" bIns="0" anchor="ctr">
            <a:noAutofit/>
          </a:bodyPr>
          <a:lstStyle/>
          <a:p>
            <a:pPr algn="l">
              <a:spcAft>
                <a:spcPts val="400"/>
              </a:spcAft>
            </a:pPr>
            <a:r>
              <a:rPr sz="1300" b="1" lang="en-GB">
                <a:solidFill>
                  <a:schemeClr val="bg1"/>
                </a:solidFill>
              </a:rPr>
              <a:t>Remedies: </a:t>
            </a:r>
            <a:r>
              <a:rPr sz="1300" b="0" lang="en-GB">
                <a:solidFill>
                  <a:schemeClr val="bg1"/>
                </a:solidFill>
              </a:rPr>
              <a:t>experiments (A/B, geo tests), instrumental variables such as cost shifters, panel data with fixed effects.</a:t>
            </a:r>
          </a:p>
        </p:txBody>
      </p:sp>
      <p:sp>
        <p:nvSpPr>
          <p:cNvPr id="25" name="Sources"/>
          <p:cNvSpPr txBox="1"/>
          <p:nvPr/>
        </p:nvSpPr>
        <p:spPr>
          <a:xfrm>
            <a:off x="457200" y="475488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Skiera, Reiner &amp; Albers 2022; Gordon, Zettelmeyer, Bhargava &amp; Chapsky 2019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3 of 6 · benchmarks, companies, what transfers to MMM</a:t>
            </a:r>
          </a:p>
        </p:txBody>
      </p:sp>
      <p:sp>
        <p:nvSpPr>
          <p:cNvPr id="3" name="Title 2"/>
          <p:cNvSpPr>
            <a:spLocks noGrp="1"/>
          </p:cNvSpPr>
          <p:nvPr>
            <p:ph type="ctrTitle"/>
          </p:nvPr>
        </p:nvSpPr>
        <p:spPr/>
        <p:txBody>
          <a:bodyPr/>
          <a:lstStyle/>
          <a:p>
            <a:r>
              <a:rPr sz="1600" lang="en-GB"/>
              <a:t>Regression in the real world</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Benchmarks from decades of regressions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Bench row 1"/>
          <p:cNvSpPr/>
          <p:nvPr/>
        </p:nvSpPr>
        <p:spPr>
          <a:xfrm>
            <a:off x="457200" y="1234440"/>
            <a:ext cx="822960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ench stat 1 bar"/>
          <p:cNvSpPr/>
          <p:nvPr/>
        </p:nvSpPr>
        <p:spPr>
          <a:xfrm>
            <a:off x="457200" y="123444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ench stat 1 figure"/>
          <p:cNvSpPr txBox="1"/>
          <p:nvPr/>
        </p:nvSpPr>
        <p:spPr>
          <a:xfrm>
            <a:off x="640080" y="1234440"/>
            <a:ext cx="1463040" cy="713232"/>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−2.62</a:t>
            </a:r>
          </a:p>
        </p:txBody>
      </p:sp>
      <p:sp>
        <p:nvSpPr>
          <p:cNvPr id="13" name="Bench stat 1 label"/>
          <p:cNvSpPr txBox="1"/>
          <p:nvPr/>
        </p:nvSpPr>
        <p:spPr>
          <a:xfrm>
            <a:off x="2103120" y="1234440"/>
            <a:ext cx="6537960" cy="713232"/>
          </a:xfrm>
          <a:prstGeom prst="rect">
            <a:avLst/>
          </a:prstGeom>
          <a:noFill/>
        </p:spPr>
        <p:txBody>
          <a:bodyPr wrap="square" lIns="0" rIns="0" tIns="0" bIns="0" anchor="ctr">
            <a:noAutofit/>
          </a:bodyPr>
          <a:lstStyle/>
          <a:p>
            <a:pPr algn="l">
              <a:spcAft>
                <a:spcPts val="400"/>
              </a:spcAft>
            </a:pPr>
            <a:r>
              <a:rPr sz="1200" b="0" lang="en-GB">
                <a:solidFill>
                  <a:schemeClr val="tx1"/>
                </a:solidFill>
              </a:rPr>
              <a:t>mean price elasticity, 1,851 estimates (Bijmolt et al. 2005)</a:t>
            </a:r>
          </a:p>
        </p:txBody>
      </p:sp>
      <p:sp>
        <p:nvSpPr>
          <p:cNvPr id="14" name="Bench row 2"/>
          <p:cNvSpPr/>
          <p:nvPr/>
        </p:nvSpPr>
        <p:spPr>
          <a:xfrm>
            <a:off x="457200" y="2011680"/>
            <a:ext cx="822960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Bench stat 2 bar"/>
          <p:cNvSpPr/>
          <p:nvPr/>
        </p:nvSpPr>
        <p:spPr>
          <a:xfrm>
            <a:off x="457200" y="201168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ench stat 2 figure"/>
          <p:cNvSpPr txBox="1"/>
          <p:nvPr/>
        </p:nvSpPr>
        <p:spPr>
          <a:xfrm>
            <a:off x="640080" y="2011680"/>
            <a:ext cx="1463040" cy="713232"/>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0.12</a:t>
            </a:r>
          </a:p>
        </p:txBody>
      </p:sp>
      <p:sp>
        <p:nvSpPr>
          <p:cNvPr id="17" name="Bench stat 2 label"/>
          <p:cNvSpPr txBox="1"/>
          <p:nvPr/>
        </p:nvSpPr>
        <p:spPr>
          <a:xfrm>
            <a:off x="2103120" y="2011680"/>
            <a:ext cx="6537960" cy="713232"/>
          </a:xfrm>
          <a:prstGeom prst="rect">
            <a:avLst/>
          </a:prstGeom>
          <a:noFill/>
        </p:spPr>
        <p:txBody>
          <a:bodyPr wrap="square" lIns="0" rIns="0" tIns="0" bIns="0" anchor="ctr">
            <a:noAutofit/>
          </a:bodyPr>
          <a:lstStyle/>
          <a:p>
            <a:pPr algn="l">
              <a:spcAft>
                <a:spcPts val="400"/>
              </a:spcAft>
            </a:pPr>
            <a:r>
              <a:rPr sz="1200" b="0" lang="en-GB">
                <a:solidFill>
                  <a:schemeClr val="tx1"/>
                </a:solidFill>
              </a:rPr>
              <a:t>mean short-term advertising elasticity (Sethuraman et al. 2011)</a:t>
            </a:r>
          </a:p>
        </p:txBody>
      </p:sp>
      <p:sp>
        <p:nvSpPr>
          <p:cNvPr id="18" name="Bench row 3"/>
          <p:cNvSpPr/>
          <p:nvPr/>
        </p:nvSpPr>
        <p:spPr>
          <a:xfrm>
            <a:off x="457200" y="2788920"/>
            <a:ext cx="822960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Bench stat 3 bar"/>
          <p:cNvSpPr/>
          <p:nvPr/>
        </p:nvSpPr>
        <p:spPr>
          <a:xfrm>
            <a:off x="457200" y="278892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Bench stat 3 figure"/>
          <p:cNvSpPr txBox="1"/>
          <p:nvPr/>
        </p:nvSpPr>
        <p:spPr>
          <a:xfrm>
            <a:off x="640080" y="2788920"/>
            <a:ext cx="1463040" cy="713232"/>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−0.42</a:t>
            </a:r>
          </a:p>
        </p:txBody>
      </p:sp>
      <p:sp>
        <p:nvSpPr>
          <p:cNvPr id="21" name="Bench stat 3 label"/>
          <p:cNvSpPr txBox="1"/>
          <p:nvPr/>
        </p:nvSpPr>
        <p:spPr>
          <a:xfrm>
            <a:off x="2103120" y="2788920"/>
            <a:ext cx="6537960" cy="713232"/>
          </a:xfrm>
          <a:prstGeom prst="rect">
            <a:avLst/>
          </a:prstGeom>
          <a:noFill/>
        </p:spPr>
        <p:txBody>
          <a:bodyPr wrap="square" lIns="0" rIns="0" tIns="0" bIns="0" anchor="ctr">
            <a:noAutofit/>
          </a:bodyPr>
          <a:lstStyle/>
          <a:p>
            <a:pPr algn="l">
              <a:spcAft>
                <a:spcPts val="400"/>
              </a:spcAft>
            </a:pPr>
            <a:r>
              <a:rPr sz="1200" b="0" lang="en-GB">
                <a:solidFill>
                  <a:schemeClr val="tx1"/>
                </a:solidFill>
              </a:rPr>
              <a:t>mean price elasticity in 14 Asia-Pacific countries, lower with high power distance (Datta et al. 2022)</a:t>
            </a:r>
          </a:p>
        </p:txBody>
      </p:sp>
      <p:sp>
        <p:nvSpPr>
          <p:cNvPr id="22" name="Bench row 4"/>
          <p:cNvSpPr/>
          <p:nvPr/>
        </p:nvSpPr>
        <p:spPr>
          <a:xfrm>
            <a:off x="457200" y="3566160"/>
            <a:ext cx="822960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Bench stat 4 bar"/>
          <p:cNvSpPr/>
          <p:nvPr/>
        </p:nvSpPr>
        <p:spPr>
          <a:xfrm>
            <a:off x="457200" y="356616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Bench stat 4 figure"/>
          <p:cNvSpPr txBox="1"/>
          <p:nvPr/>
        </p:nvSpPr>
        <p:spPr>
          <a:xfrm>
            <a:off x="640080" y="3566160"/>
            <a:ext cx="1463040" cy="713232"/>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−3.64</a:t>
            </a:r>
          </a:p>
        </p:txBody>
      </p:sp>
      <p:sp>
        <p:nvSpPr>
          <p:cNvPr id="25" name="Bench stat 4 label"/>
          <p:cNvSpPr txBox="1"/>
          <p:nvPr/>
        </p:nvSpPr>
        <p:spPr>
          <a:xfrm>
            <a:off x="2103120" y="3566160"/>
            <a:ext cx="6537960" cy="713232"/>
          </a:xfrm>
          <a:prstGeom prst="rect">
            <a:avLst/>
          </a:prstGeom>
          <a:noFill/>
        </p:spPr>
        <p:txBody>
          <a:bodyPr wrap="square" lIns="0" rIns="0" tIns="0" bIns="0" anchor="ctr">
            <a:noAutofit/>
          </a:bodyPr>
          <a:lstStyle/>
          <a:p>
            <a:pPr algn="l">
              <a:spcAft>
                <a:spcPts val="400"/>
              </a:spcAft>
            </a:pPr>
            <a:r>
              <a:rPr sz="1200" b="0" lang="en-GB">
                <a:solidFill>
                  <a:schemeClr val="tx1"/>
                </a:solidFill>
              </a:rPr>
              <a:t>brand 1, chocolate: promotion-driven, many substitutes</a:t>
            </a:r>
          </a:p>
        </p:txBody>
      </p:sp>
      <p:sp>
        <p:nvSpPr>
          <p:cNvPr id="26" name="Bench use box"/>
          <p:cNvSpPr/>
          <p:nvPr/>
        </p:nvSpPr>
        <p:spPr>
          <a:xfrm>
            <a:off x="457200" y="4407408"/>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Bench use" descr=""/>
          <p:cNvPicPr>
            <a:picLocks noChangeAspect="1"/>
          </p:cNvPicPr>
          <p:nvPr/>
        </p:nvPicPr>
        <p:blipFill>
          <a:blip r:embed="rId3"/>
          <a:stretch>
            <a:fillRect/>
          </a:stretch>
        </p:blipFill>
        <p:spPr>
          <a:xfrm>
            <a:off x="658368" y="4430268"/>
            <a:ext cx="365760" cy="365760"/>
          </a:xfrm>
          <a:prstGeom prst="rect">
            <a:avLst/>
          </a:prstGeom>
        </p:spPr>
      </p:pic>
      <p:sp>
        <p:nvSpPr>
          <p:cNvPr id="28" name="Bench use text"/>
          <p:cNvSpPr txBox="1"/>
          <p:nvPr/>
        </p:nvSpPr>
        <p:spPr>
          <a:xfrm>
            <a:off x="1207008" y="4407408"/>
            <a:ext cx="7315200" cy="411480"/>
          </a:xfrm>
          <a:prstGeom prst="rect">
            <a:avLst/>
          </a:prstGeom>
          <a:noFill/>
        </p:spPr>
        <p:txBody>
          <a:bodyPr wrap="square" lIns="0" rIns="0" tIns="0" bIns="0" anchor="ctr">
            <a:noAutofit/>
          </a:bodyPr>
          <a:lstStyle/>
          <a:p>
            <a:pPr algn="l">
              <a:spcAft>
                <a:spcPts val="400"/>
              </a:spcAft>
            </a:pPr>
            <a:r>
              <a:rPr sz="1200" b="1" lang="en-GB">
                <a:solidFill>
                  <a:schemeClr val="bg1"/>
                </a:solidFill>
              </a:rPr>
              <a:t>Use benchmarks </a:t>
            </a:r>
            <a:r>
              <a:rPr sz="1200" b="0" lang="en-GB">
                <a:solidFill>
                  <a:schemeClr val="bg1"/>
                </a:solidFill>
              </a:rPr>
              <a:t>to judge whether your own estimate is plausible.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Where companies use regression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Use 1 tile"/>
          <p:cNvSpPr/>
          <p:nvPr/>
        </p:nvSpPr>
        <p:spPr>
          <a:xfrm>
            <a:off x="457200" y="1234440"/>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Use 1" descr=""/>
          <p:cNvPicPr>
            <a:picLocks noChangeAspect="1"/>
          </p:cNvPicPr>
          <p:nvPr/>
        </p:nvPicPr>
        <p:blipFill>
          <a:blip r:embed="rId3"/>
          <a:stretch>
            <a:fillRect/>
          </a:stretch>
        </p:blipFill>
        <p:spPr>
          <a:xfrm>
            <a:off x="594360" y="1371600"/>
            <a:ext cx="365760" cy="365760"/>
          </a:xfrm>
          <a:prstGeom prst="rect">
            <a:avLst/>
          </a:prstGeom>
        </p:spPr>
      </p:pic>
      <p:sp>
        <p:nvSpPr>
          <p:cNvPr id="12" name="Use 1 heading"/>
          <p:cNvSpPr txBox="1"/>
          <p:nvPr/>
        </p:nvSpPr>
        <p:spPr>
          <a:xfrm>
            <a:off x="105156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Meta Robyn</a:t>
            </a:r>
          </a:p>
        </p:txBody>
      </p:sp>
      <p:sp>
        <p:nvSpPr>
          <p:cNvPr id="13" name="Use 1 text"/>
          <p:cNvSpPr txBox="1"/>
          <p:nvPr/>
        </p:nvSpPr>
        <p:spPr>
          <a:xfrm>
            <a:off x="594360" y="1856232"/>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MMM in production:</a:t>
            </a:r>
          </a:p>
          <a:p>
            <a:pPr algn="l">
              <a:spcAft>
                <a:spcPts val="400"/>
              </a:spcAft>
            </a:pPr>
            <a:r>
              <a:rPr sz="1200" b="0" lang="en-GB">
                <a:solidFill>
                  <a:schemeClr val="tx1"/>
                </a:solidFill>
              </a:rPr>
              <a:t>ridge regression on media</a:t>
            </a:r>
          </a:p>
        </p:txBody>
      </p:sp>
      <p:sp>
        <p:nvSpPr>
          <p:cNvPr id="14" name="Use 2 tile"/>
          <p:cNvSpPr/>
          <p:nvPr/>
        </p:nvSpPr>
        <p:spPr>
          <a:xfrm>
            <a:off x="3246120" y="1234440"/>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Use 2" descr=""/>
          <p:cNvPicPr>
            <a:picLocks noChangeAspect="1"/>
          </p:cNvPicPr>
          <p:nvPr/>
        </p:nvPicPr>
        <p:blipFill>
          <a:blip r:embed="rId4"/>
          <a:stretch>
            <a:fillRect/>
          </a:stretch>
        </p:blipFill>
        <p:spPr>
          <a:xfrm>
            <a:off x="3383280" y="1371600"/>
            <a:ext cx="365760" cy="365760"/>
          </a:xfrm>
          <a:prstGeom prst="rect">
            <a:avLst/>
          </a:prstGeom>
        </p:spPr>
      </p:pic>
      <p:sp>
        <p:nvSpPr>
          <p:cNvPr id="16" name="Use 2 heading"/>
          <p:cNvSpPr txBox="1"/>
          <p:nvPr/>
        </p:nvSpPr>
        <p:spPr>
          <a:xfrm>
            <a:off x="384048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Booking.com</a:t>
            </a:r>
          </a:p>
        </p:txBody>
      </p:sp>
      <p:sp>
        <p:nvSpPr>
          <p:cNvPr id="17" name="Use 2 text"/>
          <p:cNvSpPr txBox="1"/>
          <p:nvPr/>
        </p:nvSpPr>
        <p:spPr>
          <a:xfrm>
            <a:off x="3383280" y="1856232"/>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With Microsoft: CUPED,</a:t>
            </a:r>
          </a:p>
          <a:p>
            <a:pPr algn="l">
              <a:spcAft>
                <a:spcPts val="400"/>
              </a:spcAft>
            </a:pPr>
            <a:r>
              <a:rPr sz="1200" b="0" lang="en-GB">
                <a:solidFill>
                  <a:schemeClr val="tx1"/>
                </a:solidFill>
              </a:rPr>
              <a:t>regression makes A/B tests faster</a:t>
            </a:r>
          </a:p>
        </p:txBody>
      </p:sp>
      <p:sp>
        <p:nvSpPr>
          <p:cNvPr id="18" name="Use 3 tile"/>
          <p:cNvSpPr/>
          <p:nvPr/>
        </p:nvSpPr>
        <p:spPr>
          <a:xfrm>
            <a:off x="6035040" y="1234440"/>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Use 3" descr=""/>
          <p:cNvPicPr>
            <a:picLocks noChangeAspect="1"/>
          </p:cNvPicPr>
          <p:nvPr/>
        </p:nvPicPr>
        <p:blipFill>
          <a:blip r:embed="rId5"/>
          <a:stretch>
            <a:fillRect/>
          </a:stretch>
        </p:blipFill>
        <p:spPr>
          <a:xfrm>
            <a:off x="6172200" y="1371600"/>
            <a:ext cx="365760" cy="365760"/>
          </a:xfrm>
          <a:prstGeom prst="rect">
            <a:avLst/>
          </a:prstGeom>
        </p:spPr>
      </p:pic>
      <p:sp>
        <p:nvSpPr>
          <p:cNvPr id="20" name="Use 3 heading"/>
          <p:cNvSpPr txBox="1"/>
          <p:nvPr/>
        </p:nvSpPr>
        <p:spPr>
          <a:xfrm>
            <a:off x="662940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Google</a:t>
            </a:r>
          </a:p>
        </p:txBody>
      </p:sp>
      <p:sp>
        <p:nvSpPr>
          <p:cNvPr id="21" name="Use 3 text"/>
          <p:cNvSpPr txBox="1"/>
          <p:nvPr/>
        </p:nvSpPr>
        <p:spPr>
          <a:xfrm>
            <a:off x="6172200" y="1856232"/>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Geo experiments: test vs</a:t>
            </a:r>
          </a:p>
          <a:p>
            <a:pPr algn="l">
              <a:spcAft>
                <a:spcPts val="400"/>
              </a:spcAft>
            </a:pPr>
            <a:r>
              <a:rPr sz="1200" b="0" lang="en-GB">
                <a:solidFill>
                  <a:schemeClr val="tx1"/>
                </a:solidFill>
              </a:rPr>
              <a:t>control regions by regression</a:t>
            </a:r>
          </a:p>
        </p:txBody>
      </p:sp>
      <p:sp>
        <p:nvSpPr>
          <p:cNvPr id="22" name="Use 4 tile"/>
          <p:cNvSpPr/>
          <p:nvPr/>
        </p:nvSpPr>
        <p:spPr>
          <a:xfrm>
            <a:off x="457200" y="2807208"/>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Use 4" descr=""/>
          <p:cNvPicPr>
            <a:picLocks noChangeAspect="1"/>
          </p:cNvPicPr>
          <p:nvPr/>
        </p:nvPicPr>
        <p:blipFill>
          <a:blip r:embed="rId6"/>
          <a:stretch>
            <a:fillRect/>
          </a:stretch>
        </p:blipFill>
        <p:spPr>
          <a:xfrm>
            <a:off x="594360" y="2944368"/>
            <a:ext cx="365760" cy="365760"/>
          </a:xfrm>
          <a:prstGeom prst="rect">
            <a:avLst/>
          </a:prstGeom>
        </p:spPr>
      </p:pic>
      <p:sp>
        <p:nvSpPr>
          <p:cNvPr id="24" name="Use 4 heading"/>
          <p:cNvSpPr txBox="1"/>
          <p:nvPr/>
        </p:nvSpPr>
        <p:spPr>
          <a:xfrm>
            <a:off x="1051560" y="294436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Walmart (M5)</a:t>
            </a:r>
          </a:p>
        </p:txBody>
      </p:sp>
      <p:sp>
        <p:nvSpPr>
          <p:cNvPr id="25" name="Use 4 text"/>
          <p:cNvSpPr txBox="1"/>
          <p:nvPr/>
        </p:nvSpPr>
        <p:spPr>
          <a:xfrm>
            <a:off x="594360" y="3429000"/>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Sales forecasts need price,</a:t>
            </a:r>
          </a:p>
          <a:p>
            <a:pPr algn="l">
              <a:spcAft>
                <a:spcPts val="400"/>
              </a:spcAft>
            </a:pPr>
            <a:r>
              <a:rPr sz="1200" b="0" lang="en-GB">
                <a:solidFill>
                  <a:schemeClr val="tx1"/>
                </a:solidFill>
              </a:rPr>
              <a:t>promotion and event regressors</a:t>
            </a:r>
          </a:p>
        </p:txBody>
      </p:sp>
      <p:sp>
        <p:nvSpPr>
          <p:cNvPr id="26" name="Use 5 tile"/>
          <p:cNvSpPr/>
          <p:nvPr/>
        </p:nvSpPr>
        <p:spPr>
          <a:xfrm>
            <a:off x="3246120" y="2807208"/>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Use 5" descr=""/>
          <p:cNvPicPr>
            <a:picLocks noChangeAspect="1"/>
          </p:cNvPicPr>
          <p:nvPr/>
        </p:nvPicPr>
        <p:blipFill>
          <a:blip r:embed="rId7"/>
          <a:stretch>
            <a:fillRect/>
          </a:stretch>
        </p:blipFill>
        <p:spPr>
          <a:xfrm>
            <a:off x="3383280" y="2944368"/>
            <a:ext cx="365760" cy="365760"/>
          </a:xfrm>
          <a:prstGeom prst="rect">
            <a:avLst/>
          </a:prstGeom>
        </p:spPr>
      </p:pic>
      <p:sp>
        <p:nvSpPr>
          <p:cNvPr id="28" name="Use 5 heading"/>
          <p:cNvSpPr txBox="1"/>
          <p:nvPr/>
        </p:nvSpPr>
        <p:spPr>
          <a:xfrm>
            <a:off x="3840480" y="294436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statworx</a:t>
            </a:r>
          </a:p>
        </p:txBody>
      </p:sp>
      <p:sp>
        <p:nvSpPr>
          <p:cNvPr id="29" name="Use 5 text"/>
          <p:cNvSpPr txBox="1"/>
          <p:nvPr/>
        </p:nvSpPr>
        <p:spPr>
          <a:xfrm>
            <a:off x="3383280" y="3429000"/>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Frankfurt consultancy: price</a:t>
            </a:r>
          </a:p>
          <a:p>
            <a:pPr algn="l">
              <a:spcAft>
                <a:spcPts val="400"/>
              </a:spcAft>
            </a:pPr>
            <a:r>
              <a:rPr sz="1200" b="0" lang="en-GB">
                <a:solidFill>
                  <a:schemeClr val="tx1"/>
                </a:solidFill>
              </a:rPr>
              <a:t>elasticities, log-log</a:t>
            </a:r>
          </a:p>
        </p:txBody>
      </p:sp>
      <p:sp>
        <p:nvSpPr>
          <p:cNvPr id="30" name="Use 6 tile"/>
          <p:cNvSpPr/>
          <p:nvPr/>
        </p:nvSpPr>
        <p:spPr>
          <a:xfrm>
            <a:off x="6035040" y="2807208"/>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Icon Use 6" descr=""/>
          <p:cNvPicPr>
            <a:picLocks noChangeAspect="1"/>
          </p:cNvPicPr>
          <p:nvPr/>
        </p:nvPicPr>
        <p:blipFill>
          <a:blip r:embed="rId8"/>
          <a:stretch>
            <a:fillRect/>
          </a:stretch>
        </p:blipFill>
        <p:spPr>
          <a:xfrm>
            <a:off x="6172200" y="2944368"/>
            <a:ext cx="365760" cy="365760"/>
          </a:xfrm>
          <a:prstGeom prst="rect">
            <a:avLst/>
          </a:prstGeom>
        </p:spPr>
      </p:pic>
      <p:sp>
        <p:nvSpPr>
          <p:cNvPr id="32" name="Use 6 heading"/>
          <p:cNvSpPr txBox="1"/>
          <p:nvPr/>
        </p:nvSpPr>
        <p:spPr>
          <a:xfrm>
            <a:off x="6629400" y="294436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Bayer</a:t>
            </a:r>
          </a:p>
        </p:txBody>
      </p:sp>
      <p:sp>
        <p:nvSpPr>
          <p:cNvPr id="33" name="Use 6 text"/>
          <p:cNvSpPr txBox="1"/>
          <p:nvPr/>
        </p:nvSpPr>
        <p:spPr>
          <a:xfrm>
            <a:off x="6172200" y="3429000"/>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Budget across countries</a:t>
            </a:r>
          </a:p>
          <a:p>
            <a:pPr algn="l">
              <a:spcAft>
                <a:spcPts val="400"/>
              </a:spcAft>
            </a:pPr>
            <a:r>
              <a:rPr sz="1200" b="0" lang="en-GB">
                <a:solidFill>
                  <a:schemeClr val="tx1"/>
                </a:solidFill>
              </a:rPr>
              <a:t>from estimated elasticities</a:t>
            </a:r>
          </a:p>
        </p:txBody>
      </p:sp>
      <p:sp>
        <p:nvSpPr>
          <p:cNvPr id="34" name="Use next box"/>
          <p:cNvSpPr/>
          <p:nvPr/>
        </p:nvSpPr>
        <p:spPr>
          <a:xfrm>
            <a:off x="457200" y="4407408"/>
            <a:ext cx="82296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Use next" descr=""/>
          <p:cNvPicPr>
            <a:picLocks noChangeAspect="1"/>
          </p:cNvPicPr>
          <p:nvPr/>
        </p:nvPicPr>
        <p:blipFill>
          <a:blip r:embed="rId9"/>
          <a:stretch>
            <a:fillRect/>
          </a:stretch>
        </p:blipFill>
        <p:spPr>
          <a:xfrm>
            <a:off x="658368" y="4416552"/>
            <a:ext cx="365760" cy="365760"/>
          </a:xfrm>
          <a:prstGeom prst="rect">
            <a:avLst/>
          </a:prstGeom>
        </p:spPr>
      </p:pic>
      <p:sp>
        <p:nvSpPr>
          <p:cNvPr id="36" name="Use next text"/>
          <p:cNvSpPr txBox="1"/>
          <p:nvPr/>
        </p:nvSpPr>
        <p:spPr>
          <a:xfrm>
            <a:off x="1207008" y="4407408"/>
            <a:ext cx="7315200"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Session 2: </a:t>
            </a:r>
            <a:r>
              <a:rPr sz="1200" b="0" lang="en-GB">
                <a:solidFill>
                  <a:schemeClr val="tx1"/>
                </a:solidFill>
              </a:rPr>
              <a:t>the marketing mix model is this regression with adstock and saturation.</a:t>
            </a:r>
          </a:p>
        </p:txBody>
      </p:sp>
      <p:sp>
        <p:nvSpPr>
          <p:cNvPr id="37"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Robyn docs; Deng et al. 2013; Vaver &amp; Koehler 2011; Makridakis et al. 2022; Fischer et al. 2011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4 of 6 · load and plot, the first regression, the log-log model, the checks</a:t>
            </a:r>
          </a:p>
        </p:txBody>
      </p:sp>
      <p:sp>
        <p:nvSpPr>
          <p:cNvPr id="3" name="Title 2"/>
          <p:cNvSpPr>
            <a:spLocks noGrp="1"/>
          </p:cNvSpPr>
          <p:nvPr>
            <p:ph type="ctrTitle"/>
          </p:nvPr>
        </p:nvSpPr>
        <p:spPr/>
        <p:txBody>
          <a:bodyPr/>
          <a:lstStyle/>
          <a:p>
            <a:r>
              <a:rPr sz="1600" lang="en-GB"/>
              <a:t>The chocolate data in Python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ata table"/>
          <p:cNvGraphicFramePr>
            <a:graphicFrameLocks noGrp="1"/>
          </p:cNvGraphicFramePr>
          <p:nvPr>
            <p:ph type="tbl" idx="1"/>
          </p:nvPr>
        </p:nvGraphicFramePr>
        <p:xfrm>
          <a:off x="457200" y="1234440"/>
          <a:ext cx="8229600" cy="3337560"/>
        </p:xfrm>
        <a:graphic>
          <a:graphicData uri="http://schemas.openxmlformats.org/drawingml/2006/table">
            <a:tbl>
              <a:tblPr firstRow="1" bandRow="1">
                <a:tableStyleId>{5C22544A-7EE6-4342-B048-85BDC9FD1C3A}</a:tableStyleId>
              </a:tblPr>
              <a:tblGrid>
                <a:gridCol w="2651760"/>
                <a:gridCol w="5577840"/>
              </a:tblGrid>
              <a:tr h="370840">
                <a:tc>
                  <a:txBody>
                    <a:bodyPr/>
                    <a:lstStyle/>
                    <a:p>
                      <a:r>
                        <a:rPr sz="1300" lang="en-GB"/>
                        <a:t>Column</a:t>
                      </a:r>
                    </a:p>
                  </a:txBody>
                  <a:tcPr marT="34000" marB="34000"/>
                </a:tc>
                <a:tc>
                  <a:txBody>
                    <a:bodyPr/>
                    <a:lstStyle/>
                    <a:p>
                      <a:r>
                        <a:rPr sz="1300" lang="en-GB"/>
                        <a:t>Meaning</a:t>
                      </a:r>
                    </a:p>
                  </a:txBody>
                  <a:tcPr marT="34000" marB="34000"/>
                </a:tc>
              </a:tr>
              <a:tr h="370840">
                <a:tc>
                  <a:txBody>
                    <a:bodyPr/>
                    <a:lstStyle/>
                    <a:p>
                      <a:r>
                        <a:rPr sz="1200" b="1" lang="en-GB"/>
                        <a:t>week</a:t>
                      </a:r>
                    </a:p>
                  </a:txBody>
                  <a:tcPr marT="34000" marB="34000"/>
                </a:tc>
                <a:tc>
                  <a:txBody>
                    <a:bodyPr/>
                    <a:lstStyle/>
                    <a:p>
                      <a:r>
                        <a:rPr sz="1200" lang="en-GB"/>
                        <a:t>1 to 68</a:t>
                      </a:r>
                    </a:p>
                  </a:txBody>
                  <a:tcPr marT="34000" marB="34000"/>
                </a:tc>
              </a:tr>
              <a:tr h="370840">
                <a:tc>
                  <a:txBody>
                    <a:bodyPr/>
                    <a:lstStyle/>
                    <a:p>
                      <a:r>
                        <a:rPr sz="1200" b="1" lang="en-GB"/>
                        <a:t>sales</a:t>
                      </a:r>
                    </a:p>
                  </a:txBody>
                  <a:tcPr marT="34000" marB="34000"/>
                </a:tc>
                <a:tc>
                  <a:txBody>
                    <a:bodyPr/>
                    <a:lstStyle/>
                    <a:p>
                      <a:r>
                        <a:rPr sz="1200" lang="en-GB"/>
                        <a:t>weekly unit sales of brand 1</a:t>
                      </a:r>
                    </a:p>
                  </a:txBody>
                  <a:tcPr marT="34000" marB="34000"/>
                </a:tc>
              </a:tr>
              <a:tr h="370840">
                <a:tc>
                  <a:txBody>
                    <a:bodyPr/>
                    <a:lstStyle/>
                    <a:p>
                      <a:r>
                        <a:rPr sz="1200" b="1" lang="en-GB"/>
                        <a:t>price1 to price4</a:t>
                      </a:r>
                    </a:p>
                  </a:txBody>
                  <a:tcPr marT="34000" marB="34000"/>
                </a:tc>
                <a:tc>
                  <a:txBody>
                    <a:bodyPr/>
                    <a:lstStyle/>
                    <a:p>
                      <a:r>
                        <a:rPr sz="1200" lang="en-GB"/>
                        <a:t>prices of brands 1 to 4</a:t>
                      </a:r>
                    </a:p>
                  </a:txBody>
                  <a:tcPr marT="34000" marB="34000"/>
                </a:tc>
              </a:tr>
              <a:tr h="370840">
                <a:tc>
                  <a:txBody>
                    <a:bodyPr/>
                    <a:lstStyle/>
                    <a:p>
                      <a:r>
                        <a:rPr sz="1200" b="1" lang="en-GB"/>
                        <a:t>feature1 to feature4</a:t>
                      </a:r>
                    </a:p>
                  </a:txBody>
                  <a:tcPr marT="34000" marB="34000"/>
                </a:tc>
                <a:tc>
                  <a:txBody>
                    <a:bodyPr/>
                    <a:lstStyle/>
                    <a:p>
                      <a:r>
                        <a:rPr sz="1200" lang="en-GB"/>
                        <a:t>share of stores with a feature ad, 0 to 1</a:t>
                      </a:r>
                    </a:p>
                  </a:txBody>
                  <a:tcPr marT="34000" marB="34000"/>
                </a:tc>
              </a:tr>
              <a:tr h="370840">
                <a:tc>
                  <a:txBody>
                    <a:bodyPr/>
                    <a:lstStyle/>
                    <a:p>
                      <a:r>
                        <a:rPr sz="1200" b="1" lang="en-GB"/>
                        <a:t>display1 to display4</a:t>
                      </a:r>
                    </a:p>
                  </a:txBody>
                  <a:tcPr marT="34000" marB="34000"/>
                </a:tc>
                <a:tc>
                  <a:txBody>
                    <a:bodyPr/>
                    <a:lstStyle/>
                    <a:p>
                      <a:r>
                        <a:rPr sz="1200" lang="en-GB"/>
                        <a:t>share of stores with an in-store display</a:t>
                      </a:r>
                    </a:p>
                  </a:txBody>
                  <a:tcPr marT="34000" marB="34000"/>
                </a:tc>
              </a:tr>
              <a:tr h="370840">
                <a:tc>
                  <a:txBody>
                    <a:bodyPr/>
                    <a:lstStyle/>
                    <a:p>
                      <a:r>
                        <a:rPr sz="1200" b="1" lang="en-GB"/>
                        <a:t>fand1, fand3, fand4</a:t>
                      </a:r>
                    </a:p>
                  </a:txBody>
                  <a:tcPr marT="34000" marB="34000"/>
                </a:tc>
                <a:tc>
                  <a:txBody>
                    <a:bodyPr/>
                    <a:lstStyle/>
                    <a:p>
                      <a:r>
                        <a:rPr sz="1200" lang="en-GB"/>
                        <a:t>share with feature and display together</a:t>
                      </a:r>
                    </a:p>
                  </a:txBody>
                  <a:tcPr marT="34000" marB="34000"/>
                </a:tc>
              </a:tr>
              <a:tr h="370840">
                <a:tc>
                  <a:txBody>
                    <a:bodyPr/>
                    <a:lstStyle/>
                    <a:p>
                      <a:r>
                        <a:rPr sz="1200" b="1" lang="en-GB"/>
                        <a:t>temp</a:t>
                      </a:r>
                    </a:p>
                  </a:txBody>
                  <a:tcPr marT="34000" marB="34000"/>
                </a:tc>
                <a:tc>
                  <a:txBody>
                    <a:bodyPr/>
                    <a:lstStyle/>
                    <a:p>
                      <a:r>
                        <a:rPr sz="1200" lang="en-GB"/>
                        <a:t>temperature, °C</a:t>
                      </a:r>
                    </a:p>
                  </a:txBody>
                  <a:tcPr marT="34000" marB="34000"/>
                </a:tc>
              </a:tr>
              <a:tr h="370840">
                <a:tc>
                  <a:txBody>
                    <a:bodyPr/>
                    <a:lstStyle/>
                    <a:p>
                      <a:r>
                        <a:rPr sz="1200" b="1" lang="en-GB"/>
                        <a:t>december, easter</a:t>
                      </a:r>
                    </a:p>
                  </a:txBody>
                  <a:tcPr marT="34000" marB="34000"/>
                </a:tc>
                <a:tc>
                  <a:txBody>
                    <a:bodyPr/>
                    <a:lstStyle/>
                    <a:p>
                      <a:r>
                        <a:rPr sz="1200" lang="en-GB"/>
                        <a:t>1 in December and Easter weeks</a:t>
                      </a:r>
                    </a:p>
                  </a:txBody>
                  <a:tcPr marT="34000" marB="34000"/>
                </a:tc>
              </a:tr>
            </a:tbl>
          </a:graphicData>
        </a:graphic>
      </p:graphicFrame>
      <p:sp>
        <p:nvSpPr>
          <p:cNvPr id="3" name="Title 2"/>
          <p:cNvSpPr>
            <a:spLocks noGrp="1"/>
          </p:cNvSpPr>
          <p:nvPr>
            <p:ph type="title"/>
          </p:nvPr>
        </p:nvSpPr>
        <p:spPr/>
        <p:txBody>
          <a:bodyPr/>
          <a:lstStyle/>
          <a:p>
            <a:r>
              <a:rPr sz="1600" lang="en-GB"/>
              <a:t>The data: 68 weeks of chocolate scanner data</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ata file"/>
          <p:cNvSpPr txBox="1"/>
          <p:nvPr/>
        </p:nvSpPr>
        <p:spPr>
          <a:xfrm>
            <a:off x="457200" y="4572000"/>
            <a:ext cx="82296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File: </a:t>
            </a:r>
            <a:r>
              <a:rPr sz="1200" b="0" lang="en-GB">
                <a:solidFill>
                  <a:schemeClr val="tx2"/>
                </a:solidFill>
                <a:latin typeface="Consolas"/>
              </a:rPr>
              <a:t>data/legacy/chocolate_dataset.csv</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1: load and look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oad code caption bar"/>
          <p:cNvSpPr/>
          <p:nvPr/>
        </p:nvSpPr>
        <p:spPr>
          <a:xfrm>
            <a:off x="457200" y="1234440"/>
            <a:ext cx="42062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oad code caption"/>
          <p:cNvSpPr txBox="1"/>
          <p:nvPr/>
        </p:nvSpPr>
        <p:spPr>
          <a:xfrm>
            <a:off x="566928" y="1234440"/>
            <a:ext cx="39867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polars and plotnine</a:t>
            </a:r>
          </a:p>
        </p:txBody>
      </p:sp>
      <p:sp>
        <p:nvSpPr>
          <p:cNvPr id="12" name="Load code box"/>
          <p:cNvSpPr/>
          <p:nvPr/>
        </p:nvSpPr>
        <p:spPr>
          <a:xfrm>
            <a:off x="457200" y="1508760"/>
            <a:ext cx="4206240" cy="2743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oad code code"/>
          <p:cNvSpPr txBox="1"/>
          <p:nvPr/>
        </p:nvSpPr>
        <p:spPr>
          <a:xfrm>
            <a:off x="594360" y="1600200"/>
            <a:ext cx="3931920" cy="256032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import polars as pl</a:t>
            </a:r>
          </a:p>
          <a:p>
            <a:pPr algn="l">
              <a:spcAft>
                <a:spcPts val="0"/>
              </a:spcAft>
            </a:pPr>
            <a:r>
              <a:rPr sz="1050" b="0" lang="en-GB">
                <a:solidFill>
                  <a:schemeClr val="bg1"/>
                </a:solidFill>
                <a:latin typeface="Consolas"/>
              </a:rPr>
              <a:t>from plotnine import (ggplot, aes, geom_point,</a:t>
            </a:r>
          </a:p>
          <a:p>
            <a:pPr algn="l">
              <a:spcAft>
                <a:spcPts val="0"/>
              </a:spcAft>
            </a:pPr>
            <a:r>
              <a:rPr sz="1050" b="0" lang="en-GB">
                <a:solidFill>
                  <a:schemeClr val="bg1"/>
                </a:solidFill>
                <a:latin typeface="Consolas"/>
              </a:rPr>
              <a:t>                      geom_smooth, labs)</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choc = pl.read_csv(</a:t>
            </a:r>
          </a:p>
          <a:p>
            <a:pPr algn="l">
              <a:spcAft>
                <a:spcPts val="0"/>
              </a:spcAft>
            </a:pPr>
            <a:r>
              <a:rPr sz="1050" b="0" lang="en-GB">
                <a:solidFill>
                  <a:schemeClr val="bg1"/>
                </a:solidFill>
                <a:latin typeface="Consolas"/>
              </a:rPr>
              <a:t>    "data/legacy/chocolate_dataset.csv")</a:t>
            </a:r>
          </a:p>
          <a:p>
            <a:pPr algn="l">
              <a:spcAft>
                <a:spcPts val="0"/>
              </a:spcAft>
            </a:pPr>
            <a:r>
              <a:rPr sz="1050" b="0" lang="en-GB">
                <a:solidFill>
                  <a:schemeClr val="bg1"/>
                </a:solidFill>
                <a:latin typeface="Consolas"/>
              </a:rPr>
              <a:t>choc.select("sales", "price1",</a:t>
            </a:r>
          </a:p>
          <a:p>
            <a:pPr algn="l">
              <a:spcAft>
                <a:spcPts val="0"/>
              </a:spcAft>
            </a:pPr>
            <a:r>
              <a:rPr sz="1050" b="0" lang="en-GB">
                <a:solidFill>
                  <a:schemeClr val="bg1"/>
                </a:solidFill>
                <a:latin typeface="Consolas"/>
              </a:rPr>
              <a:t>            "price2").describe()</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(ggplot(choc, aes("price1", "sales"))</a:t>
            </a:r>
          </a:p>
          <a:p>
            <a:pPr algn="l">
              <a:spcAft>
                <a:spcPts val="0"/>
              </a:spcAft>
            </a:pPr>
            <a:r>
              <a:rPr sz="1050" b="0" lang="en-GB">
                <a:solidFill>
                  <a:schemeClr val="bg1"/>
                </a:solidFill>
                <a:latin typeface="Consolas"/>
              </a:rPr>
              <a:t> + geom_point()</a:t>
            </a:r>
          </a:p>
          <a:p>
            <a:pPr algn="l">
              <a:spcAft>
                <a:spcPts val="0"/>
              </a:spcAft>
            </a:pPr>
            <a:r>
              <a:rPr sz="1050" b="0" lang="en-GB">
                <a:solidFill>
                  <a:schemeClr val="bg1"/>
                </a:solidFill>
                <a:latin typeface="Consolas"/>
              </a:rPr>
              <a:t> + geom_smooth(method="lm")</a:t>
            </a:r>
          </a:p>
          <a:p>
            <a:pPr algn="l">
              <a:spcAft>
                <a:spcPts val="0"/>
              </a:spcAft>
            </a:pPr>
            <a:r>
              <a:rPr sz="1050" b="0" lang="en-GB">
                <a:solidFill>
                  <a:schemeClr val="bg1"/>
                </a:solidFill>
                <a:latin typeface="Consolas"/>
              </a:rPr>
              <a:t> + labs(x="Price of brand 1",</a:t>
            </a:r>
          </a:p>
          <a:p>
            <a:pPr algn="l">
              <a:spcAft>
                <a:spcPts val="0"/>
              </a:spcAft>
            </a:pPr>
            <a:r>
              <a:rPr sz="1050" b="0" lang="en-GB">
                <a:solidFill>
                  <a:schemeClr val="bg1"/>
                </a:solidFill>
                <a:latin typeface="Consolas"/>
              </a:rPr>
              <a:t>        y="Weekly sales"))</a:t>
            </a:r>
          </a:p>
        </p:txBody>
      </p:sp>
      <p:pic>
        <p:nvPicPr>
          <p:cNvPr id="14" name="Chart reg_scatter.png" descr="The scatter plot of sales against price of brand 1 with the least-squares line"/>
          <p:cNvPicPr>
            <a:picLocks noChangeAspect="1"/>
          </p:cNvPicPr>
          <p:nvPr/>
        </p:nvPicPr>
        <p:blipFill>
          <a:blip r:embed="rId3"/>
          <a:stretch>
            <a:fillRect/>
          </a:stretch>
        </p:blipFill>
        <p:spPr>
          <a:xfrm>
            <a:off x="4800600" y="1234440"/>
            <a:ext cx="3886200" cy="2569464"/>
          </a:xfrm>
          <a:prstGeom prst="rect">
            <a:avLst/>
          </a:prstGeom>
        </p:spPr>
      </p:pic>
      <p:sp>
        <p:nvSpPr>
          <p:cNvPr id="15" name="Load look box"/>
          <p:cNvSpPr/>
          <p:nvPr/>
        </p:nvSpPr>
        <p:spPr>
          <a:xfrm>
            <a:off x="457200" y="438912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Load look" descr=""/>
          <p:cNvPicPr>
            <a:picLocks noChangeAspect="1"/>
          </p:cNvPicPr>
          <p:nvPr/>
        </p:nvPicPr>
        <p:blipFill>
          <a:blip r:embed="rId4"/>
          <a:stretch>
            <a:fillRect/>
          </a:stretch>
        </p:blipFill>
        <p:spPr>
          <a:xfrm>
            <a:off x="658368" y="4457700"/>
            <a:ext cx="365760" cy="365760"/>
          </a:xfrm>
          <a:prstGeom prst="rect">
            <a:avLst/>
          </a:prstGeom>
        </p:spPr>
      </p:pic>
      <p:sp>
        <p:nvSpPr>
          <p:cNvPr id="17" name="Load look text"/>
          <p:cNvSpPr txBox="1"/>
          <p:nvPr/>
        </p:nvSpPr>
        <p:spPr>
          <a:xfrm>
            <a:off x="1207008" y="4389120"/>
            <a:ext cx="7315200"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Look before you model: </a:t>
            </a:r>
            <a:r>
              <a:rPr sz="1200" b="0" lang="en-GB">
                <a:solidFill>
                  <a:schemeClr val="tx1"/>
                </a:solidFill>
              </a:rPr>
              <a:t>ranges, outliers, the shape of the relationship.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2: the first regression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imple code caption bar"/>
          <p:cNvSpPr/>
          <p:nvPr/>
        </p:nvSpPr>
        <p:spPr>
          <a:xfrm>
            <a:off x="457200" y="1234440"/>
            <a:ext cx="44805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imple code caption"/>
          <p:cNvSpPr txBox="1"/>
          <p:nvPr/>
        </p:nvSpPr>
        <p:spPr>
          <a:xfrm>
            <a:off x="566928" y="1234440"/>
            <a:ext cx="42611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statsmodels</a:t>
            </a:r>
          </a:p>
        </p:txBody>
      </p:sp>
      <p:sp>
        <p:nvSpPr>
          <p:cNvPr id="12" name="Simple code box"/>
          <p:cNvSpPr/>
          <p:nvPr/>
        </p:nvSpPr>
        <p:spPr>
          <a:xfrm>
            <a:off x="457200" y="1508760"/>
            <a:ext cx="4480560" cy="1920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imple code code"/>
          <p:cNvSpPr txBox="1"/>
          <p:nvPr/>
        </p:nvSpPr>
        <p:spPr>
          <a:xfrm>
            <a:off x="594360" y="1600200"/>
            <a:ext cx="4206240" cy="173736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import statsmodels.formula.api as smf</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df = choc.to_pandas()</a:t>
            </a:r>
          </a:p>
          <a:p>
            <a:pPr algn="l">
              <a:spcAft>
                <a:spcPts val="0"/>
              </a:spcAft>
            </a:pPr>
            <a:r>
              <a:rPr sz="1050" b="0" lang="en-GB">
                <a:solidFill>
                  <a:schemeClr val="bg1"/>
                </a:solidFill>
                <a:latin typeface="Consolas"/>
              </a:rPr>
              <a:t>simple = smf.ols("sales ~ price1",</a:t>
            </a:r>
          </a:p>
          <a:p>
            <a:pPr algn="l">
              <a:spcAft>
                <a:spcPts val="0"/>
              </a:spcAft>
            </a:pPr>
            <a:r>
              <a:rPr sz="1050" b="0" lang="en-GB">
                <a:solidFill>
                  <a:schemeClr val="bg1"/>
                </a:solidFill>
                <a:latin typeface="Consolas"/>
              </a:rPr>
              <a:t>                 data=df).fit()</a:t>
            </a:r>
          </a:p>
          <a:p>
            <a:pPr algn="l">
              <a:spcAft>
                <a:spcPts val="0"/>
              </a:spcAft>
            </a:pPr>
            <a:r>
              <a:rPr sz="1050" b="0" lang="en-GB">
                <a:solidFill>
                  <a:schemeClr val="bg1"/>
                </a:solidFill>
                <a:latin typeface="Consolas"/>
              </a:rPr>
              <a:t>print(simple.summary())</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simple.params      # b0, b1</a:t>
            </a:r>
          </a:p>
          <a:p>
            <a:pPr algn="l">
              <a:spcAft>
                <a:spcPts val="0"/>
              </a:spcAft>
            </a:pPr>
            <a:r>
              <a:rPr sz="1050" b="0" lang="en-GB">
                <a:solidFill>
                  <a:schemeClr val="bg1"/>
                </a:solidFill>
                <a:latin typeface="Consolas"/>
              </a:rPr>
              <a:t>simple.rsquared    # 0.884</a:t>
            </a:r>
          </a:p>
        </p:txBody>
      </p:sp>
      <p:sp>
        <p:nvSpPr>
          <p:cNvPr id="14" name="Simple out 1-1"/>
          <p:cNvSpPr/>
          <p:nvPr/>
        </p:nvSpPr>
        <p:spPr>
          <a:xfrm>
            <a:off x="5074920" y="1234440"/>
            <a:ext cx="9784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imple out text 1-1"/>
          <p:cNvSpPr txBox="1"/>
          <p:nvPr/>
        </p:nvSpPr>
        <p:spPr>
          <a:xfrm>
            <a:off x="5166360" y="1234440"/>
            <a:ext cx="79552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
            </a:r>
          </a:p>
        </p:txBody>
      </p:sp>
      <p:sp>
        <p:nvSpPr>
          <p:cNvPr id="16" name="Simple out 1-2"/>
          <p:cNvSpPr/>
          <p:nvPr/>
        </p:nvSpPr>
        <p:spPr>
          <a:xfrm>
            <a:off x="6080760" y="1234440"/>
            <a:ext cx="84124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imple out text 1-2"/>
          <p:cNvSpPr txBox="1"/>
          <p:nvPr/>
        </p:nvSpPr>
        <p:spPr>
          <a:xfrm>
            <a:off x="6172200" y="1234440"/>
            <a:ext cx="65836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coef</a:t>
            </a:r>
          </a:p>
        </p:txBody>
      </p:sp>
      <p:sp>
        <p:nvSpPr>
          <p:cNvPr id="18" name="Simple out 1-3"/>
          <p:cNvSpPr/>
          <p:nvPr/>
        </p:nvSpPr>
        <p:spPr>
          <a:xfrm>
            <a:off x="6949440" y="1234440"/>
            <a:ext cx="84124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imple out text 1-3"/>
          <p:cNvSpPr txBox="1"/>
          <p:nvPr/>
        </p:nvSpPr>
        <p:spPr>
          <a:xfrm>
            <a:off x="7040880" y="1234440"/>
            <a:ext cx="65836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std err</a:t>
            </a:r>
          </a:p>
        </p:txBody>
      </p:sp>
      <p:sp>
        <p:nvSpPr>
          <p:cNvPr id="20" name="Simple out 1-4"/>
          <p:cNvSpPr/>
          <p:nvPr/>
        </p:nvSpPr>
        <p:spPr>
          <a:xfrm>
            <a:off x="7818120" y="1234440"/>
            <a:ext cx="79552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imple out text 1-4"/>
          <p:cNvSpPr txBox="1"/>
          <p:nvPr/>
        </p:nvSpPr>
        <p:spPr>
          <a:xfrm>
            <a:off x="7909560" y="1234440"/>
            <a:ext cx="61264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P&gt;|t|</a:t>
            </a:r>
          </a:p>
        </p:txBody>
      </p:sp>
      <p:sp>
        <p:nvSpPr>
          <p:cNvPr id="22" name="Simple out 2-1"/>
          <p:cNvSpPr/>
          <p:nvPr/>
        </p:nvSpPr>
        <p:spPr>
          <a:xfrm>
            <a:off x="5074920" y="1645920"/>
            <a:ext cx="9784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imple out text 2-1"/>
          <p:cNvSpPr txBox="1"/>
          <p:nvPr/>
        </p:nvSpPr>
        <p:spPr>
          <a:xfrm>
            <a:off x="5166360" y="1645920"/>
            <a:ext cx="79552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Intercept</a:t>
            </a:r>
          </a:p>
        </p:txBody>
      </p:sp>
      <p:sp>
        <p:nvSpPr>
          <p:cNvPr id="24" name="Simple out 2-2"/>
          <p:cNvSpPr/>
          <p:nvPr/>
        </p:nvSpPr>
        <p:spPr>
          <a:xfrm>
            <a:off x="6080760" y="1645920"/>
            <a:ext cx="8412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imple out text 2-2"/>
          <p:cNvSpPr txBox="1"/>
          <p:nvPr/>
        </p:nvSpPr>
        <p:spPr>
          <a:xfrm>
            <a:off x="6172200" y="1645920"/>
            <a:ext cx="65836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1,110.0</a:t>
            </a:r>
          </a:p>
        </p:txBody>
      </p:sp>
      <p:sp>
        <p:nvSpPr>
          <p:cNvPr id="26" name="Simple out 2-3"/>
          <p:cNvSpPr/>
          <p:nvPr/>
        </p:nvSpPr>
        <p:spPr>
          <a:xfrm>
            <a:off x="6949440" y="1645920"/>
            <a:ext cx="8412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imple out text 2-3"/>
          <p:cNvSpPr txBox="1"/>
          <p:nvPr/>
        </p:nvSpPr>
        <p:spPr>
          <a:xfrm>
            <a:off x="7040880" y="1645920"/>
            <a:ext cx="65836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44.0</a:t>
            </a:r>
          </a:p>
        </p:txBody>
      </p:sp>
      <p:sp>
        <p:nvSpPr>
          <p:cNvPr id="28" name="Simple out 2-4"/>
          <p:cNvSpPr/>
          <p:nvPr/>
        </p:nvSpPr>
        <p:spPr>
          <a:xfrm>
            <a:off x="7818120" y="1645920"/>
            <a:ext cx="7955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imple out text 2-4"/>
          <p:cNvSpPr txBox="1"/>
          <p:nvPr/>
        </p:nvSpPr>
        <p:spPr>
          <a:xfrm>
            <a:off x="7909560" y="1645920"/>
            <a:ext cx="61264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0.000</a:t>
            </a:r>
          </a:p>
        </p:txBody>
      </p:sp>
      <p:sp>
        <p:nvSpPr>
          <p:cNvPr id="30" name="Simple out 3-1"/>
          <p:cNvSpPr/>
          <p:nvPr/>
        </p:nvSpPr>
        <p:spPr>
          <a:xfrm>
            <a:off x="5074920" y="2057400"/>
            <a:ext cx="9784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imple out text 3-1"/>
          <p:cNvSpPr txBox="1"/>
          <p:nvPr/>
        </p:nvSpPr>
        <p:spPr>
          <a:xfrm>
            <a:off x="5166360" y="2057400"/>
            <a:ext cx="79552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price1</a:t>
            </a:r>
          </a:p>
        </p:txBody>
      </p:sp>
      <p:sp>
        <p:nvSpPr>
          <p:cNvPr id="32" name="Simple out 3-2"/>
          <p:cNvSpPr/>
          <p:nvPr/>
        </p:nvSpPr>
        <p:spPr>
          <a:xfrm>
            <a:off x="6080760" y="2057400"/>
            <a:ext cx="8412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imple out text 3-2"/>
          <p:cNvSpPr txBox="1"/>
          <p:nvPr/>
        </p:nvSpPr>
        <p:spPr>
          <a:xfrm>
            <a:off x="6172200" y="2057400"/>
            <a:ext cx="65836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−668.8</a:t>
            </a:r>
          </a:p>
        </p:txBody>
      </p:sp>
      <p:sp>
        <p:nvSpPr>
          <p:cNvPr id="34" name="Simple out 3-3"/>
          <p:cNvSpPr/>
          <p:nvPr/>
        </p:nvSpPr>
        <p:spPr>
          <a:xfrm>
            <a:off x="6949440" y="2057400"/>
            <a:ext cx="8412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Simple out text 3-3"/>
          <p:cNvSpPr txBox="1"/>
          <p:nvPr/>
        </p:nvSpPr>
        <p:spPr>
          <a:xfrm>
            <a:off x="7040880" y="2057400"/>
            <a:ext cx="65836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29.8</a:t>
            </a:r>
          </a:p>
        </p:txBody>
      </p:sp>
      <p:sp>
        <p:nvSpPr>
          <p:cNvPr id="36" name="Simple out 3-4"/>
          <p:cNvSpPr/>
          <p:nvPr/>
        </p:nvSpPr>
        <p:spPr>
          <a:xfrm>
            <a:off x="7818120" y="2057400"/>
            <a:ext cx="7955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imple out text 3-4"/>
          <p:cNvSpPr txBox="1"/>
          <p:nvPr/>
        </p:nvSpPr>
        <p:spPr>
          <a:xfrm>
            <a:off x="7909560" y="2057400"/>
            <a:ext cx="61264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0.000</a:t>
            </a:r>
          </a:p>
        </p:txBody>
      </p:sp>
      <p:sp>
        <p:nvSpPr>
          <p:cNvPr id="38" name="Simple r2"/>
          <p:cNvSpPr txBox="1"/>
          <p:nvPr/>
        </p:nvSpPr>
        <p:spPr>
          <a:xfrm>
            <a:off x="5074920" y="2514600"/>
            <a:ext cx="3611880"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R² = 0.884, n = 68</a:t>
            </a:r>
          </a:p>
        </p:txBody>
      </p:sp>
      <p:sp>
        <p:nvSpPr>
          <p:cNvPr id="39" name="Simple read row 1"/>
          <p:cNvSpPr/>
          <p:nvPr/>
        </p:nvSpPr>
        <p:spPr>
          <a:xfrm>
            <a:off x="457200" y="361188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Simple read bar 1"/>
          <p:cNvSpPr/>
          <p:nvPr/>
        </p:nvSpPr>
        <p:spPr>
          <a:xfrm>
            <a:off x="457200" y="3611880"/>
            <a:ext cx="6400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Simple read text 1"/>
          <p:cNvSpPr txBox="1"/>
          <p:nvPr/>
        </p:nvSpPr>
        <p:spPr>
          <a:xfrm>
            <a:off x="658368" y="3611880"/>
            <a:ext cx="7936992" cy="502920"/>
          </a:xfrm>
          <a:prstGeom prst="rect">
            <a:avLst/>
          </a:prstGeom>
          <a:noFill/>
        </p:spPr>
        <p:txBody>
          <a:bodyPr wrap="square" lIns="0" rIns="0" tIns="0" bIns="0" anchor="ctr">
            <a:noAutofit/>
          </a:bodyPr>
          <a:lstStyle/>
          <a:p>
            <a:pPr algn="l">
              <a:spcAft>
                <a:spcPts val="400"/>
              </a:spcAft>
            </a:pPr>
            <a:r>
              <a:rPr sz="1200" b="1" lang="en-GB">
                <a:solidFill>
                  <a:schemeClr val="tx2"/>
                </a:solidFill>
              </a:rPr>
              <a:t>Read it: </a:t>
            </a:r>
            <a:r>
              <a:rPr sz="1200" b="0" lang="en-GB">
                <a:solidFill>
                  <a:schemeClr val="tx1"/>
                </a:solidFill>
              </a:rPr>
              <a:t>10 cents more price, about 67 units fewer per week; the price explains 88 % of the weekly variation.</a:t>
            </a:r>
          </a:p>
        </p:txBody>
      </p:sp>
      <p:sp>
        <p:nvSpPr>
          <p:cNvPr id="42" name="Simple next box"/>
          <p:cNvSpPr/>
          <p:nvPr/>
        </p:nvSpPr>
        <p:spPr>
          <a:xfrm>
            <a:off x="457200" y="429768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Icon Simple next" descr=""/>
          <p:cNvPicPr>
            <a:picLocks noChangeAspect="1"/>
          </p:cNvPicPr>
          <p:nvPr/>
        </p:nvPicPr>
        <p:blipFill>
          <a:blip r:embed="rId3"/>
          <a:stretch>
            <a:fillRect/>
          </a:stretch>
        </p:blipFill>
        <p:spPr>
          <a:xfrm>
            <a:off x="658368" y="4366260"/>
            <a:ext cx="365760" cy="365760"/>
          </a:xfrm>
          <a:prstGeom prst="rect">
            <a:avLst/>
          </a:prstGeom>
        </p:spPr>
      </p:pic>
      <p:sp>
        <p:nvSpPr>
          <p:cNvPr id="44" name="Simple next text"/>
          <p:cNvSpPr txBox="1"/>
          <p:nvPr/>
        </p:nvSpPr>
        <p:spPr>
          <a:xfrm>
            <a:off x="1207008" y="4297680"/>
            <a:ext cx="7315200"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But: </a:t>
            </a:r>
            <a:r>
              <a:rPr sz="1200" b="0" lang="en-GB">
                <a:solidFill>
                  <a:schemeClr val="bg1"/>
                </a:solidFill>
              </a:rPr>
              <a:t>the residuals curve. Next: the log-log model with the marketing mix.</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3: the log-log model with the marketing mix</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oglog code caption bar"/>
          <p:cNvSpPr/>
          <p:nvPr/>
        </p:nvSpPr>
        <p:spPr>
          <a:xfrm>
            <a:off x="457200" y="1234440"/>
            <a:ext cx="42062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oglog code caption"/>
          <p:cNvSpPr txBox="1"/>
          <p:nvPr/>
        </p:nvSpPr>
        <p:spPr>
          <a:xfrm>
            <a:off x="566928" y="1234440"/>
            <a:ext cx="39867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statsmodels</a:t>
            </a:r>
          </a:p>
        </p:txBody>
      </p:sp>
      <p:sp>
        <p:nvSpPr>
          <p:cNvPr id="12" name="Loglog code box"/>
          <p:cNvSpPr/>
          <p:nvPr/>
        </p:nvSpPr>
        <p:spPr>
          <a:xfrm>
            <a:off x="457200" y="1508760"/>
            <a:ext cx="4206240" cy="21945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oglog code code"/>
          <p:cNvSpPr txBox="1"/>
          <p:nvPr/>
        </p:nvSpPr>
        <p:spPr>
          <a:xfrm>
            <a:off x="594360" y="1600200"/>
            <a:ext cx="3931920" cy="201168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import numpy as np</a:t>
            </a:r>
          </a:p>
          <a:p>
            <a:pPr algn="l">
              <a:spcAft>
                <a:spcPts val="0"/>
              </a:spcAft>
            </a:pPr>
            <a:r>
              <a:rPr sz="1050" b="0" lang="en-GB">
                <a:solidFill>
                  <a:schemeClr val="bg1"/>
                </a:solidFill>
                <a:latin typeface="Consolas"/>
              </a:rPr>
              <a:t> </a:t>
            </a:r>
          </a:p>
          <a:p>
            <a:pPr algn="l">
              <a:spcAft>
                <a:spcPts val="0"/>
              </a:spcAft>
            </a:pPr>
            <a:r>
              <a:rPr sz="1050" b="0" lang="en-GB">
                <a:solidFill>
                  <a:schemeClr val="bg1"/>
                </a:solidFill>
                <a:latin typeface="Consolas"/>
              </a:rPr>
              <a:t>model = smf.ols(</a:t>
            </a:r>
          </a:p>
          <a:p>
            <a:pPr algn="l">
              <a:spcAft>
                <a:spcPts val="0"/>
              </a:spcAft>
            </a:pPr>
            <a:r>
              <a:rPr sz="1050" b="0" lang="en-GB">
                <a:solidFill>
                  <a:schemeClr val="bg1"/>
                </a:solidFill>
                <a:latin typeface="Consolas"/>
              </a:rPr>
              <a:t>    "np.log(sales) ~ np.log(price1)"</a:t>
            </a:r>
          </a:p>
          <a:p>
            <a:pPr algn="l">
              <a:spcAft>
                <a:spcPts val="0"/>
              </a:spcAft>
            </a:pPr>
            <a:r>
              <a:rPr sz="1050" b="0" lang="en-GB">
                <a:solidFill>
                  <a:schemeClr val="bg1"/>
                </a:solidFill>
                <a:latin typeface="Consolas"/>
              </a:rPr>
              <a:t>    " + np.log(price2) + np.log(price3)"</a:t>
            </a:r>
          </a:p>
          <a:p>
            <a:pPr algn="l">
              <a:spcAft>
                <a:spcPts val="0"/>
              </a:spcAft>
            </a:pPr>
            <a:r>
              <a:rPr sz="1050" b="0" lang="en-GB">
                <a:solidFill>
                  <a:schemeClr val="bg1"/>
                </a:solidFill>
                <a:latin typeface="Consolas"/>
              </a:rPr>
              <a:t>    " + np.log(price4) + feature1"</a:t>
            </a:r>
          </a:p>
          <a:p>
            <a:pPr algn="l">
              <a:spcAft>
                <a:spcPts val="0"/>
              </a:spcAft>
            </a:pPr>
            <a:r>
              <a:rPr sz="1050" b="0" lang="en-GB">
                <a:solidFill>
                  <a:schemeClr val="bg1"/>
                </a:solidFill>
                <a:latin typeface="Consolas"/>
              </a:rPr>
              <a:t>    " + temp + december",</a:t>
            </a:r>
          </a:p>
          <a:p>
            <a:pPr algn="l">
              <a:spcAft>
                <a:spcPts val="0"/>
              </a:spcAft>
            </a:pPr>
            <a:r>
              <a:rPr sz="1050" b="0" lang="en-GB">
                <a:solidFill>
                  <a:schemeClr val="bg1"/>
                </a:solidFill>
                <a:latin typeface="Consolas"/>
              </a:rPr>
              <a:t>    data=df).fit()</a:t>
            </a:r>
          </a:p>
          <a:p>
            <a:pPr algn="l">
              <a:spcAft>
                <a:spcPts val="0"/>
              </a:spcAft>
            </a:pPr>
            <a:r>
              <a:rPr sz="1050" b="0" lang="en-GB">
                <a:solidFill>
                  <a:schemeClr val="bg1"/>
                </a:solidFill>
                <a:latin typeface="Consolas"/>
              </a:rPr>
              <a:t>print(model.summary())</a:t>
            </a:r>
          </a:p>
        </p:txBody>
      </p:sp>
      <p:sp>
        <p:nvSpPr>
          <p:cNvPr id="14" name="Loglog out 1-1"/>
          <p:cNvSpPr/>
          <p:nvPr/>
        </p:nvSpPr>
        <p:spPr>
          <a:xfrm>
            <a:off x="4800600" y="1234440"/>
            <a:ext cx="1435608"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oglog out text 1-1"/>
          <p:cNvSpPr txBox="1"/>
          <p:nvPr/>
        </p:nvSpPr>
        <p:spPr>
          <a:xfrm>
            <a:off x="4892040" y="1234440"/>
            <a:ext cx="1252728" cy="274320"/>
          </a:xfrm>
          <a:prstGeom prst="rect">
            <a:avLst/>
          </a:prstGeom>
          <a:noFill/>
        </p:spPr>
        <p:txBody>
          <a:bodyPr wrap="square" lIns="0" rIns="0" tIns="0" bIns="0" anchor="ctr">
            <a:noAutofit/>
          </a:bodyPr>
          <a:lstStyle/>
          <a:p>
            <a:pPr algn="l">
              <a:spcAft>
                <a:spcPts val="400"/>
              </a:spcAft>
            </a:pPr>
            <a:r>
              <a:rPr sz="1150" b="1" lang="en-GB">
                <a:solidFill>
                  <a:schemeClr val="bg1"/>
                </a:solidFill>
              </a:rPr>
              <a:t/>
            </a:r>
          </a:p>
        </p:txBody>
      </p:sp>
      <p:sp>
        <p:nvSpPr>
          <p:cNvPr id="16" name="Loglog out 1-2"/>
          <p:cNvSpPr/>
          <p:nvPr/>
        </p:nvSpPr>
        <p:spPr>
          <a:xfrm>
            <a:off x="6263640" y="1234440"/>
            <a:ext cx="1024128"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oglog out text 1-2"/>
          <p:cNvSpPr txBox="1"/>
          <p:nvPr/>
        </p:nvSpPr>
        <p:spPr>
          <a:xfrm>
            <a:off x="6355080" y="1234440"/>
            <a:ext cx="841248" cy="274320"/>
          </a:xfrm>
          <a:prstGeom prst="rect">
            <a:avLst/>
          </a:prstGeom>
          <a:noFill/>
        </p:spPr>
        <p:txBody>
          <a:bodyPr wrap="square" lIns="0" rIns="0" tIns="0" bIns="0" anchor="ctr">
            <a:noAutofit/>
          </a:bodyPr>
          <a:lstStyle/>
          <a:p>
            <a:pPr algn="l">
              <a:spcAft>
                <a:spcPts val="400"/>
              </a:spcAft>
            </a:pPr>
            <a:r>
              <a:rPr sz="1150" b="1" lang="en-GB">
                <a:solidFill>
                  <a:schemeClr val="bg1"/>
                </a:solidFill>
              </a:rPr>
              <a:t>coef</a:t>
            </a:r>
          </a:p>
        </p:txBody>
      </p:sp>
      <p:sp>
        <p:nvSpPr>
          <p:cNvPr id="18" name="Loglog out 1-3"/>
          <p:cNvSpPr/>
          <p:nvPr/>
        </p:nvSpPr>
        <p:spPr>
          <a:xfrm>
            <a:off x="7315200" y="1234440"/>
            <a:ext cx="1024128"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oglog out text 1-3"/>
          <p:cNvSpPr txBox="1"/>
          <p:nvPr/>
        </p:nvSpPr>
        <p:spPr>
          <a:xfrm>
            <a:off x="7406640" y="1234440"/>
            <a:ext cx="841248" cy="274320"/>
          </a:xfrm>
          <a:prstGeom prst="rect">
            <a:avLst/>
          </a:prstGeom>
          <a:noFill/>
        </p:spPr>
        <p:txBody>
          <a:bodyPr wrap="square" lIns="0" rIns="0" tIns="0" bIns="0" anchor="ctr">
            <a:noAutofit/>
          </a:bodyPr>
          <a:lstStyle/>
          <a:p>
            <a:pPr algn="l">
              <a:spcAft>
                <a:spcPts val="400"/>
              </a:spcAft>
            </a:pPr>
            <a:r>
              <a:rPr sz="1150" b="1" lang="en-GB">
                <a:solidFill>
                  <a:schemeClr val="bg1"/>
                </a:solidFill>
              </a:rPr>
              <a:t>p</a:t>
            </a:r>
          </a:p>
        </p:txBody>
      </p:sp>
      <p:sp>
        <p:nvSpPr>
          <p:cNvPr id="20" name="Loglog out 2-1"/>
          <p:cNvSpPr/>
          <p:nvPr/>
        </p:nvSpPr>
        <p:spPr>
          <a:xfrm>
            <a:off x="4800600" y="1536192"/>
            <a:ext cx="14356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oglog out text 2-1"/>
          <p:cNvSpPr txBox="1"/>
          <p:nvPr/>
        </p:nvSpPr>
        <p:spPr>
          <a:xfrm>
            <a:off x="4892040" y="1536192"/>
            <a:ext cx="125272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ln price1</a:t>
            </a:r>
          </a:p>
        </p:txBody>
      </p:sp>
      <p:sp>
        <p:nvSpPr>
          <p:cNvPr id="22" name="Loglog out 2-2"/>
          <p:cNvSpPr/>
          <p:nvPr/>
        </p:nvSpPr>
        <p:spPr>
          <a:xfrm>
            <a:off x="6263640" y="1536192"/>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oglog out text 2-2"/>
          <p:cNvSpPr txBox="1"/>
          <p:nvPr/>
        </p:nvSpPr>
        <p:spPr>
          <a:xfrm>
            <a:off x="6355080" y="1536192"/>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−3.64</a:t>
            </a:r>
          </a:p>
        </p:txBody>
      </p:sp>
      <p:sp>
        <p:nvSpPr>
          <p:cNvPr id="24" name="Loglog out 2-3"/>
          <p:cNvSpPr/>
          <p:nvPr/>
        </p:nvSpPr>
        <p:spPr>
          <a:xfrm>
            <a:off x="7315200" y="1536192"/>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oglog out text 2-3"/>
          <p:cNvSpPr txBox="1"/>
          <p:nvPr/>
        </p:nvSpPr>
        <p:spPr>
          <a:xfrm>
            <a:off x="7406640" y="1536192"/>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0.000</a:t>
            </a:r>
          </a:p>
        </p:txBody>
      </p:sp>
      <p:sp>
        <p:nvSpPr>
          <p:cNvPr id="26" name="Loglog out 3-1"/>
          <p:cNvSpPr/>
          <p:nvPr/>
        </p:nvSpPr>
        <p:spPr>
          <a:xfrm>
            <a:off x="4800600" y="1837944"/>
            <a:ext cx="14356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oglog out text 3-1"/>
          <p:cNvSpPr txBox="1"/>
          <p:nvPr/>
        </p:nvSpPr>
        <p:spPr>
          <a:xfrm>
            <a:off x="4892040" y="1837944"/>
            <a:ext cx="125272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ln price2</a:t>
            </a:r>
          </a:p>
        </p:txBody>
      </p:sp>
      <p:sp>
        <p:nvSpPr>
          <p:cNvPr id="28" name="Loglog out 3-2"/>
          <p:cNvSpPr/>
          <p:nvPr/>
        </p:nvSpPr>
        <p:spPr>
          <a:xfrm>
            <a:off x="6263640" y="1837944"/>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oglog out text 3-2"/>
          <p:cNvSpPr txBox="1"/>
          <p:nvPr/>
        </p:nvSpPr>
        <p:spPr>
          <a:xfrm>
            <a:off x="6355080" y="1837944"/>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−0.80</a:t>
            </a:r>
          </a:p>
        </p:txBody>
      </p:sp>
      <p:sp>
        <p:nvSpPr>
          <p:cNvPr id="30" name="Loglog out 3-3"/>
          <p:cNvSpPr/>
          <p:nvPr/>
        </p:nvSpPr>
        <p:spPr>
          <a:xfrm>
            <a:off x="7315200" y="1837944"/>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oglog out text 3-3"/>
          <p:cNvSpPr txBox="1"/>
          <p:nvPr/>
        </p:nvSpPr>
        <p:spPr>
          <a:xfrm>
            <a:off x="7406640" y="1837944"/>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0.076</a:t>
            </a:r>
          </a:p>
        </p:txBody>
      </p:sp>
      <p:sp>
        <p:nvSpPr>
          <p:cNvPr id="32" name="Loglog out 4-1"/>
          <p:cNvSpPr/>
          <p:nvPr/>
        </p:nvSpPr>
        <p:spPr>
          <a:xfrm>
            <a:off x="4800600" y="2139696"/>
            <a:ext cx="14356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oglog out text 4-1"/>
          <p:cNvSpPr txBox="1"/>
          <p:nvPr/>
        </p:nvSpPr>
        <p:spPr>
          <a:xfrm>
            <a:off x="4892040" y="2139696"/>
            <a:ext cx="125272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ln price3</a:t>
            </a:r>
          </a:p>
        </p:txBody>
      </p:sp>
      <p:sp>
        <p:nvSpPr>
          <p:cNvPr id="34" name="Loglog out 4-2"/>
          <p:cNvSpPr/>
          <p:nvPr/>
        </p:nvSpPr>
        <p:spPr>
          <a:xfrm>
            <a:off x="6263640" y="2139696"/>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oglog out text 4-2"/>
          <p:cNvSpPr txBox="1"/>
          <p:nvPr/>
        </p:nvSpPr>
        <p:spPr>
          <a:xfrm>
            <a:off x="6355080" y="2139696"/>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0.36</a:t>
            </a:r>
          </a:p>
        </p:txBody>
      </p:sp>
      <p:sp>
        <p:nvSpPr>
          <p:cNvPr id="36" name="Loglog out 4-3"/>
          <p:cNvSpPr/>
          <p:nvPr/>
        </p:nvSpPr>
        <p:spPr>
          <a:xfrm>
            <a:off x="7315200" y="2139696"/>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oglog out text 4-3"/>
          <p:cNvSpPr txBox="1"/>
          <p:nvPr/>
        </p:nvSpPr>
        <p:spPr>
          <a:xfrm>
            <a:off x="7406640" y="2139696"/>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0.109</a:t>
            </a:r>
          </a:p>
        </p:txBody>
      </p:sp>
      <p:sp>
        <p:nvSpPr>
          <p:cNvPr id="38" name="Loglog out 5-1"/>
          <p:cNvSpPr/>
          <p:nvPr/>
        </p:nvSpPr>
        <p:spPr>
          <a:xfrm>
            <a:off x="4800600" y="2441448"/>
            <a:ext cx="14356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oglog out text 5-1"/>
          <p:cNvSpPr txBox="1"/>
          <p:nvPr/>
        </p:nvSpPr>
        <p:spPr>
          <a:xfrm>
            <a:off x="4892040" y="2441448"/>
            <a:ext cx="125272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ln price4</a:t>
            </a:r>
          </a:p>
        </p:txBody>
      </p:sp>
      <p:sp>
        <p:nvSpPr>
          <p:cNvPr id="40" name="Loglog out 5-2"/>
          <p:cNvSpPr/>
          <p:nvPr/>
        </p:nvSpPr>
        <p:spPr>
          <a:xfrm>
            <a:off x="6263640" y="2441448"/>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oglog out text 5-2"/>
          <p:cNvSpPr txBox="1"/>
          <p:nvPr/>
        </p:nvSpPr>
        <p:spPr>
          <a:xfrm>
            <a:off x="6355080" y="2441448"/>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−0.03</a:t>
            </a:r>
          </a:p>
        </p:txBody>
      </p:sp>
      <p:sp>
        <p:nvSpPr>
          <p:cNvPr id="42" name="Loglog out 5-3"/>
          <p:cNvSpPr/>
          <p:nvPr/>
        </p:nvSpPr>
        <p:spPr>
          <a:xfrm>
            <a:off x="7315200" y="2441448"/>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oglog out text 5-3"/>
          <p:cNvSpPr txBox="1"/>
          <p:nvPr/>
        </p:nvSpPr>
        <p:spPr>
          <a:xfrm>
            <a:off x="7406640" y="2441448"/>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0.855</a:t>
            </a:r>
          </a:p>
        </p:txBody>
      </p:sp>
      <p:sp>
        <p:nvSpPr>
          <p:cNvPr id="44" name="Loglog out 6-1"/>
          <p:cNvSpPr/>
          <p:nvPr/>
        </p:nvSpPr>
        <p:spPr>
          <a:xfrm>
            <a:off x="4800600" y="2743200"/>
            <a:ext cx="14356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oglog out text 6-1"/>
          <p:cNvSpPr txBox="1"/>
          <p:nvPr/>
        </p:nvSpPr>
        <p:spPr>
          <a:xfrm>
            <a:off x="4892040" y="2743200"/>
            <a:ext cx="125272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feature1</a:t>
            </a:r>
          </a:p>
        </p:txBody>
      </p:sp>
      <p:sp>
        <p:nvSpPr>
          <p:cNvPr id="46" name="Loglog out 6-2"/>
          <p:cNvSpPr/>
          <p:nvPr/>
        </p:nvSpPr>
        <p:spPr>
          <a:xfrm>
            <a:off x="6263640" y="2743200"/>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Loglog out text 6-2"/>
          <p:cNvSpPr txBox="1"/>
          <p:nvPr/>
        </p:nvSpPr>
        <p:spPr>
          <a:xfrm>
            <a:off x="6355080" y="2743200"/>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0.18</a:t>
            </a:r>
          </a:p>
        </p:txBody>
      </p:sp>
      <p:sp>
        <p:nvSpPr>
          <p:cNvPr id="48" name="Loglog out 6-3"/>
          <p:cNvSpPr/>
          <p:nvPr/>
        </p:nvSpPr>
        <p:spPr>
          <a:xfrm>
            <a:off x="7315200" y="2743200"/>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Loglog out text 6-3"/>
          <p:cNvSpPr txBox="1"/>
          <p:nvPr/>
        </p:nvSpPr>
        <p:spPr>
          <a:xfrm>
            <a:off x="7406640" y="2743200"/>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0.307</a:t>
            </a:r>
          </a:p>
        </p:txBody>
      </p:sp>
      <p:sp>
        <p:nvSpPr>
          <p:cNvPr id="50" name="Loglog out 7-1"/>
          <p:cNvSpPr/>
          <p:nvPr/>
        </p:nvSpPr>
        <p:spPr>
          <a:xfrm>
            <a:off x="4800600" y="3044952"/>
            <a:ext cx="14356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Loglog out text 7-1"/>
          <p:cNvSpPr txBox="1"/>
          <p:nvPr/>
        </p:nvSpPr>
        <p:spPr>
          <a:xfrm>
            <a:off x="4892040" y="3044952"/>
            <a:ext cx="125272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temp</a:t>
            </a:r>
          </a:p>
        </p:txBody>
      </p:sp>
      <p:sp>
        <p:nvSpPr>
          <p:cNvPr id="52" name="Loglog out 7-2"/>
          <p:cNvSpPr/>
          <p:nvPr/>
        </p:nvSpPr>
        <p:spPr>
          <a:xfrm>
            <a:off x="6263640" y="3044952"/>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Loglog out text 7-2"/>
          <p:cNvSpPr txBox="1"/>
          <p:nvPr/>
        </p:nvSpPr>
        <p:spPr>
          <a:xfrm>
            <a:off x="6355080" y="3044952"/>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−0.007</a:t>
            </a:r>
          </a:p>
        </p:txBody>
      </p:sp>
      <p:sp>
        <p:nvSpPr>
          <p:cNvPr id="54" name="Loglog out 7-3"/>
          <p:cNvSpPr/>
          <p:nvPr/>
        </p:nvSpPr>
        <p:spPr>
          <a:xfrm>
            <a:off x="7315200" y="3044952"/>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Loglog out text 7-3"/>
          <p:cNvSpPr txBox="1"/>
          <p:nvPr/>
        </p:nvSpPr>
        <p:spPr>
          <a:xfrm>
            <a:off x="7406640" y="3044952"/>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0.045</a:t>
            </a:r>
          </a:p>
        </p:txBody>
      </p:sp>
      <p:sp>
        <p:nvSpPr>
          <p:cNvPr id="56" name="Loglog out 8-1"/>
          <p:cNvSpPr/>
          <p:nvPr/>
        </p:nvSpPr>
        <p:spPr>
          <a:xfrm>
            <a:off x="4800600" y="3346704"/>
            <a:ext cx="143560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Loglog out text 8-1"/>
          <p:cNvSpPr txBox="1"/>
          <p:nvPr/>
        </p:nvSpPr>
        <p:spPr>
          <a:xfrm>
            <a:off x="4892040" y="3346704"/>
            <a:ext cx="1252728" cy="274320"/>
          </a:xfrm>
          <a:prstGeom prst="rect">
            <a:avLst/>
          </a:prstGeom>
          <a:noFill/>
        </p:spPr>
        <p:txBody>
          <a:bodyPr wrap="square" lIns="0" rIns="0" tIns="0" bIns="0" anchor="ctr">
            <a:noAutofit/>
          </a:bodyPr>
          <a:lstStyle/>
          <a:p>
            <a:pPr algn="l">
              <a:spcAft>
                <a:spcPts val="400"/>
              </a:spcAft>
            </a:pPr>
            <a:r>
              <a:rPr sz="1150" b="1" lang="en-GB">
                <a:solidFill>
                  <a:schemeClr val="tx2"/>
                </a:solidFill>
              </a:rPr>
              <a:t>december</a:t>
            </a:r>
          </a:p>
        </p:txBody>
      </p:sp>
      <p:sp>
        <p:nvSpPr>
          <p:cNvPr id="58" name="Loglog out 8-2"/>
          <p:cNvSpPr/>
          <p:nvPr/>
        </p:nvSpPr>
        <p:spPr>
          <a:xfrm>
            <a:off x="6263640" y="3346704"/>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Loglog out text 8-2"/>
          <p:cNvSpPr txBox="1"/>
          <p:nvPr/>
        </p:nvSpPr>
        <p:spPr>
          <a:xfrm>
            <a:off x="6355080" y="3346704"/>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−0.38</a:t>
            </a:r>
          </a:p>
        </p:txBody>
      </p:sp>
      <p:sp>
        <p:nvSpPr>
          <p:cNvPr id="60" name="Loglog out 8-3"/>
          <p:cNvSpPr/>
          <p:nvPr/>
        </p:nvSpPr>
        <p:spPr>
          <a:xfrm>
            <a:off x="7315200" y="3346704"/>
            <a:ext cx="1024128"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Loglog out text 8-3"/>
          <p:cNvSpPr txBox="1"/>
          <p:nvPr/>
        </p:nvSpPr>
        <p:spPr>
          <a:xfrm>
            <a:off x="7406640" y="3346704"/>
            <a:ext cx="841248" cy="274320"/>
          </a:xfrm>
          <a:prstGeom prst="rect">
            <a:avLst/>
          </a:prstGeom>
          <a:noFill/>
        </p:spPr>
        <p:txBody>
          <a:bodyPr wrap="square" lIns="0" rIns="0" tIns="0" bIns="0" anchor="ctr">
            <a:noAutofit/>
          </a:bodyPr>
          <a:lstStyle/>
          <a:p>
            <a:pPr algn="l">
              <a:spcAft>
                <a:spcPts val="400"/>
              </a:spcAft>
            </a:pPr>
            <a:r>
              <a:rPr sz="1150" b="0" lang="en-GB">
                <a:solidFill>
                  <a:schemeClr val="tx1"/>
                </a:solidFill>
              </a:rPr>
              <a:t>0.009</a:t>
            </a:r>
          </a:p>
        </p:txBody>
      </p:sp>
      <p:sp>
        <p:nvSpPr>
          <p:cNvPr id="62" name="Loglog r2"/>
          <p:cNvSpPr txBox="1"/>
          <p:nvPr/>
        </p:nvSpPr>
        <p:spPr>
          <a:xfrm>
            <a:off x="4800600" y="3767328"/>
            <a:ext cx="38862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R² = 0.874, adjusted 0.859, n = 68</a:t>
            </a:r>
          </a:p>
        </p:txBody>
      </p:sp>
      <p:sp>
        <p:nvSpPr>
          <p:cNvPr id="63" name="Loglog read box"/>
          <p:cNvSpPr/>
          <p:nvPr/>
        </p:nvSpPr>
        <p:spPr>
          <a:xfrm>
            <a:off x="457200" y="420624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4" name="Icon Loglog read" descr=""/>
          <p:cNvPicPr>
            <a:picLocks noChangeAspect="1"/>
          </p:cNvPicPr>
          <p:nvPr/>
        </p:nvPicPr>
        <p:blipFill>
          <a:blip r:embed="rId3"/>
          <a:stretch>
            <a:fillRect/>
          </a:stretch>
        </p:blipFill>
        <p:spPr>
          <a:xfrm>
            <a:off x="658368" y="4320540"/>
            <a:ext cx="365760" cy="365760"/>
          </a:xfrm>
          <a:prstGeom prst="rect">
            <a:avLst/>
          </a:prstGeom>
        </p:spPr>
      </p:pic>
      <p:sp>
        <p:nvSpPr>
          <p:cNvPr id="65" name="Loglog read text"/>
          <p:cNvSpPr txBox="1"/>
          <p:nvPr/>
        </p:nvSpPr>
        <p:spPr>
          <a:xfrm>
            <a:off x="1207008" y="4206240"/>
            <a:ext cx="7315200" cy="594360"/>
          </a:xfrm>
          <a:prstGeom prst="rect">
            <a:avLst/>
          </a:prstGeom>
          <a:noFill/>
        </p:spPr>
        <p:txBody>
          <a:bodyPr wrap="square" lIns="0" rIns="0" tIns="0" bIns="0" anchor="ctr">
            <a:noAutofit/>
          </a:bodyPr>
          <a:lstStyle/>
          <a:p>
            <a:pPr algn="l">
              <a:spcAft>
                <a:spcPts val="400"/>
              </a:spcAft>
            </a:pPr>
            <a:r>
              <a:rPr sz="1200" b="1" lang="en-GB">
                <a:solidFill>
                  <a:schemeClr val="bg1"/>
                </a:solidFill>
              </a:rPr>
              <a:t>Read it: </a:t>
            </a:r>
            <a:r>
              <a:rPr sz="1200" b="0" lang="en-GB">
                <a:solidFill>
                  <a:schemeClr val="bg1"/>
                </a:solidFill>
              </a:rPr>
              <a:t>1 % higher price, 3.6 % fewer sales; December weeks 32 % lower; each degree warmer 0.7 % lower.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4: check the assumptions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heck code caption bar"/>
          <p:cNvSpPr/>
          <p:nvPr/>
        </p:nvSpPr>
        <p:spPr>
          <a:xfrm>
            <a:off x="457200" y="1234440"/>
            <a:ext cx="48463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heck code caption"/>
          <p:cNvSpPr txBox="1"/>
          <p:nvPr/>
        </p:nvSpPr>
        <p:spPr>
          <a:xfrm>
            <a:off x="566928" y="1234440"/>
            <a:ext cx="46268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tests and robust errors</a:t>
            </a:r>
          </a:p>
        </p:txBody>
      </p:sp>
      <p:sp>
        <p:nvSpPr>
          <p:cNvPr id="12" name="Check code box"/>
          <p:cNvSpPr/>
          <p:nvPr/>
        </p:nvSpPr>
        <p:spPr>
          <a:xfrm>
            <a:off x="457200" y="1508760"/>
            <a:ext cx="4846320" cy="25146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heck code code"/>
          <p:cNvSpPr txBox="1"/>
          <p:nvPr/>
        </p:nvSpPr>
        <p:spPr>
          <a:xfrm>
            <a:off x="594360" y="1600200"/>
            <a:ext cx="4572000" cy="2331720"/>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from statsmodels.stats.stattools import (</a:t>
            </a:r>
          </a:p>
          <a:p>
            <a:pPr algn="l">
              <a:spcAft>
                <a:spcPts val="0"/>
              </a:spcAft>
            </a:pPr>
            <a:r>
              <a:rPr sz="1000" b="0" lang="en-GB">
                <a:solidFill>
                  <a:schemeClr val="bg1"/>
                </a:solidFill>
                <a:latin typeface="Consolas"/>
              </a:rPr>
              <a:t>    durbin_watson, jarque_bera)</a:t>
            </a:r>
          </a:p>
          <a:p>
            <a:pPr algn="l">
              <a:spcAft>
                <a:spcPts val="0"/>
              </a:spcAft>
            </a:pPr>
            <a:r>
              <a:rPr sz="1000" b="0" lang="en-GB">
                <a:solidFill>
                  <a:schemeClr val="bg1"/>
                </a:solidFill>
                <a:latin typeface="Consolas"/>
              </a:rPr>
              <a:t>from statsmodels.stats.diagnostic import het_breuschpagan</a:t>
            </a:r>
          </a:p>
          <a:p>
            <a:pPr algn="l">
              <a:spcAft>
                <a:spcPts val="0"/>
              </a:spcAft>
            </a:pPr>
            <a:r>
              <a:rPr sz="1000" b="0" lang="en-GB">
                <a:solidFill>
                  <a:schemeClr val="bg1"/>
                </a:solidFill>
                <a:latin typeface="Consolas"/>
              </a:rPr>
              <a:t>from statsmodels.stats.outliers_influence import (</a:t>
            </a:r>
          </a:p>
          <a:p>
            <a:pPr algn="l">
              <a:spcAft>
                <a:spcPts val="0"/>
              </a:spcAft>
            </a:pPr>
            <a:r>
              <a:rPr sz="1000" b="0" lang="en-GB">
                <a:solidFill>
                  <a:schemeClr val="bg1"/>
                </a:solidFill>
                <a:latin typeface="Consolas"/>
              </a:rPr>
              <a:t>    variance_inflation_factor)</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durbin_watson(model.resid)                     # 1.41</a:t>
            </a:r>
          </a:p>
          <a:p>
            <a:pPr algn="l">
              <a:spcAft>
                <a:spcPts val="0"/>
              </a:spcAft>
            </a:pPr>
            <a:r>
              <a:rPr sz="1000" b="0" lang="en-GB">
                <a:solidFill>
                  <a:schemeClr val="bg1"/>
                </a:solidFill>
                <a:latin typeface="Consolas"/>
              </a:rPr>
              <a:t>het_breuschpagan(model.resid, model.model.exog)[1]  # 0.14</a:t>
            </a:r>
          </a:p>
          <a:p>
            <a:pPr algn="l">
              <a:spcAft>
                <a:spcPts val="0"/>
              </a:spcAft>
            </a:pPr>
            <a:r>
              <a:rPr sz="1000" b="0" lang="en-GB">
                <a:solidFill>
                  <a:schemeClr val="bg1"/>
                </a:solidFill>
                <a:latin typeface="Consolas"/>
              </a:rPr>
              <a:t>jarque_bera(model.resid)[1]                    # 0.07</a:t>
            </a:r>
          </a:p>
          <a:p>
            <a:pPr algn="l">
              <a:spcAft>
                <a:spcPts val="0"/>
              </a:spcAft>
            </a:pPr>
            <a:r>
              <a:rPr sz="1000" b="0" lang="en-GB">
                <a:solidFill>
                  <a:schemeClr val="bg1"/>
                </a:solidFill>
                <a:latin typeface="Consolas"/>
              </a:rPr>
              <a:t>X = model.model.exog</a:t>
            </a:r>
          </a:p>
          <a:p>
            <a:pPr algn="l">
              <a:spcAft>
                <a:spcPts val="0"/>
              </a:spcAft>
            </a:pPr>
            <a:r>
              <a:rPr sz="1000" b="0" lang="en-GB">
                <a:solidFill>
                  <a:schemeClr val="bg1"/>
                </a:solidFill>
                <a:latin typeface="Consolas"/>
              </a:rPr>
              <a:t>[variance_inflation_factor(X, i) for i in range(1, 8)]</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hac = model.model.fit(cov_type="HAC",</a:t>
            </a:r>
          </a:p>
          <a:p>
            <a:pPr algn="l">
              <a:spcAft>
                <a:spcPts val="0"/>
              </a:spcAft>
            </a:pPr>
            <a:r>
              <a:rPr sz="1000" b="0" lang="en-GB">
                <a:solidFill>
                  <a:schemeClr val="bg1"/>
                </a:solidFill>
                <a:latin typeface="Consolas"/>
              </a:rPr>
              <a:t>                      cov_kwds={"maxlags": 1})</a:t>
            </a:r>
          </a:p>
        </p:txBody>
      </p:sp>
      <p:sp>
        <p:nvSpPr>
          <p:cNvPr id="14" name="Plot code caption bar"/>
          <p:cNvSpPr/>
          <p:nvPr/>
        </p:nvSpPr>
        <p:spPr>
          <a:xfrm>
            <a:off x="5440680" y="1234440"/>
            <a:ext cx="32461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Plot code caption"/>
          <p:cNvSpPr txBox="1"/>
          <p:nvPr/>
        </p:nvSpPr>
        <p:spPr>
          <a:xfrm>
            <a:off x="5550408" y="1234440"/>
            <a:ext cx="30266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Residual plot</a:t>
            </a:r>
          </a:p>
        </p:txBody>
      </p:sp>
      <p:sp>
        <p:nvSpPr>
          <p:cNvPr id="16" name="Plot code box"/>
          <p:cNvSpPr/>
          <p:nvPr/>
        </p:nvSpPr>
        <p:spPr>
          <a:xfrm>
            <a:off x="5440680" y="1508760"/>
            <a:ext cx="3246120" cy="12801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lot code code"/>
          <p:cNvSpPr txBox="1"/>
          <p:nvPr/>
        </p:nvSpPr>
        <p:spPr>
          <a:xfrm>
            <a:off x="5577840" y="1600200"/>
            <a:ext cx="2971800" cy="1097280"/>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from plotnine import geom_hline</a:t>
            </a:r>
          </a:p>
          <a:p>
            <a:pPr algn="l">
              <a:spcAft>
                <a:spcPts val="0"/>
              </a:spcAft>
            </a:pPr>
            <a:r>
              <a:rPr sz="1000" b="0" lang="en-GB">
                <a:solidFill>
                  <a:schemeClr val="bg1"/>
                </a:solidFill>
                <a:latin typeface="Consolas"/>
              </a:rPr>
              <a:t>df["fit"] = model.fittedvalues</a:t>
            </a:r>
          </a:p>
          <a:p>
            <a:pPr algn="l">
              <a:spcAft>
                <a:spcPts val="0"/>
              </a:spcAft>
            </a:pPr>
            <a:r>
              <a:rPr sz="1000" b="0" lang="en-GB">
                <a:solidFill>
                  <a:schemeClr val="bg1"/>
                </a:solidFill>
                <a:latin typeface="Consolas"/>
              </a:rPr>
              <a:t>df["res"] = model.resid</a:t>
            </a:r>
          </a:p>
          <a:p>
            <a:pPr algn="l">
              <a:spcAft>
                <a:spcPts val="0"/>
              </a:spcAft>
            </a:pPr>
            <a:r>
              <a:rPr sz="1000" b="0" lang="en-GB">
                <a:solidFill>
                  <a:schemeClr val="bg1"/>
                </a:solidFill>
                <a:latin typeface="Consolas"/>
              </a:rPr>
              <a:t>(ggplot(df, aes("fit", "res"))</a:t>
            </a:r>
          </a:p>
          <a:p>
            <a:pPr algn="l">
              <a:spcAft>
                <a:spcPts val="0"/>
              </a:spcAft>
            </a:pPr>
            <a:r>
              <a:rPr sz="1000" b="0" lang="en-GB">
                <a:solidFill>
                  <a:schemeClr val="bg1"/>
                </a:solidFill>
                <a:latin typeface="Consolas"/>
              </a:rPr>
              <a:t> + geom_point()</a:t>
            </a:r>
          </a:p>
          <a:p>
            <a:pPr algn="l">
              <a:spcAft>
                <a:spcPts val="0"/>
              </a:spcAft>
            </a:pPr>
            <a:r>
              <a:rPr sz="1000" b="0" lang="en-GB">
                <a:solidFill>
                  <a:schemeClr val="bg1"/>
                </a:solidFill>
                <a:latin typeface="Consolas"/>
              </a:rPr>
              <a:t> + geom_hline(yintercept=0))</a:t>
            </a:r>
          </a:p>
        </p:txBody>
      </p:sp>
      <p:pic>
        <p:nvPicPr>
          <p:cNvPr id="18" name="Chart reg_resid_fitted.png" descr="Small residual plot of the main model"/>
          <p:cNvPicPr>
            <a:picLocks noChangeAspect="1"/>
          </p:cNvPicPr>
          <p:nvPr/>
        </p:nvPicPr>
        <p:blipFill>
          <a:blip r:embed="rId3"/>
          <a:stretch>
            <a:fillRect/>
          </a:stretch>
        </p:blipFill>
        <p:spPr>
          <a:xfrm>
            <a:off x="5440680" y="2852928"/>
            <a:ext cx="1691640" cy="1179576"/>
          </a:xfrm>
          <a:prstGeom prst="rect">
            <a:avLst/>
          </a:prstGeom>
        </p:spPr>
      </p:pic>
      <p:pic>
        <p:nvPicPr>
          <p:cNvPr id="19" name="Chart reg_resid_hist.png" descr="Small residual histogram of the main model"/>
          <p:cNvPicPr>
            <a:picLocks noChangeAspect="1"/>
          </p:cNvPicPr>
          <p:nvPr/>
        </p:nvPicPr>
        <p:blipFill>
          <a:blip r:embed="rId4"/>
          <a:stretch>
            <a:fillRect/>
          </a:stretch>
        </p:blipFill>
        <p:spPr>
          <a:xfrm>
            <a:off x="7178040" y="2852928"/>
            <a:ext cx="1508760" cy="1051560"/>
          </a:xfrm>
          <a:prstGeom prst="rect">
            <a:avLst/>
          </a:prstGeom>
        </p:spPr>
      </p:pic>
      <p:sp>
        <p:nvSpPr>
          <p:cNvPr id="20" name="Check decide box"/>
          <p:cNvSpPr/>
          <p:nvPr/>
        </p:nvSpPr>
        <p:spPr>
          <a:xfrm>
            <a:off x="457200" y="420624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Check decide" descr=""/>
          <p:cNvPicPr>
            <a:picLocks noChangeAspect="1"/>
          </p:cNvPicPr>
          <p:nvPr/>
        </p:nvPicPr>
        <p:blipFill>
          <a:blip r:embed="rId5"/>
          <a:stretch>
            <a:fillRect/>
          </a:stretch>
        </p:blipFill>
        <p:spPr>
          <a:xfrm>
            <a:off x="658368" y="4320540"/>
            <a:ext cx="365760" cy="365760"/>
          </a:xfrm>
          <a:prstGeom prst="rect">
            <a:avLst/>
          </a:prstGeom>
        </p:spPr>
      </p:pic>
      <p:sp>
        <p:nvSpPr>
          <p:cNvPr id="22" name="Check decide text"/>
          <p:cNvSpPr txBox="1"/>
          <p:nvPr/>
        </p:nvSpPr>
        <p:spPr>
          <a:xfrm>
            <a:off x="1207008" y="4206240"/>
            <a:ext cx="7315200" cy="594360"/>
          </a:xfrm>
          <a:prstGeom prst="rect">
            <a:avLst/>
          </a:prstGeom>
          <a:noFill/>
        </p:spPr>
        <p:txBody>
          <a:bodyPr wrap="square" lIns="0" rIns="0" tIns="0" bIns="0" anchor="ctr">
            <a:noAutofit/>
          </a:bodyPr>
          <a:lstStyle/>
          <a:p>
            <a:pPr algn="l">
              <a:spcAft>
                <a:spcPts val="400"/>
              </a:spcAft>
            </a:pPr>
            <a:r>
              <a:rPr sz="1200" b="1" lang="en-GB">
                <a:solidFill>
                  <a:schemeClr val="bg1"/>
                </a:solidFill>
              </a:rPr>
              <a:t>Decide: </a:t>
            </a:r>
            <a:r>
              <a:rPr sz="1200" b="0" lang="en-GB">
                <a:solidFill>
                  <a:schemeClr val="bg1"/>
                </a:solidFill>
              </a:rPr>
              <a:t>report the HAC result; the own-price elasticity stays −3.64, its standard error rises to 0.32.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In-class quiz: five questions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Quiz row 1"/>
          <p:cNvSpPr/>
          <p:nvPr/>
        </p:nvSpPr>
        <p:spPr>
          <a:xfrm>
            <a:off x="457200" y="1234440"/>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Quiz bar 1"/>
          <p:cNvSpPr/>
          <p:nvPr/>
        </p:nvSpPr>
        <p:spPr>
          <a:xfrm>
            <a:off x="457200" y="1234440"/>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Quiz text 1"/>
          <p:cNvSpPr txBox="1"/>
          <p:nvPr/>
        </p:nvSpPr>
        <p:spPr>
          <a:xfrm>
            <a:off x="658368" y="1234440"/>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1 What does OLS minimise?</a:t>
            </a:r>
          </a:p>
          <a:p>
            <a:pPr algn="l">
              <a:spcAft>
                <a:spcPts val="100"/>
              </a:spcAft>
            </a:pPr>
            <a:r>
              <a:rPr sz="1200" b="0" lang="en-GB">
                <a:solidFill>
                  <a:schemeClr val="tx1"/>
                </a:solidFill>
              </a:rPr>
              <a:t>A the sum of residuals     B the sum of absolute residuals     C the sum of squared residuals</a:t>
            </a:r>
          </a:p>
        </p:txBody>
      </p:sp>
      <p:sp>
        <p:nvSpPr>
          <p:cNvPr id="13" name="Quiz row 2"/>
          <p:cNvSpPr/>
          <p:nvPr/>
        </p:nvSpPr>
        <p:spPr>
          <a:xfrm>
            <a:off x="457200" y="1892808"/>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Quiz bar 2"/>
          <p:cNvSpPr/>
          <p:nvPr/>
        </p:nvSpPr>
        <p:spPr>
          <a:xfrm>
            <a:off x="457200" y="1892808"/>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Quiz text 2"/>
          <p:cNvSpPr txBox="1"/>
          <p:nvPr/>
        </p:nvSpPr>
        <p:spPr>
          <a:xfrm>
            <a:off x="658368" y="1892808"/>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2 In ln sales = a + b · ln price, b = −3.64 means …</a:t>
            </a:r>
          </a:p>
          <a:p>
            <a:pPr algn="l">
              <a:spcAft>
                <a:spcPts val="100"/>
              </a:spcAft>
            </a:pPr>
            <a:r>
              <a:rPr sz="1200" b="0" lang="en-GB">
                <a:solidFill>
                  <a:schemeClr val="tx1"/>
                </a:solidFill>
              </a:rPr>
              <a:t>A 1 EUR more, 3.64 units fewer     B 1 % higher price, 3.6 % fewer sales     C 3.64 fewer per week</a:t>
            </a:r>
          </a:p>
        </p:txBody>
      </p:sp>
      <p:sp>
        <p:nvSpPr>
          <p:cNvPr id="16" name="Quiz row 3"/>
          <p:cNvSpPr/>
          <p:nvPr/>
        </p:nvSpPr>
        <p:spPr>
          <a:xfrm>
            <a:off x="457200" y="2551176"/>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Quiz bar 3"/>
          <p:cNvSpPr/>
          <p:nvPr/>
        </p:nvSpPr>
        <p:spPr>
          <a:xfrm>
            <a:off x="457200" y="2551176"/>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Quiz text 3"/>
          <p:cNvSpPr txBox="1"/>
          <p:nvPr/>
        </p:nvSpPr>
        <p:spPr>
          <a:xfrm>
            <a:off x="658368" y="2551176"/>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3 A VIF of 11 signals …</a:t>
            </a:r>
          </a:p>
          <a:p>
            <a:pPr algn="l">
              <a:spcAft>
                <a:spcPts val="100"/>
              </a:spcAft>
            </a:pPr>
            <a:r>
              <a:rPr sz="1200" b="0" lang="en-GB">
                <a:solidFill>
                  <a:schemeClr val="tx1"/>
                </a:solidFill>
              </a:rPr>
              <a:t>A autocorrelation     B multicollinearity     C heteroscedasticity</a:t>
            </a:r>
          </a:p>
        </p:txBody>
      </p:sp>
      <p:sp>
        <p:nvSpPr>
          <p:cNvPr id="19" name="Quiz row 4"/>
          <p:cNvSpPr/>
          <p:nvPr/>
        </p:nvSpPr>
        <p:spPr>
          <a:xfrm>
            <a:off x="457200" y="3209544"/>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Quiz bar 4"/>
          <p:cNvSpPr/>
          <p:nvPr/>
        </p:nvSpPr>
        <p:spPr>
          <a:xfrm>
            <a:off x="457200" y="3209544"/>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Quiz text 4"/>
          <p:cNvSpPr txBox="1"/>
          <p:nvPr/>
        </p:nvSpPr>
        <p:spPr>
          <a:xfrm>
            <a:off x="658368" y="3209544"/>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4 Weekly data, Durbin-Watson = 1.41. This suggests …</a:t>
            </a:r>
          </a:p>
          <a:p>
            <a:pPr algn="l">
              <a:spcAft>
                <a:spcPts val="100"/>
              </a:spcAft>
            </a:pPr>
            <a:r>
              <a:rPr sz="1200" b="0" lang="en-GB">
                <a:solidFill>
                  <a:schemeClr val="tx1"/>
                </a:solidFill>
              </a:rPr>
              <a:t>A positive autocorrelation     B no problem     C unequal variance</a:t>
            </a:r>
          </a:p>
        </p:txBody>
      </p:sp>
      <p:sp>
        <p:nvSpPr>
          <p:cNvPr id="22" name="Quiz row 5"/>
          <p:cNvSpPr/>
          <p:nvPr/>
        </p:nvSpPr>
        <p:spPr>
          <a:xfrm>
            <a:off x="457200" y="3867912"/>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Quiz bar 5"/>
          <p:cNvSpPr/>
          <p:nvPr/>
        </p:nvSpPr>
        <p:spPr>
          <a:xfrm>
            <a:off x="457200" y="3867912"/>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Quiz text 5"/>
          <p:cNvSpPr txBox="1"/>
          <p:nvPr/>
        </p:nvSpPr>
        <p:spPr>
          <a:xfrm>
            <a:off x="658368" y="3867912"/>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5 R² rises from 0.85 to 0.86 after adding a variable. This shows …</a:t>
            </a:r>
          </a:p>
          <a:p>
            <a:pPr algn="l">
              <a:spcAft>
                <a:spcPts val="100"/>
              </a:spcAft>
            </a:pPr>
            <a:r>
              <a:rPr sz="1200" b="0" lang="en-GB">
                <a:solidFill>
                  <a:schemeClr val="tx1"/>
                </a:solidFill>
              </a:rPr>
              <a:t>A the variable matters     B nothing: R² never falls     C the model is causal</a:t>
            </a:r>
          </a:p>
        </p:txBody>
      </p:sp>
      <p:sp>
        <p:nvSpPr>
          <p:cNvPr id="25" name="Quiz how box"/>
          <p:cNvSpPr/>
          <p:nvPr/>
        </p:nvSpPr>
        <p:spPr>
          <a:xfrm>
            <a:off x="457200" y="45720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Quiz how" descr=""/>
          <p:cNvPicPr>
            <a:picLocks noChangeAspect="1"/>
          </p:cNvPicPr>
          <p:nvPr/>
        </p:nvPicPr>
        <p:blipFill>
          <a:blip r:embed="rId3"/>
          <a:stretch>
            <a:fillRect/>
          </a:stretch>
        </p:blipFill>
        <p:spPr>
          <a:xfrm>
            <a:off x="658368" y="4617720"/>
            <a:ext cx="365760" cy="365760"/>
          </a:xfrm>
          <a:prstGeom prst="rect">
            <a:avLst/>
          </a:prstGeom>
        </p:spPr>
      </p:pic>
      <p:sp>
        <p:nvSpPr>
          <p:cNvPr id="27" name="Quiz how text"/>
          <p:cNvSpPr txBox="1"/>
          <p:nvPr/>
        </p:nvSpPr>
        <p:spPr>
          <a:xfrm>
            <a:off x="1207008" y="4572000"/>
            <a:ext cx="73152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3 minutes alone, </a:t>
            </a:r>
            <a:r>
              <a:rPr sz="1200" b="0" lang="en-GB">
                <a:solidFill>
                  <a:schemeClr val="bg1"/>
                </a:solidFill>
              </a:rPr>
              <a:t>then compare with your neighbour. Same format as the online quiz and the exam.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5 of 6 · groups of 3, 25 minutes, on the chocolate data</a:t>
            </a:r>
          </a:p>
        </p:txBody>
      </p:sp>
      <p:sp>
        <p:nvSpPr>
          <p:cNvPr id="3" name="Title 2"/>
          <p:cNvSpPr>
            <a:spLocks noGrp="1"/>
          </p:cNvSpPr>
          <p:nvPr>
            <p:ph type="ctrTitle"/>
          </p:nvPr>
        </p:nvSpPr>
        <p:spPr/>
        <p:txBody>
          <a:bodyPr/>
          <a:lstStyle/>
          <a:p>
            <a:r>
              <a:rPr sz="1600" lang="en-GB"/>
              <a:t>In-class assignment</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In-class assignment: pricing brand 1</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Inclass steps step 1"/>
          <p:cNvSpPr/>
          <p:nvPr/>
        </p:nvSpPr>
        <p:spPr>
          <a:xfrm>
            <a:off x="457200" y="1234440"/>
            <a:ext cx="4169664" cy="45720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Groups of 3:</a:t>
            </a:r>
            <a:br/>
            <a:r>
              <a:rPr sz="1200" b="1" lang="en-GB">
                <a:solidFill>
                  <a:schemeClr val="tx2"/>
                </a:solidFill>
              </a:rPr>
              <a:t>20 minutes</a:t>
            </a:r>
          </a:p>
        </p:txBody>
      </p:sp>
      <p:sp>
        <p:nvSpPr>
          <p:cNvPr id="11" name="Inclass steps step 2"/>
          <p:cNvSpPr/>
          <p:nvPr/>
        </p:nvSpPr>
        <p:spPr>
          <a:xfrm>
            <a:off x="4517136" y="1234440"/>
            <a:ext cx="4169664" cy="45720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Plenary:</a:t>
            </a:r>
            <a:br/>
            <a:r>
              <a:rPr sz="1200" b="1" lang="en-GB">
                <a:solidFill>
                  <a:schemeClr val="tx2"/>
                </a:solidFill>
              </a:rPr>
              <a:t>5 minutes</a:t>
            </a:r>
          </a:p>
        </p:txBody>
      </p:sp>
      <p:sp>
        <p:nvSpPr>
          <p:cNvPr id="12" name="Inclass q row 1"/>
          <p:cNvSpPr/>
          <p:nvPr/>
        </p:nvSpPr>
        <p:spPr>
          <a:xfrm>
            <a:off x="457200" y="1828800"/>
            <a:ext cx="8229600" cy="60350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Inclass q number 1"/>
          <p:cNvSpPr/>
          <p:nvPr/>
        </p:nvSpPr>
        <p:spPr>
          <a:xfrm>
            <a:off x="594360" y="197510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4" name="Inclass q text 1"/>
          <p:cNvSpPr txBox="1"/>
          <p:nvPr/>
        </p:nvSpPr>
        <p:spPr>
          <a:xfrm>
            <a:off x="1051560" y="1828800"/>
            <a:ext cx="7498080" cy="603504"/>
          </a:xfrm>
          <a:prstGeom prst="rect">
            <a:avLst/>
          </a:prstGeom>
          <a:noFill/>
        </p:spPr>
        <p:txBody>
          <a:bodyPr wrap="square" lIns="0" rIns="0" tIns="0" bIns="0" anchor="ctr">
            <a:noAutofit/>
          </a:bodyPr>
          <a:lstStyle/>
          <a:p>
            <a:pPr algn="l">
              <a:spcAft>
                <a:spcPts val="400"/>
              </a:spcAft>
            </a:pPr>
            <a:r>
              <a:rPr sz="1200" b="1" lang="en-GB">
                <a:solidFill>
                  <a:schemeClr val="tx2"/>
                </a:solidFill>
              </a:rPr>
              <a:t>Competition: </a:t>
            </a:r>
            <a:r>
              <a:rPr sz="1200" b="0" lang="en-GB">
                <a:solidFill>
                  <a:schemeClr val="tx1"/>
                </a:solidFill>
              </a:rPr>
              <a:t>plot sales against price2, price3 and price4. Which brand competes most?</a:t>
            </a:r>
          </a:p>
        </p:txBody>
      </p:sp>
      <p:sp>
        <p:nvSpPr>
          <p:cNvPr id="15" name="Inclass q row 2"/>
          <p:cNvSpPr/>
          <p:nvPr/>
        </p:nvSpPr>
        <p:spPr>
          <a:xfrm>
            <a:off x="457200" y="2505456"/>
            <a:ext cx="8229600" cy="60350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nclass q number 2"/>
          <p:cNvSpPr/>
          <p:nvPr/>
        </p:nvSpPr>
        <p:spPr>
          <a:xfrm>
            <a:off x="594360" y="265176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7" name="Inclass q text 2"/>
          <p:cNvSpPr txBox="1"/>
          <p:nvPr/>
        </p:nvSpPr>
        <p:spPr>
          <a:xfrm>
            <a:off x="1051560" y="2505456"/>
            <a:ext cx="7498080" cy="603504"/>
          </a:xfrm>
          <a:prstGeom prst="rect">
            <a:avLst/>
          </a:prstGeom>
          <a:noFill/>
        </p:spPr>
        <p:txBody>
          <a:bodyPr wrap="square" lIns="0" rIns="0" tIns="0" bIns="0" anchor="ctr">
            <a:noAutofit/>
          </a:bodyPr>
          <a:lstStyle/>
          <a:p>
            <a:pPr algn="l">
              <a:spcAft>
                <a:spcPts val="400"/>
              </a:spcAft>
            </a:pPr>
            <a:r>
              <a:rPr sz="1200" b="1" lang="en-GB">
                <a:solidFill>
                  <a:schemeClr val="tx2"/>
                </a:solidFill>
              </a:rPr>
              <a:t>Displays: </a:t>
            </a:r>
            <a:r>
              <a:rPr sz="1200" b="0" lang="en-GB">
                <a:solidFill>
                  <a:schemeClr val="tx1"/>
                </a:solidFill>
              </a:rPr>
              <a:t>add display1 and fand1 to the log-log model. What happens to the VIFs and coefficients, and why?</a:t>
            </a:r>
          </a:p>
        </p:txBody>
      </p:sp>
      <p:sp>
        <p:nvSpPr>
          <p:cNvPr id="18" name="Inclass q row 3"/>
          <p:cNvSpPr/>
          <p:nvPr/>
        </p:nvSpPr>
        <p:spPr>
          <a:xfrm>
            <a:off x="457200" y="3182112"/>
            <a:ext cx="8229600" cy="60350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nclass q number 3"/>
          <p:cNvSpPr/>
          <p:nvPr/>
        </p:nvSpPr>
        <p:spPr>
          <a:xfrm>
            <a:off x="594360" y="332841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20" name="Inclass q text 3"/>
          <p:cNvSpPr txBox="1"/>
          <p:nvPr/>
        </p:nvSpPr>
        <p:spPr>
          <a:xfrm>
            <a:off x="1051560" y="3182112"/>
            <a:ext cx="7498080" cy="603504"/>
          </a:xfrm>
          <a:prstGeom prst="rect">
            <a:avLst/>
          </a:prstGeom>
          <a:noFill/>
        </p:spPr>
        <p:txBody>
          <a:bodyPr wrap="square" lIns="0" rIns="0" tIns="0" bIns="0" anchor="ctr">
            <a:noAutofit/>
          </a:bodyPr>
          <a:lstStyle/>
          <a:p>
            <a:pPr algn="l">
              <a:spcAft>
                <a:spcPts val="400"/>
              </a:spcAft>
            </a:pPr>
            <a:r>
              <a:rPr sz="1200" b="1" lang="en-GB">
                <a:solidFill>
                  <a:schemeClr val="tx2"/>
                </a:solidFill>
              </a:rPr>
              <a:t>Price: </a:t>
            </a:r>
            <a:r>
              <a:rPr sz="1200" b="0" lang="en-GB">
                <a:solidFill>
                  <a:schemeClr val="tx1"/>
                </a:solidFill>
              </a:rPr>
              <a:t>marginal cost is 0.80. What price does ε = −3.64 suggest? Why is the real price about 1.50?</a:t>
            </a:r>
          </a:p>
        </p:txBody>
      </p:sp>
      <p:sp>
        <p:nvSpPr>
          <p:cNvPr id="21" name="Inclass q row 4"/>
          <p:cNvSpPr/>
          <p:nvPr/>
        </p:nvSpPr>
        <p:spPr>
          <a:xfrm>
            <a:off x="457200" y="3858768"/>
            <a:ext cx="8229600" cy="60350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nclass q number 4"/>
          <p:cNvSpPr/>
          <p:nvPr/>
        </p:nvSpPr>
        <p:spPr>
          <a:xfrm>
            <a:off x="594360" y="400507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3" name="Inclass q text 4"/>
          <p:cNvSpPr txBox="1"/>
          <p:nvPr/>
        </p:nvSpPr>
        <p:spPr>
          <a:xfrm>
            <a:off x="1051560" y="3858768"/>
            <a:ext cx="7498080" cy="603504"/>
          </a:xfrm>
          <a:prstGeom prst="rect">
            <a:avLst/>
          </a:prstGeom>
          <a:noFill/>
        </p:spPr>
        <p:txBody>
          <a:bodyPr wrap="square" lIns="0" rIns="0" tIns="0" bIns="0" anchor="ctr">
            <a:noAutofit/>
          </a:bodyPr>
          <a:lstStyle/>
          <a:p>
            <a:pPr algn="l">
              <a:spcAft>
                <a:spcPts val="400"/>
              </a:spcAft>
            </a:pPr>
            <a:r>
              <a:rPr sz="1200" b="1" lang="en-GB">
                <a:solidFill>
                  <a:schemeClr val="tx2"/>
                </a:solidFill>
              </a:rPr>
              <a:t>The manager: </a:t>
            </a:r>
            <a:r>
              <a:rPr sz="1200" b="0" lang="en-GB">
                <a:solidFill>
                  <a:schemeClr val="tx1"/>
                </a:solidFill>
              </a:rPr>
              <a:t>write one sentence for the brand manager, with a number and one caveat.</a:t>
            </a:r>
          </a:p>
        </p:txBody>
      </p:sp>
      <p:sp>
        <p:nvSpPr>
          <p:cNvPr id="24" name="Inclass file"/>
          <p:cNvSpPr txBox="1"/>
          <p:nvPr/>
        </p:nvSpPr>
        <p:spPr>
          <a:xfrm>
            <a:off x="457200" y="4572000"/>
            <a:ext cx="82296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File: </a:t>
            </a:r>
            <a:r>
              <a:rPr sz="1200" b="0" lang="en-GB">
                <a:solidFill>
                  <a:schemeClr val="tx2"/>
                </a:solidFill>
                <a:latin typeface="Consolas"/>
              </a:rPr>
              <a:t>sessions/01-foundations/regression_chocolate.qmd</a:t>
            </a:r>
            <a:r>
              <a:rPr sz="1200" b="0" lang="en-GB">
                <a:solidFill>
                  <a:schemeClr val="tx1"/>
                </a:solidFill>
              </a:rPr>
              <a:t>  (the code of Part 4 and these questions)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6 of 6 · individual, 5 % of the grade</a:t>
            </a:r>
          </a:p>
        </p:txBody>
      </p:sp>
      <p:sp>
        <p:nvSpPr>
          <p:cNvPr id="3" name="Title 2"/>
          <p:cNvSpPr>
            <a:spLocks noGrp="1"/>
          </p:cNvSpPr>
          <p:nvPr>
            <p:ph type="ctrTitle"/>
          </p:nvPr>
        </p:nvSpPr>
        <p:spPr/>
        <p:txBody>
          <a:bodyPr/>
          <a:lstStyle/>
          <a:p>
            <a:r>
              <a:rPr sz="1600" lang="en-GB"/>
              <a:t>Coding exercise 1</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Coding exercise 1: what to do</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Ex tasks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x tasks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Ex tasks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Explore: </a:t>
            </a:r>
            <a:r>
              <a:rPr sz="1200" b="0" lang="en-GB">
                <a:solidFill>
                  <a:schemeClr val="tx1"/>
                </a:solidFill>
              </a:rPr>
              <a:t>a great_tables summary and two plotnine charts: sales over time, sales against price1</a:t>
            </a:r>
          </a:p>
        </p:txBody>
      </p:sp>
      <p:sp>
        <p:nvSpPr>
          <p:cNvPr id="13" name="Ex tasks row 2"/>
          <p:cNvSpPr/>
          <p:nvPr/>
        </p:nvSpPr>
        <p:spPr>
          <a:xfrm>
            <a:off x="457200" y="181051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x tasks number 2"/>
          <p:cNvSpPr/>
          <p:nvPr/>
        </p:nvSpPr>
        <p:spPr>
          <a:xfrm>
            <a:off x="594360" y="19110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Ex tasks text 2"/>
          <p:cNvSpPr txBox="1"/>
          <p:nvPr/>
        </p:nvSpPr>
        <p:spPr>
          <a:xfrm>
            <a:off x="1051560" y="1810512"/>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Simple model: </a:t>
            </a:r>
            <a:r>
              <a:rPr sz="1200" b="0" lang="en-GB">
                <a:solidFill>
                  <a:schemeClr val="tx1"/>
                </a:solidFill>
              </a:rPr>
              <a:t>sales ~ price1; interpret the slope for a 10-cent price change</a:t>
            </a:r>
          </a:p>
        </p:txBody>
      </p:sp>
      <p:sp>
        <p:nvSpPr>
          <p:cNvPr id="16" name="Ex tasks row 3"/>
          <p:cNvSpPr/>
          <p:nvPr/>
        </p:nvSpPr>
        <p:spPr>
          <a:xfrm>
            <a:off x="457200" y="238658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x tasks number 3"/>
          <p:cNvSpPr/>
          <p:nvPr/>
        </p:nvSpPr>
        <p:spPr>
          <a:xfrm>
            <a:off x="594360" y="248716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Ex tasks text 3"/>
          <p:cNvSpPr txBox="1"/>
          <p:nvPr/>
        </p:nvSpPr>
        <p:spPr>
          <a:xfrm>
            <a:off x="1051560" y="2386584"/>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Log-log model: </a:t>
            </a:r>
            <a:r>
              <a:rPr sz="1200" b="0" lang="en-GB">
                <a:solidFill>
                  <a:schemeClr val="tx1"/>
                </a:solidFill>
              </a:rPr>
              <a:t>own and competitor prices, feature1, display1, temp, december; interpret 3 coefficients</a:t>
            </a:r>
          </a:p>
        </p:txBody>
      </p:sp>
      <p:sp>
        <p:nvSpPr>
          <p:cNvPr id="19" name="Ex tasks row 4"/>
          <p:cNvSpPr/>
          <p:nvPr/>
        </p:nvSpPr>
        <p:spPr>
          <a:xfrm>
            <a:off x="457200" y="2962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x tasks number 4"/>
          <p:cNvSpPr/>
          <p:nvPr/>
        </p:nvSpPr>
        <p:spPr>
          <a:xfrm>
            <a:off x="594360" y="3063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Ex tasks text 4"/>
          <p:cNvSpPr txBox="1"/>
          <p:nvPr/>
        </p:nvSpPr>
        <p:spPr>
          <a:xfrm>
            <a:off x="1051560" y="2962656"/>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Assumptions: </a:t>
            </a:r>
            <a:r>
              <a:rPr sz="1200" b="0" lang="en-GB">
                <a:solidFill>
                  <a:schemeClr val="tx1"/>
                </a:solidFill>
              </a:rPr>
              <a:t>residual plot, histogram, Durbin-Watson, Breusch-Pagan, Jarque-Bera, VIF; one sentence each</a:t>
            </a:r>
          </a:p>
        </p:txBody>
      </p:sp>
      <p:sp>
        <p:nvSpPr>
          <p:cNvPr id="22" name="Ex tasks row 5"/>
          <p:cNvSpPr/>
          <p:nvPr/>
        </p:nvSpPr>
        <p:spPr>
          <a:xfrm>
            <a:off x="457200" y="353872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x tasks number 5"/>
          <p:cNvSpPr/>
          <p:nvPr/>
        </p:nvSpPr>
        <p:spPr>
          <a:xfrm>
            <a:off x="594360" y="36393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Ex tasks text 5"/>
          <p:cNvSpPr txBox="1"/>
          <p:nvPr/>
        </p:nvSpPr>
        <p:spPr>
          <a:xfrm>
            <a:off x="1051560" y="3538728"/>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Robust errors: </a:t>
            </a:r>
            <a:r>
              <a:rPr sz="1200" b="0" lang="en-GB">
                <a:solidFill>
                  <a:schemeClr val="tx1"/>
                </a:solidFill>
              </a:rPr>
              <a:t>refit with HAC standard errors; what changes and what does not?</a:t>
            </a:r>
          </a:p>
        </p:txBody>
      </p:sp>
      <p:sp>
        <p:nvSpPr>
          <p:cNvPr id="25" name="Ex tasks row 6"/>
          <p:cNvSpPr/>
          <p:nvPr/>
        </p:nvSpPr>
        <p:spPr>
          <a:xfrm>
            <a:off x="457200" y="411480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x tasks number 6"/>
          <p:cNvSpPr/>
          <p:nvPr/>
        </p:nvSpPr>
        <p:spPr>
          <a:xfrm>
            <a:off x="594360" y="421538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6</a:t>
            </a:r>
          </a:p>
        </p:txBody>
      </p:sp>
      <p:sp>
        <p:nvSpPr>
          <p:cNvPr id="27" name="Ex tasks text 6"/>
          <p:cNvSpPr txBox="1"/>
          <p:nvPr/>
        </p:nvSpPr>
        <p:spPr>
          <a:xfrm>
            <a:off x="1051560" y="411480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Recommend: </a:t>
            </a:r>
            <a:r>
              <a:rPr sz="1200" b="0" lang="en-GB">
                <a:solidFill>
                  <a:schemeClr val="tx1"/>
                </a:solidFill>
              </a:rPr>
              <a:t>the optimal price for marginal cost 0.90, with two caveats, in at most 100 words</a:t>
            </a:r>
          </a:p>
        </p:txBody>
      </p:sp>
      <p:sp>
        <p:nvSpPr>
          <p:cNvPr id="28" name="Ex data"/>
          <p:cNvSpPr txBox="1"/>
          <p:nvPr/>
        </p:nvSpPr>
        <p:spPr>
          <a:xfrm>
            <a:off x="457200" y="4709160"/>
            <a:ext cx="82296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Brief: </a:t>
            </a:r>
            <a:r>
              <a:rPr sz="1200" b="0" lang="en-GB">
                <a:solidFill>
                  <a:schemeClr val="tx2"/>
                </a:solidFill>
                <a:latin typeface="Consolas"/>
              </a:rPr>
              <a:t>exercises/exercise-1.qmd</a:t>
            </a:r>
            <a:r>
              <a:rPr sz="1200" b="0" lang="en-GB">
                <a:solidFill>
                  <a:schemeClr val="tx1"/>
                </a:solidFill>
              </a:rPr>
              <a:t>  in the course repository and on Canvas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Coding exercise 1: submission and grading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Ex submit body"/>
          <p:cNvSpPr/>
          <p:nvPr/>
        </p:nvSpPr>
        <p:spPr>
          <a:xfrm>
            <a:off x="457200" y="1645920"/>
            <a:ext cx="404622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x submit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x submit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Submit on Canvas</a:t>
            </a:r>
          </a:p>
        </p:txBody>
      </p:sp>
      <p:pic>
        <p:nvPicPr>
          <p:cNvPr id="13" name="Icon Ex submit" descr=""/>
          <p:cNvPicPr>
            <a:picLocks noChangeAspect="1"/>
          </p:cNvPicPr>
          <p:nvPr/>
        </p:nvPicPr>
        <p:blipFill>
          <a:blip r:embed="rId3"/>
          <a:stretch>
            <a:fillRect/>
          </a:stretch>
        </p:blipFill>
        <p:spPr>
          <a:xfrm>
            <a:off x="4064508" y="1284732"/>
            <a:ext cx="310896" cy="310896"/>
          </a:xfrm>
          <a:prstGeom prst="rect">
            <a:avLst/>
          </a:prstGeom>
        </p:spPr>
      </p:pic>
      <p:sp>
        <p:nvSpPr>
          <p:cNvPr id="14" name="Ex submit text"/>
          <p:cNvSpPr txBox="1"/>
          <p:nvPr/>
        </p:nvSpPr>
        <p:spPr>
          <a:xfrm>
            <a:off x="621792" y="1783080"/>
            <a:ext cx="374446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exercise1_lastname.qmd and the rendered .html</a:t>
            </a:r>
          </a:p>
          <a:p>
            <a:pPr algn="l" marL="182880" indent="-182880">
              <a:spcAft>
                <a:spcPts val="600"/>
              </a:spcAft>
              <a:buClr>
                <a:schemeClr val="accent1"/>
              </a:buClr>
              <a:buFont typeface="Arial"/>
              <a:buChar char="▪"/>
            </a:pPr>
            <a:r>
              <a:rPr sz="1300" b="0" lang="en-GB">
                <a:solidFill>
                  <a:schemeClr val="tx1"/>
                </a:solidFill>
              </a:rPr>
              <a:t>Renders from top to bottom without errors</a:t>
            </a:r>
          </a:p>
          <a:p>
            <a:pPr algn="l" marL="182880" indent="-182880">
              <a:spcAft>
                <a:spcPts val="600"/>
              </a:spcAft>
              <a:buClr>
                <a:schemeClr val="accent1"/>
              </a:buClr>
              <a:buFont typeface="Arial"/>
              <a:buChar char="▪"/>
            </a:pPr>
            <a:r>
              <a:rPr sz="1300" b="0" lang="en-GB">
                <a:solidFill>
                  <a:schemeClr val="tx1"/>
                </a:solidFill>
              </a:rPr>
              <a:t>Every number in the text from code</a:t>
            </a:r>
          </a:p>
          <a:p>
            <a:pPr algn="l" marL="182880" indent="-182880">
              <a:spcAft>
                <a:spcPts val="600"/>
              </a:spcAft>
              <a:buClr>
                <a:schemeClr val="accent1"/>
              </a:buClr>
              <a:buFont typeface="Arial"/>
              <a:buChar char="▪"/>
            </a:pPr>
            <a:r>
              <a:rPr sz="1300" b="0" lang="en-GB">
                <a:solidFill>
                  <a:schemeClr val="tx1"/>
                </a:solidFill>
              </a:rPr>
              <a:t>Prompt log at the end: what you asked, what you changed</a:t>
            </a:r>
          </a:p>
          <a:p>
            <a:pPr algn="l" marL="182880" indent="-182880">
              <a:spcAft>
                <a:spcPts val="600"/>
              </a:spcAft>
              <a:buClr>
                <a:schemeClr val="accent1"/>
              </a:buClr>
              <a:buFont typeface="Arial"/>
              <a:buChar char="▪"/>
            </a:pPr>
            <a:r>
              <a:rPr sz="1300" b="0" lang="en-GB">
                <a:solidFill>
                  <a:schemeClr val="tx1"/>
                </a:solidFill>
              </a:rPr>
              <a:t>Deadline: see Canvas</a:t>
            </a:r>
          </a:p>
        </p:txBody>
      </p:sp>
      <p:sp>
        <p:nvSpPr>
          <p:cNvPr id="15" name="Ex grid 1-1"/>
          <p:cNvSpPr/>
          <p:nvPr/>
        </p:nvSpPr>
        <p:spPr>
          <a:xfrm>
            <a:off x="4640580" y="1234440"/>
            <a:ext cx="303580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Ex grid text 1-1"/>
          <p:cNvSpPr txBox="1"/>
          <p:nvPr/>
        </p:nvSpPr>
        <p:spPr>
          <a:xfrm>
            <a:off x="4732020" y="1234440"/>
            <a:ext cx="2852928" cy="329184"/>
          </a:xfrm>
          <a:prstGeom prst="rect">
            <a:avLst/>
          </a:prstGeom>
          <a:noFill/>
        </p:spPr>
        <p:txBody>
          <a:bodyPr wrap="square" lIns="0" rIns="0" tIns="0" bIns="0" anchor="ctr">
            <a:noAutofit/>
          </a:bodyPr>
          <a:lstStyle/>
          <a:p>
            <a:pPr algn="l">
              <a:spcAft>
                <a:spcPts val="400"/>
              </a:spcAft>
            </a:pPr>
            <a:r>
              <a:rPr sz="1200" b="1" lang="en-GB">
                <a:solidFill>
                  <a:schemeClr val="bg1"/>
                </a:solidFill>
              </a:rPr>
              <a:t>Criterion</a:t>
            </a:r>
          </a:p>
        </p:txBody>
      </p:sp>
      <p:sp>
        <p:nvSpPr>
          <p:cNvPr id="17" name="Ex grid 1-2"/>
          <p:cNvSpPr/>
          <p:nvPr/>
        </p:nvSpPr>
        <p:spPr>
          <a:xfrm>
            <a:off x="7703820" y="1234440"/>
            <a:ext cx="960120"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Ex grid text 1-2"/>
          <p:cNvSpPr txBox="1"/>
          <p:nvPr/>
        </p:nvSpPr>
        <p:spPr>
          <a:xfrm>
            <a:off x="7795260" y="1234440"/>
            <a:ext cx="777240" cy="329184"/>
          </a:xfrm>
          <a:prstGeom prst="rect">
            <a:avLst/>
          </a:prstGeom>
          <a:noFill/>
        </p:spPr>
        <p:txBody>
          <a:bodyPr wrap="square" lIns="0" rIns="0" tIns="0" bIns="0" anchor="ctr">
            <a:noAutofit/>
          </a:bodyPr>
          <a:lstStyle/>
          <a:p>
            <a:pPr algn="l">
              <a:spcAft>
                <a:spcPts val="400"/>
              </a:spcAft>
            </a:pPr>
            <a:r>
              <a:rPr sz="1200" b="1" lang="en-GB">
                <a:solidFill>
                  <a:schemeClr val="bg1"/>
                </a:solidFill>
              </a:rPr>
              <a:t>Points</a:t>
            </a:r>
          </a:p>
        </p:txBody>
      </p:sp>
      <p:sp>
        <p:nvSpPr>
          <p:cNvPr id="19" name="Ex grid 2-1"/>
          <p:cNvSpPr/>
          <p:nvPr/>
        </p:nvSpPr>
        <p:spPr>
          <a:xfrm>
            <a:off x="4640580" y="1591056"/>
            <a:ext cx="3035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x grid text 2-1"/>
          <p:cNvSpPr txBox="1"/>
          <p:nvPr/>
        </p:nvSpPr>
        <p:spPr>
          <a:xfrm>
            <a:off x="4732020" y="1591056"/>
            <a:ext cx="285292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Code runs, charts and tables clean</a:t>
            </a:r>
          </a:p>
        </p:txBody>
      </p:sp>
      <p:sp>
        <p:nvSpPr>
          <p:cNvPr id="21" name="Ex grid 2-2"/>
          <p:cNvSpPr/>
          <p:nvPr/>
        </p:nvSpPr>
        <p:spPr>
          <a:xfrm>
            <a:off x="7703820" y="1591056"/>
            <a:ext cx="9601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Ex grid text 2-2"/>
          <p:cNvSpPr txBox="1"/>
          <p:nvPr/>
        </p:nvSpPr>
        <p:spPr>
          <a:xfrm>
            <a:off x="7795260" y="1591056"/>
            <a:ext cx="777240" cy="329184"/>
          </a:xfrm>
          <a:prstGeom prst="rect">
            <a:avLst/>
          </a:prstGeom>
          <a:noFill/>
        </p:spPr>
        <p:txBody>
          <a:bodyPr wrap="square" lIns="0" rIns="0" tIns="0" bIns="0" anchor="ctr">
            <a:noAutofit/>
          </a:bodyPr>
          <a:lstStyle/>
          <a:p>
            <a:pPr algn="l">
              <a:spcAft>
                <a:spcPts val="400"/>
              </a:spcAft>
            </a:pPr>
            <a:r>
              <a:rPr sz="1200" b="0" lang="en-GB">
                <a:solidFill>
                  <a:schemeClr val="tx1"/>
                </a:solidFill>
              </a:rPr>
              <a:t>5</a:t>
            </a:r>
          </a:p>
        </p:txBody>
      </p:sp>
      <p:sp>
        <p:nvSpPr>
          <p:cNvPr id="23" name="Ex grid 3-1"/>
          <p:cNvSpPr/>
          <p:nvPr/>
        </p:nvSpPr>
        <p:spPr>
          <a:xfrm>
            <a:off x="4640580" y="1947672"/>
            <a:ext cx="3035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x grid text 3-1"/>
          <p:cNvSpPr txBox="1"/>
          <p:nvPr/>
        </p:nvSpPr>
        <p:spPr>
          <a:xfrm>
            <a:off x="4732020" y="1947672"/>
            <a:ext cx="285292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Interpretation of the coefficients</a:t>
            </a:r>
          </a:p>
        </p:txBody>
      </p:sp>
      <p:sp>
        <p:nvSpPr>
          <p:cNvPr id="25" name="Ex grid 3-2"/>
          <p:cNvSpPr/>
          <p:nvPr/>
        </p:nvSpPr>
        <p:spPr>
          <a:xfrm>
            <a:off x="7703820" y="1947672"/>
            <a:ext cx="9601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x grid text 3-2"/>
          <p:cNvSpPr txBox="1"/>
          <p:nvPr/>
        </p:nvSpPr>
        <p:spPr>
          <a:xfrm>
            <a:off x="7795260" y="1947672"/>
            <a:ext cx="777240" cy="329184"/>
          </a:xfrm>
          <a:prstGeom prst="rect">
            <a:avLst/>
          </a:prstGeom>
          <a:noFill/>
        </p:spPr>
        <p:txBody>
          <a:bodyPr wrap="square" lIns="0" rIns="0" tIns="0" bIns="0" anchor="ctr">
            <a:noAutofit/>
          </a:bodyPr>
          <a:lstStyle/>
          <a:p>
            <a:pPr algn="l">
              <a:spcAft>
                <a:spcPts val="400"/>
              </a:spcAft>
            </a:pPr>
            <a:r>
              <a:rPr sz="1200" b="0" lang="en-GB">
                <a:solidFill>
                  <a:schemeClr val="tx1"/>
                </a:solidFill>
              </a:rPr>
              <a:t>6</a:t>
            </a:r>
          </a:p>
        </p:txBody>
      </p:sp>
      <p:sp>
        <p:nvSpPr>
          <p:cNvPr id="27" name="Ex grid 4-1"/>
          <p:cNvSpPr/>
          <p:nvPr/>
        </p:nvSpPr>
        <p:spPr>
          <a:xfrm>
            <a:off x="4640580" y="2304288"/>
            <a:ext cx="3035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Ex grid text 4-1"/>
          <p:cNvSpPr txBox="1"/>
          <p:nvPr/>
        </p:nvSpPr>
        <p:spPr>
          <a:xfrm>
            <a:off x="4732020" y="2304288"/>
            <a:ext cx="285292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Assumption checks and conclusion</a:t>
            </a:r>
          </a:p>
        </p:txBody>
      </p:sp>
      <p:sp>
        <p:nvSpPr>
          <p:cNvPr id="29" name="Ex grid 4-2"/>
          <p:cNvSpPr/>
          <p:nvPr/>
        </p:nvSpPr>
        <p:spPr>
          <a:xfrm>
            <a:off x="7703820" y="2304288"/>
            <a:ext cx="9601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Ex grid text 4-2"/>
          <p:cNvSpPr txBox="1"/>
          <p:nvPr/>
        </p:nvSpPr>
        <p:spPr>
          <a:xfrm>
            <a:off x="7795260" y="2304288"/>
            <a:ext cx="777240" cy="329184"/>
          </a:xfrm>
          <a:prstGeom prst="rect">
            <a:avLst/>
          </a:prstGeom>
          <a:noFill/>
        </p:spPr>
        <p:txBody>
          <a:bodyPr wrap="square" lIns="0" rIns="0" tIns="0" bIns="0" anchor="ctr">
            <a:noAutofit/>
          </a:bodyPr>
          <a:lstStyle/>
          <a:p>
            <a:pPr algn="l">
              <a:spcAft>
                <a:spcPts val="400"/>
              </a:spcAft>
            </a:pPr>
            <a:r>
              <a:rPr sz="1200" b="0" lang="en-GB">
                <a:solidFill>
                  <a:schemeClr val="tx1"/>
                </a:solidFill>
              </a:rPr>
              <a:t>5</a:t>
            </a:r>
          </a:p>
        </p:txBody>
      </p:sp>
      <p:sp>
        <p:nvSpPr>
          <p:cNvPr id="31" name="Ex grid 5-1"/>
          <p:cNvSpPr/>
          <p:nvPr/>
        </p:nvSpPr>
        <p:spPr>
          <a:xfrm>
            <a:off x="4640580" y="2660904"/>
            <a:ext cx="3035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Ex grid text 5-1"/>
          <p:cNvSpPr txBox="1"/>
          <p:nvPr/>
        </p:nvSpPr>
        <p:spPr>
          <a:xfrm>
            <a:off x="4732020" y="2660904"/>
            <a:ext cx="285292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Recommendation with caveats</a:t>
            </a:r>
          </a:p>
        </p:txBody>
      </p:sp>
      <p:sp>
        <p:nvSpPr>
          <p:cNvPr id="33" name="Ex grid 5-2"/>
          <p:cNvSpPr/>
          <p:nvPr/>
        </p:nvSpPr>
        <p:spPr>
          <a:xfrm>
            <a:off x="7703820" y="2660904"/>
            <a:ext cx="9601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Ex grid text 5-2"/>
          <p:cNvSpPr txBox="1"/>
          <p:nvPr/>
        </p:nvSpPr>
        <p:spPr>
          <a:xfrm>
            <a:off x="7795260" y="2660904"/>
            <a:ext cx="777240" cy="329184"/>
          </a:xfrm>
          <a:prstGeom prst="rect">
            <a:avLst/>
          </a:prstGeom>
          <a:noFill/>
        </p:spPr>
        <p:txBody>
          <a:bodyPr wrap="square" lIns="0" rIns="0" tIns="0" bIns="0" anchor="ctr">
            <a:noAutofit/>
          </a:bodyPr>
          <a:lstStyle/>
          <a:p>
            <a:pPr algn="l">
              <a:spcAft>
                <a:spcPts val="400"/>
              </a:spcAft>
            </a:pPr>
            <a:r>
              <a:rPr sz="1200" b="0" lang="en-GB">
                <a:solidFill>
                  <a:schemeClr val="tx1"/>
                </a:solidFill>
              </a:rPr>
              <a:t>2</a:t>
            </a:r>
          </a:p>
        </p:txBody>
      </p:sp>
      <p:sp>
        <p:nvSpPr>
          <p:cNvPr id="35" name="Ex grid 6-1"/>
          <p:cNvSpPr/>
          <p:nvPr/>
        </p:nvSpPr>
        <p:spPr>
          <a:xfrm>
            <a:off x="4640580" y="3017520"/>
            <a:ext cx="3035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Ex grid text 6-1"/>
          <p:cNvSpPr txBox="1"/>
          <p:nvPr/>
        </p:nvSpPr>
        <p:spPr>
          <a:xfrm>
            <a:off x="4732020" y="3017520"/>
            <a:ext cx="285292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Prompt log</a:t>
            </a:r>
          </a:p>
        </p:txBody>
      </p:sp>
      <p:sp>
        <p:nvSpPr>
          <p:cNvPr id="37" name="Ex grid 6-2"/>
          <p:cNvSpPr/>
          <p:nvPr/>
        </p:nvSpPr>
        <p:spPr>
          <a:xfrm>
            <a:off x="7703820" y="3017520"/>
            <a:ext cx="9601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Ex grid text 6-2"/>
          <p:cNvSpPr txBox="1"/>
          <p:nvPr/>
        </p:nvSpPr>
        <p:spPr>
          <a:xfrm>
            <a:off x="7795260" y="3017520"/>
            <a:ext cx="777240" cy="329184"/>
          </a:xfrm>
          <a:prstGeom prst="rect">
            <a:avLst/>
          </a:prstGeom>
          <a:noFill/>
        </p:spPr>
        <p:txBody>
          <a:bodyPr wrap="square" lIns="0" rIns="0" tIns="0" bIns="0" anchor="ctr">
            <a:noAutofit/>
          </a:bodyPr>
          <a:lstStyle/>
          <a:p>
            <a:pPr algn="l">
              <a:spcAft>
                <a:spcPts val="400"/>
              </a:spcAft>
            </a:pPr>
            <a:r>
              <a:rPr sz="1200" b="0" lang="en-GB">
                <a:solidFill>
                  <a:schemeClr val="tx1"/>
                </a:solidFill>
              </a:rPr>
              <a:t>2</a:t>
            </a:r>
          </a:p>
        </p:txBody>
      </p:sp>
      <p:sp>
        <p:nvSpPr>
          <p:cNvPr id="39" name="Ex grid 7-1"/>
          <p:cNvSpPr/>
          <p:nvPr/>
        </p:nvSpPr>
        <p:spPr>
          <a:xfrm>
            <a:off x="4640580" y="3374136"/>
            <a:ext cx="3035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Ex grid text 7-1"/>
          <p:cNvSpPr txBox="1"/>
          <p:nvPr/>
        </p:nvSpPr>
        <p:spPr>
          <a:xfrm>
            <a:off x="4732020" y="3374136"/>
            <a:ext cx="285292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Total (5 % of the grade)</a:t>
            </a:r>
          </a:p>
        </p:txBody>
      </p:sp>
      <p:sp>
        <p:nvSpPr>
          <p:cNvPr id="41" name="Ex grid 7-2"/>
          <p:cNvSpPr/>
          <p:nvPr/>
        </p:nvSpPr>
        <p:spPr>
          <a:xfrm>
            <a:off x="7703820" y="3374136"/>
            <a:ext cx="9601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Ex grid text 7-2"/>
          <p:cNvSpPr txBox="1"/>
          <p:nvPr/>
        </p:nvSpPr>
        <p:spPr>
          <a:xfrm>
            <a:off x="7795260" y="3374136"/>
            <a:ext cx="777240" cy="329184"/>
          </a:xfrm>
          <a:prstGeom prst="rect">
            <a:avLst/>
          </a:prstGeom>
          <a:noFill/>
        </p:spPr>
        <p:txBody>
          <a:bodyPr wrap="square" lIns="0" rIns="0" tIns="0" bIns="0" anchor="ctr">
            <a:noAutofit/>
          </a:bodyPr>
          <a:lstStyle/>
          <a:p>
            <a:pPr algn="l">
              <a:spcAft>
                <a:spcPts val="400"/>
              </a:spcAft>
            </a:pPr>
            <a:r>
              <a:rPr sz="1200" b="0" lang="en-GB">
                <a:solidFill>
                  <a:schemeClr val="tx1"/>
                </a:solidFill>
              </a:rPr>
              <a:t>20</a:t>
            </a:r>
          </a:p>
        </p:txBody>
      </p:sp>
      <p:sp>
        <p:nvSpPr>
          <p:cNvPr id="43" name="Ex rules box"/>
          <p:cNvSpPr/>
          <p:nvPr/>
        </p:nvSpPr>
        <p:spPr>
          <a:xfrm>
            <a:off x="457200" y="393192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Icon Ex rules" descr=""/>
          <p:cNvPicPr>
            <a:picLocks noChangeAspect="1"/>
          </p:cNvPicPr>
          <p:nvPr/>
        </p:nvPicPr>
        <p:blipFill>
          <a:blip r:embed="rId4"/>
          <a:stretch>
            <a:fillRect/>
          </a:stretch>
        </p:blipFill>
        <p:spPr>
          <a:xfrm>
            <a:off x="658368" y="4114800"/>
            <a:ext cx="365760" cy="365760"/>
          </a:xfrm>
          <a:prstGeom prst="rect">
            <a:avLst/>
          </a:prstGeom>
        </p:spPr>
      </p:pic>
      <p:sp>
        <p:nvSpPr>
          <p:cNvPr id="45" name="Ex rules text"/>
          <p:cNvSpPr txBox="1"/>
          <p:nvPr/>
        </p:nvSpPr>
        <p:spPr>
          <a:xfrm>
            <a:off x="1207008" y="393192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Individual work: </a:t>
            </a:r>
            <a:r>
              <a:rPr sz="1200" b="0" lang="en-GB">
                <a:solidFill>
                  <a:schemeClr val="bg1"/>
                </a:solidFill>
              </a:rPr>
              <a:t>discuss ideas, but write and check your own code. AI assistants are allowed; you own every number.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Key takeaways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akeaways row 1"/>
          <p:cNvSpPr/>
          <p:nvPr/>
        </p:nvSpPr>
        <p:spPr>
          <a:xfrm>
            <a:off x="457200" y="1234440"/>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akeaways number 1"/>
          <p:cNvSpPr/>
          <p:nvPr/>
        </p:nvSpPr>
        <p:spPr>
          <a:xfrm>
            <a:off x="594360" y="137160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Takeaways text 1"/>
          <p:cNvSpPr txBox="1"/>
          <p:nvPr/>
        </p:nvSpPr>
        <p:spPr>
          <a:xfrm>
            <a:off x="1051560" y="1234440"/>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OLS </a:t>
            </a:r>
            <a:r>
              <a:rPr sz="1200" b="0" lang="en-GB">
                <a:solidFill>
                  <a:schemeClr val="tx1"/>
                </a:solidFill>
              </a:rPr>
              <a:t>draws the line with the smallest squared errors; each b holds the other variables constant</a:t>
            </a:r>
          </a:p>
        </p:txBody>
      </p:sp>
      <p:sp>
        <p:nvSpPr>
          <p:cNvPr id="13" name="Takeaways row 2"/>
          <p:cNvSpPr/>
          <p:nvPr/>
        </p:nvSpPr>
        <p:spPr>
          <a:xfrm>
            <a:off x="457200" y="1901952"/>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akeaways number 2"/>
          <p:cNvSpPr/>
          <p:nvPr/>
        </p:nvSpPr>
        <p:spPr>
          <a:xfrm>
            <a:off x="594360" y="20391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Takeaways text 2"/>
          <p:cNvSpPr txBox="1"/>
          <p:nvPr/>
        </p:nvSpPr>
        <p:spPr>
          <a:xfrm>
            <a:off x="1051560" y="1901952"/>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Logs </a:t>
            </a:r>
            <a:r>
              <a:rPr sz="1200" b="0" lang="en-GB">
                <a:solidFill>
                  <a:schemeClr val="tx1"/>
                </a:solidFill>
              </a:rPr>
              <a:t>turn coefficients into elasticities: brand 1, −3.64</a:t>
            </a:r>
          </a:p>
        </p:txBody>
      </p:sp>
      <p:sp>
        <p:nvSpPr>
          <p:cNvPr id="16" name="Takeaways row 3"/>
          <p:cNvSpPr/>
          <p:nvPr/>
        </p:nvSpPr>
        <p:spPr>
          <a:xfrm>
            <a:off x="457200" y="2569464"/>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akeaways number 3"/>
          <p:cNvSpPr/>
          <p:nvPr/>
        </p:nvSpPr>
        <p:spPr>
          <a:xfrm>
            <a:off x="594360" y="27066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Takeaways text 3"/>
          <p:cNvSpPr txBox="1"/>
          <p:nvPr/>
        </p:nvSpPr>
        <p:spPr>
          <a:xfrm>
            <a:off x="1051560" y="2569464"/>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Look, then test: </a:t>
            </a:r>
            <a:r>
              <a:rPr sz="1200" b="0" lang="en-GB">
                <a:solidFill>
                  <a:schemeClr val="tx1"/>
                </a:solidFill>
              </a:rPr>
              <a:t>residual plots, Durbin-Watson, Breusch-Pagan, Jarque-Bera, VIF</a:t>
            </a:r>
          </a:p>
        </p:txBody>
      </p:sp>
      <p:sp>
        <p:nvSpPr>
          <p:cNvPr id="19" name="Takeaways row 4"/>
          <p:cNvSpPr/>
          <p:nvPr/>
        </p:nvSpPr>
        <p:spPr>
          <a:xfrm>
            <a:off x="457200" y="3236976"/>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akeaways number 4"/>
          <p:cNvSpPr/>
          <p:nvPr/>
        </p:nvSpPr>
        <p:spPr>
          <a:xfrm>
            <a:off x="594360" y="33741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Takeaways text 4"/>
          <p:cNvSpPr txBox="1"/>
          <p:nvPr/>
        </p:nvSpPr>
        <p:spPr>
          <a:xfrm>
            <a:off x="1051560" y="3236976"/>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Fix what fails: </a:t>
            </a:r>
            <a:r>
              <a:rPr sz="1200" b="0" lang="en-GB">
                <a:solidFill>
                  <a:schemeClr val="tx1"/>
                </a:solidFill>
              </a:rPr>
              <a:t>robust or HAC errors, better form, more variation; experiments for causality</a:t>
            </a:r>
          </a:p>
        </p:txBody>
      </p:sp>
      <p:sp>
        <p:nvSpPr>
          <p:cNvPr id="22" name="Takeaways row 5"/>
          <p:cNvSpPr/>
          <p:nvPr/>
        </p:nvSpPr>
        <p:spPr>
          <a:xfrm>
            <a:off x="457200" y="3904488"/>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akeaways number 5"/>
          <p:cNvSpPr/>
          <p:nvPr/>
        </p:nvSpPr>
        <p:spPr>
          <a:xfrm>
            <a:off x="594360" y="404164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Takeaways text 5"/>
          <p:cNvSpPr txBox="1"/>
          <p:nvPr/>
        </p:nvSpPr>
        <p:spPr>
          <a:xfrm>
            <a:off x="1051560" y="3904488"/>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Decide: </a:t>
            </a:r>
            <a:r>
              <a:rPr sz="1200" b="0" lang="en-GB">
                <a:solidFill>
                  <a:schemeClr val="tx1"/>
                </a:solidFill>
              </a:rPr>
              <a:t>p* = cost × ε / (1 + ε), with the caveats</a:t>
            </a:r>
          </a:p>
        </p:txBody>
      </p:sp>
      <p:sp>
        <p:nvSpPr>
          <p:cNvPr id="25" name="Takeaway next box"/>
          <p:cNvSpPr/>
          <p:nvPr/>
        </p:nvSpPr>
        <p:spPr>
          <a:xfrm>
            <a:off x="457200" y="45720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Takeaway next" descr=""/>
          <p:cNvPicPr>
            <a:picLocks noChangeAspect="1"/>
          </p:cNvPicPr>
          <p:nvPr/>
        </p:nvPicPr>
        <p:blipFill>
          <a:blip r:embed="rId3"/>
          <a:stretch>
            <a:fillRect/>
          </a:stretch>
        </p:blipFill>
        <p:spPr>
          <a:xfrm>
            <a:off x="658368" y="4617720"/>
            <a:ext cx="365760" cy="365760"/>
          </a:xfrm>
          <a:prstGeom prst="rect">
            <a:avLst/>
          </a:prstGeom>
        </p:spPr>
      </p:pic>
      <p:sp>
        <p:nvSpPr>
          <p:cNvPr id="27" name="Takeaway next text"/>
          <p:cNvSpPr txBox="1"/>
          <p:nvPr/>
        </p:nvSpPr>
        <p:spPr>
          <a:xfrm>
            <a:off x="1207008" y="4572000"/>
            <a:ext cx="73152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Next session: </a:t>
            </a:r>
            <a:r>
              <a:rPr sz="1200" b="0" lang="en-GB">
                <a:solidFill>
                  <a:schemeClr val="bg1"/>
                </a:solidFill>
              </a:rPr>
              <a:t>the marketing mix model, a regression with adstock and saturation.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References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f 1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 1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Academic</a:t>
            </a:r>
          </a:p>
        </p:txBody>
      </p:sp>
      <p:pic>
        <p:nvPicPr>
          <p:cNvPr id="12" name="Icon ref 1" descr=""/>
          <p:cNvPicPr>
            <a:picLocks noChangeAspect="1"/>
          </p:cNvPicPr>
          <p:nvPr/>
        </p:nvPicPr>
        <p:blipFill>
          <a:blip r:embed="rId3"/>
          <a:stretch>
            <a:fillRect/>
          </a:stretch>
        </p:blipFill>
        <p:spPr>
          <a:xfrm>
            <a:off x="4064508" y="1280160"/>
            <a:ext cx="310896" cy="310896"/>
          </a:xfrm>
          <a:prstGeom prst="rect">
            <a:avLst/>
          </a:prstGeom>
        </p:spPr>
      </p:pic>
      <p:sp>
        <p:nvSpPr>
          <p:cNvPr id="13" name="Ref 1 body"/>
          <p:cNvSpPr/>
          <p:nvPr/>
        </p:nvSpPr>
        <p:spPr>
          <a:xfrm>
            <a:off x="457200" y="1645920"/>
            <a:ext cx="4046220" cy="3429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f 1 text"/>
          <p:cNvSpPr txBox="1"/>
          <p:nvPr/>
        </p:nvSpPr>
        <p:spPr>
          <a:xfrm>
            <a:off x="621792" y="1737360"/>
            <a:ext cx="3744468" cy="3291840"/>
          </a:xfrm>
          <a:prstGeom prst="rect">
            <a:avLst/>
          </a:prstGeom>
          <a:noFill/>
        </p:spPr>
        <p:txBody>
          <a:bodyPr wrap="square" lIns="0" rIns="0" tIns="0" bIns="0" anchor="t">
            <a:noAutofit/>
          </a:bodyPr>
          <a:lstStyle/>
          <a:p>
            <a:pPr algn="l">
              <a:spcAft>
                <a:spcPts val="500"/>
              </a:spcAft>
            </a:pPr>
            <a:r>
              <a:rPr sz="1100" b="1" lang="en-GB">
                <a:solidFill>
                  <a:schemeClr val="tx2"/>
                </a:solidFill>
              </a:rPr>
              <a:t>Bojinov, I. I., Parzen, M. &amp; Hamilton, P. J. (2025). </a:t>
            </a:r>
            <a:r>
              <a:rPr sz="1100" b="0" lang="en-GB">
                <a:solidFill>
                  <a:schemeClr val="tx1"/>
                </a:solidFill>
              </a:rPr>
              <a:t>Linear Regression. HBS note 9-622-100 (Canvas).</a:t>
            </a:r>
          </a:p>
          <a:p>
            <a:pPr algn="l">
              <a:spcAft>
                <a:spcPts val="500"/>
              </a:spcAft>
            </a:pPr>
            <a:r>
              <a:rPr sz="1100" b="1" lang="en-GB">
                <a:solidFill>
                  <a:schemeClr val="tx2"/>
                </a:solidFill>
              </a:rPr>
              <a:t>Skiera, B., Reiner, J. &amp; Albers, S. (2022). </a:t>
            </a:r>
            <a:r>
              <a:rPr sz="1100" b="0" lang="en-GB">
                <a:solidFill>
                  <a:schemeClr val="tx1"/>
                </a:solidFill>
              </a:rPr>
              <a:t>Regression analysis. In Homburg et al. (eds), Handbook of Market Research, 299–327. Springer.</a:t>
            </a:r>
          </a:p>
          <a:p>
            <a:pPr algn="l">
              <a:spcAft>
                <a:spcPts val="500"/>
              </a:spcAft>
            </a:pPr>
            <a:r>
              <a:rPr sz="1100" b="1" lang="en-GB">
                <a:solidFill>
                  <a:schemeClr val="tx2"/>
                </a:solidFill>
              </a:rPr>
              <a:t>Wooldridge, J. M. (2025). </a:t>
            </a:r>
            <a:r>
              <a:rPr sz="1100" b="0" lang="en-GB">
                <a:solidFill>
                  <a:schemeClr val="tx1"/>
                </a:solidFill>
              </a:rPr>
              <a:t>Introductory Econometrics, 8th ed. Cengage.</a:t>
            </a:r>
          </a:p>
          <a:p>
            <a:pPr algn="l">
              <a:spcAft>
                <a:spcPts val="500"/>
              </a:spcAft>
            </a:pPr>
            <a:r>
              <a:rPr sz="1100" b="1" lang="en-GB">
                <a:solidFill>
                  <a:schemeClr val="tx2"/>
                </a:solidFill>
              </a:rPr>
              <a:t>Hanssens, D. M., Parsons, L. J. &amp; Schultz, R. L. (2001). </a:t>
            </a:r>
            <a:r>
              <a:rPr sz="1100" b="0" lang="en-GB">
                <a:solidFill>
                  <a:schemeClr val="tx1"/>
                </a:solidFill>
              </a:rPr>
              <a:t>Market Response Models. Kluwer.</a:t>
            </a:r>
          </a:p>
          <a:p>
            <a:pPr algn="l">
              <a:spcAft>
                <a:spcPts val="500"/>
              </a:spcAft>
            </a:pPr>
            <a:r>
              <a:rPr sz="1100" b="1" lang="en-GB">
                <a:solidFill>
                  <a:schemeClr val="tx2"/>
                </a:solidFill>
              </a:rPr>
              <a:t>Bijmolt, T., van Heerde, H. &amp; Pieters, R. (2005). </a:t>
            </a:r>
            <a:r>
              <a:rPr sz="1100" b="0" lang="en-GB">
                <a:solidFill>
                  <a:schemeClr val="tx1"/>
                </a:solidFill>
              </a:rPr>
              <a:t>Journal of Marketing Research 42(2).</a:t>
            </a:r>
          </a:p>
          <a:p>
            <a:pPr algn="l">
              <a:spcAft>
                <a:spcPts val="500"/>
              </a:spcAft>
            </a:pPr>
            <a:r>
              <a:rPr sz="1100" b="1" lang="en-GB">
                <a:solidFill>
                  <a:schemeClr val="tx2"/>
                </a:solidFill>
              </a:rPr>
              <a:t>Gordon, B. R. et al. (2019). </a:t>
            </a:r>
            <a:r>
              <a:rPr sz="1100" b="0" lang="en-GB">
                <a:solidFill>
                  <a:schemeClr val="tx1"/>
                </a:solidFill>
              </a:rPr>
              <a:t>Marketing Science 38(2).</a:t>
            </a:r>
          </a:p>
        </p:txBody>
      </p:sp>
      <p:sp>
        <p:nvSpPr>
          <p:cNvPr id="15" name="Ref 2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f 2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Learning resources</a:t>
            </a:r>
          </a:p>
        </p:txBody>
      </p:sp>
      <p:pic>
        <p:nvPicPr>
          <p:cNvPr id="17" name="Icon ref 2" descr=""/>
          <p:cNvPicPr>
            <a:picLocks noChangeAspect="1"/>
          </p:cNvPicPr>
          <p:nvPr/>
        </p:nvPicPr>
        <p:blipFill>
          <a:blip r:embed="rId4"/>
          <a:stretch>
            <a:fillRect/>
          </a:stretch>
        </p:blipFill>
        <p:spPr>
          <a:xfrm>
            <a:off x="8247888" y="1280160"/>
            <a:ext cx="310896" cy="310896"/>
          </a:xfrm>
          <a:prstGeom prst="rect">
            <a:avLst/>
          </a:prstGeom>
        </p:spPr>
      </p:pic>
      <p:sp>
        <p:nvSpPr>
          <p:cNvPr id="18" name="Ref 2 body"/>
          <p:cNvSpPr/>
          <p:nvPr/>
        </p:nvSpPr>
        <p:spPr>
          <a:xfrm>
            <a:off x="4640580" y="1645920"/>
            <a:ext cx="4046220" cy="3429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f 2 text"/>
          <p:cNvSpPr txBox="1"/>
          <p:nvPr/>
        </p:nvSpPr>
        <p:spPr>
          <a:xfrm>
            <a:off x="4805172" y="1737360"/>
            <a:ext cx="3744468" cy="3291840"/>
          </a:xfrm>
          <a:prstGeom prst="rect">
            <a:avLst/>
          </a:prstGeom>
          <a:noFill/>
        </p:spPr>
        <p:txBody>
          <a:bodyPr wrap="square" lIns="0" rIns="0" tIns="0" bIns="0" anchor="t">
            <a:noAutofit/>
          </a:bodyPr>
          <a:lstStyle/>
          <a:p>
            <a:pPr algn="l">
              <a:spcAft>
                <a:spcPts val="500"/>
              </a:spcAft>
            </a:pPr>
            <a:r>
              <a:rPr sz="1100" b="1" lang="en-GB">
                <a:solidFill>
                  <a:schemeClr val="tx2"/>
                </a:solidFill>
              </a:rPr>
              <a:t>James, G. et al. (2023). </a:t>
            </a:r>
            <a:r>
              <a:rPr sz="1100" b="0" lang="en-GB">
                <a:solidFill>
                  <a:schemeClr val="tx1"/>
                </a:solidFill>
              </a:rPr>
              <a:t>ISLP, ch. 3 and the Python lab (free).</a:t>
            </a:r>
          </a:p>
          <a:p>
            <a:pPr algn="l">
              <a:spcAft>
                <a:spcPts val="500"/>
              </a:spcAft>
            </a:pPr>
            <a:r>
              <a:rPr sz="1100" b="1" lang="en-GB">
                <a:solidFill>
                  <a:schemeClr val="tx2"/>
                </a:solidFill>
              </a:rPr>
              <a:t>Schwarz, Chapman &amp; Feit (2020). </a:t>
            </a:r>
            <a:r>
              <a:rPr sz="1100" b="0" lang="en-GB">
                <a:solidFill>
                  <a:schemeClr val="tx1"/>
                </a:solidFill>
              </a:rPr>
              <a:t>Python for Marketing Research and Analytics, ch. 7. Springer.</a:t>
            </a:r>
          </a:p>
          <a:p>
            <a:pPr algn="l">
              <a:spcAft>
                <a:spcPts val="500"/>
              </a:spcAft>
            </a:pPr>
            <a:r>
              <a:rPr sz="1100" b="1" lang="en-GB">
                <a:solidFill>
                  <a:schemeClr val="tx2"/>
                </a:solidFill>
              </a:rPr>
              <a:t>statsmodels. </a:t>
            </a:r>
            <a:r>
              <a:rPr sz="1100" b="0" lang="en-GB">
                <a:solidFill>
                  <a:schemeClr val="tx1"/>
                </a:solidFill>
              </a:rPr>
              <a:t>Documentation and example notebooks.</a:t>
            </a:r>
          </a:p>
          <a:p>
            <a:pPr algn="l">
              <a:spcAft>
                <a:spcPts val="500"/>
              </a:spcAft>
            </a:pPr>
            <a:r>
              <a:rPr sz="1100" b="1" lang="en-GB">
                <a:solidFill>
                  <a:schemeClr val="tx2"/>
                </a:solidFill>
              </a:rPr>
              <a:t>Turrell, A. </a:t>
            </a:r>
            <a:r>
              <a:rPr sz="1100" b="0" lang="en-GB">
                <a:solidFill>
                  <a:schemeClr val="tx1"/>
                </a:solidFill>
              </a:rPr>
              <a:t>Coding for Economists: regression and diagnostics (free).</a:t>
            </a:r>
          </a:p>
          <a:p>
            <a:pPr algn="l">
              <a:spcAft>
                <a:spcPts val="500"/>
              </a:spcAft>
            </a:pPr>
            <a:r>
              <a:rPr sz="1100" b="1" lang="en-GB">
                <a:solidFill>
                  <a:schemeClr val="tx2"/>
                </a:solidFill>
              </a:rPr>
              <a:t>StatQuest. </a:t>
            </a:r>
            <a:r>
              <a:rPr sz="1100" b="0" lang="en-GB">
                <a:solidFill>
                  <a:schemeClr val="tx1"/>
                </a:solidFill>
              </a:rPr>
              <a:t>Linear regression, clearly explained (video).</a:t>
            </a:r>
          </a:p>
          <a:p>
            <a:pPr algn="l">
              <a:spcAft>
                <a:spcPts val="500"/>
              </a:spcAft>
            </a:pPr>
            <a:r>
              <a:rPr sz="1100" b="1" lang="en-GB">
                <a:solidFill>
                  <a:schemeClr val="tx2"/>
                </a:solidFill>
              </a:rPr>
              <a:t>DataCamp. </a:t>
            </a:r>
            <a:r>
              <a:rPr sz="1100" b="0" lang="en-GB">
                <a:solidFill>
                  <a:schemeClr val="tx1"/>
                </a:solidFill>
              </a:rPr>
              <a:t>Introduction to Regression with statsmodels in Python.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Fußzeilenplatzhalter 8"/>
          <p:cNvSpPr>
            <a:spLocks noGrp="1"/>
          </p:cNvSpPr>
          <p:nvPr>
            <p:ph type="ftr" sz="quarter" idx="12"/>
          </p:nvPr>
        </p:nvSpPr>
        <p:spPr/>
        <p:txBody>
          <a:bodyPr/>
          <a:lstStyle/>
          <a:p>
            <a:r>
              <a:rPr lang="en-GB"/>
              <a:t>International Marketing Analytics · WT 2026/27</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