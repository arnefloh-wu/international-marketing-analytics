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60" r:id="rId4"/>
  </p:sldMasterIdLst>
  <p:notesMasterIdLst>
    <p:notesMasterId r:id="rId31"/>
  </p:notesMasterIdLst>
  <p:handoutMasterIdLst>
    <p:handoutMasterId r:id="rId32"/>
  </p:handoutMasterIdLst>
  <p:sldIdLst>
    <p:sldId id="256" r:id="rId13"/>
    <p:sldId id="257" r:id="rId14"/>
    <p:sldId id="270" r:id="rId39"/>
    <p:sldId id="271" r:id="rId40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</p:sldIdLst>
  <p:sldSz cx="9144000" cy="5715000" type="screen16x10"/>
  <p:notesSz cx="6858000" cy="9144000"/>
  <p:custDataLst>
    <p:tags r:id="rId33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0">
          <p15:clr>
            <a:srgbClr val="A4A3A4"/>
          </p15:clr>
        </p15:guide>
        <p15:guide id="3" pos="4241">
          <p15:clr>
            <a:srgbClr val="A4A3A4"/>
          </p15:clr>
        </p15:guide>
        <p15:guide id="4" pos="469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9" name="Autor" initials="A" lastIdx="0" clrIdx="8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EFF7"/>
    <a:srgbClr val="CBDDEF"/>
    <a:srgbClr val="0096D3"/>
    <a:srgbClr val="0C94B7"/>
    <a:srgbClr val="41B4CE"/>
    <a:srgbClr val="73BAD1"/>
    <a:srgbClr val="65B4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27102A9-8310-4765-A935-A1911B00CA55}" styleName="Helle Formatvorlage 1 - Akz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Helle Formatvorlage 1 - Akz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ittlere Formatvorlage 1 - Akz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3783" autoAdjust="0"/>
  </p:normalViewPr>
  <p:slideViewPr>
    <p:cSldViewPr snapToGrid="0" showGuides="1">
      <p:cViewPr varScale="1">
        <p:scale>
          <a:sx n="164" d="100"/>
          <a:sy n="164" d="100"/>
        </p:scale>
        <p:origin x="758" y="75"/>
      </p:cViewPr>
      <p:guideLst>
        <p:guide orient="horz" pos="1800"/>
        <p:guide pos="4241"/>
        <p:guide pos="469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94" d="100"/>
          <a:sy n="94" d="100"/>
        </p:scale>
        <p:origin x="2748" y="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31" Type="http://schemas.openxmlformats.org/officeDocument/2006/relationships/notesMaster" Target="notesMasters/notesMaster1.xml"/><Relationship Id="rId32" Type="http://schemas.openxmlformats.org/officeDocument/2006/relationships/handoutMaster" Target="handoutMasters/handoutMaster1.xml"/><Relationship Id="rId33" Type="http://schemas.openxmlformats.org/officeDocument/2006/relationships/tags" Target="tags/tag1.xml"/><Relationship Id="rId34" Type="http://schemas.openxmlformats.org/officeDocument/2006/relationships/commentAuthors" Target="commentAuthors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Relationship Id="rId39" Type="http://schemas.openxmlformats.org/officeDocument/2006/relationships/slide" Target="slides/slide3.xml"/><Relationship Id="rId4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Weight</c:v>
                </c:pt>
              </c:strCache>
            </c:strRef>
          </c:tx>
          <c:spPr>
            <a:solidFill>
              <a:schemeClr val="accent4"/>
            </a:solidFill>
          </c:spPr>
          <c:cat>
            <c:strRef>
              <c:f>Sheet1!$A$2:$A$7</c:f>
              <c:strCache>
                <c:ptCount val="6"/>
                <c:pt idx="0">
                  <c:v>Self-reflection</c:v>
                </c:pt>
                <c:pt idx="1">
                  <c:v>Online certificates</c:v>
                </c:pt>
                <c:pt idx="2">
                  <c:v>Peer review</c:v>
                </c:pt>
                <c:pt idx="3">
                  <c:v>Lab check-ins (2 × 10 %)</c:v>
                </c:pt>
                <c:pt idx="4">
                  <c:v>Online quizzes (4 × 5 %)</c:v>
                </c:pt>
                <c:pt idx="5">
                  <c:v>Group project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</c:v>
                </c:pt>
                <c:pt idx="1">
                  <c:v>5</c:v>
                </c:pt>
                <c:pt idx="2">
                  <c:v>10</c:v>
                </c:pt>
                <c:pt idx="3">
                  <c:v>20</c:v>
                </c:pt>
                <c:pt idx="4">
                  <c:v>20</c:v>
                </c:pt>
                <c:pt idx="5">
                  <c:v>40</c:v>
                </c:pt>
              </c:numCache>
            </c:numRef>
          </c:val>
        </c:ser>
        <c:dLbls>
          <c:numFmt formatCode="0&quot; %&quot;" sourceLinked="0"/>
          <c:txPr>
            <a:bodyPr/>
            <a:lstStyle/>
            <a:p>
              <a:pPr>
                <a:defRPr sz="1300" b="1">
                  <a:solidFill>
                    <a:schemeClr val="tx2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solidFill>
                  <a:schemeClr val="tx1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8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00">
          <a:latin typeface="+mn-lt"/>
        </a:defRPr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sz="10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8817FD-8155-4502-AF78-DBC2EA4B168F}" type="datetimeFigureOut">
              <a:rPr lang="en-GB" sz="1000" smtClean="0">
                <a:latin typeface="Verdana" pitchFamily="34" charset="0"/>
                <a:ea typeface="Verdana" pitchFamily="34" charset="0"/>
                <a:cs typeface="Verdana" pitchFamily="34" charset="0"/>
              </a:rPr>
              <a:t>25/08/2023</a:t>
            </a:fld>
            <a:endParaRPr lang="en-GB" sz="10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sz="10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7F6F62-1C91-45E7-BAED-FBFBF67C82BC}" type="slidenum">
              <a:rPr lang="en-GB" sz="1000" smtClean="0">
                <a:latin typeface="Verdana" pitchFamily="34" charset="0"/>
                <a:ea typeface="Verdana" pitchFamily="34" charset="0"/>
                <a:cs typeface="Verdana" pitchFamily="34" charset="0"/>
              </a:rPr>
              <a:t>‹Nr.›</a:t>
            </a:fld>
            <a:endParaRPr lang="en-GB" sz="10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43456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00"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00"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fld id="{C0A972FC-F5E0-4F80-B169-F0B5EFC71333}" type="datetimeFigureOut">
              <a:rPr lang="en-GB" smtClean="0"/>
              <a:pPr/>
              <a:t>25/08/2023</a:t>
            </a:fld>
            <a:endParaRPr lang="en-GB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 err="1"/>
              <a:t>Textmasterformat</a:t>
            </a:r>
            <a:r>
              <a:rPr lang="en-GB" dirty="0"/>
              <a:t> </a:t>
            </a:r>
            <a:r>
              <a:rPr lang="en-GB" dirty="0" err="1"/>
              <a:t>bearbeiten</a:t>
            </a:r>
            <a:endParaRPr lang="en-GB" dirty="0"/>
          </a:p>
          <a:p>
            <a:pPr lvl="1"/>
            <a:r>
              <a:rPr lang="en-GB" dirty="0" err="1"/>
              <a:t>Zweite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  <a:p>
            <a:pPr lvl="2"/>
            <a:r>
              <a:rPr lang="en-GB" dirty="0" err="1"/>
              <a:t>Dritte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  <a:p>
            <a:pPr lvl="3"/>
            <a:r>
              <a:rPr lang="en-GB" dirty="0" err="1"/>
              <a:t>Vierte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  <a:p>
            <a:pPr lvl="4"/>
            <a:r>
              <a:rPr lang="en-GB" dirty="0" err="1"/>
              <a:t>Fünfte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fld id="{219CC2FD-B32F-4992-A15B-F95E2E35C81B}" type="slidenum">
              <a:rPr lang="en-GB" smtClean="0"/>
              <a:pPr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151365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Verdana" pitchFamily="34" charset="0"/>
        <a:ea typeface="Verdana" pitchFamily="34" charset="0"/>
        <a:cs typeface="Verdana" pitchFamily="3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This deck explains what the course is about, how it is taught and how it is assessed.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Ice-breaker: who is in the room, which countries, which prior exposure to analytics.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the course as one budget decision studied from five angles. Alpenglow is fictional; the data are synthetic with a known truth revealed in Session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session starts from a decision an international marketing manager has to take and works backwards to the model that answers it. Session 5 is the board meeting where groups defend their budget.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Outcomes 1 to 6 are the analytical core of the course; 7 to 11 on the next slide are the working skills.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person, five Tuesdays. Bring your own laptop with the environment installed; a setup clinic runs at the start of Session 1. Between sessions: read, take the quiz, work on the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Chapter numbers refer to the 2025 Python edition of Yildirim and Kübler. Times and rooms are on Canvas.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components. The group project is the centrepiece; quizzes and check-ins keep everyone on track between sessions. Certificates and self-reflection are small but required.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Both courses are free. The installation check is the command in the setup guide that prints 'ready'. Bring problems to the setup clinic at the start of Session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Quizzes test concepts, not code. Check-ins replicate a lab for another country and are auto-checked for plausibility before grading.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brief, rubric and starter repository are in the course GitHub organisation. Online consulting hours need registration.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peer rating form is on Canvas. Each member rates the others; self-ratings are not allowed.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Any questions? Contact details on the card.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20" Type="http://schemas.openxmlformats.org/officeDocument/2006/relationships/hyperlink" Target="mailto:arne.floh@wu.ac.at" TargetMode="External"/><Relationship Id="rId21" Type="http://schemas.openxmlformats.org/officeDocument/2006/relationships/hyperlink" Target="https://calendar.app.google/o4FuKoF1YcarRfnC8" TargetMode="Externa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20" Type="http://schemas.openxmlformats.org/officeDocument/2006/relationships/hyperlink" Target="mailto:arne.floh@wu.ac.at" TargetMode="External"/><Relationship Id="rId21" Type="http://schemas.openxmlformats.org/officeDocument/2006/relationships/hyperlink" Target="https://calendar.app.google/o4FuKoF1YcarRfnC8" TargetMode="External"/><Relationship Id="rId22" Type="http://schemas.openxmlformats.org/officeDocument/2006/relationships/hyperlink" Target="https://www.wu.ac.at/en/welthandel/arne-floh/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pieren 10"/>
          <p:cNvGrpSpPr/>
          <p:nvPr userDrawn="1"/>
        </p:nvGrpSpPr>
        <p:grpSpPr>
          <a:xfrm>
            <a:off x="287338" y="603319"/>
            <a:ext cx="8552850" cy="2037600"/>
            <a:chOff x="287338" y="603319"/>
            <a:chExt cx="8552850" cy="2037600"/>
          </a:xfrm>
        </p:grpSpPr>
        <p:sp>
          <p:nvSpPr>
            <p:cNvPr id="14" name="Rechteck 13"/>
            <p:cNvSpPr/>
            <p:nvPr userDrawn="1"/>
          </p:nvSpPr>
          <p:spPr>
            <a:xfrm>
              <a:off x="6192000" y="603319"/>
              <a:ext cx="2648188" cy="20376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Rechteck 14"/>
            <p:cNvSpPr/>
            <p:nvPr userDrawn="1"/>
          </p:nvSpPr>
          <p:spPr bwMode="blackWhite">
            <a:xfrm>
              <a:off x="287338" y="603319"/>
              <a:ext cx="5904662" cy="2037600"/>
            </a:xfrm>
            <a:prstGeom prst="rect">
              <a:avLst/>
            </a:prstGeom>
            <a:solidFill>
              <a:srgbClr val="0096D3">
                <a:alpha val="89804"/>
              </a:srgb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2" name="Titel 1"/>
          <p:cNvSpPr>
            <a:spLocks noGrp="1"/>
          </p:cNvSpPr>
          <p:nvPr userDrawn="1">
            <p:ph type="ctrTitle" hasCustomPrompt="1"/>
          </p:nvPr>
        </p:nvSpPr>
        <p:spPr bwMode="black">
          <a:xfrm>
            <a:off x="605406" y="1301365"/>
            <a:ext cx="5436000" cy="1026000"/>
          </a:xfrm>
          <a:prstGeom prst="rect">
            <a:avLst/>
          </a:prstGeom>
        </p:spPr>
        <p:txBody>
          <a:bodyPr tIns="0" anchor="ctr" anchorCtr="0">
            <a:noAutofit/>
          </a:bodyPr>
          <a:lstStyle>
            <a:lvl1pPr algn="l">
              <a:lnSpc>
                <a:spcPct val="100000"/>
              </a:lnSpc>
              <a:defRPr sz="3200" b="1" i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GB" dirty="0"/>
              <a:t>Max. 2 lines of text for header</a:t>
            </a:r>
          </a:p>
        </p:txBody>
      </p:sp>
      <p:sp>
        <p:nvSpPr>
          <p:cNvPr id="3" name="Untertitel 2"/>
          <p:cNvSpPr>
            <a:spLocks noGrp="1"/>
          </p:cNvSpPr>
          <p:nvPr userDrawn="1">
            <p:ph type="subTitle" idx="1" hasCustomPrompt="1"/>
          </p:nvPr>
        </p:nvSpPr>
        <p:spPr bwMode="black">
          <a:xfrm>
            <a:off x="605406" y="993080"/>
            <a:ext cx="5436000" cy="351533"/>
          </a:xfrm>
        </p:spPr>
        <p:txBody>
          <a:bodyPr t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 baseline="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4571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2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Add subtitle here if required</a:t>
            </a:r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287338" y="2941638"/>
            <a:ext cx="4284662" cy="805551"/>
          </a:xfrm>
          <a:solidFill>
            <a:schemeClr val="bg1">
              <a:alpha val="90000"/>
            </a:schemeClr>
          </a:solidFill>
        </p:spPr>
        <p:txBody>
          <a:bodyPr wrap="square" lIns="324000" tIns="216000" rIns="324000" bIns="216000" rtlCol="0" anchor="t" anchorCtr="0">
            <a:spAutoFit/>
          </a:bodyPr>
          <a:lstStyle>
            <a:lvl1pPr marL="0" indent="0">
              <a:buNone/>
              <a:defRPr lang="de-DE" sz="1200" baseline="0" dirty="0" smtClean="0"/>
            </a:lvl1pPr>
          </a:lstStyle>
          <a:p>
            <a:r>
              <a:rPr lang="en-GB" dirty="0"/>
              <a:t>Information about presentation (author, version No. etc.)</a:t>
            </a:r>
          </a:p>
        </p:txBody>
      </p:sp>
      <p:sp>
        <p:nvSpPr>
          <p:cNvPr id="12" name="Textplatzhalter 7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457200" y="5426926"/>
            <a:ext cx="1638300" cy="243623"/>
          </a:xfrm>
        </p:spPr>
        <p:txBody>
          <a:bodyPr>
            <a:noAutofit/>
          </a:bodyPr>
          <a:lstStyle>
            <a:lvl1pPr marL="0" indent="0">
              <a:buNone/>
              <a:defRPr sz="900" cap="all" baseline="0">
                <a:solidFill>
                  <a:schemeClr val="bg1"/>
                </a:solidFill>
              </a:defRPr>
            </a:lvl1pPr>
            <a:lvl2pPr marL="266700" indent="0">
              <a:buNone/>
              <a:defRPr sz="1050"/>
            </a:lvl2pPr>
            <a:lvl3pPr marL="541338" indent="0">
              <a:buNone/>
              <a:defRPr sz="1050"/>
            </a:lvl3pPr>
            <a:lvl4pPr marL="808038" indent="0">
              <a:buNone/>
              <a:defRPr sz="1000"/>
            </a:lvl4pPr>
            <a:lvl5pPr marL="1077913" indent="0">
              <a:buNone/>
              <a:defRPr sz="1000"/>
            </a:lvl5pPr>
          </a:lstStyle>
          <a:p>
            <a:pPr lvl="0"/>
            <a:r>
              <a:rPr lang="en-GB" dirty="0"/>
              <a:t>State: </a:t>
            </a:r>
            <a:r>
              <a:rPr lang="en-GB" dirty="0" err="1"/>
              <a:t>xx.xx.xxxx</a:t>
            </a:r>
            <a:endParaRPr lang="en-GB" dirty="0"/>
          </a:p>
        </p:txBody>
      </p:sp>
      <p:pic>
        <p:nvPicPr>
          <p:cNvPr id="18" name="Grafik 17">
            <a:extLst>
              <a:ext uri="{FF2B5EF4-FFF2-40B4-BE49-F238E27FC236}">
                <a16:creationId xmlns:a16="http://schemas.microsoft.com/office/drawing/2014/main" id="{35A845CD-2D10-42BB-97DB-CDA723EE9EB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79375" y="1065910"/>
            <a:ext cx="1849165" cy="975600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1A49BD17-4238-4565-A4B6-2E20A7C19FA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5113" y="5129960"/>
            <a:ext cx="1835942" cy="31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68977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kurz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uppieren 23"/>
          <p:cNvGrpSpPr/>
          <p:nvPr userDrawn="1"/>
        </p:nvGrpSpPr>
        <p:grpSpPr>
          <a:xfrm>
            <a:off x="287338" y="603319"/>
            <a:ext cx="8552850" cy="1731679"/>
            <a:chOff x="287338" y="603319"/>
            <a:chExt cx="8552850" cy="2037600"/>
          </a:xfrm>
        </p:grpSpPr>
        <p:sp>
          <p:nvSpPr>
            <p:cNvPr id="26" name="Rechteck 25"/>
            <p:cNvSpPr/>
            <p:nvPr userDrawn="1"/>
          </p:nvSpPr>
          <p:spPr>
            <a:xfrm>
              <a:off x="6192000" y="603319"/>
              <a:ext cx="2648188" cy="20376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7" name="Rechteck 26"/>
            <p:cNvSpPr/>
            <p:nvPr userDrawn="1"/>
          </p:nvSpPr>
          <p:spPr bwMode="blackWhite">
            <a:xfrm>
              <a:off x="287338" y="603319"/>
              <a:ext cx="5904662" cy="2037600"/>
            </a:xfrm>
            <a:prstGeom prst="rect">
              <a:avLst/>
            </a:prstGeom>
            <a:solidFill>
              <a:srgbClr val="0096D3">
                <a:alpha val="89804"/>
              </a:srgb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black">
          <a:xfrm>
            <a:off x="605408" y="1294973"/>
            <a:ext cx="5466982" cy="516714"/>
          </a:xfrm>
          <a:prstGeom prst="rect">
            <a:avLst/>
          </a:prstGeom>
        </p:spPr>
        <p:txBody>
          <a:bodyPr tIns="0" anchor="b" anchorCtr="0">
            <a:noAutofit/>
          </a:bodyPr>
          <a:lstStyle>
            <a:lvl1pPr algn="l">
              <a:lnSpc>
                <a:spcPct val="100000"/>
              </a:lnSpc>
              <a:defRPr sz="3200" b="1" i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GB" dirty="0"/>
              <a:t>Max. 1 line for header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605408" y="993080"/>
            <a:ext cx="5466982" cy="304511"/>
          </a:xfrm>
        </p:spPr>
        <p:txBody>
          <a:bodyPr t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4571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2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Add subtitle here if required</a:t>
            </a:r>
          </a:p>
        </p:txBody>
      </p:sp>
      <p:sp>
        <p:nvSpPr>
          <p:cNvPr id="16" name="Textplatzhalter 9"/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287338" y="2642906"/>
            <a:ext cx="4284662" cy="805551"/>
          </a:xfrm>
          <a:solidFill>
            <a:schemeClr val="bg1">
              <a:alpha val="90000"/>
            </a:schemeClr>
          </a:solidFill>
        </p:spPr>
        <p:txBody>
          <a:bodyPr wrap="square" lIns="324000" tIns="216000" rIns="324000" bIns="216000" rtlCol="0" anchor="t" anchorCtr="0">
            <a:spAutoFit/>
          </a:bodyPr>
          <a:lstStyle>
            <a:lvl1pPr marL="0" indent="0">
              <a:buNone/>
              <a:defRPr lang="de-DE" sz="1200" dirty="0" smtClean="0"/>
            </a:lvl1pPr>
          </a:lstStyle>
          <a:p>
            <a:r>
              <a:rPr lang="en-GB" dirty="0"/>
              <a:t>Information about presentation (author, version No. etc.)</a:t>
            </a:r>
          </a:p>
        </p:txBody>
      </p:sp>
      <p:sp>
        <p:nvSpPr>
          <p:cNvPr id="12" name="Textplatzhalter 7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457200" y="5426926"/>
            <a:ext cx="1638300" cy="243623"/>
          </a:xfrm>
        </p:spPr>
        <p:txBody>
          <a:bodyPr>
            <a:noAutofit/>
          </a:bodyPr>
          <a:lstStyle>
            <a:lvl1pPr marL="0" indent="0">
              <a:buNone/>
              <a:defRPr sz="900" cap="all" baseline="0">
                <a:solidFill>
                  <a:schemeClr val="bg1"/>
                </a:solidFill>
              </a:defRPr>
            </a:lvl1pPr>
            <a:lvl2pPr marL="266700" indent="0">
              <a:buNone/>
              <a:defRPr sz="1050"/>
            </a:lvl2pPr>
            <a:lvl3pPr marL="541338" indent="0">
              <a:buNone/>
              <a:defRPr sz="1050"/>
            </a:lvl3pPr>
            <a:lvl4pPr marL="808038" indent="0">
              <a:buNone/>
              <a:defRPr sz="1000"/>
            </a:lvl4pPr>
            <a:lvl5pPr marL="1077913" indent="0">
              <a:buNone/>
              <a:defRPr sz="1000"/>
            </a:lvl5pPr>
          </a:lstStyle>
          <a:p>
            <a:pPr lvl="0"/>
            <a:r>
              <a:rPr lang="en-GB" dirty="0"/>
              <a:t>State: </a:t>
            </a:r>
            <a:r>
              <a:rPr lang="en-GB" dirty="0" err="1"/>
              <a:t>xx.xx.xxxx</a:t>
            </a:r>
            <a:endParaRPr lang="en-GB" dirty="0"/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BE16B78E-14FB-4C1E-8625-0D5A429E49F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79375" y="1065910"/>
            <a:ext cx="1849165" cy="97560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E9B62297-FBCA-40E7-A876-7818F7A81C7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5113" y="5129960"/>
            <a:ext cx="1835942" cy="31758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62019" y="1344613"/>
            <a:ext cx="7759644" cy="3853905"/>
          </a:xfrm>
        </p:spPr>
        <p:txBody>
          <a:bodyPr lIns="0" rIns="0">
            <a:normAutofit/>
          </a:bodyPr>
          <a:lstStyle>
            <a:lvl1pPr>
              <a:defRPr sz="16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 err="1"/>
              <a:t>Textmasterformat</a:t>
            </a:r>
            <a:r>
              <a:rPr lang="en-GB" dirty="0"/>
              <a:t> </a:t>
            </a:r>
            <a:r>
              <a:rPr lang="en-GB" dirty="0" err="1"/>
              <a:t>durch</a:t>
            </a:r>
            <a:r>
              <a:rPr lang="en-GB" dirty="0"/>
              <a:t> </a:t>
            </a:r>
            <a:r>
              <a:rPr lang="en-GB" dirty="0" err="1"/>
              <a:t>Klicken</a:t>
            </a:r>
            <a:r>
              <a:rPr lang="en-GB" dirty="0"/>
              <a:t> </a:t>
            </a:r>
            <a:r>
              <a:rPr lang="en-GB" dirty="0" err="1"/>
              <a:t>bearbeiten</a:t>
            </a:r>
            <a:endParaRPr lang="en-GB" dirty="0"/>
          </a:p>
          <a:p>
            <a:pPr lvl="1"/>
            <a:r>
              <a:rPr lang="en-GB" dirty="0" err="1"/>
              <a:t>Zweite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  <a:p>
            <a:pPr lvl="2"/>
            <a:r>
              <a:rPr lang="en-GB" dirty="0" err="1"/>
              <a:t>Dritte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  <a:p>
            <a:pPr lvl="3"/>
            <a:r>
              <a:rPr lang="en-GB" dirty="0" err="1"/>
              <a:t>Vierte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  <a:p>
            <a:pPr lvl="4"/>
            <a:r>
              <a:rPr lang="en-GB" dirty="0" err="1"/>
              <a:t>Fünfte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E7AAB-A700-485E-A2FB-EAC3CFB07074}" type="datetime1">
              <a:rPr lang="en-GB" smtClean="0"/>
              <a:t>25/08/2023</a:t>
            </a:fld>
            <a:endParaRPr lang="en-GB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Sample Footer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dirty="0"/>
              <a:t>Page </a:t>
            </a:r>
            <a:fld id="{BE3DC40E-DBBE-4E2D-9EEC-FBF0DA0E9179}" type="slidenum">
              <a:rPr lang="en-GB" smtClean="0"/>
              <a:t>‹Nr.›</a:t>
            </a:fld>
            <a:endParaRPr lang="en-GB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 dirty="0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ohne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/>
          <p:cNvGrpSpPr/>
          <p:nvPr userDrawn="1"/>
        </p:nvGrpSpPr>
        <p:grpSpPr>
          <a:xfrm>
            <a:off x="287338" y="603319"/>
            <a:ext cx="8552850" cy="2037600"/>
            <a:chOff x="287338" y="603319"/>
            <a:chExt cx="8552850" cy="2037600"/>
          </a:xfrm>
        </p:grpSpPr>
        <p:sp>
          <p:nvSpPr>
            <p:cNvPr id="16" name="Rechteck 15"/>
            <p:cNvSpPr/>
            <p:nvPr userDrawn="1"/>
          </p:nvSpPr>
          <p:spPr>
            <a:xfrm>
              <a:off x="6192000" y="603319"/>
              <a:ext cx="2648188" cy="2037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Rechteck 16"/>
            <p:cNvSpPr/>
            <p:nvPr userDrawn="1"/>
          </p:nvSpPr>
          <p:spPr bwMode="blackWhite">
            <a:xfrm>
              <a:off x="287338" y="603319"/>
              <a:ext cx="5904662" cy="2037600"/>
            </a:xfrm>
            <a:prstGeom prst="rect">
              <a:avLst/>
            </a:prstGeom>
            <a:solidFill>
              <a:srgbClr val="0096D3"/>
            </a:solidFill>
            <a:ln>
              <a:solidFill>
                <a:schemeClr val="accent1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14" name="Textplatzhalter 9"/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287338" y="2941638"/>
            <a:ext cx="4284662" cy="805551"/>
          </a:xfrm>
          <a:solidFill>
            <a:schemeClr val="bg1">
              <a:alpha val="90000"/>
            </a:schemeClr>
          </a:solidFill>
        </p:spPr>
        <p:txBody>
          <a:bodyPr wrap="square" lIns="324000" tIns="216000" rIns="324000" bIns="216000" rtlCol="0" anchor="t" anchorCtr="0">
            <a:spAutoFit/>
          </a:bodyPr>
          <a:lstStyle>
            <a:lvl1pPr marL="0" indent="0">
              <a:buNone/>
              <a:defRPr lang="de-DE" sz="1200" dirty="0" smtClean="0"/>
            </a:lvl1pPr>
          </a:lstStyle>
          <a:p>
            <a:r>
              <a:rPr lang="en-GB" dirty="0"/>
              <a:t>Information about presentation (author, version No. etc.)</a:t>
            </a:r>
          </a:p>
        </p:txBody>
      </p:sp>
      <p:sp>
        <p:nvSpPr>
          <p:cNvPr id="10" name="Textplatzhalt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5426926"/>
            <a:ext cx="1638300" cy="243623"/>
          </a:xfrm>
        </p:spPr>
        <p:txBody>
          <a:bodyPr>
            <a:noAutofit/>
          </a:bodyPr>
          <a:lstStyle>
            <a:lvl1pPr marL="0" indent="0">
              <a:buNone/>
              <a:defRPr sz="900" cap="all" baseline="0">
                <a:solidFill>
                  <a:schemeClr val="tx1"/>
                </a:solidFill>
              </a:defRPr>
            </a:lvl1pPr>
            <a:lvl2pPr marL="266700" indent="0">
              <a:buNone/>
              <a:defRPr sz="1050"/>
            </a:lvl2pPr>
            <a:lvl3pPr marL="541338" indent="0">
              <a:buNone/>
              <a:defRPr sz="1050"/>
            </a:lvl3pPr>
            <a:lvl4pPr marL="808038" indent="0">
              <a:buNone/>
              <a:defRPr sz="1000"/>
            </a:lvl4pPr>
            <a:lvl5pPr marL="1077913" indent="0">
              <a:buNone/>
              <a:defRPr sz="1000"/>
            </a:lvl5pPr>
          </a:lstStyle>
          <a:p>
            <a:pPr lvl="0"/>
            <a:r>
              <a:rPr lang="en-GB" dirty="0"/>
              <a:t>State: </a:t>
            </a:r>
            <a:r>
              <a:rPr lang="en-GB" dirty="0" err="1"/>
              <a:t>xx.xx.xxxx</a:t>
            </a:r>
            <a:endParaRPr lang="en-GB" dirty="0"/>
          </a:p>
        </p:txBody>
      </p:sp>
      <p:sp>
        <p:nvSpPr>
          <p:cNvPr id="13" name="Titel 1"/>
          <p:cNvSpPr>
            <a:spLocks noGrp="1"/>
          </p:cNvSpPr>
          <p:nvPr>
            <p:ph type="ctrTitle" hasCustomPrompt="1"/>
          </p:nvPr>
        </p:nvSpPr>
        <p:spPr bwMode="black">
          <a:xfrm>
            <a:off x="605406" y="1301365"/>
            <a:ext cx="5436000" cy="1026000"/>
          </a:xfrm>
          <a:prstGeom prst="rect">
            <a:avLst/>
          </a:prstGeom>
        </p:spPr>
        <p:txBody>
          <a:bodyPr tIns="0" anchor="ctr" anchorCtr="0">
            <a:noAutofit/>
          </a:bodyPr>
          <a:lstStyle>
            <a:lvl1pPr algn="l">
              <a:lnSpc>
                <a:spcPct val="100000"/>
              </a:lnSpc>
              <a:defRPr sz="3200" b="1" i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GB" dirty="0"/>
              <a:t>Max. 2 lines of text for header</a:t>
            </a:r>
          </a:p>
        </p:txBody>
      </p:sp>
      <p:sp>
        <p:nvSpPr>
          <p:cNvPr id="15" name="Untertitel 2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605406" y="993080"/>
            <a:ext cx="5436000" cy="351533"/>
          </a:xfrm>
        </p:spPr>
        <p:txBody>
          <a:bodyPr t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4571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2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Add subtitle here if required</a:t>
            </a:r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BA9844F5-FA66-4582-86D9-5CEB57D8151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79375" y="1065910"/>
            <a:ext cx="1849165" cy="975600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B702B7F6-CDD2-4C6E-BBC1-61A114A8A82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7341" y="5129960"/>
            <a:ext cx="1831485" cy="31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79611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ohne Bild kur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pieren 12"/>
          <p:cNvGrpSpPr/>
          <p:nvPr userDrawn="1"/>
        </p:nvGrpSpPr>
        <p:grpSpPr>
          <a:xfrm>
            <a:off x="287338" y="603319"/>
            <a:ext cx="8552850" cy="1731679"/>
            <a:chOff x="287338" y="603319"/>
            <a:chExt cx="8552850" cy="2037600"/>
          </a:xfrm>
        </p:grpSpPr>
        <p:sp>
          <p:nvSpPr>
            <p:cNvPr id="15" name="Rechteck 14"/>
            <p:cNvSpPr/>
            <p:nvPr userDrawn="1"/>
          </p:nvSpPr>
          <p:spPr>
            <a:xfrm>
              <a:off x="6192000" y="603319"/>
              <a:ext cx="2648188" cy="2037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Rechteck 16"/>
            <p:cNvSpPr/>
            <p:nvPr userDrawn="1"/>
          </p:nvSpPr>
          <p:spPr bwMode="blackWhite">
            <a:xfrm>
              <a:off x="287338" y="603319"/>
              <a:ext cx="5904662" cy="2037600"/>
            </a:xfrm>
            <a:prstGeom prst="rect">
              <a:avLst/>
            </a:prstGeom>
            <a:solidFill>
              <a:srgbClr val="0096D3"/>
            </a:solidFill>
            <a:ln>
              <a:solidFill>
                <a:schemeClr val="accent1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black">
          <a:xfrm>
            <a:off x="605407" y="1294973"/>
            <a:ext cx="5436000" cy="516714"/>
          </a:xfrm>
          <a:prstGeom prst="rect">
            <a:avLst/>
          </a:prstGeom>
        </p:spPr>
        <p:txBody>
          <a:bodyPr tIns="0" anchor="b" anchorCtr="0">
            <a:noAutofit/>
          </a:bodyPr>
          <a:lstStyle>
            <a:lvl1pPr algn="l">
              <a:lnSpc>
                <a:spcPct val="100000"/>
              </a:lnSpc>
              <a:defRPr sz="3200" b="1" i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GB" dirty="0"/>
              <a:t>Max. 1 line for header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605407" y="993080"/>
            <a:ext cx="5436000" cy="304511"/>
          </a:xfrm>
        </p:spPr>
        <p:txBody>
          <a:bodyPr t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4571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2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Add subtitle here if required</a:t>
            </a:r>
          </a:p>
        </p:txBody>
      </p:sp>
      <p:sp>
        <p:nvSpPr>
          <p:cNvPr id="14" name="Textplatzhalter 9"/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287338" y="2642907"/>
            <a:ext cx="4284662" cy="805551"/>
          </a:xfrm>
          <a:solidFill>
            <a:schemeClr val="bg1">
              <a:alpha val="90000"/>
            </a:schemeClr>
          </a:solidFill>
        </p:spPr>
        <p:txBody>
          <a:bodyPr wrap="square" lIns="324000" tIns="216000" rIns="324000" bIns="216000" rtlCol="0" anchor="t" anchorCtr="0">
            <a:spAutoFit/>
          </a:bodyPr>
          <a:lstStyle>
            <a:lvl1pPr marL="0" indent="0">
              <a:buNone/>
              <a:defRPr lang="de-DE" sz="1200" dirty="0" smtClean="0"/>
            </a:lvl1pPr>
          </a:lstStyle>
          <a:p>
            <a:r>
              <a:rPr lang="en-GB" dirty="0"/>
              <a:t>Information about presentation (author, version No. etc.)</a:t>
            </a:r>
          </a:p>
        </p:txBody>
      </p:sp>
      <p:sp>
        <p:nvSpPr>
          <p:cNvPr id="12" name="Textplatzhalt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5426926"/>
            <a:ext cx="1638300" cy="243623"/>
          </a:xfrm>
        </p:spPr>
        <p:txBody>
          <a:bodyPr>
            <a:noAutofit/>
          </a:bodyPr>
          <a:lstStyle>
            <a:lvl1pPr marL="0" indent="0">
              <a:buNone/>
              <a:defRPr sz="900" cap="all" baseline="0">
                <a:solidFill>
                  <a:schemeClr val="tx1"/>
                </a:solidFill>
              </a:defRPr>
            </a:lvl1pPr>
            <a:lvl2pPr marL="266700" indent="0">
              <a:buNone/>
              <a:defRPr sz="1050"/>
            </a:lvl2pPr>
            <a:lvl3pPr marL="541338" indent="0">
              <a:buNone/>
              <a:defRPr sz="1050"/>
            </a:lvl3pPr>
            <a:lvl4pPr marL="808038" indent="0">
              <a:buNone/>
              <a:defRPr sz="1000"/>
            </a:lvl4pPr>
            <a:lvl5pPr marL="1077913" indent="0">
              <a:buNone/>
              <a:defRPr sz="1000"/>
            </a:lvl5pPr>
          </a:lstStyle>
          <a:p>
            <a:pPr lvl="0"/>
            <a:r>
              <a:rPr lang="en-GB" dirty="0"/>
              <a:t>State: </a:t>
            </a:r>
            <a:r>
              <a:rPr lang="en-GB" dirty="0" err="1"/>
              <a:t>xx.xx.xxxx</a:t>
            </a:r>
            <a:endParaRPr lang="en-GB" dirty="0"/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A463F4F5-A20D-4A70-B3F9-6AD8A3EE25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79375" y="1065910"/>
            <a:ext cx="1849165" cy="975600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2AB68F06-4800-4D63-9DF2-372B23A8EC2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7341" y="5129960"/>
            <a:ext cx="1831485" cy="31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268004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Bild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pieren 10"/>
          <p:cNvGrpSpPr/>
          <p:nvPr userDrawn="1"/>
        </p:nvGrpSpPr>
        <p:grpSpPr>
          <a:xfrm>
            <a:off x="287338" y="603319"/>
            <a:ext cx="8552850" cy="2037600"/>
            <a:chOff x="287338" y="603319"/>
            <a:chExt cx="8552850" cy="2037600"/>
          </a:xfrm>
        </p:grpSpPr>
        <p:sp>
          <p:nvSpPr>
            <p:cNvPr id="12" name="Rechteck 11"/>
            <p:cNvSpPr/>
            <p:nvPr userDrawn="1"/>
          </p:nvSpPr>
          <p:spPr>
            <a:xfrm>
              <a:off x="6192000" y="603319"/>
              <a:ext cx="2648188" cy="20376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" name="Rechteck 12"/>
            <p:cNvSpPr/>
            <p:nvPr userDrawn="1"/>
          </p:nvSpPr>
          <p:spPr bwMode="blackWhite">
            <a:xfrm>
              <a:off x="287338" y="603319"/>
              <a:ext cx="5904662" cy="2037600"/>
            </a:xfrm>
            <a:prstGeom prst="rect">
              <a:avLst/>
            </a:prstGeom>
            <a:solidFill>
              <a:srgbClr val="0096D3">
                <a:alpha val="89804"/>
              </a:srgb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10" name="Textplatzhalter 9"/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287338" y="2941638"/>
            <a:ext cx="4284662" cy="805551"/>
          </a:xfrm>
          <a:solidFill>
            <a:schemeClr val="bg1">
              <a:alpha val="90000"/>
            </a:schemeClr>
          </a:solidFill>
        </p:spPr>
        <p:txBody>
          <a:bodyPr wrap="square" lIns="324000" tIns="216000" rIns="324000" bIns="216000" rtlCol="0" anchor="t" anchorCtr="0">
            <a:spAutoFit/>
          </a:bodyPr>
          <a:lstStyle>
            <a:lvl1pPr marL="0" indent="0">
              <a:buNone/>
              <a:defRPr lang="de-DE" sz="1200" dirty="0" smtClean="0"/>
            </a:lvl1pPr>
          </a:lstStyle>
          <a:p>
            <a:r>
              <a:rPr lang="en-GB" dirty="0"/>
              <a:t>Information about presentation (author, version No. etc.)</a:t>
            </a:r>
          </a:p>
        </p:txBody>
      </p:sp>
      <p:sp>
        <p:nvSpPr>
          <p:cNvPr id="14" name="Textplatzhalt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5426926"/>
            <a:ext cx="1638300" cy="243623"/>
          </a:xfrm>
        </p:spPr>
        <p:txBody>
          <a:bodyPr>
            <a:noAutofit/>
          </a:bodyPr>
          <a:lstStyle>
            <a:lvl1pPr marL="0" indent="0">
              <a:buNone/>
              <a:defRPr sz="900" cap="all" baseline="0">
                <a:solidFill>
                  <a:schemeClr val="tx1"/>
                </a:solidFill>
              </a:defRPr>
            </a:lvl1pPr>
            <a:lvl2pPr marL="266700" indent="0">
              <a:buNone/>
              <a:defRPr sz="1050"/>
            </a:lvl2pPr>
            <a:lvl3pPr marL="541338" indent="0">
              <a:buNone/>
              <a:defRPr sz="1050"/>
            </a:lvl3pPr>
            <a:lvl4pPr marL="808038" indent="0">
              <a:buNone/>
              <a:defRPr sz="1000"/>
            </a:lvl4pPr>
            <a:lvl5pPr marL="1077913" indent="0">
              <a:buNone/>
              <a:defRPr sz="1000"/>
            </a:lvl5pPr>
          </a:lstStyle>
          <a:p>
            <a:pPr lvl="0"/>
            <a:r>
              <a:rPr lang="en-GB" dirty="0"/>
              <a:t>State: </a:t>
            </a:r>
            <a:r>
              <a:rPr lang="en-GB" dirty="0" err="1"/>
              <a:t>xx.xx.xxxx</a:t>
            </a:r>
            <a:endParaRPr lang="en-GB" dirty="0"/>
          </a:p>
        </p:txBody>
      </p:sp>
      <p:sp>
        <p:nvSpPr>
          <p:cNvPr id="16" name="Titel 1"/>
          <p:cNvSpPr>
            <a:spLocks noGrp="1"/>
          </p:cNvSpPr>
          <p:nvPr>
            <p:ph type="ctrTitle" hasCustomPrompt="1"/>
          </p:nvPr>
        </p:nvSpPr>
        <p:spPr bwMode="black">
          <a:xfrm>
            <a:off x="605406" y="1301365"/>
            <a:ext cx="5436000" cy="1026000"/>
          </a:xfrm>
          <a:prstGeom prst="rect">
            <a:avLst/>
          </a:prstGeom>
        </p:spPr>
        <p:txBody>
          <a:bodyPr tIns="0" anchor="ctr" anchorCtr="0">
            <a:noAutofit/>
          </a:bodyPr>
          <a:lstStyle>
            <a:lvl1pPr algn="l">
              <a:lnSpc>
                <a:spcPct val="100000"/>
              </a:lnSpc>
              <a:defRPr sz="3200" b="1" i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GB" dirty="0"/>
              <a:t>Max. 2 lines of text for header</a:t>
            </a:r>
          </a:p>
        </p:txBody>
      </p:sp>
      <p:sp>
        <p:nvSpPr>
          <p:cNvPr id="17" name="Untertitel 2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605406" y="993080"/>
            <a:ext cx="5436000" cy="351533"/>
          </a:xfrm>
        </p:spPr>
        <p:txBody>
          <a:bodyPr t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4571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2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Add subtitle here if required</a:t>
            </a:r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330D039B-1A60-42B3-A3E1-B44D86C63C0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79375" y="1065910"/>
            <a:ext cx="1849165" cy="975600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25D9B1B1-5069-4351-A01A-8CD09728414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5113" y="5129960"/>
            <a:ext cx="1835942" cy="317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078111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Bild 2 kurz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uppieren 18"/>
          <p:cNvGrpSpPr/>
          <p:nvPr userDrawn="1"/>
        </p:nvGrpSpPr>
        <p:grpSpPr>
          <a:xfrm>
            <a:off x="287338" y="603319"/>
            <a:ext cx="8552850" cy="1731679"/>
            <a:chOff x="287338" y="603319"/>
            <a:chExt cx="8552850" cy="2037600"/>
          </a:xfrm>
        </p:grpSpPr>
        <p:sp>
          <p:nvSpPr>
            <p:cNvPr id="21" name="Rechteck 20"/>
            <p:cNvSpPr/>
            <p:nvPr userDrawn="1"/>
          </p:nvSpPr>
          <p:spPr>
            <a:xfrm>
              <a:off x="6192000" y="603319"/>
              <a:ext cx="2648188" cy="20376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2" name="Rechteck 21"/>
            <p:cNvSpPr/>
            <p:nvPr userDrawn="1"/>
          </p:nvSpPr>
          <p:spPr bwMode="blackWhite">
            <a:xfrm>
              <a:off x="287338" y="603319"/>
              <a:ext cx="5904662" cy="2037600"/>
            </a:xfrm>
            <a:prstGeom prst="rect">
              <a:avLst/>
            </a:prstGeom>
            <a:solidFill>
              <a:srgbClr val="0096D3">
                <a:alpha val="89804"/>
              </a:srgb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black">
          <a:xfrm>
            <a:off x="605407" y="1294973"/>
            <a:ext cx="5436000" cy="516714"/>
          </a:xfrm>
          <a:prstGeom prst="rect">
            <a:avLst/>
          </a:prstGeom>
        </p:spPr>
        <p:txBody>
          <a:bodyPr tIns="0" anchor="b" anchorCtr="0">
            <a:noAutofit/>
          </a:bodyPr>
          <a:lstStyle>
            <a:lvl1pPr algn="l">
              <a:lnSpc>
                <a:spcPct val="100000"/>
              </a:lnSpc>
              <a:defRPr sz="3200" b="1" i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GB" dirty="0"/>
              <a:t>Max. 1 line for header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605407" y="993080"/>
            <a:ext cx="5436000" cy="304511"/>
          </a:xfrm>
        </p:spPr>
        <p:txBody>
          <a:bodyPr t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4571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2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Add subtitle here if required</a:t>
            </a:r>
          </a:p>
        </p:txBody>
      </p:sp>
      <p:sp>
        <p:nvSpPr>
          <p:cNvPr id="16" name="Textplatzhalter 9"/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287338" y="2642907"/>
            <a:ext cx="4284662" cy="805551"/>
          </a:xfrm>
          <a:solidFill>
            <a:schemeClr val="bg1">
              <a:alpha val="90000"/>
            </a:schemeClr>
          </a:solidFill>
        </p:spPr>
        <p:txBody>
          <a:bodyPr wrap="square" lIns="324000" tIns="216000" rIns="324000" bIns="216000" rtlCol="0" anchor="t" anchorCtr="0">
            <a:spAutoFit/>
          </a:bodyPr>
          <a:lstStyle>
            <a:lvl1pPr marL="0" indent="0">
              <a:buNone/>
              <a:defRPr lang="de-DE" sz="1200" dirty="0" smtClean="0"/>
            </a:lvl1pPr>
          </a:lstStyle>
          <a:p>
            <a:r>
              <a:rPr lang="en-GB" dirty="0"/>
              <a:t>Information about presentation (author, version No. etc.)</a:t>
            </a:r>
          </a:p>
        </p:txBody>
      </p:sp>
      <p:sp>
        <p:nvSpPr>
          <p:cNvPr id="12" name="Textplatzhalt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5426926"/>
            <a:ext cx="1638300" cy="243623"/>
          </a:xfrm>
        </p:spPr>
        <p:txBody>
          <a:bodyPr>
            <a:noAutofit/>
          </a:bodyPr>
          <a:lstStyle>
            <a:lvl1pPr marL="0" indent="0">
              <a:buNone/>
              <a:defRPr sz="900" cap="all" baseline="0">
                <a:solidFill>
                  <a:schemeClr val="tx1"/>
                </a:solidFill>
              </a:defRPr>
            </a:lvl1pPr>
            <a:lvl2pPr marL="266700" indent="0">
              <a:buNone/>
              <a:defRPr sz="1050"/>
            </a:lvl2pPr>
            <a:lvl3pPr marL="541338" indent="0">
              <a:buNone/>
              <a:defRPr sz="1050"/>
            </a:lvl3pPr>
            <a:lvl4pPr marL="808038" indent="0">
              <a:buNone/>
              <a:defRPr sz="1000"/>
            </a:lvl4pPr>
            <a:lvl5pPr marL="1077913" indent="0">
              <a:buNone/>
              <a:defRPr sz="1000"/>
            </a:lvl5pPr>
          </a:lstStyle>
          <a:p>
            <a:pPr lvl="0"/>
            <a:r>
              <a:rPr lang="en-GB" dirty="0"/>
              <a:t>State: </a:t>
            </a:r>
            <a:r>
              <a:rPr lang="en-GB" dirty="0" err="1"/>
              <a:t>xx.xx.xxxx</a:t>
            </a:r>
            <a:endParaRPr lang="en-GB" dirty="0"/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ABF9D4AB-1FA6-4101-9EE8-B852A65B2A1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79375" y="1065910"/>
            <a:ext cx="1849165" cy="975600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DDF8959B-5028-481F-A01F-8628D9F2E0D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5113" y="5129960"/>
            <a:ext cx="1835942" cy="317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666851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Bild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pieren 10"/>
          <p:cNvGrpSpPr/>
          <p:nvPr userDrawn="1"/>
        </p:nvGrpSpPr>
        <p:grpSpPr>
          <a:xfrm>
            <a:off x="287338" y="603319"/>
            <a:ext cx="8552850" cy="2037600"/>
            <a:chOff x="287338" y="603319"/>
            <a:chExt cx="8552850" cy="2037600"/>
          </a:xfrm>
        </p:grpSpPr>
        <p:sp>
          <p:nvSpPr>
            <p:cNvPr id="19" name="Rechteck 18"/>
            <p:cNvSpPr/>
            <p:nvPr userDrawn="1"/>
          </p:nvSpPr>
          <p:spPr>
            <a:xfrm>
              <a:off x="6192000" y="603319"/>
              <a:ext cx="2648188" cy="20376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1" name="Rechteck 20"/>
            <p:cNvSpPr/>
            <p:nvPr userDrawn="1"/>
          </p:nvSpPr>
          <p:spPr bwMode="blackWhite">
            <a:xfrm>
              <a:off x="287338" y="603319"/>
              <a:ext cx="5904662" cy="2037600"/>
            </a:xfrm>
            <a:prstGeom prst="rect">
              <a:avLst/>
            </a:prstGeom>
            <a:solidFill>
              <a:srgbClr val="0096D3">
                <a:alpha val="89804"/>
              </a:srgb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10" name="Textplatzhalter 9"/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287338" y="2941638"/>
            <a:ext cx="4284662" cy="805551"/>
          </a:xfrm>
          <a:solidFill>
            <a:schemeClr val="bg1">
              <a:alpha val="90000"/>
            </a:schemeClr>
          </a:solidFill>
        </p:spPr>
        <p:txBody>
          <a:bodyPr wrap="square" lIns="324000" tIns="216000" rIns="324000" bIns="216000" rtlCol="0" anchor="t" anchorCtr="0">
            <a:spAutoFit/>
          </a:bodyPr>
          <a:lstStyle>
            <a:lvl1pPr marL="0" indent="0">
              <a:buNone/>
              <a:defRPr lang="de-DE" sz="1200" dirty="0" smtClean="0"/>
            </a:lvl1pPr>
          </a:lstStyle>
          <a:p>
            <a:r>
              <a:rPr lang="en-GB" dirty="0"/>
              <a:t>Information about presentation (author, version No. etc.)</a:t>
            </a:r>
          </a:p>
        </p:txBody>
      </p:sp>
      <p:sp>
        <p:nvSpPr>
          <p:cNvPr id="14" name="Textplatzhalt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5426926"/>
            <a:ext cx="1638300" cy="243623"/>
          </a:xfrm>
        </p:spPr>
        <p:txBody>
          <a:bodyPr>
            <a:noAutofit/>
          </a:bodyPr>
          <a:lstStyle>
            <a:lvl1pPr marL="0" indent="0">
              <a:buNone/>
              <a:defRPr sz="900" cap="all" baseline="0">
                <a:solidFill>
                  <a:schemeClr val="bg1"/>
                </a:solidFill>
              </a:defRPr>
            </a:lvl1pPr>
            <a:lvl2pPr marL="266700" indent="0">
              <a:buNone/>
              <a:defRPr sz="1050"/>
            </a:lvl2pPr>
            <a:lvl3pPr marL="541338" indent="0">
              <a:buNone/>
              <a:defRPr sz="1050"/>
            </a:lvl3pPr>
            <a:lvl4pPr marL="808038" indent="0">
              <a:buNone/>
              <a:defRPr sz="1000"/>
            </a:lvl4pPr>
            <a:lvl5pPr marL="1077913" indent="0">
              <a:buNone/>
              <a:defRPr sz="1000"/>
            </a:lvl5pPr>
          </a:lstStyle>
          <a:p>
            <a:pPr lvl="0"/>
            <a:r>
              <a:rPr lang="en-GB" dirty="0"/>
              <a:t>State: </a:t>
            </a:r>
            <a:r>
              <a:rPr lang="en-GB" dirty="0" err="1"/>
              <a:t>xx.xx.xxxx</a:t>
            </a:r>
            <a:endParaRPr lang="en-GB" dirty="0"/>
          </a:p>
        </p:txBody>
      </p:sp>
      <p:sp>
        <p:nvSpPr>
          <p:cNvPr id="12" name="Titel 1"/>
          <p:cNvSpPr>
            <a:spLocks noGrp="1"/>
          </p:cNvSpPr>
          <p:nvPr>
            <p:ph type="ctrTitle" hasCustomPrompt="1"/>
          </p:nvPr>
        </p:nvSpPr>
        <p:spPr bwMode="black">
          <a:xfrm>
            <a:off x="605406" y="1301365"/>
            <a:ext cx="5436000" cy="1026000"/>
          </a:xfrm>
          <a:prstGeom prst="rect">
            <a:avLst/>
          </a:prstGeom>
        </p:spPr>
        <p:txBody>
          <a:bodyPr tIns="0" anchor="ctr" anchorCtr="0">
            <a:noAutofit/>
          </a:bodyPr>
          <a:lstStyle>
            <a:lvl1pPr algn="l">
              <a:lnSpc>
                <a:spcPct val="100000"/>
              </a:lnSpc>
              <a:defRPr sz="3200" b="1" i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GB" dirty="0"/>
              <a:t>Max. 2 lines of text for header</a:t>
            </a:r>
          </a:p>
        </p:txBody>
      </p:sp>
      <p:sp>
        <p:nvSpPr>
          <p:cNvPr id="13" name="Untertitel 2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605406" y="993080"/>
            <a:ext cx="5436000" cy="351533"/>
          </a:xfrm>
        </p:spPr>
        <p:txBody>
          <a:bodyPr t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4571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2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Add subtitle here if required</a:t>
            </a:r>
          </a:p>
        </p:txBody>
      </p:sp>
      <p:pic>
        <p:nvPicPr>
          <p:cNvPr id="23" name="Grafik 22">
            <a:extLst>
              <a:ext uri="{FF2B5EF4-FFF2-40B4-BE49-F238E27FC236}">
                <a16:creationId xmlns:a16="http://schemas.microsoft.com/office/drawing/2014/main" id="{904218C8-068C-46BC-ADE6-6BC8A468BF7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79375" y="1065910"/>
            <a:ext cx="1849165" cy="975600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D487AD36-3E46-4F41-8B5C-B79909802DD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5113" y="5129960"/>
            <a:ext cx="1835942" cy="31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316379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Bild 3 kurz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pieren 17"/>
          <p:cNvGrpSpPr/>
          <p:nvPr userDrawn="1"/>
        </p:nvGrpSpPr>
        <p:grpSpPr>
          <a:xfrm>
            <a:off x="287338" y="603319"/>
            <a:ext cx="8552850" cy="1731679"/>
            <a:chOff x="287338" y="603319"/>
            <a:chExt cx="8552850" cy="2037600"/>
          </a:xfrm>
        </p:grpSpPr>
        <p:sp>
          <p:nvSpPr>
            <p:cNvPr id="21" name="Rechteck 20"/>
            <p:cNvSpPr/>
            <p:nvPr userDrawn="1"/>
          </p:nvSpPr>
          <p:spPr>
            <a:xfrm>
              <a:off x="6192000" y="603319"/>
              <a:ext cx="2648188" cy="20376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2" name="Rechteck 21"/>
            <p:cNvSpPr/>
            <p:nvPr userDrawn="1"/>
          </p:nvSpPr>
          <p:spPr bwMode="blackWhite">
            <a:xfrm>
              <a:off x="287338" y="603319"/>
              <a:ext cx="5904662" cy="2037600"/>
            </a:xfrm>
            <a:prstGeom prst="rect">
              <a:avLst/>
            </a:prstGeom>
            <a:solidFill>
              <a:srgbClr val="0096D3">
                <a:alpha val="89804"/>
              </a:srgb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black">
          <a:xfrm>
            <a:off x="605407" y="1294973"/>
            <a:ext cx="5436000" cy="516714"/>
          </a:xfrm>
          <a:prstGeom prst="rect">
            <a:avLst/>
          </a:prstGeom>
        </p:spPr>
        <p:txBody>
          <a:bodyPr tIns="0" anchor="b" anchorCtr="0">
            <a:noAutofit/>
          </a:bodyPr>
          <a:lstStyle>
            <a:lvl1pPr algn="l">
              <a:lnSpc>
                <a:spcPct val="100000"/>
              </a:lnSpc>
              <a:defRPr sz="3200" b="1" i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GB" dirty="0"/>
              <a:t>Max. 1 line for header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605407" y="993080"/>
            <a:ext cx="5436000" cy="304511"/>
          </a:xfrm>
        </p:spPr>
        <p:txBody>
          <a:bodyPr t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4571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2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Add subtitle here if required</a:t>
            </a:r>
          </a:p>
        </p:txBody>
      </p:sp>
      <p:sp>
        <p:nvSpPr>
          <p:cNvPr id="16" name="Textplatzhalter 9"/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287338" y="2642907"/>
            <a:ext cx="4284662" cy="805551"/>
          </a:xfrm>
          <a:solidFill>
            <a:schemeClr val="bg1">
              <a:alpha val="90000"/>
            </a:schemeClr>
          </a:solidFill>
        </p:spPr>
        <p:txBody>
          <a:bodyPr wrap="square" lIns="324000" tIns="216000" rIns="324000" bIns="216000" rtlCol="0" anchor="t" anchorCtr="0">
            <a:spAutoFit/>
          </a:bodyPr>
          <a:lstStyle>
            <a:lvl1pPr marL="0" indent="0">
              <a:buNone/>
              <a:defRPr lang="de-DE" sz="1200" dirty="0" smtClean="0"/>
            </a:lvl1pPr>
          </a:lstStyle>
          <a:p>
            <a:r>
              <a:rPr lang="en-GB" dirty="0"/>
              <a:t>Information about presentation (author, version No. etc.)</a:t>
            </a:r>
          </a:p>
        </p:txBody>
      </p:sp>
      <p:sp>
        <p:nvSpPr>
          <p:cNvPr id="12" name="Textplatzhalt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5426926"/>
            <a:ext cx="1638300" cy="243623"/>
          </a:xfrm>
        </p:spPr>
        <p:txBody>
          <a:bodyPr>
            <a:noAutofit/>
          </a:bodyPr>
          <a:lstStyle>
            <a:lvl1pPr marL="0" indent="0">
              <a:buNone/>
              <a:defRPr sz="900" cap="all" baseline="0">
                <a:solidFill>
                  <a:schemeClr val="bg1"/>
                </a:solidFill>
              </a:defRPr>
            </a:lvl1pPr>
            <a:lvl2pPr marL="266700" indent="0">
              <a:buNone/>
              <a:defRPr sz="1050"/>
            </a:lvl2pPr>
            <a:lvl3pPr marL="541338" indent="0">
              <a:buNone/>
              <a:defRPr sz="1050"/>
            </a:lvl3pPr>
            <a:lvl4pPr marL="808038" indent="0">
              <a:buNone/>
              <a:defRPr sz="1000"/>
            </a:lvl4pPr>
            <a:lvl5pPr marL="1077913" indent="0">
              <a:buNone/>
              <a:defRPr sz="1000"/>
            </a:lvl5pPr>
          </a:lstStyle>
          <a:p>
            <a:pPr lvl="0"/>
            <a:r>
              <a:rPr lang="en-GB" dirty="0"/>
              <a:t>State: </a:t>
            </a:r>
            <a:r>
              <a:rPr lang="en-GB" dirty="0" err="1"/>
              <a:t>xx.xx.xxxx</a:t>
            </a:r>
            <a:endParaRPr lang="en-GB" dirty="0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63D0D44A-5625-4C70-A2EB-08D982355B9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79375" y="1065910"/>
            <a:ext cx="1849165" cy="975600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D91D1A92-B997-47B5-A14A-E2A501C20D0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5113" y="5129960"/>
            <a:ext cx="1835942" cy="31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58111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uppieren 20"/>
          <p:cNvGrpSpPr/>
          <p:nvPr userDrawn="1"/>
        </p:nvGrpSpPr>
        <p:grpSpPr>
          <a:xfrm>
            <a:off x="287338" y="603319"/>
            <a:ext cx="8552850" cy="2037600"/>
            <a:chOff x="287338" y="603319"/>
            <a:chExt cx="8552850" cy="2037600"/>
          </a:xfrm>
        </p:grpSpPr>
        <p:sp>
          <p:nvSpPr>
            <p:cNvPr id="22" name="Rechteck 21"/>
            <p:cNvSpPr/>
            <p:nvPr userDrawn="1"/>
          </p:nvSpPr>
          <p:spPr>
            <a:xfrm>
              <a:off x="6192000" y="603319"/>
              <a:ext cx="2648188" cy="2037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Rechteck 22"/>
            <p:cNvSpPr/>
            <p:nvPr userDrawn="1"/>
          </p:nvSpPr>
          <p:spPr bwMode="blackWhite">
            <a:xfrm>
              <a:off x="287338" y="603319"/>
              <a:ext cx="5904662" cy="2037600"/>
            </a:xfrm>
            <a:prstGeom prst="rect">
              <a:avLst/>
            </a:prstGeom>
            <a:solidFill>
              <a:srgbClr val="0096D3"/>
            </a:solidFill>
            <a:ln>
              <a:solidFill>
                <a:schemeClr val="accent1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14" name="Textplatzhalter 9"/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287338" y="2941638"/>
            <a:ext cx="4284662" cy="620885"/>
          </a:xfrm>
          <a:solidFill>
            <a:schemeClr val="bg1">
              <a:alpha val="90000"/>
            </a:schemeClr>
          </a:solidFill>
        </p:spPr>
        <p:txBody>
          <a:bodyPr wrap="square" lIns="324000" tIns="216000" rIns="324000" bIns="216000" rtlCol="0" anchor="t" anchorCtr="0">
            <a:spAutoFit/>
          </a:bodyPr>
          <a:lstStyle>
            <a:lvl1pPr marL="0" indent="0" defTabSz="914400">
              <a:buNone/>
              <a:defRPr lang="de-DE" sz="1200" dirty="0" smtClean="0"/>
            </a:lvl1pPr>
          </a:lstStyle>
          <a:p>
            <a:pPr marL="0" lvl="0" defTabSz="914400"/>
            <a:r>
              <a:rPr lang="en-GB" dirty="0"/>
              <a:t>Subtitle chapter</a:t>
            </a:r>
          </a:p>
        </p:txBody>
      </p:sp>
      <p:sp>
        <p:nvSpPr>
          <p:cNvPr id="13" name="Titel 1"/>
          <p:cNvSpPr>
            <a:spLocks noGrp="1"/>
          </p:cNvSpPr>
          <p:nvPr>
            <p:ph type="ctrTitle" hasCustomPrompt="1"/>
          </p:nvPr>
        </p:nvSpPr>
        <p:spPr bwMode="black">
          <a:xfrm>
            <a:off x="605406" y="1301365"/>
            <a:ext cx="5436000" cy="1026000"/>
          </a:xfrm>
          <a:prstGeom prst="rect">
            <a:avLst/>
          </a:prstGeom>
        </p:spPr>
        <p:txBody>
          <a:bodyPr tIns="0" anchor="ctr" anchorCtr="0">
            <a:noAutofit/>
          </a:bodyPr>
          <a:lstStyle>
            <a:lvl1pPr algn="l">
              <a:lnSpc>
                <a:spcPct val="100000"/>
              </a:lnSpc>
              <a:defRPr sz="2800" b="1" i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GB" dirty="0"/>
              <a:t>Max. 2 lines of text for chapter header</a:t>
            </a:r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529FDC53-5973-45F2-8F83-ED68F7A58508}" type="datetime1">
              <a:rPr lang="en-GB" smtClean="0"/>
              <a:t>25/08/2023</a:t>
            </a:fld>
            <a:endParaRPr lang="en-GB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 dirty="0"/>
              <a:t>Sample Footer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GB" dirty="0"/>
              <a:t>Page </a:t>
            </a:r>
            <a:fld id="{BE3DC40E-DBBE-4E2D-9EEC-FBF0DA0E9179}" type="slidenum">
              <a:rPr lang="en-GB" smtClean="0"/>
              <a:pPr/>
              <a:t>‹Nr.›</a:t>
            </a:fld>
            <a:endParaRPr lang="en-GB" dirty="0"/>
          </a:p>
        </p:txBody>
      </p:sp>
      <p:pic>
        <p:nvPicPr>
          <p:cNvPr id="18" name="Grafik 17">
            <a:extLst>
              <a:ext uri="{FF2B5EF4-FFF2-40B4-BE49-F238E27FC236}">
                <a16:creationId xmlns:a16="http://schemas.microsoft.com/office/drawing/2014/main" id="{89CCD104-DEA0-4048-8CA3-CAB740FC066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79375" y="1065910"/>
            <a:ext cx="1849165" cy="97560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72F980AF-DDD0-4966-B1E7-E1B87083C7C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7613" y="5351511"/>
            <a:ext cx="1318058" cy="228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976733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folie kur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pieren 12"/>
          <p:cNvGrpSpPr/>
          <p:nvPr userDrawn="1"/>
        </p:nvGrpSpPr>
        <p:grpSpPr>
          <a:xfrm>
            <a:off x="287338" y="603319"/>
            <a:ext cx="8552850" cy="1731679"/>
            <a:chOff x="287338" y="603319"/>
            <a:chExt cx="8552850" cy="2037600"/>
          </a:xfrm>
        </p:grpSpPr>
        <p:sp>
          <p:nvSpPr>
            <p:cNvPr id="15" name="Rechteck 14"/>
            <p:cNvSpPr/>
            <p:nvPr userDrawn="1"/>
          </p:nvSpPr>
          <p:spPr>
            <a:xfrm>
              <a:off x="6192000" y="603319"/>
              <a:ext cx="2648188" cy="2037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Rechteck 16"/>
            <p:cNvSpPr/>
            <p:nvPr userDrawn="1"/>
          </p:nvSpPr>
          <p:spPr bwMode="blackWhite">
            <a:xfrm>
              <a:off x="287338" y="603319"/>
              <a:ext cx="5904662" cy="2037600"/>
            </a:xfrm>
            <a:prstGeom prst="rect">
              <a:avLst/>
            </a:prstGeom>
            <a:solidFill>
              <a:srgbClr val="0096D3"/>
            </a:solidFill>
            <a:ln>
              <a:solidFill>
                <a:schemeClr val="accent1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black">
          <a:xfrm>
            <a:off x="605407" y="1302593"/>
            <a:ext cx="5436000" cy="516714"/>
          </a:xfrm>
          <a:prstGeom prst="rect">
            <a:avLst/>
          </a:prstGeom>
        </p:spPr>
        <p:txBody>
          <a:bodyPr tIns="0" anchor="b" anchorCtr="0">
            <a:noAutofit/>
          </a:bodyPr>
          <a:lstStyle>
            <a:lvl1pPr algn="l">
              <a:lnSpc>
                <a:spcPct val="100000"/>
              </a:lnSpc>
              <a:defRPr sz="2800" b="1" i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GB" dirty="0"/>
              <a:t>1 line for chapter header</a:t>
            </a:r>
          </a:p>
        </p:txBody>
      </p:sp>
      <p:sp>
        <p:nvSpPr>
          <p:cNvPr id="14" name="Textplatzhalter 9"/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287338" y="2642907"/>
            <a:ext cx="4284662" cy="620885"/>
          </a:xfrm>
          <a:solidFill>
            <a:schemeClr val="bg1">
              <a:alpha val="90000"/>
            </a:schemeClr>
          </a:solidFill>
        </p:spPr>
        <p:txBody>
          <a:bodyPr wrap="square" lIns="324000" tIns="216000" rIns="324000" bIns="216000" rtlCol="0" anchor="t" anchorCtr="0">
            <a:spAutoFit/>
          </a:bodyPr>
          <a:lstStyle>
            <a:lvl1pPr marL="0" indent="0" defTabSz="914400">
              <a:buNone/>
              <a:defRPr lang="de-DE" sz="1200" dirty="0" smtClean="0"/>
            </a:lvl1pPr>
          </a:lstStyle>
          <a:p>
            <a:pPr marL="0" lvl="0" defTabSz="914400"/>
            <a:r>
              <a:rPr lang="en-GB" dirty="0"/>
              <a:t>Subtitle chapter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24570F99-0B5D-40DA-A3D3-DDF1CB693FD8}" type="datetime1">
              <a:rPr lang="en-GB" smtClean="0"/>
              <a:t>25/08/2023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 dirty="0"/>
              <a:t>Sample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GB" dirty="0"/>
              <a:t>Page </a:t>
            </a:r>
            <a:fld id="{BE3DC40E-DBBE-4E2D-9EEC-FBF0DA0E9179}" type="slidenum">
              <a:rPr lang="en-GB" smtClean="0"/>
              <a:pPr/>
              <a:t>‹Nr.›</a:t>
            </a:fld>
            <a:endParaRPr lang="en-GB" dirty="0"/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416AA66B-0354-461B-A799-CF3EFFC17D8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79375" y="1065910"/>
            <a:ext cx="1849165" cy="97560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D0ECE620-FB2B-4217-AA10-439373F15D4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7613" y="5351511"/>
            <a:ext cx="1318058" cy="228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094613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nhaltsplatzhalter 6"/>
          <p:cNvSpPr>
            <a:spLocks noGrp="1"/>
          </p:cNvSpPr>
          <p:nvPr>
            <p:ph sz="quarter" idx="10" hasCustomPrompt="1"/>
          </p:nvPr>
        </p:nvSpPr>
        <p:spPr>
          <a:xfrm>
            <a:off x="468316" y="1344613"/>
            <a:ext cx="8210547" cy="4370387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Placeholder for objects</a:t>
            </a:r>
          </a:p>
        </p:txBody>
      </p:sp>
      <p:sp>
        <p:nvSpPr>
          <p:cNvPr id="8" name="Rechteck 7"/>
          <p:cNvSpPr/>
          <p:nvPr userDrawn="1"/>
        </p:nvSpPr>
        <p:spPr bwMode="gray">
          <a:xfrm>
            <a:off x="0" y="1043522"/>
            <a:ext cx="9144000" cy="25200"/>
          </a:xfrm>
          <a:prstGeom prst="rect">
            <a:avLst/>
          </a:prstGeom>
          <a:solidFill>
            <a:srgbClr val="0C94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      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293310F7-117D-4045-8610-3277CC5ED2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11621" y="288569"/>
            <a:ext cx="1170000" cy="61728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462405" y="1344613"/>
            <a:ext cx="3960000" cy="3859212"/>
          </a:xfrm>
        </p:spPr>
        <p:txBody>
          <a:bodyPr>
            <a:normAutofit/>
          </a:bodyPr>
          <a:lstStyle>
            <a:lvl1pPr>
              <a:defRPr sz="1600"/>
            </a:lvl1pPr>
            <a:lvl2pPr marL="541312" indent="-285750">
              <a:buClr>
                <a:schemeClr val="accent1"/>
              </a:buClr>
              <a:buFont typeface="Wingdings" charset="2"/>
              <a:buChar char="§"/>
              <a:defRPr sz="1500"/>
            </a:lvl2pPr>
            <a:lvl3pPr>
              <a:defRPr sz="1400"/>
            </a:lvl3pPr>
            <a:lvl4pPr>
              <a:buClr>
                <a:schemeClr val="accent1"/>
              </a:buCl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dirty="0" err="1"/>
              <a:t>Textmasterformat</a:t>
            </a:r>
            <a:r>
              <a:rPr lang="en-GB" dirty="0"/>
              <a:t> </a:t>
            </a:r>
            <a:r>
              <a:rPr lang="en-GB" dirty="0" err="1"/>
              <a:t>bearbeiten</a:t>
            </a:r>
            <a:endParaRPr lang="en-GB" dirty="0"/>
          </a:p>
          <a:p>
            <a:pPr lvl="1"/>
            <a:r>
              <a:rPr lang="en-GB" dirty="0" err="1"/>
              <a:t>Zweite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  <a:p>
            <a:pPr lvl="2"/>
            <a:r>
              <a:rPr lang="en-GB" dirty="0" err="1"/>
              <a:t>Dritte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4715688" y="1344613"/>
            <a:ext cx="3960000" cy="3859212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1600"/>
            </a:lvl1pPr>
            <a:lvl2pPr marL="541312" indent="-285750">
              <a:buClr>
                <a:schemeClr val="accent1"/>
              </a:buClr>
              <a:buFont typeface="Wingdings" charset="2"/>
              <a:buChar char="§"/>
              <a:defRPr sz="1500"/>
            </a:lvl2pPr>
            <a:lvl3pPr>
              <a:defRPr sz="1400"/>
            </a:lvl3pPr>
            <a:lvl4pPr>
              <a:buClr>
                <a:schemeClr val="accent1"/>
              </a:buClr>
              <a:defRPr sz="1200"/>
            </a:lvl4pPr>
            <a:lvl5pPr>
              <a:buClr>
                <a:schemeClr val="accent1"/>
              </a:buCl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dirty="0" err="1"/>
              <a:t>Textmasterformat</a:t>
            </a:r>
            <a:r>
              <a:rPr lang="en-GB" dirty="0"/>
              <a:t> </a:t>
            </a:r>
            <a:r>
              <a:rPr lang="en-GB" dirty="0" err="1"/>
              <a:t>bearbeiten</a:t>
            </a:r>
            <a:endParaRPr lang="en-GB" dirty="0"/>
          </a:p>
          <a:p>
            <a:pPr lvl="1"/>
            <a:r>
              <a:rPr lang="en-GB" dirty="0" err="1"/>
              <a:t>Zweite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  <a:p>
            <a:pPr lvl="2"/>
            <a:r>
              <a:rPr lang="en-GB" dirty="0" err="1"/>
              <a:t>Dritte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D44FF-326E-4934-AE8D-65DEFF191BB1}" type="datetime1">
              <a:rPr lang="en-GB" smtClean="0"/>
              <a:t>25/08/2023</a:t>
            </a:fld>
            <a:endParaRPr lang="en-GB" dirty="0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Sample Footer</a:t>
            </a:r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dirty="0"/>
              <a:t>Page </a:t>
            </a:r>
            <a:fld id="{BE3DC40E-DBBE-4E2D-9EEC-FBF0DA0E9179}" type="slidenum">
              <a:rPr lang="en-GB" smtClean="0"/>
              <a:t>‹Nr.›</a:t>
            </a:fld>
            <a:endParaRPr lang="en-GB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 dirty="0"/>
          </a:p>
        </p:txBody>
      </p:sp>
    </p:spTree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462405" y="1935991"/>
            <a:ext cx="3960000" cy="3267834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5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dirty="0" err="1"/>
              <a:t>Textmasterformat</a:t>
            </a:r>
            <a:r>
              <a:rPr lang="en-GB" dirty="0"/>
              <a:t> </a:t>
            </a:r>
            <a:r>
              <a:rPr lang="en-GB" dirty="0" err="1"/>
              <a:t>bearbeiten</a:t>
            </a:r>
            <a:endParaRPr lang="en-GB" dirty="0"/>
          </a:p>
          <a:p>
            <a:pPr lvl="1"/>
            <a:r>
              <a:rPr lang="en-GB" dirty="0" err="1"/>
              <a:t>Zweite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  <a:p>
            <a:pPr lvl="2"/>
            <a:r>
              <a:rPr lang="en-GB" dirty="0" err="1"/>
              <a:t>Dritte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4715688" y="1935991"/>
            <a:ext cx="3960000" cy="3267834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5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dirty="0" err="1"/>
              <a:t>Textmasterformat</a:t>
            </a:r>
            <a:r>
              <a:rPr lang="en-GB" dirty="0"/>
              <a:t> </a:t>
            </a:r>
            <a:r>
              <a:rPr lang="en-GB" dirty="0" err="1"/>
              <a:t>bearbeiten</a:t>
            </a:r>
            <a:endParaRPr lang="en-GB" dirty="0"/>
          </a:p>
          <a:p>
            <a:pPr lvl="1"/>
            <a:r>
              <a:rPr lang="en-GB" dirty="0" err="1"/>
              <a:t>Zweite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  <a:p>
            <a:pPr lvl="2"/>
            <a:r>
              <a:rPr lang="en-GB" dirty="0" err="1"/>
              <a:t>Dritte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</p:txBody>
      </p:sp>
      <p:sp>
        <p:nvSpPr>
          <p:cNvPr id="8" name="Textplatzhalter 2"/>
          <p:cNvSpPr>
            <a:spLocks noGrp="1"/>
          </p:cNvSpPr>
          <p:nvPr>
            <p:ph type="body" idx="13" hasCustomPrompt="1"/>
          </p:nvPr>
        </p:nvSpPr>
        <p:spPr bwMode="gray">
          <a:xfrm>
            <a:off x="468314" y="1344613"/>
            <a:ext cx="3960811" cy="533136"/>
          </a:xfr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none"/>
        </p:style>
        <p:txBody>
          <a:bodyPr anchor="ctr" anchorCtr="0">
            <a:noAutofit/>
          </a:bodyPr>
          <a:lstStyle>
            <a:lvl1pPr marL="92066" indent="0">
              <a:buNone/>
              <a:tabLst/>
              <a:defRPr sz="1800" b="1" baseline="0">
                <a:solidFill>
                  <a:schemeClr val="bg1"/>
                </a:solidFill>
                <a:latin typeface="+mj-lt"/>
              </a:defRPr>
            </a:lvl1pPr>
            <a:lvl2pPr marL="457153" indent="0">
              <a:buNone/>
              <a:defRPr sz="2000" b="1"/>
            </a:lvl2pPr>
            <a:lvl3pPr marL="914306" indent="0">
              <a:buNone/>
              <a:defRPr sz="1800" b="1"/>
            </a:lvl3pPr>
            <a:lvl4pPr marL="1371460" indent="0">
              <a:buNone/>
              <a:defRPr sz="1600" b="1"/>
            </a:lvl4pPr>
            <a:lvl5pPr marL="1828613" indent="0">
              <a:buNone/>
              <a:defRPr sz="1600" b="1"/>
            </a:lvl5pPr>
            <a:lvl6pPr marL="2285767" indent="0">
              <a:buNone/>
              <a:defRPr sz="1600" b="1"/>
            </a:lvl6pPr>
            <a:lvl7pPr marL="2742920" indent="0">
              <a:buNone/>
              <a:defRPr sz="1600" b="1"/>
            </a:lvl7pPr>
            <a:lvl8pPr marL="3200073" indent="0">
              <a:buNone/>
              <a:defRPr sz="1600" b="1"/>
            </a:lvl8pPr>
            <a:lvl9pPr marL="3657227" indent="0">
              <a:buNone/>
              <a:defRPr sz="1600" b="1"/>
            </a:lvl9pPr>
          </a:lstStyle>
          <a:p>
            <a:pPr lvl="0"/>
            <a:r>
              <a:rPr lang="en-GB" dirty="0"/>
              <a:t>Subtitle 1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E16A0E8-29DE-4D75-BF66-2C047D439D41}" type="datetime1">
              <a:rPr lang="en-GB" smtClean="0"/>
              <a:t>25/08/2023</a:t>
            </a:fld>
            <a:endParaRPr lang="en-GB" dirty="0"/>
          </a:p>
        </p:txBody>
      </p:sp>
      <p:sp>
        <p:nvSpPr>
          <p:cNvPr id="11" name="Fußzeilenplatzhalter 10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dirty="0"/>
              <a:t>Sample Footer</a:t>
            </a:r>
          </a:p>
        </p:txBody>
      </p:sp>
      <p:sp>
        <p:nvSpPr>
          <p:cNvPr id="12" name="Foliennummernplatzhalter 1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GB" dirty="0"/>
              <a:t>Page </a:t>
            </a:r>
            <a:fld id="{BE3DC40E-DBBE-4E2D-9EEC-FBF0DA0E9179}" type="slidenum">
              <a:rPr lang="en-GB" smtClean="0"/>
              <a:t>‹Nr.›</a:t>
            </a:fld>
            <a:endParaRPr lang="en-GB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 dirty="0"/>
          </a:p>
        </p:txBody>
      </p:sp>
      <p:sp>
        <p:nvSpPr>
          <p:cNvPr id="14" name="Textplatzhalter 2"/>
          <p:cNvSpPr>
            <a:spLocks noGrp="1"/>
          </p:cNvSpPr>
          <p:nvPr>
            <p:ph type="body" idx="17" hasCustomPrompt="1"/>
          </p:nvPr>
        </p:nvSpPr>
        <p:spPr bwMode="gray">
          <a:xfrm>
            <a:off x="4727894" y="1344613"/>
            <a:ext cx="3960811" cy="533136"/>
          </a:xfr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none"/>
        </p:style>
        <p:txBody>
          <a:bodyPr anchor="ctr" anchorCtr="0">
            <a:noAutofit/>
          </a:bodyPr>
          <a:lstStyle>
            <a:lvl1pPr marL="92066" indent="0">
              <a:buNone/>
              <a:tabLst/>
              <a:defRPr sz="1800" b="1" baseline="0">
                <a:solidFill>
                  <a:schemeClr val="bg1"/>
                </a:solidFill>
                <a:latin typeface="+mj-lt"/>
              </a:defRPr>
            </a:lvl1pPr>
            <a:lvl2pPr marL="457153" indent="0">
              <a:buNone/>
              <a:defRPr sz="2000" b="1"/>
            </a:lvl2pPr>
            <a:lvl3pPr marL="914306" indent="0">
              <a:buNone/>
              <a:defRPr sz="1800" b="1"/>
            </a:lvl3pPr>
            <a:lvl4pPr marL="1371460" indent="0">
              <a:buNone/>
              <a:defRPr sz="1600" b="1"/>
            </a:lvl4pPr>
            <a:lvl5pPr marL="1828613" indent="0">
              <a:buNone/>
              <a:defRPr sz="1600" b="1"/>
            </a:lvl5pPr>
            <a:lvl6pPr marL="2285767" indent="0">
              <a:buNone/>
              <a:defRPr sz="1600" b="1"/>
            </a:lvl6pPr>
            <a:lvl7pPr marL="2742920" indent="0">
              <a:buNone/>
              <a:defRPr sz="1600" b="1"/>
            </a:lvl7pPr>
            <a:lvl8pPr marL="3200073" indent="0">
              <a:buNone/>
              <a:defRPr sz="1600" b="1"/>
            </a:lvl8pPr>
            <a:lvl9pPr marL="3657227" indent="0">
              <a:buNone/>
              <a:defRPr sz="1600" b="1"/>
            </a:lvl9pPr>
          </a:lstStyle>
          <a:p>
            <a:pPr lvl="0"/>
            <a:r>
              <a:rPr lang="en-GB" dirty="0"/>
              <a:t>Subtitle 2</a:t>
            </a:r>
          </a:p>
        </p:txBody>
      </p:sp>
    </p:spTree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467544" y="1964530"/>
            <a:ext cx="4319712" cy="2716954"/>
          </a:xfrm>
          <a:prstGeom prst="rect">
            <a:avLst/>
          </a:prstGeom>
          <a:ln w="1270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31" tIns="45715" rIns="91431" bIns="45715" rtlCol="0" anchor="ctr"/>
          <a:lstStyle/>
          <a:p>
            <a:pPr algn="ctr"/>
            <a:endParaRPr lang="en-GB" dirty="0"/>
          </a:p>
        </p:txBody>
      </p:sp>
      <p:pic>
        <p:nvPicPr>
          <p:cNvPr id="7" name="Grafik 6" descr="Logo-für-VK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11560" y="2127250"/>
            <a:ext cx="492443" cy="2252663"/>
          </a:xfrm>
          <a:prstGeom prst="rect">
            <a:avLst/>
          </a:prstGeom>
        </p:spPr>
      </p:pic>
      <p:sp>
        <p:nvSpPr>
          <p:cNvPr id="11" name="Textplatzhalter 10"/>
          <p:cNvSpPr>
            <a:spLocks noGrp="1"/>
          </p:cNvSpPr>
          <p:nvPr>
            <p:ph type="body" sz="quarter" idx="10" hasCustomPrompt="1"/>
          </p:nvPr>
        </p:nvSpPr>
        <p:spPr>
          <a:xfrm>
            <a:off x="1684020" y="2559843"/>
            <a:ext cx="2763926" cy="1811291"/>
          </a:xfrm>
        </p:spPr>
        <p:txBody>
          <a:bodyPr>
            <a:normAutofit/>
          </a:bodyPr>
          <a:lstStyle>
            <a:lvl1pPr marL="0" marR="0" indent="0" algn="l" defTabSz="9143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2582"/>
              </a:buClr>
              <a:buSzTx/>
              <a:buFont typeface="Wingdings" pitchFamily="2" charset="2"/>
              <a:buNone/>
              <a:tabLst/>
              <a:defRPr sz="1100" baseline="0"/>
            </a:lvl1pPr>
            <a:lvl2pPr marL="0" indent="0"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marL="0" marR="0" lvl="0" indent="0" algn="l" defTabSz="9143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2582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Hier</a:t>
            </a: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GB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Adressdaten</a:t>
            </a: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GB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eingeben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Datumsplatzhalt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D1DA7DE9-F6B6-4FDA-A00F-1221D494593B}" type="datetime1">
              <a:rPr lang="en-GB" smtClean="0"/>
              <a:t>25/08/2023</a:t>
            </a:fld>
            <a:endParaRPr lang="en-GB" dirty="0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 dirty="0"/>
              <a:t>Sample Footer</a:t>
            </a:r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r>
              <a:rPr lang="en-GB" dirty="0"/>
              <a:t>Page </a:t>
            </a:r>
            <a:fld id="{BE3DC40E-DBBE-4E2D-9EEC-FBF0DA0E9179}" type="slidenum">
              <a:rPr lang="en-GB" smtClean="0"/>
              <a:t>‹Nr.›</a:t>
            </a:fld>
            <a:endParaRPr lang="en-GB" dirty="0"/>
          </a:p>
        </p:txBody>
      </p:sp>
    </p:spTree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Kontak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pieren 10"/>
          <p:cNvGrpSpPr/>
          <p:nvPr userDrawn="1"/>
        </p:nvGrpSpPr>
        <p:grpSpPr>
          <a:xfrm>
            <a:off x="287338" y="603319"/>
            <a:ext cx="8552850" cy="2037600"/>
            <a:chOff x="287338" y="603319"/>
            <a:chExt cx="8552850" cy="2037600"/>
          </a:xfrm>
        </p:grpSpPr>
        <p:sp>
          <p:nvSpPr>
            <p:cNvPr id="14" name="Rechteck 13"/>
            <p:cNvSpPr/>
            <p:nvPr userDrawn="1"/>
          </p:nvSpPr>
          <p:spPr>
            <a:xfrm>
              <a:off x="6192000" y="603319"/>
              <a:ext cx="2648188" cy="20376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Rechteck 14"/>
            <p:cNvSpPr/>
            <p:nvPr userDrawn="1"/>
          </p:nvSpPr>
          <p:spPr bwMode="blackWhite">
            <a:xfrm>
              <a:off x="287338" y="603319"/>
              <a:ext cx="5904662" cy="2037600"/>
            </a:xfrm>
            <a:prstGeom prst="rect">
              <a:avLst/>
            </a:prstGeom>
            <a:solidFill>
              <a:srgbClr val="0096D3">
                <a:alpha val="89804"/>
              </a:srgb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2" name="Titel 1"/>
          <p:cNvSpPr>
            <a:spLocks noGrp="1"/>
          </p:cNvSpPr>
          <p:nvPr userDrawn="1">
            <p:ph type="ctrTitle" hasCustomPrompt="1"/>
          </p:nvPr>
        </p:nvSpPr>
        <p:spPr bwMode="black">
          <a:xfrm>
            <a:off x="605406" y="1301365"/>
            <a:ext cx="5436000" cy="1026000"/>
          </a:xfrm>
          <a:prstGeom prst="rect">
            <a:avLst/>
          </a:prstGeom>
        </p:spPr>
        <p:txBody>
          <a:bodyPr tIns="0" anchor="ctr" anchorCtr="0">
            <a:noAutofit/>
          </a:bodyPr>
          <a:lstStyle>
            <a:lvl1pPr algn="l">
              <a:lnSpc>
                <a:spcPct val="100000"/>
              </a:lnSpc>
              <a:defRPr sz="3200" b="1" i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GB" dirty="0"/>
              <a:t>Max. 2 lines of text for header</a:t>
            </a:r>
          </a:p>
        </p:txBody>
      </p:sp>
      <p:sp>
        <p:nvSpPr>
          <p:cNvPr id="3" name="Untertitel 2"/>
          <p:cNvSpPr>
            <a:spLocks noGrp="1"/>
          </p:cNvSpPr>
          <p:nvPr userDrawn="1">
            <p:ph type="subTitle" idx="1" hasCustomPrompt="1"/>
          </p:nvPr>
        </p:nvSpPr>
        <p:spPr bwMode="black">
          <a:xfrm>
            <a:off x="605406" y="993080"/>
            <a:ext cx="5436000" cy="351533"/>
          </a:xfrm>
        </p:spPr>
        <p:txBody>
          <a:bodyPr t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 baseline="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4571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2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Add subtitle here if required</a:t>
            </a:r>
          </a:p>
        </p:txBody>
      </p:sp>
      <p:sp>
        <p:nvSpPr>
          <p:cNvPr id="10" name="Kontaktdaten"/>
          <p:cNvSpPr>
            <a:spLocks noGrp="1"/>
          </p:cNvSpPr>
          <p:nvPr userDrawn="1"/>
        </p:nvSpPr>
        <p:spPr bwMode="white">
          <a:xfrm>
            <a:off x="287338" y="2941638"/>
            <a:ext cx="4284662" cy="1400000"/>
          </a:xfrm>
          <a:prstGeom prst="rect">
            <a:avLst/>
          </a:prstGeom>
          <a:solidFill>
            <a:srgbClr val="FFFFFF">
              <a:alpha val="90000"/>
            </a:srgbClr>
          </a:solidFill>
          <a:ln>
            <a:noFill/>
          </a:ln>
        </p:spPr>
        <p:txBody>
          <a:bodyPr wrap="square" lIns="324000" tIns="216000" rIns="324000" bIns="216000" rtlCol="0" anchor="t" anchorCtr="0">
            <a:spAutoFit/>
          </a:bodyPr>
          <a:lstStyle>
            <a:lvl1pPr marL="0" indent="0">
              <a:buNone/>
              <a:defRPr lang="de-DE" sz="1200" baseline="0" dirty="0" smtClean="0"/>
            </a:lvl1pPr>
          </a:lstStyle>
          <a:p>
            <a:pPr marL="0" indent="0">
              <a:buNone/>
            </a:pPr>
            <a:r>
              <a:rPr lang="en-GB" sz="1100" dirty="0">
                <a:solidFill>
                  <a:srgbClr val="000000"/>
                </a:solidFill>
                <a:latin typeface="+mn-lt"/>
              </a:rPr>
              <a:t>Dr Arne Floh, Senior Lecturer in Marketing</a:t>
            </a:r>
          </a:p>
          <a:p>
            <a:pPr marL="0" indent="0">
              <a:buNone/>
            </a:pPr>
            <a:r>
              <a:rPr lang="en-GB" sz="1100" dirty="0">
                <a:solidFill>
                  <a:srgbClr val="000000"/>
                </a:solidFill>
                <a:latin typeface="+mn-lt"/>
              </a:rPr>
              <a:t>WU Vienna, Institute for International Business</a:t>
            </a:r>
          </a:p>
          <a:p>
            <a:pPr marL="0" indent="0">
              <a:buNone/>
            </a:pPr>
            <a:r>
              <a:rPr lang="en-GB" sz="1100" dirty="0">
                <a:solidFill>
                  <a:srgbClr val="000000"/>
                </a:solidFill>
                <a:latin typeface="+mn-lt"/>
                <a:hlinkClick r:id="rId20"/>
              </a:rPr>
              <a:t>arne.floh@wu.ac.at</a:t>
            </a:r>
          </a:p>
          <a:p>
            <a:pPr marL="0" indent="0">
              <a:buNone/>
            </a:pPr>
            <a:r>
              <a:rPr lang="en-GB" sz="1100" dirty="0">
                <a:solidFill>
                  <a:srgbClr val="000000"/>
                </a:solidFill>
                <a:latin typeface="+mn-lt"/>
                <a:hlinkClick r:id="rId21"/>
              </a:rPr>
              <a:t>Office hours: book online (Google Calendar)</a:t>
            </a:r>
          </a:p>
        </p:txBody>
      </p:sp>
      <p:sp>
        <p:nvSpPr>
          <p:cNvPr id="12" name="Textplatzhalter 7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457200" y="5426926"/>
            <a:ext cx="1638300" cy="243623"/>
          </a:xfrm>
        </p:spPr>
        <p:txBody>
          <a:bodyPr>
            <a:noAutofit/>
          </a:bodyPr>
          <a:lstStyle>
            <a:lvl1pPr marL="0" indent="0">
              <a:buNone/>
              <a:defRPr sz="900" cap="all" baseline="0">
                <a:solidFill>
                  <a:schemeClr val="bg1"/>
                </a:solidFill>
              </a:defRPr>
            </a:lvl1pPr>
            <a:lvl2pPr marL="266700" indent="0">
              <a:buNone/>
              <a:defRPr sz="1050"/>
            </a:lvl2pPr>
            <a:lvl3pPr marL="541338" indent="0">
              <a:buNone/>
              <a:defRPr sz="1050"/>
            </a:lvl3pPr>
            <a:lvl4pPr marL="808038" indent="0">
              <a:buNone/>
              <a:defRPr sz="1000"/>
            </a:lvl4pPr>
            <a:lvl5pPr marL="1077913" indent="0">
              <a:buNone/>
              <a:defRPr sz="1000"/>
            </a:lvl5pPr>
          </a:lstStyle>
          <a:p>
            <a:pPr lvl="0"/>
            <a:r>
              <a:rPr lang="en-GB" dirty="0"/>
              <a:t>State: </a:t>
            </a:r>
            <a:r>
              <a:rPr lang="en-GB" dirty="0" err="1"/>
              <a:t>xx.xx.xxxx</a:t>
            </a:r>
            <a:endParaRPr lang="en-GB" dirty="0"/>
          </a:p>
        </p:txBody>
      </p:sp>
      <p:pic>
        <p:nvPicPr>
          <p:cNvPr id="18" name="Grafik 17">
            <a:extLst>
              <a:ext uri="{FF2B5EF4-FFF2-40B4-BE49-F238E27FC236}">
                <a16:creationId xmlns:a16="http://schemas.microsoft.com/office/drawing/2014/main" id="{35A845CD-2D10-42BB-97DB-CDA723EE9EB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79375" y="1065910"/>
            <a:ext cx="1849165" cy="975600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1A49BD17-4238-4565-A4B6-2E20A7C19FA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5113" y="5129960"/>
            <a:ext cx="1835942" cy="31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68977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und Bild mi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462405" y="1344613"/>
            <a:ext cx="3960000" cy="3859212"/>
          </a:xfrm>
        </p:spPr>
        <p:txBody>
          <a:bodyPr>
            <a:normAutofit/>
          </a:bodyPr>
          <a:lstStyle>
            <a:lvl1pPr>
              <a:defRPr sz="1600"/>
            </a:lvl1pPr>
            <a:lvl2pPr marL="541312" indent="-285750">
              <a:buClr>
                <a:schemeClr val="accent1"/>
              </a:buClr>
              <a:buFont typeface="Wingdings" charset="2"/>
              <a:buChar char="§"/>
              <a:defRPr sz="1500"/>
            </a:lvl2pPr>
            <a:lvl3pPr>
              <a:defRPr sz="1400"/>
            </a:lvl3pPr>
            <a:lvl4pPr>
              <a:buClr>
                <a:schemeClr val="accent1"/>
              </a:buCl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dirty="0" err="1"/>
              <a:t>Textmasterformat</a:t>
            </a:r>
            <a:r>
              <a:rPr lang="en-GB" dirty="0"/>
              <a:t> </a:t>
            </a:r>
            <a:r>
              <a:rPr lang="en-GB" dirty="0" err="1"/>
              <a:t>bearbeiten</a:t>
            </a:r>
            <a:endParaRPr lang="en-GB" dirty="0"/>
          </a:p>
          <a:p>
            <a:pPr lvl="1"/>
            <a:r>
              <a:rPr lang="en-GB" dirty="0" err="1"/>
              <a:t>Zweite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  <a:p>
            <a:pPr lvl="2"/>
            <a:r>
              <a:rPr lang="en-GB" dirty="0" err="1"/>
              <a:t>Dritte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</p:txBody>
      </p:sp>
      <p:sp>
        <p:nvSpPr>
          <p:cNvPr id="4" name="Bildplatzhalter 3"/>
          <p:cNvSpPr>
            <a:spLocks noGrp="1"/>
          </p:cNvSpPr>
          <p:nvPr>
            <p:ph type="pic" sz="half" idx="2" hasCustomPrompt="1"/>
          </p:nvPr>
        </p:nvSpPr>
        <p:spPr>
          <a:xfrm>
            <a:off x="4715688" y="1344613"/>
            <a:ext cx="3960000" cy="3859212"/>
          </a:xfrm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icon to add picture</a:t>
            </a:r>
          </a:p>
        </p:txBody>
      </p:sp>
      <p:sp>
        <p:nvSpPr>
          <p:cNvPr id="20" name="Logoplatzhalter 19"/>
          <p:cNvSpPr>
            <a:spLocks noGrp="1"/>
          </p:cNvSpPr>
          <p:nvPr>
            <p:ph type="pic" sz="quarter" idx="13" hasCustomPrompt="1"/>
          </p:nvPr>
        </p:nvSpPr>
        <p:spPr>
          <a:xfrm>
            <a:off x="7715688" y="4243825"/>
            <a:ext cx="860000" cy="860000"/>
          </a:xfrm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Logo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D44FF-326E-4934-AE8D-65DEFF191BB1}" type="datetime1">
              <a:rPr lang="en-GB" smtClean="0"/>
              <a:t>25/08/2023</a:t>
            </a:fld>
            <a:endParaRPr lang="en-GB" dirty="0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Sample Footer</a:t>
            </a:r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dirty="0"/>
              <a:t>Page </a:t>
            </a:r>
            <a:fld id="{BE3DC40E-DBBE-4E2D-9EEC-FBF0DA0E9179}" type="slidenum">
              <a:rPr lang="en-GB" smtClean="0"/>
              <a:t>‹Nr.›</a:t>
            </a:fld>
            <a:endParaRPr lang="en-GB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 dirty="0"/>
          </a:p>
        </p:txBody>
      </p:sp>
    </p:spTree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type="tbl" idx="1" hasCustomPrompt="1"/>
          </p:nvPr>
        </p:nvSpPr>
        <p:spPr>
          <a:xfrm>
            <a:off x="462019" y="1344613"/>
            <a:ext cx="7759644" cy="3853905"/>
          </a:xfrm>
        </p:spPr>
        <p:txBody>
          <a:bodyPr lIns="0" rIns="0">
            <a:normAutofit/>
          </a:bodyPr>
          <a:lstStyle>
            <a:lvl1pPr>
              <a:defRPr sz="16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marL="0" indent="0">
              <a:buNone/>
            </a:pPr>
            <a:r>
              <a:rPr lang="en-GB" dirty="0"/>
              <a:t>Click icon to add table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E7AAB-A700-485E-A2FB-EAC3CFB07074}" type="datetime1">
              <a:rPr lang="en-GB" smtClean="0"/>
              <a:t>25/08/2023</a:t>
            </a:fld>
            <a:endParaRPr lang="en-GB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Sample Footer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dirty="0"/>
              <a:t>Page </a:t>
            </a:r>
            <a:fld id="{BE3DC40E-DBBE-4E2D-9EEC-FBF0DA0E9179}" type="slidenum">
              <a:rPr lang="en-GB" smtClean="0"/>
              <a:t>‹Nr.›</a:t>
            </a:fld>
            <a:endParaRPr lang="en-GB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 dirty="0"/>
          </a:p>
        </p:txBody>
      </p:sp>
    </p:spTree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lussfolie Konta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467544" y="1964530"/>
            <a:ext cx="4319712" cy="2716954"/>
          </a:xfrm>
          <a:prstGeom prst="rect">
            <a:avLst/>
          </a:prstGeom>
          <a:ln w="1270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31" tIns="45715" rIns="91431" bIns="45715" rtlCol="0" anchor="ctr"/>
          <a:lstStyle/>
          <a:p>
            <a:pPr algn="ctr"/>
            <a:endParaRPr lang="en-GB" dirty="0"/>
          </a:p>
        </p:txBody>
      </p:sp>
      <p:pic>
        <p:nvPicPr>
          <p:cNvPr id="7" name="Grafik 6" descr="Logo-für-VK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11560" y="2127250"/>
            <a:ext cx="492443" cy="2252663"/>
          </a:xfrm>
          <a:prstGeom prst="rect">
            <a:avLst/>
          </a:prstGeom>
        </p:spPr>
      </p:pic>
      <p:sp>
        <p:nvSpPr>
          <p:cNvPr id="11" name="Kontaktdaten"/>
          <p:cNvSpPr>
            <a:spLocks noGrp="1"/>
          </p:cNvSpPr>
          <p:nvPr userDrawn="1"/>
        </p:nvSpPr>
        <p:spPr>
          <a:xfrm>
            <a:off x="1684020" y="2559843"/>
            <a:ext cx="2763926" cy="1811291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3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2582"/>
              </a:buClr>
              <a:buSzTx/>
              <a:buFont typeface="Wingdings" pitchFamily="2" charset="2"/>
              <a:buNone/>
              <a:tabLst/>
              <a:defRPr sz="1100" baseline="0"/>
            </a:lvl1pPr>
            <a:lvl2pPr marL="0" indent="0"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marL="0" indent="0">
              <a:buNone/>
            </a:pPr>
            <a:r>
              <a:rPr lang="en-GB" sz="1000" b="1" dirty="0">
                <a:solidFill>
                  <a:srgbClr val="000000"/>
                </a:solidFill>
                <a:latin typeface="+mn-lt"/>
              </a:rPr>
              <a:t>INSTITUTE FOR INTERNATIONAL BUSINESS</a:t>
            </a:r>
          </a:p>
          <a:p>
            <a:pPr marL="0" indent="0">
              <a:buNone/>
            </a:pPr>
            <a:r>
              <a:rPr lang="en-GB" sz="1000" dirty="0">
                <a:solidFill>
                  <a:srgbClr val="000000"/>
                </a:solidFill>
                <a:latin typeface="+mn-lt"/>
              </a:rPr>
              <a:t>Welthandelsplatz 1, 1020 Vienna, Austria</a:t>
            </a:r>
          </a:p>
          <a:p>
            <a:pPr marL="0" indent="0">
              <a:buNone/>
            </a:pPr>
            <a:endParaRPr lang="en-GB" sz="1000" dirty="0"/>
          </a:p>
          <a:p>
            <a:pPr marL="0" indent="0">
              <a:buNone/>
            </a:pPr>
            <a:r>
              <a:rPr lang="en-GB" sz="1000" b="1" dirty="0">
                <a:solidFill>
                  <a:srgbClr val="000000"/>
                </a:solidFill>
                <a:latin typeface="+mn-lt"/>
              </a:rPr>
              <a:t>DR ARNE FLOH</a:t>
            </a:r>
          </a:p>
          <a:p>
            <a:pPr marL="0" indent="0">
              <a:buNone/>
            </a:pPr>
            <a:r>
              <a:rPr lang="en-GB" sz="1000" dirty="0">
                <a:solidFill>
                  <a:srgbClr val="000000"/>
                </a:solidFill>
                <a:latin typeface="+mn-lt"/>
              </a:rPr>
              <a:t>Senior Lecturer in Marketing</a:t>
            </a:r>
          </a:p>
          <a:p>
            <a:pPr marL="0" indent="0">
              <a:buNone/>
            </a:pPr>
            <a:endParaRPr lang="en-GB" sz="1000" dirty="0"/>
          </a:p>
          <a:p>
            <a:pPr marL="0" indent="0">
              <a:buNone/>
            </a:pPr>
            <a:r>
              <a:rPr lang="en-GB" sz="1000" dirty="0">
                <a:solidFill>
                  <a:srgbClr val="000000"/>
                </a:solidFill>
                <a:latin typeface="+mn-lt"/>
              </a:rPr>
              <a:t>F +43-31336-6367</a:t>
            </a:r>
          </a:p>
          <a:p>
            <a:pPr marL="0" indent="0">
              <a:buNone/>
            </a:pPr>
            <a:r>
              <a:rPr lang="en-GB" sz="1000" dirty="0">
                <a:solidFill>
                  <a:srgbClr val="000000"/>
                </a:solidFill>
                <a:latin typeface="+mn-lt"/>
                <a:hlinkClick r:id="rId20"/>
              </a:rPr>
              <a:t>arne.floh@wu.ac.at</a:t>
            </a:r>
          </a:p>
          <a:p>
            <a:pPr marL="0" indent="0">
              <a:buNone/>
            </a:pPr>
            <a:r>
              <a:rPr lang="en-GB" sz="900" dirty="0">
                <a:solidFill>
                  <a:srgbClr val="000000"/>
                </a:solidFill>
                <a:latin typeface="+mn-lt"/>
                <a:hlinkClick r:id="rId22"/>
              </a:rPr>
              <a:t>www.wu.ac.at/en/welthandel/arne-floh</a:t>
            </a:r>
          </a:p>
          <a:p>
            <a:pPr marL="0" indent="0">
              <a:buNone/>
            </a:pPr>
            <a:r>
              <a:rPr lang="en-GB" sz="1000" dirty="0">
                <a:solidFill>
                  <a:srgbClr val="000000"/>
                </a:solidFill>
                <a:latin typeface="+mn-lt"/>
                <a:hlinkClick r:id="rId21"/>
              </a:rPr>
              <a:t>Office hours: book online</a:t>
            </a:r>
          </a:p>
        </p:txBody>
      </p:sp>
      <p:sp>
        <p:nvSpPr>
          <p:cNvPr id="8" name="Datumsplatzhalt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D1DA7DE9-F6B6-4FDA-A00F-1221D494593B}" type="datetime1">
              <a:rPr lang="en-GB" smtClean="0"/>
              <a:t>25/08/2023</a:t>
            </a:fld>
            <a:endParaRPr lang="en-GB" dirty="0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 dirty="0"/>
              <a:t>Sample Footer</a:t>
            </a:r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r>
              <a:rPr lang="en-GB" dirty="0"/>
              <a:t>Page </a:t>
            </a:r>
            <a:fld id="{BE3DC40E-DBBE-4E2D-9EEC-FBF0DA0E9179}" type="slidenum">
              <a:rPr lang="en-GB" smtClean="0"/>
              <a:t>‹Nr.›</a:t>
            </a:fld>
            <a:endParaRPr lang="en-GB" dirty="0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Relationship Id="rId17" Type="http://schemas.openxmlformats.org/officeDocument/2006/relationships/image" Target="../media/image1.png"/><Relationship Id="rId18" Type="http://schemas.openxmlformats.org/officeDocument/2006/relationships/image" Target="../media/image2.png"/><Relationship Id="rId19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17.xml"/><Relationship Id="rId21" Type="http://schemas.openxmlformats.org/officeDocument/2006/relationships/slideLayout" Target="../slideLayouts/slideLayout18.xml"/><Relationship Id="rId22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344613"/>
            <a:ext cx="7764463" cy="3859212"/>
          </a:xfrm>
          <a:prstGeom prst="rect">
            <a:avLst/>
          </a:prstGeom>
        </p:spPr>
        <p:txBody>
          <a:bodyPr vert="horz" lIns="0" tIns="45715" rIns="0" bIns="45715" rtlCol="0">
            <a:normAutofit/>
          </a:bodyPr>
          <a:lstStyle/>
          <a:p>
            <a:pPr lvl="0"/>
            <a:r>
              <a:rPr lang="en-GB" dirty="0" err="1"/>
              <a:t>Textmasterformate</a:t>
            </a:r>
            <a:r>
              <a:rPr lang="en-GB" dirty="0"/>
              <a:t> </a:t>
            </a:r>
            <a:r>
              <a:rPr lang="en-GB" dirty="0" err="1"/>
              <a:t>durch</a:t>
            </a:r>
            <a:r>
              <a:rPr lang="en-GB" dirty="0"/>
              <a:t> </a:t>
            </a:r>
            <a:r>
              <a:rPr lang="en-GB" dirty="0" err="1"/>
              <a:t>Klicken</a:t>
            </a:r>
            <a:r>
              <a:rPr lang="en-GB" dirty="0"/>
              <a:t> </a:t>
            </a:r>
            <a:r>
              <a:rPr lang="en-GB" dirty="0" err="1"/>
              <a:t>bearbeiten</a:t>
            </a:r>
            <a:endParaRPr lang="en-GB" dirty="0"/>
          </a:p>
          <a:p>
            <a:pPr lvl="1"/>
            <a:r>
              <a:rPr lang="en-GB" dirty="0" err="1"/>
              <a:t>Zweite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  <a:p>
            <a:pPr lvl="2"/>
            <a:r>
              <a:rPr lang="en-GB" dirty="0" err="1"/>
              <a:t>Dritte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  <a:p>
            <a:pPr lvl="3"/>
            <a:r>
              <a:rPr lang="en-GB" dirty="0" err="1"/>
              <a:t>Vierte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  <a:p>
            <a:pPr lvl="4"/>
            <a:r>
              <a:rPr lang="en-GB" dirty="0" err="1"/>
              <a:t>Fünfte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</p:txBody>
      </p:sp>
      <p:sp>
        <p:nvSpPr>
          <p:cNvPr id="5" name="Fußzeilenplatzhalter 4"/>
          <p:cNvSpPr>
            <a:spLocks noGrp="1"/>
          </p:cNvSpPr>
          <p:nvPr userDrawn="1">
            <p:ph type="ftr" sz="quarter" idx="3"/>
          </p:nvPr>
        </p:nvSpPr>
        <p:spPr>
          <a:xfrm>
            <a:off x="1354561" y="5412059"/>
            <a:ext cx="3217443" cy="258085"/>
          </a:xfrm>
          <a:prstGeom prst="rect">
            <a:avLst/>
          </a:prstGeom>
        </p:spPr>
        <p:txBody>
          <a:bodyPr vert="horz" lIns="91431" tIns="45715" rIns="91431" bIns="45715" rtlCol="0" anchor="ctr"/>
          <a:lstStyle>
            <a:lvl1pPr algn="l">
              <a:defRPr sz="80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 dirty="0"/>
              <a:t>Sample Footer</a:t>
            </a:r>
          </a:p>
        </p:txBody>
      </p:sp>
      <p:sp>
        <p:nvSpPr>
          <p:cNvPr id="6" name="Foliennummernplatzhalter 5"/>
          <p:cNvSpPr>
            <a:spLocks noGrp="1"/>
          </p:cNvSpPr>
          <p:nvPr userDrawn="1">
            <p:ph type="sldNum" sz="quarter" idx="4"/>
          </p:nvPr>
        </p:nvSpPr>
        <p:spPr>
          <a:xfrm>
            <a:off x="462407" y="5412059"/>
            <a:ext cx="892150" cy="258085"/>
          </a:xfrm>
          <a:prstGeom prst="rect">
            <a:avLst/>
          </a:prstGeom>
        </p:spPr>
        <p:txBody>
          <a:bodyPr vert="horz" lIns="0" tIns="45715" rIns="0" bIns="45715" rtlCol="0" anchor="ctr"/>
          <a:lstStyle>
            <a:lvl1pPr algn="l">
              <a:defRPr sz="80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 dirty="0"/>
              <a:t>Page </a:t>
            </a:r>
            <a:fld id="{BE3DC40E-DBBE-4E2D-9EEC-FBF0DA0E9179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7" name="Datumsplatzhalter 6"/>
          <p:cNvSpPr>
            <a:spLocks noGrp="1"/>
          </p:cNvSpPr>
          <p:nvPr userDrawn="1">
            <p:ph type="dt" sz="half" idx="2"/>
          </p:nvPr>
        </p:nvSpPr>
        <p:spPr>
          <a:xfrm>
            <a:off x="5745181" y="5412059"/>
            <a:ext cx="987407" cy="258085"/>
          </a:xfrm>
          <a:prstGeom prst="rect">
            <a:avLst/>
          </a:prstGeom>
        </p:spPr>
        <p:txBody>
          <a:bodyPr vert="horz" lIns="0" tIns="45715" rIns="0" bIns="45715" rtlCol="0" anchor="ctr"/>
          <a:lstStyle>
            <a:lvl1pPr algn="r">
              <a:defRPr lang="de-DE" sz="800" kern="1200" cap="all" baseline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AD672231-DCCE-48E5-AF73-62895FE58BB4}" type="datetime1">
              <a:rPr lang="en-GB" smtClean="0"/>
              <a:t>25/08/2023</a:t>
            </a:fld>
            <a:endParaRPr lang="en-GB" dirty="0"/>
          </a:p>
        </p:txBody>
      </p:sp>
      <p:sp>
        <p:nvSpPr>
          <p:cNvPr id="18" name="Rechteck 17"/>
          <p:cNvSpPr/>
          <p:nvPr userDrawn="1"/>
        </p:nvSpPr>
        <p:spPr bwMode="gray">
          <a:xfrm>
            <a:off x="0" y="1043522"/>
            <a:ext cx="9144000" cy="25200"/>
          </a:xfrm>
          <a:prstGeom prst="rect">
            <a:avLst/>
          </a:prstGeom>
          <a:solidFill>
            <a:srgbClr val="0C94B7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      </a:t>
            </a:r>
          </a:p>
        </p:txBody>
      </p:sp>
      <p:sp>
        <p:nvSpPr>
          <p:cNvPr id="15" name="Titelplatzhalter 14"/>
          <p:cNvSpPr>
            <a:spLocks noGrp="1"/>
          </p:cNvSpPr>
          <p:nvPr userDrawn="1">
            <p:ph type="title"/>
          </p:nvPr>
        </p:nvSpPr>
        <p:spPr bwMode="auto">
          <a:xfrm>
            <a:off x="462408" y="139700"/>
            <a:ext cx="6840000" cy="90382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GB" dirty="0" err="1"/>
              <a:t>Titelmasterformat</a:t>
            </a:r>
            <a:r>
              <a:rPr lang="en-GB" dirty="0"/>
              <a:t> </a:t>
            </a:r>
            <a:r>
              <a:rPr lang="en-GB" dirty="0" err="1"/>
              <a:t>durch</a:t>
            </a:r>
            <a:r>
              <a:rPr lang="en-GB" dirty="0"/>
              <a:t> </a:t>
            </a:r>
            <a:br>
              <a:rPr lang="en-GB" dirty="0"/>
            </a:br>
            <a:r>
              <a:rPr lang="en-GB" dirty="0" err="1"/>
              <a:t>Klicken</a:t>
            </a:r>
            <a:r>
              <a:rPr lang="en-GB" dirty="0"/>
              <a:t> </a:t>
            </a:r>
            <a:r>
              <a:rPr lang="en-GB" dirty="0" err="1"/>
              <a:t>bearbeiten</a:t>
            </a:r>
            <a:endParaRPr lang="en-GB" dirty="0"/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49925201-EC66-4A08-AB14-A541648A67DE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7711621" y="288569"/>
            <a:ext cx="1170000" cy="61728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0A212EC7-C80F-4EBC-9817-97C85E0A8AEB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7613" y="5351511"/>
            <a:ext cx="1318058" cy="22855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61" r:id="rId2"/>
    <p:sldLayoutId id="2147483663" r:id="rId3"/>
    <p:sldLayoutId id="2147483675" r:id="rId4"/>
    <p:sldLayoutId id="2147483676" r:id="rId5"/>
    <p:sldLayoutId id="2147483686" r:id="rId6"/>
    <p:sldLayoutId id="2147483687" r:id="rId7"/>
    <p:sldLayoutId id="2147483681" r:id="rId8"/>
    <p:sldLayoutId id="2147483682" r:id="rId9"/>
    <p:sldLayoutId id="2147483688" r:id="rId10"/>
    <p:sldLayoutId id="2147483691" r:id="rId11"/>
    <p:sldLayoutId id="2147483664" r:id="rId12"/>
    <p:sldLayoutId id="2147483667" r:id="rId13"/>
    <p:sldLayoutId id="2147483668" r:id="rId14"/>
    <p:sldLayoutId id="2147483670" r:id="rId15"/>
    <p:sldLayoutId id="2147483692" r:id="rId19"/>
    <p:sldLayoutId id="2147483693" r:id="rId20"/>
    <p:sldLayoutId id="2147483694" r:id="rId21"/>
    <p:sldLayoutId id="2147483695" r:id="rId22"/>
  </p:sldLayoutIdLst>
  <p:transition>
    <p:fade/>
  </p:transition>
  <p:hf hdr="0" dt="0"/>
  <p:txStyles>
    <p:titleStyle>
      <a:lvl1pPr algn="l" defTabSz="914306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tx1"/>
          </a:solidFill>
          <a:latin typeface="Georgia" charset="0"/>
          <a:ea typeface="Georgia" charset="0"/>
          <a:cs typeface="Georgia" charset="0"/>
        </a:defRPr>
      </a:lvl1pPr>
    </p:titleStyle>
    <p:bodyStyle>
      <a:lvl1pPr marL="266700" indent="-266700" algn="l" defTabSz="914306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Wingdings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39750" indent="-273050" algn="l" defTabSz="914306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Clr>
          <a:schemeClr val="accent1"/>
        </a:buClr>
        <a:buSzPct val="100000"/>
        <a:buFont typeface="Wingdings" charset="2"/>
        <a:buChar char="§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814388" indent="-273050" algn="l" defTabSz="914306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Clr>
          <a:schemeClr val="accent1"/>
        </a:buClr>
        <a:buFont typeface="Wingdings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74738" indent="-266700" algn="l" defTabSz="914306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Clr>
          <a:schemeClr val="accent1"/>
        </a:buClr>
        <a:buFont typeface="Wingdings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341438" indent="-263525" algn="l" defTabSz="914306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Clr>
          <a:schemeClr val="accent1"/>
        </a:buClr>
        <a:buFont typeface="Wingdings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43" indent="-228577" algn="l" defTabSz="914306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96" indent="-228577" algn="l" defTabSz="914306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50" indent="-228577" algn="l" defTabSz="914306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03" indent="-228577" algn="l" defTabSz="914306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3" algn="l" defTabSz="9143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06" algn="l" defTabSz="9143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60" algn="l" defTabSz="9143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13" algn="l" defTabSz="9143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67" algn="l" defTabSz="9143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20" algn="l" defTabSz="9143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73" algn="l" defTabSz="9143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27" algn="l" defTabSz="9143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2880" userDrawn="1">
          <p15:clr>
            <a:srgbClr val="F26B43"/>
          </p15:clr>
        </p15:guide>
        <p15:guide id="3" pos="288" userDrawn="1">
          <p15:clr>
            <a:srgbClr val="F26B43"/>
          </p15:clr>
        </p15:guide>
        <p15:guide id="4" pos="5179" userDrawn="1">
          <p15:clr>
            <a:srgbClr val="F26B43"/>
          </p15:clr>
        </p15:guide>
        <p15:guide id="5" pos="5467" userDrawn="1">
          <p15:clr>
            <a:srgbClr val="F26B43"/>
          </p15:clr>
        </p15:guide>
        <p15:guide id="7" orient="horz" pos="3278" userDrawn="1">
          <p15:clr>
            <a:srgbClr val="F26B43"/>
          </p15:clr>
        </p15:guide>
        <p15:guide id="9" orient="horz" pos="182" userDrawn="1">
          <p15:clr>
            <a:srgbClr val="F26B43"/>
          </p15:clr>
        </p15:guide>
        <p15:guide id="10" orient="horz" pos="847" userDrawn="1">
          <p15:clr>
            <a:srgbClr val="F26B43"/>
          </p15:clr>
        </p15:guide>
        <p15:guide id="11" orient="horz" pos="3515" userDrawn="1">
          <p15:clr>
            <a:srgbClr val="F26B43"/>
          </p15:clr>
        </p15:guide>
        <p15:guide id="12" orient="horz" pos="1097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www.wu.ac.at/en/welthandel/arne-floh/" TargetMode="External"/><Relationship Id="rId3" Type="http://schemas.openxmlformats.org/officeDocument/2006/relationships/hyperlink" Target="http://www.linkedin.com/arnefloh" TargetMode="External"/><Relationship Id="rId4" Type="http://schemas.openxmlformats.org/officeDocument/2006/relationships/image" Target="../media/instr_image9.tiff"/><Relationship Id="rId5" Type="http://schemas.openxmlformats.org/officeDocument/2006/relationships/hyperlink" Target="mailto:arne.floh@wu.ac.at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nstr_image9.tiff"/><Relationship Id="rId3" Type="http://schemas.openxmlformats.org/officeDocument/2006/relationships/image" Target="../media/instr_image10.png"/><Relationship Id="rId4" Type="http://schemas.openxmlformats.org/officeDocument/2006/relationships/image" Target="../media/instr_image11.jpeg"/><Relationship Id="rId5" Type="http://schemas.openxmlformats.org/officeDocument/2006/relationships/image" Target="../media/instr_image12.jpeg"/><Relationship Id="rId6" Type="http://schemas.openxmlformats.org/officeDocument/2006/relationships/image" Target="../media/instr_image13.jpeg"/><Relationship Id="rId7" Type="http://schemas.openxmlformats.org/officeDocument/2006/relationships/image" Target="../media/instr_image14.jpeg"/><Relationship Id="rId8" Type="http://schemas.openxmlformats.org/officeDocument/2006/relationships/image" Target="../media/instr_image15.png"/><Relationship Id="rId9" Type="http://schemas.openxmlformats.org/officeDocument/2006/relationships/image" Target="../media/instr_image16.png"/><Relationship Id="rId10" Type="http://schemas.openxmlformats.org/officeDocument/2006/relationships/image" Target="../media/instr_image17.png"/><Relationship Id="rId11" Type="http://schemas.openxmlformats.org/officeDocument/2006/relationships/image" Target="../media/instr_image18.jpeg"/><Relationship Id="rId12" Type="http://schemas.openxmlformats.org/officeDocument/2006/relationships/image" Target="../media/instr_image19.png"/><Relationship Id="rId13" Type="http://schemas.openxmlformats.org/officeDocument/2006/relationships/image" Target="../media/instr_image20.png"/><Relationship Id="rId14" Type="http://schemas.openxmlformats.org/officeDocument/2006/relationships/image" Target="../media/instr_image21.png"/><Relationship Id="rId15" Type="http://schemas.openxmlformats.org/officeDocument/2006/relationships/image" Target="../media/instr_image22.png"/><Relationship Id="rId16" Type="http://schemas.openxmlformats.org/officeDocument/2006/relationships/image" Target="../media/instr_image23.png"/><Relationship Id="rId17" Type="http://schemas.openxmlformats.org/officeDocument/2006/relationships/image" Target="../media/instr_image24.png"/><Relationship Id="rId18" Type="http://schemas.openxmlformats.org/officeDocument/2006/relationships/image" Target="../media/instr_image25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1.xml"/><Relationship Id="rId4" Type="http://schemas.openxmlformats.org/officeDocument/2006/relationships/image" Target="../media/image2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/>
              <a:t>International Marketing Analytics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/>
              <a:t>Course content and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en-GB"/>
              <a:t>Winter term 2026/27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600" lang="en-GB"/>
              <a:t>The journey begins</a:t>
            </a:r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International Marketing Analytics · WT 2026/27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dirty="0"/>
              <a:t>Page </a:t>
            </a:r>
            <a:fld id="{BE3DC40E-DBBE-4E2D-9EEC-FBF0DA0E9179}" type="slidenum">
              <a:rPr lang="en-GB" smtClean="0"/>
              <a:t>‹Nr.›</a:t>
            </a:fld>
            <a:endParaRPr lang="en-GB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05500F1D-363A-4E04-BE29-68808B4A23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0330" y="1455357"/>
            <a:ext cx="6623339" cy="368069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Card body Personal Information"/>
          <p:cNvSpPr/>
          <p:nvPr/>
        </p:nvSpPr>
        <p:spPr>
          <a:xfrm>
            <a:off x="457200" y="1320800"/>
            <a:ext cx="4572000" cy="3733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802" name="Card header Personal Information"/>
          <p:cNvSpPr/>
          <p:nvPr/>
        </p:nvSpPr>
        <p:spPr>
          <a:xfrm>
            <a:off x="457200" y="1320800"/>
            <a:ext cx="4572000" cy="533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152400" tIns="0" rIns="152400" bIns="0" anchor="ctr">
            <a:noAutofit/>
          </a:bodyPr>
          <a:lstStyle/>
          <a:p>
            <a:pPr algn="l"/>
            <a:r>
              <a:rPr lang="en-GB" sz="1500" b="1" dirty="0">
                <a:solidFill>
                  <a:schemeClr val="bg1"/>
                </a:solidFill>
                <a:latin typeface="+mj-lt"/>
              </a:rPr>
              <a:t>Personal Information</a:t>
            </a:r>
          </a:p>
        </p:txBody>
      </p:sp>
      <p:sp>
        <p:nvSpPr>
          <p:cNvPr id="803" name="Card body Contact Information"/>
          <p:cNvSpPr/>
          <p:nvPr/>
        </p:nvSpPr>
        <p:spPr>
          <a:xfrm>
            <a:off x="5232400" y="1320800"/>
            <a:ext cx="3454400" cy="3733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804" name="Card header Contact Information"/>
          <p:cNvSpPr/>
          <p:nvPr/>
        </p:nvSpPr>
        <p:spPr>
          <a:xfrm>
            <a:off x="5232400" y="1320800"/>
            <a:ext cx="3454400" cy="533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152400" tIns="0" rIns="152400" bIns="0" anchor="ctr">
            <a:noAutofit/>
          </a:bodyPr>
          <a:lstStyle/>
          <a:p>
            <a:pPr algn="l"/>
            <a:r>
              <a:rPr lang="en-GB" sz="1500" b="1" dirty="0">
                <a:solidFill>
                  <a:schemeClr val="bg1"/>
                </a:solidFill>
                <a:latin typeface="+mj-lt"/>
              </a:rPr>
              <a:t>Contact Information</a:t>
            </a:r>
          </a:p>
        </p:txBody>
      </p:sp>
      <p:sp>
        <p:nvSpPr>
          <p:cNvPr id="2" name="Inhaltsplatzhalter 1"/>
          <p:cNvSpPr>
            <a:spLocks noGrp="1"/>
          </p:cNvSpPr>
          <p:nvPr>
            <p:ph idx="1"/>
          </p:nvPr>
        </p:nvSpPr>
        <p:spPr>
          <a:xfrm>
            <a:off x="558800" y="2006600"/>
            <a:ext cx="4368800" cy="2921000"/>
          </a:xfrm>
        </p:spPr>
        <p:txBody>
          <a:bodyPr lIns="76200" tIns="0" rIns="76200" bIns="0" anchor="t">
            <a:noAutofit/>
          </a:bodyPr>
          <a:lstStyle/>
          <a:p>
            <a:pPr marL="228600" indent="-228600">
              <a:spcBef>
                <a:spcPts val="0"/>
              </a:spcBef>
              <a:buClr>
                <a:schemeClr val="accent1"/>
              </a:buClr>
              <a:buFont typeface="Arial"/>
              <a:buChar char="▪"/>
            </a:pPr>
            <a:r>
              <a:rPr lang="en-GB" altLang="de-DE" sz="1300" b="1" dirty="0"/>
              <a:t>Senior Lecturer in International Marketing – WU Vienna</a:t>
            </a:r>
          </a:p>
          <a:p>
            <a:pPr marL="228600" indent="-228600">
              <a:spcBef>
                <a:spcPts val="1000"/>
              </a:spcBef>
              <a:buClr>
                <a:schemeClr val="accent1"/>
              </a:buClr>
              <a:buFont typeface="Arial"/>
              <a:buChar char="▪"/>
            </a:pPr>
            <a:r>
              <a:rPr lang="en-GB" altLang="de-DE" sz="1300" dirty="0"/>
              <a:t>Deputy Program Director Export- und Internationalisierungsmanagement</a:t>
            </a:r>
          </a:p>
          <a:p>
            <a:pPr marL="228600" indent="-228600">
              <a:spcBef>
                <a:spcPts val="1000"/>
              </a:spcBef>
              <a:buClr>
                <a:schemeClr val="accent1"/>
              </a:buClr>
              <a:buFont typeface="Arial"/>
              <a:buChar char="▪"/>
            </a:pPr>
            <a:r>
              <a:rPr lang="en-GB" altLang="de-DE" sz="1300" dirty="0"/>
              <a:t>WWW: </a:t>
            </a:r>
            <a:r>
              <a:rPr lang="en-GB" altLang="de-DE" sz="1300" dirty="0">
                <a:hlinkClick r:id="rId2"/>
              </a:rPr>
              <a:t>https://www.wu.ac.at/en/welthandel/arne-floh/</a:t>
            </a:r>
          </a:p>
          <a:p>
            <a:pPr marL="228600" indent="-228600">
              <a:spcBef>
                <a:spcPts val="1000"/>
              </a:spcBef>
              <a:buClr>
                <a:schemeClr val="accent1"/>
              </a:buClr>
              <a:buFont typeface="Arial"/>
              <a:buChar char="▪"/>
            </a:pPr>
            <a:r>
              <a:rPr lang="en-GB" altLang="de-DE" sz="1300" dirty="0"/>
              <a:t>LinkedIn: </a:t>
            </a:r>
            <a:r>
              <a:rPr lang="en-GB" altLang="de-DE" sz="1300" dirty="0">
                <a:hlinkClick r:id="rId3"/>
              </a:rPr>
              <a:t>http://www.linkedin.com/arnefloh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/>
              <a:t>Page </a:t>
            </a:r>
            <a:fld id="{BE3DC40E-DBBE-4E2D-9EEC-FBF0DA0E9179}" type="slidenum">
              <a:rPr lang="en-GB" smtClean="0"/>
              <a:t>2</a:t>
            </a:fld>
            <a:endParaRPr lang="en-GB" dirty="0"/>
          </a:p>
        </p:txBody>
      </p:sp>
      <p:sp>
        <p:nvSpPr>
          <p:cNvPr id="5" name="Titel 4"/>
          <p:cNvSpPr>
            <a:spLocks noGrp="1"/>
          </p:cNvSpPr>
          <p:nvPr>
            <p:ph type="title" idx="4294967295"/>
          </p:nvPr>
        </p:nvSpPr>
        <p:spPr>
          <a:xfrm>
            <a:off x="462408" y="139700"/>
            <a:ext cx="6840000" cy="903822"/>
          </a:xfrm>
        </p:spPr>
        <p:txBody>
          <a:bodyPr/>
          <a:lstStyle/>
          <a:p>
            <a:r>
              <a:rPr lang="de-AT" dirty="0" sz="1600"/>
              <a:t>Module </a:t>
            </a:r>
            <a:r>
              <a:rPr lang="de-AT" dirty="0" err="1" sz="1600"/>
              <a:t>Convenor</a:t>
            </a:r>
            <a:r>
              <a:rPr lang="de-AT" dirty="0" sz="1600"/>
              <a:t> – Dr Arne Floh</a:t>
            </a:r>
            <a:endParaRPr lang="en-GB" dirty="0"/>
          </a:p>
        </p:txBody>
      </p:sp>
      <p:pic>
        <p:nvPicPr>
          <p:cNvPr id="6" name="Picture 2"/>
          <p:cNvPicPr>
            <a:picLocks noChangeAspect="1"/>
          </p:cNvPicPr>
          <p:nvPr/>
        </p:nvPicPr>
        <p:blipFill rotWithShape="1">
          <a:blip r:embed="rId4"/>
          <a:srcRect l="22854" t="-354" r="47068" b="46641"/>
          <a:stretch/>
        </p:blipFill>
        <p:spPr>
          <a:xfrm>
            <a:off x="5996142" y="200165"/>
            <a:ext cx="871429" cy="782891"/>
          </a:xfrm>
          <a:prstGeom prst="rect">
            <a:avLst/>
          </a:prstGeom>
        </p:spPr>
      </p:pic>
      <p:sp>
        <p:nvSpPr>
          <p:cNvPr id="900" name="Contact text"/>
          <p:cNvSpPr txBox="1"/>
          <p:nvPr/>
        </p:nvSpPr>
        <p:spPr>
          <a:xfrm>
            <a:off x="5334000" y="2006600"/>
            <a:ext cx="3251200" cy="2921000"/>
          </a:xfrm>
        </p:spPr>
        <p:txBody>
          <a:bodyPr lIns="76200" tIns="0" rIns="76200" bIns="0" anchor="t">
            <a:noAutofit/>
          </a:bodyPr>
          <a:lstStyle/>
          <a:p>
            <a:pPr marL="228600" indent="-228600">
              <a:spcBef>
                <a:spcPts val="0"/>
              </a:spcBef>
              <a:buClr>
                <a:schemeClr val="accent1"/>
              </a:buClr>
              <a:buFont typeface="Arial"/>
              <a:buChar char="▪"/>
            </a:pPr>
            <a:r>
              <a:rPr lang="en-GB" altLang="de-DE" sz="1300" dirty="0"/>
              <a:t>T: 01 31336 6367</a:t>
            </a:r>
          </a:p>
          <a:p>
            <a:pPr marL="228600" indent="-228600">
              <a:spcBef>
                <a:spcPts val="1000"/>
              </a:spcBef>
              <a:buClr>
                <a:schemeClr val="accent1"/>
              </a:buClr>
              <a:buFont typeface="Arial"/>
              <a:buChar char="▪"/>
            </a:pPr>
            <a:r>
              <a:rPr lang="en-GB" altLang="de-DE" sz="1300" dirty="0"/>
              <a:t>E: </a:t>
            </a:r>
            <a:r>
              <a:rPr lang="en-GB" altLang="de-DE" sz="1300" dirty="0">
                <a:hlinkClick r:id="rId5"/>
              </a:rPr>
              <a:t>arne.floh@wu.ac.at</a:t>
            </a:r>
          </a:p>
          <a:p>
            <a:pPr marL="228600" indent="-228600">
              <a:spcBef>
                <a:spcPts val="1000"/>
              </a:spcBef>
              <a:buClr>
                <a:schemeClr val="accent1"/>
              </a:buClr>
              <a:buFont typeface="Arial"/>
              <a:buChar char="▪"/>
            </a:pPr>
            <a:r>
              <a:rPr lang="de-AT" altLang="de-DE" sz="1300" dirty="0"/>
              <a:t>R</a:t>
            </a:r>
            <a:r>
              <a:rPr lang="en-GB" altLang="de-DE" sz="1300" dirty="0"/>
              <a:t>oom D1.5.068</a:t>
            </a:r>
          </a:p>
          <a:p>
            <a:pPr marL="228600" indent="-228600">
              <a:spcBef>
                <a:spcPts val="1000"/>
              </a:spcBef>
              <a:buClr>
                <a:schemeClr val="accent1"/>
              </a:buClr>
              <a:buFont typeface="Arial"/>
              <a:buChar char="▪"/>
            </a:pPr>
            <a:r>
              <a:rPr lang="de-AT" altLang="de-DE" sz="1300" dirty="0"/>
              <a:t>O</a:t>
            </a:r>
            <a:r>
              <a:rPr lang="en-GB" altLang="de-DE" sz="1300" dirty="0"/>
              <a:t>ffice Hours: by appointment</a:t>
            </a:r>
          </a:p>
        </p:txBody>
      </p:sp>
      <p:sp>
        <p:nvSpPr>
          <p:cNvPr id="950" name="Fußzeilenplatzhalter"/>
          <p:cNvSpPr>
            <a:spLocks noGrp="1"/>
          </p:cNvSpPr>
          <p:nvPr>
            <p:ph type="ftr" sz="quarter" idx="11"/>
          </p:nvPr>
        </p:nvSpPr>
        <p:spPr>
          <a:xfrm>
            <a:off x="1354561" y="5412059"/>
            <a:ext cx="3217443" cy="25808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 dirty="0"/>
              <a:t>International Marketing Analytics · WT 2026/27</a:t>
            </a:r>
          </a:p>
        </p:txBody>
      </p:sp>
    </p:spTree>
    <p:extLst>
      <p:ext uri="{BB962C8B-B14F-4D97-AF65-F5344CB8AC3E}">
        <p14:creationId xmlns:p14="http://schemas.microsoft.com/office/powerpoint/2010/main" val="2862754741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1"/>
            <a:r>
              <a:rPr lang="en-GB" altLang="de-DE" sz="1300" dirty="0"/>
              <a:t>Work Experience</a:t>
            </a:r>
          </a:p>
          <a:p>
            <a:pPr lvl="2"/>
            <a:r>
              <a:rPr lang="en-GB" altLang="de-DE" sz="1300" dirty="0"/>
              <a:t>International &amp; Industry Background</a:t>
            </a:r>
          </a:p>
          <a:p>
            <a:pPr lvl="2"/>
            <a:r>
              <a:rPr lang="en-GB" altLang="de-DE" sz="1300" dirty="0"/>
              <a:t>Teaching Experience &gt; 25 Years</a:t>
            </a:r>
          </a:p>
          <a:p>
            <a:pPr lvl="1"/>
            <a:r>
              <a:rPr lang="en-GB" altLang="de-DE" sz="1300" dirty="0"/>
              <a:t>Teaching</a:t>
            </a:r>
          </a:p>
          <a:p>
            <a:pPr lvl="2"/>
            <a:r>
              <a:rPr lang="en-GB" altLang="de-DE" sz="1300" dirty="0"/>
              <a:t>International Marketing</a:t>
            </a:r>
          </a:p>
          <a:p>
            <a:pPr lvl="2"/>
            <a:r>
              <a:rPr lang="en-GB" altLang="de-DE" sz="1300" dirty="0"/>
              <a:t>International Business Projects</a:t>
            </a:r>
          </a:p>
          <a:p>
            <a:pPr lvl="2"/>
            <a:r>
              <a:rPr lang="en-GB" altLang="de-DE" sz="1300" dirty="0"/>
              <a:t>Marketing Research and Marketing Analytics</a:t>
            </a:r>
          </a:p>
          <a:p>
            <a:pPr lvl="2"/>
            <a:r>
              <a:rPr lang="en-GB" altLang="de-DE" sz="1300" dirty="0"/>
              <a:t>Global Branding</a:t>
            </a:r>
          </a:p>
          <a:p>
            <a:pPr lvl="2"/>
            <a:r>
              <a:rPr lang="en-GB" altLang="de-DE" sz="1300" dirty="0"/>
              <a:t>Supervision (BSc, MSc, PhD)</a:t>
            </a:r>
          </a:p>
          <a:p>
            <a:pPr lvl="1"/>
            <a:r>
              <a:rPr lang="en-GB" altLang="de-DE" sz="1300" dirty="0"/>
              <a:t>Research</a:t>
            </a:r>
          </a:p>
          <a:p>
            <a:pPr lvl="2"/>
            <a:r>
              <a:rPr lang="en-GB" altLang="de-DE" sz="1300" dirty="0"/>
              <a:t>Dynamic </a:t>
            </a:r>
            <a:r>
              <a:rPr lang="en-GB" altLang="de-DE" sz="1300" dirty="0" err="1"/>
              <a:t>Capabilties</a:t>
            </a:r>
            <a:r>
              <a:rPr lang="en-GB" altLang="de-DE" sz="1300" dirty="0"/>
              <a:t> and Firm Performance</a:t>
            </a:r>
          </a:p>
          <a:p>
            <a:pPr lvl="2"/>
            <a:r>
              <a:rPr lang="en-GB" altLang="de-DE" sz="1300" dirty="0"/>
              <a:t>GenAI and Marketing</a:t>
            </a:r>
          </a:p>
          <a:p>
            <a:pPr lvl="2"/>
            <a:r>
              <a:rPr lang="en-GB" altLang="de-DE" sz="1300" dirty="0"/>
              <a:t>SMEs and Internationalization</a:t>
            </a:r>
          </a:p>
          <a:p>
            <a:pPr lvl="1"/>
            <a:r>
              <a:rPr lang="en-GB" altLang="de-DE" sz="1300" dirty="0"/>
              <a:t>Private</a:t>
            </a:r>
          </a:p>
          <a:p>
            <a:pPr lvl="2"/>
            <a:r>
              <a:rPr lang="en-GB" altLang="de-DE" sz="1300" dirty="0"/>
              <a:t>Football</a:t>
            </a:r>
          </a:p>
          <a:p>
            <a:pPr lvl="2"/>
            <a:r>
              <a:rPr lang="en-GB" altLang="de-DE" sz="1300" dirty="0"/>
              <a:t>Electronic Gadgets</a:t>
            </a:r>
          </a:p>
          <a:p>
            <a:pPr lvl="2"/>
            <a:r>
              <a:rPr lang="en-GB" altLang="de-DE" sz="1300" dirty="0"/>
              <a:t>Austrian Wine</a:t>
            </a:r>
          </a:p>
          <a:p>
            <a:pPr lvl="1"/>
            <a:endParaRPr lang="en-GB" altLang="de-DE" sz="1300" dirty="0"/>
          </a:p>
          <a:p>
            <a:pPr lvl="1"/>
            <a:endParaRPr lang="en-GB" altLang="de-DE" sz="1300" dirty="0"/>
          </a:p>
          <a:p>
            <a:endParaRPr lang="en-GB" altLang="de-DE" sz="1300" dirty="0"/>
          </a:p>
          <a:p>
            <a:endParaRPr lang="en-GB" sz="130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/>
              <a:t>Page </a:t>
            </a:r>
            <a:fld id="{BE3DC40E-DBBE-4E2D-9EEC-FBF0DA0E9179}" type="slidenum">
              <a:rPr lang="en-GB" smtClean="0"/>
              <a:t>3</a:t>
            </a:fld>
            <a:endParaRPr lang="en-GB" dirty="0"/>
          </a:p>
        </p:txBody>
      </p:sp>
      <p:sp>
        <p:nvSpPr>
          <p:cNvPr id="5" name="Titel 4"/>
          <p:cNvSpPr>
            <a:spLocks noGrp="1"/>
          </p:cNvSpPr>
          <p:nvPr>
            <p:ph type="title" idx="4294967295"/>
          </p:nvPr>
        </p:nvSpPr>
        <p:spPr>
          <a:xfrm>
            <a:off x="462408" y="139700"/>
            <a:ext cx="6840000" cy="903822"/>
          </a:xfrm>
        </p:spPr>
        <p:txBody>
          <a:bodyPr/>
          <a:lstStyle/>
          <a:p>
            <a:r>
              <a:rPr lang="de-AT" dirty="0" sz="1600"/>
              <a:t>Module </a:t>
            </a:r>
            <a:r>
              <a:rPr lang="de-AT" dirty="0" err="1" sz="1600"/>
              <a:t>Convenor</a:t>
            </a:r>
            <a:r>
              <a:rPr lang="de-AT" dirty="0" sz="1600"/>
              <a:t> – Dr Arne Floh</a:t>
            </a:r>
            <a:endParaRPr lang="en-GB" dirty="0"/>
          </a:p>
        </p:txBody>
      </p:sp>
      <p:pic>
        <p:nvPicPr>
          <p:cNvPr id="31" name="Picture 2"/>
          <p:cNvPicPr>
            <a:picLocks noChangeAspect="1"/>
          </p:cNvPicPr>
          <p:nvPr/>
        </p:nvPicPr>
        <p:blipFill rotWithShape="1">
          <a:blip r:embed="rId2"/>
          <a:srcRect l="22854" t="-354" r="47068" b="46641"/>
          <a:stretch/>
        </p:blipFill>
        <p:spPr>
          <a:xfrm>
            <a:off x="5976996" y="183329"/>
            <a:ext cx="871429" cy="782891"/>
          </a:xfrm>
          <a:prstGeom prst="rect">
            <a:avLst/>
          </a:prstGeom>
        </p:spPr>
      </p:pic>
      <p:pic>
        <p:nvPicPr>
          <p:cNvPr id="18" name="Picture 5">
            <a:extLst>
              <a:ext uri="{FF2B5EF4-FFF2-40B4-BE49-F238E27FC236}">
                <a16:creationId xmlns:a16="http://schemas.microsoft.com/office/drawing/2014/main" id="{B20435F2-0841-4617-84F5-0C069C5B7A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523" b="18973"/>
          <a:stretch>
            <a:fillRect/>
          </a:stretch>
        </p:blipFill>
        <p:spPr bwMode="auto">
          <a:xfrm>
            <a:off x="5943600" y="1545167"/>
            <a:ext cx="812800" cy="1354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" name="Picture 7" descr="C:\Users\FLOH01\Documents\Diverses\Social Media Marketing.jpg">
            <a:extLst>
              <a:ext uri="{FF2B5EF4-FFF2-40B4-BE49-F238E27FC236}">
                <a16:creationId xmlns:a16="http://schemas.microsoft.com/office/drawing/2014/main" id="{748A9F97-126D-4B75-8FE0-16A3FBA3C9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3324376"/>
            <a:ext cx="812800" cy="590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8" descr="C:\Users\FLOH01\Documents\Diverses\CustLoy.jpg">
            <a:extLst>
              <a:ext uri="{FF2B5EF4-FFF2-40B4-BE49-F238E27FC236}">
                <a16:creationId xmlns:a16="http://schemas.microsoft.com/office/drawing/2014/main" id="{9F9E079F-0FD9-4D44-A202-E4A6EDDA71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1700" y="3251200"/>
            <a:ext cx="736600" cy="736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9" descr="C:\Users\FLOH01\Documents\Diverses\Maradona.jpg">
            <a:extLst>
              <a:ext uri="{FF2B5EF4-FFF2-40B4-BE49-F238E27FC236}">
                <a16:creationId xmlns:a16="http://schemas.microsoft.com/office/drawing/2014/main" id="{4D115C44-4118-40BB-A76E-053C6D127F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4239326"/>
            <a:ext cx="812800" cy="538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10" descr="C:\Users\FLOH01\Documents\Diverses\iPhone.jpg">
            <a:extLst>
              <a:ext uri="{FF2B5EF4-FFF2-40B4-BE49-F238E27FC236}">
                <a16:creationId xmlns:a16="http://schemas.microsoft.com/office/drawing/2014/main" id="{2AF1D26F-471E-485B-92E1-5F56E09F5F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4203700"/>
            <a:ext cx="8128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Grafik 23">
            <a:extLst>
              <a:ext uri="{FF2B5EF4-FFF2-40B4-BE49-F238E27FC236}">
                <a16:creationId xmlns:a16="http://schemas.microsoft.com/office/drawing/2014/main" id="{B408EE01-B542-4660-B0D3-FBD43BA77E2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52807" y="2032000"/>
            <a:ext cx="765586" cy="1066800"/>
          </a:xfrm>
          <a:prstGeom prst="rect">
            <a:avLst/>
          </a:prstGeom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6C149411-6646-4881-AC51-37581FA3471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56300" y="2032000"/>
            <a:ext cx="787400" cy="1066800"/>
          </a:xfrm>
          <a:prstGeom prst="rect">
            <a:avLst/>
          </a:prstGeom>
        </p:spPr>
      </p:pic>
      <p:pic>
        <p:nvPicPr>
          <p:cNvPr id="26" name="Grafik 25">
            <a:extLst>
              <a:ext uri="{FF2B5EF4-FFF2-40B4-BE49-F238E27FC236}">
                <a16:creationId xmlns:a16="http://schemas.microsoft.com/office/drawing/2014/main" id="{B7E81BED-3E73-4767-B869-CF72D9B7D00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64350" y="2032000"/>
            <a:ext cx="800100" cy="1066800"/>
          </a:xfrm>
          <a:prstGeom prst="rect">
            <a:avLst/>
          </a:prstGeom>
        </p:spPr>
      </p:pic>
      <p:pic>
        <p:nvPicPr>
          <p:cNvPr id="27" name="Picture 2" descr="Entrepreneurial Marketing">
            <a:extLst>
              <a:ext uri="{FF2B5EF4-FFF2-40B4-BE49-F238E27FC236}">
                <a16:creationId xmlns:a16="http://schemas.microsoft.com/office/drawing/2014/main" id="{D1D91749-54D0-4728-BD44-4530B7260F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2250" y="2032000"/>
            <a:ext cx="673100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Grafik 27">
            <a:extLst>
              <a:ext uri="{FF2B5EF4-FFF2-40B4-BE49-F238E27FC236}">
                <a16:creationId xmlns:a16="http://schemas.microsoft.com/office/drawing/2014/main" id="{0E861A12-FBD5-4375-9D5E-B3F3E3AAED1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80000" y="1346200"/>
            <a:ext cx="711200" cy="533400"/>
          </a:xfrm>
          <a:prstGeom prst="rect">
            <a:avLst/>
          </a:prstGeom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DCA1A994-C935-43CE-93F8-29BFA8C4518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64350" y="1460500"/>
            <a:ext cx="800100" cy="304800"/>
          </a:xfrm>
          <a:prstGeom prst="rect">
            <a:avLst/>
          </a:prstGeom>
        </p:spPr>
      </p:pic>
      <p:pic>
        <p:nvPicPr>
          <p:cNvPr id="30" name="Grafik 29">
            <a:extLst>
              <a:ext uri="{FF2B5EF4-FFF2-40B4-BE49-F238E27FC236}">
                <a16:creationId xmlns:a16="http://schemas.microsoft.com/office/drawing/2014/main" id="{DA807570-9906-45C3-9264-3AD85B5FD10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810500" y="1403350"/>
            <a:ext cx="736600" cy="41910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C81F732C-A406-456E-26A8-5A5ABAEE90B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flipH="1">
            <a:off x="6896100" y="3251200"/>
            <a:ext cx="736600" cy="736600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49B8F467-DDA6-41DD-87EC-E17A8E3A849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810500" y="3251200"/>
            <a:ext cx="736600" cy="73660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597428DC-BC39-C343-7D7A-1B67222543C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077200" y="4184650"/>
            <a:ext cx="203200" cy="647700"/>
          </a:xfrm>
          <a:prstGeom prst="rect">
            <a:avLst/>
          </a:prstGeom>
        </p:spPr>
      </p:pic>
      <p:pic>
        <p:nvPicPr>
          <p:cNvPr id="6" name="Grafik 5" descr="Ein Bild, das draußen, Himmel, Person, Gras enthält.&#10;&#10;KI-generierte Inhalte können fehlerhaft sein.">
            <a:extLst>
              <a:ext uri="{FF2B5EF4-FFF2-40B4-BE49-F238E27FC236}">
                <a16:creationId xmlns:a16="http://schemas.microsoft.com/office/drawing/2014/main" id="{9506A783-5B4B-819B-A493-114BE8F25653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200" y="4205131"/>
            <a:ext cx="812800" cy="606738"/>
          </a:xfrm>
          <a:prstGeom prst="rect">
            <a:avLst/>
          </a:prstGeom>
        </p:spPr>
      </p:pic>
      <p:sp>
        <p:nvSpPr>
          <p:cNvPr id="950" name="Fußzeilenplatzhalter"/>
          <p:cNvSpPr>
            <a:spLocks noGrp="1"/>
          </p:cNvSpPr>
          <p:nvPr>
            <p:ph type="ftr" sz="quarter" idx="11"/>
          </p:nvPr>
        </p:nvSpPr>
        <p:spPr>
          <a:xfrm>
            <a:off x="1354561" y="5412059"/>
            <a:ext cx="3217443" cy="25808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 dirty="0"/>
              <a:t>International Marketing Analytics · WT 2026/27</a:t>
            </a:r>
          </a:p>
        </p:txBody>
      </p:sp>
    </p:spTree>
    <p:extLst>
      <p:ext uri="{BB962C8B-B14F-4D97-AF65-F5344CB8AC3E}">
        <p14:creationId xmlns:p14="http://schemas.microsoft.com/office/powerpoint/2010/main" val="3317189222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600" lang="en-GB"/>
              <a:t>Module content</a:t>
            </a:r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International Marketing Analytics · WT 2026/27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dirty="0"/>
              <a:t>Page </a:t>
            </a:r>
            <a:fld id="{BE3DC40E-DBBE-4E2D-9EEC-FBF0DA0E9179}" type="slidenum">
              <a:rPr lang="en-GB" smtClean="0"/>
              <a:t>‹Nr.›</a:t>
            </a:fld>
            <a:endParaRPr lang="en-GB" dirty="0"/>
          </a:p>
        </p:txBody>
      </p:sp>
      <p:sp>
        <p:nvSpPr>
          <p:cNvPr id="10" name="Content row 1"/>
          <p:cNvSpPr/>
          <p:nvPr/>
        </p:nvSpPr>
        <p:spPr>
          <a:xfrm>
            <a:off x="457200" y="1234440"/>
            <a:ext cx="8229600" cy="66751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Icon content row 1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376172"/>
            <a:ext cx="384048" cy="384048"/>
          </a:xfrm>
          <a:prstGeom prst="rect">
            <a:avLst/>
          </a:prstGeom>
        </p:spPr>
      </p:pic>
      <p:sp>
        <p:nvSpPr>
          <p:cNvPr id="12" name="Content text 1"/>
          <p:cNvSpPr txBox="1"/>
          <p:nvPr/>
        </p:nvSpPr>
        <p:spPr>
          <a:xfrm>
            <a:off x="1280160" y="1234440"/>
            <a:ext cx="7223760" cy="6675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1" lang="en-GB">
                <a:solidFill>
                  <a:schemeClr val="tx2"/>
                </a:solidFill>
              </a:rPr>
              <a:t>Marketing analytics </a:t>
            </a:r>
            <a:r>
              <a:rPr sz="1300" b="0" lang="en-GB">
                <a:solidFill>
                  <a:schemeClr val="tx1"/>
                </a:solidFill>
              </a:rPr>
              <a:t>turns marketing data into decisions on markets, prices, channels and budgets, and checks whether they worked.</a:t>
            </a:r>
          </a:p>
        </p:txBody>
      </p:sp>
      <p:sp>
        <p:nvSpPr>
          <p:cNvPr id="13" name="Content row 2"/>
          <p:cNvSpPr/>
          <p:nvPr/>
        </p:nvSpPr>
        <p:spPr>
          <a:xfrm>
            <a:off x="457200" y="2039112"/>
            <a:ext cx="8229600" cy="66751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Icon content row 2" descr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2180844"/>
            <a:ext cx="384048" cy="384048"/>
          </a:xfrm>
          <a:prstGeom prst="rect">
            <a:avLst/>
          </a:prstGeom>
        </p:spPr>
      </p:pic>
      <p:sp>
        <p:nvSpPr>
          <p:cNvPr id="15" name="Content text 2"/>
          <p:cNvSpPr txBox="1"/>
          <p:nvPr/>
        </p:nvSpPr>
        <p:spPr>
          <a:xfrm>
            <a:off x="1280160" y="2039112"/>
            <a:ext cx="7223760" cy="6675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1" lang="en-GB">
                <a:solidFill>
                  <a:schemeClr val="tx2"/>
                </a:solidFill>
              </a:rPr>
              <a:t>One budget question: </a:t>
            </a:r>
            <a:r>
              <a:rPr sz="1300" b="0" lang="en-GB">
                <a:solidFill>
                  <a:schemeClr val="tx1"/>
                </a:solidFill>
              </a:rPr>
              <a:t>how should a fixed media budget be split across countries and channels?</a:t>
            </a:r>
          </a:p>
        </p:txBody>
      </p:sp>
      <p:sp>
        <p:nvSpPr>
          <p:cNvPr id="16" name="Content row 3"/>
          <p:cNvSpPr/>
          <p:nvPr/>
        </p:nvSpPr>
        <p:spPr>
          <a:xfrm>
            <a:off x="457200" y="2843784"/>
            <a:ext cx="8229600" cy="66751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Icon content row 3" descr="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2985516"/>
            <a:ext cx="384048" cy="384048"/>
          </a:xfrm>
          <a:prstGeom prst="rect">
            <a:avLst/>
          </a:prstGeom>
        </p:spPr>
      </p:pic>
      <p:sp>
        <p:nvSpPr>
          <p:cNvPr id="18" name="Content text 3"/>
          <p:cNvSpPr txBox="1"/>
          <p:nvPr/>
        </p:nvSpPr>
        <p:spPr>
          <a:xfrm>
            <a:off x="1280160" y="2843784"/>
            <a:ext cx="7223760" cy="6675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1" lang="en-GB">
                <a:solidFill>
                  <a:schemeClr val="tx2"/>
                </a:solidFill>
              </a:rPr>
              <a:t>Marketing mix modelling </a:t>
            </a:r>
            <a:r>
              <a:rPr sz="1300" b="0" lang="en-GB">
                <a:solidFill>
                  <a:schemeClr val="tx1"/>
                </a:solidFill>
              </a:rPr>
              <a:t>is back at the centre since privacy rules weakened user-level tracking. Managers who can read and challenge it own the budget debate.</a:t>
            </a:r>
          </a:p>
        </p:txBody>
      </p:sp>
      <p:sp>
        <p:nvSpPr>
          <p:cNvPr id="19" name="Content row 4"/>
          <p:cNvSpPr/>
          <p:nvPr/>
        </p:nvSpPr>
        <p:spPr>
          <a:xfrm>
            <a:off x="457200" y="3648456"/>
            <a:ext cx="8229600" cy="66751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Icon content row 4" descr="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3790188"/>
            <a:ext cx="384048" cy="384048"/>
          </a:xfrm>
          <a:prstGeom prst="rect">
            <a:avLst/>
          </a:prstGeom>
        </p:spPr>
      </p:pic>
      <p:sp>
        <p:nvSpPr>
          <p:cNvPr id="21" name="Content text 4"/>
          <p:cNvSpPr txBox="1"/>
          <p:nvPr/>
        </p:nvSpPr>
        <p:spPr>
          <a:xfrm>
            <a:off x="1280160" y="3648456"/>
            <a:ext cx="7223760" cy="6675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1" lang="en-GB">
                <a:solidFill>
                  <a:schemeClr val="tx2"/>
                </a:solidFill>
              </a:rPr>
              <a:t>One running case: </a:t>
            </a:r>
            <a:r>
              <a:rPr sz="1300" b="0" lang="en-GB">
                <a:solidFill>
                  <a:schemeClr val="tx1"/>
                </a:solidFill>
              </a:rPr>
              <a:t>Alpenglow, a Vienna-based premium chocolate brand selling in Austria, Germany, France, Italy, the Netherlands and Poland.</a:t>
            </a:r>
          </a:p>
        </p:txBody>
      </p:sp>
      <p:sp>
        <p:nvSpPr>
          <p:cNvPr id="22" name="Content row 5"/>
          <p:cNvSpPr/>
          <p:nvPr/>
        </p:nvSpPr>
        <p:spPr>
          <a:xfrm>
            <a:off x="457200" y="4453128"/>
            <a:ext cx="8229600" cy="66751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Icon content row 5" descr="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" y="4594860"/>
            <a:ext cx="384048" cy="384048"/>
          </a:xfrm>
          <a:prstGeom prst="rect">
            <a:avLst/>
          </a:prstGeom>
        </p:spPr>
      </p:pic>
      <p:sp>
        <p:nvSpPr>
          <p:cNvPr id="24" name="Content text 5"/>
          <p:cNvSpPr txBox="1"/>
          <p:nvPr/>
        </p:nvSpPr>
        <p:spPr>
          <a:xfrm>
            <a:off x="1280160" y="4453128"/>
            <a:ext cx="7223760" cy="6675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1" lang="en-GB">
                <a:solidFill>
                  <a:schemeClr val="tx2"/>
                </a:solidFill>
              </a:rPr>
              <a:t>Python with AI assistants: </a:t>
            </a:r>
            <a:r>
              <a:rPr sz="1300" b="0" lang="en-GB">
                <a:solidFill>
                  <a:schemeClr val="tx1"/>
                </a:solidFill>
              </a:rPr>
              <a:t>the assistant does most of the typing; you specify, run, check and communicate the analysis.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600" lang="en-GB"/>
              <a:t>Five sessions, five decisions</a:t>
            </a:r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International Marketing Analytics · WT 2026/27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dirty="0"/>
              <a:t>Page </a:t>
            </a:r>
            <a:fld id="{BE3DC40E-DBBE-4E2D-9EEC-FBF0DA0E9179}" type="slidenum">
              <a:rPr lang="en-GB" smtClean="0"/>
              <a:t>‹Nr.›</a:t>
            </a:fld>
            <a:endParaRPr lang="en-GB" dirty="0"/>
          </a:p>
        </p:txBody>
      </p:sp>
      <p:sp>
        <p:nvSpPr>
          <p:cNvPr id="10" name="Session card 1"/>
          <p:cNvSpPr/>
          <p:nvPr/>
        </p:nvSpPr>
        <p:spPr>
          <a:xfrm>
            <a:off x="457200" y="1234440"/>
            <a:ext cx="1536192" cy="269748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Session header 1"/>
          <p:cNvSpPr/>
          <p:nvPr/>
        </p:nvSpPr>
        <p:spPr>
          <a:xfrm>
            <a:off x="457200" y="1234440"/>
            <a:ext cx="1536192" cy="41148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Session heading 1"/>
          <p:cNvSpPr txBox="1"/>
          <p:nvPr/>
        </p:nvSpPr>
        <p:spPr>
          <a:xfrm>
            <a:off x="548640" y="1234440"/>
            <a:ext cx="1353312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1500" b="1" lang="en-GB">
                <a:solidFill>
                  <a:schemeClr val="bg1"/>
                </a:solidFill>
                <a:latin typeface="+mj-lt"/>
              </a:rPr>
              <a:t>Session 1</a:t>
            </a:r>
          </a:p>
        </p:txBody>
      </p:sp>
      <p:sp>
        <p:nvSpPr>
          <p:cNvPr id="13" name="Session text 1"/>
          <p:cNvSpPr txBox="1"/>
          <p:nvPr/>
        </p:nvSpPr>
        <p:spPr>
          <a:xfrm>
            <a:off x="566928" y="1755648"/>
            <a:ext cx="1335024" cy="2103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800"/>
              </a:spcAft>
            </a:pPr>
            <a:r>
              <a:rPr sz="1300" b="0" lang="en-GB">
                <a:solidFill>
                  <a:schemeClr val="tx2"/>
                </a:solidFill>
              </a:rPr>
              <a:t>Tue 6 Oct</a:t>
            </a:r>
          </a:p>
          <a:p>
            <a:pPr algn="l">
              <a:spcAft>
                <a:spcPts val="800"/>
              </a:spcAft>
            </a:pPr>
            <a:r>
              <a:rPr sz="1300" b="1" lang="en-GB">
                <a:solidFill>
                  <a:schemeClr val="tx2"/>
                </a:solidFill>
              </a:rPr>
              <a:t>Is our price too high in Poland?</a:t>
            </a:r>
          </a:p>
          <a:p>
            <a:pPr algn="l">
              <a:spcAft>
                <a:spcPts val="800"/>
              </a:spcAft>
            </a:pPr>
            <a:r>
              <a:rPr sz="1300" b="0" lang="en-GB">
                <a:solidFill>
                  <a:schemeClr val="accent1"/>
                </a:solidFill>
              </a:rPr>
              <a:t>→ Price and promotion elasticities</a:t>
            </a:r>
          </a:p>
        </p:txBody>
      </p:sp>
      <p:sp>
        <p:nvSpPr>
          <p:cNvPr id="14" name="Session card 2"/>
          <p:cNvSpPr/>
          <p:nvPr/>
        </p:nvSpPr>
        <p:spPr>
          <a:xfrm>
            <a:off x="2130552" y="1234440"/>
            <a:ext cx="1536192" cy="269748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Session header 2"/>
          <p:cNvSpPr/>
          <p:nvPr/>
        </p:nvSpPr>
        <p:spPr>
          <a:xfrm>
            <a:off x="2130552" y="1234440"/>
            <a:ext cx="1536192" cy="41148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ession heading 2"/>
          <p:cNvSpPr txBox="1"/>
          <p:nvPr/>
        </p:nvSpPr>
        <p:spPr>
          <a:xfrm>
            <a:off x="2221992" y="1234440"/>
            <a:ext cx="1353312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1500" b="1" lang="en-GB">
                <a:solidFill>
                  <a:schemeClr val="bg1"/>
                </a:solidFill>
                <a:latin typeface="+mj-lt"/>
              </a:rPr>
              <a:t>Session 2</a:t>
            </a:r>
          </a:p>
        </p:txBody>
      </p:sp>
      <p:sp>
        <p:nvSpPr>
          <p:cNvPr id="17" name="Session text 2"/>
          <p:cNvSpPr txBox="1"/>
          <p:nvPr/>
        </p:nvSpPr>
        <p:spPr>
          <a:xfrm>
            <a:off x="2240280" y="1755648"/>
            <a:ext cx="1335024" cy="2103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800"/>
              </a:spcAft>
            </a:pPr>
            <a:r>
              <a:rPr sz="1300" b="0" lang="en-GB">
                <a:solidFill>
                  <a:schemeClr val="tx2"/>
                </a:solidFill>
              </a:rPr>
              <a:t>Tue 13 Oct</a:t>
            </a:r>
          </a:p>
          <a:p>
            <a:pPr algn="l">
              <a:spcAft>
                <a:spcPts val="800"/>
              </a:spcAft>
            </a:pPr>
            <a:r>
              <a:rPr sz="1300" b="1" lang="en-GB">
                <a:solidFill>
                  <a:schemeClr val="tx2"/>
                </a:solidFill>
              </a:rPr>
              <a:t>What did TV do for us in Germany?</a:t>
            </a:r>
          </a:p>
          <a:p>
            <a:pPr algn="l">
              <a:spcAft>
                <a:spcPts val="800"/>
              </a:spcAft>
            </a:pPr>
            <a:r>
              <a:rPr sz="1300" b="0" lang="en-GB">
                <a:solidFill>
                  <a:schemeClr val="accent1"/>
                </a:solidFill>
              </a:rPr>
              <a:t>→ Adstock, saturation and ROAS</a:t>
            </a:r>
          </a:p>
        </p:txBody>
      </p:sp>
      <p:sp>
        <p:nvSpPr>
          <p:cNvPr id="18" name="Session card 3"/>
          <p:cNvSpPr/>
          <p:nvPr/>
        </p:nvSpPr>
        <p:spPr>
          <a:xfrm>
            <a:off x="3803904" y="1234440"/>
            <a:ext cx="1536192" cy="269748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Session header 3"/>
          <p:cNvSpPr/>
          <p:nvPr/>
        </p:nvSpPr>
        <p:spPr>
          <a:xfrm>
            <a:off x="3803904" y="1234440"/>
            <a:ext cx="1536192" cy="41148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ession heading 3"/>
          <p:cNvSpPr txBox="1"/>
          <p:nvPr/>
        </p:nvSpPr>
        <p:spPr>
          <a:xfrm>
            <a:off x="3895344" y="1234440"/>
            <a:ext cx="1353312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1500" b="1" lang="en-GB">
                <a:solidFill>
                  <a:schemeClr val="bg1"/>
                </a:solidFill>
                <a:latin typeface="+mj-lt"/>
              </a:rPr>
              <a:t>Session 3</a:t>
            </a:r>
          </a:p>
        </p:txBody>
      </p:sp>
      <p:sp>
        <p:nvSpPr>
          <p:cNvPr id="21" name="Session text 3"/>
          <p:cNvSpPr txBox="1"/>
          <p:nvPr/>
        </p:nvSpPr>
        <p:spPr>
          <a:xfrm>
            <a:off x="3913632" y="1755648"/>
            <a:ext cx="1335024" cy="2103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800"/>
              </a:spcAft>
            </a:pPr>
            <a:r>
              <a:rPr sz="1300" b="0" lang="en-GB">
                <a:solidFill>
                  <a:schemeClr val="tx2"/>
                </a:solidFill>
              </a:rPr>
              <a:t>Tue 20 Oct</a:t>
            </a:r>
          </a:p>
          <a:p>
            <a:pPr algn="l">
              <a:spcAft>
                <a:spcPts val="800"/>
              </a:spcAft>
            </a:pPr>
            <a:r>
              <a:rPr sz="1300" b="1" lang="en-GB">
                <a:solidFill>
                  <a:schemeClr val="tx2"/>
                </a:solidFill>
              </a:rPr>
              <a:t>Where should the next euro go?</a:t>
            </a:r>
          </a:p>
          <a:p>
            <a:pPr algn="l">
              <a:spcAft>
                <a:spcPts val="800"/>
              </a:spcAft>
            </a:pPr>
            <a:r>
              <a:rPr sz="1300" b="0" lang="en-GB">
                <a:solidFill>
                  <a:schemeClr val="accent1"/>
                </a:solidFill>
              </a:rPr>
              <a:t>→ Budget allocation across countries and channels</a:t>
            </a:r>
          </a:p>
        </p:txBody>
      </p:sp>
      <p:sp>
        <p:nvSpPr>
          <p:cNvPr id="22" name="Session card 4"/>
          <p:cNvSpPr/>
          <p:nvPr/>
        </p:nvSpPr>
        <p:spPr>
          <a:xfrm>
            <a:off x="5477256" y="1234440"/>
            <a:ext cx="1536192" cy="269748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Session header 4"/>
          <p:cNvSpPr/>
          <p:nvPr/>
        </p:nvSpPr>
        <p:spPr>
          <a:xfrm>
            <a:off x="5477256" y="1234440"/>
            <a:ext cx="1536192" cy="41148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Session heading 4"/>
          <p:cNvSpPr txBox="1"/>
          <p:nvPr/>
        </p:nvSpPr>
        <p:spPr>
          <a:xfrm>
            <a:off x="5568696" y="1234440"/>
            <a:ext cx="1353312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1500" b="1" lang="en-GB">
                <a:solidFill>
                  <a:schemeClr val="bg1"/>
                </a:solidFill>
                <a:latin typeface="+mj-lt"/>
              </a:rPr>
              <a:t>Session 4</a:t>
            </a:r>
          </a:p>
        </p:txBody>
      </p:sp>
      <p:sp>
        <p:nvSpPr>
          <p:cNvPr id="25" name="Session text 4"/>
          <p:cNvSpPr txBox="1"/>
          <p:nvPr/>
        </p:nvSpPr>
        <p:spPr>
          <a:xfrm>
            <a:off x="5586984" y="1755648"/>
            <a:ext cx="1335024" cy="2103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800"/>
              </a:spcAft>
            </a:pPr>
            <a:r>
              <a:rPr sz="1300" b="0" lang="en-GB">
                <a:solidFill>
                  <a:schemeClr val="tx2"/>
                </a:solidFill>
              </a:rPr>
              <a:t>Tue 27 Oct</a:t>
            </a:r>
          </a:p>
          <a:p>
            <a:pPr algn="l">
              <a:spcAft>
                <a:spcPts val="800"/>
              </a:spcAft>
            </a:pPr>
            <a:r>
              <a:rPr sz="1300" b="1" lang="en-GB">
                <a:solidFill>
                  <a:schemeClr val="tx2"/>
                </a:solidFill>
              </a:rPr>
              <a:t>Can we trust the model?</a:t>
            </a:r>
          </a:p>
          <a:p>
            <a:pPr algn="l">
              <a:spcAft>
                <a:spcPts val="800"/>
              </a:spcAft>
            </a:pPr>
            <a:r>
              <a:rPr sz="1300" b="0" lang="en-GB">
                <a:solidFill>
                  <a:schemeClr val="accent1"/>
                </a:solidFill>
              </a:rPr>
              <a:t>→ Forecasts, geo-lift tests and attribution</a:t>
            </a:r>
          </a:p>
        </p:txBody>
      </p:sp>
      <p:sp>
        <p:nvSpPr>
          <p:cNvPr id="26" name="Session card 5"/>
          <p:cNvSpPr/>
          <p:nvPr/>
        </p:nvSpPr>
        <p:spPr>
          <a:xfrm>
            <a:off x="7150608" y="1234440"/>
            <a:ext cx="1536192" cy="269748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Session header 5"/>
          <p:cNvSpPr/>
          <p:nvPr/>
        </p:nvSpPr>
        <p:spPr>
          <a:xfrm>
            <a:off x="7150608" y="1234440"/>
            <a:ext cx="1536192" cy="4114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Session heading 5"/>
          <p:cNvSpPr txBox="1"/>
          <p:nvPr/>
        </p:nvSpPr>
        <p:spPr>
          <a:xfrm>
            <a:off x="7242048" y="1234440"/>
            <a:ext cx="1353312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1500" b="1" lang="en-GB">
                <a:solidFill>
                  <a:schemeClr val="bg1"/>
                </a:solidFill>
                <a:latin typeface="+mj-lt"/>
              </a:rPr>
              <a:t>Session 5</a:t>
            </a:r>
          </a:p>
        </p:txBody>
      </p:sp>
      <p:sp>
        <p:nvSpPr>
          <p:cNvPr id="29" name="Session text 5"/>
          <p:cNvSpPr txBox="1"/>
          <p:nvPr/>
        </p:nvSpPr>
        <p:spPr>
          <a:xfrm>
            <a:off x="7260336" y="1755648"/>
            <a:ext cx="1335024" cy="2103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800"/>
              </a:spcAft>
            </a:pPr>
            <a:r>
              <a:rPr sz="1300" b="0" lang="en-GB">
                <a:solidFill>
                  <a:schemeClr val="tx2"/>
                </a:solidFill>
              </a:rPr>
              <a:t>Tue 3 Nov</a:t>
            </a:r>
          </a:p>
          <a:p>
            <a:pPr algn="l">
              <a:spcAft>
                <a:spcPts val="800"/>
              </a:spcAft>
            </a:pPr>
            <a:r>
              <a:rPr sz="1300" b="1" lang="en-GB">
                <a:solidFill>
                  <a:schemeClr val="tx2"/>
                </a:solidFill>
              </a:rPr>
              <a:t>Board meeting</a:t>
            </a:r>
          </a:p>
          <a:p>
            <a:pPr algn="l">
              <a:spcAft>
                <a:spcPts val="800"/>
              </a:spcAft>
            </a:pPr>
            <a:r>
              <a:rPr sz="1300" b="0" lang="en-GB">
                <a:solidFill>
                  <a:schemeClr val="accent1"/>
                </a:solidFill>
              </a:rPr>
              <a:t>→ Groups pitch and defend their 2027 budget</a:t>
            </a:r>
          </a:p>
        </p:txBody>
      </p:sp>
      <p:sp>
        <p:nvSpPr>
          <p:cNvPr id="30" name="Central question box"/>
          <p:cNvSpPr/>
          <p:nvPr/>
        </p:nvSpPr>
        <p:spPr>
          <a:xfrm>
            <a:off x="457200" y="4114800"/>
            <a:ext cx="8229600" cy="96012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Central question"/>
          <p:cNvSpPr txBox="1"/>
          <p:nvPr/>
        </p:nvSpPr>
        <p:spPr>
          <a:xfrm>
            <a:off x="685800" y="4114800"/>
            <a:ext cx="7772400" cy="960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1500" b="1" lang="en-GB">
                <a:solidFill>
                  <a:schemeClr val="bg1"/>
                </a:solidFill>
                <a:latin typeface="+mj-lt"/>
              </a:rPr>
              <a:t>The question behind all five sessions: </a:t>
            </a:r>
            <a:r>
              <a:rPr sz="1500" b="0" lang="en-GB">
                <a:solidFill>
                  <a:schemeClr val="bg1"/>
                </a:solidFill>
                <a:latin typeface="+mj-lt"/>
              </a:rPr>
              <a:t>how should Alpenglow split a fixed media budget across six countries and five channels?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600" lang="en-GB"/>
              <a:t>Learning outcomes</a:t>
            </a:r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International Marketing Analytics · WT 2026/27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dirty="0"/>
              <a:t>Page </a:t>
            </a:r>
            <a:fld id="{BE3DC40E-DBBE-4E2D-9EEC-FBF0DA0E9179}" type="slidenum">
              <a:rPr lang="en-GB" smtClean="0"/>
              <a:t>‹Nr.›</a:t>
            </a:fld>
            <a:endParaRPr lang="en-GB" dirty="0"/>
          </a:p>
        </p:txBody>
      </p:sp>
      <p:sp>
        <p:nvSpPr>
          <p:cNvPr id="10" name="Outcomes intro"/>
          <p:cNvSpPr txBox="1"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0" lang="en-GB">
                <a:solidFill>
                  <a:schemeClr val="tx1"/>
                </a:solidFill>
              </a:rPr>
              <a:t>On successful completion of this module, students will be able to:</a:t>
            </a:r>
          </a:p>
        </p:txBody>
      </p:sp>
      <p:sp>
        <p:nvSpPr>
          <p:cNvPr id="11" name="Outcomes band 1"/>
          <p:cNvSpPr/>
          <p:nvPr/>
        </p:nvSpPr>
        <p:spPr>
          <a:xfrm>
            <a:off x="457200" y="1572768"/>
            <a:ext cx="8229600" cy="107899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utcomes bar 1"/>
          <p:cNvSpPr/>
          <p:nvPr/>
        </p:nvSpPr>
        <p:spPr>
          <a:xfrm>
            <a:off x="457200" y="1572768"/>
            <a:ext cx="64008" cy="107899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Icon Outcomes 1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20240"/>
            <a:ext cx="384048" cy="384048"/>
          </a:xfrm>
          <a:prstGeom prst="rect">
            <a:avLst/>
          </a:prstGeom>
        </p:spPr>
      </p:pic>
      <p:sp>
        <p:nvSpPr>
          <p:cNvPr id="14" name="Outcomes heading 1"/>
          <p:cNvSpPr txBox="1"/>
          <p:nvPr/>
        </p:nvSpPr>
        <p:spPr>
          <a:xfrm>
            <a:off x="1188720" y="1572768"/>
            <a:ext cx="1280160" cy="10789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lang="en-GB">
                <a:solidFill>
                  <a:schemeClr val="tx2"/>
                </a:solidFill>
                <a:latin typeface="+mj-lt"/>
              </a:rPr>
              <a:t>Model the market</a:t>
            </a:r>
          </a:p>
        </p:txBody>
      </p:sp>
      <p:sp>
        <p:nvSpPr>
          <p:cNvPr id="15" name="Outcomes outcomes 1"/>
          <p:cNvSpPr txBox="1"/>
          <p:nvPr/>
        </p:nvSpPr>
        <p:spPr>
          <a:xfrm>
            <a:off x="2606040" y="1664208"/>
            <a:ext cx="5897880" cy="8961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sz="1300" b="1" lang="en-GB">
                <a:solidFill>
                  <a:schemeClr val="accent1"/>
                </a:solidFill>
              </a:rPr>
              <a:t>1  </a:t>
            </a:r>
            <a:r>
              <a:rPr sz="1300" b="1" lang="en-GB">
                <a:solidFill>
                  <a:schemeClr val="tx2"/>
                </a:solidFill>
              </a:rPr>
              <a:t>Explain marketing mix modelling: </a:t>
            </a:r>
            <a:r>
              <a:rPr sz="1300" b="0" lang="en-GB">
                <a:solidFill>
                  <a:schemeClr val="tx1"/>
                </a:solidFill>
              </a:rPr>
              <a:t>carryover, saturation, baseline versus incremental sales, ROAS versus marginal ROAS.</a:t>
            </a:r>
          </a:p>
          <a:p>
            <a:pPr algn="l">
              <a:spcAft>
                <a:spcPts val="600"/>
              </a:spcAft>
            </a:pPr>
            <a:r>
              <a:rPr sz="1300" b="1" lang="en-GB">
                <a:solidFill>
                  <a:schemeClr val="accent1"/>
                </a:solidFill>
              </a:rPr>
              <a:t>2  </a:t>
            </a:r>
            <a:r>
              <a:rPr sz="1300" b="1" lang="en-GB">
                <a:solidFill>
                  <a:schemeClr val="tx2"/>
                </a:solidFill>
              </a:rPr>
              <a:t>Estimate response models </a:t>
            </a:r>
            <a:r>
              <a:rPr sz="1300" b="0" lang="en-GB">
                <a:solidFill>
                  <a:schemeClr val="tx1"/>
                </a:solidFill>
              </a:rPr>
              <a:t>in Python, from OLS and log-log elasticities to fixed effects and Bayesian MMM.</a:t>
            </a:r>
          </a:p>
        </p:txBody>
      </p:sp>
      <p:sp>
        <p:nvSpPr>
          <p:cNvPr id="16" name="Outcomes band 2"/>
          <p:cNvSpPr/>
          <p:nvPr/>
        </p:nvSpPr>
        <p:spPr>
          <a:xfrm>
            <a:off x="457200" y="2788920"/>
            <a:ext cx="8229600" cy="107899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utcomes bar 2"/>
          <p:cNvSpPr/>
          <p:nvPr/>
        </p:nvSpPr>
        <p:spPr>
          <a:xfrm>
            <a:off x="457200" y="2788920"/>
            <a:ext cx="64008" cy="107899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Icon Outcomes 2" descr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136392"/>
            <a:ext cx="384048" cy="384048"/>
          </a:xfrm>
          <a:prstGeom prst="rect">
            <a:avLst/>
          </a:prstGeom>
        </p:spPr>
      </p:pic>
      <p:sp>
        <p:nvSpPr>
          <p:cNvPr id="19" name="Outcomes heading 2"/>
          <p:cNvSpPr txBox="1"/>
          <p:nvPr/>
        </p:nvSpPr>
        <p:spPr>
          <a:xfrm>
            <a:off x="1188720" y="2788920"/>
            <a:ext cx="1280160" cy="10789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lang="en-GB">
                <a:solidFill>
                  <a:schemeClr val="tx2"/>
                </a:solidFill>
                <a:latin typeface="+mj-lt"/>
              </a:rPr>
              <a:t>Decide on budgets</a:t>
            </a:r>
          </a:p>
        </p:txBody>
      </p:sp>
      <p:sp>
        <p:nvSpPr>
          <p:cNvPr id="20" name="Outcomes outcomes 2"/>
          <p:cNvSpPr txBox="1"/>
          <p:nvPr/>
        </p:nvSpPr>
        <p:spPr>
          <a:xfrm>
            <a:off x="2606040" y="2880360"/>
            <a:ext cx="5897880" cy="8961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sz="1300" b="1" lang="en-GB">
                <a:solidFill>
                  <a:schemeClr val="accent1"/>
                </a:solidFill>
              </a:rPr>
              <a:t>3  </a:t>
            </a:r>
            <a:r>
              <a:rPr sz="1300" b="1" lang="en-GB">
                <a:solidFill>
                  <a:schemeClr val="tx2"/>
                </a:solidFill>
              </a:rPr>
              <a:t>Allocate budgets </a:t>
            </a:r>
            <a:r>
              <a:rPr sz="1300" b="0" lang="en-GB">
                <a:solidFill>
                  <a:schemeClr val="tx1"/>
                </a:solidFill>
              </a:rPr>
              <a:t>across countries and channels and defend the allocation under uncertainty.</a:t>
            </a:r>
          </a:p>
          <a:p>
            <a:pPr algn="l">
              <a:spcAft>
                <a:spcPts val="600"/>
              </a:spcAft>
            </a:pPr>
            <a:r>
              <a:rPr sz="1300" b="1" lang="en-GB">
                <a:solidFill>
                  <a:schemeClr val="accent1"/>
                </a:solidFill>
              </a:rPr>
              <a:t>4  </a:t>
            </a:r>
            <a:r>
              <a:rPr sz="1300" b="1" lang="en-GB">
                <a:solidFill>
                  <a:schemeClr val="tx2"/>
                </a:solidFill>
              </a:rPr>
              <a:t>Forecast sales </a:t>
            </a:r>
            <a:r>
              <a:rPr sz="1300" b="0" lang="en-GB">
                <a:solidFill>
                  <a:schemeClr val="tx1"/>
                </a:solidFill>
              </a:rPr>
              <a:t>and evaluate the forecasts as the baseline for planning.</a:t>
            </a:r>
          </a:p>
        </p:txBody>
      </p:sp>
      <p:sp>
        <p:nvSpPr>
          <p:cNvPr id="21" name="Outcomes band 3"/>
          <p:cNvSpPr/>
          <p:nvPr/>
        </p:nvSpPr>
        <p:spPr>
          <a:xfrm>
            <a:off x="457200" y="4005072"/>
            <a:ext cx="8229600" cy="107899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utcomes bar 3"/>
          <p:cNvSpPr/>
          <p:nvPr/>
        </p:nvSpPr>
        <p:spPr>
          <a:xfrm>
            <a:off x="457200" y="4005072"/>
            <a:ext cx="64008" cy="107899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Icon Outcomes 3" descr="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352544"/>
            <a:ext cx="384048" cy="384048"/>
          </a:xfrm>
          <a:prstGeom prst="rect">
            <a:avLst/>
          </a:prstGeom>
        </p:spPr>
      </p:pic>
      <p:sp>
        <p:nvSpPr>
          <p:cNvPr id="24" name="Outcomes heading 3"/>
          <p:cNvSpPr txBox="1"/>
          <p:nvPr/>
        </p:nvSpPr>
        <p:spPr>
          <a:xfrm>
            <a:off x="1188720" y="4005072"/>
            <a:ext cx="1280160" cy="10789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lang="en-GB">
                <a:solidFill>
                  <a:schemeClr val="tx2"/>
                </a:solidFill>
                <a:latin typeface="+mj-lt"/>
              </a:rPr>
              <a:t>Test the evidence</a:t>
            </a:r>
          </a:p>
        </p:txBody>
      </p:sp>
      <p:sp>
        <p:nvSpPr>
          <p:cNvPr id="25" name="Outcomes outcomes 3"/>
          <p:cNvSpPr txBox="1"/>
          <p:nvPr/>
        </p:nvSpPr>
        <p:spPr>
          <a:xfrm>
            <a:off x="2606040" y="4096512"/>
            <a:ext cx="5897880" cy="8961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sz="1300" b="1" lang="en-GB">
                <a:solidFill>
                  <a:schemeClr val="accent1"/>
                </a:solidFill>
              </a:rPr>
              <a:t>5  </a:t>
            </a:r>
            <a:r>
              <a:rPr sz="1300" b="1" lang="en-GB">
                <a:solidFill>
                  <a:schemeClr val="tx2"/>
                </a:solidFill>
              </a:rPr>
              <a:t>Design experiments: </a:t>
            </a:r>
            <a:r>
              <a:rPr sz="1300" b="0" lang="en-GB">
                <a:solidFill>
                  <a:schemeClr val="tx1"/>
                </a:solidFill>
              </a:rPr>
              <a:t>analyse a geo-lift test and use it to validate and calibrate an MMM.</a:t>
            </a:r>
          </a:p>
          <a:p>
            <a:pPr algn="l">
              <a:spcAft>
                <a:spcPts val="600"/>
              </a:spcAft>
            </a:pPr>
            <a:r>
              <a:rPr sz="1300" b="1" lang="en-GB">
                <a:solidFill>
                  <a:schemeClr val="accent1"/>
                </a:solidFill>
              </a:rPr>
              <a:t>6  </a:t>
            </a:r>
            <a:r>
              <a:rPr sz="1300" b="1" lang="en-GB">
                <a:solidFill>
                  <a:schemeClr val="tx2"/>
                </a:solidFill>
              </a:rPr>
              <a:t>Compare attribution: </a:t>
            </a:r>
            <a:r>
              <a:rPr sz="1300" b="0" lang="en-GB">
                <a:solidFill>
                  <a:schemeClr val="tx1"/>
                </a:solidFill>
              </a:rPr>
              <a:t>explain why last-touch, regression-based and Shapley attribution disagree across markets.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600" lang="en-GB"/>
              <a:t>Learning outcomes (continued)</a:t>
            </a:r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International Marketing Analytics · WT 2026/27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dirty="0"/>
              <a:t>Page </a:t>
            </a:r>
            <a:fld id="{BE3DC40E-DBBE-4E2D-9EEC-FBF0DA0E9179}" type="slidenum">
              <a:rPr lang="en-GB" smtClean="0"/>
              <a:t>‹Nr.›</a:t>
            </a:fld>
            <a:endParaRPr lang="en-GB" dirty="0"/>
          </a:p>
        </p:txBody>
      </p:sp>
      <p:sp>
        <p:nvSpPr>
          <p:cNvPr id="10" name="Outcomes II band 1"/>
          <p:cNvSpPr/>
          <p:nvPr/>
        </p:nvSpPr>
        <p:spPr>
          <a:xfrm>
            <a:off x="457200" y="1234440"/>
            <a:ext cx="8229600" cy="18288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utcomes II bar 1"/>
          <p:cNvSpPr/>
          <p:nvPr/>
        </p:nvSpPr>
        <p:spPr>
          <a:xfrm>
            <a:off x="457200" y="1234440"/>
            <a:ext cx="64008" cy="1828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Icon Outcomes II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956816"/>
            <a:ext cx="384048" cy="384048"/>
          </a:xfrm>
          <a:prstGeom prst="rect">
            <a:avLst/>
          </a:prstGeom>
        </p:spPr>
      </p:pic>
      <p:sp>
        <p:nvSpPr>
          <p:cNvPr id="13" name="Outcomes II heading 1"/>
          <p:cNvSpPr txBox="1"/>
          <p:nvPr/>
        </p:nvSpPr>
        <p:spPr>
          <a:xfrm>
            <a:off x="1188720" y="1234440"/>
            <a:ext cx="1280160" cy="1828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lang="en-GB">
                <a:solidFill>
                  <a:schemeClr val="tx2"/>
                </a:solidFill>
                <a:latin typeface="+mj-lt"/>
              </a:rPr>
              <a:t>Work with tools</a:t>
            </a:r>
          </a:p>
        </p:txBody>
      </p:sp>
      <p:sp>
        <p:nvSpPr>
          <p:cNvPr id="14" name="Outcomes II outcomes 1"/>
          <p:cNvSpPr txBox="1"/>
          <p:nvPr/>
        </p:nvSpPr>
        <p:spPr>
          <a:xfrm>
            <a:off x="2606040" y="1325880"/>
            <a:ext cx="5897880" cy="1645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sz="1300" b="1" lang="en-GB">
                <a:solidFill>
                  <a:schemeClr val="accent1"/>
                </a:solidFill>
              </a:rPr>
              <a:t>7  </a:t>
            </a:r>
            <a:r>
              <a:rPr sz="1300" b="1" lang="en-GB">
                <a:solidFill>
                  <a:schemeClr val="tx2"/>
                </a:solidFill>
              </a:rPr>
              <a:t>Work reproducibly: </a:t>
            </a:r>
            <a:r>
              <a:rPr sz="1300" b="0" lang="en-GB">
                <a:solidFill>
                  <a:schemeClr val="tx1"/>
                </a:solidFill>
              </a:rPr>
              <a:t>use Python, Positron, Quarto and GitHub to build analyses that colleagues can rerun and audit.</a:t>
            </a:r>
          </a:p>
          <a:p>
            <a:pPr algn="l">
              <a:spcAft>
                <a:spcPts val="600"/>
              </a:spcAft>
            </a:pPr>
            <a:r>
              <a:rPr sz="1300" b="1" lang="en-GB">
                <a:solidFill>
                  <a:schemeClr val="accent1"/>
                </a:solidFill>
              </a:rPr>
              <a:t>8  </a:t>
            </a:r>
            <a:r>
              <a:rPr sz="1300" b="1" lang="en-GB">
                <a:solidFill>
                  <a:schemeClr val="tx2"/>
                </a:solidFill>
              </a:rPr>
              <a:t>Use AI assistants responsibly: </a:t>
            </a:r>
            <a:r>
              <a:rPr sz="1300" b="0" lang="en-GB">
                <a:solidFill>
                  <a:schemeClr val="tx1"/>
                </a:solidFill>
              </a:rPr>
              <a:t>direct an AI coding assistant, verify its output and document the prompts behind an analysis.</a:t>
            </a:r>
          </a:p>
        </p:txBody>
      </p:sp>
      <p:sp>
        <p:nvSpPr>
          <p:cNvPr id="15" name="Outcomes II band 2"/>
          <p:cNvSpPr/>
          <p:nvPr/>
        </p:nvSpPr>
        <p:spPr>
          <a:xfrm>
            <a:off x="457200" y="3200400"/>
            <a:ext cx="8229600" cy="18288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utcomes II bar 2"/>
          <p:cNvSpPr/>
          <p:nvPr/>
        </p:nvSpPr>
        <p:spPr>
          <a:xfrm>
            <a:off x="457200" y="3200400"/>
            <a:ext cx="64008" cy="1828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Icon Outcomes II 2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922776"/>
            <a:ext cx="384048" cy="384048"/>
          </a:xfrm>
          <a:prstGeom prst="rect">
            <a:avLst/>
          </a:prstGeom>
        </p:spPr>
      </p:pic>
      <p:sp>
        <p:nvSpPr>
          <p:cNvPr id="18" name="Outcomes II heading 2"/>
          <p:cNvSpPr txBox="1"/>
          <p:nvPr/>
        </p:nvSpPr>
        <p:spPr>
          <a:xfrm>
            <a:off x="1188720" y="3200400"/>
            <a:ext cx="1280160" cy="1828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lang="en-GB">
                <a:solidFill>
                  <a:schemeClr val="tx2"/>
                </a:solidFill>
                <a:latin typeface="+mj-lt"/>
              </a:rPr>
              <a:t>Work with people</a:t>
            </a:r>
          </a:p>
        </p:txBody>
      </p:sp>
      <p:sp>
        <p:nvSpPr>
          <p:cNvPr id="19" name="Outcomes II outcomes 2"/>
          <p:cNvSpPr txBox="1"/>
          <p:nvPr/>
        </p:nvSpPr>
        <p:spPr>
          <a:xfrm>
            <a:off x="2606040" y="3291840"/>
            <a:ext cx="5897880" cy="1645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sz="1300" b="1" lang="en-GB">
                <a:solidFill>
                  <a:schemeClr val="accent1"/>
                </a:solidFill>
              </a:rPr>
              <a:t>9  </a:t>
            </a:r>
            <a:r>
              <a:rPr sz="1300" b="1" lang="en-GB">
                <a:solidFill>
                  <a:schemeClr val="tx2"/>
                </a:solidFill>
              </a:rPr>
              <a:t>Communicate: </a:t>
            </a:r>
            <a:r>
              <a:rPr sz="1300" b="0" lang="en-GB">
                <a:solidFill>
                  <a:schemeClr val="tx1"/>
                </a:solidFill>
              </a:rPr>
              <a:t>present analytical findings to a board audience in a written report and a pitch.</a:t>
            </a:r>
          </a:p>
          <a:p>
            <a:pPr algn="l">
              <a:spcAft>
                <a:spcPts val="600"/>
              </a:spcAft>
            </a:pPr>
            <a:r>
              <a:rPr sz="1300" b="1" lang="en-GB">
                <a:solidFill>
                  <a:schemeClr val="accent1"/>
                </a:solidFill>
              </a:rPr>
              <a:t>10  </a:t>
            </a:r>
            <a:r>
              <a:rPr sz="1300" b="1" lang="en-GB">
                <a:solidFill>
                  <a:schemeClr val="tx2"/>
                </a:solidFill>
              </a:rPr>
              <a:t>Work in teams: </a:t>
            </a:r>
            <a:r>
              <a:rPr sz="1300" b="0" lang="en-GB">
                <a:solidFill>
                  <a:schemeClr val="tx1"/>
                </a:solidFill>
              </a:rPr>
              <a:t>collaborate in version-controlled projects and take collective, data-driven decisions.</a:t>
            </a:r>
          </a:p>
          <a:p>
            <a:pPr algn="l">
              <a:spcAft>
                <a:spcPts val="600"/>
              </a:spcAft>
            </a:pPr>
            <a:r>
              <a:rPr sz="1300" b="1" lang="en-GB">
                <a:solidFill>
                  <a:schemeClr val="accent1"/>
                </a:solidFill>
              </a:rPr>
              <a:t>11  </a:t>
            </a:r>
            <a:r>
              <a:rPr sz="1300" b="1" lang="en-GB">
                <a:solidFill>
                  <a:schemeClr val="tx2"/>
                </a:solidFill>
              </a:rPr>
              <a:t>Think critically: </a:t>
            </a:r>
            <a:r>
              <a:rPr sz="1300" b="0" lang="en-GB">
                <a:solidFill>
                  <a:schemeClr val="tx1"/>
                </a:solidFill>
              </a:rPr>
              <a:t>evaluate data sources, model assumptions and findings in an international marketing context.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600" lang="en-GB"/>
              <a:t>Methods of teaching and learning</a:t>
            </a:r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International Marketing Analytics · WT 2026/27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dirty="0"/>
              <a:t>Page </a:t>
            </a:r>
            <a:fld id="{BE3DC40E-DBBE-4E2D-9EEC-FBF0DA0E9179}" type="slidenum">
              <a:rPr lang="en-GB" smtClean="0"/>
              <a:t>‹Nr.›</a:t>
            </a:fld>
            <a:endParaRPr lang="en-GB" dirty="0"/>
          </a:p>
        </p:txBody>
      </p:sp>
      <p:sp>
        <p:nvSpPr>
          <p:cNvPr id="10" name="Session rhythm label"/>
          <p:cNvSpPr txBox="1"/>
          <p:nvPr/>
        </p:nvSpPr>
        <p:spPr>
          <a:xfrm>
            <a:off x="457200" y="117043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1" lang="en-GB">
                <a:solidFill>
                  <a:schemeClr val="tx2"/>
                </a:solidFill>
              </a:rPr>
              <a:t>Every session</a:t>
            </a:r>
          </a:p>
        </p:txBody>
      </p:sp>
      <p:sp>
        <p:nvSpPr>
          <p:cNvPr id="11" name="Session rhythm step 1"/>
          <p:cNvSpPr/>
          <p:nvPr/>
        </p:nvSpPr>
        <p:spPr>
          <a:xfrm>
            <a:off x="457200" y="1481328"/>
            <a:ext cx="2139696" cy="658368"/>
          </a:xfrm>
          <a:prstGeom prst="homePlate">
            <a:avLst>
              <a:gd name="adj" fmla="val 28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128016" tIns="18288" bIns="18288"/>
          <a:lstStyle/>
          <a:p>
            <a:pPr algn="ctr"/>
            <a:r>
              <a:rPr sz="1300" b="1" lang="en-GB">
                <a:solidFill>
                  <a:schemeClr val="tx2"/>
                </a:solidFill>
              </a:rPr>
              <a:t>Concept lecture</a:t>
            </a:r>
            <a:br/>
            <a:r>
              <a:rPr sz="1300" b="1" lang="en-GB">
                <a:solidFill>
                  <a:schemeClr val="tx2"/>
                </a:solidFill>
              </a:rPr>
              <a:t>60 min</a:t>
            </a:r>
          </a:p>
        </p:txBody>
      </p:sp>
      <p:sp>
        <p:nvSpPr>
          <p:cNvPr id="12" name="Session rhythm step 2"/>
          <p:cNvSpPr/>
          <p:nvPr/>
        </p:nvSpPr>
        <p:spPr>
          <a:xfrm>
            <a:off x="2487168" y="1481328"/>
            <a:ext cx="2139696" cy="658368"/>
          </a:xfrm>
          <a:prstGeom prst="chevron">
            <a:avLst>
              <a:gd name="adj" fmla="val 28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128016" tIns="18288" bIns="18288"/>
          <a:lstStyle/>
          <a:p>
            <a:pPr algn="ctr"/>
            <a:r>
              <a:rPr sz="1300" b="1" lang="en-GB">
                <a:solidFill>
                  <a:schemeClr val="tx2"/>
                </a:solidFill>
              </a:rPr>
              <a:t>Guided lab</a:t>
            </a:r>
            <a:br/>
            <a:r>
              <a:rPr sz="1300" b="1" lang="en-GB">
                <a:solidFill>
                  <a:schemeClr val="tx2"/>
                </a:solidFill>
              </a:rPr>
              <a:t>90 min</a:t>
            </a:r>
          </a:p>
        </p:txBody>
      </p:sp>
      <p:sp>
        <p:nvSpPr>
          <p:cNvPr id="13" name="Session rhythm step 3"/>
          <p:cNvSpPr/>
          <p:nvPr/>
        </p:nvSpPr>
        <p:spPr>
          <a:xfrm>
            <a:off x="4517136" y="1481328"/>
            <a:ext cx="2139696" cy="658368"/>
          </a:xfrm>
          <a:prstGeom prst="chevron">
            <a:avLst>
              <a:gd name="adj" fmla="val 28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128016" tIns="18288" bIns="18288"/>
          <a:lstStyle/>
          <a:p>
            <a:pPr algn="ctr"/>
            <a:r>
              <a:rPr sz="1300" b="1" lang="en-GB">
                <a:solidFill>
                  <a:schemeClr val="tx2"/>
                </a:solidFill>
              </a:rPr>
              <a:t>Team exercise</a:t>
            </a:r>
            <a:br/>
            <a:r>
              <a:rPr sz="1300" b="1" lang="en-GB">
                <a:solidFill>
                  <a:schemeClr val="tx2"/>
                </a:solidFill>
              </a:rPr>
              <a:t>60 min</a:t>
            </a:r>
          </a:p>
        </p:txBody>
      </p:sp>
      <p:sp>
        <p:nvSpPr>
          <p:cNvPr id="14" name="Session rhythm step 4"/>
          <p:cNvSpPr/>
          <p:nvPr/>
        </p:nvSpPr>
        <p:spPr>
          <a:xfrm>
            <a:off x="6547104" y="1481328"/>
            <a:ext cx="2139696" cy="658368"/>
          </a:xfrm>
          <a:prstGeom prst="chevron">
            <a:avLst>
              <a:gd name="adj" fmla="val 28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128016" tIns="18288" bIns="18288"/>
          <a:lstStyle/>
          <a:p>
            <a:pPr algn="ctr"/>
            <a:r>
              <a:rPr sz="1300" b="1" lang="en-GB">
                <a:solidFill>
                  <a:schemeClr val="tx2"/>
                </a:solidFill>
              </a:rPr>
              <a:t>Debrief</a:t>
            </a:r>
            <a:br/>
            <a:r>
              <a:rPr sz="1300" b="1" lang="en-GB">
                <a:solidFill>
                  <a:schemeClr val="tx2"/>
                </a:solidFill>
              </a:rPr>
              <a:t>and quiz</a:t>
            </a:r>
          </a:p>
        </p:txBody>
      </p:sp>
      <p:sp>
        <p:nvSpPr>
          <p:cNvPr id="15" name="Between sessions card body"/>
          <p:cNvSpPr/>
          <p:nvPr/>
        </p:nvSpPr>
        <p:spPr>
          <a:xfrm>
            <a:off x="457200" y="2788920"/>
            <a:ext cx="3886200" cy="2286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Between sessions card header"/>
          <p:cNvSpPr/>
          <p:nvPr/>
        </p:nvSpPr>
        <p:spPr>
          <a:xfrm>
            <a:off x="457200" y="2331720"/>
            <a:ext cx="3886200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Between sessions card heading"/>
          <p:cNvSpPr txBox="1"/>
          <p:nvPr/>
        </p:nvSpPr>
        <p:spPr>
          <a:xfrm>
            <a:off x="594360" y="23317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1500" b="1" lang="en-GB">
                <a:solidFill>
                  <a:schemeClr val="bg1"/>
                </a:solidFill>
                <a:latin typeface="+mj-lt"/>
              </a:rPr>
              <a:t>Between sessions</a:t>
            </a:r>
          </a:p>
        </p:txBody>
      </p:sp>
      <p:pic>
        <p:nvPicPr>
          <p:cNvPr id="18" name="Icon Between sessions card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4488" y="2404872"/>
            <a:ext cx="310896" cy="310896"/>
          </a:xfrm>
          <a:prstGeom prst="rect">
            <a:avLst/>
          </a:prstGeom>
        </p:spPr>
      </p:pic>
      <p:sp>
        <p:nvSpPr>
          <p:cNvPr id="19" name="Between sessions card text"/>
          <p:cNvSpPr txBox="1"/>
          <p:nvPr/>
        </p:nvSpPr>
        <p:spPr>
          <a:xfrm>
            <a:off x="621792" y="2926080"/>
            <a:ext cx="3584448" cy="2011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82880" indent="-182880">
              <a:spcAft>
                <a:spcPts val="600"/>
              </a:spcAft>
              <a:buClr>
                <a:schemeClr val="accent1"/>
              </a:buClr>
              <a:buFont typeface="Arial"/>
              <a:buChar char="▪"/>
            </a:pPr>
            <a:r>
              <a:rPr sz="1300" b="0" lang="en-GB">
                <a:solidFill>
                  <a:schemeClr val="tx1"/>
                </a:solidFill>
              </a:rPr>
              <a:t>Read the book chapters and materials in advance</a:t>
            </a:r>
          </a:p>
          <a:p>
            <a:pPr algn="l" marL="182880" indent="-182880">
              <a:spcAft>
                <a:spcPts val="600"/>
              </a:spcAft>
              <a:buClr>
                <a:schemeClr val="accent1"/>
              </a:buClr>
              <a:buFont typeface="Arial"/>
              <a:buChar char="▪"/>
            </a:pPr>
            <a:r>
              <a:rPr sz="1300" b="0" lang="en-GB">
                <a:solidFill>
                  <a:schemeClr val="tx1"/>
                </a:solidFill>
              </a:rPr>
              <a:t>Online quiz after Sessions 1 to 4</a:t>
            </a:r>
          </a:p>
          <a:p>
            <a:pPr algn="l" marL="182880" indent="-182880">
              <a:spcAft>
                <a:spcPts val="600"/>
              </a:spcAft>
              <a:buClr>
                <a:schemeClr val="accent1"/>
              </a:buClr>
              <a:buFont typeface="Arial"/>
              <a:buChar char="▪"/>
            </a:pPr>
            <a:r>
              <a:rPr sz="1300" b="0" lang="en-GB">
                <a:solidFill>
                  <a:schemeClr val="tx1"/>
                </a:solidFill>
              </a:rPr>
              <a:t>Lab check-ins after Sessions 2 and 4</a:t>
            </a:r>
          </a:p>
          <a:p>
            <a:pPr algn="l" marL="182880" indent="-182880">
              <a:spcAft>
                <a:spcPts val="600"/>
              </a:spcAft>
              <a:buClr>
                <a:schemeClr val="accent1"/>
              </a:buClr>
              <a:buFont typeface="Arial"/>
              <a:buChar char="▪"/>
            </a:pPr>
            <a:r>
              <a:rPr sz="1300" b="0" lang="en-GB">
                <a:solidFill>
                  <a:schemeClr val="tx1"/>
                </a:solidFill>
              </a:rPr>
              <a:t>Group project in your team repository</a:t>
            </a:r>
          </a:p>
          <a:p>
            <a:pPr algn="l" marL="182880" indent="-182880">
              <a:spcAft>
                <a:spcPts val="600"/>
              </a:spcAft>
              <a:buClr>
                <a:schemeClr val="accent1"/>
              </a:buClr>
              <a:buFont typeface="Arial"/>
              <a:buChar char="▪"/>
            </a:pPr>
            <a:r>
              <a:rPr sz="1300" b="0" lang="en-GB">
                <a:solidFill>
                  <a:schemeClr val="tx1"/>
                </a:solidFill>
              </a:rPr>
              <a:t>Q&amp;A forum on Canvas; consulting hours on request</a:t>
            </a:r>
          </a:p>
        </p:txBody>
      </p:sp>
      <p:sp>
        <p:nvSpPr>
          <p:cNvPr id="20" name="Card arrow"/>
          <p:cNvSpPr/>
          <p:nvPr/>
        </p:nvSpPr>
        <p:spPr>
          <a:xfrm>
            <a:off x="4425696" y="3520440"/>
            <a:ext cx="292608" cy="365760"/>
          </a:xfrm>
          <a:prstGeom prst="chevron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In the classroom card body"/>
          <p:cNvSpPr/>
          <p:nvPr/>
        </p:nvSpPr>
        <p:spPr>
          <a:xfrm>
            <a:off x="4800600" y="2788920"/>
            <a:ext cx="3886200" cy="2286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In the classroom card header"/>
          <p:cNvSpPr/>
          <p:nvPr/>
        </p:nvSpPr>
        <p:spPr>
          <a:xfrm>
            <a:off x="4800600" y="2331720"/>
            <a:ext cx="3886200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In the classroom card heading"/>
          <p:cNvSpPr txBox="1"/>
          <p:nvPr/>
        </p:nvSpPr>
        <p:spPr>
          <a:xfrm>
            <a:off x="4937760" y="23317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1500" b="1" lang="en-GB">
                <a:solidFill>
                  <a:schemeClr val="bg1"/>
                </a:solidFill>
                <a:latin typeface="+mj-lt"/>
              </a:rPr>
              <a:t>In the classroom</a:t>
            </a:r>
          </a:p>
        </p:txBody>
      </p:sp>
      <p:pic>
        <p:nvPicPr>
          <p:cNvPr id="24" name="Icon In the classroom card" descr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7888" y="2404872"/>
            <a:ext cx="310896" cy="310896"/>
          </a:xfrm>
          <a:prstGeom prst="rect">
            <a:avLst/>
          </a:prstGeom>
        </p:spPr>
      </p:pic>
      <p:sp>
        <p:nvSpPr>
          <p:cNvPr id="25" name="In the classroom card text"/>
          <p:cNvSpPr txBox="1"/>
          <p:nvPr/>
        </p:nvSpPr>
        <p:spPr>
          <a:xfrm>
            <a:off x="4965192" y="2926080"/>
            <a:ext cx="3584448" cy="2011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82880" indent="-182880">
              <a:spcAft>
                <a:spcPts val="600"/>
              </a:spcAft>
              <a:buClr>
                <a:schemeClr val="accent1"/>
              </a:buClr>
              <a:buFont typeface="Arial"/>
              <a:buChar char="▪"/>
            </a:pPr>
            <a:r>
              <a:rPr sz="1300" b="0" lang="en-GB">
                <a:solidFill>
                  <a:schemeClr val="tx1"/>
                </a:solidFill>
              </a:rPr>
              <a:t>Five Tuesdays, 6 October to 3 November 2026</a:t>
            </a:r>
          </a:p>
          <a:p>
            <a:pPr algn="l" marL="182880" indent="-182880">
              <a:spcAft>
                <a:spcPts val="600"/>
              </a:spcAft>
              <a:buClr>
                <a:schemeClr val="accent1"/>
              </a:buClr>
              <a:buFont typeface="Arial"/>
              <a:buChar char="▪"/>
            </a:pPr>
            <a:r>
              <a:rPr sz="1300" b="0" lang="en-GB">
                <a:solidFill>
                  <a:schemeClr val="tx1"/>
                </a:solidFill>
              </a:rPr>
              <a:t>Bring your laptop with Python, Positron, Quarto and GitHub</a:t>
            </a:r>
          </a:p>
          <a:p>
            <a:pPr algn="l" marL="182880" indent="-182880">
              <a:spcAft>
                <a:spcPts val="600"/>
              </a:spcAft>
              <a:buClr>
                <a:schemeClr val="accent1"/>
              </a:buClr>
              <a:buFont typeface="Arial"/>
              <a:buChar char="▪"/>
            </a:pPr>
            <a:r>
              <a:rPr sz="1300" b="0" lang="en-GB">
                <a:solidFill>
                  <a:schemeClr val="tx1"/>
                </a:solidFill>
              </a:rPr>
              <a:t>AI-assisted coding: you direct, the assistant types, you check</a:t>
            </a:r>
          </a:p>
          <a:p>
            <a:pPr algn="l" marL="182880" indent="-182880">
              <a:spcAft>
                <a:spcPts val="600"/>
              </a:spcAft>
              <a:buClr>
                <a:schemeClr val="accent1"/>
              </a:buClr>
              <a:buFont typeface="Arial"/>
              <a:buChar char="▪"/>
            </a:pPr>
            <a:r>
              <a:rPr sz="1300" b="0" lang="en-GB">
                <a:solidFill>
                  <a:schemeClr val="tx1"/>
                </a:solidFill>
              </a:rPr>
              <a:t>Pull, commit and push from Session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Placeholder 1"/>
          <p:cNvGraphicFramePr>
            <a:graphicFrameLocks noGrp="1"/>
          </p:cNvGraphicFramePr>
          <p:nvPr>
            <p:ph type="tbl" idx="1"/>
          </p:nvPr>
        </p:nvGraphicFramePr>
        <p:xfrm>
          <a:off x="462019" y="1344613"/>
          <a:ext cx="772668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960120"/>
                <a:gridCol w="2011680"/>
                <a:gridCol w="2423160"/>
                <a:gridCol w="1143000"/>
              </a:tblGrid>
              <a:tr h="370840">
                <a:tc>
                  <a:txBody>
                    <a:bodyPr/>
                    <a:lstStyle/>
                    <a:p>
                      <a:r>
                        <a:rPr sz="1500" lang="en-GB"/>
                        <a:t>Session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sz="1500" lang="en-GB"/>
                        <a:t>Date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sz="1500" lang="en-GB"/>
                        <a:t>Topic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sz="1500" lang="en-GB"/>
                        <a:t>Methods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sz="1500" lang="en-GB"/>
                        <a:t>Chapter</a:t>
                      </a:r>
                    </a:p>
                  </a:txBody>
                  <a:tcPr marT="36000" marB="36000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300" lang="en-GB"/>
                        <a:t>1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lang="en-GB"/>
                        <a:t>Tue 6 Oct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sz="1300" lang="en-GB"/>
                        <a:t>Course content and style, toolkit, regression foundations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sz="1300" lang="en-GB"/>
                        <a:t>Descriptive statistics, OLS, log-log elasticities, dummies and interactions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lang="en-GB"/>
                        <a:t>1, 11</a:t>
                      </a:r>
                    </a:p>
                  </a:txBody>
                  <a:tcPr marT="36000" marB="36000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300" lang="en-GB"/>
                        <a:t>2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lang="en-GB"/>
                        <a:t>Tue 13 Oct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sz="1300" lang="en-GB"/>
                        <a:t>Marketing mix modelling I: one country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sz="1300" lang="en-GB"/>
                        <a:t>Adstock, saturation, decomposition, ROAS, diagnostics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lang="en-GB"/>
                        <a:t>3</a:t>
                      </a:r>
                    </a:p>
                  </a:txBody>
                  <a:tcPr marT="36000" marB="36000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300" lang="en-GB"/>
                        <a:t>3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lang="en-GB"/>
                        <a:t>Tue 20 Oct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sz="1300" lang="en-GB"/>
                        <a:t>Marketing mix modelling II: many countries, one budget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sz="1300" lang="en-GB"/>
                        <a:t>Panel fixed effects, hierarchical Bayesian MMM, budget optimisation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lang="en-GB"/>
                        <a:t>3</a:t>
                      </a:r>
                    </a:p>
                  </a:txBody>
                  <a:tcPr marT="36000" marB="36000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300" lang="en-GB"/>
                        <a:t>4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lang="en-GB"/>
                        <a:t>Tue 27 Oct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sz="1300" lang="en-GB"/>
                        <a:t>Forecasting, experiments and attribution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sz="1300" lang="en-GB"/>
                        <a:t>Time series regression, difference-in-differences, logistic regression, Shapley values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lang="en-GB"/>
                        <a:t>9, 4</a:t>
                      </a:r>
                    </a:p>
                  </a:txBody>
                  <a:tcPr marT="36000" marB="36000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300" lang="en-GB"/>
                        <a:t>5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lang="en-GB"/>
                        <a:t>Tue 3 Nov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sz="1300" lang="en-GB"/>
                        <a:t>Group project pitches and wrap-up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sz="1300" lang="en-GB"/>
                        <a:t>Board presentation, ground-truth reveal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lang="en-GB"/>
                        <a:t>11</a:t>
                      </a:r>
                    </a:p>
                  </a:txBody>
                  <a:tcPr marT="36000" marB="36000"/>
                </a:tc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600" lang="en-GB"/>
              <a:t>Module roadmap</a:t>
            </a:r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Chapters: Yildirim and Kübler (2025), SAGE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dirty="0"/>
              <a:t>Page </a:t>
            </a:r>
            <a:fld id="{BE3DC40E-DBBE-4E2D-9EEC-FBF0DA0E9179}" type="slidenum">
              <a:rPr lang="en-GB" smtClean="0"/>
              <a:t>‹Nr.›</a:t>
            </a:fld>
            <a:endParaRPr lang="en-GB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600" lang="en-GB"/>
              <a:t>Assessment strategy</a:t>
            </a:r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International Marketing Analytics · WT 2026/27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dirty="0"/>
              <a:t>Page </a:t>
            </a:r>
            <a:fld id="{BE3DC40E-DBBE-4E2D-9EEC-FBF0DA0E9179}" type="slidenum">
              <a:rPr lang="en-GB" smtClean="0"/>
              <a:t>‹Nr.›</a:t>
            </a:fld>
            <a:endParaRPr lang="en-GB" dirty="0"/>
          </a:p>
        </p:txBody>
      </p:sp>
      <p:sp>
        <p:nvSpPr>
          <p:cNvPr id="10" name="Weights heading"/>
          <p:cNvSpPr txBox="1"/>
          <p:nvPr/>
        </p:nvSpPr>
        <p:spPr>
          <a:xfrm>
            <a:off x="457200" y="1170432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500" b="1" lang="en-GB">
                <a:solidFill>
                  <a:schemeClr val="tx2"/>
                </a:solidFill>
                <a:latin typeface="+mj-lt"/>
              </a:rPr>
              <a:t>Weight in the final grade</a:t>
            </a:r>
          </a:p>
        </p:txBody>
      </p:sp>
      <p:graphicFrame>
        <p:nvGraphicFramePr>
          <p:cNvPr id="11" name="Grade weights chart"/>
          <p:cNvGraphicFramePr>
            <a:graphicFrameLocks noGrp="1"/>
          </p:cNvGraphicFramePr>
          <p:nvPr/>
        </p:nvGraphicFramePr>
        <p:xfrm>
          <a:off x="457200" y="1554480"/>
          <a:ext cx="4572000" cy="35204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Rules card body"/>
          <p:cNvSpPr/>
          <p:nvPr/>
        </p:nvSpPr>
        <p:spPr>
          <a:xfrm>
            <a:off x="5257800" y="1691640"/>
            <a:ext cx="3429000" cy="338328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ules card header"/>
          <p:cNvSpPr/>
          <p:nvPr/>
        </p:nvSpPr>
        <p:spPr>
          <a:xfrm>
            <a:off x="5257800" y="1234440"/>
            <a:ext cx="3429000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ules card heading"/>
          <p:cNvSpPr txBox="1"/>
          <p:nvPr/>
        </p:nvSpPr>
        <p:spPr>
          <a:xfrm>
            <a:off x="5394960" y="12344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1500" b="1" lang="en-GB">
                <a:solidFill>
                  <a:schemeClr val="bg1"/>
                </a:solidFill>
                <a:latin typeface="+mj-lt"/>
              </a:rPr>
              <a:t>Rules</a:t>
            </a:r>
          </a:p>
        </p:txBody>
      </p:sp>
      <p:pic>
        <p:nvPicPr>
          <p:cNvPr id="15" name="Icon Rules card" descr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7888" y="1307592"/>
            <a:ext cx="310896" cy="310896"/>
          </a:xfrm>
          <a:prstGeom prst="rect">
            <a:avLst/>
          </a:prstGeom>
        </p:spPr>
      </p:pic>
      <p:sp>
        <p:nvSpPr>
          <p:cNvPr id="16" name="Rules card text"/>
          <p:cNvSpPr txBox="1"/>
          <p:nvPr/>
        </p:nvSpPr>
        <p:spPr>
          <a:xfrm>
            <a:off x="5422392" y="1828800"/>
            <a:ext cx="3127248" cy="3108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82880" indent="-182880">
              <a:spcAft>
                <a:spcPts val="600"/>
              </a:spcAft>
              <a:buClr>
                <a:schemeClr val="accent1"/>
              </a:buClr>
              <a:buFont typeface="Arial"/>
              <a:buChar char="▪"/>
            </a:pPr>
            <a:r>
              <a:rPr sz="1300" b="1" lang="en-GB">
                <a:solidFill>
                  <a:schemeClr val="tx2"/>
                </a:solidFill>
              </a:rPr>
              <a:t>Groups: </a:t>
            </a:r>
            <a:r>
              <a:rPr sz="1300" b="0" lang="en-GB">
                <a:solidFill>
                  <a:schemeClr val="tx1"/>
                </a:solidFill>
              </a:rPr>
              <a:t>5 students; enrol on Canvas by the end of Session 1</a:t>
            </a:r>
          </a:p>
          <a:p>
            <a:pPr algn="l" marL="182880" indent="-182880">
              <a:spcAft>
                <a:spcPts val="600"/>
              </a:spcAft>
              <a:buClr>
                <a:schemeClr val="accent1"/>
              </a:buClr>
              <a:buFont typeface="Arial"/>
              <a:buChar char="▪"/>
            </a:pPr>
            <a:r>
              <a:rPr sz="1300" b="1" lang="en-GB">
                <a:solidFill>
                  <a:schemeClr val="tx2"/>
                </a:solidFill>
              </a:rPr>
              <a:t>Grades: </a:t>
            </a:r>
            <a:r>
              <a:rPr sz="1300" b="0" lang="en-GB">
                <a:solidFill>
                  <a:schemeClr val="tx1"/>
                </a:solidFill>
              </a:rPr>
              <a:t>WU scale, 1 from 90 %, 2 from 80 %, 3 from 70 %, 4 from 60 %</a:t>
            </a:r>
          </a:p>
          <a:p>
            <a:pPr algn="l" marL="182880" indent="-182880">
              <a:spcAft>
                <a:spcPts val="600"/>
              </a:spcAft>
              <a:buClr>
                <a:schemeClr val="accent1"/>
              </a:buClr>
              <a:buFont typeface="Arial"/>
              <a:buChar char="▪"/>
            </a:pPr>
            <a:r>
              <a:rPr sz="1300" b="1" lang="en-GB">
                <a:solidFill>
                  <a:schemeClr val="tx2"/>
                </a:solidFill>
              </a:rPr>
              <a:t>Attendance: </a:t>
            </a:r>
            <a:r>
              <a:rPr sz="1300" b="0" lang="en-GB">
                <a:solidFill>
                  <a:schemeClr val="tx1"/>
                </a:solidFill>
              </a:rPr>
              <a:t>at least 80 % of sessions</a:t>
            </a:r>
          </a:p>
          <a:p>
            <a:pPr algn="l" marL="182880" indent="-182880">
              <a:spcAft>
                <a:spcPts val="600"/>
              </a:spcAft>
              <a:buClr>
                <a:schemeClr val="accent1"/>
              </a:buClr>
              <a:buFont typeface="Arial"/>
              <a:buChar char="▪"/>
            </a:pPr>
            <a:r>
              <a:rPr sz="1300" b="1" lang="en-GB">
                <a:solidFill>
                  <a:schemeClr val="tx2"/>
                </a:solidFill>
              </a:rPr>
              <a:t>Late work: </a:t>
            </a:r>
            <a:r>
              <a:rPr sz="1300" b="0" lang="en-GB">
                <a:solidFill>
                  <a:schemeClr val="tx1"/>
                </a:solidFill>
              </a:rPr>
              <a:t>minus 10 points per day unless agreed</a:t>
            </a:r>
          </a:p>
          <a:p>
            <a:pPr algn="l" marL="182880" indent="-182880">
              <a:spcAft>
                <a:spcPts val="600"/>
              </a:spcAft>
              <a:buClr>
                <a:schemeClr val="accent1"/>
              </a:buClr>
              <a:buFont typeface="Arial"/>
              <a:buChar char="▪"/>
            </a:pPr>
            <a:r>
              <a:rPr sz="1300" b="1" lang="en-GB">
                <a:solidFill>
                  <a:schemeClr val="tx2"/>
                </a:solidFill>
              </a:rPr>
              <a:t>AI tools: </a:t>
            </a:r>
            <a:r>
              <a:rPr sz="1300" b="0" lang="en-GB">
                <a:solidFill>
                  <a:schemeClr val="tx1"/>
                </a:solidFill>
              </a:rPr>
              <a:t>expected; you own every number you report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600" lang="en-GB"/>
              <a:t>Online certificates and set-up</a:t>
            </a:r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International Marketing Analytics · WT 2026/27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dirty="0"/>
              <a:t>Page </a:t>
            </a:r>
            <a:fld id="{BE3DC40E-DBBE-4E2D-9EEC-FBF0DA0E9179}" type="slidenum">
              <a:rPr lang="en-GB" smtClean="0"/>
              <a:t>‹Nr.›</a:t>
            </a:fld>
            <a:endParaRPr lang="en-GB" dirty="0"/>
          </a:p>
        </p:txBody>
      </p:sp>
      <p:sp>
        <p:nvSpPr>
          <p:cNvPr id="10" name="Stat bar 1"/>
          <p:cNvSpPr/>
          <p:nvPr/>
        </p:nvSpPr>
        <p:spPr>
          <a:xfrm>
            <a:off x="457200" y="1280160"/>
            <a:ext cx="64008" cy="7772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Stat figure 1"/>
          <p:cNvSpPr txBox="1"/>
          <p:nvPr/>
        </p:nvSpPr>
        <p:spPr>
          <a:xfrm>
            <a:off x="685800" y="1280160"/>
            <a:ext cx="1600200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2800" b="1" lang="en-GB">
                <a:solidFill>
                  <a:schemeClr val="tx2"/>
                </a:solidFill>
                <a:latin typeface="+mj-lt"/>
              </a:rPr>
              <a:t>5 h</a:t>
            </a:r>
          </a:p>
        </p:txBody>
      </p:sp>
      <p:sp>
        <p:nvSpPr>
          <p:cNvPr id="12" name="Stat text 1"/>
          <p:cNvSpPr txBox="1"/>
          <p:nvPr/>
        </p:nvSpPr>
        <p:spPr>
          <a:xfrm>
            <a:off x="2377440" y="1280160"/>
            <a:ext cx="6309360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1" lang="en-GB">
                <a:solidFill>
                  <a:schemeClr val="tx2"/>
                </a:solidFill>
              </a:rPr>
              <a:t>Kaggle Learn: Python. </a:t>
            </a:r>
            <a:r>
              <a:rPr sz="1300" b="0" lang="en-GB">
                <a:solidFill>
                  <a:schemeClr val="tx1"/>
                </a:solidFill>
              </a:rPr>
              <a:t>Free course with a certificate on completion.</a:t>
            </a:r>
          </a:p>
        </p:txBody>
      </p:sp>
      <p:sp>
        <p:nvSpPr>
          <p:cNvPr id="13" name="Stat bar 2"/>
          <p:cNvSpPr/>
          <p:nvPr/>
        </p:nvSpPr>
        <p:spPr>
          <a:xfrm>
            <a:off x="457200" y="2194560"/>
            <a:ext cx="64008" cy="7772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at figure 2"/>
          <p:cNvSpPr txBox="1"/>
          <p:nvPr/>
        </p:nvSpPr>
        <p:spPr>
          <a:xfrm>
            <a:off x="685800" y="2194560"/>
            <a:ext cx="1600200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2800" b="1" lang="en-GB">
                <a:solidFill>
                  <a:schemeClr val="tx2"/>
                </a:solidFill>
                <a:latin typeface="+mj-lt"/>
              </a:rPr>
              <a:t>1 h</a:t>
            </a:r>
          </a:p>
        </p:txBody>
      </p:sp>
      <p:sp>
        <p:nvSpPr>
          <p:cNvPr id="15" name="Stat text 2"/>
          <p:cNvSpPr txBox="1"/>
          <p:nvPr/>
        </p:nvSpPr>
        <p:spPr>
          <a:xfrm>
            <a:off x="2377440" y="2194560"/>
            <a:ext cx="6309360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1" lang="en-GB">
                <a:solidFill>
                  <a:schemeClr val="tx2"/>
                </a:solidFill>
              </a:rPr>
              <a:t>GitHub Skills: Introduction to GitHub. </a:t>
            </a:r>
            <a:r>
              <a:rPr sz="1300" b="0" lang="en-GB">
                <a:solidFill>
                  <a:schemeClr val="tx1"/>
                </a:solidFill>
              </a:rPr>
              <a:t>Free, runs in the browser.</a:t>
            </a:r>
          </a:p>
        </p:txBody>
      </p:sp>
      <p:sp>
        <p:nvSpPr>
          <p:cNvPr id="16" name="Stat bar 3"/>
          <p:cNvSpPr/>
          <p:nvPr/>
        </p:nvSpPr>
        <p:spPr>
          <a:xfrm>
            <a:off x="457200" y="3108960"/>
            <a:ext cx="64008" cy="7772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Stat figure 3"/>
          <p:cNvSpPr txBox="1"/>
          <p:nvPr/>
        </p:nvSpPr>
        <p:spPr>
          <a:xfrm>
            <a:off x="685800" y="3108960"/>
            <a:ext cx="1600200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2800" b="1" lang="en-GB">
                <a:solidFill>
                  <a:schemeClr val="tx2"/>
                </a:solidFill>
                <a:latin typeface="+mj-lt"/>
              </a:rPr>
              <a:t>45 min</a:t>
            </a:r>
          </a:p>
        </p:txBody>
      </p:sp>
      <p:sp>
        <p:nvSpPr>
          <p:cNvPr id="18" name="Stat text 3"/>
          <p:cNvSpPr txBox="1"/>
          <p:nvPr/>
        </p:nvSpPr>
        <p:spPr>
          <a:xfrm>
            <a:off x="2377440" y="3108960"/>
            <a:ext cx="6309360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1" lang="en-GB">
                <a:solidFill>
                  <a:schemeClr val="tx2"/>
                </a:solidFill>
              </a:rPr>
              <a:t>Course environment. </a:t>
            </a:r>
            <a:r>
              <a:rPr sz="1300" b="0" lang="en-GB">
                <a:solidFill>
                  <a:schemeClr val="tx1"/>
                </a:solidFill>
              </a:rPr>
              <a:t>Install Python (via uv), Positron, Quarto and GitHub Desktop with the setup guide, then run the installation check.</a:t>
            </a:r>
          </a:p>
        </p:txBody>
      </p:sp>
      <p:sp>
        <p:nvSpPr>
          <p:cNvPr id="19" name="Deadline callout"/>
          <p:cNvSpPr/>
          <p:nvPr/>
        </p:nvSpPr>
        <p:spPr>
          <a:xfrm>
            <a:off x="457200" y="4114800"/>
            <a:ext cx="8229600" cy="96012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Icon deadline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343400"/>
            <a:ext cx="502920" cy="502920"/>
          </a:xfrm>
          <a:prstGeom prst="rect">
            <a:avLst/>
          </a:prstGeom>
        </p:spPr>
      </p:pic>
      <p:sp>
        <p:nvSpPr>
          <p:cNvPr id="21" name="Deadline text"/>
          <p:cNvSpPr txBox="1"/>
          <p:nvPr/>
        </p:nvSpPr>
        <p:spPr>
          <a:xfrm>
            <a:off x="1417320" y="4114800"/>
            <a:ext cx="7086600" cy="960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1" lang="en-GB">
                <a:solidFill>
                  <a:schemeClr val="tx2"/>
                </a:solidFill>
              </a:rPr>
              <a:t>Deadline: </a:t>
            </a:r>
            <a:r>
              <a:rPr sz="1300" b="0" lang="en-GB">
                <a:solidFill>
                  <a:schemeClr val="tx1"/>
                </a:solidFill>
              </a:rPr>
              <a:t>upload both certificates and a screenshot of the passing installation check on Canvas by Mon 12 Oct, 11:59 pm.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600" lang="en-GB"/>
              <a:t>Quizzes and lab check-ins</a:t>
            </a:r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International Marketing Analytics · WT 2026/27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dirty="0"/>
              <a:t>Page </a:t>
            </a:r>
            <a:fld id="{BE3DC40E-DBBE-4E2D-9EEC-FBF0DA0E9179}" type="slidenum">
              <a:rPr lang="en-GB" smtClean="0"/>
              <a:t>‹Nr.›</a:t>
            </a:fld>
            <a:endParaRPr lang="en-GB" dirty="0"/>
          </a:p>
        </p:txBody>
      </p:sp>
      <p:sp>
        <p:nvSpPr>
          <p:cNvPr id="10" name="Quiz card body"/>
          <p:cNvSpPr/>
          <p:nvPr/>
        </p:nvSpPr>
        <p:spPr>
          <a:xfrm>
            <a:off x="457200" y="1691640"/>
            <a:ext cx="4023360" cy="25146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Quiz card header"/>
          <p:cNvSpPr/>
          <p:nvPr/>
        </p:nvSpPr>
        <p:spPr>
          <a:xfrm>
            <a:off x="457200" y="1234440"/>
            <a:ext cx="4023360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Quiz card heading"/>
          <p:cNvSpPr txBox="1"/>
          <p:nvPr/>
        </p:nvSpPr>
        <p:spPr>
          <a:xfrm>
            <a:off x="594360" y="123444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1500" b="1" lang="en-GB">
                <a:solidFill>
                  <a:schemeClr val="bg1"/>
                </a:solidFill>
                <a:latin typeface="+mj-lt"/>
              </a:rPr>
              <a:t>Online quizzes</a:t>
            </a:r>
          </a:p>
        </p:txBody>
      </p:sp>
      <p:pic>
        <p:nvPicPr>
          <p:cNvPr id="13" name="Icon Quiz card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1648" y="1307592"/>
            <a:ext cx="310896" cy="310896"/>
          </a:xfrm>
          <a:prstGeom prst="rect">
            <a:avLst/>
          </a:prstGeom>
        </p:spPr>
      </p:pic>
      <p:sp>
        <p:nvSpPr>
          <p:cNvPr id="14" name="Quiz card text"/>
          <p:cNvSpPr txBox="1"/>
          <p:nvPr/>
        </p:nvSpPr>
        <p:spPr>
          <a:xfrm>
            <a:off x="621792" y="1828800"/>
            <a:ext cx="3721608" cy="1554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82880" indent="-182880">
              <a:spcAft>
                <a:spcPts val="600"/>
              </a:spcAft>
              <a:buClr>
                <a:schemeClr val="accent1"/>
              </a:buClr>
              <a:buFont typeface="Arial"/>
              <a:buChar char="▪"/>
            </a:pPr>
            <a:r>
              <a:rPr sz="1300" b="0" lang="en-GB">
                <a:solidFill>
                  <a:schemeClr val="tx1"/>
                </a:solidFill>
              </a:rPr>
              <a:t>After each of Sessions 1 to 4</a:t>
            </a:r>
          </a:p>
          <a:p>
            <a:pPr algn="l" marL="182880" indent="-182880">
              <a:spcAft>
                <a:spcPts val="600"/>
              </a:spcAft>
              <a:buClr>
                <a:schemeClr val="accent1"/>
              </a:buClr>
              <a:buFont typeface="Arial"/>
              <a:buChar char="▪"/>
            </a:pPr>
            <a:r>
              <a:rPr sz="1300" b="0" lang="en-GB">
                <a:solidFill>
                  <a:schemeClr val="tx1"/>
                </a:solidFill>
              </a:rPr>
              <a:t>Open Wednesday 9 am, close Monday 11:59 pm</a:t>
            </a:r>
          </a:p>
          <a:p>
            <a:pPr algn="l" marL="182880" indent="-182880">
              <a:spcAft>
                <a:spcPts val="600"/>
              </a:spcAft>
              <a:buClr>
                <a:schemeClr val="accent1"/>
              </a:buClr>
              <a:buFont typeface="Arial"/>
              <a:buChar char="▪"/>
            </a:pPr>
            <a:r>
              <a:rPr sz="1300" b="0" lang="en-GB">
                <a:solidFill>
                  <a:schemeClr val="tx1"/>
                </a:solidFill>
              </a:rPr>
              <a:t>10 multiple-choice questions in 10 minutes</a:t>
            </a:r>
          </a:p>
          <a:p>
            <a:pPr algn="l" marL="182880" indent="-182880">
              <a:spcAft>
                <a:spcPts val="600"/>
              </a:spcAft>
              <a:buClr>
                <a:schemeClr val="accent1"/>
              </a:buClr>
              <a:buFont typeface="Arial"/>
              <a:buChar char="▪"/>
            </a:pPr>
            <a:r>
              <a:rPr sz="1300" b="0" lang="en-GB">
                <a:solidFill>
                  <a:schemeClr val="tx1"/>
                </a:solidFill>
              </a:rPr>
              <a:t>Closed book: concepts, not code</a:t>
            </a:r>
          </a:p>
        </p:txBody>
      </p:sp>
      <p:sp>
        <p:nvSpPr>
          <p:cNvPr id="15" name="Quiz card stat"/>
          <p:cNvSpPr txBox="1"/>
          <p:nvPr/>
        </p:nvSpPr>
        <p:spPr>
          <a:xfrm>
            <a:off x="621792" y="3474720"/>
            <a:ext cx="3721608" cy="59436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spcAft>
                <a:spcPts val="400"/>
              </a:spcAft>
            </a:pPr>
            <a:r>
              <a:rPr sz="2800" b="1" lang="en-GB">
                <a:solidFill>
                  <a:schemeClr val="tx2"/>
                </a:solidFill>
                <a:latin typeface="+mj-lt"/>
              </a:rPr>
              <a:t>5 %</a:t>
            </a:r>
            <a:r>
              <a:rPr sz="1300" b="0" lang="en-GB">
                <a:solidFill>
                  <a:schemeClr val="tx1"/>
                </a:solidFill>
              </a:rPr>
              <a:t>  per quiz, 20 % in total</a:t>
            </a:r>
          </a:p>
        </p:txBody>
      </p:sp>
      <p:sp>
        <p:nvSpPr>
          <p:cNvPr id="16" name="Check-in card body"/>
          <p:cNvSpPr/>
          <p:nvPr/>
        </p:nvSpPr>
        <p:spPr>
          <a:xfrm>
            <a:off x="4663440" y="1691640"/>
            <a:ext cx="4023360" cy="25146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Check-in card header"/>
          <p:cNvSpPr/>
          <p:nvPr/>
        </p:nvSpPr>
        <p:spPr>
          <a:xfrm>
            <a:off x="4663440" y="1234440"/>
            <a:ext cx="4023360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Check-in card heading"/>
          <p:cNvSpPr txBox="1"/>
          <p:nvPr/>
        </p:nvSpPr>
        <p:spPr>
          <a:xfrm>
            <a:off x="4800600" y="123444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1500" b="1" lang="en-GB">
                <a:solidFill>
                  <a:schemeClr val="bg1"/>
                </a:solidFill>
                <a:latin typeface="+mj-lt"/>
              </a:rPr>
              <a:t>Lab check-ins</a:t>
            </a:r>
          </a:p>
        </p:txBody>
      </p:sp>
      <p:pic>
        <p:nvPicPr>
          <p:cNvPr id="19" name="Icon Check-in card" descr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7888" y="1307592"/>
            <a:ext cx="310896" cy="310896"/>
          </a:xfrm>
          <a:prstGeom prst="rect">
            <a:avLst/>
          </a:prstGeom>
        </p:spPr>
      </p:pic>
      <p:sp>
        <p:nvSpPr>
          <p:cNvPr id="20" name="Check-in card text"/>
          <p:cNvSpPr txBox="1"/>
          <p:nvPr/>
        </p:nvSpPr>
        <p:spPr>
          <a:xfrm>
            <a:off x="4828032" y="1828800"/>
            <a:ext cx="3721608" cy="1554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82880" indent="-182880">
              <a:spcAft>
                <a:spcPts val="600"/>
              </a:spcAft>
              <a:buClr>
                <a:schemeClr val="accent1"/>
              </a:buClr>
              <a:buFont typeface="Arial"/>
              <a:buChar char="▪"/>
            </a:pPr>
            <a:r>
              <a:rPr sz="1300" b="0" lang="en-GB">
                <a:solidFill>
                  <a:schemeClr val="tx1"/>
                </a:solidFill>
              </a:rPr>
              <a:t>After Sessions 2 and 4</a:t>
            </a:r>
          </a:p>
          <a:p>
            <a:pPr algn="l" marL="182880" indent="-182880">
              <a:spcAft>
                <a:spcPts val="600"/>
              </a:spcAft>
              <a:buClr>
                <a:schemeClr val="accent1"/>
              </a:buClr>
              <a:buFont typeface="Arial"/>
              <a:buChar char="▪"/>
            </a:pPr>
            <a:r>
              <a:rPr sz="1300" b="0" lang="en-GB">
                <a:solidFill>
                  <a:schemeClr val="tx1"/>
                </a:solidFill>
              </a:rPr>
              <a:t>Replicate the lab for another country or dataset</a:t>
            </a:r>
          </a:p>
          <a:p>
            <a:pPr algn="l" marL="182880" indent="-182880">
              <a:spcAft>
                <a:spcPts val="600"/>
              </a:spcAft>
              <a:buClr>
                <a:schemeClr val="accent1"/>
              </a:buClr>
              <a:buFont typeface="Arial"/>
              <a:buChar char="▪"/>
            </a:pPr>
            <a:r>
              <a:rPr sz="1300" b="0" lang="en-GB">
                <a:solidFill>
                  <a:schemeClr val="tx1"/>
                </a:solidFill>
              </a:rPr>
              <a:t>Submit notebook, HTML, result files and prompt log</a:t>
            </a:r>
          </a:p>
          <a:p>
            <a:pPr algn="l" marL="182880" indent="-182880">
              <a:spcAft>
                <a:spcPts val="600"/>
              </a:spcAft>
              <a:buClr>
                <a:schemeClr val="accent1"/>
              </a:buClr>
              <a:buFont typeface="Arial"/>
              <a:buChar char="▪"/>
            </a:pPr>
            <a:r>
              <a:rPr sz="1300" b="0" lang="en-GB">
                <a:solidFill>
                  <a:schemeClr val="tx1"/>
                </a:solidFill>
              </a:rPr>
              <a:t>Auto-checked for plausibility, reviewed for interpretation</a:t>
            </a:r>
          </a:p>
        </p:txBody>
      </p:sp>
      <p:sp>
        <p:nvSpPr>
          <p:cNvPr id="21" name="Check-in card stat"/>
          <p:cNvSpPr txBox="1"/>
          <p:nvPr/>
        </p:nvSpPr>
        <p:spPr>
          <a:xfrm>
            <a:off x="4828032" y="3474720"/>
            <a:ext cx="3721608" cy="59436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spcAft>
                <a:spcPts val="400"/>
              </a:spcAft>
            </a:pPr>
            <a:r>
              <a:rPr sz="2800" b="1" lang="en-GB">
                <a:solidFill>
                  <a:schemeClr val="tx2"/>
                </a:solidFill>
                <a:latin typeface="+mj-lt"/>
              </a:rPr>
              <a:t>10 %</a:t>
            </a:r>
            <a:r>
              <a:rPr sz="1300" b="0" lang="en-GB">
                <a:solidFill>
                  <a:schemeClr val="tx1"/>
                </a:solidFill>
              </a:rPr>
              <a:t>  per check-in, 20 % in total</a:t>
            </a:r>
          </a:p>
        </p:txBody>
      </p:sp>
      <p:sp>
        <p:nvSpPr>
          <p:cNvPr id="22" name="Takeaway box"/>
          <p:cNvSpPr/>
          <p:nvPr/>
        </p:nvSpPr>
        <p:spPr>
          <a:xfrm>
            <a:off x="457200" y="4389120"/>
            <a:ext cx="8229600" cy="6858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akeaway text"/>
          <p:cNvSpPr txBox="1"/>
          <p:nvPr/>
        </p:nvSpPr>
        <p:spPr>
          <a:xfrm>
            <a:off x="685800" y="4389120"/>
            <a:ext cx="7772400" cy="685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1" lang="en-GB">
                <a:solidFill>
                  <a:schemeClr val="bg1"/>
                </a:solidFill>
              </a:rPr>
              <a:t>Both are individual: </a:t>
            </a:r>
            <a:r>
              <a:rPr sz="1300" b="0" lang="en-GB">
                <a:solidFill>
                  <a:schemeClr val="bg1"/>
                </a:solidFill>
              </a:rPr>
              <a:t>quizzes check that you understand the concepts, check-ins that you can run, check and explain an analysis on your own.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600" lang="en-GB"/>
              <a:t>Group project</a:t>
            </a:r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International Marketing Analytics · WT 2026/27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dirty="0"/>
              <a:t>Page </a:t>
            </a:r>
            <a:fld id="{BE3DC40E-DBBE-4E2D-9EEC-FBF0DA0E9179}" type="slidenum">
              <a:rPr lang="en-GB" smtClean="0"/>
              <a:t>‹Nr.›</a:t>
            </a:fld>
            <a:endParaRPr lang="en-GB" dirty="0"/>
          </a:p>
        </p:txBody>
      </p:sp>
      <p:sp>
        <p:nvSpPr>
          <p:cNvPr id="10" name="Timeline label"/>
          <p:cNvSpPr txBox="1"/>
          <p:nvPr/>
        </p:nvSpPr>
        <p:spPr>
          <a:xfrm>
            <a:off x="457200" y="117043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1" lang="en-GB">
                <a:solidFill>
                  <a:schemeClr val="tx2"/>
                </a:solidFill>
              </a:rPr>
              <a:t>Timeline</a:t>
            </a:r>
          </a:p>
        </p:txBody>
      </p:sp>
      <p:sp>
        <p:nvSpPr>
          <p:cNvPr id="11" name="Project timeline step 1"/>
          <p:cNvSpPr/>
          <p:nvPr/>
        </p:nvSpPr>
        <p:spPr>
          <a:xfrm>
            <a:off x="457200" y="1481328"/>
            <a:ext cx="1733702" cy="658368"/>
          </a:xfrm>
          <a:prstGeom prst="homePlate">
            <a:avLst>
              <a:gd name="adj" fmla="val 28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128016" tIns="18288" bIns="18288"/>
          <a:lstStyle/>
          <a:p>
            <a:pPr algn="ctr"/>
            <a:r>
              <a:rPr sz="1300" b="1" lang="en-GB">
                <a:solidFill>
                  <a:schemeClr val="tx2"/>
                </a:solidFill>
              </a:rPr>
              <a:t>Session 1</a:t>
            </a:r>
            <a:br/>
            <a:r>
              <a:rPr sz="1300" b="1" lang="en-GB">
                <a:solidFill>
                  <a:schemeClr val="tx2"/>
                </a:solidFill>
              </a:rPr>
              <a:t>form groups</a:t>
            </a:r>
          </a:p>
        </p:txBody>
      </p:sp>
      <p:sp>
        <p:nvSpPr>
          <p:cNvPr id="12" name="Project timeline step 2"/>
          <p:cNvSpPr/>
          <p:nvPr/>
        </p:nvSpPr>
        <p:spPr>
          <a:xfrm>
            <a:off x="2081174" y="1481328"/>
            <a:ext cx="1733702" cy="658368"/>
          </a:xfrm>
          <a:prstGeom prst="chevron">
            <a:avLst>
              <a:gd name="adj" fmla="val 28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128016" tIns="18288" bIns="18288"/>
          <a:lstStyle/>
          <a:p>
            <a:pPr algn="ctr"/>
            <a:r>
              <a:rPr sz="1300" b="1" lang="en-GB">
                <a:solidFill>
                  <a:schemeClr val="tx2"/>
                </a:solidFill>
              </a:rPr>
              <a:t>By S2</a:t>
            </a:r>
            <a:br/>
            <a:r>
              <a:rPr sz="1300" b="1" lang="en-GB">
                <a:solidFill>
                  <a:schemeClr val="tx2"/>
                </a:solidFill>
              </a:rPr>
              <a:t>repo and data</a:t>
            </a:r>
          </a:p>
        </p:txBody>
      </p:sp>
      <p:sp>
        <p:nvSpPr>
          <p:cNvPr id="13" name="Project timeline step 3"/>
          <p:cNvSpPr/>
          <p:nvPr/>
        </p:nvSpPr>
        <p:spPr>
          <a:xfrm>
            <a:off x="3705149" y="1481328"/>
            <a:ext cx="1733702" cy="658368"/>
          </a:xfrm>
          <a:prstGeom prst="chevron">
            <a:avLst>
              <a:gd name="adj" fmla="val 28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128016" tIns="18288" bIns="18288"/>
          <a:lstStyle/>
          <a:p>
            <a:pPr algn="ctr"/>
            <a:r>
              <a:rPr sz="1300" b="1" lang="en-GB">
                <a:solidFill>
                  <a:schemeClr val="tx2"/>
                </a:solidFill>
              </a:rPr>
              <a:t>By S4</a:t>
            </a:r>
            <a:br/>
            <a:r>
              <a:rPr sz="1300" b="1" lang="en-GB">
                <a:solidFill>
                  <a:schemeClr val="tx2"/>
                </a:solidFill>
              </a:rPr>
              <a:t>first model</a:t>
            </a:r>
          </a:p>
        </p:txBody>
      </p:sp>
      <p:sp>
        <p:nvSpPr>
          <p:cNvPr id="14" name="Project timeline step 4"/>
          <p:cNvSpPr/>
          <p:nvPr/>
        </p:nvSpPr>
        <p:spPr>
          <a:xfrm>
            <a:off x="5329123" y="1481328"/>
            <a:ext cx="1733702" cy="658368"/>
          </a:xfrm>
          <a:prstGeom prst="chevron">
            <a:avLst>
              <a:gd name="adj" fmla="val 28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128016" tIns="18288" bIns="18288"/>
          <a:lstStyle/>
          <a:p>
            <a:pPr algn="ctr"/>
            <a:r>
              <a:rPr sz="1300" b="1" lang="en-GB">
                <a:solidFill>
                  <a:schemeClr val="tx2"/>
                </a:solidFill>
              </a:rPr>
              <a:t>Mon 2 Nov</a:t>
            </a:r>
            <a:br/>
            <a:r>
              <a:rPr sz="1300" b="1" lang="en-GB">
                <a:solidFill>
                  <a:schemeClr val="tx2"/>
                </a:solidFill>
              </a:rPr>
              <a:t>submit</a:t>
            </a:r>
          </a:p>
        </p:txBody>
      </p:sp>
      <p:sp>
        <p:nvSpPr>
          <p:cNvPr id="15" name="Project timeline step 5"/>
          <p:cNvSpPr/>
          <p:nvPr/>
        </p:nvSpPr>
        <p:spPr>
          <a:xfrm>
            <a:off x="6953098" y="1481328"/>
            <a:ext cx="1733702" cy="658368"/>
          </a:xfrm>
          <a:prstGeom prst="chevron">
            <a:avLst>
              <a:gd name="adj" fmla="val 28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128016" tIns="18288" bIns="18288"/>
          <a:lstStyle/>
          <a:p>
            <a:pPr algn="ctr"/>
            <a:r>
              <a:rPr sz="1300" b="1" lang="en-GB">
                <a:solidFill>
                  <a:schemeClr val="bg1"/>
                </a:solidFill>
              </a:rPr>
              <a:t>Tue 3 Nov</a:t>
            </a:r>
            <a:br/>
            <a:r>
              <a:rPr sz="1300" b="1" lang="en-GB">
                <a:solidFill>
                  <a:schemeClr val="bg1"/>
                </a:solidFill>
              </a:rPr>
              <a:t>pitch</a:t>
            </a:r>
          </a:p>
        </p:txBody>
      </p:sp>
      <p:sp>
        <p:nvSpPr>
          <p:cNvPr id="16" name="Deliverable card 1"/>
          <p:cNvSpPr/>
          <p:nvPr/>
        </p:nvSpPr>
        <p:spPr>
          <a:xfrm>
            <a:off x="457200" y="2331720"/>
            <a:ext cx="1954530" cy="16002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Icon deliverable 1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468880"/>
            <a:ext cx="365760" cy="365760"/>
          </a:xfrm>
          <a:prstGeom prst="rect">
            <a:avLst/>
          </a:prstGeom>
        </p:spPr>
      </p:pic>
      <p:sp>
        <p:nvSpPr>
          <p:cNvPr id="18" name="Deliverable text 1"/>
          <p:cNvSpPr txBox="1"/>
          <p:nvPr/>
        </p:nvSpPr>
        <p:spPr>
          <a:xfrm>
            <a:off x="594360" y="2907792"/>
            <a:ext cx="1680210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1" lang="en-GB">
                <a:solidFill>
                  <a:schemeClr val="tx2"/>
                </a:solidFill>
              </a:rPr>
              <a:t>Quarto report</a:t>
            </a:r>
          </a:p>
          <a:p>
            <a:pPr algn="l">
              <a:spcAft>
                <a:spcPts val="400"/>
              </a:spcAft>
            </a:pPr>
            <a:r>
              <a:rPr sz="1300" b="0" lang="en-GB">
                <a:solidFill>
                  <a:schemeClr val="tx1"/>
                </a:solidFill>
              </a:rPr>
              <a:t>max 12 pages, rendered to HTML</a:t>
            </a:r>
          </a:p>
        </p:txBody>
      </p:sp>
      <p:sp>
        <p:nvSpPr>
          <p:cNvPr id="19" name="Deliverable card 2"/>
          <p:cNvSpPr/>
          <p:nvPr/>
        </p:nvSpPr>
        <p:spPr>
          <a:xfrm>
            <a:off x="2548890" y="2331720"/>
            <a:ext cx="1954530" cy="16002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Icon deliverable 2" descr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6050" y="2468880"/>
            <a:ext cx="365760" cy="365760"/>
          </a:xfrm>
          <a:prstGeom prst="rect">
            <a:avLst/>
          </a:prstGeom>
        </p:spPr>
      </p:pic>
      <p:sp>
        <p:nvSpPr>
          <p:cNvPr id="21" name="Deliverable text 2"/>
          <p:cNvSpPr txBox="1"/>
          <p:nvPr/>
        </p:nvSpPr>
        <p:spPr>
          <a:xfrm>
            <a:off x="2686050" y="2907792"/>
            <a:ext cx="1680210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1" lang="en-GB">
                <a:solidFill>
                  <a:schemeClr val="tx2"/>
                </a:solidFill>
              </a:rPr>
              <a:t>Allocation file</a:t>
            </a:r>
          </a:p>
          <a:p>
            <a:pPr algn="l">
              <a:spcAft>
                <a:spcPts val="400"/>
              </a:spcAft>
            </a:pPr>
            <a:r>
              <a:rPr sz="1300" b="0" lang="en-GB">
                <a:solidFill>
                  <a:schemeClr val="tx1"/>
                </a:solidFill>
              </a:rPr>
              <a:t>CSV with weekly spend per country and channel</a:t>
            </a:r>
          </a:p>
        </p:txBody>
      </p:sp>
      <p:sp>
        <p:nvSpPr>
          <p:cNvPr id="22" name="Deliverable card 3"/>
          <p:cNvSpPr/>
          <p:nvPr/>
        </p:nvSpPr>
        <p:spPr>
          <a:xfrm>
            <a:off x="4640580" y="2331720"/>
            <a:ext cx="1954530" cy="16002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Icon deliverable 3" descr="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7740" y="2468880"/>
            <a:ext cx="365760" cy="365760"/>
          </a:xfrm>
          <a:prstGeom prst="rect">
            <a:avLst/>
          </a:prstGeom>
        </p:spPr>
      </p:pic>
      <p:sp>
        <p:nvSpPr>
          <p:cNvPr id="24" name="Deliverable text 3"/>
          <p:cNvSpPr txBox="1"/>
          <p:nvPr/>
        </p:nvSpPr>
        <p:spPr>
          <a:xfrm>
            <a:off x="4777740" y="2907792"/>
            <a:ext cx="1680210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1" lang="en-GB">
                <a:solidFill>
                  <a:schemeClr val="tx2"/>
                </a:solidFill>
              </a:rPr>
              <a:t>Pitch deck</a:t>
            </a:r>
          </a:p>
          <a:p>
            <a:pPr algn="l">
              <a:spcAft>
                <a:spcPts val="400"/>
              </a:spcAft>
            </a:pPr>
            <a:r>
              <a:rPr sz="1300" b="0" lang="en-GB">
                <a:solidFill>
                  <a:schemeClr val="tx1"/>
                </a:solidFill>
              </a:rPr>
              <a:t>max 8 slides for a 10-minute pitch</a:t>
            </a:r>
          </a:p>
        </p:txBody>
      </p:sp>
      <p:sp>
        <p:nvSpPr>
          <p:cNvPr id="25" name="Deliverable card 4"/>
          <p:cNvSpPr/>
          <p:nvPr/>
        </p:nvSpPr>
        <p:spPr>
          <a:xfrm>
            <a:off x="6732270" y="2331720"/>
            <a:ext cx="1954530" cy="16002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6" name="Icon deliverable 4" descr="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9430" y="2468880"/>
            <a:ext cx="365760" cy="365760"/>
          </a:xfrm>
          <a:prstGeom prst="rect">
            <a:avLst/>
          </a:prstGeom>
        </p:spPr>
      </p:pic>
      <p:sp>
        <p:nvSpPr>
          <p:cNvPr id="27" name="Deliverable text 4"/>
          <p:cNvSpPr txBox="1"/>
          <p:nvPr/>
        </p:nvSpPr>
        <p:spPr>
          <a:xfrm>
            <a:off x="6869430" y="2907792"/>
            <a:ext cx="1680210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1" lang="en-GB">
                <a:solidFill>
                  <a:schemeClr val="tx2"/>
                </a:solidFill>
              </a:rPr>
              <a:t>Repository</a:t>
            </a:r>
          </a:p>
          <a:p>
            <a:pPr algn="l">
              <a:spcAft>
                <a:spcPts val="400"/>
              </a:spcAft>
            </a:pPr>
            <a:r>
              <a:rPr sz="1300" b="0" lang="en-GB">
                <a:solidFill>
                  <a:schemeClr val="tx1"/>
                </a:solidFill>
              </a:rPr>
              <a:t>code, data pipeline and a prompt log</a:t>
            </a:r>
          </a:p>
        </p:txBody>
      </p:sp>
      <p:sp>
        <p:nvSpPr>
          <p:cNvPr id="28" name="Task box"/>
          <p:cNvSpPr/>
          <p:nvPr/>
        </p:nvSpPr>
        <p:spPr>
          <a:xfrm>
            <a:off x="457200" y="4114800"/>
            <a:ext cx="8229600" cy="96012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ask text"/>
          <p:cNvSpPr txBox="1"/>
          <p:nvPr/>
        </p:nvSpPr>
        <p:spPr>
          <a:xfrm>
            <a:off x="685800" y="4114800"/>
            <a:ext cx="7772400" cy="960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1500" b="1" lang="en-GB">
                <a:solidFill>
                  <a:schemeClr val="bg1"/>
                </a:solidFill>
                <a:latin typeface="+mj-lt"/>
              </a:rPr>
              <a:t>The task: </a:t>
            </a:r>
            <a:r>
              <a:rPr sz="1500" b="0" lang="en-GB">
                <a:solidFill>
                  <a:schemeClr val="bg1"/>
                </a:solidFill>
                <a:latin typeface="+mj-lt"/>
              </a:rPr>
              <a:t>as Alpenglow's analytics team, recommend to the board how the 2027 media budget should be split across six countries and five channels.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rPr b="1" sz="1300" lang="en-GB">
                <a:solidFill>
                  <a:schemeClr val="tx2"/>
                </a:solidFill>
              </a:rPr>
              <a:t>Who: </a:t>
            </a:r>
            <a:r>
              <a:rPr sz="1300" lang="en-GB"/>
              <a:t>every group member rates the other members on a 0 to 10 scale</a:t>
            </a:r>
          </a:p>
          <a:p>
            <a:r>
              <a:rPr b="1" sz="1300" lang="en-GB">
                <a:solidFill>
                  <a:schemeClr val="tx2"/>
                </a:solidFill>
              </a:rPr>
              <a:t>Criteria: </a:t>
            </a:r>
            <a:r>
              <a:rPr sz="1300" lang="en-GB"/>
              <a:t>tasks carried out, deadlines met, quality of work, communication and respect, attendance, pre-agreed rules</a:t>
            </a:r>
          </a:p>
          <a:p>
            <a:r>
              <a:rPr b="1" sz="1300" lang="en-GB">
                <a:solidFill>
                  <a:schemeClr val="tx2"/>
                </a:solidFill>
              </a:rPr>
              <a:t>Confidential: </a:t>
            </a:r>
            <a:r>
              <a:rPr sz="1300" lang="en-GB"/>
              <a:t>feeds the peer review component (10 %)</a:t>
            </a:r>
          </a:p>
          <a:p>
            <a:r>
              <a:rPr b="1" sz="1300" lang="en-GB">
                <a:solidFill>
                  <a:schemeClr val="tx2"/>
                </a:solidFill>
              </a:rPr>
              <a:t>When: </a:t>
            </a:r>
            <a:r>
              <a:rPr sz="1300" lang="en-GB"/>
              <a:t>submit on Canvas with the final project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600" lang="en-GB"/>
              <a:t>Peer rating</a:t>
            </a:r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International Marketing Analytics · WT 2026/27</a:t>
            </a:r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dirty="0"/>
              <a:t>Page </a:t>
            </a:r>
            <a:fld id="{BE3DC40E-DBBE-4E2D-9EEC-FBF0DA0E9179}" type="slidenum">
              <a:rPr lang="en-GB" smtClean="0"/>
              <a:t>‹Nr.›</a:t>
            </a:fld>
            <a:endParaRPr lang="en-GB" dirty="0"/>
          </a:p>
        </p:txBody>
      </p:sp>
      <p:pic>
        <p:nvPicPr>
          <p:cNvPr id="11" name="Peer rating form" descr="Peer rating form: criteria list and a grade table for five group member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9904" y="1344613"/>
            <a:ext cx="3691568" cy="385921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" name="Fußzeilenplatzhalt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International Marketing Analytics · WT 2026/27</a:t>
            </a:r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r>
              <a:rPr lang="en-GB" dirty="0"/>
              <a:t>Page </a:t>
            </a:r>
            <a:fld id="{BE3DC40E-DBBE-4E2D-9EEC-FBF0DA0E9179}" type="slidenum">
              <a:rPr lang="en-GB" smtClean="0"/>
              <a:t>‹Nr.›</a:t>
            </a:fld>
            <a:endParaRPr lang="en-GB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EDLANGUAGE" val="English UK"/>
</p:tagLst>
</file>

<file path=ppt/theme/theme1.xml><?xml version="1.0" encoding="utf-8"?>
<a:theme xmlns:a="http://schemas.openxmlformats.org/drawingml/2006/main" name="WU 16:10">
  <a:themeElements>
    <a:clrScheme name="WU">
      <a:dk1>
        <a:srgbClr val="000000"/>
      </a:dk1>
      <a:lt1>
        <a:srgbClr val="FFFFFF"/>
      </a:lt1>
      <a:dk2>
        <a:srgbClr val="002350"/>
      </a:dk2>
      <a:lt2>
        <a:srgbClr val="E5F5FA"/>
      </a:lt2>
      <a:accent1>
        <a:srgbClr val="0096D3"/>
      </a:accent1>
      <a:accent2>
        <a:srgbClr val="002350"/>
      </a:accent2>
      <a:accent3>
        <a:srgbClr val="4B2582"/>
      </a:accent3>
      <a:accent4>
        <a:srgbClr val="457AA0"/>
      </a:accent4>
      <a:accent5>
        <a:srgbClr val="A592C0"/>
      </a:accent5>
      <a:accent6>
        <a:srgbClr val="80CFE9"/>
      </a:accent6>
      <a:hlink>
        <a:srgbClr val="405A7C"/>
      </a:hlink>
      <a:folHlink>
        <a:srgbClr val="0082AA"/>
      </a:folHlink>
    </a:clrScheme>
    <a:fontScheme name="WU neu">
      <a:majorFont>
        <a:latin typeface="Georgi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WU Farbschema neu">
        <a:dk1>
          <a:srgbClr val="000000"/>
        </a:dk1>
        <a:lt1>
          <a:sysClr val="window" lastClr="FFFFFF"/>
        </a:lt1>
        <a:dk2>
          <a:srgbClr val="002E60"/>
        </a:dk2>
        <a:lt2>
          <a:srgbClr val="E5F5FA"/>
        </a:lt2>
        <a:accent1>
          <a:srgbClr val="0096D3"/>
        </a:accent1>
        <a:accent2>
          <a:srgbClr val="002E60"/>
        </a:accent2>
        <a:accent3>
          <a:srgbClr val="532481"/>
        </a:accent3>
        <a:accent4>
          <a:srgbClr val="457AA0"/>
        </a:accent4>
        <a:accent5>
          <a:srgbClr val="A991C0"/>
        </a:accent5>
        <a:accent6>
          <a:srgbClr val="7FCAE9"/>
        </a:accent6>
        <a:hlink>
          <a:srgbClr val="406288"/>
        </a:hlink>
        <a:folHlink>
          <a:srgbClr val="008FA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WU Sample Presentation 16x10 V1.1.potx" id="{74DD536C-D372-4256-BA4D-24C734E7AF81}" vid="{99E22345-25BB-45DF-85CE-FC929AE6991A}"/>
    </a:ext>
  </a:extLst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Kategorie xmlns="dde413db-0745-4f3a-8dca-564dc7ff6f7d">Präsentationen</Kategorie>
    <Beschreibung xmlns="dde413db-0745-4f3a-8dca-564dc7ff6f7d">Sample presenation in format 16:10 (= WU standard)</Beschreibung>
    <TaxCatchAll xmlns="08b0a3ee-3d2a-451c-9a1a-7e5d5b0c9c77">
      <Value>266</Value>
      <Value>403</Value>
    </TaxCatchAll>
    <DokumentenartTaxHTField0 xmlns="1a8d9a65-8471-4209-a900-f8e11db75e0a">
      <Terms xmlns="http://schemas.microsoft.com/office/infopath/2007/PartnerControls">
        <TermInfo xmlns="http://schemas.microsoft.com/office/infopath/2007/PartnerControls">
          <TermName xmlns="http://schemas.microsoft.com/office/infopath/2007/PartnerControls">Vorlagen</TermName>
          <TermId xmlns="http://schemas.microsoft.com/office/infopath/2007/PartnerControls">17fc50ed-8ad1-47be-ab12-04243fd74ddb</TermId>
        </TermInfo>
      </Terms>
    </DokumentenartTaxHTField0>
    <WU_x0020_ThemaTaxHTField0 xmlns="1a8d9a65-8471-4209-a900-f8e11db75e0a">
      <Terms xmlns="http://schemas.microsoft.com/office/infopath/2007/PartnerControls">
        <TermInfo xmlns="http://schemas.microsoft.com/office/infopath/2007/PartnerControls">
          <TermName xmlns="http://schemas.microsoft.com/office/infopath/2007/PartnerControls">Corporate Design</TermName>
          <TermId xmlns="http://schemas.microsoft.com/office/infopath/2007/PartnerControls">19895bcd-b158-45ae-ab7b-f5ca217dfcec</TermId>
        </TermInfo>
      </Terms>
    </WU_x0020_ThemaTaxHTField0>
    <Format xmlns="dde413db-0745-4f3a-8dca-564dc7ff6f7d">Microsoft Office 2013/2016</Format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CF651A35DF3154DB01328AF51148DAE" ma:contentTypeVersion="1" ma:contentTypeDescription="Ein neues Dokument erstellen." ma:contentTypeScope="" ma:versionID="458c1b80f8d593bdc96b60ff34dd40b4">
  <xsd:schema xmlns:xsd="http://www.w3.org/2001/XMLSchema" xmlns:xs="http://www.w3.org/2001/XMLSchema" xmlns:p="http://schemas.microsoft.com/office/2006/metadata/properties" xmlns:ns2="1a8d9a65-8471-4209-a900-f8e11db75e0a" xmlns:ns3="08b0a3ee-3d2a-451c-9a1a-7e5d5b0c9c77" xmlns:ns4="dde413db-0745-4f3a-8dca-564dc7ff6f7d" targetNamespace="http://schemas.microsoft.com/office/2006/metadata/properties" ma:root="true" ma:fieldsID="2d31116d1a6b5af1b4a8b1ba7152d57a" ns2:_="" ns3:_="" ns4:_="">
    <xsd:import namespace="1a8d9a65-8471-4209-a900-f8e11db75e0a"/>
    <xsd:import namespace="08b0a3ee-3d2a-451c-9a1a-7e5d5b0c9c77"/>
    <xsd:import namespace="dde413db-0745-4f3a-8dca-564dc7ff6f7d"/>
    <xsd:element name="properties">
      <xsd:complexType>
        <xsd:sequence>
          <xsd:element name="documentManagement">
            <xsd:complexType>
              <xsd:all>
                <xsd:element ref="ns2:WU_x0020_ThemaTaxHTField0" minOccurs="0"/>
                <xsd:element ref="ns3:TaxCatchAll" minOccurs="0"/>
                <xsd:element ref="ns2:DokumentenartTaxHTField0" minOccurs="0"/>
                <xsd:element ref="ns4:Beschreibung" minOccurs="0"/>
                <xsd:element ref="ns4:Format" minOccurs="0"/>
                <xsd:element ref="ns4:Kategorie" minOccurs="0"/>
                <xsd:element ref="ns3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8d9a65-8471-4209-a900-f8e11db75e0a" elementFormDefault="qualified">
    <xsd:import namespace="http://schemas.microsoft.com/office/2006/documentManagement/types"/>
    <xsd:import namespace="http://schemas.microsoft.com/office/infopath/2007/PartnerControls"/>
    <xsd:element name="WU_x0020_ThemaTaxHTField0" ma:index="9" nillable="true" ma:taxonomy="true" ma:internalName="WU_x0020_ThemaTaxHTField0" ma:taxonomyFieldName="WU_x0020_Thema" ma:displayName="Schlagwort" ma:default="" ma:fieldId="{a2eb3201-e251-4055-97e9-466604fc777f}" ma:taxonomyMulti="true" ma:sspId="59da4ae5-1217-4de6-bd64-b7a740f353bb" ma:termSetId="c1edca97-812b-4584-b6b5-1e5cade81cae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DokumentenartTaxHTField0" ma:index="12" nillable="true" ma:taxonomy="true" ma:internalName="DokumentenartTaxHTField0" ma:taxonomyFieldName="Dokumentenart" ma:displayName="Dokumentenart" ma:default="" ma:fieldId="{0f2e647f-32b7-4850-b6be-ae358ed71e70}" ma:taxonomyMulti="true" ma:sspId="59da4ae5-1217-4de6-bd64-b7a740f353bb" ma:termSetId="325756d7-e24e-4b6f-ba71-3f779d34c1ea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b0a3ee-3d2a-451c-9a1a-7e5d5b0c9c77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description="" ma:hidden="true" ma:list="{6a103bb8-3913-4e3b-a229-080a76572464}" ma:internalName="TaxCatchAll" ma:showField="CatchAllData" ma:web="08b0a3ee-3d2a-451c-9a1a-7e5d5b0c9c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6" nillable="true" ma:displayName="Freigegeben für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e413db-0745-4f3a-8dca-564dc7ff6f7d" elementFormDefault="qualified">
    <xsd:import namespace="http://schemas.microsoft.com/office/2006/documentManagement/types"/>
    <xsd:import namespace="http://schemas.microsoft.com/office/infopath/2007/PartnerControls"/>
    <xsd:element name="Beschreibung" ma:index="13" nillable="true" ma:displayName="Beschreibung" ma:internalName="Beschreibung">
      <xsd:simpleType>
        <xsd:restriction base="dms:Note">
          <xsd:maxLength value="255"/>
        </xsd:restriction>
      </xsd:simpleType>
    </xsd:element>
    <xsd:element name="Format" ma:index="14" nillable="true" ma:displayName="Format" ma:format="Dropdown" ma:internalName="Format">
      <xsd:simpleType>
        <xsd:union memberTypes="dms:Text">
          <xsd:simpleType>
            <xsd:restriction base="dms:Choice">
              <xsd:enumeration value="LaTeX"/>
              <xsd:enumeration value="Microsoft Office 2003"/>
              <xsd:enumeration value="Microsoft Office 2007-2013"/>
              <xsd:enumeration value="Microsoft Office 2013/2016"/>
              <xsd:enumeration value="OpenOffice 3.0"/>
            </xsd:restriction>
          </xsd:simpleType>
        </xsd:union>
      </xsd:simpleType>
    </xsd:element>
    <xsd:element name="Kategorie" ma:index="15" nillable="true" ma:displayName="Kategorie" ma:default="Anleitungen" ma:format="Dropdown" ma:internalName="Kategorie">
      <xsd:simpleType>
        <xsd:union memberTypes="dms:Text">
          <xsd:simpleType>
            <xsd:restriction base="dms:Choice">
              <xsd:enumeration value="Anleitungen"/>
              <xsd:enumeration value="Aushänge für Lift und Tür"/>
              <xsd:enumeration value="Basisvorlagen"/>
              <xsd:enumeration value="Brief-/Faxvorlagen"/>
              <xsd:enumeration value="Einladungen"/>
              <xsd:enumeration value="Etiketten"/>
              <xsd:enumeration value="Musterdateien"/>
              <xsd:enumeration value="Namensschilder"/>
              <xsd:enumeration value="Präsentationen"/>
              <xsd:enumeration value="Skripten-Cover"/>
            </xsd:restriction>
          </xsd:simpleType>
        </xsd:un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5929A89-D8E6-4794-A98F-6609FAAECB3B}">
  <ds:schemaRefs>
    <ds:schemaRef ds:uri="http://schemas.microsoft.com/office/2006/metadata/properties"/>
    <ds:schemaRef ds:uri="http://schemas.microsoft.com/office/infopath/2007/PartnerControls"/>
    <ds:schemaRef ds:uri="dde413db-0745-4f3a-8dca-564dc7ff6f7d"/>
    <ds:schemaRef ds:uri="08b0a3ee-3d2a-451c-9a1a-7e5d5b0c9c77"/>
    <ds:schemaRef ds:uri="1a8d9a65-8471-4209-a900-f8e11db75e0a"/>
  </ds:schemaRefs>
</ds:datastoreItem>
</file>

<file path=customXml/itemProps2.xml><?xml version="1.0" encoding="utf-8"?>
<ds:datastoreItem xmlns:ds="http://schemas.openxmlformats.org/officeDocument/2006/customXml" ds:itemID="{D81AF645-C4BF-4115-A9DE-6B087264731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a8d9a65-8471-4209-a900-f8e11db75e0a"/>
    <ds:schemaRef ds:uri="08b0a3ee-3d2a-451c-9a1a-7e5d5b0c9c77"/>
    <ds:schemaRef ds:uri="dde413db-0745-4f3a-8dca-564dc7ff6f7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89857B5-BC10-4782-8A0F-717F20E5E22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WU Sample Presentation 16x10</Template>
  <TotalTime>0</TotalTime>
  <Words>1441</Words>
  <Application>Microsoft Office PowerPoint</Application>
  <PresentationFormat>Bildschirmpräsentation (16:10)</PresentationFormat>
  <Paragraphs>207</Paragraphs>
  <Slides>26</Slides>
  <Notes>26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26</vt:i4>
      </vt:variant>
    </vt:vector>
  </HeadingPairs>
  <TitlesOfParts>
    <vt:vector size="31" baseType="lpstr">
      <vt:lpstr>Arial</vt:lpstr>
      <vt:lpstr>Georgia</vt:lpstr>
      <vt:lpstr>Verdana</vt:lpstr>
      <vt:lpstr>Wingdings</vt:lpstr>
      <vt:lpstr>WU 16:10</vt:lpstr>
      <vt:lpstr>WU Presentation Template incl. Samples</vt:lpstr>
      <vt:lpstr>Basics</vt:lpstr>
      <vt:lpstr>Available slide layouts – overview</vt:lpstr>
      <vt:lpstr>Make use of the slide layouts</vt:lpstr>
      <vt:lpstr>Designing text slides</vt:lpstr>
      <vt:lpstr>Insert footer information</vt:lpstr>
      <vt:lpstr>Toner- and ink-reduced printing</vt:lpstr>
      <vt:lpstr>Sample Slides</vt:lpstr>
      <vt:lpstr>Layout „Titelfolie“ –  font Georgia 32 pt</vt:lpstr>
      <vt:lpstr>Layout „Titelfolie kurz“</vt:lpstr>
      <vt:lpstr>Layout „Titelfolie ohne Bild“ – for 2 lines of text</vt:lpstr>
      <vt:lpstr>Titleslide w/o pic. short</vt:lpstr>
      <vt:lpstr>Layout „Titelfolie Bild 2“ – for 2 lines of text</vt:lpstr>
      <vt:lpstr>Layout „Titelfolie Bild 3“ – for 2 lines of text</vt:lpstr>
      <vt:lpstr>Layout „Titel und Inhalt“ for title and content – font Georgia 24 pt</vt:lpstr>
      <vt:lpstr>Layout without footer for large graphics, tables or charts</vt:lpstr>
      <vt:lpstr>Layout “Zwei Inhalte” with two placeholders for different content types</vt:lpstr>
      <vt:lpstr>Layout „Vergleich“ – e.g. for comparison</vt:lpstr>
      <vt:lpstr>Sample table</vt:lpstr>
      <vt:lpstr>Sample for simple graphics  (based on SmartArt)</vt:lpstr>
      <vt:lpstr>Sample organizational chart  (based on SmartArt)</vt:lpstr>
      <vt:lpstr>Sample for bar chart </vt:lpstr>
      <vt:lpstr>Sample for column chart </vt:lpstr>
      <vt:lpstr>Sample for line chart </vt:lpstr>
      <vt:lpstr>Sample for doughnut chart </vt:lpstr>
      <vt:lpstr> 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2023-08-25T07:52:25Z</dcterms:created>
  <dcterms:modified xsi:type="dcterms:W3CDTF">2023-08-25T07:53:01Z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WU Thema">
    <vt:lpwstr>403;#Corporate Design|19895bcd-b158-45ae-ab7b-f5ca217dfcec</vt:lpwstr>
  </property>
  <property fmtid="{D5CDD505-2E9C-101B-9397-08002B2CF9AE}" pid="3" name="Dokumentenart">
    <vt:lpwstr>266;#Vorlagen|17fc50ed-8ad1-47be-ab12-04243fd74ddb</vt:lpwstr>
  </property>
  <property fmtid="{D5CDD505-2E9C-101B-9397-08002B2CF9AE}" pid="4" name="ContentTypeId">
    <vt:lpwstr>0x010100BCF651A35DF3154DB01328AF51148DAE</vt:lpwstr>
  </property>
</Properties>
</file>