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70" r:id="rId39"/>
    <p:sldId id="271" r:id="rId40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.xml"/><Relationship Id="rId40" Type="http://schemas.openxmlformats.org/officeDocument/2006/relationships/slide" Target="slides/slide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Marketing mix modelling in one breath: take the sales history, separate what would have sold anyway from what each marketing activity added, and use that to decide where the next euro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combines the introduction with linear regression. Each session adds one method; the last brings them together in dedicated MMM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outcomes each for understanding, applying and transferring. Cross-sectional means many units at one point in time (countries, stores); longitudinal means the same units over time (weekly sales).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ends with a short online quiz that is not graded; it shows you what to revise. The written exam at the end is paper and pencil with multiple-choice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Topics follow the course roadmap; methods in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individual components (70 %) and one group component (30 %). The bar shows the shares at a glance; the cards say what each part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for students. No preparation before the course: we register the accounts and install the software together in Session 1, following the set-up deck (01a). The check script prints 'ready' and test_stack.qmd renders a short report when everything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DataCamp courses are assigned on Canvas. Each certificate counts 5 % once it is uploaded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exercise takes the code from the guided lab and applies it to a similar task. AI assistants are allowed; the prompt log shows how you used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 checks understanding, not coding. The non-graded online quiz at the end of each session uses the same question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and its data are published on Canvas. Online consulting hours need registration. The report is the only group component of the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endParaRPr lang="en-GB" sz="1200"/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nstr_image9.tiff"/><Relationship Id="rId5" Type="http://schemas.openxmlformats.org/officeDocument/2006/relationships/hyperlink" Target="mailto:arne.floh@wu.ac.at" TargetMode="External"/><Relationship Id="rId6" Type="http://schemas.openxmlformats.org/officeDocument/2006/relationships/hyperlink" Target="https://calendar.app.google/o4FuKoF1YcarRfnC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nstr_image9.tiff"/><Relationship Id="rId3" Type="http://schemas.openxmlformats.org/officeDocument/2006/relationships/image" Target="../media/instr_image10.png"/><Relationship Id="rId4" Type="http://schemas.openxmlformats.org/officeDocument/2006/relationships/image" Target="../media/instr_image11.jpeg"/><Relationship Id="rId5" Type="http://schemas.openxmlformats.org/officeDocument/2006/relationships/image" Target="../media/instr_image12.jpeg"/><Relationship Id="rId6" Type="http://schemas.openxmlformats.org/officeDocument/2006/relationships/image" Target="../media/instr_image13.jpeg"/><Relationship Id="rId7" Type="http://schemas.openxmlformats.org/officeDocument/2006/relationships/image" Target="../media/instr_image14.jpeg"/><Relationship Id="rId8" Type="http://schemas.openxmlformats.org/officeDocument/2006/relationships/image" Target="../media/instr_image15.png"/><Relationship Id="rId9" Type="http://schemas.openxmlformats.org/officeDocument/2006/relationships/image" Target="../media/instr_image16.png"/><Relationship Id="rId10" Type="http://schemas.openxmlformats.org/officeDocument/2006/relationships/image" Target="../media/instr_image17.png"/><Relationship Id="rId11" Type="http://schemas.openxmlformats.org/officeDocument/2006/relationships/image" Target="../media/instr_image18.jpeg"/><Relationship Id="rId12" Type="http://schemas.openxmlformats.org/officeDocument/2006/relationships/image" Target="../media/instr_image19.png"/><Relationship Id="rId13" Type="http://schemas.openxmlformats.org/officeDocument/2006/relationships/image" Target="../media/instr_image20.png"/><Relationship Id="rId14" Type="http://schemas.openxmlformats.org/officeDocument/2006/relationships/image" Target="../media/instr_image21.png"/><Relationship Id="rId15" Type="http://schemas.openxmlformats.org/officeDocument/2006/relationships/image" Target="../media/instr_image22.png"/><Relationship Id="rId16" Type="http://schemas.openxmlformats.org/officeDocument/2006/relationships/image" Target="../media/instr_image23.png"/><Relationship Id="rId17" Type="http://schemas.openxmlformats.org/officeDocument/2006/relationships/image" Target="../media/instr_image24.png"/><Relationship Id="rId18" Type="http://schemas.openxmlformats.org/officeDocument/2006/relationships/image" Target="../media/instr_image2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2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hyperlink" Target="https://github.com/arnefloh-wu/international-marketing-analytics-teaching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23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Convenor"/>
          <p:cNvSpPr/>
          <p:nvPr/>
        </p:nvSpPr>
        <p:spPr>
          <a:xfrm>
            <a:off x="457200" y="1320800"/>
            <a:ext cx="82296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951" name="Card divider"/>
          <p:cNvSpPr/>
          <p:nvPr/>
        </p:nvSpPr>
        <p:spPr>
          <a:xfrm>
            <a:off x="5120640" y="2006600"/>
            <a:ext cx="18288" cy="2865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Card header Convenor"/>
          <p:cNvSpPr/>
          <p:nvPr/>
        </p:nvSpPr>
        <p:spPr>
          <a:xfrm>
            <a:off x="457200" y="1320800"/>
            <a:ext cx="82296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500" b="1" dirty="0">
                <a:solidFill>
                  <a:schemeClr val="bg1"/>
                </a:solidFill>
                <a:latin typeface="+mj-lt"/>
              </a:rPr>
              <a:t>Personal and 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MSc ExInt</a:t>
            </a:r>
            <a:br>
              <a:rPr lang="en-GB" altLang="de-DE" sz="1300" dirty="0"/>
            </a:br>
            <a:r>
              <a:rPr lang="en-GB" altLang="de-DE" sz="1300" dirty="0"/>
              <a:t>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wu.ac.at/en/welthandel/arne-floh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Office hours: </a:t>
            </a:r>
            <a:r>
              <a:rPr lang="en-GB" altLang="de-DE" sz="1300" dirty="0">
                <a:hlinkClick r:id="rId6"/>
              </a:rPr>
              <a:t>book online (Google Calendar)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ntent row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content row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63040"/>
            <a:ext cx="411480" cy="411480"/>
          </a:xfrm>
          <a:prstGeom prst="rect">
            <a:avLst/>
          </a:prstGeom>
        </p:spPr>
      </p:pic>
      <p:sp>
        <p:nvSpPr>
          <p:cNvPr id="12" name="Content text 1"/>
          <p:cNvSpPr txBox="1"/>
          <p:nvPr/>
        </p:nvSpPr>
        <p:spPr>
          <a:xfrm>
            <a:off x="1325880" y="123444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analytics </a:t>
            </a:r>
            <a:r>
              <a:rPr sz="1300" b="0" lang="en-GB">
                <a:solidFill>
                  <a:schemeClr val="tx1"/>
                </a:solidFill>
              </a:rPr>
              <a:t>is the measurement, management and analysis of marketing performance data to improve marketing effectiveness and return on investment. It turns data into decisions and shows where the next euro should go.</a:t>
            </a:r>
          </a:p>
        </p:txBody>
      </p:sp>
      <p:sp>
        <p:nvSpPr>
          <p:cNvPr id="13" name="Content row 2"/>
          <p:cNvSpPr/>
          <p:nvPr/>
        </p:nvSpPr>
        <p:spPr>
          <a:xfrm>
            <a:off x="457200" y="224028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content row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468880"/>
            <a:ext cx="411480" cy="411480"/>
          </a:xfrm>
          <a:prstGeom prst="rect">
            <a:avLst/>
          </a:prstGeom>
        </p:spPr>
      </p:pic>
      <p:sp>
        <p:nvSpPr>
          <p:cNvPr id="15" name="Content text 2"/>
          <p:cNvSpPr txBox="1"/>
          <p:nvPr/>
        </p:nvSpPr>
        <p:spPr>
          <a:xfrm>
            <a:off x="1325880" y="224028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Key questions: </a:t>
            </a:r>
            <a:r>
              <a:rPr sz="1300" b="0" lang="en-GB">
                <a:solidFill>
                  <a:schemeClr val="tx1"/>
                </a:solidFill>
              </a:rPr>
              <a:t>how do price, place, product features and promotion drive performance measures such as sales, and how should a fixed budget be split across countries and channels?</a:t>
            </a:r>
          </a:p>
        </p:txBody>
      </p:sp>
      <p:sp>
        <p:nvSpPr>
          <p:cNvPr id="16" name="Content row 3"/>
          <p:cNvSpPr/>
          <p:nvPr/>
        </p:nvSpPr>
        <p:spPr>
          <a:xfrm>
            <a:off x="457200" y="324612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content row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74720"/>
            <a:ext cx="411480" cy="411480"/>
          </a:xfrm>
          <a:prstGeom prst="rect">
            <a:avLst/>
          </a:prstGeom>
        </p:spPr>
      </p:pic>
      <p:sp>
        <p:nvSpPr>
          <p:cNvPr id="18" name="Content text 3"/>
          <p:cNvSpPr txBox="1"/>
          <p:nvPr/>
        </p:nvSpPr>
        <p:spPr>
          <a:xfrm>
            <a:off x="1325880" y="324612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Tools: </a:t>
            </a:r>
            <a:r>
              <a:rPr sz="1300" b="0" lang="en-GB">
                <a:solidFill>
                  <a:schemeClr val="tx1"/>
                </a:solidFill>
              </a:rPr>
              <a:t>Python in Positron, GitHub for versioning and DataCamp courses; AI assistants do most of the typing, you check the results.</a:t>
            </a:r>
          </a:p>
        </p:txBody>
      </p:sp>
      <p:sp>
        <p:nvSpPr>
          <p:cNvPr id="19" name="Content row 4"/>
          <p:cNvSpPr/>
          <p:nvPr/>
        </p:nvSpPr>
        <p:spPr>
          <a:xfrm>
            <a:off x="457200" y="425196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ntent row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80560"/>
            <a:ext cx="411480" cy="411480"/>
          </a:xfrm>
          <a:prstGeom prst="rect">
            <a:avLst/>
          </a:prstGeom>
        </p:spPr>
      </p:pic>
      <p:sp>
        <p:nvSpPr>
          <p:cNvPr id="21" name="Content text 4"/>
          <p:cNvSpPr txBox="1"/>
          <p:nvPr/>
        </p:nvSpPr>
        <p:spPr>
          <a:xfrm>
            <a:off x="1325880" y="425196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Case studies: </a:t>
            </a:r>
            <a:r>
              <a:rPr sz="1300" b="0" lang="en-GB">
                <a:solidFill>
                  <a:schemeClr val="tx1"/>
                </a:solidFill>
              </a:rPr>
              <a:t>Zalando and NEOH, plus a six-country teaching dataset with known answers for the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Course roadmap: five sessions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Road"/>
          <p:cNvSpPr/>
          <p:nvPr/>
        </p:nvSpPr>
        <p:spPr>
          <a:xfrm>
            <a:off x="457200" y="1517904"/>
            <a:ext cx="8001000" cy="1097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ad end"/>
          <p:cNvSpPr/>
          <p:nvPr/>
        </p:nvSpPr>
        <p:spPr>
          <a:xfrm rot="5400000">
            <a:off x="8412480" y="1417320"/>
            <a:ext cx="274320" cy="310896"/>
          </a:xfrm>
          <a:prstGeom prst="triangl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top connector 1"/>
          <p:cNvSpPr/>
          <p:nvPr/>
        </p:nvSpPr>
        <p:spPr>
          <a:xfrm>
            <a:off x="1229868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op 1"/>
          <p:cNvSpPr/>
          <p:nvPr/>
        </p:nvSpPr>
        <p:spPr>
          <a:xfrm>
            <a:off x="969264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4" name="Session card 1"/>
          <p:cNvSpPr/>
          <p:nvPr/>
        </p:nvSpPr>
        <p:spPr>
          <a:xfrm>
            <a:off x="457200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ession theme 1"/>
          <p:cNvSpPr txBox="1"/>
          <p:nvPr/>
        </p:nvSpPr>
        <p:spPr>
          <a:xfrm>
            <a:off x="521208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Introduction and linear regression</a:t>
            </a:r>
          </a:p>
        </p:txBody>
      </p:sp>
      <p:sp>
        <p:nvSpPr>
          <p:cNvPr id="16" name="Session rule 1"/>
          <p:cNvSpPr/>
          <p:nvPr/>
        </p:nvSpPr>
        <p:spPr>
          <a:xfrm>
            <a:off x="521208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ession text 1"/>
          <p:cNvSpPr txBox="1"/>
          <p:nvPr/>
        </p:nvSpPr>
        <p:spPr>
          <a:xfrm>
            <a:off x="521208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MMM basics, OLS, model fit and interpretation</a:t>
            </a:r>
          </a:p>
        </p:txBody>
      </p:sp>
      <p:sp>
        <p:nvSpPr>
          <p:cNvPr id="18" name="Stop connector 2"/>
          <p:cNvSpPr/>
          <p:nvPr/>
        </p:nvSpPr>
        <p:spPr>
          <a:xfrm>
            <a:off x="2894076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op 2"/>
          <p:cNvSpPr/>
          <p:nvPr/>
        </p:nvSpPr>
        <p:spPr>
          <a:xfrm>
            <a:off x="2633472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0" name="Session card 2"/>
          <p:cNvSpPr/>
          <p:nvPr/>
        </p:nvSpPr>
        <p:spPr>
          <a:xfrm>
            <a:off x="2121408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ession theme 2"/>
          <p:cNvSpPr txBox="1"/>
          <p:nvPr/>
        </p:nvSpPr>
        <p:spPr>
          <a:xfrm>
            <a:off x="2185416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regression</a:t>
            </a:r>
          </a:p>
        </p:txBody>
      </p:sp>
      <p:sp>
        <p:nvSpPr>
          <p:cNvPr id="22" name="Session rule 2"/>
          <p:cNvSpPr/>
          <p:nvPr/>
        </p:nvSpPr>
        <p:spPr>
          <a:xfrm>
            <a:off x="2185416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ession text 2"/>
          <p:cNvSpPr txBox="1"/>
          <p:nvPr/>
        </p:nvSpPr>
        <p:spPr>
          <a:xfrm>
            <a:off x="2185416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Log-log, dummies, interactions, adstock, saturation</a:t>
            </a:r>
          </a:p>
        </p:txBody>
      </p:sp>
      <p:sp>
        <p:nvSpPr>
          <p:cNvPr id="24" name="Stop connector 3"/>
          <p:cNvSpPr/>
          <p:nvPr/>
        </p:nvSpPr>
        <p:spPr>
          <a:xfrm>
            <a:off x="4558284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op 3"/>
          <p:cNvSpPr/>
          <p:nvPr/>
        </p:nvSpPr>
        <p:spPr>
          <a:xfrm>
            <a:off x="4297680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6" name="Session card 3"/>
          <p:cNvSpPr/>
          <p:nvPr/>
        </p:nvSpPr>
        <p:spPr>
          <a:xfrm>
            <a:off x="3785616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ession theme 3"/>
          <p:cNvSpPr txBox="1"/>
          <p:nvPr/>
        </p:nvSpPr>
        <p:spPr>
          <a:xfrm>
            <a:off x="3849624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Logistic regression</a:t>
            </a:r>
          </a:p>
        </p:txBody>
      </p:sp>
      <p:sp>
        <p:nvSpPr>
          <p:cNvPr id="28" name="Session rule 3"/>
          <p:cNvSpPr/>
          <p:nvPr/>
        </p:nvSpPr>
        <p:spPr>
          <a:xfrm>
            <a:off x="3849624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ession text 3"/>
          <p:cNvSpPr txBox="1"/>
          <p:nvPr/>
        </p:nvSpPr>
        <p:spPr>
          <a:xfrm>
            <a:off x="3849624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Binary outcomes such as purchase or churn, odds ratios</a:t>
            </a:r>
          </a:p>
        </p:txBody>
      </p:sp>
      <p:sp>
        <p:nvSpPr>
          <p:cNvPr id="30" name="Stop connector 4"/>
          <p:cNvSpPr/>
          <p:nvPr/>
        </p:nvSpPr>
        <p:spPr>
          <a:xfrm>
            <a:off x="6222492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top 4"/>
          <p:cNvSpPr/>
          <p:nvPr/>
        </p:nvSpPr>
        <p:spPr>
          <a:xfrm>
            <a:off x="5961888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2" name="Session card 4"/>
          <p:cNvSpPr/>
          <p:nvPr/>
        </p:nvSpPr>
        <p:spPr>
          <a:xfrm>
            <a:off x="5449824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ession theme 4"/>
          <p:cNvSpPr txBox="1"/>
          <p:nvPr/>
        </p:nvSpPr>
        <p:spPr>
          <a:xfrm>
            <a:off x="5513832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ARIMA</a:t>
            </a:r>
          </a:p>
        </p:txBody>
      </p:sp>
      <p:sp>
        <p:nvSpPr>
          <p:cNvPr id="34" name="Session rule 4"/>
          <p:cNvSpPr/>
          <p:nvPr/>
        </p:nvSpPr>
        <p:spPr>
          <a:xfrm>
            <a:off x="5513832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ession text 4"/>
          <p:cNvSpPr txBox="1"/>
          <p:nvPr/>
        </p:nvSpPr>
        <p:spPr>
          <a:xfrm>
            <a:off x="5513832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Trend, seasonality, forecasting the sales baseline</a:t>
            </a:r>
          </a:p>
        </p:txBody>
      </p:sp>
      <p:sp>
        <p:nvSpPr>
          <p:cNvPr id="36" name="Stop connector 5"/>
          <p:cNvSpPr/>
          <p:nvPr/>
        </p:nvSpPr>
        <p:spPr>
          <a:xfrm>
            <a:off x="7886700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top 5"/>
          <p:cNvSpPr/>
          <p:nvPr/>
        </p:nvSpPr>
        <p:spPr>
          <a:xfrm>
            <a:off x="7626096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38" name="Session card 5"/>
          <p:cNvSpPr/>
          <p:nvPr/>
        </p:nvSpPr>
        <p:spPr>
          <a:xfrm>
            <a:off x="7114032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ession theme 5"/>
          <p:cNvSpPr txBox="1"/>
          <p:nvPr/>
        </p:nvSpPr>
        <p:spPr>
          <a:xfrm>
            <a:off x="7178040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MMM tools</a:t>
            </a:r>
          </a:p>
        </p:txBody>
      </p:sp>
      <p:sp>
        <p:nvSpPr>
          <p:cNvPr id="40" name="Session rule 5"/>
          <p:cNvSpPr/>
          <p:nvPr/>
        </p:nvSpPr>
        <p:spPr>
          <a:xfrm>
            <a:off x="7178040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ession text 5"/>
          <p:cNvSpPr txBox="1"/>
          <p:nvPr/>
        </p:nvSpPr>
        <p:spPr>
          <a:xfrm>
            <a:off x="7178040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Bayesian MMM, budget optimisation across channels</a:t>
            </a:r>
          </a:p>
        </p:txBody>
      </p:sp>
      <p:sp>
        <p:nvSpPr>
          <p:cNvPr id="42" name="Along the way"/>
          <p:cNvSpPr/>
          <p:nvPr/>
        </p:nvSpPr>
        <p:spPr>
          <a:xfrm>
            <a:off x="457200" y="4526280"/>
            <a:ext cx="525780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along the way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626864"/>
            <a:ext cx="347472" cy="347472"/>
          </a:xfrm>
          <a:prstGeom prst="rect">
            <a:avLst/>
          </a:prstGeom>
        </p:spPr>
      </p:pic>
      <p:sp>
        <p:nvSpPr>
          <p:cNvPr id="44" name="Along the way text"/>
          <p:cNvSpPr txBox="1"/>
          <p:nvPr/>
        </p:nvSpPr>
        <p:spPr>
          <a:xfrm>
            <a:off x="1097280" y="452628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Along the way: </a:t>
            </a:r>
            <a:r>
              <a:rPr sz="1300" b="0" lang="en-GB">
                <a:solidFill>
                  <a:schemeClr val="tx1"/>
                </a:solidFill>
              </a:rPr>
              <a:t>DataCamp certificates, coding exercises, guest speaker</a:t>
            </a:r>
          </a:p>
        </p:txBody>
      </p:sp>
      <p:sp>
        <p:nvSpPr>
          <p:cNvPr id="45" name="Exam box"/>
          <p:cNvSpPr/>
          <p:nvPr/>
        </p:nvSpPr>
        <p:spPr>
          <a:xfrm>
            <a:off x="5852160" y="4526280"/>
            <a:ext cx="2834640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exa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626864"/>
            <a:ext cx="347472" cy="347472"/>
          </a:xfrm>
          <a:prstGeom prst="rect">
            <a:avLst/>
          </a:prstGeom>
        </p:spPr>
      </p:pic>
      <p:sp>
        <p:nvSpPr>
          <p:cNvPr id="47" name="Exam text"/>
          <p:cNvSpPr txBox="1"/>
          <p:nvPr/>
        </p:nvSpPr>
        <p:spPr>
          <a:xfrm>
            <a:off x="6446520" y="4526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Outcomes intro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On successful completion of this module, students will be able to:</a:t>
            </a:r>
          </a:p>
        </p:txBody>
      </p:sp>
      <p:sp>
        <p:nvSpPr>
          <p:cNvPr id="11" name="Outcomes band 1"/>
          <p:cNvSpPr/>
          <p:nvPr/>
        </p:nvSpPr>
        <p:spPr>
          <a:xfrm>
            <a:off x="457200" y="1572768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utcomes bar 1"/>
          <p:cNvSpPr/>
          <p:nvPr/>
        </p:nvSpPr>
        <p:spPr>
          <a:xfrm>
            <a:off x="457200" y="1572768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Icon Outcomes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384048" cy="384048"/>
          </a:xfrm>
          <a:prstGeom prst="rect">
            <a:avLst/>
          </a:prstGeom>
        </p:spPr>
      </p:pic>
      <p:sp>
        <p:nvSpPr>
          <p:cNvPr id="14" name="Outcomes heading 1"/>
          <p:cNvSpPr txBox="1"/>
          <p:nvPr/>
        </p:nvSpPr>
        <p:spPr>
          <a:xfrm>
            <a:off x="1188720" y="1572768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Understand</a:t>
            </a:r>
          </a:p>
        </p:txBody>
      </p:sp>
      <p:sp>
        <p:nvSpPr>
          <p:cNvPr id="15" name="Outcomes number 1"/>
          <p:cNvSpPr/>
          <p:nvPr/>
        </p:nvSpPr>
        <p:spPr>
          <a:xfrm>
            <a:off x="2606040" y="16870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Outcomes outcome 1"/>
          <p:cNvSpPr txBox="1"/>
          <p:nvPr/>
        </p:nvSpPr>
        <p:spPr>
          <a:xfrm>
            <a:off x="3063240" y="15727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Explain the fundamentals of MMM, </a:t>
            </a:r>
            <a:r>
              <a:rPr sz="1300" b="0" lang="en-GB">
                <a:solidFill>
                  <a:schemeClr val="tx1"/>
                </a:solidFill>
              </a:rPr>
              <a:t>its strengths and limits</a:t>
            </a:r>
          </a:p>
        </p:txBody>
      </p:sp>
      <p:sp>
        <p:nvSpPr>
          <p:cNvPr id="17" name="Outcomes number 2"/>
          <p:cNvSpPr/>
          <p:nvPr/>
        </p:nvSpPr>
        <p:spPr>
          <a:xfrm>
            <a:off x="2606040" y="2226564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Outcomes outcome 2"/>
          <p:cNvSpPr txBox="1"/>
          <p:nvPr/>
        </p:nvSpPr>
        <p:spPr>
          <a:xfrm>
            <a:off x="3063240" y="2112264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Describe real-world applications </a:t>
            </a:r>
            <a:r>
              <a:rPr sz="1300" b="0" lang="en-GB">
                <a:solidFill>
                  <a:schemeClr val="tx1"/>
                </a:solidFill>
              </a:rPr>
              <a:t>of MMM in marketing</a:t>
            </a:r>
          </a:p>
        </p:txBody>
      </p:sp>
      <p:sp>
        <p:nvSpPr>
          <p:cNvPr id="19" name="Outcomes band 2"/>
          <p:cNvSpPr/>
          <p:nvPr/>
        </p:nvSpPr>
        <p:spPr>
          <a:xfrm>
            <a:off x="457200" y="2788920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utcomes bar 2"/>
          <p:cNvSpPr/>
          <p:nvPr/>
        </p:nvSpPr>
        <p:spPr>
          <a:xfrm>
            <a:off x="457200" y="2788920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Outcomes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6392"/>
            <a:ext cx="384048" cy="384048"/>
          </a:xfrm>
          <a:prstGeom prst="rect">
            <a:avLst/>
          </a:prstGeom>
        </p:spPr>
      </p:pic>
      <p:sp>
        <p:nvSpPr>
          <p:cNvPr id="22" name="Outcomes heading 2"/>
          <p:cNvSpPr txBox="1"/>
          <p:nvPr/>
        </p:nvSpPr>
        <p:spPr>
          <a:xfrm>
            <a:off x="1188720" y="2788920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Apply</a:t>
            </a:r>
          </a:p>
        </p:txBody>
      </p:sp>
      <p:sp>
        <p:nvSpPr>
          <p:cNvPr id="23" name="Outcomes number 3"/>
          <p:cNvSpPr/>
          <p:nvPr/>
        </p:nvSpPr>
        <p:spPr>
          <a:xfrm>
            <a:off x="2606040" y="2903220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Outcomes outcome 3"/>
          <p:cNvSpPr txBox="1"/>
          <p:nvPr/>
        </p:nvSpPr>
        <p:spPr>
          <a:xfrm>
            <a:off x="3063240" y="2788920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Apply MMM in Python </a:t>
            </a:r>
            <a:r>
              <a:rPr sz="1300" b="0" lang="en-GB">
                <a:solidFill>
                  <a:schemeClr val="tx1"/>
                </a:solidFill>
              </a:rPr>
              <a:t>to cross-sectional and longitudinal data</a:t>
            </a:r>
          </a:p>
        </p:txBody>
      </p:sp>
      <p:sp>
        <p:nvSpPr>
          <p:cNvPr id="25" name="Outcomes number 4"/>
          <p:cNvSpPr/>
          <p:nvPr/>
        </p:nvSpPr>
        <p:spPr>
          <a:xfrm>
            <a:off x="2606040" y="3442716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6" name="Outcomes outcome 4"/>
          <p:cNvSpPr txBox="1"/>
          <p:nvPr/>
        </p:nvSpPr>
        <p:spPr>
          <a:xfrm>
            <a:off x="3063240" y="3328416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Interpret results </a:t>
            </a:r>
            <a:r>
              <a:rPr sz="1300" b="0" lang="en-GB">
                <a:solidFill>
                  <a:schemeClr val="tx1"/>
                </a:solidFill>
              </a:rPr>
              <a:t>and turn them into marketing decisions</a:t>
            </a:r>
          </a:p>
        </p:txBody>
      </p:sp>
      <p:sp>
        <p:nvSpPr>
          <p:cNvPr id="27" name="Outcomes band 3"/>
          <p:cNvSpPr/>
          <p:nvPr/>
        </p:nvSpPr>
        <p:spPr>
          <a:xfrm>
            <a:off x="457200" y="4005072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utcomes bar 3"/>
          <p:cNvSpPr/>
          <p:nvPr/>
        </p:nvSpPr>
        <p:spPr>
          <a:xfrm>
            <a:off x="457200" y="4005072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Outcomes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384048" cy="384048"/>
          </a:xfrm>
          <a:prstGeom prst="rect">
            <a:avLst/>
          </a:prstGeom>
        </p:spPr>
      </p:pic>
      <p:sp>
        <p:nvSpPr>
          <p:cNvPr id="30" name="Outcomes heading 3"/>
          <p:cNvSpPr txBox="1"/>
          <p:nvPr/>
        </p:nvSpPr>
        <p:spPr>
          <a:xfrm>
            <a:off x="1188720" y="4005072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Transfer</a:t>
            </a:r>
          </a:p>
        </p:txBody>
      </p:sp>
      <p:sp>
        <p:nvSpPr>
          <p:cNvPr id="31" name="Outcomes number 5"/>
          <p:cNvSpPr/>
          <p:nvPr/>
        </p:nvSpPr>
        <p:spPr>
          <a:xfrm>
            <a:off x="2606040" y="41193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2" name="Outcomes outcome 5"/>
          <p:cNvSpPr txBox="1"/>
          <p:nvPr/>
        </p:nvSpPr>
        <p:spPr>
          <a:xfrm>
            <a:off x="3063240" y="4005072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Use AI tools </a:t>
            </a:r>
            <a:r>
              <a:rPr sz="1300" b="0" lang="en-GB">
                <a:solidFill>
                  <a:schemeClr val="tx1"/>
                </a:solidFill>
              </a:rPr>
              <a:t>for analysis and reporting, and check the output</a:t>
            </a:r>
          </a:p>
        </p:txBody>
      </p:sp>
      <p:sp>
        <p:nvSpPr>
          <p:cNvPr id="33" name="Outcomes number 6"/>
          <p:cNvSpPr/>
          <p:nvPr/>
        </p:nvSpPr>
        <p:spPr>
          <a:xfrm>
            <a:off x="2606040" y="46588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4" name="Outcomes outcome 6"/>
          <p:cNvSpPr txBox="1"/>
          <p:nvPr/>
        </p:nvSpPr>
        <p:spPr>
          <a:xfrm>
            <a:off x="3063240" y="45445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Think critically </a:t>
            </a:r>
            <a:r>
              <a:rPr sz="1300" b="0" lang="en-GB">
                <a:solidFill>
                  <a:schemeClr val="tx1"/>
                </a:solidFill>
              </a:rPr>
              <a:t>and work effectively in teams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Methods of teaching and learning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ession rhythm label"/>
          <p:cNvSpPr txBox="1"/>
          <p:nvPr/>
        </p:nvSpPr>
        <p:spPr>
          <a:xfrm>
            <a:off x="457200" y="11704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Every session</a:t>
            </a:r>
          </a:p>
        </p:txBody>
      </p:sp>
      <p:sp>
        <p:nvSpPr>
          <p:cNvPr id="11" name="Session rhythm step 1"/>
          <p:cNvSpPr/>
          <p:nvPr/>
        </p:nvSpPr>
        <p:spPr>
          <a:xfrm>
            <a:off x="457200" y="1481328"/>
            <a:ext cx="2139696" cy="65836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Concept lecture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2" name="Session rhythm step 2"/>
          <p:cNvSpPr/>
          <p:nvPr/>
        </p:nvSpPr>
        <p:spPr>
          <a:xfrm>
            <a:off x="2487168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90 min</a:t>
            </a:r>
          </a:p>
        </p:txBody>
      </p:sp>
      <p:sp>
        <p:nvSpPr>
          <p:cNvPr id="13" name="Session rhythm step 3"/>
          <p:cNvSpPr/>
          <p:nvPr/>
        </p:nvSpPr>
        <p:spPr>
          <a:xfrm>
            <a:off x="4517136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Team exercise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4" name="Session rhythm step 4"/>
          <p:cNvSpPr/>
          <p:nvPr/>
        </p:nvSpPr>
        <p:spPr>
          <a:xfrm>
            <a:off x="6547104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Online quiz</a:t>
            </a:r>
            <a:br/>
            <a:r>
              <a:rPr sz="1300" b="1" lang="en-GB">
                <a:solidFill>
                  <a:schemeClr val="tx2"/>
                </a:solidFill>
              </a:rPr>
              <a:t>not graded</a:t>
            </a:r>
          </a:p>
        </p:txBody>
      </p:sp>
      <p:sp>
        <p:nvSpPr>
          <p:cNvPr id="15" name="Between sessions card body"/>
          <p:cNvSpPr/>
          <p:nvPr/>
        </p:nvSpPr>
        <p:spPr>
          <a:xfrm>
            <a:off x="4572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etween sessions card header"/>
          <p:cNvSpPr/>
          <p:nvPr/>
        </p:nvSpPr>
        <p:spPr>
          <a:xfrm>
            <a:off x="4572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etween sessions card heading"/>
          <p:cNvSpPr txBox="1"/>
          <p:nvPr/>
        </p:nvSpPr>
        <p:spPr>
          <a:xfrm>
            <a:off x="5943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Between sessions</a:t>
            </a:r>
          </a:p>
        </p:txBody>
      </p:sp>
      <p:pic>
        <p:nvPicPr>
          <p:cNvPr id="18" name="Icon Between session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2404872"/>
            <a:ext cx="310896" cy="310896"/>
          </a:xfrm>
          <a:prstGeom prst="rect">
            <a:avLst/>
          </a:prstGeom>
        </p:spPr>
      </p:pic>
      <p:sp>
        <p:nvSpPr>
          <p:cNvPr id="19" name="Between sessions card text"/>
          <p:cNvSpPr txBox="1"/>
          <p:nvPr/>
        </p:nvSpPr>
        <p:spPr>
          <a:xfrm>
            <a:off x="6217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 chapters and materials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DataCamp courses and certificates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Coding exercises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Case study report in your group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  <p:sp>
        <p:nvSpPr>
          <p:cNvPr id="20" name="Card arrow"/>
          <p:cNvSpPr/>
          <p:nvPr/>
        </p:nvSpPr>
        <p:spPr>
          <a:xfrm>
            <a:off x="4425696" y="3200400"/>
            <a:ext cx="292608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n the classroom card body"/>
          <p:cNvSpPr/>
          <p:nvPr/>
        </p:nvSpPr>
        <p:spPr>
          <a:xfrm>
            <a:off x="48006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n the classroom card header"/>
          <p:cNvSpPr/>
          <p:nvPr/>
        </p:nvSpPr>
        <p:spPr>
          <a:xfrm>
            <a:off x="48006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n the classroom card heading"/>
          <p:cNvSpPr txBox="1"/>
          <p:nvPr/>
        </p:nvSpPr>
        <p:spPr>
          <a:xfrm>
            <a:off x="49377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In the classroom</a:t>
            </a:r>
          </a:p>
        </p:txBody>
      </p:sp>
      <p:pic>
        <p:nvPicPr>
          <p:cNvPr id="24" name="Icon In the classroo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25" name="In the classroom card text"/>
          <p:cNvSpPr txBox="1"/>
          <p:nvPr/>
        </p:nvSpPr>
        <p:spPr>
          <a:xfrm>
            <a:off x="49651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Five in-person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Laptop with Python, Positron, GitHub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AI-assisted coding, checked by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Guest speaker from industry</a:t>
            </a:r>
          </a:p>
        </p:txBody>
      </p:sp>
      <p:sp>
        <p:nvSpPr>
          <p:cNvPr id="26" name="Exam box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exam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645152"/>
            <a:ext cx="347472" cy="347472"/>
          </a:xfrm>
          <a:prstGeom prst="rect">
            <a:avLst/>
          </a:prstGeom>
        </p:spPr>
      </p:pic>
      <p:sp>
        <p:nvSpPr>
          <p:cNvPr id="28" name="Exam text"/>
          <p:cNvSpPr txBox="1"/>
          <p:nvPr/>
        </p:nvSpPr>
        <p:spPr>
          <a:xfrm>
            <a:off x="1143000" y="4572000"/>
            <a:ext cx="7406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exam, 60 minutes, paper and pencil, multiple-choice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377440"/>
                <a:gridCol w="475488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Session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Topic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Methods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Introduction and linear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Course content and style; registration and set-up (Python, Positron, GitHub, DataCamp); MMM fundamentals; OLS, model fit and interpretation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2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Log-log elasticities, dummy variables, non-linear effects, moderation and mediation, adstock and saturation, diagnostics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Logistic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Binary outcomes such as purchase or churn, odds ratios, model fit and classification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4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ARIMA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Trend, seasonality and autocorrelation; ARIMA and ARIMAX forecasts as the sales baseline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5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MMM tools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Bayesian MMM with PyMC-Marketing and Google Meridian; budget optimisation across channels and countries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Assessment strategy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hare 1"/>
          <p:cNvSpPr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hare label 1"/>
          <p:cNvSpPr txBox="1"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2" name="Share 2"/>
          <p:cNvSpPr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hare label 2"/>
          <p:cNvSpPr txBox="1"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4" name="Share 3"/>
          <p:cNvSpPr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hare label 3"/>
          <p:cNvSpPr txBox="1"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30 %</a:t>
            </a:r>
          </a:p>
        </p:txBody>
      </p:sp>
      <p:sp>
        <p:nvSpPr>
          <p:cNvPr id="16" name="Share 4"/>
          <p:cNvSpPr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hare label 4"/>
          <p:cNvSpPr txBox="1"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30 %</a:t>
            </a:r>
          </a:p>
        </p:txBody>
      </p:sp>
      <p:sp>
        <p:nvSpPr>
          <p:cNvPr id="18" name="Component card 1"/>
          <p:cNvSpPr/>
          <p:nvPr/>
        </p:nvSpPr>
        <p:spPr>
          <a:xfrm>
            <a:off x="45720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omponent strip 1"/>
          <p:cNvSpPr/>
          <p:nvPr/>
        </p:nvSpPr>
        <p:spPr>
          <a:xfrm>
            <a:off x="457200" y="1874520"/>
            <a:ext cx="1954530" cy="73152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mponent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57400"/>
            <a:ext cx="365760" cy="365760"/>
          </a:xfrm>
          <a:prstGeom prst="rect">
            <a:avLst/>
          </a:prstGeom>
        </p:spPr>
      </p:pic>
      <p:sp>
        <p:nvSpPr>
          <p:cNvPr id="21" name="Component weight 1"/>
          <p:cNvSpPr txBox="1"/>
          <p:nvPr/>
        </p:nvSpPr>
        <p:spPr>
          <a:xfrm>
            <a:off x="126873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2" name="Component text 1"/>
          <p:cNvSpPr txBox="1"/>
          <p:nvPr/>
        </p:nvSpPr>
        <p:spPr>
          <a:xfrm>
            <a:off x="59436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Online certificates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DataCamp, 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3" name="Component card 2"/>
          <p:cNvSpPr/>
          <p:nvPr/>
        </p:nvSpPr>
        <p:spPr>
          <a:xfrm>
            <a:off x="254889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omponent strip 2"/>
          <p:cNvSpPr/>
          <p:nvPr/>
        </p:nvSpPr>
        <p:spPr>
          <a:xfrm>
            <a:off x="2548890" y="1874520"/>
            <a:ext cx="195453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Icon component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050" y="2057400"/>
            <a:ext cx="365760" cy="365760"/>
          </a:xfrm>
          <a:prstGeom prst="rect">
            <a:avLst/>
          </a:prstGeom>
        </p:spPr>
      </p:pic>
      <p:sp>
        <p:nvSpPr>
          <p:cNvPr id="26" name="Component weight 2"/>
          <p:cNvSpPr txBox="1"/>
          <p:nvPr/>
        </p:nvSpPr>
        <p:spPr>
          <a:xfrm>
            <a:off x="336042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7" name="Component text 2"/>
          <p:cNvSpPr txBox="1"/>
          <p:nvPr/>
        </p:nvSpPr>
        <p:spPr>
          <a:xfrm>
            <a:off x="268605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Coding exercises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8" name="Component card 3"/>
          <p:cNvSpPr/>
          <p:nvPr/>
        </p:nvSpPr>
        <p:spPr>
          <a:xfrm>
            <a:off x="464058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Component strip 3"/>
          <p:cNvSpPr/>
          <p:nvPr/>
        </p:nvSpPr>
        <p:spPr>
          <a:xfrm>
            <a:off x="4640580" y="1874520"/>
            <a:ext cx="1954530" cy="7315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component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2057400"/>
            <a:ext cx="365760" cy="365760"/>
          </a:xfrm>
          <a:prstGeom prst="rect">
            <a:avLst/>
          </a:prstGeom>
        </p:spPr>
      </p:pic>
      <p:sp>
        <p:nvSpPr>
          <p:cNvPr id="31" name="Component weight 3"/>
          <p:cNvSpPr txBox="1"/>
          <p:nvPr/>
        </p:nvSpPr>
        <p:spPr>
          <a:xfrm>
            <a:off x="545211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2" name="Component text 3"/>
          <p:cNvSpPr txBox="1"/>
          <p:nvPr/>
        </p:nvSpPr>
        <p:spPr>
          <a:xfrm>
            <a:off x="477774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Written exam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60 minutes, multiple choice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33" name="Component card 4"/>
          <p:cNvSpPr/>
          <p:nvPr/>
        </p:nvSpPr>
        <p:spPr>
          <a:xfrm>
            <a:off x="673227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omponent strip 4"/>
          <p:cNvSpPr/>
          <p:nvPr/>
        </p:nvSpPr>
        <p:spPr>
          <a:xfrm>
            <a:off x="6732270" y="1874520"/>
            <a:ext cx="1954530" cy="73152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Icon component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430" y="2057400"/>
            <a:ext cx="365760" cy="365760"/>
          </a:xfrm>
          <a:prstGeom prst="rect">
            <a:avLst/>
          </a:prstGeom>
        </p:spPr>
      </p:pic>
      <p:sp>
        <p:nvSpPr>
          <p:cNvPr id="36" name="Component weight 4"/>
          <p:cNvSpPr txBox="1"/>
          <p:nvPr/>
        </p:nvSpPr>
        <p:spPr>
          <a:xfrm>
            <a:off x="754380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7" name="Component text 4"/>
          <p:cNvSpPr txBox="1"/>
          <p:nvPr/>
        </p:nvSpPr>
        <p:spPr>
          <a:xfrm>
            <a:off x="686943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Case study report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report, groups of max. 4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Group</a:t>
            </a:r>
          </a:p>
        </p:txBody>
      </p:sp>
      <p:sp>
        <p:nvSpPr>
          <p:cNvPr id="38" name="Scale label"/>
          <p:cNvSpPr txBox="1"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Grading scale (WU)</a:t>
            </a:r>
          </a:p>
        </p:txBody>
      </p:sp>
      <p:sp>
        <p:nvSpPr>
          <p:cNvPr id="39" name="Grade 1"/>
          <p:cNvSpPr/>
          <p:nvPr/>
        </p:nvSpPr>
        <p:spPr>
          <a:xfrm>
            <a:off x="457200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Grade text 1"/>
          <p:cNvSpPr txBox="1"/>
          <p:nvPr/>
        </p:nvSpPr>
        <p:spPr>
          <a:xfrm>
            <a:off x="548640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1  </a:t>
            </a:r>
            <a:r>
              <a:rPr sz="1300" b="1" lang="en-GB">
                <a:solidFill>
                  <a:schemeClr val="bg1"/>
                </a:solidFill>
              </a:rPr>
              <a:t>Excellent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90 % and above</a:t>
            </a:r>
          </a:p>
        </p:txBody>
      </p:sp>
      <p:sp>
        <p:nvSpPr>
          <p:cNvPr id="41" name="Grade 2"/>
          <p:cNvSpPr/>
          <p:nvPr/>
        </p:nvSpPr>
        <p:spPr>
          <a:xfrm>
            <a:off x="2121408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Grade text 2"/>
          <p:cNvSpPr txBox="1"/>
          <p:nvPr/>
        </p:nvSpPr>
        <p:spPr>
          <a:xfrm>
            <a:off x="2212848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2  </a:t>
            </a:r>
            <a:r>
              <a:rPr sz="1300" b="1" lang="en-GB">
                <a:solidFill>
                  <a:schemeClr val="bg1"/>
                </a:solidFill>
              </a:rPr>
              <a:t>Good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80 to 89 %</a:t>
            </a:r>
          </a:p>
        </p:txBody>
      </p:sp>
      <p:sp>
        <p:nvSpPr>
          <p:cNvPr id="43" name="Grade 3"/>
          <p:cNvSpPr/>
          <p:nvPr/>
        </p:nvSpPr>
        <p:spPr>
          <a:xfrm>
            <a:off x="3785616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Grade text 3"/>
          <p:cNvSpPr txBox="1"/>
          <p:nvPr/>
        </p:nvSpPr>
        <p:spPr>
          <a:xfrm>
            <a:off x="3877056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3  </a:t>
            </a:r>
            <a:r>
              <a:rPr sz="1300" b="1" lang="en-GB">
                <a:solidFill>
                  <a:schemeClr val="bg1"/>
                </a:solidFill>
              </a:rPr>
              <a:t>Satisfactory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70 to 79 %</a:t>
            </a:r>
          </a:p>
        </p:txBody>
      </p:sp>
      <p:sp>
        <p:nvSpPr>
          <p:cNvPr id="45" name="Grade 4"/>
          <p:cNvSpPr/>
          <p:nvPr/>
        </p:nvSpPr>
        <p:spPr>
          <a:xfrm>
            <a:off x="5449824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Grade text 4"/>
          <p:cNvSpPr txBox="1"/>
          <p:nvPr/>
        </p:nvSpPr>
        <p:spPr>
          <a:xfrm>
            <a:off x="5541264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4  </a:t>
            </a:r>
            <a:r>
              <a:rPr sz="1300" b="1" lang="en-GB">
                <a:solidFill>
                  <a:schemeClr val="bg1"/>
                </a:solidFill>
              </a:rPr>
              <a:t>Sufficient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60 to 69 %</a:t>
            </a:r>
          </a:p>
        </p:txBody>
      </p:sp>
      <p:sp>
        <p:nvSpPr>
          <p:cNvPr id="47" name="Grade 5"/>
          <p:cNvSpPr/>
          <p:nvPr/>
        </p:nvSpPr>
        <p:spPr>
          <a:xfrm>
            <a:off x="7114032" y="4023360"/>
            <a:ext cx="1572768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Grade text 5"/>
          <p:cNvSpPr txBox="1"/>
          <p:nvPr/>
        </p:nvSpPr>
        <p:spPr>
          <a:xfrm>
            <a:off x="7205472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5  </a:t>
            </a:r>
            <a:r>
              <a:rPr sz="1300" b="1" lang="en-GB">
                <a:solidFill>
                  <a:schemeClr val="tx2"/>
                </a:solidFill>
              </a:rPr>
              <a:t>Fail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2"/>
                </a:solidFill>
              </a:rPr>
              <a:t>below 60 %</a:t>
            </a:r>
          </a:p>
        </p:txBody>
      </p:sp>
      <p:sp>
        <p:nvSpPr>
          <p:cNvPr id="49" name="Rules line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Attendance: </a:t>
            </a:r>
            <a:r>
              <a:rPr sz="1300" b="0" lang="en-GB">
                <a:solidFill>
                  <a:schemeClr val="tx1"/>
                </a:solidFill>
              </a:rPr>
              <a:t>at least 80 % of sessions.   </a:t>
            </a:r>
            <a:r>
              <a:rPr sz="1300" b="1" lang="en-GB">
                <a:solidFill>
                  <a:schemeClr val="tx2"/>
                </a:solidFill>
              </a:rPr>
              <a:t>AI tools: </a:t>
            </a:r>
            <a:r>
              <a:rPr sz="1300" b="0" lang="en-GB">
                <a:solidFill>
                  <a:schemeClr val="tx1"/>
                </a:solidFill>
              </a:rPr>
              <a:t>expected; you own every number you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Software and set-up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Tool card 1"/>
          <p:cNvSpPr/>
          <p:nvPr/>
        </p:nvSpPr>
        <p:spPr>
          <a:xfrm>
            <a:off x="457200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tool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411480" cy="411480"/>
          </a:xfrm>
          <a:prstGeom prst="rect">
            <a:avLst/>
          </a:prstGeom>
        </p:spPr>
      </p:pic>
      <p:sp>
        <p:nvSpPr>
          <p:cNvPr id="12" name="Tool text 1"/>
          <p:cNvSpPr txBox="1"/>
          <p:nvPr/>
        </p:nvSpPr>
        <p:spPr>
          <a:xfrm>
            <a:off x="594360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Python 3.14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language for all analyses</a:t>
            </a:r>
          </a:p>
        </p:txBody>
      </p:sp>
      <p:sp>
        <p:nvSpPr>
          <p:cNvPr id="13" name="Tool card 2"/>
          <p:cNvSpPr/>
          <p:nvPr/>
        </p:nvSpPr>
        <p:spPr>
          <a:xfrm>
            <a:off x="2125066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tool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226" y="1371600"/>
            <a:ext cx="411480" cy="411480"/>
          </a:xfrm>
          <a:prstGeom prst="rect">
            <a:avLst/>
          </a:prstGeom>
        </p:spPr>
      </p:pic>
      <p:sp>
        <p:nvSpPr>
          <p:cNvPr id="15" name="Tool text 2"/>
          <p:cNvSpPr txBox="1"/>
          <p:nvPr/>
        </p:nvSpPr>
        <p:spPr>
          <a:xfrm>
            <a:off x="2262226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Positron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editor where you write, run and see results</a:t>
            </a:r>
          </a:p>
        </p:txBody>
      </p:sp>
      <p:sp>
        <p:nvSpPr>
          <p:cNvPr id="16" name="Tool card 3"/>
          <p:cNvSpPr/>
          <p:nvPr/>
        </p:nvSpPr>
        <p:spPr>
          <a:xfrm>
            <a:off x="3792931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tool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0091" y="1371600"/>
            <a:ext cx="411480" cy="411480"/>
          </a:xfrm>
          <a:prstGeom prst="rect">
            <a:avLst/>
          </a:prstGeom>
        </p:spPr>
      </p:pic>
      <p:sp>
        <p:nvSpPr>
          <p:cNvPr id="18" name="Tool text 3"/>
          <p:cNvSpPr txBox="1"/>
          <p:nvPr/>
        </p:nvSpPr>
        <p:spPr>
          <a:xfrm>
            <a:off x="3930091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Quarto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turns code and text into reports and slides</a:t>
            </a:r>
          </a:p>
        </p:txBody>
      </p:sp>
      <p:sp>
        <p:nvSpPr>
          <p:cNvPr id="19" name="Tool card 4"/>
          <p:cNvSpPr/>
          <p:nvPr/>
        </p:nvSpPr>
        <p:spPr>
          <a:xfrm>
            <a:off x="5460797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tool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7957" y="1371600"/>
            <a:ext cx="411480" cy="411480"/>
          </a:xfrm>
          <a:prstGeom prst="rect">
            <a:avLst/>
          </a:prstGeom>
        </p:spPr>
      </p:pic>
      <p:sp>
        <p:nvSpPr>
          <p:cNvPr id="21" name="Tool text 4"/>
          <p:cNvSpPr txBox="1"/>
          <p:nvPr/>
        </p:nvSpPr>
        <p:spPr>
          <a:xfrm>
            <a:off x="5597957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GitHub Desktop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versions and shares your work</a:t>
            </a:r>
          </a:p>
        </p:txBody>
      </p:sp>
      <p:sp>
        <p:nvSpPr>
          <p:cNvPr id="22" name="Tool card 5"/>
          <p:cNvSpPr/>
          <p:nvPr/>
        </p:nvSpPr>
        <p:spPr>
          <a:xfrm>
            <a:off x="7128662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tool 5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5822" y="1371600"/>
            <a:ext cx="411480" cy="411480"/>
          </a:xfrm>
          <a:prstGeom prst="rect">
            <a:avLst/>
          </a:prstGeom>
        </p:spPr>
      </p:pic>
      <p:sp>
        <p:nvSpPr>
          <p:cNvPr id="24" name="Tool text 5"/>
          <p:cNvSpPr txBox="1"/>
          <p:nvPr/>
        </p:nvSpPr>
        <p:spPr>
          <a:xfrm>
            <a:off x="7265822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Posit Assistant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AI inside Positron, with GitHub Copilot</a:t>
            </a:r>
          </a:p>
        </p:txBody>
      </p:sp>
      <p:sp>
        <p:nvSpPr>
          <p:cNvPr id="25" name="Set-up label"/>
          <p:cNvSpPr txBox="1"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Set-up in Session 1: five steps</a:t>
            </a:r>
          </a:p>
        </p:txBody>
      </p:sp>
      <p:sp>
        <p:nvSpPr>
          <p:cNvPr id="26" name="Set-up steps step 1"/>
          <p:cNvSpPr/>
          <p:nvPr/>
        </p:nvSpPr>
        <p:spPr>
          <a:xfrm>
            <a:off x="457200" y="3429000"/>
            <a:ext cx="1733702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Register</a:t>
            </a:r>
            <a:br/>
            <a:r>
              <a:rPr sz="13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27" name="Set-up steps step 2"/>
          <p:cNvSpPr/>
          <p:nvPr/>
        </p:nvSpPr>
        <p:spPr>
          <a:xfrm>
            <a:off x="2081174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Install</a:t>
            </a:r>
            <a:br/>
            <a:r>
              <a:rPr sz="1300" b="1" lang="en-GB">
                <a:solidFill>
                  <a:schemeClr val="tx2"/>
                </a:solidFill>
              </a:rPr>
              <a:t>the tools</a:t>
            </a:r>
          </a:p>
        </p:txBody>
      </p:sp>
      <p:sp>
        <p:nvSpPr>
          <p:cNvPr id="28" name="Set-up steps step 3"/>
          <p:cNvSpPr/>
          <p:nvPr/>
        </p:nvSpPr>
        <p:spPr>
          <a:xfrm>
            <a:off x="3705149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Clone the</a:t>
            </a:r>
            <a:br/>
            <a:r>
              <a:rPr sz="1300" b="1" lang="en-GB">
                <a:solidFill>
                  <a:schemeClr val="tx2"/>
                </a:solidFill>
              </a:rPr>
              <a:t>repo</a:t>
            </a:r>
          </a:p>
        </p:txBody>
      </p:sp>
      <p:sp>
        <p:nvSpPr>
          <p:cNvPr id="29" name="Set-up steps step 4"/>
          <p:cNvSpPr/>
          <p:nvPr/>
        </p:nvSpPr>
        <p:spPr>
          <a:xfrm>
            <a:off x="5329123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Set up the</a:t>
            </a:r>
            <a:br/>
            <a:r>
              <a:rPr sz="1300" b="1" lang="en-GB">
                <a:solidFill>
                  <a:schemeClr val="tx2"/>
                </a:solidFill>
              </a:rPr>
              <a:t>project</a:t>
            </a:r>
          </a:p>
        </p:txBody>
      </p:sp>
      <p:sp>
        <p:nvSpPr>
          <p:cNvPr id="30" name="Set-up steps step 5"/>
          <p:cNvSpPr/>
          <p:nvPr/>
        </p:nvSpPr>
        <p:spPr>
          <a:xfrm>
            <a:off x="6953098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Run the</a:t>
            </a:r>
            <a:br/>
            <a:r>
              <a:rPr sz="1300" b="1" lang="en-GB">
                <a:solidFill>
                  <a:schemeClr val="bg1"/>
                </a:solidFill>
              </a:rPr>
              <a:t>check</a:t>
            </a:r>
          </a:p>
        </p:txBody>
      </p:sp>
      <p:sp>
        <p:nvSpPr>
          <p:cNvPr id="31" name="Set-up callout"/>
          <p:cNvSpPr/>
          <p:nvPr/>
        </p:nvSpPr>
        <p:spPr>
          <a:xfrm>
            <a:off x="457200" y="4343400"/>
            <a:ext cx="8229600" cy="7315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set-up in class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4489704"/>
            <a:ext cx="438912" cy="438912"/>
          </a:xfrm>
          <a:prstGeom prst="rect">
            <a:avLst/>
          </a:prstGeom>
        </p:spPr>
      </p:pic>
      <p:sp>
        <p:nvSpPr>
          <p:cNvPr id="33" name="Set-up text"/>
          <p:cNvSpPr txBox="1"/>
          <p:nvPr/>
        </p:nvSpPr>
        <p:spPr>
          <a:xfrm>
            <a:off x="1280160" y="434340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chemeClr val="tx2"/>
                </a:solidFill>
              </a:rPr>
              <a:t>Together in Session 1: </a:t>
            </a:r>
            <a:r>
              <a:rPr sz="1300" b="0" lang="en-GB">
                <a:solidFill>
                  <a:schemeClr val="tx1"/>
                </a:solidFill>
              </a:rPr>
              <a:t>bring your laptop and charger, no preparation needed.</a:t>
            </a:r>
          </a:p>
          <a:p>
            <a:pPr algn="l">
              <a:spcAft>
                <a:spcPts val="200"/>
              </a:spcAft>
            </a:pPr>
            <a:r>
              <a:rPr sz="1300" b="1" lang="en-GB">
                <a:solidFill>
                  <a:schemeClr val="tx2"/>
                </a:solidFill>
              </a:rPr>
              <a:t>Course repository: </a:t>
            </a:r>
            <a:r>
              <a:rPr sz="1200" b="0" lang="en-GB">
                <a:solidFill>
                  <a:schemeClr val="accent1"/>
                </a:solidFill>
                <a:hlinkClick r:id="rId9"/>
              </a:rPr>
              <a:t>arnefloh-wu/international-marketing-analytics-teaching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Online certificates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tat bar 1"/>
          <p:cNvSpPr/>
          <p:nvPr/>
        </p:nvSpPr>
        <p:spPr>
          <a:xfrm>
            <a:off x="457200" y="12801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tat figure 1"/>
          <p:cNvSpPr txBox="1"/>
          <p:nvPr/>
        </p:nvSpPr>
        <p:spPr>
          <a:xfrm>
            <a:off x="685800" y="12801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12" name="Stat text 1"/>
          <p:cNvSpPr txBox="1"/>
          <p:nvPr/>
        </p:nvSpPr>
        <p:spPr>
          <a:xfrm>
            <a:off x="2377440" y="12801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DataCamp courses. </a:t>
            </a:r>
            <a:r>
              <a:rPr sz="1300" b="0" lang="en-GB">
                <a:solidFill>
                  <a:schemeClr val="tx1"/>
                </a:solidFill>
              </a:rPr>
              <a:t>Python courses assigned on Canvas, each ending with a certificate.</a:t>
            </a:r>
          </a:p>
        </p:txBody>
      </p:sp>
      <p:sp>
        <p:nvSpPr>
          <p:cNvPr id="13" name="Stat bar 2"/>
          <p:cNvSpPr/>
          <p:nvPr/>
        </p:nvSpPr>
        <p:spPr>
          <a:xfrm>
            <a:off x="457200" y="21945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tat figure 2"/>
          <p:cNvSpPr txBox="1"/>
          <p:nvPr/>
        </p:nvSpPr>
        <p:spPr>
          <a:xfrm>
            <a:off x="685800" y="21945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</p:txBody>
      </p:sp>
      <p:sp>
        <p:nvSpPr>
          <p:cNvPr id="15" name="Stat text 2"/>
          <p:cNvSpPr txBox="1"/>
          <p:nvPr/>
        </p:nvSpPr>
        <p:spPr>
          <a:xfrm>
            <a:off x="2377440" y="21945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Per certificate. </a:t>
            </a:r>
            <a:r>
              <a:rPr sz="1300" b="0" lang="en-GB">
                <a:solidFill>
                  <a:schemeClr val="tx1"/>
                </a:solidFill>
              </a:rPr>
              <a:t>Upload each certificate on Canvas by its deadline.</a:t>
            </a:r>
          </a:p>
        </p:txBody>
      </p:sp>
      <p:sp>
        <p:nvSpPr>
          <p:cNvPr id="16" name="Stat bar 3"/>
          <p:cNvSpPr/>
          <p:nvPr/>
        </p:nvSpPr>
        <p:spPr>
          <a:xfrm>
            <a:off x="457200" y="31089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tat figure 3"/>
          <p:cNvSpPr txBox="1"/>
          <p:nvPr/>
        </p:nvSpPr>
        <p:spPr>
          <a:xfrm>
            <a:off x="685800" y="31089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18" name="Stat text 3"/>
          <p:cNvSpPr txBox="1"/>
          <p:nvPr/>
        </p:nvSpPr>
        <p:spPr>
          <a:xfrm>
            <a:off x="2377440" y="31089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In total. </a:t>
            </a:r>
            <a:r>
              <a:rPr sz="1300" b="0" lang="en-GB">
                <a:solidFill>
                  <a:schemeClr val="tx1"/>
                </a:solidFill>
              </a:rPr>
              <a:t>Together the four certificates count one fifth of the final grade.</a:t>
            </a:r>
          </a:p>
        </p:txBody>
      </p:sp>
      <p:sp>
        <p:nvSpPr>
          <p:cNvPr id="19" name="Deadline callout"/>
          <p:cNvSpPr/>
          <p:nvPr/>
        </p:nvSpPr>
        <p:spPr>
          <a:xfrm>
            <a:off x="457200" y="411480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ertificates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502920" cy="502920"/>
          </a:xfrm>
          <a:prstGeom prst="rect">
            <a:avLst/>
          </a:prstGeom>
        </p:spPr>
      </p:pic>
      <p:sp>
        <p:nvSpPr>
          <p:cNvPr id="21" name="Deadline text"/>
          <p:cNvSpPr txBox="1"/>
          <p:nvPr/>
        </p:nvSpPr>
        <p:spPr>
          <a:xfrm>
            <a:off x="1417320" y="4114800"/>
            <a:ext cx="7086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Deadlines: </a:t>
            </a:r>
            <a:r>
              <a:rPr sz="1300" b="0" lang="en-GB">
                <a:solidFill>
                  <a:schemeClr val="tx1"/>
                </a:solidFill>
              </a:rPr>
              <a:t>the date for each certificate is on Canvas. The courses build the Python basics you need for the labs, so start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Coding exercises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ding tile 1"/>
          <p:cNvSpPr/>
          <p:nvPr/>
        </p:nvSpPr>
        <p:spPr>
          <a:xfrm>
            <a:off x="45720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ding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ding text 1"/>
          <p:cNvSpPr txBox="1"/>
          <p:nvPr/>
        </p:nvSpPr>
        <p:spPr>
          <a:xfrm>
            <a:off x="68580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exercises during the course</a:t>
            </a:r>
          </a:p>
        </p:txBody>
      </p:sp>
      <p:sp>
        <p:nvSpPr>
          <p:cNvPr id="13" name="Coding tile 2"/>
          <p:cNvSpPr/>
          <p:nvPr/>
        </p:nvSpPr>
        <p:spPr>
          <a:xfrm>
            <a:off x="324612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oding bar 2"/>
          <p:cNvSpPr/>
          <p:nvPr/>
        </p:nvSpPr>
        <p:spPr>
          <a:xfrm>
            <a:off x="324612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oding text 2"/>
          <p:cNvSpPr txBox="1"/>
          <p:nvPr/>
        </p:nvSpPr>
        <p:spPr>
          <a:xfrm>
            <a:off x="347472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per exercise</a:t>
            </a:r>
          </a:p>
        </p:txBody>
      </p:sp>
      <p:sp>
        <p:nvSpPr>
          <p:cNvPr id="16" name="Coding tile 3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oding bar 3"/>
          <p:cNvSpPr/>
          <p:nvPr/>
        </p:nvSpPr>
        <p:spPr>
          <a:xfrm>
            <a:off x="603504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oding text 3"/>
          <p:cNvSpPr txBox="1"/>
          <p:nvPr/>
        </p:nvSpPr>
        <p:spPr>
          <a:xfrm>
            <a:off x="626364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oding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How it works</a:t>
            </a:r>
          </a:p>
        </p:txBody>
      </p:sp>
      <p:sp>
        <p:nvSpPr>
          <p:cNvPr id="20" name="Coding steps step 1"/>
          <p:cNvSpPr/>
          <p:nvPr/>
        </p:nvSpPr>
        <p:spPr>
          <a:xfrm>
            <a:off x="457200" y="2651760"/>
            <a:ext cx="2139696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in class</a:t>
            </a:r>
          </a:p>
        </p:txBody>
      </p:sp>
      <p:sp>
        <p:nvSpPr>
          <p:cNvPr id="21" name="Coding steps step 2"/>
          <p:cNvSpPr/>
          <p:nvPr/>
        </p:nvSpPr>
        <p:spPr>
          <a:xfrm>
            <a:off x="2487168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Apply the code</a:t>
            </a:r>
            <a:br/>
            <a:r>
              <a:rPr sz="1300" b="1" lang="en-GB">
                <a:solidFill>
                  <a:schemeClr val="tx2"/>
                </a:solidFill>
              </a:rPr>
              <a:t>to a similar task</a:t>
            </a:r>
          </a:p>
        </p:txBody>
      </p:sp>
      <p:sp>
        <p:nvSpPr>
          <p:cNvPr id="22" name="Coding steps step 3"/>
          <p:cNvSpPr/>
          <p:nvPr/>
        </p:nvSpPr>
        <p:spPr>
          <a:xfrm>
            <a:off x="4517136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Submit on</a:t>
            </a:r>
            <a:br/>
            <a:r>
              <a:rPr sz="1300" b="1" lang="en-GB">
                <a:solidFill>
                  <a:schemeClr val="tx2"/>
                </a:solidFill>
              </a:rPr>
              <a:t>Canvas</a:t>
            </a:r>
          </a:p>
        </p:txBody>
      </p:sp>
      <p:sp>
        <p:nvSpPr>
          <p:cNvPr id="23" name="Coding steps step 4"/>
          <p:cNvSpPr/>
          <p:nvPr/>
        </p:nvSpPr>
        <p:spPr>
          <a:xfrm>
            <a:off x="6547104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Feedback</a:t>
            </a:r>
            <a:br/>
            <a:r>
              <a:rPr sz="1300" b="1" lang="en-GB">
                <a:solidFill>
                  <a:schemeClr val="tx2"/>
                </a:solidFill>
              </a:rPr>
              <a:t>and grade</a:t>
            </a:r>
          </a:p>
        </p:txBody>
      </p:sp>
      <p:sp>
        <p:nvSpPr>
          <p:cNvPr id="24" name="Coding rules card body"/>
          <p:cNvSpPr/>
          <p:nvPr/>
        </p:nvSpPr>
        <p:spPr>
          <a:xfrm>
            <a:off x="457200" y="3931920"/>
            <a:ext cx="8229600" cy="1143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oding rules card header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oding rules card heading"/>
          <p:cNvSpPr txBox="1"/>
          <p:nvPr/>
        </p:nvSpPr>
        <p:spPr>
          <a:xfrm>
            <a:off x="594360" y="3520440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Rules</a:t>
            </a:r>
          </a:p>
        </p:txBody>
      </p:sp>
      <p:pic>
        <p:nvPicPr>
          <p:cNvPr id="27" name="Icon Coding rule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570732"/>
            <a:ext cx="310896" cy="310896"/>
          </a:xfrm>
          <a:prstGeom prst="rect">
            <a:avLst/>
          </a:prstGeom>
        </p:spPr>
      </p:pic>
      <p:sp>
        <p:nvSpPr>
          <p:cNvPr id="28" name="Coding rules card text"/>
          <p:cNvSpPr txBox="1"/>
          <p:nvPr/>
        </p:nvSpPr>
        <p:spPr>
          <a:xfrm>
            <a:off x="621792" y="4069080"/>
            <a:ext cx="792784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Submit your Python or Quarto file; it must run from top to bottom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 assistants are allowed; add a short prompt log at the end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 work: discuss ideas, but write and check your own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Written exam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Exam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xam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Exam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3" name="Exam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Exam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Exam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60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minutes exam time</a:t>
            </a:r>
          </a:p>
        </p:txBody>
      </p:sp>
      <p:sp>
        <p:nvSpPr>
          <p:cNvPr id="16" name="Exam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Exam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Exam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exam at the end of the course</a:t>
            </a:r>
          </a:p>
        </p:txBody>
      </p:sp>
      <p:sp>
        <p:nvSpPr>
          <p:cNvPr id="19" name="Exam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Exam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Exam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MC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</p:txBody>
      </p:sp>
      <p:sp>
        <p:nvSpPr>
          <p:cNvPr id="22" name="Exam format card body"/>
          <p:cNvSpPr/>
          <p:nvPr/>
        </p:nvSpPr>
        <p:spPr>
          <a:xfrm>
            <a:off x="45720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Exam format card header"/>
          <p:cNvSpPr/>
          <p:nvPr/>
        </p:nvSpPr>
        <p:spPr>
          <a:xfrm>
            <a:off x="45720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Exam format card heading"/>
          <p:cNvSpPr txBox="1"/>
          <p:nvPr/>
        </p:nvSpPr>
        <p:spPr>
          <a:xfrm>
            <a:off x="59436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Format</a:t>
            </a:r>
          </a:p>
        </p:txBody>
      </p:sp>
      <p:pic>
        <p:nvPicPr>
          <p:cNvPr id="25" name="Icon Exam format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2404872"/>
            <a:ext cx="310896" cy="310896"/>
          </a:xfrm>
          <a:prstGeom prst="rect">
            <a:avLst/>
          </a:prstGeom>
        </p:spPr>
      </p:pic>
      <p:sp>
        <p:nvSpPr>
          <p:cNvPr id="26" name="Exam format card text"/>
          <p:cNvSpPr txBox="1"/>
          <p:nvPr/>
        </p:nvSpPr>
        <p:spPr>
          <a:xfrm>
            <a:off x="62179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Paper and pencil, 60 minutes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Individual, closed book</a:t>
            </a:r>
          </a:p>
        </p:txBody>
      </p:sp>
      <p:sp>
        <p:nvSpPr>
          <p:cNvPr id="27" name="Exam content card body"/>
          <p:cNvSpPr/>
          <p:nvPr/>
        </p:nvSpPr>
        <p:spPr>
          <a:xfrm>
            <a:off x="324612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Exam content card header"/>
          <p:cNvSpPr/>
          <p:nvPr/>
        </p:nvSpPr>
        <p:spPr>
          <a:xfrm>
            <a:off x="324612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Exam content card heading"/>
          <p:cNvSpPr txBox="1"/>
          <p:nvPr/>
        </p:nvSpPr>
        <p:spPr>
          <a:xfrm>
            <a:off x="338328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Content</a:t>
            </a:r>
          </a:p>
        </p:txBody>
      </p:sp>
      <p:pic>
        <p:nvPicPr>
          <p:cNvPr id="30" name="Icon Exam content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2404872"/>
            <a:ext cx="310896" cy="310896"/>
          </a:xfrm>
          <a:prstGeom prst="rect">
            <a:avLst/>
          </a:prstGeom>
        </p:spPr>
      </p:pic>
      <p:sp>
        <p:nvSpPr>
          <p:cNvPr id="31" name="Exam content card text"/>
          <p:cNvSpPr txBox="1"/>
          <p:nvPr/>
        </p:nvSpPr>
        <p:spPr>
          <a:xfrm>
            <a:off x="341071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All five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Concepts and interpretation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Reading model output, not coding</a:t>
            </a:r>
          </a:p>
        </p:txBody>
      </p:sp>
      <p:sp>
        <p:nvSpPr>
          <p:cNvPr id="32" name="Exam preparation card body"/>
          <p:cNvSpPr/>
          <p:nvPr/>
        </p:nvSpPr>
        <p:spPr>
          <a:xfrm>
            <a:off x="603504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Exam preparation card header"/>
          <p:cNvSpPr/>
          <p:nvPr/>
        </p:nvSpPr>
        <p:spPr>
          <a:xfrm>
            <a:off x="603504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Exam preparation card heading"/>
          <p:cNvSpPr txBox="1"/>
          <p:nvPr/>
        </p:nvSpPr>
        <p:spPr>
          <a:xfrm>
            <a:off x="617220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Preparation</a:t>
            </a:r>
          </a:p>
        </p:txBody>
      </p:sp>
      <p:pic>
        <p:nvPicPr>
          <p:cNvPr id="35" name="Icon Exam preparation card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36" name="Exam preparation card text"/>
          <p:cNvSpPr txBox="1"/>
          <p:nvPr/>
        </p:nvSpPr>
        <p:spPr>
          <a:xfrm>
            <a:off x="619963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Online quiz after every session (not graded)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Session materials and book chapters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Case study: written report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ase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ase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se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 per group</a:t>
            </a:r>
          </a:p>
        </p:txBody>
      </p:sp>
      <p:sp>
        <p:nvSpPr>
          <p:cNvPr id="13" name="Case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ase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ase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max. 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students per group</a:t>
            </a:r>
          </a:p>
        </p:txBody>
      </p:sp>
      <p:sp>
        <p:nvSpPr>
          <p:cNvPr id="16" name="Case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se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ase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ase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se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ase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 weeks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after the last session: deadline</a:t>
            </a:r>
          </a:p>
        </p:txBody>
      </p:sp>
      <p:sp>
        <p:nvSpPr>
          <p:cNvPr id="22" name="Submit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What you submit</a:t>
            </a:r>
          </a:p>
        </p:txBody>
      </p:sp>
      <p:sp>
        <p:nvSpPr>
          <p:cNvPr id="23" name="Submission card 1"/>
          <p:cNvSpPr/>
          <p:nvPr/>
        </p:nvSpPr>
        <p:spPr>
          <a:xfrm>
            <a:off x="45720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con submission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788920"/>
            <a:ext cx="365760" cy="365760"/>
          </a:xfrm>
          <a:prstGeom prst="rect">
            <a:avLst/>
          </a:prstGeom>
        </p:spPr>
      </p:pic>
      <p:sp>
        <p:nvSpPr>
          <p:cNvPr id="25" name="Submission text 1"/>
          <p:cNvSpPr txBox="1"/>
          <p:nvPr/>
        </p:nvSpPr>
        <p:spPr>
          <a:xfrm>
            <a:off x="114300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Quarto file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your analysis and text in one reproducible document</a:t>
            </a:r>
          </a:p>
        </p:txBody>
      </p:sp>
      <p:sp>
        <p:nvSpPr>
          <p:cNvPr id="26" name="Submission card 2"/>
          <p:cNvSpPr/>
          <p:nvPr/>
        </p:nvSpPr>
        <p:spPr>
          <a:xfrm>
            <a:off x="324612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submission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2788920"/>
            <a:ext cx="365760" cy="365760"/>
          </a:xfrm>
          <a:prstGeom prst="rect">
            <a:avLst/>
          </a:prstGeom>
        </p:spPr>
      </p:pic>
      <p:sp>
        <p:nvSpPr>
          <p:cNvPr id="28" name="Submission text 2"/>
          <p:cNvSpPr txBox="1"/>
          <p:nvPr/>
        </p:nvSpPr>
        <p:spPr>
          <a:xfrm>
            <a:off x="393192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Rendered report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output of the Quarto file; HTML recommended</a:t>
            </a:r>
          </a:p>
        </p:txBody>
      </p:sp>
      <p:sp>
        <p:nvSpPr>
          <p:cNvPr id="29" name="Submission card 3"/>
          <p:cNvSpPr/>
          <p:nvPr/>
        </p:nvSpPr>
        <p:spPr>
          <a:xfrm>
            <a:off x="603504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submission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2788920"/>
            <a:ext cx="365760" cy="365760"/>
          </a:xfrm>
          <a:prstGeom prst="rect">
            <a:avLst/>
          </a:prstGeom>
        </p:spPr>
      </p:pic>
      <p:sp>
        <p:nvSpPr>
          <p:cNvPr id="31" name="Submission text 3"/>
          <p:cNvSpPr txBox="1"/>
          <p:nvPr/>
        </p:nvSpPr>
        <p:spPr>
          <a:xfrm>
            <a:off x="672084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 file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data you analysed, so the report can be rerun</a:t>
            </a:r>
          </a:p>
        </p:txBody>
      </p:sp>
      <p:sp>
        <p:nvSpPr>
          <p:cNvPr id="32" name="Task box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ask text"/>
          <p:cNvSpPr txBox="1"/>
          <p:nvPr/>
        </p:nvSpPr>
        <p:spPr>
          <a:xfrm>
            <a:off x="685800" y="406908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The task: </a:t>
            </a:r>
            <a:r>
              <a:rPr sz="1300" b="0" lang="en-GB">
                <a:solidFill>
                  <a:schemeClr val="bg1"/>
                </a:solidFill>
              </a:rPr>
              <a:t>apply marketing mix modelling to a real marketing case, interpret the results and recommend a decision to management.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Support: </a:t>
            </a:r>
            <a:r>
              <a:rPr sz="1300" b="0" lang="en-GB">
                <a:solidFill>
                  <a:schemeClr val="bg1"/>
                </a:solidFill>
              </a:rPr>
              <a:t>online consulting hours (registration needed).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