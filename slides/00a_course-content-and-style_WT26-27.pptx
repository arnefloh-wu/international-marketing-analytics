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me by e-mail first; office hours are booked through the calendar link on the closing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years of teaching across WU, Emory, Surrey and JKU; industry background; the private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course as one budget decision studied from five angles. Alpenglow is fictional; the data are synthetic with a known truth revealed in Session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starts from a manager's question and works backwards to the regression that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Outcomes 1 to 6 are the analytical core; 7 to 11 are the working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person, five Tuesdays. Bring your own laptop with the environment installed; a setup clinic runs at the start of Session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numbers refer to the 2025 Python edition of Yildirim and Kübler. Times and rooms are on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components. The group project is the centrepiece; quizzes and check-ins keep everyone on track between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courses are free. The installation check is the command in the setup guide that prints 'ready'.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Quizzes test concepts, not code. Check-ins replicate a lab for another country and are auto-checked before grading.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brief, rubric and starter repository are in the course GitHub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peer rating form is on Canvas. Each member rates the others; self-ratings are not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tif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jp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b="1" sz="1300" lang="en-GB"/>
              <a:t>Position: </a:t>
            </a:r>
            <a:r>
              <a:rPr sz="1300" lang="en-GB"/>
              <a:t>Senior Lecturer in International Marketing, Institute for International Business, WU Vienna</a:t>
            </a:r>
          </a:p>
          <a:p>
            <a:pPr/>
            <a:r>
              <a:rPr b="1" sz="1300" lang="en-GB"/>
              <a:t>Also: </a:t>
            </a:r>
            <a:r>
              <a:rPr sz="1300" lang="en-GB"/>
              <a:t>Deputy Programme Director, Export and Internationalisation Management</a:t>
            </a:r>
          </a:p>
          <a:p>
            <a:pPr/>
            <a:r>
              <a:rPr b="1" sz="1300" lang="en-GB"/>
              <a:t>Teaching: </a:t>
            </a:r>
            <a:r>
              <a:rPr sz="1300" lang="en-GB"/>
              <a:t>International Marketing, Marketing Analytics, Digital Marketing and Social Media, Entrepreneurial Marketing</a:t>
            </a:r>
          </a:p>
          <a:p>
            <a:pPr/>
            <a:r>
              <a:rPr b="1" sz="1300" lang="en-GB"/>
              <a:t>Research: </a:t>
            </a:r>
            <a:r>
              <a:rPr sz="1300" lang="en-GB"/>
              <a:t>Consumer behaviour, relationship marketing, electronic marketing and social media</a:t>
            </a:r>
          </a:p>
          <a:p>
            <a:pPr/>
            <a:r>
              <a:rPr b="1" sz="1300" lang="en-GB"/>
              <a:t>Contact: </a:t>
            </a:r>
            <a:r>
              <a:rPr sz="1300" lang="en-GB"/>
              <a:t>arne.floh@wu.ac.at, office hours by appointment (see closing slide)</a:t>
            </a:r>
          </a:p>
        </p:txBody>
      </p:sp>
      <p:pic>
        <p:nvPicPr>
          <p:cNvPr id="3" name="Picture Placeholder 2" descr="image.tiff"/>
          <p:cNvPicPr>
            <a:picLocks noGrp="1" noChangeAspect="1"/>
          </p:cNvPicPr>
          <p:nvPr>
            <p:ph type="pic" idx="2" sz="half"/>
          </p:nvPr>
        </p:nvPicPr>
        <p:blipFill>
          <a:blip r:embed="rId3"/>
          <a:srcRect l="24188" r="24188"/>
          <a:stretch>
            <a:fillRect/>
          </a:stretch>
        </p:blipFill>
        <p:spPr/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Instructor: Dr Arne Floh</a:t>
            </a:r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b="1" sz="1300" lang="en-GB"/>
              <a:t>Experience: </a:t>
            </a:r>
            <a:r>
              <a:rPr sz="1300" lang="en-GB"/>
              <a:t>international and industry background, more than 20 years of teaching</a:t>
            </a:r>
          </a:p>
          <a:p>
            <a:pPr/>
            <a:r>
              <a:rPr b="1" sz="1300" lang="en-GB"/>
              <a:t>Supervision: </a:t>
            </a:r>
            <a:r>
              <a:rPr sz="1300" lang="en-GB"/>
              <a:t>BSc, MSc and PhD theses</a:t>
            </a:r>
          </a:p>
          <a:p>
            <a:pPr/>
            <a:r>
              <a:rPr b="1" sz="1300" lang="en-GB"/>
              <a:t>Private: </a:t>
            </a:r>
            <a:r>
              <a:rPr sz="1300" lang="en-GB"/>
              <a:t>football, electronic gadgets, Austrian wine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Instructor: background</a:t>
            </a:r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9AD777D6-022F-4E02-9047-529909299B70}"/>
              </a:ext>
            </a:extLst>
          </p:cNvPr>
          <p:cNvGrpSpPr/>
          <p:nvPr/>
        </p:nvGrpSpPr>
        <p:grpSpPr>
          <a:xfrm>
            <a:off x="4899664" y="1595494"/>
            <a:ext cx="3339791" cy="2979295"/>
            <a:chOff x="4860032" y="887872"/>
            <a:chExt cx="4007749" cy="3575154"/>
          </a:xfrm>
        </p:grpSpPr>
        <p:pic>
          <p:nvPicPr>
            <p:cNvPr id="8" name="Picture 5">
              <a:extLst>
                <a:ext uri="{FF2B5EF4-FFF2-40B4-BE49-F238E27FC236}">
                  <a16:creationId xmlns:a16="http://schemas.microsoft.com/office/drawing/2014/main" id="{B20435F2-0841-4617-84F5-0C069C5B7A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3523" b="18973"/>
            <a:stretch>
              <a:fillRect/>
            </a:stretch>
          </p:blipFill>
          <p:spPr bwMode="auto">
            <a:xfrm>
              <a:off x="5787371" y="1099352"/>
              <a:ext cx="1216417" cy="19880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9" name="Picture 7" descr="C:\Users\FLOH01\Documents\Diverses\Social Media Marketing.jpg">
              <a:extLst>
                <a:ext uri="{FF2B5EF4-FFF2-40B4-BE49-F238E27FC236}">
                  <a16:creationId xmlns:a16="http://schemas.microsoft.com/office/drawing/2014/main" id="{748A9F97-126D-4B75-8FE0-16A3FBA3C9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63544" y="2787773"/>
              <a:ext cx="1065511" cy="7738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8" descr="C:\Users\FLOH01\Documents\Diverses\CustLoy.jpg">
              <a:extLst>
                <a:ext uri="{FF2B5EF4-FFF2-40B4-BE49-F238E27FC236}">
                  <a16:creationId xmlns:a16="http://schemas.microsoft.com/office/drawing/2014/main" id="{9F9E079F-0FD9-4D44-A202-E4A6EDDA71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1539" y="2787773"/>
              <a:ext cx="773630" cy="7736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9" descr="C:\Users\FLOH01\Documents\Diverses\Maradona.jpg">
              <a:extLst>
                <a:ext uri="{FF2B5EF4-FFF2-40B4-BE49-F238E27FC236}">
                  <a16:creationId xmlns:a16="http://schemas.microsoft.com/office/drawing/2014/main" id="{4D115C44-4118-40BB-A76E-053C6D127F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66273" y="3803687"/>
              <a:ext cx="973879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0" descr="C:\Users\FLOH01\Documents\Diverses\iPhone.jpg">
              <a:extLst>
                <a:ext uri="{FF2B5EF4-FFF2-40B4-BE49-F238E27FC236}">
                  <a16:creationId xmlns:a16="http://schemas.microsoft.com/office/drawing/2014/main" id="{2AF1D26F-471E-485B-92E1-5F56E09F5F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9960" y="3814954"/>
              <a:ext cx="865209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">
              <a:extLst>
                <a:ext uri="{FF2B5EF4-FFF2-40B4-BE49-F238E27FC236}">
                  <a16:creationId xmlns:a16="http://schemas.microsoft.com/office/drawing/2014/main" id="{2811658E-DCEA-43DC-A67D-1128A0E89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60113" y="3792420"/>
              <a:ext cx="1000978" cy="670606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B408EE01-B542-4660-B0D3-FBD43BA77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014331" y="1533006"/>
              <a:ext cx="773040" cy="1081777"/>
            </a:xfrm>
            <a:prstGeom prst="rect">
              <a:avLst/>
            </a:prstGeom>
          </p:spPr>
        </p:pic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6C149411-6646-4881-AC51-37581FA3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055491" y="1516809"/>
              <a:ext cx="788937" cy="1070809"/>
            </a:xfrm>
            <a:prstGeom prst="rect">
              <a:avLst/>
            </a:prstGeom>
          </p:spPr>
        </p:pic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B7E81BED-3E73-4767-B869-CF72D9B7D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117000" y="1533006"/>
              <a:ext cx="804099" cy="1070809"/>
            </a:xfrm>
            <a:prstGeom prst="rect">
              <a:avLst/>
            </a:prstGeom>
          </p:spPr>
        </p:pic>
        <p:pic>
          <p:nvPicPr>
            <p:cNvPr id="17" name="Picture 2" descr="Entrepreneurial Marketing">
              <a:extLst>
                <a:ext uri="{FF2B5EF4-FFF2-40B4-BE49-F238E27FC236}">
                  <a16:creationId xmlns:a16="http://schemas.microsoft.com/office/drawing/2014/main" id="{D1D91749-54D0-4728-BD44-4530B7260F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0054" y="1536593"/>
              <a:ext cx="677727" cy="10708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0E861A12-FBD5-4375-9D5E-B3F3E3AAE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860032" y="887872"/>
              <a:ext cx="760584" cy="570439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DCA1A994-C935-43CE-93F8-29BFA8C45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169217" y="1019689"/>
              <a:ext cx="804099" cy="307801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A807570-9906-45C3-9264-3AD85B5F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137160" y="991802"/>
              <a:ext cx="730419" cy="41390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300" lang="en-GB"/>
              <a:t>Marketing analytics </a:t>
            </a:r>
            <a:r>
              <a:rPr sz="1300" lang="en-GB"/>
              <a:t>turns marketing data into decisions: which markets to invest in, how to price, how much to spend on which channel, and whether it worked.</a:t>
            </a:r>
          </a:p>
          <a:p>
            <a:pPr/>
            <a:r>
              <a:rPr b="1" sz="1300" lang="en-GB"/>
              <a:t>One question dominates </a:t>
            </a:r>
            <a:r>
              <a:rPr sz="1300" lang="en-GB"/>
              <a:t>international marketing budgets today: how should a fixed media budget be split across countries and channels?</a:t>
            </a:r>
          </a:p>
          <a:p>
            <a:pPr/>
            <a:r>
              <a:rPr b="1" sz="1300" lang="en-GB"/>
              <a:t>Marketing mix modelling (MMM) </a:t>
            </a:r>
            <a:r>
              <a:rPr sz="1300" lang="en-GB"/>
              <a:t>is back at the centre of this debate since privacy changes made user-level tracking unreliable. Managers who can read, challenge and commission these models hold the budget conversation.</a:t>
            </a:r>
          </a:p>
          <a:p>
            <a:pPr/>
            <a:r>
              <a:rPr b="1" sz="1300" lang="en-GB"/>
              <a:t>One running case: </a:t>
            </a:r>
            <a:r>
              <a:rPr sz="1300" lang="en-GB"/>
              <a:t>Alpenglow, a Vienna-based premium chocolate brand active in six European markets (AT, DE, FR, IT, NL, PL).</a:t>
            </a:r>
          </a:p>
          <a:p>
            <a:pPr/>
            <a:r>
              <a:rPr b="1" sz="1300" lang="en-GB"/>
              <a:t>Python with AI assistants: </a:t>
            </a:r>
            <a:r>
              <a:rPr sz="1300" lang="en-GB"/>
              <a:t>the assistant does most of the typing; you learn to specify, run, check and communicate analyses.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lang="en-GB"/>
              <a:t>Each session starts from a decision an international marketing manager has to take and works backwards to the model that answers it.</a:t>
            </a:r>
          </a:p>
          <a:p>
            <a:pPr>
              <a:buNone/>
            </a:pPr>
            <a:r>
              <a:rPr sz="1300" lang="en-GB"/>
              <a:t/>
            </a:r>
          </a:p>
          <a:p>
            <a:pPr/>
            <a:r>
              <a:rPr b="1" sz="1300" lang="en-GB"/>
              <a:t>Session 1: </a:t>
            </a:r>
            <a:r>
              <a:rPr sz="1300" lang="en-GB"/>
              <a:t>Is our price too high in Poland? Price and promotion elasticities across countries</a:t>
            </a:r>
          </a:p>
          <a:p>
            <a:pPr/>
            <a:r>
              <a:rPr b="1" sz="1300" lang="en-GB"/>
              <a:t>Session 2: </a:t>
            </a:r>
            <a:r>
              <a:rPr sz="1300" lang="en-GB"/>
              <a:t>What did TV do for us in Germany? Carryover, saturation and return on ad spend</a:t>
            </a:r>
          </a:p>
          <a:p>
            <a:pPr/>
            <a:r>
              <a:rPr b="1" sz="1300" lang="en-GB"/>
              <a:t>Session 3: </a:t>
            </a:r>
            <a:r>
              <a:rPr sz="1300" lang="en-GB"/>
              <a:t>Where should the next euro go? Budget allocation across six countries and five channels</a:t>
            </a:r>
          </a:p>
          <a:p>
            <a:pPr/>
            <a:r>
              <a:rPr b="1" sz="1300" lang="en-GB"/>
              <a:t>Session 4: </a:t>
            </a:r>
            <a:r>
              <a:rPr sz="1300" lang="en-GB"/>
              <a:t>Can we trust the model? Sales forecasts, geo-lift experiments and multi-market attribution</a:t>
            </a:r>
          </a:p>
          <a:p>
            <a:pPr/>
            <a:r>
              <a:rPr b="1" sz="1300" lang="en-GB"/>
              <a:t>Session 5: </a:t>
            </a:r>
            <a:r>
              <a:rPr sz="1300" lang="en-GB"/>
              <a:t>Board meeting: the groups pitch and defend their 2027 budget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Five sessions, five decisions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1300" lang="en-GB"/>
              <a:t>On successful completion of this module, students will be able to:</a:t>
            </a:r>
          </a:p>
          <a:p>
            <a:pPr>
              <a:buNone/>
              <a:buNone/>
            </a:pPr>
            <a:r>
              <a:rPr sz="1300" lang="en-GB"/>
              <a:t/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Explain marketing mix modelling: </a:t>
            </a:r>
            <a:r>
              <a:rPr sz="1300" lang="en-GB"/>
              <a:t>carryover (adstock), saturation, baseline versus incremental sales, ROAS versus marginal ROAS.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Estimate market response models: </a:t>
            </a:r>
            <a:r>
              <a:rPr sz="1300" lang="en-GB"/>
              <a:t>specify, estimate and diagnose regression models in Python, from OLS and log-log elasticities to panel fixed effects and hierarchical Bayesian MMM.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Allocate budgets across markets: </a:t>
            </a:r>
            <a:r>
              <a:rPr sz="1300" lang="en-GB"/>
              <a:t>translate model output into a cross-country, cross-channel allocation and defend it under uncertainty.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Forecast sales: </a:t>
            </a:r>
            <a:r>
              <a:rPr sz="1300" lang="en-GB"/>
              <a:t>produce and evaluate short-term forecasts as the baseline for planning.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Design experiments: </a:t>
            </a:r>
            <a:r>
              <a:rPr sz="1300" lang="en-GB"/>
              <a:t>design and analyse a geo-lift test and use it to validate and calibrate an MMM.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Compare attribution approaches: </a:t>
            </a:r>
            <a:r>
              <a:rPr sz="1300" lang="en-GB"/>
              <a:t>explain why last-touch, regression-based and Shapley attribution disagree across markets.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7"/>
            </a:pPr>
            <a:r>
              <a:rPr b="1" sz="1300" lang="en-GB"/>
              <a:t>Work reproducibly: </a:t>
            </a:r>
            <a:r>
              <a:rPr sz="1300" lang="en-GB"/>
              <a:t>use Python, Positron, Quarto and GitHub to build analyses that colleagues can rerun and audit.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300" lang="en-GB"/>
              <a:t>Use AI assistants responsibly: </a:t>
            </a:r>
            <a:r>
              <a:rPr sz="1300" lang="en-GB"/>
              <a:t>direct an AI coding assistant, verify its output and document the prompts behind an analysis.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300" lang="en-GB"/>
              <a:t>Communicate: </a:t>
            </a:r>
            <a:r>
              <a:rPr sz="1300" lang="en-GB"/>
              <a:t>present analytical findings to a board audience in a written report and a pitch.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300" lang="en-GB"/>
              <a:t>Work in teams: </a:t>
            </a:r>
            <a:r>
              <a:rPr sz="1300" lang="en-GB"/>
              <a:t>collaborate in version-controlled analytical work and take collective data-driven decisions.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300" lang="en-GB"/>
              <a:t>Think critically: </a:t>
            </a:r>
            <a:r>
              <a:rPr sz="1300" lang="en-GB"/>
              <a:t>evaluate data sources, model assumptions and findings in the context of international marketing.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 (continued)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sz="1300" lang="en-GB"/>
              <a:t>Five in-person sessions on Tuesdays, 6 October to 3 November 2026</a:t>
            </a:r>
          </a:p>
          <a:p>
            <a:pPr/>
            <a:r>
              <a:rPr sz="1300" lang="en-GB"/>
              <a:t>Concept lecture (60 min), guided lab in Positron (90 min), team exercise on the project data (60 min), debrief</a:t>
            </a:r>
          </a:p>
          <a:p>
            <a:pPr/>
            <a:r>
              <a:rPr sz="1300" lang="en-GB"/>
              <a:t>Coding is AI-assisted: your laptop, your assistant, your checks</a:t>
            </a:r>
          </a:p>
          <a:p>
            <a:pPr/>
            <a:r>
              <a:rPr sz="1300" lang="en-GB"/>
              <a:t>Everything lives in GitHub: pull, commit and push from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sz="1300" lang="en-GB"/>
              <a:t>Read the book chapters and session materials in advance</a:t>
            </a:r>
          </a:p>
          <a:p>
            <a:pPr/>
            <a:r>
              <a:rPr sz="1300" lang="en-GB"/>
              <a:t>Online quiz after each of Sessions 1 to 4</a:t>
            </a:r>
          </a:p>
          <a:p>
            <a:pPr/>
            <a:r>
              <a:rPr sz="1300" lang="en-GB"/>
              <a:t>Lab check-ins after Sessions 2 and 4</a:t>
            </a:r>
          </a:p>
          <a:p>
            <a:pPr/>
            <a:r>
              <a:rPr sz="1300" lang="en-GB"/>
              <a:t>Group project work in your team repository; consulting hours on request</a:t>
            </a:r>
          </a:p>
          <a:p>
            <a:pPr/>
            <a:r>
              <a:rPr sz="1300" lang="en-GB"/>
              <a:t>Q&amp;A forum on Canvas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1500" lang="en-GB"/>
              <a:t>In the classroom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sz="1500" lang="en-GB"/>
              <a:t>Between sessions</a:t>
            </a:r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772668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2011680"/>
                <a:gridCol w="2423160"/>
                <a:gridCol w="114300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Date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Chapter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Tue 6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style, toolkit, regression foundations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Descriptive statistics, OLS, log-log elasticities, dummies and interactions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1, 11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Tue 13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Marketing mix modelling I: one country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Adstock, saturation, decomposition, ROAS, diagnostics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Tue 20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Marketing mix modelling II: many countries, one budget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Panel fixed effects, hierarchical Bayesian MMM, budget optimisation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Tue 27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Forecasting, experiments and attribution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Time series regression, difference-in-differences, logistic regression, Shapley values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9, 4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Tue 3 Nov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Group project pitches and wrap-up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Board presentation, ground-truth reveal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11</a:t>
                      </a:r>
                    </a:p>
                  </a:txBody>
                  <a:tcPr marT="36000" marB="36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Chapters: Yildirim and Kübler (2025), SAGE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b="1" sz="1300" lang="en-GB"/>
              <a:t>5 % </a:t>
            </a:r>
            <a:r>
              <a:rPr sz="1300" lang="en-GB"/>
              <a:t>Online certificates Python and GitHub (individual)</a:t>
            </a:r>
          </a:p>
          <a:p>
            <a:pPr/>
            <a:r>
              <a:rPr b="1" sz="1300" lang="en-GB"/>
              <a:t>5 % </a:t>
            </a:r>
            <a:r>
              <a:rPr sz="1300" lang="en-GB"/>
              <a:t>Self-reflection (individual)</a:t>
            </a:r>
          </a:p>
          <a:p>
            <a:pPr/>
            <a:r>
              <a:rPr b="1" sz="1300" lang="en-GB"/>
              <a:t>20 % </a:t>
            </a:r>
            <a:r>
              <a:rPr sz="1300" lang="en-GB"/>
              <a:t>Online quizzes, 4 × 5 % (individual)</a:t>
            </a:r>
          </a:p>
          <a:p>
            <a:pPr/>
            <a:r>
              <a:rPr b="1" sz="1300" lang="en-GB"/>
              <a:t>20 % </a:t>
            </a:r>
            <a:r>
              <a:rPr sz="1300" lang="en-GB"/>
              <a:t>Lab check-ins, 2 × 10 % (individual)</a:t>
            </a:r>
          </a:p>
          <a:p>
            <a:pPr/>
            <a:r>
              <a:rPr b="1" sz="1300" lang="en-GB"/>
              <a:t>40 % </a:t>
            </a:r>
            <a:r>
              <a:rPr sz="1300" lang="en-GB"/>
              <a:t>Group project: report, repository and pitch</a:t>
            </a:r>
          </a:p>
          <a:p>
            <a:pPr/>
            <a:r>
              <a:rPr b="1" sz="1300" lang="en-GB"/>
              <a:t>10 % </a:t>
            </a:r>
            <a:r>
              <a:rPr sz="1300" lang="en-GB"/>
              <a:t>Peer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b="1" sz="1300" lang="en-GB"/>
              <a:t>Groups: </a:t>
            </a:r>
            <a:r>
              <a:rPr sz="1300" lang="en-GB"/>
              <a:t>5 students, enrol on Canvas by the end of Session 1</a:t>
            </a:r>
          </a:p>
          <a:p>
            <a:pPr/>
            <a:r>
              <a:rPr b="1" sz="1300" lang="en-GB"/>
              <a:t>Grades: </a:t>
            </a:r>
            <a:r>
              <a:rPr sz="1300" lang="en-GB"/>
              <a:t>WU scale, 1 from 90 %, 2 from 80 %, 3 from 70 %, 4 from 60 %</a:t>
            </a:r>
          </a:p>
          <a:p>
            <a:pPr/>
            <a:r>
              <a:rPr b="1" sz="1300" lang="en-GB"/>
              <a:t>Attendance: </a:t>
            </a:r>
            <a:r>
              <a:rPr sz="1300" lang="en-GB"/>
              <a:t>at least 80 % of sessions</a:t>
            </a:r>
          </a:p>
          <a:p>
            <a:pPr/>
            <a:r>
              <a:rPr b="1" sz="1300" lang="en-GB"/>
              <a:t>Late submissions: </a:t>
            </a:r>
            <a:r>
              <a:rPr sz="1300" lang="en-GB"/>
              <a:t>minus 10 percentage points per day unless agreed in advance</a:t>
            </a:r>
          </a:p>
          <a:p>
            <a:pPr/>
            <a:r>
              <a:rPr b="1" sz="1300" lang="en-GB"/>
              <a:t>AI tools: </a:t>
            </a:r>
            <a:r>
              <a:rPr sz="1300" lang="en-GB"/>
              <a:t>expected for coding; you remain responsible for every number you report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1500" lang="en-GB"/>
              <a:t>Components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sz="1500" lang="en-GB"/>
              <a:t>Rules</a:t>
            </a:r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lang="en-GB"/>
              <a:t>Complete two free online courses before the second session:</a:t>
            </a:r>
          </a:p>
          <a:p>
            <a:pPr lvl="1"/>
            <a:r>
              <a:rPr b="1" sz="1300" lang="en-GB"/>
              <a:t>Kaggle Learn: Python </a:t>
            </a:r>
            <a:r>
              <a:rPr sz="1300" lang="en-GB"/>
              <a:t>(about 5 hours, certificate on completion)</a:t>
            </a:r>
          </a:p>
          <a:p>
            <a:pPr lvl="1"/>
            <a:r>
              <a:rPr b="1" sz="1300" lang="en-GB"/>
              <a:t>GitHub Skills: Introduction to GitHub </a:t>
            </a:r>
            <a:r>
              <a:rPr sz="1300" lang="en-GB"/>
              <a:t>(about 1 hour)</a:t>
            </a:r>
          </a:p>
          <a:p>
            <a:pPr/>
            <a:r>
              <a:rPr sz="1300" lang="en-GB"/>
              <a:t>Install the course environment with the setup guide: Python via uv, Positron, Quarto, GitHub Desktop, and run the installation check</a:t>
            </a:r>
          </a:p>
          <a:p>
            <a:pPr/>
            <a:r>
              <a:rPr b="1" sz="1300" lang="en-GB"/>
              <a:t>Upload </a:t>
            </a:r>
            <a:r>
              <a:rPr sz="1300" lang="en-GB"/>
              <a:t>both certificates and a screenshot of the passing installation check on Canvas by Mon 12 Oct, 11:59 pm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sz="1300" lang="en-GB"/>
              <a:t>After each of Sessions 1 to 4</a:t>
            </a:r>
          </a:p>
          <a:p>
            <a:pPr/>
            <a:r>
              <a:rPr sz="1300" lang="en-GB"/>
              <a:t>Open Wednesday 9 am, close Monday 11:59 pm</a:t>
            </a:r>
          </a:p>
          <a:p>
            <a:pPr/>
            <a:r>
              <a:rPr sz="1300" lang="en-GB"/>
              <a:t>10 multiple-choice questions in 10 minutes</a:t>
            </a:r>
          </a:p>
          <a:p>
            <a:pPr/>
            <a:r>
              <a:rPr sz="1300" lang="en-GB"/>
              <a:t>Closed book: concepts, not code</a:t>
            </a:r>
          </a:p>
          <a:p>
            <a:pPr/>
            <a:r>
              <a:rPr sz="1300" lang="en-GB"/>
              <a:t>5 % 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sz="1300" lang="en-GB"/>
              <a:t>After Sessions 2 and 4</a:t>
            </a:r>
          </a:p>
          <a:p>
            <a:pPr/>
            <a:r>
              <a:rPr sz="1300" lang="en-GB"/>
              <a:t>Replicate the lab for another country or dataset with your AI assistant</a:t>
            </a:r>
          </a:p>
          <a:p>
            <a:pPr/>
            <a:r>
              <a:rPr sz="1300" lang="en-GB"/>
              <a:t>Submit the Quarto notebook, rendered HTML, result files and a short prompt log on Canvas</a:t>
            </a:r>
          </a:p>
          <a:p>
            <a:pPr/>
            <a:r>
              <a:rPr sz="1300" lang="en-GB"/>
              <a:t>Auto-checked for plausibility, reviewed for interpretation</a:t>
            </a:r>
          </a:p>
          <a:p>
            <a:pPr/>
            <a:r>
              <a:rPr sz="1300" lang="en-GB"/>
              <a:t>10 % each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1500" lang="en-GB"/>
              <a:t>Online quizzes (individual)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Quizzes and lab check-ins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sz="1500" lang="en-GB"/>
              <a:t>Lab check-ins (individual)</a:t>
            </a:r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300" lang="en-GB"/>
              <a:t>The task: </a:t>
            </a:r>
            <a:r>
              <a:rPr sz="1300" lang="en-GB"/>
              <a:t>as Alpenglow's analytics team, recommend to the board how the 2027 media budget should be split across six countries and five channels.</a:t>
            </a:r>
          </a:p>
          <a:p>
            <a:pPr/>
            <a:r>
              <a:rPr b="1" sz="1300" lang="en-GB"/>
              <a:t>Deliverables: </a:t>
            </a:r>
            <a:r>
              <a:rPr sz="1300" lang="en-GB"/>
              <a:t>GitHub repository with a Quarto report (max 12 pages), allocation_2027.csv, a pitch deck (max 8 slides) and a prompt log.</a:t>
            </a:r>
          </a:p>
          <a:p>
            <a:pPr/>
            <a:r>
              <a:rPr b="1" sz="1300" lang="en-GB"/>
              <a:t>Milestones: </a:t>
            </a:r>
            <a:r>
              <a:rPr sz="1300" lang="en-GB"/>
              <a:t>repository and data exploration before Session 2; first model table before Session 4.</a:t>
            </a:r>
          </a:p>
          <a:p>
            <a:pPr/>
            <a:r>
              <a:rPr b="1" sz="1300" lang="en-GB"/>
              <a:t>Support: </a:t>
            </a:r>
            <a:r>
              <a:rPr sz="1300" lang="en-GB"/>
              <a:t>online consulting hours (registration needed).</a:t>
            </a:r>
          </a:p>
          <a:p>
            <a:pPr/>
            <a:r>
              <a:rPr b="1" sz="1300" lang="en-GB"/>
              <a:t>Deadline: </a:t>
            </a:r>
            <a:r>
              <a:rPr sz="1300" lang="en-GB"/>
              <a:t>Mon 2 Nov 2026, 6 pm. Pitches in Session 5 on Tue 3 Nov 2026.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Group project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sz="1300" lang="en-GB"/>
              <a:t>Every group member rates the other members on a 0 to 10 scale</a:t>
            </a:r>
          </a:p>
          <a:p>
            <a:pPr/>
            <a:r>
              <a:rPr sz="1300" lang="en-GB"/>
              <a:t>Six criteria: tasks carried out, deadlines met, quality of work, communication and respect, attendance, pre-agreed rules</a:t>
            </a:r>
          </a:p>
          <a:p>
            <a:pPr/>
            <a:r>
              <a:rPr sz="1300" lang="en-GB"/>
              <a:t>Kept in strict confidence; feeds the peer review component (10 %)</a:t>
            </a:r>
          </a:p>
          <a:p>
            <a:pPr/>
            <a:r>
              <a:rPr sz="1300" lang="en-GB"/>
              <a:t>Submit on Canvas with the final project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Peer rating</a:t>
            </a:r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9904" y="1344613"/>
            <a:ext cx="3691568" cy="38592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