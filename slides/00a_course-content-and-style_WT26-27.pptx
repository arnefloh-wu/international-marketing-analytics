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>
  <p:sldMasterIdLst>
    <p:sldMasterId id="2147483660" r:id="rId4"/>
  </p:sldMasterIdLst>
  <p:notesMasterIdLst>
    <p:notesMasterId r:id="rId31"/>
  </p:notesMasterIdLst>
  <p:handoutMasterIdLst>
    <p:handoutMasterId r:id="rId32"/>
  </p:handoutMasterIdLst>
  <p:sldIdLst>
    <p:sldId id="256" r:id="rId13"/>
    <p:sldId id="257" r:id="rId14"/>
    <p:sldId id="268" r:id="rId39"/>
    <p:sldId id="269" r:id="rId40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</p:sldIdLst>
  <p:sldSz cx="9144000" cy="5715000" type="screen16x10"/>
  <p:notesSz cx="6858000" cy="9144000"/>
  <p:custDataLst>
    <p:tags r:id="rId33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9" name="Autor" initials="A" lastIdx="0" clrIdx="8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FF7"/>
    <a:srgbClr val="CBDDEF"/>
    <a:srgbClr val="0096D3"/>
    <a:srgbClr val="0C94B7"/>
    <a:srgbClr val="41B4CE"/>
    <a:srgbClr val="73BAD1"/>
    <a:srgbClr val="65B4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3783" autoAdjust="0"/>
  </p:normalViewPr>
  <p:slideViewPr>
    <p:cSldViewPr snapToGrid="0" showGuides="1">
      <p:cViewPr varScale="1">
        <p:scale>
          <a:sx n="164" d="100"/>
          <a:sy n="164" d="100"/>
        </p:scale>
        <p:origin x="758" y="75"/>
      </p:cViewPr>
      <p:guideLst>
        <p:guide orient="horz" pos="1800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31" Type="http://schemas.openxmlformats.org/officeDocument/2006/relationships/notesMaster" Target="notesMasters/notesMaster1.xml"/><Relationship Id="rId32" Type="http://schemas.openxmlformats.org/officeDocument/2006/relationships/handoutMaster" Target="handoutMasters/handoutMaster1.xml"/><Relationship Id="rId33" Type="http://schemas.openxmlformats.org/officeDocument/2006/relationships/tags" Target="tags/tag1.xml"/><Relationship Id="rId34" Type="http://schemas.openxmlformats.org/officeDocument/2006/relationships/commentAuthors" Target="commentAuthors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openxmlformats.org/officeDocument/2006/relationships/slide" Target="slides/slide3.xml"/><Relationship Id="rId4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chemeClr val="accent4"/>
            </a:solidFill>
          </c:spPr>
          <c:cat>
            <c:strRef>
              <c:f>Sheet1!$A$2:$A$5</c:f>
              <c:strCache>
                <c:ptCount val="4"/>
                <c:pt idx="0">
                  <c:v>Coding exercises (4 × 5 %)</c:v>
                </c:pt>
                <c:pt idx="1">
                  <c:v>Online certificates, DataCamp (4 × 5 %)</c:v>
                </c:pt>
                <c:pt idx="2">
                  <c:v>Written exam</c:v>
                </c:pt>
                <c:pt idx="3">
                  <c:v>Case study: written report (group)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20</c:v>
                </c:pt>
                <c:pt idx="2">
                  <c:v>30</c:v>
                </c:pt>
                <c:pt idx="3">
                  <c:v>30</c:v>
                </c:pt>
              </c:numCache>
            </c:numRef>
          </c:val>
        </c:ser>
        <c:dLbls>
          <c:numFmt formatCode="0&quot; %&quot;" sourceLinked="0"/>
          <c:txPr>
            <a:bodyPr/>
            <a:lstStyle/>
            <a:p>
              <a:pPr>
                <a:defRPr sz="1300" b="1">
                  <a:solidFill>
                    <a:schemeClr val="tx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solidFill>
                  <a:schemeClr val="tx1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latin typeface="+mn-lt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25/08/2023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‹Nr.›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en-GB" smtClean="0"/>
              <a:pPr/>
              <a:t>25/08/2023</a:t>
            </a:fld>
            <a:endParaRPr lang="en-GB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en-GB" smtClean="0"/>
              <a:pPr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deck explains what the course is about, how it is taught and how it is assessed.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Ice-breaker: who is in the room, which countries, which prior exposure to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Marketing mix modelling in one breath: take the sales history, separate what would have sold anyway from what each marketing activity added, and use that to decide where the next euro goes.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Session 1 combines the introduction with linear regression. Each session adds one method; the last brings them together in dedicated MMM 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outcomes each for understanding, applying and transferring. Cross-sectional means many units at one point in time (countries, stores); longitudinal means the same units over time (weekly sales).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session ends with a short online quiz that is not graded; it shows you what to revise. The written exam at the end is paper and pencil with multiple-choice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Topics follow the course roadmap; methods in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components. Certificates, coding exercises and the exam are individual; the case study report is written in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DataCamp courses are assigned on Canvas. The installation check is the command in the setup guide that prints 'ready'.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Coding exercises apply the lab code to a similar task. The exam tests concepts and interpretation, not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case and its data are published on Canvas together with the deadline. Online consulting hours need registration. The report is the only group component of the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Any questions? Contact details on the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Relationship Id="rId22" Type="http://schemas.openxmlformats.org/officeDocument/2006/relationships/hyperlink" Target="https://www.wu.ac.at/en/welthandel/arne-floh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6" name="Rechteck 2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7" name="Rechteck 2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8" y="1294973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6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BE16B78E-14FB-4C1E-8625-0D5A429E49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B62297-FBCA-40E7-A876-7818F7A81C7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BA9844F5-FA66-4582-86D9-5CEB57D81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B702B7F6-CDD2-4C6E-BBC1-61A114A8A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A463F4F5-A20D-4A70-B3F9-6AD8A3EE25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AB68F06-4800-4D63-9DF2-372B23A8EC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2" name="Rechteck 1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Rechteck 1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330D039B-1A60-42B3-A3E1-B44D86C63C0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5D9B1B1-5069-4351-A01A-8CD09728414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ABF9D4AB-1FA6-4101-9EE8-B852A65B2A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DF8959B-5028-481F-A01F-8628D9F2E0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9" name="Rechteck 18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Rechteck 20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904218C8-068C-46BC-ADE6-6BC8A468BF7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D487AD36-3E46-4F41-8B5C-B79909802DD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pieren 17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3D0D44A-5625-4C70-A2EB-08D982355B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91D1A92-B997-47B5-A14A-E2A501C20D0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chapter header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529FDC53-5973-45F2-8F83-ED68F7A58508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89CCD104-DEA0-4048-8CA3-CAB740FC06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2F980AF-DDD0-4966-B1E7-E1B87083C7C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1 line for chapter header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24570F99-0B5D-40DA-A3D3-DDF1CB693FD8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16AA66B-0354-461B-A799-CF3EFFC17D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D0ECE620-FB2B-4217-AA10-439373F15D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Placeholder for objects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310F7-117D-4045-8610-3277CC5ED2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1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E16A0E8-29DE-4D75-BF66-2C047D439D4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2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Adressdaten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eingeben</a:t>
            </a: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ontak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Kontaktdaten"/>
          <p:cNvSpPr>
            <a:spLocks noGrp="1"/>
          </p:cNvSpPr>
          <p:nvPr userDrawn="1"/>
        </p:nvSpPr>
        <p:spPr bwMode="white">
          <a:xfrm>
            <a:off x="287338" y="2941638"/>
            <a:ext cx="4284662" cy="1400000"/>
          </a:xfrm>
          <a:prstGeom prst="rect">
            <a:avLst/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Dr Arne Floh, Senior Lecturer in Marketing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WU Vienna, Institute for International Business</a:t>
            </a:r>
          </a:p>
          <a:p>
            <a:pPr marL="0" indent="0">
              <a:buNone/>
            </a:pPr>
            <a:endParaRPr lang="en-GB" sz="1200"/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1"/>
              </a:rPr>
              <a:t>Office hours: book online (Google Calendar)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und Bild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Bildplatzhalter 3"/>
          <p:cNvSpPr>
            <a:spLocks noGrp="1"/>
          </p:cNvSpPr>
          <p:nvPr>
            <p:ph type="pic"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icon to add picture</a:t>
            </a:r>
          </a:p>
        </p:txBody>
      </p:sp>
      <p:sp>
        <p:nvSpPr>
          <p:cNvPr id="20" name="Logoplatzhalter 19"/>
          <p:cNvSpPr>
            <a:spLocks noGrp="1"/>
          </p:cNvSpPr>
          <p:nvPr>
            <p:ph type="pic" sz="quarter" idx="13" hasCustomPrompt="1"/>
          </p:nvPr>
        </p:nvSpPr>
        <p:spPr>
          <a:xfrm>
            <a:off x="7715688" y="4243825"/>
            <a:ext cx="860000" cy="860000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Logo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type="tbl"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marL="0" indent="0">
              <a:buNone/>
            </a:pPr>
            <a:r>
              <a:rPr lang="en-GB" dirty="0"/>
              <a:t>Click icon to add table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 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Kontaktdaten"/>
          <p:cNvSpPr>
            <a:spLocks noGrp="1"/>
          </p:cNvSpPr>
          <p:nvPr userDrawn="1"/>
        </p:nvSpPr>
        <p:spPr>
          <a:xfrm>
            <a:off x="1684020" y="2559843"/>
            <a:ext cx="2763926" cy="1811291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INSTITUTE FOR INTERNATIONAL BUSINESS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Welthandelsplatz 1, 1020 Vienna, Austria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DR ARNE 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Senior Lecturer in Marketing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F +43-31336-6367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900" dirty="0">
                <a:solidFill>
                  <a:srgbClr val="000000"/>
                </a:solidFill>
                <a:latin typeface="+mn-lt"/>
                <a:hlinkClick r:id="rId22"/>
              </a:rPr>
              <a:t>www.wu.ac.at/en/welthandel/arne-floh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1"/>
              </a:rPr>
              <a:t>Office hours: book online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png"/><Relationship Id="rId19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17.xml"/><Relationship Id="rId21" Type="http://schemas.openxmlformats.org/officeDocument/2006/relationships/slideLayout" Target="../slideLayouts/slideLayout18.xml"/><Relationship Id="rId22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en-GB" dirty="0" err="1"/>
              <a:t>Textmasterformate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D672231-DCCE-48E5-AF73-62895FE58BB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GB" dirty="0" err="1"/>
              <a:t>Titelmasterformat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9925201-EC66-4A08-AB14-A541648A67D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A212EC7-C80F-4EBC-9817-97C85E0A8AEB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  <p:sldLayoutId id="2147483692" r:id="rId19"/>
    <p:sldLayoutId id="2147483693" r:id="rId20"/>
    <p:sldLayoutId id="2147483694" r:id="rId21"/>
    <p:sldLayoutId id="2147483695" r:id="rId22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5" userDrawn="1">
          <p15:clr>
            <a:srgbClr val="F26B43"/>
          </p15:clr>
        </p15:guide>
        <p15:guide id="12" orient="horz" pos="109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www.wu.ac.at/en/welthandel/arne-floh/" TargetMode="External"/><Relationship Id="rId3" Type="http://schemas.openxmlformats.org/officeDocument/2006/relationships/hyperlink" Target="http://www.linkedin.com/arnefloh" TargetMode="External"/><Relationship Id="rId4" Type="http://schemas.openxmlformats.org/officeDocument/2006/relationships/image" Target="../media/instr_image9.tiff"/><Relationship Id="rId5" Type="http://schemas.openxmlformats.org/officeDocument/2006/relationships/hyperlink" Target="mailto:arne.floh@wu.ac.at" TargetMode="External"/><Relationship Id="rId6" Type="http://schemas.openxmlformats.org/officeDocument/2006/relationships/hyperlink" Target="https://calendar.app.google/o4FuKoF1YcarRfnC8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nstr_image9.tiff"/><Relationship Id="rId3" Type="http://schemas.openxmlformats.org/officeDocument/2006/relationships/image" Target="../media/instr_image10.png"/><Relationship Id="rId4" Type="http://schemas.openxmlformats.org/officeDocument/2006/relationships/image" Target="../media/instr_image11.jpeg"/><Relationship Id="rId5" Type="http://schemas.openxmlformats.org/officeDocument/2006/relationships/image" Target="../media/instr_image12.jpeg"/><Relationship Id="rId6" Type="http://schemas.openxmlformats.org/officeDocument/2006/relationships/image" Target="../media/instr_image13.jpeg"/><Relationship Id="rId7" Type="http://schemas.openxmlformats.org/officeDocument/2006/relationships/image" Target="../media/instr_image14.jpeg"/><Relationship Id="rId8" Type="http://schemas.openxmlformats.org/officeDocument/2006/relationships/image" Target="../media/instr_image15.png"/><Relationship Id="rId9" Type="http://schemas.openxmlformats.org/officeDocument/2006/relationships/image" Target="../media/instr_image16.png"/><Relationship Id="rId10" Type="http://schemas.openxmlformats.org/officeDocument/2006/relationships/image" Target="../media/instr_image17.png"/><Relationship Id="rId11" Type="http://schemas.openxmlformats.org/officeDocument/2006/relationships/image" Target="../media/instr_image18.jpeg"/><Relationship Id="rId12" Type="http://schemas.openxmlformats.org/officeDocument/2006/relationships/image" Target="../media/instr_image19.png"/><Relationship Id="rId13" Type="http://schemas.openxmlformats.org/officeDocument/2006/relationships/image" Target="../media/instr_image20.png"/><Relationship Id="rId14" Type="http://schemas.openxmlformats.org/officeDocument/2006/relationships/image" Target="../media/instr_image21.png"/><Relationship Id="rId15" Type="http://schemas.openxmlformats.org/officeDocument/2006/relationships/image" Target="../media/instr_image22.png"/><Relationship Id="rId16" Type="http://schemas.openxmlformats.org/officeDocument/2006/relationships/image" Target="../media/instr_image23.png"/><Relationship Id="rId17" Type="http://schemas.openxmlformats.org/officeDocument/2006/relationships/image" Target="../media/instr_image24.png"/><Relationship Id="rId18" Type="http://schemas.openxmlformats.org/officeDocument/2006/relationships/image" Target="../media/instr_image25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1.xml"/><Relationship Id="rId4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4.png"/><Relationship Id="rId4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8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International Marketing Analytics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Course content and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en-GB"/>
              <a:t>Winter term 2026/27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The journey begins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5500F1D-363A-4E04-BE29-68808B4A23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330" y="1455357"/>
            <a:ext cx="6623339" cy="3680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Card body Convenor"/>
          <p:cNvSpPr/>
          <p:nvPr/>
        </p:nvSpPr>
        <p:spPr>
          <a:xfrm>
            <a:off x="457200" y="1320800"/>
            <a:ext cx="8229600" cy="3733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951" name="Card divider"/>
          <p:cNvSpPr/>
          <p:nvPr/>
        </p:nvSpPr>
        <p:spPr>
          <a:xfrm>
            <a:off x="5120640" y="2006600"/>
            <a:ext cx="18288" cy="2865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Card header Convenor"/>
          <p:cNvSpPr/>
          <p:nvPr/>
        </p:nvSpPr>
        <p:spPr>
          <a:xfrm>
            <a:off x="457200" y="1320800"/>
            <a:ext cx="82296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500" b="1" dirty="0">
                <a:solidFill>
                  <a:schemeClr val="bg1"/>
                </a:solidFill>
                <a:latin typeface="+mj-lt"/>
              </a:rPr>
              <a:t>Personal and contact information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idx="1"/>
          </p:nvPr>
        </p:nvSpPr>
        <p:spPr>
          <a:xfrm>
            <a:off x="558800" y="2006600"/>
            <a:ext cx="43688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b="1" dirty="0"/>
              <a:t>Senior Lecturer in International Marketing – WU Vienna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Deputy Program Director Export- und Internationalisierungsmanagement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WWW: </a:t>
            </a:r>
            <a:r>
              <a:rPr lang="en-GB" altLang="de-DE" sz="1300" dirty="0">
                <a:hlinkClick r:id="rId2"/>
              </a:rPr>
              <a:t>https://www.wu.ac.at/en/welthandel/arne-floh/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LinkedIn: </a:t>
            </a:r>
            <a:r>
              <a:rPr lang="en-GB" altLang="de-DE" sz="1300" dirty="0">
                <a:hlinkClick r:id="rId3"/>
              </a:rPr>
              <a:t>http://www.linkedin.com/arnefloh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2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 sz="1600"/>
              <a:t>Module </a:t>
            </a:r>
            <a:r>
              <a:rPr lang="de-AT" dirty="0" err="1" sz="1600"/>
              <a:t>Convenor</a:t>
            </a:r>
            <a:r>
              <a:rPr lang="de-AT" dirty="0" sz="1600"/>
              <a:t> – Dr Arne Floh</a:t>
            </a:r>
            <a:endParaRPr lang="en-GB" dirty="0"/>
          </a:p>
        </p:txBody>
      </p:sp>
      <p:pic>
        <p:nvPicPr>
          <p:cNvPr id="6" name="Picture 2"/>
          <p:cNvPicPr>
            <a:picLocks noChangeAspect="1"/>
          </p:cNvPicPr>
          <p:nvPr/>
        </p:nvPicPr>
        <p:blipFill rotWithShape="1">
          <a:blip r:embed="rId4"/>
          <a:srcRect l="22854" t="-354" r="47068" b="46641"/>
          <a:stretch/>
        </p:blipFill>
        <p:spPr>
          <a:xfrm>
            <a:off x="5996142" y="200165"/>
            <a:ext cx="871429" cy="782891"/>
          </a:xfrm>
          <a:prstGeom prst="rect">
            <a:avLst/>
          </a:prstGeom>
        </p:spPr>
      </p:pic>
      <p:sp>
        <p:nvSpPr>
          <p:cNvPr id="900" name="Contact text"/>
          <p:cNvSpPr txBox="1"/>
          <p:nvPr/>
        </p:nvSpPr>
        <p:spPr>
          <a:xfrm>
            <a:off x="5334000" y="2006600"/>
            <a:ext cx="32512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T: 01 31336 6367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E: </a:t>
            </a:r>
            <a:r>
              <a:rPr lang="en-GB" altLang="de-DE" sz="1300" dirty="0">
                <a:hlinkClick r:id="rId5"/>
              </a:rPr>
              <a:t>arne.floh@wu.ac.at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de-AT" altLang="de-DE" sz="1300" dirty="0"/>
              <a:t>R</a:t>
            </a:r>
            <a:r>
              <a:rPr lang="en-GB" altLang="de-DE" sz="1300" dirty="0"/>
              <a:t>oom D1.5.068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Office hours: </a:t>
            </a:r>
            <a:r>
              <a:rPr lang="en-GB" altLang="de-DE" sz="1300" dirty="0">
                <a:hlinkClick r:id="rId6"/>
              </a:rPr>
              <a:t>book online (Google Calendar)</a:t>
            </a:r>
          </a:p>
        </p:txBody>
      </p:sp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International Marketing Analytics · WT 2026/27</a:t>
            </a:r>
          </a:p>
        </p:txBody>
      </p:sp>
    </p:spTree>
    <p:extLst>
      <p:ext uri="{BB962C8B-B14F-4D97-AF65-F5344CB8AC3E}">
        <p14:creationId xmlns:p14="http://schemas.microsoft.com/office/powerpoint/2010/main" val="2862754741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1"/>
            <a:r>
              <a:rPr lang="en-GB" altLang="de-DE" sz="1300" dirty="0"/>
              <a:t>Work Experience</a:t>
            </a:r>
          </a:p>
          <a:p>
            <a:pPr lvl="2"/>
            <a:r>
              <a:rPr lang="en-GB" altLang="de-DE" sz="1300" dirty="0"/>
              <a:t>International &amp; Industry Background</a:t>
            </a:r>
          </a:p>
          <a:p>
            <a:pPr lvl="2"/>
            <a:r>
              <a:rPr lang="en-GB" altLang="de-DE" sz="1300" dirty="0"/>
              <a:t>Teaching Experience &gt; 25 Years</a:t>
            </a:r>
          </a:p>
          <a:p>
            <a:pPr lvl="1"/>
            <a:r>
              <a:rPr lang="en-GB" altLang="de-DE" sz="1300" dirty="0"/>
              <a:t>Teaching</a:t>
            </a:r>
          </a:p>
          <a:p>
            <a:pPr lvl="2"/>
            <a:r>
              <a:rPr lang="en-GB" altLang="de-DE" sz="1300" dirty="0"/>
              <a:t>International Marketing</a:t>
            </a:r>
          </a:p>
          <a:p>
            <a:pPr lvl="2"/>
            <a:r>
              <a:rPr lang="en-GB" altLang="de-DE" sz="1300" dirty="0"/>
              <a:t>International Business Projects</a:t>
            </a:r>
          </a:p>
          <a:p>
            <a:pPr lvl="2"/>
            <a:r>
              <a:rPr lang="en-GB" altLang="de-DE" sz="1300" dirty="0"/>
              <a:t>Marketing Research and Marketing Analytics</a:t>
            </a:r>
          </a:p>
          <a:p>
            <a:pPr lvl="2"/>
            <a:r>
              <a:rPr lang="en-GB" altLang="de-DE" sz="1300" dirty="0"/>
              <a:t>Global Branding</a:t>
            </a:r>
          </a:p>
          <a:p>
            <a:pPr lvl="2"/>
            <a:r>
              <a:rPr lang="en-GB" altLang="de-DE" sz="1300" dirty="0"/>
              <a:t>Supervision (BSc, MSc, PhD)</a:t>
            </a:r>
          </a:p>
          <a:p>
            <a:pPr lvl="1"/>
            <a:r>
              <a:rPr lang="en-GB" altLang="de-DE" sz="1300" dirty="0"/>
              <a:t>Research</a:t>
            </a:r>
          </a:p>
          <a:p>
            <a:pPr lvl="2"/>
            <a:r>
              <a:rPr lang="en-GB" altLang="de-DE" sz="1300" dirty="0"/>
              <a:t>Dynamic </a:t>
            </a:r>
            <a:r>
              <a:rPr lang="en-GB" altLang="de-DE" sz="1300" dirty="0" err="1"/>
              <a:t>Capabilties</a:t>
            </a:r>
            <a:r>
              <a:rPr lang="en-GB" altLang="de-DE" sz="1300" dirty="0"/>
              <a:t> and Firm Performance</a:t>
            </a:r>
          </a:p>
          <a:p>
            <a:pPr lvl="2"/>
            <a:r>
              <a:rPr lang="en-GB" altLang="de-DE" sz="1300" dirty="0"/>
              <a:t>GenAI and Marketing</a:t>
            </a:r>
          </a:p>
          <a:p>
            <a:pPr lvl="2"/>
            <a:r>
              <a:rPr lang="en-GB" altLang="de-DE" sz="1300" dirty="0"/>
              <a:t>SMEs and Internationalization</a:t>
            </a:r>
          </a:p>
          <a:p>
            <a:pPr lvl="1"/>
            <a:r>
              <a:rPr lang="en-GB" altLang="de-DE" sz="1300" dirty="0"/>
              <a:t>Private</a:t>
            </a:r>
          </a:p>
          <a:p>
            <a:pPr lvl="2"/>
            <a:r>
              <a:rPr lang="en-GB" altLang="de-DE" sz="1300" dirty="0"/>
              <a:t>Football</a:t>
            </a:r>
          </a:p>
          <a:p>
            <a:pPr lvl="2"/>
            <a:r>
              <a:rPr lang="en-GB" altLang="de-DE" sz="1300" dirty="0"/>
              <a:t>Electronic Gadgets</a:t>
            </a:r>
          </a:p>
          <a:p>
            <a:pPr lvl="2"/>
            <a:r>
              <a:rPr lang="en-GB" altLang="de-DE" sz="1300" dirty="0"/>
              <a:t>Austrian Wine</a:t>
            </a:r>
          </a:p>
          <a:p>
            <a:pPr lvl="1"/>
            <a:endParaRPr lang="en-GB" altLang="de-DE" sz="1300" dirty="0"/>
          </a:p>
          <a:p>
            <a:pPr lvl="1"/>
            <a:endParaRPr lang="en-GB" altLang="de-DE" sz="1300" dirty="0"/>
          </a:p>
          <a:p>
            <a:endParaRPr lang="en-GB" altLang="de-DE" sz="1300" dirty="0"/>
          </a:p>
          <a:p>
            <a:endParaRPr lang="en-GB" sz="130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3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 sz="1600"/>
              <a:t>Module </a:t>
            </a:r>
            <a:r>
              <a:rPr lang="de-AT" dirty="0" err="1" sz="1600"/>
              <a:t>Convenor</a:t>
            </a:r>
            <a:r>
              <a:rPr lang="de-AT" dirty="0" sz="1600"/>
              <a:t> – Dr Arne Floh</a:t>
            </a:r>
            <a:endParaRPr lang="en-GB" dirty="0"/>
          </a:p>
        </p:txBody>
      </p:sp>
      <p:pic>
        <p:nvPicPr>
          <p:cNvPr id="31" name="Picture 2"/>
          <p:cNvPicPr>
            <a:picLocks noChangeAspect="1"/>
          </p:cNvPicPr>
          <p:nvPr/>
        </p:nvPicPr>
        <p:blipFill rotWithShape="1">
          <a:blip r:embed="rId2"/>
          <a:srcRect l="22854" t="-354" r="47068" b="46641"/>
          <a:stretch/>
        </p:blipFill>
        <p:spPr>
          <a:xfrm>
            <a:off x="5976996" y="183329"/>
            <a:ext cx="871429" cy="782891"/>
          </a:xfrm>
          <a:prstGeom prst="rect">
            <a:avLst/>
          </a:prstGeom>
        </p:spPr>
      </p:pic>
      <p:pic>
        <p:nvPicPr>
          <p:cNvPr id="18" name="Picture 5">
            <a:extLst>
              <a:ext uri="{FF2B5EF4-FFF2-40B4-BE49-F238E27FC236}">
                <a16:creationId xmlns:a16="http://schemas.microsoft.com/office/drawing/2014/main" id="{B20435F2-0841-4617-84F5-0C069C5B7A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3523" b="18973"/>
          <a:stretch>
            <a:fillRect/>
          </a:stretch>
        </p:blipFill>
        <p:spPr bwMode="auto">
          <a:xfrm>
            <a:off x="5943600" y="1545167"/>
            <a:ext cx="812800" cy="1354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9" name="Picture 7" descr="C:\Users\FLOH01\Documents\Diverses\Social Media Marketing.jpg">
            <a:extLst>
              <a:ext uri="{FF2B5EF4-FFF2-40B4-BE49-F238E27FC236}">
                <a16:creationId xmlns:a16="http://schemas.microsoft.com/office/drawing/2014/main" id="{748A9F97-126D-4B75-8FE0-16A3FBA3C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0" y="3324376"/>
            <a:ext cx="812800" cy="59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8" descr="C:\Users\FLOH01\Documents\Diverses\CustLoy.jpg">
            <a:extLst>
              <a:ext uri="{FF2B5EF4-FFF2-40B4-BE49-F238E27FC236}">
                <a16:creationId xmlns:a16="http://schemas.microsoft.com/office/drawing/2014/main" id="{9F9E079F-0FD9-4D44-A202-E4A6EDDA71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1700" y="3251200"/>
            <a:ext cx="736600" cy="736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9" descr="C:\Users\FLOH01\Documents\Diverses\Maradona.jpg">
            <a:extLst>
              <a:ext uri="{FF2B5EF4-FFF2-40B4-BE49-F238E27FC236}">
                <a16:creationId xmlns:a16="http://schemas.microsoft.com/office/drawing/2014/main" id="{4D115C44-4118-40BB-A76E-053C6D127F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600" y="4239326"/>
            <a:ext cx="812800" cy="53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0" descr="C:\Users\FLOH01\Documents\Diverses\iPhone.jpg">
            <a:extLst>
              <a:ext uri="{FF2B5EF4-FFF2-40B4-BE49-F238E27FC236}">
                <a16:creationId xmlns:a16="http://schemas.microsoft.com/office/drawing/2014/main" id="{2AF1D26F-471E-485B-92E1-5F56E09F5F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0" y="4203700"/>
            <a:ext cx="8128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B408EE01-B542-4660-B0D3-FBD43BA77E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2807" y="2032000"/>
            <a:ext cx="765586" cy="106680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6C149411-6646-4881-AC51-37581FA347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56300" y="2032000"/>
            <a:ext cx="787400" cy="1066800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B7E81BED-3E73-4767-B869-CF72D9B7D00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4350" y="2032000"/>
            <a:ext cx="800100" cy="1066800"/>
          </a:xfrm>
          <a:prstGeom prst="rect">
            <a:avLst/>
          </a:prstGeom>
        </p:spPr>
      </p:pic>
      <p:pic>
        <p:nvPicPr>
          <p:cNvPr id="27" name="Picture 2" descr="Entrepreneurial Marketing">
            <a:extLst>
              <a:ext uri="{FF2B5EF4-FFF2-40B4-BE49-F238E27FC236}">
                <a16:creationId xmlns:a16="http://schemas.microsoft.com/office/drawing/2014/main" id="{D1D91749-54D0-4728-BD44-4530B7260F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032000"/>
            <a:ext cx="673100" cy="106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0E861A12-FBD5-4375-9D5E-B3F3E3AAED1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80000" y="1346200"/>
            <a:ext cx="711200" cy="533400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DCA1A994-C935-43CE-93F8-29BFA8C4518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64350" y="1460500"/>
            <a:ext cx="800100" cy="30480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DA807570-9906-45C3-9264-3AD85B5FD10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10500" y="1403350"/>
            <a:ext cx="736600" cy="4191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C81F732C-A406-456E-26A8-5A5ABAEE90B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flipH="1">
            <a:off x="6896100" y="3251200"/>
            <a:ext cx="736600" cy="7366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49B8F467-DDA6-41DD-87EC-E17A8E3A849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3251200"/>
            <a:ext cx="736600" cy="736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597428DC-BC39-C343-7D7A-1B67222543C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77200" y="4184650"/>
            <a:ext cx="203200" cy="647700"/>
          </a:xfrm>
          <a:prstGeom prst="rect">
            <a:avLst/>
          </a:prstGeom>
        </p:spPr>
      </p:pic>
      <p:pic>
        <p:nvPicPr>
          <p:cNvPr id="6" name="Grafik 5" descr="Ein Bild, das draußen, Himmel, Person, Gras enthält.&#10;&#10;KI-generierte Inhalte können fehlerhaft sein.">
            <a:extLst>
              <a:ext uri="{FF2B5EF4-FFF2-40B4-BE49-F238E27FC236}">
                <a16:creationId xmlns:a16="http://schemas.microsoft.com/office/drawing/2014/main" id="{9506A783-5B4B-819B-A493-114BE8F2565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0" y="4205131"/>
            <a:ext cx="812800" cy="606738"/>
          </a:xfrm>
          <a:prstGeom prst="rect">
            <a:avLst/>
          </a:prstGeom>
        </p:spPr>
      </p:pic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International Marketing Analytics · WT 2026/27</a:t>
            </a:r>
          </a:p>
        </p:txBody>
      </p:sp>
    </p:spTree>
    <p:extLst>
      <p:ext uri="{BB962C8B-B14F-4D97-AF65-F5344CB8AC3E}">
        <p14:creationId xmlns:p14="http://schemas.microsoft.com/office/powerpoint/2010/main" val="3317189222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Module content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Content row 1"/>
          <p:cNvSpPr/>
          <p:nvPr/>
        </p:nvSpPr>
        <p:spPr>
          <a:xfrm>
            <a:off x="457200" y="1234440"/>
            <a:ext cx="8229600" cy="66751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con content row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376172"/>
            <a:ext cx="384048" cy="384048"/>
          </a:xfrm>
          <a:prstGeom prst="rect">
            <a:avLst/>
          </a:prstGeom>
        </p:spPr>
      </p:pic>
      <p:sp>
        <p:nvSpPr>
          <p:cNvPr id="12" name="Content text 1"/>
          <p:cNvSpPr txBox="1"/>
          <p:nvPr/>
        </p:nvSpPr>
        <p:spPr>
          <a:xfrm>
            <a:off x="1280160" y="1234440"/>
            <a:ext cx="7223760" cy="6675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Marketing analytics </a:t>
            </a:r>
            <a:r>
              <a:rPr sz="1300" b="0" lang="en-GB">
                <a:solidFill>
                  <a:schemeClr val="tx1"/>
                </a:solidFill>
              </a:rPr>
              <a:t>turns marketing data into decisions. It measures what marketing achieved and shows where the next euro should go.</a:t>
            </a:r>
          </a:p>
        </p:txBody>
      </p:sp>
      <p:sp>
        <p:nvSpPr>
          <p:cNvPr id="13" name="Content row 2"/>
          <p:cNvSpPr/>
          <p:nvPr/>
        </p:nvSpPr>
        <p:spPr>
          <a:xfrm>
            <a:off x="457200" y="2039112"/>
            <a:ext cx="8229600" cy="66751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Icon content row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180844"/>
            <a:ext cx="384048" cy="384048"/>
          </a:xfrm>
          <a:prstGeom prst="rect">
            <a:avLst/>
          </a:prstGeom>
        </p:spPr>
      </p:pic>
      <p:sp>
        <p:nvSpPr>
          <p:cNvPr id="15" name="Content text 2"/>
          <p:cNvSpPr txBox="1"/>
          <p:nvPr/>
        </p:nvSpPr>
        <p:spPr>
          <a:xfrm>
            <a:off x="1280160" y="2039112"/>
            <a:ext cx="7223760" cy="6675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Key questions: </a:t>
            </a:r>
            <a:r>
              <a:rPr sz="1300" b="0" lang="en-GB">
                <a:solidFill>
                  <a:schemeClr val="tx1"/>
                </a:solidFill>
              </a:rPr>
              <a:t>how do price, place, product features and promotion drive performance measures such as sales, and how should a fixed budget be split across countries and channels?</a:t>
            </a:r>
          </a:p>
        </p:txBody>
      </p:sp>
      <p:sp>
        <p:nvSpPr>
          <p:cNvPr id="16" name="Content row 3"/>
          <p:cNvSpPr/>
          <p:nvPr/>
        </p:nvSpPr>
        <p:spPr>
          <a:xfrm>
            <a:off x="457200" y="2843784"/>
            <a:ext cx="8229600" cy="66751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Icon content row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2985516"/>
            <a:ext cx="384048" cy="384048"/>
          </a:xfrm>
          <a:prstGeom prst="rect">
            <a:avLst/>
          </a:prstGeom>
        </p:spPr>
      </p:pic>
      <p:sp>
        <p:nvSpPr>
          <p:cNvPr id="18" name="Content text 3"/>
          <p:cNvSpPr txBox="1"/>
          <p:nvPr/>
        </p:nvSpPr>
        <p:spPr>
          <a:xfrm>
            <a:off x="1280160" y="2843784"/>
            <a:ext cx="7223760" cy="6675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Marketing mix modelling in plain words: </a:t>
            </a:r>
            <a:r>
              <a:rPr sz="1300" b="0" lang="en-GB">
                <a:solidFill>
                  <a:schemeClr val="tx1"/>
                </a:solidFill>
              </a:rPr>
              <a:t>a model that splits sales into what would have sold anyway and the extra sales each marketing activity brought in.</a:t>
            </a:r>
          </a:p>
        </p:txBody>
      </p:sp>
      <p:sp>
        <p:nvSpPr>
          <p:cNvPr id="19" name="Content row 4"/>
          <p:cNvSpPr/>
          <p:nvPr/>
        </p:nvSpPr>
        <p:spPr>
          <a:xfrm>
            <a:off x="457200" y="3648456"/>
            <a:ext cx="8229600" cy="66751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Icon content row 4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3790188"/>
            <a:ext cx="384048" cy="384048"/>
          </a:xfrm>
          <a:prstGeom prst="rect">
            <a:avLst/>
          </a:prstGeom>
        </p:spPr>
      </p:pic>
      <p:sp>
        <p:nvSpPr>
          <p:cNvPr id="21" name="Content text 4"/>
          <p:cNvSpPr txBox="1"/>
          <p:nvPr/>
        </p:nvSpPr>
        <p:spPr>
          <a:xfrm>
            <a:off x="1280160" y="3648456"/>
            <a:ext cx="7223760" cy="6675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Tools: </a:t>
            </a:r>
            <a:r>
              <a:rPr sz="1300" b="0" lang="en-GB">
                <a:solidFill>
                  <a:schemeClr val="tx1"/>
                </a:solidFill>
              </a:rPr>
              <a:t>Python in Positron, GitHub for versioning and DataCamp courses; AI assistants do most of the typing, you check the results.</a:t>
            </a:r>
          </a:p>
        </p:txBody>
      </p:sp>
      <p:sp>
        <p:nvSpPr>
          <p:cNvPr id="22" name="Content row 5"/>
          <p:cNvSpPr/>
          <p:nvPr/>
        </p:nvSpPr>
        <p:spPr>
          <a:xfrm>
            <a:off x="457200" y="4453128"/>
            <a:ext cx="8229600" cy="66751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Icon content row 5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4594860"/>
            <a:ext cx="384048" cy="384048"/>
          </a:xfrm>
          <a:prstGeom prst="rect">
            <a:avLst/>
          </a:prstGeom>
        </p:spPr>
      </p:pic>
      <p:sp>
        <p:nvSpPr>
          <p:cNvPr id="24" name="Content text 5"/>
          <p:cNvSpPr txBox="1"/>
          <p:nvPr/>
        </p:nvSpPr>
        <p:spPr>
          <a:xfrm>
            <a:off x="1280160" y="4453128"/>
            <a:ext cx="7223760" cy="6675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Case studies: </a:t>
            </a:r>
            <a:r>
              <a:rPr sz="1300" b="0" lang="en-GB">
                <a:solidFill>
                  <a:schemeClr val="tx1"/>
                </a:solidFill>
              </a:rPr>
              <a:t>Zalando and NEOH, plus a six-country teaching dataset with known answers for the labs.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Course roadmap: five sessions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Road"/>
          <p:cNvSpPr/>
          <p:nvPr/>
        </p:nvSpPr>
        <p:spPr>
          <a:xfrm>
            <a:off x="457200" y="1517904"/>
            <a:ext cx="8001000" cy="1097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ad end"/>
          <p:cNvSpPr/>
          <p:nvPr/>
        </p:nvSpPr>
        <p:spPr>
          <a:xfrm rot="5400000">
            <a:off x="8412480" y="1417320"/>
            <a:ext cx="274320" cy="310896"/>
          </a:xfrm>
          <a:prstGeom prst="triangl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Stop connector 1"/>
          <p:cNvSpPr/>
          <p:nvPr/>
        </p:nvSpPr>
        <p:spPr>
          <a:xfrm>
            <a:off x="1229868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Stop 1"/>
          <p:cNvSpPr/>
          <p:nvPr/>
        </p:nvSpPr>
        <p:spPr>
          <a:xfrm>
            <a:off x="969264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14" name="Session card 1"/>
          <p:cNvSpPr/>
          <p:nvPr/>
        </p:nvSpPr>
        <p:spPr>
          <a:xfrm>
            <a:off x="457200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Session theme 1"/>
          <p:cNvSpPr txBox="1"/>
          <p:nvPr/>
        </p:nvSpPr>
        <p:spPr>
          <a:xfrm>
            <a:off x="521208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Introduction and linear regression</a:t>
            </a:r>
          </a:p>
        </p:txBody>
      </p:sp>
      <p:sp>
        <p:nvSpPr>
          <p:cNvPr id="16" name="Session rule 1"/>
          <p:cNvSpPr/>
          <p:nvPr/>
        </p:nvSpPr>
        <p:spPr>
          <a:xfrm>
            <a:off x="521208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Session text 1"/>
          <p:cNvSpPr txBox="1"/>
          <p:nvPr/>
        </p:nvSpPr>
        <p:spPr>
          <a:xfrm>
            <a:off x="521208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MMM basics, OLS, elasticities, dummy variables</a:t>
            </a:r>
          </a:p>
        </p:txBody>
      </p:sp>
      <p:sp>
        <p:nvSpPr>
          <p:cNvPr id="18" name="Stop connector 2"/>
          <p:cNvSpPr/>
          <p:nvPr/>
        </p:nvSpPr>
        <p:spPr>
          <a:xfrm>
            <a:off x="2894076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Stop 2"/>
          <p:cNvSpPr/>
          <p:nvPr/>
        </p:nvSpPr>
        <p:spPr>
          <a:xfrm>
            <a:off x="2633472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2</a:t>
            </a:r>
          </a:p>
        </p:txBody>
      </p:sp>
      <p:sp>
        <p:nvSpPr>
          <p:cNvPr id="20" name="Session card 2"/>
          <p:cNvSpPr/>
          <p:nvPr/>
        </p:nvSpPr>
        <p:spPr>
          <a:xfrm>
            <a:off x="2121408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Session theme 2"/>
          <p:cNvSpPr txBox="1"/>
          <p:nvPr/>
        </p:nvSpPr>
        <p:spPr>
          <a:xfrm>
            <a:off x="2185416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Advanced regression</a:t>
            </a:r>
          </a:p>
        </p:txBody>
      </p:sp>
      <p:sp>
        <p:nvSpPr>
          <p:cNvPr id="22" name="Session rule 2"/>
          <p:cNvSpPr/>
          <p:nvPr/>
        </p:nvSpPr>
        <p:spPr>
          <a:xfrm>
            <a:off x="2185416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Session text 2"/>
          <p:cNvSpPr txBox="1"/>
          <p:nvPr/>
        </p:nvSpPr>
        <p:spPr>
          <a:xfrm>
            <a:off x="2185416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Non-linear effects, interactions, adstock, saturation</a:t>
            </a:r>
          </a:p>
        </p:txBody>
      </p:sp>
      <p:sp>
        <p:nvSpPr>
          <p:cNvPr id="24" name="Stop connector 3"/>
          <p:cNvSpPr/>
          <p:nvPr/>
        </p:nvSpPr>
        <p:spPr>
          <a:xfrm>
            <a:off x="4558284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Stop 3"/>
          <p:cNvSpPr/>
          <p:nvPr/>
        </p:nvSpPr>
        <p:spPr>
          <a:xfrm>
            <a:off x="4297680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3</a:t>
            </a:r>
          </a:p>
        </p:txBody>
      </p:sp>
      <p:sp>
        <p:nvSpPr>
          <p:cNvPr id="26" name="Session card 3"/>
          <p:cNvSpPr/>
          <p:nvPr/>
        </p:nvSpPr>
        <p:spPr>
          <a:xfrm>
            <a:off x="3785616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Session theme 3"/>
          <p:cNvSpPr txBox="1"/>
          <p:nvPr/>
        </p:nvSpPr>
        <p:spPr>
          <a:xfrm>
            <a:off x="3849624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Logistic regression</a:t>
            </a:r>
          </a:p>
        </p:txBody>
      </p:sp>
      <p:sp>
        <p:nvSpPr>
          <p:cNvPr id="28" name="Session rule 3"/>
          <p:cNvSpPr/>
          <p:nvPr/>
        </p:nvSpPr>
        <p:spPr>
          <a:xfrm>
            <a:off x="3849624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Session text 3"/>
          <p:cNvSpPr txBox="1"/>
          <p:nvPr/>
        </p:nvSpPr>
        <p:spPr>
          <a:xfrm>
            <a:off x="3849624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Binary outcomes such as purchase or churn, odds ratios</a:t>
            </a:r>
          </a:p>
        </p:txBody>
      </p:sp>
      <p:sp>
        <p:nvSpPr>
          <p:cNvPr id="30" name="Stop connector 4"/>
          <p:cNvSpPr/>
          <p:nvPr/>
        </p:nvSpPr>
        <p:spPr>
          <a:xfrm>
            <a:off x="6222492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Stop 4"/>
          <p:cNvSpPr/>
          <p:nvPr/>
        </p:nvSpPr>
        <p:spPr>
          <a:xfrm>
            <a:off x="5961888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4</a:t>
            </a:r>
          </a:p>
        </p:txBody>
      </p:sp>
      <p:sp>
        <p:nvSpPr>
          <p:cNvPr id="32" name="Session card 4"/>
          <p:cNvSpPr/>
          <p:nvPr/>
        </p:nvSpPr>
        <p:spPr>
          <a:xfrm>
            <a:off x="5449824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Session theme 4"/>
          <p:cNvSpPr txBox="1"/>
          <p:nvPr/>
        </p:nvSpPr>
        <p:spPr>
          <a:xfrm>
            <a:off x="5513832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ARIMA</a:t>
            </a:r>
          </a:p>
        </p:txBody>
      </p:sp>
      <p:sp>
        <p:nvSpPr>
          <p:cNvPr id="34" name="Session rule 4"/>
          <p:cNvSpPr/>
          <p:nvPr/>
        </p:nvSpPr>
        <p:spPr>
          <a:xfrm>
            <a:off x="5513832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Session text 4"/>
          <p:cNvSpPr txBox="1"/>
          <p:nvPr/>
        </p:nvSpPr>
        <p:spPr>
          <a:xfrm>
            <a:off x="5513832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Trend, seasonality, forecasting the sales baseline</a:t>
            </a:r>
          </a:p>
        </p:txBody>
      </p:sp>
      <p:sp>
        <p:nvSpPr>
          <p:cNvPr id="36" name="Stop connector 5"/>
          <p:cNvSpPr/>
          <p:nvPr/>
        </p:nvSpPr>
        <p:spPr>
          <a:xfrm>
            <a:off x="7886700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Stop 5"/>
          <p:cNvSpPr/>
          <p:nvPr/>
        </p:nvSpPr>
        <p:spPr>
          <a:xfrm>
            <a:off x="7626096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5</a:t>
            </a:r>
          </a:p>
        </p:txBody>
      </p:sp>
      <p:sp>
        <p:nvSpPr>
          <p:cNvPr id="38" name="Session card 5"/>
          <p:cNvSpPr/>
          <p:nvPr/>
        </p:nvSpPr>
        <p:spPr>
          <a:xfrm>
            <a:off x="7114032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Session theme 5"/>
          <p:cNvSpPr txBox="1"/>
          <p:nvPr/>
        </p:nvSpPr>
        <p:spPr>
          <a:xfrm>
            <a:off x="7178040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Advanced MMM tools</a:t>
            </a:r>
          </a:p>
        </p:txBody>
      </p:sp>
      <p:sp>
        <p:nvSpPr>
          <p:cNvPr id="40" name="Session rule 5"/>
          <p:cNvSpPr/>
          <p:nvPr/>
        </p:nvSpPr>
        <p:spPr>
          <a:xfrm>
            <a:off x="7178040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Session text 5"/>
          <p:cNvSpPr txBox="1"/>
          <p:nvPr/>
        </p:nvSpPr>
        <p:spPr>
          <a:xfrm>
            <a:off x="7178040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Bayesian MMM, budget optimisation across channels</a:t>
            </a:r>
          </a:p>
        </p:txBody>
      </p:sp>
      <p:sp>
        <p:nvSpPr>
          <p:cNvPr id="42" name="Along the way"/>
          <p:cNvSpPr/>
          <p:nvPr/>
        </p:nvSpPr>
        <p:spPr>
          <a:xfrm>
            <a:off x="457200" y="4526280"/>
            <a:ext cx="5257800" cy="548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Icon along the way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626864"/>
            <a:ext cx="347472" cy="347472"/>
          </a:xfrm>
          <a:prstGeom prst="rect">
            <a:avLst/>
          </a:prstGeom>
        </p:spPr>
      </p:pic>
      <p:sp>
        <p:nvSpPr>
          <p:cNvPr id="44" name="Along the way text"/>
          <p:cNvSpPr txBox="1"/>
          <p:nvPr/>
        </p:nvSpPr>
        <p:spPr>
          <a:xfrm>
            <a:off x="1097280" y="4526280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Along the way: </a:t>
            </a:r>
            <a:r>
              <a:rPr sz="1300" b="0" lang="en-GB">
                <a:solidFill>
                  <a:schemeClr val="tx1"/>
                </a:solidFill>
              </a:rPr>
              <a:t>DataCamp certificates, coding exercises, guest speaker</a:t>
            </a:r>
          </a:p>
        </p:txBody>
      </p:sp>
      <p:sp>
        <p:nvSpPr>
          <p:cNvPr id="45" name="Exam box"/>
          <p:cNvSpPr/>
          <p:nvPr/>
        </p:nvSpPr>
        <p:spPr>
          <a:xfrm>
            <a:off x="5852160" y="4526280"/>
            <a:ext cx="2834640" cy="5486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Icon exam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4626864"/>
            <a:ext cx="347472" cy="347472"/>
          </a:xfrm>
          <a:prstGeom prst="rect">
            <a:avLst/>
          </a:prstGeom>
        </p:spPr>
      </p:pic>
      <p:sp>
        <p:nvSpPr>
          <p:cNvPr id="47" name="Exam text"/>
          <p:cNvSpPr txBox="1"/>
          <p:nvPr/>
        </p:nvSpPr>
        <p:spPr>
          <a:xfrm>
            <a:off x="6446520" y="45262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At the end: </a:t>
            </a:r>
            <a:r>
              <a:rPr sz="1300" b="0" lang="en-GB">
                <a:solidFill>
                  <a:schemeClr val="bg1"/>
                </a:solidFill>
              </a:rPr>
              <a:t>written exam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Learning outcomes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Outcomes intro"/>
          <p:cNvSpPr txBox="1"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On successful completion of this module, students will be able to:</a:t>
            </a:r>
          </a:p>
        </p:txBody>
      </p:sp>
      <p:sp>
        <p:nvSpPr>
          <p:cNvPr id="11" name="Outcomes band 1"/>
          <p:cNvSpPr/>
          <p:nvPr/>
        </p:nvSpPr>
        <p:spPr>
          <a:xfrm>
            <a:off x="457200" y="1572768"/>
            <a:ext cx="8229600" cy="10789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utcomes bar 1"/>
          <p:cNvSpPr/>
          <p:nvPr/>
        </p:nvSpPr>
        <p:spPr>
          <a:xfrm>
            <a:off x="457200" y="1572768"/>
            <a:ext cx="64008" cy="10789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Icon Outcomes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20240"/>
            <a:ext cx="384048" cy="384048"/>
          </a:xfrm>
          <a:prstGeom prst="rect">
            <a:avLst/>
          </a:prstGeom>
        </p:spPr>
      </p:pic>
      <p:sp>
        <p:nvSpPr>
          <p:cNvPr id="14" name="Outcomes heading 1"/>
          <p:cNvSpPr txBox="1"/>
          <p:nvPr/>
        </p:nvSpPr>
        <p:spPr>
          <a:xfrm>
            <a:off x="1188720" y="1572768"/>
            <a:ext cx="1325880" cy="10789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Understand</a:t>
            </a:r>
          </a:p>
        </p:txBody>
      </p:sp>
      <p:sp>
        <p:nvSpPr>
          <p:cNvPr id="15" name="Outcomes number 1"/>
          <p:cNvSpPr/>
          <p:nvPr/>
        </p:nvSpPr>
        <p:spPr>
          <a:xfrm>
            <a:off x="2606040" y="1687068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6" name="Outcomes outcome 1"/>
          <p:cNvSpPr txBox="1"/>
          <p:nvPr/>
        </p:nvSpPr>
        <p:spPr>
          <a:xfrm>
            <a:off x="3063240" y="1572768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Explain the fundamentals of MMM, </a:t>
            </a:r>
            <a:r>
              <a:rPr sz="1300" b="0" lang="en-GB">
                <a:solidFill>
                  <a:schemeClr val="tx1"/>
                </a:solidFill>
              </a:rPr>
              <a:t>its strengths and limits</a:t>
            </a:r>
          </a:p>
        </p:txBody>
      </p:sp>
      <p:sp>
        <p:nvSpPr>
          <p:cNvPr id="17" name="Outcomes number 2"/>
          <p:cNvSpPr/>
          <p:nvPr/>
        </p:nvSpPr>
        <p:spPr>
          <a:xfrm>
            <a:off x="2606040" y="2226564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8" name="Outcomes outcome 2"/>
          <p:cNvSpPr txBox="1"/>
          <p:nvPr/>
        </p:nvSpPr>
        <p:spPr>
          <a:xfrm>
            <a:off x="3063240" y="2112264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Describe real-world applications </a:t>
            </a:r>
            <a:r>
              <a:rPr sz="1300" b="0" lang="en-GB">
                <a:solidFill>
                  <a:schemeClr val="tx1"/>
                </a:solidFill>
              </a:rPr>
              <a:t>of MMM in marketing</a:t>
            </a:r>
          </a:p>
        </p:txBody>
      </p:sp>
      <p:sp>
        <p:nvSpPr>
          <p:cNvPr id="19" name="Outcomes band 2"/>
          <p:cNvSpPr/>
          <p:nvPr/>
        </p:nvSpPr>
        <p:spPr>
          <a:xfrm>
            <a:off x="457200" y="2788920"/>
            <a:ext cx="8229600" cy="10789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utcomes bar 2"/>
          <p:cNvSpPr/>
          <p:nvPr/>
        </p:nvSpPr>
        <p:spPr>
          <a:xfrm>
            <a:off x="457200" y="2788920"/>
            <a:ext cx="64008" cy="10789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Icon Outcomes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136392"/>
            <a:ext cx="384048" cy="384048"/>
          </a:xfrm>
          <a:prstGeom prst="rect">
            <a:avLst/>
          </a:prstGeom>
        </p:spPr>
      </p:pic>
      <p:sp>
        <p:nvSpPr>
          <p:cNvPr id="22" name="Outcomes heading 2"/>
          <p:cNvSpPr txBox="1"/>
          <p:nvPr/>
        </p:nvSpPr>
        <p:spPr>
          <a:xfrm>
            <a:off x="1188720" y="2788920"/>
            <a:ext cx="1325880" cy="10789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Apply</a:t>
            </a:r>
          </a:p>
        </p:txBody>
      </p:sp>
      <p:sp>
        <p:nvSpPr>
          <p:cNvPr id="23" name="Outcomes number 3"/>
          <p:cNvSpPr/>
          <p:nvPr/>
        </p:nvSpPr>
        <p:spPr>
          <a:xfrm>
            <a:off x="2606040" y="2903220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4" name="Outcomes outcome 3"/>
          <p:cNvSpPr txBox="1"/>
          <p:nvPr/>
        </p:nvSpPr>
        <p:spPr>
          <a:xfrm>
            <a:off x="3063240" y="2788920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Apply MMM in Python </a:t>
            </a:r>
            <a:r>
              <a:rPr sz="1300" b="0" lang="en-GB">
                <a:solidFill>
                  <a:schemeClr val="tx1"/>
                </a:solidFill>
              </a:rPr>
              <a:t>to cross-sectional and longitudinal data</a:t>
            </a:r>
          </a:p>
        </p:txBody>
      </p:sp>
      <p:sp>
        <p:nvSpPr>
          <p:cNvPr id="25" name="Outcomes number 4"/>
          <p:cNvSpPr/>
          <p:nvPr/>
        </p:nvSpPr>
        <p:spPr>
          <a:xfrm>
            <a:off x="2606040" y="3442716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6" name="Outcomes outcome 4"/>
          <p:cNvSpPr txBox="1"/>
          <p:nvPr/>
        </p:nvSpPr>
        <p:spPr>
          <a:xfrm>
            <a:off x="3063240" y="3328416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Interpret results </a:t>
            </a:r>
            <a:r>
              <a:rPr sz="1300" b="0" lang="en-GB">
                <a:solidFill>
                  <a:schemeClr val="tx1"/>
                </a:solidFill>
              </a:rPr>
              <a:t>and turn them into marketing decisions</a:t>
            </a:r>
          </a:p>
        </p:txBody>
      </p:sp>
      <p:sp>
        <p:nvSpPr>
          <p:cNvPr id="27" name="Outcomes band 3"/>
          <p:cNvSpPr/>
          <p:nvPr/>
        </p:nvSpPr>
        <p:spPr>
          <a:xfrm>
            <a:off x="457200" y="4005072"/>
            <a:ext cx="8229600" cy="10789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utcomes bar 3"/>
          <p:cNvSpPr/>
          <p:nvPr/>
        </p:nvSpPr>
        <p:spPr>
          <a:xfrm>
            <a:off x="457200" y="4005072"/>
            <a:ext cx="64008" cy="10789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Icon Outcomes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352544"/>
            <a:ext cx="384048" cy="384048"/>
          </a:xfrm>
          <a:prstGeom prst="rect">
            <a:avLst/>
          </a:prstGeom>
        </p:spPr>
      </p:pic>
      <p:sp>
        <p:nvSpPr>
          <p:cNvPr id="30" name="Outcomes heading 3"/>
          <p:cNvSpPr txBox="1"/>
          <p:nvPr/>
        </p:nvSpPr>
        <p:spPr>
          <a:xfrm>
            <a:off x="1188720" y="4005072"/>
            <a:ext cx="1325880" cy="10789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Transfer</a:t>
            </a:r>
          </a:p>
        </p:txBody>
      </p:sp>
      <p:sp>
        <p:nvSpPr>
          <p:cNvPr id="31" name="Outcomes number 5"/>
          <p:cNvSpPr/>
          <p:nvPr/>
        </p:nvSpPr>
        <p:spPr>
          <a:xfrm>
            <a:off x="2606040" y="4119372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32" name="Outcomes outcome 5"/>
          <p:cNvSpPr txBox="1"/>
          <p:nvPr/>
        </p:nvSpPr>
        <p:spPr>
          <a:xfrm>
            <a:off x="3063240" y="4005072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Use AI tools </a:t>
            </a:r>
            <a:r>
              <a:rPr sz="1300" b="0" lang="en-GB">
                <a:solidFill>
                  <a:schemeClr val="tx1"/>
                </a:solidFill>
              </a:rPr>
              <a:t>for analysis and reporting, and check the output</a:t>
            </a:r>
          </a:p>
        </p:txBody>
      </p:sp>
      <p:sp>
        <p:nvSpPr>
          <p:cNvPr id="33" name="Outcomes number 6"/>
          <p:cNvSpPr/>
          <p:nvPr/>
        </p:nvSpPr>
        <p:spPr>
          <a:xfrm>
            <a:off x="2606040" y="4658868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34" name="Outcomes outcome 6"/>
          <p:cNvSpPr txBox="1"/>
          <p:nvPr/>
        </p:nvSpPr>
        <p:spPr>
          <a:xfrm>
            <a:off x="3063240" y="4544568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Think critically </a:t>
            </a:r>
            <a:r>
              <a:rPr sz="1300" b="0" lang="en-GB">
                <a:solidFill>
                  <a:schemeClr val="tx1"/>
                </a:solidFill>
              </a:rPr>
              <a:t>and work effectively in teams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Methods of teaching and learning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Session rhythm label"/>
          <p:cNvSpPr txBox="1"/>
          <p:nvPr/>
        </p:nvSpPr>
        <p:spPr>
          <a:xfrm>
            <a:off x="457200" y="11704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Every session</a:t>
            </a:r>
          </a:p>
        </p:txBody>
      </p:sp>
      <p:sp>
        <p:nvSpPr>
          <p:cNvPr id="11" name="Session rhythm step 1"/>
          <p:cNvSpPr/>
          <p:nvPr/>
        </p:nvSpPr>
        <p:spPr>
          <a:xfrm>
            <a:off x="457200" y="1481328"/>
            <a:ext cx="2139696" cy="658368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Concept lecture</a:t>
            </a:r>
            <a:br/>
            <a:r>
              <a:rPr sz="1300" b="1" lang="en-GB">
                <a:solidFill>
                  <a:schemeClr val="tx2"/>
                </a:solidFill>
              </a:rPr>
              <a:t>60 min</a:t>
            </a:r>
          </a:p>
        </p:txBody>
      </p:sp>
      <p:sp>
        <p:nvSpPr>
          <p:cNvPr id="12" name="Session rhythm step 2"/>
          <p:cNvSpPr/>
          <p:nvPr/>
        </p:nvSpPr>
        <p:spPr>
          <a:xfrm>
            <a:off x="2487168" y="1481328"/>
            <a:ext cx="2139696" cy="65836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Guided lab</a:t>
            </a:r>
            <a:br/>
            <a:r>
              <a:rPr sz="1300" b="1" lang="en-GB">
                <a:solidFill>
                  <a:schemeClr val="tx2"/>
                </a:solidFill>
              </a:rPr>
              <a:t>90 min</a:t>
            </a:r>
          </a:p>
        </p:txBody>
      </p:sp>
      <p:sp>
        <p:nvSpPr>
          <p:cNvPr id="13" name="Session rhythm step 3"/>
          <p:cNvSpPr/>
          <p:nvPr/>
        </p:nvSpPr>
        <p:spPr>
          <a:xfrm>
            <a:off x="4517136" y="1481328"/>
            <a:ext cx="2139696" cy="65836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Team exercise</a:t>
            </a:r>
            <a:br/>
            <a:r>
              <a:rPr sz="1300" b="1" lang="en-GB">
                <a:solidFill>
                  <a:schemeClr val="tx2"/>
                </a:solidFill>
              </a:rPr>
              <a:t>60 min</a:t>
            </a:r>
          </a:p>
        </p:txBody>
      </p:sp>
      <p:sp>
        <p:nvSpPr>
          <p:cNvPr id="14" name="Session rhythm step 4"/>
          <p:cNvSpPr/>
          <p:nvPr/>
        </p:nvSpPr>
        <p:spPr>
          <a:xfrm>
            <a:off x="6547104" y="1481328"/>
            <a:ext cx="2139696" cy="65836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Online quiz</a:t>
            </a:r>
            <a:br/>
            <a:r>
              <a:rPr sz="1300" b="1" lang="en-GB">
                <a:solidFill>
                  <a:schemeClr val="tx2"/>
                </a:solidFill>
              </a:rPr>
              <a:t>not graded</a:t>
            </a:r>
          </a:p>
        </p:txBody>
      </p:sp>
      <p:sp>
        <p:nvSpPr>
          <p:cNvPr id="15" name="Between sessions card body"/>
          <p:cNvSpPr/>
          <p:nvPr/>
        </p:nvSpPr>
        <p:spPr>
          <a:xfrm>
            <a:off x="457200" y="2788920"/>
            <a:ext cx="3886200" cy="16459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Between sessions card header"/>
          <p:cNvSpPr/>
          <p:nvPr/>
        </p:nvSpPr>
        <p:spPr>
          <a:xfrm>
            <a:off x="457200" y="2331720"/>
            <a:ext cx="38862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Between sessions card heading"/>
          <p:cNvSpPr txBox="1"/>
          <p:nvPr/>
        </p:nvSpPr>
        <p:spPr>
          <a:xfrm>
            <a:off x="594360" y="2331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Between sessions</a:t>
            </a:r>
          </a:p>
        </p:txBody>
      </p:sp>
      <p:pic>
        <p:nvPicPr>
          <p:cNvPr id="18" name="Icon Between sessions card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488" y="2404872"/>
            <a:ext cx="310896" cy="310896"/>
          </a:xfrm>
          <a:prstGeom prst="rect">
            <a:avLst/>
          </a:prstGeom>
        </p:spPr>
      </p:pic>
      <p:sp>
        <p:nvSpPr>
          <p:cNvPr id="19" name="Between sessions card text"/>
          <p:cNvSpPr txBox="1"/>
          <p:nvPr/>
        </p:nvSpPr>
        <p:spPr>
          <a:xfrm>
            <a:off x="621792" y="2926080"/>
            <a:ext cx="3584448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Read chapters and materials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DataCamp courses and certificates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Coding exercises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Case study report in your group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Q&amp;A forum on Canvas</a:t>
            </a:r>
          </a:p>
        </p:txBody>
      </p:sp>
      <p:sp>
        <p:nvSpPr>
          <p:cNvPr id="20" name="Card arrow"/>
          <p:cNvSpPr/>
          <p:nvPr/>
        </p:nvSpPr>
        <p:spPr>
          <a:xfrm>
            <a:off x="4425696" y="3200400"/>
            <a:ext cx="292608" cy="365760"/>
          </a:xfrm>
          <a:prstGeom prst="chevron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In the classroom card body"/>
          <p:cNvSpPr/>
          <p:nvPr/>
        </p:nvSpPr>
        <p:spPr>
          <a:xfrm>
            <a:off x="4800600" y="2788920"/>
            <a:ext cx="3886200" cy="16459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In the classroom card header"/>
          <p:cNvSpPr/>
          <p:nvPr/>
        </p:nvSpPr>
        <p:spPr>
          <a:xfrm>
            <a:off x="4800600" y="2331720"/>
            <a:ext cx="38862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n the classroom card heading"/>
          <p:cNvSpPr txBox="1"/>
          <p:nvPr/>
        </p:nvSpPr>
        <p:spPr>
          <a:xfrm>
            <a:off x="4937760" y="2331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In the classroom</a:t>
            </a:r>
          </a:p>
        </p:txBody>
      </p:sp>
      <p:pic>
        <p:nvPicPr>
          <p:cNvPr id="24" name="Icon In the classroom card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2404872"/>
            <a:ext cx="310896" cy="310896"/>
          </a:xfrm>
          <a:prstGeom prst="rect">
            <a:avLst/>
          </a:prstGeom>
        </p:spPr>
      </p:pic>
      <p:sp>
        <p:nvSpPr>
          <p:cNvPr id="25" name="In the classroom card text"/>
          <p:cNvSpPr txBox="1"/>
          <p:nvPr/>
        </p:nvSpPr>
        <p:spPr>
          <a:xfrm>
            <a:off x="4965192" y="2926080"/>
            <a:ext cx="3584448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Five in-person sessions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Laptop with Python, Positron, GitHub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AI-assisted coding, checked by you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Guest speaker from industry</a:t>
            </a:r>
          </a:p>
        </p:txBody>
      </p:sp>
      <p:sp>
        <p:nvSpPr>
          <p:cNvPr id="26" name="Exam box"/>
          <p:cNvSpPr/>
          <p:nvPr/>
        </p:nvSpPr>
        <p:spPr>
          <a:xfrm>
            <a:off x="457200" y="4572000"/>
            <a:ext cx="8229600" cy="50292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Icon exam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645152"/>
            <a:ext cx="347472" cy="347472"/>
          </a:xfrm>
          <a:prstGeom prst="rect">
            <a:avLst/>
          </a:prstGeom>
        </p:spPr>
      </p:pic>
      <p:sp>
        <p:nvSpPr>
          <p:cNvPr id="28" name="Exam text"/>
          <p:cNvSpPr txBox="1"/>
          <p:nvPr/>
        </p:nvSpPr>
        <p:spPr>
          <a:xfrm>
            <a:off x="1143000" y="4572000"/>
            <a:ext cx="74066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At the end: </a:t>
            </a:r>
            <a:r>
              <a:rPr sz="1300" b="0" lang="en-GB">
                <a:solidFill>
                  <a:schemeClr val="bg1"/>
                </a:solidFill>
              </a:rPr>
              <a:t>written exam, paper and pencil, multiple-choice questions.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Placeholder 1"/>
          <p:cNvGraphicFramePr>
            <a:graphicFrameLocks noGrp="1"/>
          </p:cNvGraphicFramePr>
          <p:nvPr>
            <p:ph type="tbl" idx="1"/>
          </p:nvPr>
        </p:nvGraphicFramePr>
        <p:xfrm>
          <a:off x="462019" y="1344613"/>
          <a:ext cx="82296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377440"/>
                <a:gridCol w="4754880"/>
              </a:tblGrid>
              <a:tr h="370840">
                <a:tc>
                  <a:txBody>
                    <a:bodyPr/>
                    <a:lstStyle/>
                    <a:p>
                      <a:r>
                        <a:rPr sz="1500" lang="en-GB"/>
                        <a:t>Session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500" lang="en-GB"/>
                        <a:t>Topic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500" lang="en-GB"/>
                        <a:t>Methods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1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Introduction and linear regression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Course content and style; Python, Positron, GitHub and DataCamp; MMM fundamentals; OLS, log-log elasticities, dummy variables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2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Advanced regression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Non-linear effects, moderation and mediation, adstock and saturation, regression diagnostics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3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Logistic regression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Binary outcomes such as purchase or churn, odds ratios, model fit and classification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4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ARIMA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Trend, seasonality and autocorrelation; ARIMA and ARIMAX forecasts as the sales baseline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5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Advanced MMM tools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Bayesian MMM with PyMC-Marketing and Google Meridian; budget optimisation across channels and countries</a:t>
                      </a:r>
                    </a:p>
                  </a:txBody>
                  <a:tcPr marT="54000" marB="54000"/>
                </a:tc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Module roadmap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Assessment strategy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Weights heading"/>
          <p:cNvSpPr txBox="1"/>
          <p:nvPr/>
        </p:nvSpPr>
        <p:spPr>
          <a:xfrm>
            <a:off x="457200" y="117043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Weight in the final grade</a:t>
            </a:r>
          </a:p>
        </p:txBody>
      </p:sp>
      <p:graphicFrame>
        <p:nvGraphicFramePr>
          <p:cNvPr id="11" name="Grade weights chart"/>
          <p:cNvGraphicFramePr>
            <a:graphicFrameLocks noGrp="1"/>
          </p:cNvGraphicFramePr>
          <p:nvPr/>
        </p:nvGraphicFramePr>
        <p:xfrm>
          <a:off x="457200" y="1554480"/>
          <a:ext cx="4572000" cy="3520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ules card body"/>
          <p:cNvSpPr/>
          <p:nvPr/>
        </p:nvSpPr>
        <p:spPr>
          <a:xfrm>
            <a:off x="5257800" y="1691640"/>
            <a:ext cx="3429000" cy="33832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ules card header"/>
          <p:cNvSpPr/>
          <p:nvPr/>
        </p:nvSpPr>
        <p:spPr>
          <a:xfrm>
            <a:off x="5257800" y="1234440"/>
            <a:ext cx="34290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ules card heading"/>
          <p:cNvSpPr txBox="1"/>
          <p:nvPr/>
        </p:nvSpPr>
        <p:spPr>
          <a:xfrm>
            <a:off x="5394960" y="12344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Rules</a:t>
            </a:r>
          </a:p>
        </p:txBody>
      </p:sp>
      <p:pic>
        <p:nvPicPr>
          <p:cNvPr id="15" name="Icon Rules card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1307592"/>
            <a:ext cx="310896" cy="310896"/>
          </a:xfrm>
          <a:prstGeom prst="rect">
            <a:avLst/>
          </a:prstGeom>
        </p:spPr>
      </p:pic>
      <p:sp>
        <p:nvSpPr>
          <p:cNvPr id="16" name="Rules card text"/>
          <p:cNvSpPr txBox="1"/>
          <p:nvPr/>
        </p:nvSpPr>
        <p:spPr>
          <a:xfrm>
            <a:off x="5422392" y="1828800"/>
            <a:ext cx="3127248" cy="3108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1" lang="en-GB">
                <a:solidFill>
                  <a:schemeClr val="tx2"/>
                </a:solidFill>
              </a:rPr>
              <a:t>Individual: </a:t>
            </a:r>
            <a:r>
              <a:rPr sz="1300" b="0" lang="en-GB">
                <a:solidFill>
                  <a:schemeClr val="tx1"/>
                </a:solidFill>
              </a:rPr>
              <a:t>certificates, coding exercises and the written exam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1" lang="en-GB">
                <a:solidFill>
                  <a:schemeClr val="tx2"/>
                </a:solidFill>
              </a:rPr>
              <a:t>Group: </a:t>
            </a:r>
            <a:r>
              <a:rPr sz="1300" b="0" lang="en-GB">
                <a:solidFill>
                  <a:schemeClr val="tx1"/>
                </a:solidFill>
              </a:rPr>
              <a:t>case study report, groups of 4 to 5; enrol on Canvas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1" lang="en-GB">
                <a:solidFill>
                  <a:schemeClr val="tx2"/>
                </a:solidFill>
              </a:rPr>
              <a:t>Grades: </a:t>
            </a:r>
            <a:r>
              <a:rPr sz="1300" b="0" lang="en-GB">
                <a:solidFill>
                  <a:schemeClr val="tx1"/>
                </a:solidFill>
              </a:rPr>
              <a:t>WU scale, 1 from 90 %, 2 from 80 %, 3 from 70 %, 4 from 60 %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1" lang="en-GB">
                <a:solidFill>
                  <a:schemeClr val="tx2"/>
                </a:solidFill>
              </a:rPr>
              <a:t>Attendance: </a:t>
            </a:r>
            <a:r>
              <a:rPr sz="1300" b="0" lang="en-GB">
                <a:solidFill>
                  <a:schemeClr val="tx1"/>
                </a:solidFill>
              </a:rPr>
              <a:t>at least 80 % of sessions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1" lang="en-GB">
                <a:solidFill>
                  <a:schemeClr val="tx2"/>
                </a:solidFill>
              </a:rPr>
              <a:t>AI tools: </a:t>
            </a:r>
            <a:r>
              <a:rPr sz="1300" b="0" lang="en-GB">
                <a:solidFill>
                  <a:schemeClr val="tx1"/>
                </a:solidFill>
              </a:rPr>
              <a:t>expected; you own every number you report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Online certificates and set-up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Stat bar 1"/>
          <p:cNvSpPr/>
          <p:nvPr/>
        </p:nvSpPr>
        <p:spPr>
          <a:xfrm>
            <a:off x="457200" y="1280160"/>
            <a:ext cx="64008" cy="777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Stat figure 1"/>
          <p:cNvSpPr txBox="1"/>
          <p:nvPr/>
        </p:nvSpPr>
        <p:spPr>
          <a:xfrm>
            <a:off x="685800" y="12801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4</a:t>
            </a:r>
          </a:p>
        </p:txBody>
      </p:sp>
      <p:sp>
        <p:nvSpPr>
          <p:cNvPr id="12" name="Stat text 1"/>
          <p:cNvSpPr txBox="1"/>
          <p:nvPr/>
        </p:nvSpPr>
        <p:spPr>
          <a:xfrm>
            <a:off x="2377440" y="1280160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DataCamp courses. </a:t>
            </a:r>
            <a:r>
              <a:rPr sz="1300" b="0" lang="en-GB">
                <a:solidFill>
                  <a:schemeClr val="tx1"/>
                </a:solidFill>
              </a:rPr>
              <a:t>Python courses assigned on Canvas, each ending with a certificate.</a:t>
            </a:r>
          </a:p>
        </p:txBody>
      </p:sp>
      <p:sp>
        <p:nvSpPr>
          <p:cNvPr id="13" name="Stat bar 2"/>
          <p:cNvSpPr/>
          <p:nvPr/>
        </p:nvSpPr>
        <p:spPr>
          <a:xfrm>
            <a:off x="457200" y="2194560"/>
            <a:ext cx="64008" cy="777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Stat figure 2"/>
          <p:cNvSpPr txBox="1"/>
          <p:nvPr/>
        </p:nvSpPr>
        <p:spPr>
          <a:xfrm>
            <a:off x="685800" y="21945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5 %</a:t>
            </a:r>
          </a:p>
        </p:txBody>
      </p:sp>
      <p:sp>
        <p:nvSpPr>
          <p:cNvPr id="15" name="Stat text 2"/>
          <p:cNvSpPr txBox="1"/>
          <p:nvPr/>
        </p:nvSpPr>
        <p:spPr>
          <a:xfrm>
            <a:off x="2377440" y="2194560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Per certificate. </a:t>
            </a:r>
            <a:r>
              <a:rPr sz="1300" b="0" lang="en-GB">
                <a:solidFill>
                  <a:schemeClr val="tx1"/>
                </a:solidFill>
              </a:rPr>
              <a:t>Upload each certificate on Canvas by its deadline; 20 % of the grade in total.</a:t>
            </a:r>
          </a:p>
        </p:txBody>
      </p:sp>
      <p:sp>
        <p:nvSpPr>
          <p:cNvPr id="16" name="Stat bar 3"/>
          <p:cNvSpPr/>
          <p:nvPr/>
        </p:nvSpPr>
        <p:spPr>
          <a:xfrm>
            <a:off x="457200" y="3108960"/>
            <a:ext cx="64008" cy="777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Stat figure 3"/>
          <p:cNvSpPr txBox="1"/>
          <p:nvPr/>
        </p:nvSpPr>
        <p:spPr>
          <a:xfrm>
            <a:off x="685800" y="31089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45 min</a:t>
            </a:r>
          </a:p>
        </p:txBody>
      </p:sp>
      <p:sp>
        <p:nvSpPr>
          <p:cNvPr id="18" name="Stat text 3"/>
          <p:cNvSpPr txBox="1"/>
          <p:nvPr/>
        </p:nvSpPr>
        <p:spPr>
          <a:xfrm>
            <a:off x="2377440" y="3108960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Course environment. </a:t>
            </a:r>
            <a:r>
              <a:rPr sz="1300" b="0" lang="en-GB">
                <a:solidFill>
                  <a:schemeClr val="tx1"/>
                </a:solidFill>
              </a:rPr>
              <a:t>Install Python (via uv), Positron, Quarto and GitHub Desktop with the setup guide, then run the installation check.</a:t>
            </a:r>
          </a:p>
        </p:txBody>
      </p:sp>
      <p:sp>
        <p:nvSpPr>
          <p:cNvPr id="19" name="Deadline callout"/>
          <p:cNvSpPr/>
          <p:nvPr/>
        </p:nvSpPr>
        <p:spPr>
          <a:xfrm>
            <a:off x="457200" y="4114800"/>
            <a:ext cx="8229600" cy="9601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Icon deadline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343400"/>
            <a:ext cx="502920" cy="502920"/>
          </a:xfrm>
          <a:prstGeom prst="rect">
            <a:avLst/>
          </a:prstGeom>
        </p:spPr>
      </p:pic>
      <p:sp>
        <p:nvSpPr>
          <p:cNvPr id="21" name="Deadline text"/>
          <p:cNvSpPr txBox="1"/>
          <p:nvPr/>
        </p:nvSpPr>
        <p:spPr>
          <a:xfrm>
            <a:off x="1417320" y="4114800"/>
            <a:ext cx="708660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Deadlines: </a:t>
            </a:r>
            <a:r>
              <a:rPr sz="1300" b="0" lang="en-GB">
                <a:solidFill>
                  <a:schemeClr val="tx1"/>
                </a:solidFill>
              </a:rPr>
              <a:t>the date for each certificate is on Canvas. Bring installation problems to Session 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Coding exercises and written exam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Coding card body"/>
          <p:cNvSpPr/>
          <p:nvPr/>
        </p:nvSpPr>
        <p:spPr>
          <a:xfrm>
            <a:off x="457200" y="1691640"/>
            <a:ext cx="4023360" cy="25146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Coding card header"/>
          <p:cNvSpPr/>
          <p:nvPr/>
        </p:nvSpPr>
        <p:spPr>
          <a:xfrm>
            <a:off x="457200" y="1234440"/>
            <a:ext cx="402336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oding card heading"/>
          <p:cNvSpPr txBox="1"/>
          <p:nvPr/>
        </p:nvSpPr>
        <p:spPr>
          <a:xfrm>
            <a:off x="594360" y="123444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Coding exercises</a:t>
            </a:r>
          </a:p>
        </p:txBody>
      </p:sp>
      <p:pic>
        <p:nvPicPr>
          <p:cNvPr id="13" name="Icon Coding card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648" y="1307592"/>
            <a:ext cx="310896" cy="310896"/>
          </a:xfrm>
          <a:prstGeom prst="rect">
            <a:avLst/>
          </a:prstGeom>
        </p:spPr>
      </p:pic>
      <p:sp>
        <p:nvSpPr>
          <p:cNvPr id="14" name="Coding card text"/>
          <p:cNvSpPr txBox="1"/>
          <p:nvPr/>
        </p:nvSpPr>
        <p:spPr>
          <a:xfrm>
            <a:off x="621792" y="1828800"/>
            <a:ext cx="3721608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Four exercises during the course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Apply the lab code to a similar task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Submit your Python or Quarto file on Canvas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AI assistants allowed; add a short prompt log</a:t>
            </a:r>
          </a:p>
        </p:txBody>
      </p:sp>
      <p:sp>
        <p:nvSpPr>
          <p:cNvPr id="15" name="Coding card stat"/>
          <p:cNvSpPr txBox="1"/>
          <p:nvPr/>
        </p:nvSpPr>
        <p:spPr>
          <a:xfrm>
            <a:off x="621792" y="3474720"/>
            <a:ext cx="3721608" cy="5943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5 %</a:t>
            </a:r>
            <a:r>
              <a:rPr sz="1300" b="0" lang="en-GB">
                <a:solidFill>
                  <a:schemeClr val="tx1"/>
                </a:solidFill>
              </a:rPr>
              <a:t>  per exercise, 20 % in total</a:t>
            </a:r>
          </a:p>
        </p:txBody>
      </p:sp>
      <p:sp>
        <p:nvSpPr>
          <p:cNvPr id="16" name="Exam card body"/>
          <p:cNvSpPr/>
          <p:nvPr/>
        </p:nvSpPr>
        <p:spPr>
          <a:xfrm>
            <a:off x="4663440" y="1691640"/>
            <a:ext cx="4023360" cy="25146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Exam card header"/>
          <p:cNvSpPr/>
          <p:nvPr/>
        </p:nvSpPr>
        <p:spPr>
          <a:xfrm>
            <a:off x="4663440" y="1234440"/>
            <a:ext cx="402336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Exam card heading"/>
          <p:cNvSpPr txBox="1"/>
          <p:nvPr/>
        </p:nvSpPr>
        <p:spPr>
          <a:xfrm>
            <a:off x="4800600" y="123444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Written exam</a:t>
            </a:r>
          </a:p>
        </p:txBody>
      </p:sp>
      <p:pic>
        <p:nvPicPr>
          <p:cNvPr id="19" name="Icon Exam card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1307592"/>
            <a:ext cx="310896" cy="310896"/>
          </a:xfrm>
          <a:prstGeom prst="rect">
            <a:avLst/>
          </a:prstGeom>
        </p:spPr>
      </p:pic>
      <p:sp>
        <p:nvSpPr>
          <p:cNvPr id="20" name="Exam card text"/>
          <p:cNvSpPr txBox="1"/>
          <p:nvPr/>
        </p:nvSpPr>
        <p:spPr>
          <a:xfrm>
            <a:off x="4828032" y="1828800"/>
            <a:ext cx="3721608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At the end of the course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Paper and pencil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Multiple-choice questions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Concepts and interpretation, not code</a:t>
            </a:r>
          </a:p>
        </p:txBody>
      </p:sp>
      <p:sp>
        <p:nvSpPr>
          <p:cNvPr id="21" name="Exam card stat"/>
          <p:cNvSpPr txBox="1"/>
          <p:nvPr/>
        </p:nvSpPr>
        <p:spPr>
          <a:xfrm>
            <a:off x="4828032" y="3474720"/>
            <a:ext cx="3721608" cy="5943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30 %</a:t>
            </a:r>
            <a:r>
              <a:rPr sz="1300" b="0" lang="en-GB">
                <a:solidFill>
                  <a:schemeClr val="tx1"/>
                </a:solidFill>
              </a:rPr>
              <a:t>  of the final grade</a:t>
            </a:r>
          </a:p>
        </p:txBody>
      </p:sp>
      <p:sp>
        <p:nvSpPr>
          <p:cNvPr id="22" name="Takeaway box"/>
          <p:cNvSpPr/>
          <p:nvPr/>
        </p:nvSpPr>
        <p:spPr>
          <a:xfrm>
            <a:off x="457200" y="4389120"/>
            <a:ext cx="8229600" cy="6858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akeaway text"/>
          <p:cNvSpPr txBox="1"/>
          <p:nvPr/>
        </p:nvSpPr>
        <p:spPr>
          <a:xfrm>
            <a:off x="685800" y="4389120"/>
            <a:ext cx="777240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Both are individual. </a:t>
            </a:r>
            <a:r>
              <a:rPr sz="1300" b="0" lang="en-GB">
                <a:solidFill>
                  <a:schemeClr val="bg1"/>
                </a:solidFill>
              </a:rPr>
              <a:t>The case study report (30 %) is the group component.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Case study: written report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Fact tile 1"/>
          <p:cNvSpPr/>
          <p:nvPr/>
        </p:nvSpPr>
        <p:spPr>
          <a:xfrm>
            <a:off x="457200" y="1234440"/>
            <a:ext cx="2651760" cy="8686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Fact bar 1"/>
          <p:cNvSpPr/>
          <p:nvPr/>
        </p:nvSpPr>
        <p:spPr>
          <a:xfrm>
            <a:off x="457200" y="1234440"/>
            <a:ext cx="64008" cy="868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Fact text 1"/>
          <p:cNvSpPr txBox="1"/>
          <p:nvPr/>
        </p:nvSpPr>
        <p:spPr>
          <a:xfrm>
            <a:off x="685800" y="123444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4–5</a:t>
            </a:r>
            <a:r>
              <a:rPr sz="1300" b="0" lang="en-GB">
                <a:solidFill>
                  <a:schemeClr val="tx1"/>
                </a:solidFill>
              </a:rPr>
              <a:t>  students per group; enrol on Canvas</a:t>
            </a:r>
          </a:p>
        </p:txBody>
      </p:sp>
      <p:sp>
        <p:nvSpPr>
          <p:cNvPr id="13" name="Fact tile 2"/>
          <p:cNvSpPr/>
          <p:nvPr/>
        </p:nvSpPr>
        <p:spPr>
          <a:xfrm>
            <a:off x="3246120" y="1234440"/>
            <a:ext cx="2651760" cy="8686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Fact bar 2"/>
          <p:cNvSpPr/>
          <p:nvPr/>
        </p:nvSpPr>
        <p:spPr>
          <a:xfrm>
            <a:off x="3246120" y="1234440"/>
            <a:ext cx="64008" cy="868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Fact text 2"/>
          <p:cNvSpPr txBox="1"/>
          <p:nvPr/>
        </p:nvSpPr>
        <p:spPr>
          <a:xfrm>
            <a:off x="3474720" y="123444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30 %</a:t>
            </a:r>
            <a:r>
              <a:rPr sz="1300" b="0" lang="en-GB">
                <a:solidFill>
                  <a:schemeClr val="tx1"/>
                </a:solidFill>
              </a:rPr>
              <a:t>  of the final grade</a:t>
            </a:r>
          </a:p>
        </p:txBody>
      </p:sp>
      <p:sp>
        <p:nvSpPr>
          <p:cNvPr id="16" name="Fact tile 3"/>
          <p:cNvSpPr/>
          <p:nvPr/>
        </p:nvSpPr>
        <p:spPr>
          <a:xfrm>
            <a:off x="6035040" y="1234440"/>
            <a:ext cx="2651760" cy="8686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Fact bar 3"/>
          <p:cNvSpPr/>
          <p:nvPr/>
        </p:nvSpPr>
        <p:spPr>
          <a:xfrm>
            <a:off x="6035040" y="1234440"/>
            <a:ext cx="64008" cy="868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Fact text 3"/>
          <p:cNvSpPr txBox="1"/>
          <p:nvPr/>
        </p:nvSpPr>
        <p:spPr>
          <a:xfrm>
            <a:off x="6263640" y="123444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1</a:t>
            </a:r>
            <a:r>
              <a:rPr sz="1300" b="0" lang="en-GB">
                <a:solidFill>
                  <a:schemeClr val="tx1"/>
                </a:solidFill>
              </a:rPr>
              <a:t>  written report per group</a:t>
            </a:r>
          </a:p>
        </p:txBody>
      </p:sp>
      <p:sp>
        <p:nvSpPr>
          <p:cNvPr id="19" name="Submit label"/>
          <p:cNvSpPr txBox="1"/>
          <p:nvPr/>
        </p:nvSpPr>
        <p:spPr>
          <a:xfrm>
            <a:off x="457200" y="22402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What you submit</a:t>
            </a:r>
          </a:p>
        </p:txBody>
      </p:sp>
      <p:sp>
        <p:nvSpPr>
          <p:cNvPr id="20" name="Submission card 1"/>
          <p:cNvSpPr/>
          <p:nvPr/>
        </p:nvSpPr>
        <p:spPr>
          <a:xfrm>
            <a:off x="457200" y="2560320"/>
            <a:ext cx="2651760" cy="13258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Icon submission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697480"/>
            <a:ext cx="365760" cy="365760"/>
          </a:xfrm>
          <a:prstGeom prst="rect">
            <a:avLst/>
          </a:prstGeom>
        </p:spPr>
      </p:pic>
      <p:sp>
        <p:nvSpPr>
          <p:cNvPr id="22" name="Submission text 1"/>
          <p:cNvSpPr txBox="1"/>
          <p:nvPr/>
        </p:nvSpPr>
        <p:spPr>
          <a:xfrm>
            <a:off x="1143000" y="2697480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Quarto file</a:t>
            </a:r>
          </a:p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your analysis and text in one reproducible document</a:t>
            </a:r>
          </a:p>
        </p:txBody>
      </p:sp>
      <p:sp>
        <p:nvSpPr>
          <p:cNvPr id="23" name="Submission card 2"/>
          <p:cNvSpPr/>
          <p:nvPr/>
        </p:nvSpPr>
        <p:spPr>
          <a:xfrm>
            <a:off x="3246120" y="2560320"/>
            <a:ext cx="2651760" cy="13258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Icon submission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2697480"/>
            <a:ext cx="365760" cy="365760"/>
          </a:xfrm>
          <a:prstGeom prst="rect">
            <a:avLst/>
          </a:prstGeom>
        </p:spPr>
      </p:pic>
      <p:sp>
        <p:nvSpPr>
          <p:cNvPr id="25" name="Submission text 2"/>
          <p:cNvSpPr txBox="1"/>
          <p:nvPr/>
        </p:nvSpPr>
        <p:spPr>
          <a:xfrm>
            <a:off x="3931920" y="2697480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Rendered report</a:t>
            </a:r>
          </a:p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the output of the Quarto file; HTML recommended</a:t>
            </a:r>
          </a:p>
        </p:txBody>
      </p:sp>
      <p:sp>
        <p:nvSpPr>
          <p:cNvPr id="26" name="Submission card 3"/>
          <p:cNvSpPr/>
          <p:nvPr/>
        </p:nvSpPr>
        <p:spPr>
          <a:xfrm>
            <a:off x="6035040" y="2560320"/>
            <a:ext cx="2651760" cy="13258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Icon submission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632" y="2697480"/>
            <a:ext cx="365760" cy="365760"/>
          </a:xfrm>
          <a:prstGeom prst="rect">
            <a:avLst/>
          </a:prstGeom>
        </p:spPr>
      </p:pic>
      <p:sp>
        <p:nvSpPr>
          <p:cNvPr id="28" name="Submission text 3"/>
          <p:cNvSpPr txBox="1"/>
          <p:nvPr/>
        </p:nvSpPr>
        <p:spPr>
          <a:xfrm>
            <a:off x="6720840" y="2697480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Data file</a:t>
            </a:r>
          </a:p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the data you analysed, so the report can be rerun</a:t>
            </a:r>
          </a:p>
        </p:txBody>
      </p:sp>
      <p:sp>
        <p:nvSpPr>
          <p:cNvPr id="29" name="Task box"/>
          <p:cNvSpPr/>
          <p:nvPr/>
        </p:nvSpPr>
        <p:spPr>
          <a:xfrm>
            <a:off x="457200" y="4069080"/>
            <a:ext cx="8229600" cy="10058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sk text"/>
          <p:cNvSpPr txBox="1"/>
          <p:nvPr/>
        </p:nvSpPr>
        <p:spPr>
          <a:xfrm>
            <a:off x="685800" y="406908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1" lang="en-GB">
                <a:solidFill>
                  <a:schemeClr val="bg1"/>
                </a:solidFill>
              </a:rPr>
              <a:t>The task: </a:t>
            </a:r>
            <a:r>
              <a:rPr sz="1300" b="0" lang="en-GB">
                <a:solidFill>
                  <a:schemeClr val="bg1"/>
                </a:solidFill>
              </a:rPr>
              <a:t>apply marketing mix modelling to a real marketing case, interpret the results and recommend a decision to management.</a:t>
            </a:r>
          </a:p>
          <a:p>
            <a:pPr algn="l">
              <a:spcAft>
                <a:spcPts val="600"/>
              </a:spcAft>
            </a:pPr>
            <a:r>
              <a:rPr sz="1300" b="1" lang="en-GB">
                <a:solidFill>
                  <a:schemeClr val="bg1"/>
                </a:solidFill>
              </a:rPr>
              <a:t>Support: </a:t>
            </a:r>
            <a:r>
              <a:rPr sz="1300" b="0" lang="en-GB">
                <a:solidFill>
                  <a:schemeClr val="bg1"/>
                </a:solidFill>
              </a:rPr>
              <a:t>online consulting hours (registration needed). Deadline: see Canvas.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English UK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Sample Presentation 16x10 V1.1.potx" id="{74DD536C-D372-4256-BA4D-24C734E7AF81}" vid="{99E22345-25BB-45DF-85CE-FC929AE6991A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Sample presenation in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1" ma:contentTypeDescription="Ein neues Dokument erstellen." ma:contentTypeScope="" ma:versionID="458c1b80f8d593bdc96b60ff34dd40b4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2d31116d1a6b5af1b4a8b1ba7152d57a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5929A89-D8E6-4794-A98F-6609FAAECB3B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customXml/itemProps2.xml><?xml version="1.0" encoding="utf-8"?>
<ds:datastoreItem xmlns:ds="http://schemas.openxmlformats.org/officeDocument/2006/customXml" ds:itemID="{D81AF645-C4BF-4115-A9DE-6B08726473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9857B5-BC10-4782-8A0F-717F20E5E2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Sample Presentation 16x10</Template>
  <TotalTime>0</TotalTime>
  <Words>1441</Words>
  <Application>Microsoft Office PowerPoint</Application>
  <PresentationFormat>Bildschirmpräsentation (16:10)</PresentationFormat>
  <Paragraphs>207</Paragraphs>
  <Slides>26</Slides>
  <Notes>26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1" baseType="lpstr">
      <vt:lpstr>Arial</vt:lpstr>
      <vt:lpstr>Georgia</vt:lpstr>
      <vt:lpstr>Verdana</vt:lpstr>
      <vt:lpstr>Wingdings</vt:lpstr>
      <vt:lpstr>WU 16:10</vt:lpstr>
      <vt:lpstr>WU Presentation Template incl. Samples</vt:lpstr>
      <vt:lpstr>Basics</vt:lpstr>
      <vt:lpstr>Available slide layouts – overview</vt:lpstr>
      <vt:lpstr>Make use of the slide layouts</vt:lpstr>
      <vt:lpstr>Designing text slides</vt:lpstr>
      <vt:lpstr>Insert footer information</vt:lpstr>
      <vt:lpstr>Toner- and ink-reduced printing</vt:lpstr>
      <vt:lpstr>Sample Slides</vt:lpstr>
      <vt:lpstr>Layout „Titelfolie“ –  font Georgia 32 pt</vt:lpstr>
      <vt:lpstr>Layout „Titelfolie kurz“</vt:lpstr>
      <vt:lpstr>Layout „Titelfolie ohne Bild“ – for 2 lines of text</vt:lpstr>
      <vt:lpstr>Titleslide w/o pic. short</vt:lpstr>
      <vt:lpstr>Layout „Titelfolie Bild 2“ – for 2 lines of text</vt:lpstr>
      <vt:lpstr>Layout „Titelfolie Bild 3“ – for 2 lines of text</vt:lpstr>
      <vt:lpstr>Layout „Titel und Inhalt“ for title and content – font Georgia 24 pt</vt:lpstr>
      <vt:lpstr>Layout without footer for large graphics, tables or charts</vt:lpstr>
      <vt:lpstr>Layout “Zwei Inhalte” with two placeholders for different content types</vt:lpstr>
      <vt:lpstr>Layout „Vergleich“ – e.g. for comparison</vt:lpstr>
      <vt:lpstr>Sample table</vt:lpstr>
      <vt:lpstr>Sample for simple graphics  (based on SmartArt)</vt:lpstr>
      <vt:lpstr>Sample organizational chart  (based on SmartArt)</vt:lpstr>
      <vt:lpstr>Sample for bar chart </vt:lpstr>
      <vt:lpstr>Sample for column chart </vt:lpstr>
      <vt:lpstr>Sample for line chart </vt:lpstr>
      <vt:lpstr>Sample for doughnut chart </vt:lpstr>
      <vt:lpstr> 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2023-08-25T07:52:25Z</dcterms:created>
  <dcterms:modified xsi:type="dcterms:W3CDTF">2023-08-25T07:53:01Z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