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tiff" ContentType="image/tiff"/>
  <Default Extension="xml" ContentType="application/xml"/>
  <Override PartName="/customXml/itemProps1.xml" ContentType="application/vnd.openxmlformats-officedocument.customXmlProperties+xml"/>
  <Override PartName="/customXml/itemProps2.xml" ContentType="application/vnd.openxmlformats-officedocument.customXmlProperties+xml"/>
  <Override PartName="/customXml/itemProps3.xml" ContentType="application/vnd.openxmlformats-officedocument.customXmlProperties+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commentAuthors.xml" ContentType="application/vnd.openxmlformats-officedocument.presentationml.commentAuthor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ags/tag1.xml" ContentType="application/vnd.openxmlformats-officedocument.presentationml.tag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removePersonalInfoOnSave="1" saveSubsetFonts="1">
  <p:sldMasterIdLst>
    <p:sldMasterId id="2147483660" r:id="rId4"/>
  </p:sldMasterIdLst>
  <p:notesMasterIdLst>
    <p:notesMasterId r:id="rId31"/>
  </p:notesMasterIdLst>
  <p:handoutMasterIdLst>
    <p:handoutMasterId r:id="rId32"/>
  </p:handoutMasterIdLst>
  <p:sldIdLst>
    <p:sldId id="256" r:id="rId13"/>
    <p:sldId id="257" r:id="rId14"/>
    <p:sldId id="270" r:id="rId39"/>
    <p:sldId id="271" r:id="rId40"/>
    <p:sldId id="258" r:id="rId15"/>
    <p:sldId id="259" r:id="rId16"/>
    <p:sldId id="260" r:id="rId17"/>
    <p:sldId id="261" r:id="rId18"/>
    <p:sldId id="262" r:id="rId19"/>
    <p:sldId id="263" r:id="rId20"/>
    <p:sldId id="264" r:id="rId21"/>
    <p:sldId id="265" r:id="rId22"/>
    <p:sldId id="266" r:id="rId23"/>
    <p:sldId id="267" r:id="rId24"/>
    <p:sldId id="268" r:id="rId25"/>
    <p:sldId id="269" r:id="rId26"/>
  </p:sldIdLst>
  <p:sldSz cx="9144000" cy="5715000" type="screen16x10"/>
  <p:notesSz cx="6858000" cy="9144000"/>
  <p:custDataLst>
    <p:tags r:id="rId33"/>
  </p:custDataLst>
  <p:defaultTextStyle>
    <a:defPPr>
      <a:defRPr lang="de-DE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800">
          <p15:clr>
            <a:srgbClr val="A4A3A4"/>
          </p15:clr>
        </p15:guide>
        <p15:guide id="3" pos="4241">
          <p15:clr>
            <a:srgbClr val="A4A3A4"/>
          </p15:clr>
        </p15:guide>
        <p15:guide id="4" pos="469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>
        <p15:guide id="1" orient="horz" pos="2880">
          <p15:clr>
            <a:srgbClr val="A4A3A4"/>
          </p15:clr>
        </p15:guide>
        <p15:guide id="2" pos="2160">
          <p15:clr>
            <a:srgbClr val="A4A3A4"/>
          </p15:clr>
        </p15:guide>
      </p15:notesGuideLst>
    </p:ext>
  </p:extLst>
</p:presentation>
</file>

<file path=ppt/commentAuthors.xml><?xml version="1.0" encoding="utf-8"?>
<p:cmAuthorLst xmlns:a="http://schemas.openxmlformats.org/drawingml/2006/main" xmlns:r="http://schemas.openxmlformats.org/officeDocument/2006/relationships" xmlns:p="http://schemas.openxmlformats.org/presentationml/2006/main">
  <p:cmAuthor id="9" name="Autor" initials="A" lastIdx="0" clrIdx="8"/>
</p:cmAuthorLst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E7EFF7"/>
    <a:srgbClr val="CBDDEF"/>
    <a:srgbClr val="0096D3"/>
    <a:srgbClr val="0C94B7"/>
    <a:srgbClr val="41B4CE"/>
    <a:srgbClr val="73BAD1"/>
    <a:srgbClr val="65B4CE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>
  <a:tblStyle styleId="{D27102A9-8310-4765-A935-A1911B00CA55}" styleName="Helle Formatvorlage 1 - Akzent 4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4"/>
              </a:solidFill>
            </a:ln>
          </a:top>
          <a:bottom>
            <a:ln w="12700" cmpd="sng">
              <a:solidFill>
                <a:schemeClr val="accent4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4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4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4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4"/>
              </a:solidFill>
            </a:ln>
          </a:bottom>
        </a:tcBdr>
        <a:fill>
          <a:noFill/>
        </a:fill>
      </a:tcStyle>
    </a:firstRow>
  </a:tblStyle>
  <a:tblStyle styleId="{3B4B98B0-60AC-42C2-AFA5-B58CD77FA1E5}" styleName="Helle Formatvorlage 1 - Akzent 1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1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1"/>
              </a:solidFill>
            </a:ln>
          </a:bottom>
        </a:tcBdr>
        <a:fill>
          <a:noFill/>
        </a:fill>
      </a:tcStyle>
    </a:firstRow>
  </a:tblStyle>
  <a:tblStyle styleId="{68D230F3-CF80-4859-8CE7-A43EE81993B5}" styleName="Helle Formatvorlage 1 - Akzent 6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 w="12700" cmpd="sng">
              <a:solidFill>
                <a:schemeClr val="accent6"/>
              </a:solidFill>
            </a:ln>
          </a:top>
          <a:bottom>
            <a:ln w="12700" cmpd="sng">
              <a:solidFill>
                <a:schemeClr val="accent6"/>
              </a:solidFill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accent6">
              <a:alpha val="2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6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12700" cmpd="sng">
              <a:solidFill>
                <a:schemeClr val="accent6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12700" cmpd="sng">
              <a:solidFill>
                <a:schemeClr val="accent6"/>
              </a:solidFill>
            </a:ln>
          </a:bottom>
        </a:tcBdr>
        <a:fill>
          <a:noFill/>
        </a:fill>
      </a:tcStyle>
    </a:firstRow>
  </a:tblStyle>
  <a:tblStyle styleId="{5C22544A-7EE6-4342-B048-85BDC9FD1C3A}" styleName="Mittlere Formatvorlage 2 - Akz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B301B821-A1FF-4177-AEE7-76D212191A09}" styleName="Mittlere Formatvorlage 1 - Akzent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989" autoAdjust="0"/>
    <p:restoredTop sz="93783" autoAdjust="0"/>
  </p:normalViewPr>
  <p:slideViewPr>
    <p:cSldViewPr snapToGrid="0" showGuides="1">
      <p:cViewPr varScale="1">
        <p:scale>
          <a:sx n="164" d="100"/>
          <a:sy n="164" d="100"/>
        </p:scale>
        <p:origin x="758" y="75"/>
      </p:cViewPr>
      <p:guideLst>
        <p:guide orient="horz" pos="1800"/>
        <p:guide pos="4241"/>
        <p:guide pos="4695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" d="1"/>
        <a:sy n="1" d="1"/>
      </p:scale>
      <p:origin x="0" y="0"/>
    </p:cViewPr>
  </p:notesTextViewPr>
  <p:notesViewPr>
    <p:cSldViewPr snapToGrid="0" showGuides="1">
      <p:cViewPr varScale="1">
        <p:scale>
          <a:sx n="94" d="100"/>
          <a:sy n="94" d="100"/>
        </p:scale>
        <p:origin x="2748" y="84"/>
      </p:cViewPr>
      <p:guideLst>
        <p:guide orient="horz" pos="2880"/>
        <p:guide pos="2160"/>
      </p:guideLst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customXml" Target="../customXml/item1.xml"/><Relationship Id="rId2" Type="http://schemas.openxmlformats.org/officeDocument/2006/relationships/customXml" Target="../customXml/item2.xml"/><Relationship Id="rId3" Type="http://schemas.openxmlformats.org/officeDocument/2006/relationships/customXml" Target="../customXml/item3.xml"/><Relationship Id="rId4" Type="http://schemas.openxmlformats.org/officeDocument/2006/relationships/slideMaster" Target="slideMasters/slideMaster1.xml"/><Relationship Id="rId13" Type="http://schemas.openxmlformats.org/officeDocument/2006/relationships/slide" Target="slides/slide1.xml"/><Relationship Id="rId14" Type="http://schemas.openxmlformats.org/officeDocument/2006/relationships/slide" Target="slides/slide2.xml"/><Relationship Id="rId15" Type="http://schemas.openxmlformats.org/officeDocument/2006/relationships/slide" Target="slides/slide5.xml"/><Relationship Id="rId16" Type="http://schemas.openxmlformats.org/officeDocument/2006/relationships/slide" Target="slides/slide6.xml"/><Relationship Id="rId17" Type="http://schemas.openxmlformats.org/officeDocument/2006/relationships/slide" Target="slides/slide7.xml"/><Relationship Id="rId18" Type="http://schemas.openxmlformats.org/officeDocument/2006/relationships/slide" Target="slides/slide8.xml"/><Relationship Id="rId19" Type="http://schemas.openxmlformats.org/officeDocument/2006/relationships/slide" Target="slides/slide9.xml"/><Relationship Id="rId20" Type="http://schemas.openxmlformats.org/officeDocument/2006/relationships/slide" Target="slides/slide10.xml"/><Relationship Id="rId21" Type="http://schemas.openxmlformats.org/officeDocument/2006/relationships/slide" Target="slides/slide11.xml"/><Relationship Id="rId22" Type="http://schemas.openxmlformats.org/officeDocument/2006/relationships/slide" Target="slides/slide12.xml"/><Relationship Id="rId23" Type="http://schemas.openxmlformats.org/officeDocument/2006/relationships/slide" Target="slides/slide13.xml"/><Relationship Id="rId24" Type="http://schemas.openxmlformats.org/officeDocument/2006/relationships/slide" Target="slides/slide14.xml"/><Relationship Id="rId25" Type="http://schemas.openxmlformats.org/officeDocument/2006/relationships/slide" Target="slides/slide15.xml"/><Relationship Id="rId26" Type="http://schemas.openxmlformats.org/officeDocument/2006/relationships/slide" Target="slides/slide16.xml"/><Relationship Id="rId31" Type="http://schemas.openxmlformats.org/officeDocument/2006/relationships/notesMaster" Target="notesMasters/notesMaster1.xml"/><Relationship Id="rId32" Type="http://schemas.openxmlformats.org/officeDocument/2006/relationships/handoutMaster" Target="handoutMasters/handoutMaster1.xml"/><Relationship Id="rId33" Type="http://schemas.openxmlformats.org/officeDocument/2006/relationships/tags" Target="tags/tag1.xml"/><Relationship Id="rId34" Type="http://schemas.openxmlformats.org/officeDocument/2006/relationships/commentAuthors" Target="commentAuthors.xml"/><Relationship Id="rId35" Type="http://schemas.openxmlformats.org/officeDocument/2006/relationships/presProps" Target="presProps.xml"/><Relationship Id="rId36" Type="http://schemas.openxmlformats.org/officeDocument/2006/relationships/viewProps" Target="viewProps.xml"/><Relationship Id="rId37" Type="http://schemas.openxmlformats.org/officeDocument/2006/relationships/theme" Target="theme/theme1.xml"/><Relationship Id="rId38" Type="http://schemas.openxmlformats.org/officeDocument/2006/relationships/tableStyles" Target="tableStyles.xml"/><Relationship Id="rId39" Type="http://schemas.openxmlformats.org/officeDocument/2006/relationships/slide" Target="slides/slide3.xml"/><Relationship Id="rId40" Type="http://schemas.openxmlformats.org/officeDocument/2006/relationships/slide" Target="slides/slide4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3" name="Datumsplatzhalter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68817FD-8155-4502-AF78-DBC2EA4B168F}" type="datetimeFigureOut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25/08/2023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4" name="Fußzeilenplatzhalter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  <p:sp>
        <p:nvSpPr>
          <p:cNvPr id="5" name="Foliennummernplatzhalter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617F6F62-1C91-45E7-BAED-FBFBF67C82BC}" type="slidenum">
              <a:rPr lang="en-GB" sz="1000" smtClean="0">
                <a:latin typeface="Verdana" pitchFamily="34" charset="0"/>
                <a:ea typeface="Verdana" pitchFamily="34" charset="0"/>
                <a:cs typeface="Verdana" pitchFamily="34" charset="0"/>
              </a:rPr>
              <a:t>‹Nr.›</a:t>
            </a:fld>
            <a:endParaRPr lang="en-GB" sz="1000" dirty="0">
              <a:latin typeface="Verdana" pitchFamily="34" charset="0"/>
              <a:ea typeface="Verdana" pitchFamily="34" charset="0"/>
              <a:cs typeface="Verdana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2754345679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Kopfzeilenplatzhalt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3" name="Datumsplatzhalt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C0A972FC-F5E0-4F80-B169-F0B5EFC71333}" type="datetimeFigureOut">
              <a:rPr lang="en-GB" smtClean="0"/>
              <a:pPr/>
              <a:t>25/08/2023</a:t>
            </a:fld>
            <a:endParaRPr lang="en-GB" dirty="0"/>
          </a:p>
        </p:txBody>
      </p:sp>
      <p:sp>
        <p:nvSpPr>
          <p:cNvPr id="4" name="Folienbildplatzhalt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685800"/>
            <a:ext cx="54864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de-AT"/>
          </a:p>
        </p:txBody>
      </p:sp>
      <p:sp>
        <p:nvSpPr>
          <p:cNvPr id="5" name="Notizenplatzhalter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6" name="Fußzeilenplatzhalt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endParaRPr lang="en-GB" dirty="0"/>
          </a:p>
        </p:txBody>
      </p:sp>
      <p:sp>
        <p:nvSpPr>
          <p:cNvPr id="7" name="Foliennummernplatzhalt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000">
                <a:latin typeface="Verdana" pitchFamily="34" charset="0"/>
                <a:ea typeface="Verdana" pitchFamily="34" charset="0"/>
                <a:cs typeface="Verdana" pitchFamily="34" charset="0"/>
              </a:defRPr>
            </a:lvl1pPr>
          </a:lstStyle>
          <a:p>
            <a:fld id="{219CC2FD-B32F-4992-A15B-F95E2E35C81B}" type="slidenum">
              <a:rPr lang="en-GB" smtClean="0"/>
              <a:pPr/>
              <a:t>‹Nr.›</a:t>
            </a:fld>
            <a:endParaRPr lang="en-GB" dirty="0"/>
          </a:p>
        </p:txBody>
      </p:sp>
    </p:spTree>
    <p:extLst>
      <p:ext uri="{BB962C8B-B14F-4D97-AF65-F5344CB8AC3E}">
        <p14:creationId xmlns:p14="http://schemas.microsoft.com/office/powerpoint/2010/main" val="915136542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Verdana" pitchFamily="34" charset="0"/>
        <a:ea typeface="Verdana" pitchFamily="34" charset="0"/>
        <a:cs typeface="Verdana" pitchFamily="34" charset="0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Verdana" panose="020B0604030504040204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9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0.xml"/></Relationships>
</file>

<file path=ppt/notesSlides/_rels/notesSlide9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1.xml"/></Relationships>
</file>

<file path=ppt/notesSlides/_rels/notesSlide10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2.xml"/></Relationships>
</file>

<file path=ppt/notesSlides/_rels/notesSlide1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3.xml"/></Relationships>
</file>

<file path=ppt/notesSlides/_rels/notesSlide1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4.xml"/></Relationships>
</file>

<file path=ppt/notesSlides/_rels/notesSlide1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5.xml"/></Relationships>
</file>

<file path=ppt/notesSlides/_rels/notesSlide1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6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Welcome. This deck explains what the course is about, how it is taught and how it is assessed.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Ice-breaker: who is in the room, which countries, which prior exposure to analytics.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Marketing mix modelling in one breath: take the sales history, separate what would have sold anyway from what each marketing activity added, and use that to decide where the next euro goes.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Session 1 combines the introduction with linear regression. Each session adds one method; the last brings them together in dedicated MMM software.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Two outcomes each for understanding, applying and transferring. Cross-sectional means many units at one point in time (countries, stores); longitudinal means the same units over time (weekly sales).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session ends with a short online quiz that is not graded; it shows you what to revise. The written exam at the end is paper and pencil with multiple-choice questions.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Topics follow the course roadmap; methods in detail.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Three individual components (70 %) and one group component (30 %). The bar shows the shares at a glance; the cards say what each part is.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Everything is free for students. Follow the setup guide before Session 1; the installation check is the command in the guide that prints 'ready'. Bring problems to Session 1.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DataCamp courses are assigned on Canvas. Each certificate counts 5 % once it is uploaded on time.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Each exercise takes the code from the guided lab and applies it to a similar task. AI assistants are allowed; the prompt log shows how you used them.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exam checks understanding, not coding. The non-graded online quiz at the end of each session uses the same question format.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The case and its data are published on Canvas. Online consulting hours need registration. The report is the only group component of the grade.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t>Any questions? Contact details on the card.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5.jpg"/><Relationship Id="rId3" Type="http://schemas.openxmlformats.org/officeDocument/2006/relationships/image" Target="../media/image1.png"/><Relationship Id="rId4" Type="http://schemas.openxmlformats.org/officeDocument/2006/relationships/image" Target="../media/image6.png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7.jpg"/><Relationship Id="rId3" Type="http://schemas.openxmlformats.org/officeDocument/2006/relationships/image" Target="../media/image1.png"/><Relationship Id="rId4" Type="http://schemas.openxmlformats.org/officeDocument/2006/relationships/image" Target="../media/image4.png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Relationship Id="rId3" Type="http://schemas.openxmlformats.org/officeDocument/2006/relationships/image" Target="../media/image2.png"/></Relationships>
</file>

<file path=ppt/slideLayouts/_rels/slideLayout1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1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/Relationships>
</file>

<file path=ppt/slideLayouts/_rels/slideLayout1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3.jpg"/><Relationship Id="rId3" Type="http://schemas.openxmlformats.org/officeDocument/2006/relationships/image" Target="../media/image1.png"/><Relationship Id="rId4" Type="http://schemas.openxmlformats.org/officeDocument/2006/relationships/image" Target="../media/image4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/Relationships>
</file>

<file path=ppt/slideLayouts/_rels/slideLayout1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8.png"/><Relationship Id="rId20" Type="http://schemas.openxmlformats.org/officeDocument/2006/relationships/hyperlink" Target="mailto:arne.floh@wu.ac.at" TargetMode="External"/><Relationship Id="rId21" Type="http://schemas.openxmlformats.org/officeDocument/2006/relationships/hyperlink" Target="https://calendar.app.google/o4FuKoF1YcarRfnC8" TargetMode="External"/><Relationship Id="rId22" Type="http://schemas.openxmlformats.org/officeDocument/2006/relationships/hyperlink" Target="https://www.wu.ac.at/en/welthandel/arne-floh/" TargetMode="Externa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4" name="Gruppieren 23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6" name="Rechteck 2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7" name="Rechteck 2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8" y="1294973"/>
            <a:ext cx="5466982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8" y="993080"/>
            <a:ext cx="5466982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6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9" name="Grafik 18">
            <a:extLst>
              <a:ext uri="{FF2B5EF4-FFF2-40B4-BE49-F238E27FC236}">
                <a16:creationId xmlns:a16="http://schemas.microsoft.com/office/drawing/2014/main" id="{BE16B78E-14FB-4C1E-8625-0D5A429E49F4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E9B62297-FBCA-40E7-A876-7818F7A81C7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Inhal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2" name="Gruppieren 11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6" name="Rechteck 15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0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5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BA9844F5-FA66-4582-86D9-5CEB57D81516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B702B7F6-CDD2-4C6E-BBC1-61A114A8A828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54679611"/>
      </p:ext>
    </p:extLst>
  </p:cSld>
  <p:clrMapOvr>
    <a:masterClrMapping/>
  </p:clrMapOvr>
  <p:transition>
    <p:fade/>
  </p:transition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ohne Bild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A463F4F5-A20D-4A70-B3F9-6AD8A3EE255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AB68F06-4800-4D63-9DF2-372B23A8EC27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7341" y="5129960"/>
            <a:ext cx="1831485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919268004"/>
      </p:ext>
    </p:extLst>
  </p:cSld>
  <p:clrMapOvr>
    <a:masterClrMapping/>
  </p:clrMapOvr>
  <p:transition>
    <p:fade/>
  </p:transition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2" name="Rechteck 1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3" name="Rechteck 1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6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7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2" name="Grafik 21">
            <a:extLst>
              <a:ext uri="{FF2B5EF4-FFF2-40B4-BE49-F238E27FC236}">
                <a16:creationId xmlns:a16="http://schemas.microsoft.com/office/drawing/2014/main" id="{330D039B-1A60-42B3-A3E1-B44D86C63C0C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8" name="Grafik 17">
            <a:extLst>
              <a:ext uri="{FF2B5EF4-FFF2-40B4-BE49-F238E27FC236}">
                <a16:creationId xmlns:a16="http://schemas.microsoft.com/office/drawing/2014/main" id="{25D9B1B1-5069-4351-A01A-8CD097284142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042078111"/>
      </p:ext>
    </p:extLst>
  </p:cSld>
  <p:clrMapOvr>
    <a:masterClrMapping/>
  </p:clrMapOvr>
  <p:transition>
    <p:fade/>
  </p:transition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2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9" name="Gruppieren 18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tx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24" name="Grafik 23">
            <a:extLst>
              <a:ext uri="{FF2B5EF4-FFF2-40B4-BE49-F238E27FC236}">
                <a16:creationId xmlns:a16="http://schemas.microsoft.com/office/drawing/2014/main" id="{ABF9D4AB-1FA6-4101-9EE8-B852A65B2A1E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4" name="Grafik 13">
            <a:extLst>
              <a:ext uri="{FF2B5EF4-FFF2-40B4-BE49-F238E27FC236}">
                <a16:creationId xmlns:a16="http://schemas.microsoft.com/office/drawing/2014/main" id="{DDF8959B-5028-481F-A01F-8628D9F2E0D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441666851"/>
      </p:ext>
    </p:extLst>
  </p:cSld>
  <p:clrMapOvr>
    <a:masterClrMapping/>
  </p:clrMapOvr>
  <p:transition>
    <p:fade/>
  </p:transition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9" name="Rechteck 18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1" name="Rechteck 20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0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4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sp>
        <p:nvSpPr>
          <p:cNvPr id="1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1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pic>
        <p:nvPicPr>
          <p:cNvPr id="23" name="Grafik 22">
            <a:extLst>
              <a:ext uri="{FF2B5EF4-FFF2-40B4-BE49-F238E27FC236}">
                <a16:creationId xmlns:a16="http://schemas.microsoft.com/office/drawing/2014/main" id="{904218C8-068C-46BC-ADE6-6BC8A468BF77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D487AD36-3E46-4F41-8B5C-B79909802DD4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88316379"/>
      </p:ext>
    </p:extLst>
  </p:cSld>
  <p:clrMapOvr>
    <a:masterClrMapping/>
  </p:clrMapOvr>
  <p:transition>
    <p:fade/>
  </p:transition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Bild 3 kurz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8" name="Gruppieren 17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21" name="Rechteck 20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2" name="Rechteck 21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29497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1 line for header</a:t>
            </a:r>
          </a:p>
        </p:txBody>
      </p:sp>
      <p:sp>
        <p:nvSpPr>
          <p:cNvPr id="3" name="Untertitel 2"/>
          <p:cNvSpPr>
            <a:spLocks noGrp="1"/>
          </p:cNvSpPr>
          <p:nvPr>
            <p:ph type="subTitle" idx="1" hasCustomPrompt="1"/>
          </p:nvPr>
        </p:nvSpPr>
        <p:spPr bwMode="black">
          <a:xfrm>
            <a:off x="605407" y="993080"/>
            <a:ext cx="5436000" cy="304511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6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805551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dirty="0" smtClean="0"/>
            </a:lvl1pPr>
          </a:lstStyle>
          <a:p>
            <a:r>
              <a:rPr lang="en-GB" dirty="0"/>
              <a:t>Information about presentation (author, version No. etc.)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7" name="Grafik 16">
            <a:extLst>
              <a:ext uri="{FF2B5EF4-FFF2-40B4-BE49-F238E27FC236}">
                <a16:creationId xmlns:a16="http://schemas.microsoft.com/office/drawing/2014/main" id="{63D0D44A-5625-4C70-A2EB-08D982355B99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3" name="Grafik 12">
            <a:extLst>
              <a:ext uri="{FF2B5EF4-FFF2-40B4-BE49-F238E27FC236}">
                <a16:creationId xmlns:a16="http://schemas.microsoft.com/office/drawing/2014/main" id="{D91D1A92-B997-47B5-A14A-E2A501C20D08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83958111"/>
      </p:ext>
    </p:extLst>
  </p:cSld>
  <p:clrMapOvr>
    <a:masterClrMapping/>
  </p:clrMapOvr>
  <p:transition>
    <p:fade/>
  </p:transition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1" name="Gruppieren 2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22" name="Rechteck 21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23" name="Rechteck 22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941638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13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chapter header</a:t>
            </a:r>
          </a:p>
        </p:txBody>
      </p:sp>
      <p:sp>
        <p:nvSpPr>
          <p:cNvPr id="2" name="Datumsplatzhalter 1"/>
          <p:cNvSpPr>
            <a:spLocks noGrp="1"/>
          </p:cNvSpPr>
          <p:nvPr>
            <p:ph type="dt" sz="half" idx="13"/>
          </p:nvPr>
        </p:nvSpPr>
        <p:spPr/>
        <p:txBody>
          <a:bodyPr/>
          <a:lstStyle/>
          <a:p>
            <a:fld id="{529FDC53-5973-45F2-8F83-ED68F7A5850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3" name="Fußzeilenplatzhalter 2"/>
          <p:cNvSpPr>
            <a:spLocks noGrp="1"/>
          </p:cNvSpPr>
          <p:nvPr>
            <p:ph type="ftr" sz="quarter" idx="14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>
            <p:ph type="sldNum" sz="quarter" idx="15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89CCD104-DEA0-4048-8CA3-CAB740FC066E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72F980AF-DDD0-4966-B1E7-E1B87083C7CB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772976733"/>
      </p:ext>
    </p:extLst>
  </p:cSld>
  <p:clrMapOvr>
    <a:masterClrMapping/>
  </p:clrMapOvr>
  <p:transition>
    <p:fade/>
  </p:transition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Kapitelfolie kurz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3" name="Gruppieren 12"/>
          <p:cNvGrpSpPr/>
          <p:nvPr userDrawn="1"/>
        </p:nvGrpSpPr>
        <p:grpSpPr>
          <a:xfrm>
            <a:off x="287338" y="603319"/>
            <a:ext cx="8552850" cy="1731679"/>
            <a:chOff x="287338" y="603319"/>
            <a:chExt cx="8552850" cy="2037600"/>
          </a:xfrm>
        </p:grpSpPr>
        <p:sp>
          <p:nvSpPr>
            <p:cNvPr id="15" name="Rechteck 14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7" name="Rechteck 16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/>
            </a:solidFill>
            <a:ln>
              <a:solidFill>
                <a:schemeClr val="accent1"/>
              </a:solidFill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>
            <p:ph type="ctrTitle" hasCustomPrompt="1"/>
          </p:nvPr>
        </p:nvSpPr>
        <p:spPr bwMode="black">
          <a:xfrm>
            <a:off x="605407" y="1302593"/>
            <a:ext cx="5436000" cy="516714"/>
          </a:xfrm>
          <a:prstGeom prst="rect">
            <a:avLst/>
          </a:prstGeom>
        </p:spPr>
        <p:txBody>
          <a:bodyPr tIns="0" anchor="b" anchorCtr="0">
            <a:noAutofit/>
          </a:bodyPr>
          <a:lstStyle>
            <a:lvl1pPr algn="l">
              <a:lnSpc>
                <a:spcPct val="100000"/>
              </a:lnSpc>
              <a:defRPr sz="28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1 line for chapter header</a:t>
            </a:r>
          </a:p>
        </p:txBody>
      </p:sp>
      <p:sp>
        <p:nvSpPr>
          <p:cNvPr id="14" name="Textplatzhalter 9"/>
          <p:cNvSpPr>
            <a:spLocks noGrp="1"/>
          </p:cNvSpPr>
          <p:nvPr>
            <p:ph type="body" sz="quarter" idx="11" hasCustomPrompt="1"/>
          </p:nvPr>
        </p:nvSpPr>
        <p:spPr bwMode="white">
          <a:xfrm>
            <a:off x="287338" y="2642907"/>
            <a:ext cx="4284662" cy="620885"/>
          </a:xfrm>
          <a:solidFill>
            <a:schemeClr val="bg1">
              <a:alpha val="90000"/>
            </a:schemeClr>
          </a:solidFill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 defTabSz="914400">
              <a:buNone/>
              <a:defRPr lang="de-DE" sz="1200" dirty="0" smtClean="0"/>
            </a:lvl1pPr>
          </a:lstStyle>
          <a:p>
            <a:pPr marL="0" lvl="0" defTabSz="914400"/>
            <a:r>
              <a:rPr lang="en-GB" dirty="0"/>
              <a:t>Subtitle chapter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2"/>
          </p:nvPr>
        </p:nvSpPr>
        <p:spPr/>
        <p:txBody>
          <a:bodyPr/>
          <a:lstStyle/>
          <a:p>
            <a:fld id="{24570F99-0B5D-40DA-A3D3-DDF1CB693FD8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3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4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pic>
        <p:nvPicPr>
          <p:cNvPr id="21" name="Grafik 20">
            <a:extLst>
              <a:ext uri="{FF2B5EF4-FFF2-40B4-BE49-F238E27FC236}">
                <a16:creationId xmlns:a16="http://schemas.microsoft.com/office/drawing/2014/main" id="{416AA66B-0354-461B-A799-CF3EFFC17D87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2" name="Grafik 11">
            <a:extLst>
              <a:ext uri="{FF2B5EF4-FFF2-40B4-BE49-F238E27FC236}">
                <a16:creationId xmlns:a16="http://schemas.microsoft.com/office/drawing/2014/main" id="{D0ECE620-FB2B-4217-AA10-439373F15D44}"/>
              </a:ext>
            </a:extLst>
          </p:cNvPr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164094613"/>
      </p:ext>
    </p:extLst>
  </p:cSld>
  <p:clrMapOvr>
    <a:masterClrMapping/>
  </p:clrMapOvr>
  <p:transition>
    <p:fade/>
  </p:transition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Nur Tite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Inhaltsplatzhalter 6"/>
          <p:cNvSpPr>
            <a:spLocks noGrp="1"/>
          </p:cNvSpPr>
          <p:nvPr>
            <p:ph sz="quarter" idx="10" hasCustomPrompt="1"/>
          </p:nvPr>
        </p:nvSpPr>
        <p:spPr>
          <a:xfrm>
            <a:off x="468316" y="1344613"/>
            <a:ext cx="8210547" cy="4370387"/>
          </a:xfrm>
        </p:spPr>
        <p:txBody>
          <a:bodyPr/>
          <a:lstStyle>
            <a:lvl1pPr>
              <a:buNone/>
              <a:defRPr/>
            </a:lvl1pPr>
          </a:lstStyle>
          <a:p>
            <a:pPr lvl="0"/>
            <a:r>
              <a:rPr lang="en-GB" dirty="0"/>
              <a:t>Placeholder for objects</a:t>
            </a:r>
          </a:p>
        </p:txBody>
      </p:sp>
      <p:sp>
        <p:nvSpPr>
          <p:cNvPr id="8" name="Rechteck 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pic>
        <p:nvPicPr>
          <p:cNvPr id="9" name="Grafik 8">
            <a:extLst>
              <a:ext uri="{FF2B5EF4-FFF2-40B4-BE49-F238E27FC236}">
                <a16:creationId xmlns:a16="http://schemas.microsoft.com/office/drawing/2014/main" id="{293310F7-117D-4045-8610-3277CC5ED29B}"/>
              </a:ext>
            </a:extLst>
          </p:cNvPr>
          <p:cNvPicPr>
            <a:picLocks noChangeAspect="1"/>
          </p:cNvPicPr>
          <p:nvPr userDrawn="1"/>
        </p:nvPicPr>
        <p:blipFill>
          <a:blip r:embed="rId2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</p:spTree>
  </p:cSld>
  <p:clrMapOvr>
    <a:masterClrMapping/>
  </p:clrMapOvr>
  <p:transition>
    <p:fade/>
  </p:transition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>
            <a:normAutofit/>
          </a:bodyPr>
          <a:lstStyle>
            <a:lvl1pPr>
              <a:buClr>
                <a:schemeClr val="accent1"/>
              </a:buCl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buClr>
                <a:schemeClr val="accent1"/>
              </a:buCl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Zwei Inhalte Vergleich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Inhaltsplatzhalter 3"/>
          <p:cNvSpPr>
            <a:spLocks noGrp="1"/>
          </p:cNvSpPr>
          <p:nvPr>
            <p:ph sz="half" idx="2" hasCustomPrompt="1"/>
          </p:nvPr>
        </p:nvSpPr>
        <p:spPr>
          <a:xfrm>
            <a:off x="4715688" y="1935991"/>
            <a:ext cx="3960000" cy="3267834"/>
          </a:xfrm>
        </p:spPr>
        <p:txBody>
          <a:bodyPr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200"/>
            </a:lvl3pPr>
            <a:lvl4pPr>
              <a:defRPr sz="1100"/>
            </a:lvl4pPr>
            <a:lvl5pPr>
              <a:defRPr sz="11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8" name="Textplatzhalter 2"/>
          <p:cNvSpPr>
            <a:spLocks noGrp="1"/>
          </p:cNvSpPr>
          <p:nvPr>
            <p:ph type="body" idx="13" hasCustomPrompt="1"/>
          </p:nvPr>
        </p:nvSpPr>
        <p:spPr bwMode="gray">
          <a:xfrm>
            <a:off x="46831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1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4"/>
          </p:nvPr>
        </p:nvSpPr>
        <p:spPr/>
        <p:txBody>
          <a:bodyPr/>
          <a:lstStyle/>
          <a:p>
            <a:fld id="{9E16A0E8-29DE-4D75-BF66-2C047D439D4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1" name="Fußzeilenplatzhalter 10"/>
          <p:cNvSpPr>
            <a:spLocks noGrp="1"/>
          </p:cNvSpPr>
          <p:nvPr>
            <p:ph type="ftr" sz="quarter" idx="15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2" name="Foliennummernplatzhalter 11"/>
          <p:cNvSpPr>
            <a:spLocks noGrp="1"/>
          </p:cNvSpPr>
          <p:nvPr>
            <p:ph type="sldNum" sz="quarter" idx="16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  <p:sp>
        <p:nvSpPr>
          <p:cNvPr id="14" name="Textplatzhalter 2"/>
          <p:cNvSpPr>
            <a:spLocks noGrp="1"/>
          </p:cNvSpPr>
          <p:nvPr>
            <p:ph type="body" idx="17" hasCustomPrompt="1"/>
          </p:nvPr>
        </p:nvSpPr>
        <p:spPr bwMode="gray">
          <a:xfrm>
            <a:off x="4727894" y="1344613"/>
            <a:ext cx="3960811" cy="533136"/>
          </a:xfrm>
          <a:solidFill>
            <a:schemeClr val="accent1"/>
          </a:solidFill>
          <a:ln>
            <a:solidFill>
              <a:schemeClr val="accent1"/>
            </a:solidFill>
          </a:ln>
        </p:spPr>
        <p:style>
          <a:lnRef idx="2">
            <a:schemeClr val="accent3">
              <a:shade val="50000"/>
            </a:schemeClr>
          </a:lnRef>
          <a:fillRef idx="1">
            <a:schemeClr val="accent3"/>
          </a:fillRef>
          <a:effectRef idx="0">
            <a:schemeClr val="accent3"/>
          </a:effectRef>
          <a:fontRef idx="none"/>
        </p:style>
        <p:txBody>
          <a:bodyPr anchor="ctr" anchorCtr="0">
            <a:noAutofit/>
          </a:bodyPr>
          <a:lstStyle>
            <a:lvl1pPr marL="92066" indent="0">
              <a:buNone/>
              <a:tabLst/>
              <a:defRPr sz="1800" b="1" baseline="0">
                <a:solidFill>
                  <a:schemeClr val="bg1"/>
                </a:solidFill>
                <a:latin typeface="+mj-lt"/>
              </a:defRPr>
            </a:lvl1pPr>
            <a:lvl2pPr marL="457153" indent="0">
              <a:buNone/>
              <a:defRPr sz="2000" b="1"/>
            </a:lvl2pPr>
            <a:lvl3pPr marL="914306" indent="0">
              <a:buNone/>
              <a:defRPr sz="1800" b="1"/>
            </a:lvl3pPr>
            <a:lvl4pPr marL="1371460" indent="0">
              <a:buNone/>
              <a:defRPr sz="1600" b="1"/>
            </a:lvl4pPr>
            <a:lvl5pPr marL="1828613" indent="0">
              <a:buNone/>
              <a:defRPr sz="1600" b="1"/>
            </a:lvl5pPr>
            <a:lvl6pPr marL="2285767" indent="0">
              <a:buNone/>
              <a:defRPr sz="1600" b="1"/>
            </a:lvl6pPr>
            <a:lvl7pPr marL="2742920" indent="0">
              <a:buNone/>
              <a:defRPr sz="1600" b="1"/>
            </a:lvl7pPr>
            <a:lvl8pPr marL="3200073" indent="0">
              <a:buNone/>
              <a:defRPr sz="1600" b="1"/>
            </a:lvl8pPr>
            <a:lvl9pPr marL="3657227" indent="0">
              <a:buNone/>
              <a:defRPr sz="1600" b="1"/>
            </a:lvl9pPr>
          </a:lstStyle>
          <a:p>
            <a:pPr lvl="0"/>
            <a:r>
              <a:rPr lang="en-GB" dirty="0"/>
              <a:t>Subtitle 2</a:t>
            </a:r>
          </a:p>
        </p:txBody>
      </p:sp>
    </p:spTree>
  </p:cSld>
  <p:clrMapOvr>
    <a:masterClrMapping/>
  </p:clrMapOvr>
  <p:transition>
    <p:fade/>
  </p:transition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Textplatzhalter 10"/>
          <p:cNvSpPr>
            <a:spLocks noGrp="1"/>
          </p:cNvSpPr>
          <p:nvPr>
            <p:ph type="body" sz="quarter" idx="10" hasCustomPrompt="1"/>
          </p:nvPr>
        </p:nvSpPr>
        <p:spPr>
          <a:xfrm>
            <a:off x="1684020" y="2559843"/>
            <a:ext cx="2763926" cy="1811291"/>
          </a:xfr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marR="0" lvl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/>
            </a:pP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Hier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Adressdaten</a:t>
            </a:r>
            <a:r>
              <a:rPr kumimoji="0" lang="en-GB" sz="1000" b="0" i="0" u="none" strike="noStrike" kern="1200" cap="none" spc="0" normalizeH="0" baseline="0" noProof="0" dirty="0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 </a:t>
            </a:r>
            <a:r>
              <a:rPr kumimoji="0" lang="en-GB" sz="1000" b="0" i="0" u="none" strike="noStrike" kern="1200" cap="none" spc="0" normalizeH="0" baseline="0" noProof="0" dirty="0" err="1">
                <a:ln>
                  <a:noFill/>
                </a:ln>
                <a:solidFill>
                  <a:srgbClr val="000000"/>
                </a:solidFill>
                <a:effectLst/>
                <a:uLnTx/>
                <a:uFillTx/>
                <a:latin typeface="+mn-lt"/>
                <a:ea typeface="+mn-ea"/>
                <a:cs typeface="+mn-cs"/>
              </a:rPr>
              <a:t>eingeben</a:t>
            </a:r>
            <a:endParaRPr kumimoji="0" lang="en-GB" sz="1000" b="0" i="0" u="none" strike="noStrike" kern="1200" cap="none" spc="0" normalizeH="0" baseline="0" noProof="0" dirty="0">
              <a:ln>
                <a:noFill/>
              </a:ln>
              <a:solidFill>
                <a:srgbClr val="000000"/>
              </a:solidFill>
              <a:effectLst/>
              <a:uLnTx/>
              <a:uFillTx/>
              <a:latin typeface="+mn-lt"/>
              <a:ea typeface="+mn-ea"/>
              <a:cs typeface="+mn-cs"/>
            </a:endParaRP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elfolie Kontakt">
    <p:bg>
      <p:bgPr>
        <a:blipFill dpi="0" rotWithShape="1">
          <a:blip r:embed="rId2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11" name="Gruppieren 10"/>
          <p:cNvGrpSpPr/>
          <p:nvPr userDrawn="1"/>
        </p:nvGrpSpPr>
        <p:grpSpPr>
          <a:xfrm>
            <a:off x="287338" y="603319"/>
            <a:ext cx="8552850" cy="2037600"/>
            <a:chOff x="287338" y="603319"/>
            <a:chExt cx="8552850" cy="2037600"/>
          </a:xfrm>
        </p:grpSpPr>
        <p:sp>
          <p:nvSpPr>
            <p:cNvPr id="14" name="Rechteck 13"/>
            <p:cNvSpPr/>
            <p:nvPr userDrawn="1"/>
          </p:nvSpPr>
          <p:spPr>
            <a:xfrm>
              <a:off x="6192000" y="603319"/>
              <a:ext cx="2648188" cy="2037600"/>
            </a:xfrm>
            <a:prstGeom prst="rect">
              <a:avLst/>
            </a:prstGeom>
            <a:solidFill>
              <a:schemeClr val="bg1"/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  <p:sp>
          <p:nvSpPr>
            <p:cNvPr id="15" name="Rechteck 14"/>
            <p:cNvSpPr/>
            <p:nvPr userDrawn="1"/>
          </p:nvSpPr>
          <p:spPr bwMode="blackWhite">
            <a:xfrm>
              <a:off x="287338" y="603319"/>
              <a:ext cx="5904662" cy="2037600"/>
            </a:xfrm>
            <a:prstGeom prst="rect">
              <a:avLst/>
            </a:prstGeom>
            <a:solidFill>
              <a:srgbClr val="0096D3">
                <a:alpha val="89804"/>
              </a:srgbClr>
            </a:solidFill>
            <a:ln>
              <a:noFill/>
            </a:ln>
          </p:spPr>
          <p:style>
            <a:lnRef idx="3">
              <a:schemeClr val="lt1"/>
            </a:lnRef>
            <a:fillRef idx="1">
              <a:schemeClr val="accent1"/>
            </a:fillRef>
            <a:effectRef idx="1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en-GB" dirty="0"/>
            </a:p>
          </p:txBody>
        </p:sp>
      </p:grpSp>
      <p:sp>
        <p:nvSpPr>
          <p:cNvPr id="2" name="Titel 1"/>
          <p:cNvSpPr>
            <a:spLocks noGrp="1"/>
          </p:cNvSpPr>
          <p:nvPr userDrawn="1">
            <p:ph type="ctrTitle" hasCustomPrompt="1"/>
          </p:nvPr>
        </p:nvSpPr>
        <p:spPr bwMode="black">
          <a:xfrm>
            <a:off x="605406" y="1301365"/>
            <a:ext cx="5436000" cy="1026000"/>
          </a:xfrm>
          <a:prstGeom prst="rect">
            <a:avLst/>
          </a:prstGeom>
        </p:spPr>
        <p:txBody>
          <a:bodyPr tIns="0" anchor="ctr" anchorCtr="0">
            <a:noAutofit/>
          </a:bodyPr>
          <a:lstStyle>
            <a:lvl1pPr algn="l">
              <a:lnSpc>
                <a:spcPct val="100000"/>
              </a:lnSpc>
              <a:defRPr sz="3200" b="1" i="0" baseline="0">
                <a:solidFill>
                  <a:schemeClr val="bg1"/>
                </a:solidFill>
                <a:latin typeface="Georgia" charset="0"/>
                <a:ea typeface="Georgia" charset="0"/>
                <a:cs typeface="Georgia" charset="0"/>
              </a:defRPr>
            </a:lvl1pPr>
          </a:lstStyle>
          <a:p>
            <a:r>
              <a:rPr lang="en-GB" dirty="0"/>
              <a:t>Max. 2 lines of text for header</a:t>
            </a:r>
          </a:p>
        </p:txBody>
      </p:sp>
      <p:sp>
        <p:nvSpPr>
          <p:cNvPr id="3" name="Untertitel 2"/>
          <p:cNvSpPr>
            <a:spLocks noGrp="1"/>
          </p:cNvSpPr>
          <p:nvPr userDrawn="1">
            <p:ph type="subTitle" idx="1" hasCustomPrompt="1"/>
          </p:nvPr>
        </p:nvSpPr>
        <p:spPr bwMode="black">
          <a:xfrm>
            <a:off x="605406" y="993080"/>
            <a:ext cx="5436000" cy="351533"/>
          </a:xfrm>
        </p:spPr>
        <p:txBody>
          <a:bodyPr tIns="0" bIns="0">
            <a:noAutofit/>
          </a:bodyPr>
          <a:lstStyle>
            <a:lvl1pPr marL="0" indent="0" algn="l">
              <a:lnSpc>
                <a:spcPct val="100000"/>
              </a:lnSpc>
              <a:buNone/>
              <a:defRPr sz="1800" b="1" i="0" baseline="0">
                <a:solidFill>
                  <a:schemeClr val="tx1"/>
                </a:solidFill>
                <a:latin typeface="Verdana" charset="0"/>
                <a:ea typeface="Verdana" charset="0"/>
                <a:cs typeface="Verdana" charset="0"/>
              </a:defRPr>
            </a:lvl1pPr>
            <a:lvl2pPr marL="45715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306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46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61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576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292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073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227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GB" dirty="0"/>
              <a:t>Add subtitle here if required</a:t>
            </a:r>
          </a:p>
        </p:txBody>
      </p:sp>
      <p:sp>
        <p:nvSpPr>
          <p:cNvPr id="10" name="Kontaktdaten"/>
          <p:cNvSpPr>
            <a:spLocks noGrp="1"/>
          </p:cNvSpPr>
          <p:nvPr userDrawn="1"/>
        </p:nvSpPr>
        <p:spPr bwMode="white">
          <a:xfrm>
            <a:off x="287338" y="2941638"/>
            <a:ext cx="4284662" cy="1400000"/>
          </a:xfrm>
          <a:prstGeom prst="rect">
            <a:avLst/>
          </a:prstGeom>
          <a:solidFill>
            <a:srgbClr val="FFFFFF">
              <a:alpha val="90000"/>
            </a:srgbClr>
          </a:solidFill>
          <a:ln>
            <a:noFill/>
          </a:ln>
        </p:spPr>
        <p:txBody>
          <a:bodyPr wrap="square" lIns="324000" tIns="216000" rIns="324000" bIns="216000" rtlCol="0" anchor="t" anchorCtr="0">
            <a:spAutoFit/>
          </a:bodyPr>
          <a:lstStyle>
            <a:lvl1pPr marL="0" indent="0">
              <a:buNone/>
              <a:defRPr lang="de-DE" sz="1200" baseline="0" dirty="0" smtClean="0"/>
            </a:lvl1pPr>
          </a:lstStyle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Dr Arne Floh, Senior Lecturer in Marketing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</a:rPr>
              <a:t>WU Vienna, Institute for International Business</a:t>
            </a:r>
          </a:p>
          <a:p>
            <a:pPr marL="0" indent="0">
              <a:buNone/>
            </a:pPr>
            <a:endParaRPr lang="en-GB" sz="1200"/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1100" dirty="0">
                <a:solidFill>
                  <a:srgbClr val="000000"/>
                </a:solidFill>
                <a:latin typeface="+mn-lt"/>
                <a:hlinkClick r:id="rId21"/>
              </a:rPr>
              <a:t>Office hours: book online (Google Calendar)</a:t>
            </a:r>
          </a:p>
        </p:txBody>
      </p:sp>
      <p:sp>
        <p:nvSpPr>
          <p:cNvPr id="12" name="Textplatzhalter 7"/>
          <p:cNvSpPr>
            <a:spLocks noGrp="1"/>
          </p:cNvSpPr>
          <p:nvPr>
            <p:ph type="body" sz="quarter" idx="12" hasCustomPrompt="1"/>
          </p:nvPr>
        </p:nvSpPr>
        <p:spPr bwMode="auto">
          <a:xfrm>
            <a:off x="457200" y="5426926"/>
            <a:ext cx="1638300" cy="243623"/>
          </a:xfrm>
        </p:spPr>
        <p:txBody>
          <a:bodyPr>
            <a:noAutofit/>
          </a:bodyPr>
          <a:lstStyle>
            <a:lvl1pPr marL="0" indent="0">
              <a:buNone/>
              <a:defRPr sz="900" cap="all" baseline="0">
                <a:solidFill>
                  <a:schemeClr val="bg1"/>
                </a:solidFill>
              </a:defRPr>
            </a:lvl1pPr>
            <a:lvl2pPr marL="266700" indent="0">
              <a:buNone/>
              <a:defRPr sz="1050"/>
            </a:lvl2pPr>
            <a:lvl3pPr marL="541338" indent="0">
              <a:buNone/>
              <a:defRPr sz="1050"/>
            </a:lvl3pPr>
            <a:lvl4pPr marL="808038" indent="0">
              <a:buNone/>
              <a:defRPr sz="1000"/>
            </a:lvl4pPr>
            <a:lvl5pPr marL="1077913" indent="0">
              <a:buNone/>
              <a:defRPr sz="1000"/>
            </a:lvl5pPr>
          </a:lstStyle>
          <a:p>
            <a:pPr lvl="0"/>
            <a:r>
              <a:rPr lang="en-GB" dirty="0"/>
              <a:t>State: </a:t>
            </a:r>
            <a:r>
              <a:rPr lang="en-GB" dirty="0" err="1"/>
              <a:t>xx.xx.xxxx</a:t>
            </a:r>
            <a:endParaRPr lang="en-GB" dirty="0"/>
          </a:p>
        </p:txBody>
      </p:sp>
      <p:pic>
        <p:nvPicPr>
          <p:cNvPr id="18" name="Grafik 17">
            <a:extLst>
              <a:ext uri="{FF2B5EF4-FFF2-40B4-BE49-F238E27FC236}">
                <a16:creationId xmlns:a16="http://schemas.microsoft.com/office/drawing/2014/main" id="{35A845CD-2D10-42BB-97DB-CDA723EE9EBF}"/>
              </a:ext>
            </a:extLst>
          </p:cNvPr>
          <p:cNvPicPr>
            <a:picLocks noChangeAspect="1"/>
          </p:cNvPicPr>
          <p:nvPr userDrawn="1"/>
        </p:nvPicPr>
        <p:blipFill>
          <a:blip r:embed="rId3"/>
          <a:stretch>
            <a:fillRect/>
          </a:stretch>
        </p:blipFill>
        <p:spPr>
          <a:xfrm>
            <a:off x="6579375" y="1065910"/>
            <a:ext cx="1849165" cy="975600"/>
          </a:xfrm>
          <a:prstGeom prst="rect">
            <a:avLst/>
          </a:prstGeom>
        </p:spPr>
      </p:pic>
      <p:pic>
        <p:nvPicPr>
          <p:cNvPr id="16" name="Grafik 15">
            <a:extLst>
              <a:ext uri="{FF2B5EF4-FFF2-40B4-BE49-F238E27FC236}">
                <a16:creationId xmlns:a16="http://schemas.microsoft.com/office/drawing/2014/main" id="{1A49BD17-4238-4565-A4B6-2E20A7C19FA6}"/>
              </a:ext>
            </a:extLst>
          </p:cNvPr>
          <p:cNvPicPr>
            <a:picLocks noChangeAspect="1"/>
          </p:cNvPicPr>
          <p:nvPr userDrawn="1"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615113" y="5129960"/>
            <a:ext cx="1835942" cy="317581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096689772"/>
      </p:ext>
    </p:extLst>
  </p:cSld>
  <p:clrMapOvr>
    <a:masterClrMapping/>
  </p:clrMapOvr>
  <p:transition>
    <p:fade/>
  </p:transition>
  <p:extLst>
    <p:ext uri="{DCECCB84-F9BA-43D5-87BE-67443E8EF086}">
      <p15:sldGuideLst xmlns:p15="http://schemas.microsoft.com/office/powerpoint/2012/main"/>
    </p:ext>
  </p:extLst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Inhalt und Bild mit Log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sz="half" idx="1" hasCustomPrompt="1"/>
          </p:nvPr>
        </p:nvSpPr>
        <p:spPr>
          <a:xfrm>
            <a:off x="462405" y="1344613"/>
            <a:ext cx="3960000" cy="3859212"/>
          </a:xfrm>
        </p:spPr>
        <p:txBody>
          <a:bodyPr>
            <a:normAutofit/>
          </a:bodyPr>
          <a:lstStyle>
            <a:lvl1pPr>
              <a:defRPr sz="1600"/>
            </a:lvl1pPr>
            <a:lvl2pPr marL="541312" indent="-285750">
              <a:buClr>
                <a:schemeClr val="accent1"/>
              </a:buClr>
              <a:buFont typeface="Wingdings" charset="2"/>
              <a:buChar char="§"/>
              <a:defRPr sz="1500"/>
            </a:lvl2pPr>
            <a:lvl3pPr>
              <a:defRPr sz="1400"/>
            </a:lvl3pPr>
            <a:lvl4pPr>
              <a:buClr>
                <a:schemeClr val="accent1"/>
              </a:buClr>
              <a:defRPr sz="1200"/>
            </a:lvl4pPr>
            <a:lvl5pPr>
              <a:defRPr sz="12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GB" dirty="0" err="1"/>
              <a:t>Textmasterformat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4" name="Bildplatzhalter 3"/>
          <p:cNvSpPr>
            <a:spLocks noGrp="1"/>
          </p:cNvSpPr>
          <p:nvPr>
            <p:ph type="pic" sz="half" idx="2" hasCustomPrompt="1"/>
          </p:nvPr>
        </p:nvSpPr>
        <p:spPr>
          <a:xfrm>
            <a:off x="4715688" y="1344613"/>
            <a:ext cx="3960000" cy="3859212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Click icon to add picture</a:t>
            </a:r>
          </a:p>
        </p:txBody>
      </p:sp>
      <p:sp>
        <p:nvSpPr>
          <p:cNvPr id="20" name="Logoplatzhalter 19"/>
          <p:cNvSpPr>
            <a:spLocks noGrp="1"/>
          </p:cNvSpPr>
          <p:nvPr>
            <p:ph type="pic" sz="quarter" idx="13" hasCustomPrompt="1"/>
          </p:nvPr>
        </p:nvSpPr>
        <p:spPr>
          <a:xfrm>
            <a:off x="7715688" y="4243825"/>
            <a:ext cx="860000" cy="860000"/>
          </a:xfrm>
        </p:spPr>
        <p:txBody>
          <a:bodyPr anchor="ctr"/>
          <a:lstStyle>
            <a:lvl1pPr marL="0" indent="0" algn="ctr">
              <a:buNone/>
              <a:defRPr sz="1200"/>
            </a:lvl1pPr>
          </a:lstStyle>
          <a:p>
            <a:r>
              <a:rPr lang="en-GB" dirty="0"/>
              <a:t>Logo</a:t>
            </a:r>
          </a:p>
        </p:txBody>
      </p:sp>
      <p:sp>
        <p:nvSpPr>
          <p:cNvPr id="5" name="Datumsplatzhalt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2FD44FF-326E-4934-AE8D-65DEFF191BB1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el und Tabel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Inhaltsplatzhalter 2"/>
          <p:cNvSpPr>
            <a:spLocks noGrp="1"/>
          </p:cNvSpPr>
          <p:nvPr>
            <p:ph type="tbl" idx="1" hasCustomPrompt="1"/>
          </p:nvPr>
        </p:nvSpPr>
        <p:spPr>
          <a:xfrm>
            <a:off x="462019" y="1344613"/>
            <a:ext cx="7759644" cy="3853905"/>
          </a:xfrm>
        </p:spPr>
        <p:txBody>
          <a:bodyPr lIns="0" rIns="0">
            <a:normAutofit/>
          </a:bodyPr>
          <a:lstStyle>
            <a:lvl1pPr>
              <a:defRPr sz="1600"/>
            </a:lvl1pPr>
            <a:lvl2pPr>
              <a:defRPr sz="1500"/>
            </a:lvl2pPr>
            <a:lvl3pPr>
              <a:defRPr sz="1400"/>
            </a:lvl3pPr>
            <a:lvl4pPr>
              <a:defRPr sz="1200"/>
            </a:lvl4pPr>
            <a:lvl5pPr>
              <a:defRPr sz="1200"/>
            </a:lvl5pPr>
          </a:lstStyle>
          <a:p>
            <a:pPr marL="0" indent="0">
              <a:buNone/>
            </a:pPr>
            <a:r>
              <a:rPr lang="en-GB" dirty="0"/>
              <a:t>Click icon to add table</a:t>
            </a:r>
          </a:p>
        </p:txBody>
      </p:sp>
      <p:sp>
        <p:nvSpPr>
          <p:cNvPr id="4" name="Datumsplatzhalt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40E7AAB-A700-485E-A2FB-EAC3CFB0707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2" name="Titel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de-DE"/>
              <a:t>Mastertitelformat bearbeiten</a:t>
            </a:r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Abschlussfolie Kontak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Rechteck 4"/>
          <p:cNvSpPr/>
          <p:nvPr/>
        </p:nvSpPr>
        <p:spPr>
          <a:xfrm>
            <a:off x="467544" y="1964530"/>
            <a:ext cx="4319712" cy="2716954"/>
          </a:xfrm>
          <a:prstGeom prst="rect">
            <a:avLst/>
          </a:prstGeom>
          <a:ln w="12700">
            <a:solidFill>
              <a:schemeClr val="bg1">
                <a:lumMod val="50000"/>
              </a:schemeClr>
            </a:solidFill>
          </a:ln>
          <a:effectLst/>
        </p:spPr>
        <p:style>
          <a:lnRef idx="2">
            <a:schemeClr val="dk1"/>
          </a:lnRef>
          <a:fillRef idx="1">
            <a:schemeClr val="lt1"/>
          </a:fillRef>
          <a:effectRef idx="0">
            <a:schemeClr val="dk1"/>
          </a:effectRef>
          <a:fontRef idx="minor">
            <a:schemeClr val="dk1"/>
          </a:fontRef>
        </p:style>
        <p:txBody>
          <a:bodyPr lIns="91431" tIns="45715" rIns="91431" bIns="45715" rtlCol="0" anchor="ctr"/>
          <a:lstStyle/>
          <a:p>
            <a:pPr algn="ctr"/>
            <a:endParaRPr lang="en-GB" dirty="0"/>
          </a:p>
        </p:txBody>
      </p:sp>
      <p:pic>
        <p:nvPicPr>
          <p:cNvPr id="7" name="Grafik 6" descr="Logo-für-VK.png"/>
          <p:cNvPicPr>
            <a:picLocks noChangeAspect="1"/>
          </p:cNvPicPr>
          <p:nvPr/>
        </p:nvPicPr>
        <p:blipFill>
          <a:blip r:embed="rId2" cstate="print"/>
          <a:stretch>
            <a:fillRect/>
          </a:stretch>
        </p:blipFill>
        <p:spPr>
          <a:xfrm>
            <a:off x="611560" y="2127250"/>
            <a:ext cx="492443" cy="2252663"/>
          </a:xfrm>
          <a:prstGeom prst="rect">
            <a:avLst/>
          </a:prstGeom>
        </p:spPr>
      </p:pic>
      <p:sp>
        <p:nvSpPr>
          <p:cNvPr id="11" name="Kontaktdaten"/>
          <p:cNvSpPr>
            <a:spLocks noGrp="1"/>
          </p:cNvSpPr>
          <p:nvPr userDrawn="1"/>
        </p:nvSpPr>
        <p:spPr>
          <a:xfrm>
            <a:off x="1684020" y="2559843"/>
            <a:ext cx="2763926" cy="1811291"/>
          </a:xfrm>
          <a:prstGeom prst="rect">
            <a:avLst/>
          </a:prstGeom>
        </p:spPr>
        <p:txBody>
          <a:bodyPr>
            <a:normAutofit/>
          </a:bodyPr>
          <a:lstStyle>
            <a:lvl1pPr marL="0" marR="0" indent="0" algn="l" defTabSz="914306" rtl="0" eaLnBrk="1" fontAlgn="auto" latinLnBrk="0" hangingPunct="1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>
                <a:srgbClr val="4B2582"/>
              </a:buClr>
              <a:buSzTx/>
              <a:buFont typeface="Wingdings" pitchFamily="2" charset="2"/>
              <a:buNone/>
              <a:tabLst/>
              <a:defRPr sz="1100" baseline="0"/>
            </a:lvl1pPr>
            <a:lvl2pPr marL="0" indent="0">
              <a:buNone/>
              <a:defRPr/>
            </a:lvl2pPr>
            <a:lvl3pPr marL="0" indent="0">
              <a:buNone/>
              <a:defRPr/>
            </a:lvl3pPr>
            <a:lvl4pPr marL="0" indent="0">
              <a:buNone/>
              <a:defRPr/>
            </a:lvl4pPr>
            <a:lvl5pPr marL="0" indent="0">
              <a:buNone/>
              <a:defRPr/>
            </a:lvl5pPr>
          </a:lstStyle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INSTITUTE FOR INTERNATIONAL BUSINESS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Welthandelsplatz 1, 1020 Vienna, Austria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b="1" dirty="0">
                <a:solidFill>
                  <a:srgbClr val="000000"/>
                </a:solidFill>
                <a:latin typeface="+mn-lt"/>
              </a:rPr>
              <a:t>DR ARNE 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Senior Lecturer in Marketing</a:t>
            </a:r>
          </a:p>
          <a:p>
            <a:pPr marL="0" indent="0">
              <a:buNone/>
            </a:pPr>
            <a:endParaRPr lang="en-GB" sz="1000" dirty="0"/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</a:rPr>
              <a:t>F +43-31336-6367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0"/>
              </a:rPr>
              <a:t>arne.floh@wu.ac.at</a:t>
            </a:r>
          </a:p>
          <a:p>
            <a:pPr marL="0" indent="0">
              <a:buNone/>
            </a:pPr>
            <a:r>
              <a:rPr lang="en-GB" sz="900" dirty="0">
                <a:solidFill>
                  <a:srgbClr val="000000"/>
                </a:solidFill>
                <a:latin typeface="+mn-lt"/>
                <a:hlinkClick r:id="rId22"/>
              </a:rPr>
              <a:t>www.wu.ac.at/en/welthandel/arne-floh</a:t>
            </a:r>
          </a:p>
          <a:p>
            <a:pPr marL="0" indent="0">
              <a:buNone/>
            </a:pPr>
            <a:r>
              <a:rPr lang="en-GB" sz="1000" dirty="0">
                <a:solidFill>
                  <a:srgbClr val="000000"/>
                </a:solidFill>
                <a:latin typeface="+mn-lt"/>
                <a:hlinkClick r:id="rId21"/>
              </a:rPr>
              <a:t>Office hours: book online</a:t>
            </a:r>
          </a:p>
        </p:txBody>
      </p:sp>
      <p:sp>
        <p:nvSpPr>
          <p:cNvPr id="8" name="Datumsplatzhalter 7"/>
          <p:cNvSpPr>
            <a:spLocks noGrp="1"/>
          </p:cNvSpPr>
          <p:nvPr>
            <p:ph type="dt" sz="half" idx="11"/>
          </p:nvPr>
        </p:nvSpPr>
        <p:spPr/>
        <p:txBody>
          <a:bodyPr/>
          <a:lstStyle/>
          <a:p>
            <a:fld id="{D1DA7DE9-F6B6-4FDA-A00F-1221D494593B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 dirty="0"/>
              <a:t>Sample Footer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  <p:transition>
    <p:fade/>
  </p:transition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slideLayout" Target="../slideLayouts/slideLayout12.xml"/><Relationship Id="rId13" Type="http://schemas.openxmlformats.org/officeDocument/2006/relationships/slideLayout" Target="../slideLayouts/slideLayout13.xml"/><Relationship Id="rId14" Type="http://schemas.openxmlformats.org/officeDocument/2006/relationships/slideLayout" Target="../slideLayouts/slideLayout14.xml"/><Relationship Id="rId15" Type="http://schemas.openxmlformats.org/officeDocument/2006/relationships/slideLayout" Target="../slideLayouts/slideLayout15.xml"/><Relationship Id="rId16" Type="http://schemas.openxmlformats.org/officeDocument/2006/relationships/theme" Target="../theme/theme1.xml"/><Relationship Id="rId17" Type="http://schemas.openxmlformats.org/officeDocument/2006/relationships/image" Target="../media/image1.png"/><Relationship Id="rId18" Type="http://schemas.openxmlformats.org/officeDocument/2006/relationships/image" Target="../media/image2.png"/><Relationship Id="rId19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17.xml"/><Relationship Id="rId21" Type="http://schemas.openxmlformats.org/officeDocument/2006/relationships/slideLayout" Target="../slideLayouts/slideLayout18.xml"/><Relationship Id="rId22" Type="http://schemas.openxmlformats.org/officeDocument/2006/relationships/slideLayout" Target="../slideLayouts/slideLayout1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 bwMode="auto"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platzhalter 2"/>
          <p:cNvSpPr>
            <a:spLocks noGrp="1"/>
          </p:cNvSpPr>
          <p:nvPr>
            <p:ph type="body" idx="1"/>
          </p:nvPr>
        </p:nvSpPr>
        <p:spPr>
          <a:xfrm>
            <a:off x="457200" y="1344613"/>
            <a:ext cx="7764463" cy="3859212"/>
          </a:xfrm>
          <a:prstGeom prst="rect">
            <a:avLst/>
          </a:prstGeom>
        </p:spPr>
        <p:txBody>
          <a:bodyPr vert="horz" lIns="0" tIns="45715" rIns="0" bIns="45715" rtlCol="0">
            <a:normAutofit/>
          </a:bodyPr>
          <a:lstStyle/>
          <a:p>
            <a:pPr lvl="0"/>
            <a:r>
              <a:rPr lang="en-GB" dirty="0" err="1"/>
              <a:t>Textmasterformate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  <a:p>
            <a:pPr lvl="1"/>
            <a:r>
              <a:rPr lang="en-GB" dirty="0" err="1"/>
              <a:t>Zweite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2"/>
            <a:r>
              <a:rPr lang="en-GB" dirty="0" err="1"/>
              <a:t>Dritte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3"/>
            <a:r>
              <a:rPr lang="en-GB" dirty="0" err="1"/>
              <a:t>Vierte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  <a:p>
            <a:pPr lvl="4"/>
            <a:r>
              <a:rPr lang="en-GB" dirty="0" err="1"/>
              <a:t>Fünfte</a:t>
            </a:r>
            <a:r>
              <a:rPr lang="en-GB" dirty="0"/>
              <a:t> </a:t>
            </a:r>
            <a:r>
              <a:rPr lang="en-GB" dirty="0" err="1"/>
              <a:t>Ebene</a:t>
            </a:r>
            <a:endParaRPr lang="en-GB" dirty="0"/>
          </a:p>
        </p:txBody>
      </p:sp>
      <p:sp>
        <p:nvSpPr>
          <p:cNvPr id="5" name="Fußzeilenplatzhalter 4"/>
          <p:cNvSpPr>
            <a:spLocks noGrp="1"/>
          </p:cNvSpPr>
          <p:nvPr userDrawn="1">
            <p:ph type="ftr" sz="quarter" idx="3"/>
          </p:nvPr>
        </p:nvSpPr>
        <p:spPr>
          <a:xfrm>
            <a:off x="1354561" y="5412059"/>
            <a:ext cx="3217443" cy="258085"/>
          </a:xfrm>
          <a:prstGeom prst="rect">
            <a:avLst/>
          </a:prstGeom>
        </p:spPr>
        <p:txBody>
          <a:bodyPr vert="horz" lIns="91431" tIns="45715" rIns="91431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Sample Footer</a:t>
            </a:r>
          </a:p>
        </p:txBody>
      </p:sp>
      <p:sp>
        <p:nvSpPr>
          <p:cNvPr id="6" name="Foliennummernplatzhalter 5"/>
          <p:cNvSpPr>
            <a:spLocks noGrp="1"/>
          </p:cNvSpPr>
          <p:nvPr userDrawn="1">
            <p:ph type="sldNum" sz="quarter" idx="4"/>
          </p:nvPr>
        </p:nvSpPr>
        <p:spPr>
          <a:xfrm>
            <a:off x="462407" y="5412059"/>
            <a:ext cx="892150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l">
              <a:defRPr sz="800" cap="all" baseline="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r>
              <a:rPr lang="en-GB" dirty="0"/>
              <a:t>Page </a:t>
            </a:r>
            <a:fld id="{BE3DC40E-DBBE-4E2D-9EEC-FBF0DA0E9179}" type="slidenum">
              <a:rPr lang="en-GB" smtClean="0"/>
              <a:pPr/>
              <a:t>‹Nr.›</a:t>
            </a:fld>
            <a:endParaRPr lang="en-GB" dirty="0"/>
          </a:p>
        </p:txBody>
      </p:sp>
      <p:sp>
        <p:nvSpPr>
          <p:cNvPr id="7" name="Datumsplatzhalter 6"/>
          <p:cNvSpPr>
            <a:spLocks noGrp="1"/>
          </p:cNvSpPr>
          <p:nvPr userDrawn="1">
            <p:ph type="dt" sz="half" idx="2"/>
          </p:nvPr>
        </p:nvSpPr>
        <p:spPr>
          <a:xfrm>
            <a:off x="5745181" y="5412059"/>
            <a:ext cx="987407" cy="258085"/>
          </a:xfrm>
          <a:prstGeom prst="rect">
            <a:avLst/>
          </a:prstGeom>
        </p:spPr>
        <p:txBody>
          <a:bodyPr vert="horz" lIns="0" tIns="45715" rIns="0" bIns="45715" rtlCol="0" anchor="ctr"/>
          <a:lstStyle>
            <a:lvl1pPr algn="r">
              <a:defRPr lang="de-DE" sz="800" kern="1200" cap="all" baseline="0" smtClean="0">
                <a:solidFill>
                  <a:schemeClr val="tx1">
                    <a:tint val="75000"/>
                  </a:schemeClr>
                </a:solidFill>
                <a:latin typeface="+mn-lt"/>
                <a:ea typeface="+mn-ea"/>
                <a:cs typeface="+mn-cs"/>
              </a:defRPr>
            </a:lvl1pPr>
          </a:lstStyle>
          <a:p>
            <a:fld id="{AD672231-DCCE-48E5-AF73-62895FE58BB4}" type="datetime1">
              <a:rPr lang="en-GB" smtClean="0"/>
              <a:t>25/08/2023</a:t>
            </a:fld>
            <a:endParaRPr lang="en-GB" dirty="0"/>
          </a:p>
        </p:txBody>
      </p:sp>
      <p:sp>
        <p:nvSpPr>
          <p:cNvPr id="18" name="Rechteck 17"/>
          <p:cNvSpPr/>
          <p:nvPr userDrawn="1"/>
        </p:nvSpPr>
        <p:spPr bwMode="gray">
          <a:xfrm>
            <a:off x="0" y="1043522"/>
            <a:ext cx="9144000" cy="25200"/>
          </a:xfrm>
          <a:prstGeom prst="rect">
            <a:avLst/>
          </a:prstGeom>
          <a:solidFill>
            <a:srgbClr val="0C94B7"/>
          </a:solidFill>
          <a:ln>
            <a:solidFill>
              <a:schemeClr val="accent1"/>
            </a:solidFill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lang="en-GB" dirty="0"/>
              <a:t>      </a:t>
            </a:r>
          </a:p>
        </p:txBody>
      </p:sp>
      <p:sp>
        <p:nvSpPr>
          <p:cNvPr id="15" name="Titelplatzhalter 14"/>
          <p:cNvSpPr>
            <a:spLocks noGrp="1"/>
          </p:cNvSpPr>
          <p:nvPr userDrawn="1">
            <p:ph type="title"/>
          </p:nvPr>
        </p:nvSpPr>
        <p:spPr bwMode="auto">
          <a:xfrm>
            <a:off x="462408" y="139700"/>
            <a:ext cx="6840000" cy="903822"/>
          </a:xfrm>
          <a:prstGeom prst="rect">
            <a:avLst/>
          </a:prstGeom>
        </p:spPr>
        <p:txBody>
          <a:bodyPr vert="horz" lIns="0" tIns="0" rIns="0" bIns="0" rtlCol="0" anchor="ctr">
            <a:normAutofit/>
          </a:bodyPr>
          <a:lstStyle/>
          <a:p>
            <a:r>
              <a:rPr lang="en-GB" dirty="0" err="1"/>
              <a:t>Titelmasterformat</a:t>
            </a:r>
            <a:r>
              <a:rPr lang="en-GB" dirty="0"/>
              <a:t> </a:t>
            </a:r>
            <a:r>
              <a:rPr lang="en-GB" dirty="0" err="1"/>
              <a:t>durch</a:t>
            </a:r>
            <a:r>
              <a:rPr lang="en-GB" dirty="0"/>
              <a:t> </a:t>
            </a:r>
            <a:br>
              <a:rPr lang="en-GB" dirty="0"/>
            </a:br>
            <a:r>
              <a:rPr lang="en-GB" dirty="0" err="1"/>
              <a:t>Klicken</a:t>
            </a:r>
            <a:r>
              <a:rPr lang="en-GB" dirty="0"/>
              <a:t> </a:t>
            </a:r>
            <a:r>
              <a:rPr lang="en-GB" dirty="0" err="1"/>
              <a:t>bearbeiten</a:t>
            </a:r>
            <a:endParaRPr lang="en-GB" dirty="0"/>
          </a:p>
        </p:txBody>
      </p:sp>
      <p:pic>
        <p:nvPicPr>
          <p:cNvPr id="13" name="Grafik 12">
            <a:extLst>
              <a:ext uri="{FF2B5EF4-FFF2-40B4-BE49-F238E27FC236}">
                <a16:creationId xmlns:a16="http://schemas.microsoft.com/office/drawing/2014/main" id="{49925201-EC66-4A08-AB14-A541648A67DE}"/>
              </a:ext>
            </a:extLst>
          </p:cNvPr>
          <p:cNvPicPr>
            <a:picLocks noChangeAspect="1"/>
          </p:cNvPicPr>
          <p:nvPr userDrawn="1"/>
        </p:nvPicPr>
        <p:blipFill>
          <a:blip r:embed="rId17"/>
          <a:stretch>
            <a:fillRect/>
          </a:stretch>
        </p:blipFill>
        <p:spPr>
          <a:xfrm>
            <a:off x="7711621" y="288569"/>
            <a:ext cx="1170000" cy="61728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0A212EC7-C80F-4EBC-9817-97C85E0A8AEB}"/>
              </a:ext>
            </a:extLst>
          </p:cNvPr>
          <p:cNvPicPr>
            <a:picLocks noChangeAspect="1"/>
          </p:cNvPicPr>
          <p:nvPr userDrawn="1"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7567613" y="5351511"/>
            <a:ext cx="1318058" cy="228552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671" r:id="rId1"/>
    <p:sldLayoutId id="2147483661" r:id="rId2"/>
    <p:sldLayoutId id="2147483663" r:id="rId3"/>
    <p:sldLayoutId id="2147483675" r:id="rId4"/>
    <p:sldLayoutId id="2147483676" r:id="rId5"/>
    <p:sldLayoutId id="2147483686" r:id="rId6"/>
    <p:sldLayoutId id="2147483687" r:id="rId7"/>
    <p:sldLayoutId id="2147483681" r:id="rId8"/>
    <p:sldLayoutId id="2147483682" r:id="rId9"/>
    <p:sldLayoutId id="2147483688" r:id="rId10"/>
    <p:sldLayoutId id="2147483691" r:id="rId11"/>
    <p:sldLayoutId id="2147483664" r:id="rId12"/>
    <p:sldLayoutId id="2147483667" r:id="rId13"/>
    <p:sldLayoutId id="2147483668" r:id="rId14"/>
    <p:sldLayoutId id="2147483670" r:id="rId15"/>
    <p:sldLayoutId id="2147483692" r:id="rId19"/>
    <p:sldLayoutId id="2147483693" r:id="rId20"/>
    <p:sldLayoutId id="2147483694" r:id="rId21"/>
    <p:sldLayoutId id="2147483695" r:id="rId22"/>
  </p:sldLayoutIdLst>
  <p:transition>
    <p:fade/>
  </p:transition>
  <p:hf hdr="0" dt="0"/>
  <p:txStyles>
    <p:titleStyle>
      <a:lvl1pPr algn="l" defTabSz="914306" rtl="0" eaLnBrk="1" latinLnBrk="0" hangingPunct="1">
        <a:lnSpc>
          <a:spcPct val="100000"/>
        </a:lnSpc>
        <a:spcBef>
          <a:spcPct val="0"/>
        </a:spcBef>
        <a:buNone/>
        <a:defRPr sz="2400" b="1" kern="1200">
          <a:solidFill>
            <a:schemeClr val="tx1"/>
          </a:solidFill>
          <a:latin typeface="Georgia" charset="0"/>
          <a:ea typeface="Georgia" charset="0"/>
          <a:cs typeface="Georgia" charset="0"/>
        </a:defRPr>
      </a:lvl1pPr>
    </p:titleStyle>
    <p:bodyStyle>
      <a:lvl1pPr marL="266700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600"/>
        </a:spcAft>
        <a:buClr>
          <a:schemeClr val="accent1"/>
        </a:buClr>
        <a:buFont typeface="Wingdings" charset="2"/>
        <a:buChar char="§"/>
        <a:defRPr sz="1600" kern="1200">
          <a:solidFill>
            <a:schemeClr val="tx1"/>
          </a:solidFill>
          <a:latin typeface="+mn-lt"/>
          <a:ea typeface="+mn-ea"/>
          <a:cs typeface="+mn-cs"/>
        </a:defRPr>
      </a:lvl1pPr>
      <a:lvl2pPr marL="539750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SzPct val="100000"/>
        <a:buFont typeface="Wingdings" charset="2"/>
        <a:buChar char="§"/>
        <a:defRPr sz="1500" kern="1200">
          <a:solidFill>
            <a:schemeClr val="tx1"/>
          </a:solidFill>
          <a:latin typeface="+mn-lt"/>
          <a:ea typeface="+mn-ea"/>
          <a:cs typeface="+mn-cs"/>
        </a:defRPr>
      </a:lvl2pPr>
      <a:lvl3pPr marL="814388" indent="-27305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1074738" indent="-266700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4pPr>
      <a:lvl5pPr marL="1341438" indent="-263525" algn="l" defTabSz="914306" rtl="0" eaLnBrk="1" latinLnBrk="0" hangingPunct="1">
        <a:lnSpc>
          <a:spcPct val="100000"/>
        </a:lnSpc>
        <a:spcBef>
          <a:spcPts val="0"/>
        </a:spcBef>
        <a:spcAft>
          <a:spcPts val="400"/>
        </a:spcAft>
        <a:buClr>
          <a:schemeClr val="accent1"/>
        </a:buClr>
        <a:buFont typeface="Wingdings" charset="2"/>
        <a:buChar char="§"/>
        <a:defRPr sz="12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34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496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8650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5803" indent="-228577" algn="l" defTabSz="914306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de-DE"/>
      </a:defPPr>
      <a:lvl1pPr marL="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15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306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46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61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576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2920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073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227" algn="l" defTabSz="914306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2" pos="2880" userDrawn="1">
          <p15:clr>
            <a:srgbClr val="F26B43"/>
          </p15:clr>
        </p15:guide>
        <p15:guide id="3" pos="288" userDrawn="1">
          <p15:clr>
            <a:srgbClr val="F26B43"/>
          </p15:clr>
        </p15:guide>
        <p15:guide id="4" pos="5179" userDrawn="1">
          <p15:clr>
            <a:srgbClr val="F26B43"/>
          </p15:clr>
        </p15:guide>
        <p15:guide id="5" pos="5467" userDrawn="1">
          <p15:clr>
            <a:srgbClr val="F26B43"/>
          </p15:clr>
        </p15:guide>
        <p15:guide id="7" orient="horz" pos="3278" userDrawn="1">
          <p15:clr>
            <a:srgbClr val="F26B43"/>
          </p15:clr>
        </p15:guide>
        <p15:guide id="9" orient="horz" pos="182" userDrawn="1">
          <p15:clr>
            <a:srgbClr val="F26B43"/>
          </p15:clr>
        </p15:guide>
        <p15:guide id="10" orient="horz" pos="847" userDrawn="1">
          <p15:clr>
            <a:srgbClr val="F26B43"/>
          </p15:clr>
        </p15:guide>
        <p15:guide id="11" orient="horz" pos="3515" userDrawn="1">
          <p15:clr>
            <a:srgbClr val="F26B43"/>
          </p15:clr>
        </p15:guide>
        <p15:guide id="12" orient="horz" pos="1097" userDrawn="1">
          <p15:clr>
            <a:srgbClr val="F26B43"/>
          </p15:clr>
        </p15:guide>
      </p15:sldGuideLst>
    </p:ext>
  </p:extLst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6.xml"/><Relationship Id="rId2" Type="http://schemas.openxmlformats.org/officeDocument/2006/relationships/notesSlide" Target="../notesSlides/notesSlide1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9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hyperlink" Target="https://www.wu.ac.at/en/welthandel/arne-floh/" TargetMode="External"/><Relationship Id="rId3" Type="http://schemas.openxmlformats.org/officeDocument/2006/relationships/hyperlink" Target="http://www.linkedin.com/arnefloh" TargetMode="External"/><Relationship Id="rId4" Type="http://schemas.openxmlformats.org/officeDocument/2006/relationships/image" Target="../media/instr_image9.tiff"/><Relationship Id="rId5" Type="http://schemas.openxmlformats.org/officeDocument/2006/relationships/hyperlink" Target="mailto:arne.floh@wu.ac.at" TargetMode="External"/><Relationship Id="rId6" Type="http://schemas.openxmlformats.org/officeDocument/2006/relationships/hyperlink" Target="https://calendar.app.google/o4FuKoF1YcarRfnC8" TargetMode="Externa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image" Target="../media/instr_image9.tiff"/><Relationship Id="rId3" Type="http://schemas.openxmlformats.org/officeDocument/2006/relationships/image" Target="../media/instr_image10.png"/><Relationship Id="rId4" Type="http://schemas.openxmlformats.org/officeDocument/2006/relationships/image" Target="../media/instr_image11.jpeg"/><Relationship Id="rId5" Type="http://schemas.openxmlformats.org/officeDocument/2006/relationships/image" Target="../media/instr_image12.jpeg"/><Relationship Id="rId6" Type="http://schemas.openxmlformats.org/officeDocument/2006/relationships/image" Target="../media/instr_image13.jpeg"/><Relationship Id="rId7" Type="http://schemas.openxmlformats.org/officeDocument/2006/relationships/image" Target="../media/instr_image14.jpeg"/><Relationship Id="rId8" Type="http://schemas.openxmlformats.org/officeDocument/2006/relationships/image" Target="../media/instr_image15.png"/><Relationship Id="rId9" Type="http://schemas.openxmlformats.org/officeDocument/2006/relationships/image" Target="../media/instr_image16.png"/><Relationship Id="rId10" Type="http://schemas.openxmlformats.org/officeDocument/2006/relationships/image" Target="../media/instr_image17.png"/><Relationship Id="rId11" Type="http://schemas.openxmlformats.org/officeDocument/2006/relationships/image" Target="../media/instr_image18.jpeg"/><Relationship Id="rId12" Type="http://schemas.openxmlformats.org/officeDocument/2006/relationships/image" Target="../media/instr_image19.png"/><Relationship Id="rId13" Type="http://schemas.openxmlformats.org/officeDocument/2006/relationships/image" Target="../media/instr_image20.png"/><Relationship Id="rId14" Type="http://schemas.openxmlformats.org/officeDocument/2006/relationships/image" Target="../media/instr_image21.png"/><Relationship Id="rId15" Type="http://schemas.openxmlformats.org/officeDocument/2006/relationships/image" Target="../media/instr_image22.png"/><Relationship Id="rId16" Type="http://schemas.openxmlformats.org/officeDocument/2006/relationships/image" Target="../media/instr_image23.png"/><Relationship Id="rId17" Type="http://schemas.openxmlformats.org/officeDocument/2006/relationships/image" Target="../media/instr_image24.png"/><Relationship Id="rId18" Type="http://schemas.openxmlformats.org/officeDocument/2006/relationships/image" Target="../media/instr_image25.jpe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10.png"/><Relationship Id="rId4" Type="http://schemas.openxmlformats.org/officeDocument/2006/relationships/image" Target="../media/image11.png"/><Relationship Id="rId5" Type="http://schemas.openxmlformats.org/officeDocument/2006/relationships/image" Target="../media/image12.png"/><Relationship Id="rId6" Type="http://schemas.openxmlformats.org/officeDocument/2006/relationships/image" Target="../media/image13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14.png"/><Relationship Id="rId4" Type="http://schemas.openxmlformats.org/officeDocument/2006/relationships/image" Target="../media/image15.png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16.png"/><Relationship Id="rId4" Type="http://schemas.openxmlformats.org/officeDocument/2006/relationships/image" Target="../media/image17.png"/><Relationship Id="rId5" Type="http://schemas.openxmlformats.org/officeDocument/2006/relationships/image" Target="../media/image18.png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6.xml"/><Relationship Id="rId3" Type="http://schemas.openxmlformats.org/officeDocument/2006/relationships/image" Target="../media/image19.png"/><Relationship Id="rId4" Type="http://schemas.openxmlformats.org/officeDocument/2006/relationships/image" Target="../media/image20.png"/><Relationship Id="rId5" Type="http://schemas.openxmlformats.org/officeDocument/2006/relationships/image" Target="../media/image15.png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8.xml"/><Relationship Id="rId2" Type="http://schemas.openxmlformats.org/officeDocument/2006/relationships/notesSlide" Target="../notesSlides/notesSlide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21.png"/><Relationship Id="rId4" Type="http://schemas.openxmlformats.org/officeDocument/2006/relationships/image" Target="../media/image17.png"/><Relationship Id="rId5" Type="http://schemas.openxmlformats.org/officeDocument/2006/relationships/image" Target="../media/image22.png"/><Relationship Id="rId6" Type="http://schemas.openxmlformats.org/officeDocument/2006/relationships/image" Target="../media/image13.png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17.png"/><Relationship Id="rId4" Type="http://schemas.openxmlformats.org/officeDocument/2006/relationships/image" Target="../media/image12.png"/><Relationship Id="rId5" Type="http://schemas.openxmlformats.org/officeDocument/2006/relationships/image" Target="../media/image23.png"/><Relationship Id="rId6" Type="http://schemas.openxmlformats.org/officeDocument/2006/relationships/image" Target="../media/image24.png"/><Relationship Id="rId7" Type="http://schemas.openxmlformats.org/officeDocument/2006/relationships/image" Target="../media/image25.png"/><Relationship Id="rId8" Type="http://schemas.openxmlformats.org/officeDocument/2006/relationships/image" Target="../media/image26.png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1.png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27.png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15.png"/><Relationship Id="rId4" Type="http://schemas.openxmlformats.org/officeDocument/2006/relationships/image" Target="../media/image28.png"/><Relationship Id="rId5" Type="http://schemas.openxmlformats.org/officeDocument/2006/relationships/image" Target="../media/image29.png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17.png"/><Relationship Id="rId4" Type="http://schemas.openxmlformats.org/officeDocument/2006/relationships/image" Target="../media/image23.png"/><Relationship Id="rId5" Type="http://schemas.openxmlformats.org/officeDocument/2006/relationships/image" Target="../media/image30.png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9.xml"/><Relationship Id="rId2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ctrTitle"/>
          </p:nvPr>
        </p:nvSpPr>
        <p:spPr/>
        <p:txBody>
          <a:bodyPr/>
          <a:lstStyle/>
          <a:p>
            <a:r>
              <a:rPr lang="en-GB"/>
              <a:t>International Marketing Analytics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/>
        <p:txBody>
          <a:bodyPr/>
          <a:lstStyle/>
          <a:p>
            <a:r>
              <a:rPr lang="en-GB"/>
              <a:t>Course content and style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2" sz="quarter"/>
          </p:nvPr>
        </p:nvSpPr>
        <p:spPr/>
        <p:txBody>
          <a:bodyPr/>
          <a:lstStyle/>
          <a:p>
            <a:r>
              <a:rPr lang="en-GB"/>
              <a:t>Winter term 2026/27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The journey begins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pic>
        <p:nvPicPr>
          <p:cNvPr id="6" name="Grafik 5">
            <a:extLst>
              <a:ext uri="{FF2B5EF4-FFF2-40B4-BE49-F238E27FC236}">
                <a16:creationId xmlns:a16="http://schemas.microsoft.com/office/drawing/2014/main" id="{05500F1D-363A-4E04-BE29-68808B4A233F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1260330" y="1455357"/>
            <a:ext cx="6623339" cy="3680698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01" name="Card body Convenor"/>
          <p:cNvSpPr/>
          <p:nvPr/>
        </p:nvSpPr>
        <p:spPr>
          <a:xfrm>
            <a:off x="457200" y="1320800"/>
            <a:ext cx="8229600" cy="3733800"/>
          </a:xfrm>
          <a:prstGeom prst="rect">
            <a:avLst/>
          </a:prstGeom>
          <a:solidFill>
            <a:schemeClr val="bg2"/>
          </a:solidFill>
          <a:ln>
            <a:noFill/>
          </a:ln>
        </p:spPr>
        <p:txBody>
          <a:bodyPr/>
          <a:lstStyle/>
          <a:p>
            <a:endParaRPr lang="en-GB" dirty="0"/>
          </a:p>
        </p:txBody>
      </p:sp>
      <p:sp>
        <p:nvSpPr>
          <p:cNvPr id="951" name="Card divider"/>
          <p:cNvSpPr/>
          <p:nvPr/>
        </p:nvSpPr>
        <p:spPr>
          <a:xfrm>
            <a:off x="5120640" y="2006600"/>
            <a:ext cx="18288" cy="2865120"/>
          </a:xfrm>
          <a:prstGeom prst="rect">
            <a:avLst/>
          </a:prstGeom>
          <a:solidFill>
            <a:srgbClr val="FFFF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02" name="Card header Convenor"/>
          <p:cNvSpPr/>
          <p:nvPr/>
        </p:nvSpPr>
        <p:spPr>
          <a:xfrm>
            <a:off x="457200" y="1320800"/>
            <a:ext cx="8229600" cy="533400"/>
          </a:xfrm>
          <a:prstGeom prst="rect">
            <a:avLst/>
          </a:prstGeom>
          <a:solidFill>
            <a:schemeClr val="accent1"/>
          </a:solidFill>
          <a:ln>
            <a:noFill/>
          </a:ln>
        </p:spPr>
        <p:txBody>
          <a:bodyPr wrap="square" lIns="152400" tIns="0" rIns="152400" bIns="0" anchor="ctr">
            <a:noAutofit/>
          </a:bodyPr>
          <a:lstStyle/>
          <a:p>
            <a:pPr algn="l"/>
            <a:r>
              <a:rPr lang="en-GB" sz="1500" b="1" dirty="0">
                <a:solidFill>
                  <a:schemeClr val="bg1"/>
                </a:solidFill>
                <a:latin typeface="+mj-lt"/>
              </a:rPr>
              <a:t>Personal and contact information</a:t>
            </a:r>
          </a:p>
        </p:txBody>
      </p:sp>
      <p:sp>
        <p:nvSpPr>
          <p:cNvPr id="2" name="Inhaltsplatzhalter 1"/>
          <p:cNvSpPr>
            <a:spLocks noGrp="1"/>
          </p:cNvSpPr>
          <p:nvPr>
            <p:ph idx="1"/>
          </p:nvPr>
        </p:nvSpPr>
        <p:spPr>
          <a:xfrm>
            <a:off x="558800" y="2006600"/>
            <a:ext cx="43688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b="1" dirty="0"/>
              <a:t>Senior Lecturer in International Marketing – WU Vienna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Deputy Program Director MSc ExInt</a:t>
            </a:r>
            <a:br>
              <a:rPr lang="en-GB" altLang="de-DE" sz="1300" dirty="0"/>
            </a:br>
            <a:r>
              <a:rPr lang="en-GB" altLang="de-DE" sz="1300" dirty="0"/>
              <a:t>Export- und Internationalisierungsmanagement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WWW: </a:t>
            </a:r>
            <a:r>
              <a:rPr lang="en-GB" altLang="de-DE" sz="1300" dirty="0">
                <a:hlinkClick r:id="rId2"/>
              </a:rPr>
              <a:t>wu.ac.at/en/welthandel/arne-floh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LinkedIn: </a:t>
            </a:r>
            <a:r>
              <a:rPr lang="en-GB" altLang="de-DE" sz="1300" dirty="0">
                <a:hlinkClick r:id="rId3"/>
              </a:rPr>
              <a:t>http://www.linkedin.com/arnefloh</a:t>
            </a:r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2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6" name="Picture 2"/>
          <p:cNvPicPr>
            <a:picLocks noChangeAspect="1"/>
          </p:cNvPicPr>
          <p:nvPr/>
        </p:nvPicPr>
        <p:blipFill rotWithShape="1">
          <a:blip r:embed="rId4"/>
          <a:srcRect l="22854" t="-354" r="47068" b="46641"/>
          <a:stretch/>
        </p:blipFill>
        <p:spPr>
          <a:xfrm>
            <a:off x="5996142" y="200165"/>
            <a:ext cx="871429" cy="782891"/>
          </a:xfrm>
          <a:prstGeom prst="rect">
            <a:avLst/>
          </a:prstGeom>
        </p:spPr>
      </p:pic>
      <p:sp>
        <p:nvSpPr>
          <p:cNvPr id="900" name="Contact text"/>
          <p:cNvSpPr txBox="1"/>
          <p:nvPr/>
        </p:nvSpPr>
        <p:spPr>
          <a:xfrm>
            <a:off x="5334000" y="2006600"/>
            <a:ext cx="3251200" cy="2921000"/>
          </a:xfrm>
        </p:spPr>
        <p:txBody>
          <a:bodyPr lIns="76200" tIns="0" rIns="76200" bIns="0" anchor="t">
            <a:noAutofit/>
          </a:bodyPr>
          <a:lstStyle/>
          <a:p>
            <a:pPr marL="228600" indent="-228600">
              <a:spcBef>
                <a:spcPts val="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T: 01 31336 6367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E: </a:t>
            </a:r>
            <a:r>
              <a:rPr lang="en-GB" altLang="de-DE" sz="1300" dirty="0">
                <a:hlinkClick r:id="rId5"/>
              </a:rPr>
              <a:t>arne.floh@wu.ac.at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de-AT" altLang="de-DE" sz="1300" dirty="0"/>
              <a:t>R</a:t>
            </a:r>
            <a:r>
              <a:rPr lang="en-GB" altLang="de-DE" sz="1300" dirty="0"/>
              <a:t>oom D1.5.068</a:t>
            </a:r>
          </a:p>
          <a:p>
            <a:pPr marL="228600" indent="-228600">
              <a:spcBef>
                <a:spcPts val="1000"/>
              </a:spcBef>
              <a:buClr>
                <a:schemeClr val="accent1"/>
              </a:buClr>
              <a:buFont typeface="Arial"/>
              <a:buChar char="▪"/>
            </a:pPr>
            <a:r>
              <a:rPr lang="en-GB" altLang="de-DE" sz="1300" dirty="0"/>
              <a:t>Office hours: </a:t>
            </a:r>
            <a:r>
              <a:rPr lang="en-GB" altLang="de-DE" sz="1300" dirty="0">
                <a:hlinkClick r:id="rId6"/>
              </a:rPr>
              <a:t>book online (Google Calendar)</a:t>
            </a:r>
          </a:p>
        </p:txBody>
      </p:sp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2862754741"/>
      </p:ext>
    </p:extLst>
  </p:cSld>
  <p:clrMapOvr>
    <a:masterClrMapping/>
  </p:clrMapOvr>
  <p:transition>
    <p:fade/>
  </p:transition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Inhaltsplatzhalter 1"/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lvl="1"/>
            <a:r>
              <a:rPr lang="en-GB" altLang="de-DE" sz="1300" dirty="0"/>
              <a:t>Work Experience</a:t>
            </a:r>
          </a:p>
          <a:p>
            <a:pPr lvl="2"/>
            <a:r>
              <a:rPr lang="en-GB" altLang="de-DE" sz="1300" dirty="0"/>
              <a:t>International &amp; Industry Background</a:t>
            </a:r>
          </a:p>
          <a:p>
            <a:pPr lvl="2"/>
            <a:r>
              <a:rPr lang="en-GB" altLang="de-DE" sz="1300" dirty="0"/>
              <a:t>Teaching Experience &gt; 25 Years</a:t>
            </a:r>
          </a:p>
          <a:p>
            <a:pPr lvl="1"/>
            <a:r>
              <a:rPr lang="en-GB" altLang="de-DE" sz="1300" dirty="0"/>
              <a:t>Teaching</a:t>
            </a:r>
          </a:p>
          <a:p>
            <a:pPr lvl="2"/>
            <a:r>
              <a:rPr lang="en-GB" altLang="de-DE" sz="1300" dirty="0"/>
              <a:t>International Marketing</a:t>
            </a:r>
          </a:p>
          <a:p>
            <a:pPr lvl="2"/>
            <a:r>
              <a:rPr lang="en-GB" altLang="de-DE" sz="1300" dirty="0"/>
              <a:t>International Business Projects</a:t>
            </a:r>
          </a:p>
          <a:p>
            <a:pPr lvl="2"/>
            <a:r>
              <a:rPr lang="en-GB" altLang="de-DE" sz="1300" dirty="0"/>
              <a:t>Marketing Research and Marketing Analytics</a:t>
            </a:r>
          </a:p>
          <a:p>
            <a:pPr lvl="2"/>
            <a:r>
              <a:rPr lang="en-GB" altLang="de-DE" sz="1300" dirty="0"/>
              <a:t>Global Branding</a:t>
            </a:r>
          </a:p>
          <a:p>
            <a:pPr lvl="2"/>
            <a:r>
              <a:rPr lang="en-GB" altLang="de-DE" sz="1300" dirty="0"/>
              <a:t>Supervision (BSc, MSc, PhD)</a:t>
            </a:r>
          </a:p>
          <a:p>
            <a:pPr lvl="1"/>
            <a:r>
              <a:rPr lang="en-GB" altLang="de-DE" sz="1300" dirty="0"/>
              <a:t>Research</a:t>
            </a:r>
          </a:p>
          <a:p>
            <a:pPr lvl="2"/>
            <a:r>
              <a:rPr lang="en-GB" altLang="de-DE" sz="1300" dirty="0"/>
              <a:t>Dynamic </a:t>
            </a:r>
            <a:r>
              <a:rPr lang="en-GB" altLang="de-DE" sz="1300" dirty="0" err="1"/>
              <a:t>Capabilties</a:t>
            </a:r>
            <a:r>
              <a:rPr lang="en-GB" altLang="de-DE" sz="1300" dirty="0"/>
              <a:t> and Firm Performance</a:t>
            </a:r>
          </a:p>
          <a:p>
            <a:pPr lvl="2"/>
            <a:r>
              <a:rPr lang="en-GB" altLang="de-DE" sz="1300" dirty="0"/>
              <a:t>GenAI and Marketing</a:t>
            </a:r>
          </a:p>
          <a:p>
            <a:pPr lvl="2"/>
            <a:r>
              <a:rPr lang="en-GB" altLang="de-DE" sz="1300" dirty="0"/>
              <a:t>SMEs and Internationalization</a:t>
            </a:r>
          </a:p>
          <a:p>
            <a:pPr lvl="1"/>
            <a:r>
              <a:rPr lang="en-GB" altLang="de-DE" sz="1300" dirty="0"/>
              <a:t>Private</a:t>
            </a:r>
          </a:p>
          <a:p>
            <a:pPr lvl="2"/>
            <a:r>
              <a:rPr lang="en-GB" altLang="de-DE" sz="1300" dirty="0"/>
              <a:t>Football</a:t>
            </a:r>
          </a:p>
          <a:p>
            <a:pPr lvl="2"/>
            <a:r>
              <a:rPr lang="en-GB" altLang="de-DE" sz="1300" dirty="0"/>
              <a:t>Electronic Gadgets</a:t>
            </a:r>
          </a:p>
          <a:p>
            <a:pPr lvl="2"/>
            <a:r>
              <a:rPr lang="en-GB" altLang="de-DE" sz="1300" dirty="0"/>
              <a:t>Austrian Wine</a:t>
            </a:r>
          </a:p>
          <a:p>
            <a:pPr lvl="1"/>
            <a:endParaRPr lang="en-GB" altLang="de-DE" sz="1300" dirty="0"/>
          </a:p>
          <a:p>
            <a:pPr lvl="1"/>
            <a:endParaRPr lang="en-GB" altLang="de-DE" sz="1300" dirty="0"/>
          </a:p>
          <a:p>
            <a:endParaRPr lang="en-GB" altLang="de-DE" sz="1300" dirty="0"/>
          </a:p>
          <a:p>
            <a:endParaRPr lang="en-GB" sz="1300" dirty="0"/>
          </a:p>
        </p:txBody>
      </p:sp>
      <p:sp>
        <p:nvSpPr>
          <p:cNvPr id="4" name="Foliennummernplatzhalt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/>
              <a:t>Page </a:t>
            </a:r>
            <a:fld id="{BE3DC40E-DBBE-4E2D-9EEC-FBF0DA0E9179}" type="slidenum">
              <a:rPr lang="en-GB" smtClean="0"/>
              <a:t>3</a:t>
            </a:fld>
            <a:endParaRPr lang="en-GB" dirty="0"/>
          </a:p>
        </p:txBody>
      </p:sp>
      <p:sp>
        <p:nvSpPr>
          <p:cNvPr id="5" name="Titel 4"/>
          <p:cNvSpPr>
            <a:spLocks noGrp="1"/>
          </p:cNvSpPr>
          <p:nvPr>
            <p:ph type="title" idx="4294967295"/>
          </p:nvPr>
        </p:nvSpPr>
        <p:spPr>
          <a:xfrm>
            <a:off x="462408" y="139700"/>
            <a:ext cx="6840000" cy="903822"/>
          </a:xfrm>
        </p:spPr>
        <p:txBody>
          <a:bodyPr/>
          <a:lstStyle/>
          <a:p>
            <a:r>
              <a:rPr lang="de-AT" dirty="0" sz="1600"/>
              <a:t>Module </a:t>
            </a:r>
            <a:r>
              <a:rPr lang="de-AT" dirty="0" err="1" sz="1600"/>
              <a:t>Convenor</a:t>
            </a:r>
            <a:r>
              <a:rPr lang="de-AT" dirty="0" sz="1600"/>
              <a:t> – Dr Arne Floh</a:t>
            </a:r>
            <a:endParaRPr lang="en-GB" dirty="0"/>
          </a:p>
        </p:txBody>
      </p:sp>
      <p:pic>
        <p:nvPicPr>
          <p:cNvPr id="31" name="Picture 2"/>
          <p:cNvPicPr>
            <a:picLocks noChangeAspect="1"/>
          </p:cNvPicPr>
          <p:nvPr/>
        </p:nvPicPr>
        <p:blipFill rotWithShape="1">
          <a:blip r:embed="rId2"/>
          <a:srcRect l="22854" t="-354" r="47068" b="46641"/>
          <a:stretch/>
        </p:blipFill>
        <p:spPr>
          <a:xfrm>
            <a:off x="5976996" y="183329"/>
            <a:ext cx="871429" cy="782891"/>
          </a:xfrm>
          <a:prstGeom prst="rect">
            <a:avLst/>
          </a:prstGeom>
        </p:spPr>
      </p:pic>
      <p:pic>
        <p:nvPicPr>
          <p:cNvPr id="18" name="Picture 5">
            <a:extLst>
              <a:ext uri="{FF2B5EF4-FFF2-40B4-BE49-F238E27FC236}">
                <a16:creationId xmlns:a16="http://schemas.microsoft.com/office/drawing/2014/main" id="{B20435F2-0841-4617-84F5-0C069C5B7A1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43523" b="18973"/>
          <a:stretch>
            <a:fillRect/>
          </a:stretch>
        </p:blipFill>
        <p:spPr bwMode="auto">
          <a:xfrm>
            <a:off x="5943600" y="1545167"/>
            <a:ext cx="812800" cy="135467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="" xmlns:a14="http://schemas.microsoft.com/office/drawing/2010/main">
                <a:solidFill>
                  <a:schemeClr val="accent1"/>
                </a:solidFill>
              </a14:hiddenFill>
            </a:ext>
            <a:ext uri="{91240B29-F687-4f45-9708-019B960494DF}">
              <a14:hiddenLine xmlns="" xmlns:a14="http://schemas.microsoft.com/office/drawing/2010/main" w="9525" algn="ctr">
                <a:solidFill>
                  <a:schemeClr val="tx1"/>
                </a:solidFill>
                <a:miter lim="800000"/>
                <a:headEnd/>
                <a:tailEnd/>
              </a14:hiddenLine>
            </a:ext>
            <a:ext uri="{AF507438-7753-43e0-B8FC-AC1667EBCBE1}">
              <a14:hiddenEffects xmlns="" xmlns:a14="http://schemas.microsoft.com/office/drawing/2010/main">
                <a:effectLst>
                  <a:outerShdw dist="35921" dir="2700000" algn="ctr" rotWithShape="0">
                    <a:schemeClr val="bg2"/>
                  </a:outerShdw>
                </a:effectLst>
              </a14:hiddenEffects>
            </a:ext>
          </a:extLst>
        </p:spPr>
      </p:pic>
      <p:pic>
        <p:nvPicPr>
          <p:cNvPr id="19" name="Picture 7" descr="C:\Users\FLOH01\Documents\Diverses\Social Media Marketing.jpg">
            <a:extLst>
              <a:ext uri="{FF2B5EF4-FFF2-40B4-BE49-F238E27FC236}">
                <a16:creationId xmlns:a16="http://schemas.microsoft.com/office/drawing/2014/main" id="{748A9F97-126D-4B75-8FE0-16A3FBA3C9A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4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029200" y="3324376"/>
            <a:ext cx="812800" cy="5902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0" name="Picture 8" descr="C:\Users\FLOH01\Documents\Diverses\CustLoy.jpg">
            <a:extLst>
              <a:ext uri="{FF2B5EF4-FFF2-40B4-BE49-F238E27FC236}">
                <a16:creationId xmlns:a16="http://schemas.microsoft.com/office/drawing/2014/main" id="{9F9E079F-0FD9-4D44-A202-E4A6EDDA71DF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5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81700" y="3251200"/>
            <a:ext cx="736600" cy="736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1" name="Picture 9" descr="C:\Users\FLOH01\Documents\Diverses\Maradona.jpg">
            <a:extLst>
              <a:ext uri="{FF2B5EF4-FFF2-40B4-BE49-F238E27FC236}">
                <a16:creationId xmlns:a16="http://schemas.microsoft.com/office/drawing/2014/main" id="{4D115C44-4118-40BB-A76E-053C6D127F5E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6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5943600" y="4239326"/>
            <a:ext cx="812800" cy="538348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2" name="Picture 10" descr="C:\Users\FLOH01\Documents\Diverses\iPhone.jpg">
            <a:extLst>
              <a:ext uri="{FF2B5EF4-FFF2-40B4-BE49-F238E27FC236}">
                <a16:creationId xmlns:a16="http://schemas.microsoft.com/office/drawing/2014/main" id="{2AF1D26F-471E-485B-92E1-5F56E09F5F16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7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6858000" y="4203700"/>
            <a:ext cx="812800" cy="6096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4" name="Grafik 23">
            <a:extLst>
              <a:ext uri="{FF2B5EF4-FFF2-40B4-BE49-F238E27FC236}">
                <a16:creationId xmlns:a16="http://schemas.microsoft.com/office/drawing/2014/main" id="{B408EE01-B542-4660-B0D3-FBD43BA77E22}"/>
              </a:ext>
            </a:extLst>
          </p:cNvPr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5052807" y="2032000"/>
            <a:ext cx="765586" cy="1066800"/>
          </a:xfrm>
          <a:prstGeom prst="rect">
            <a:avLst/>
          </a:prstGeom>
        </p:spPr>
      </p:pic>
      <p:pic>
        <p:nvPicPr>
          <p:cNvPr id="25" name="Grafik 24">
            <a:extLst>
              <a:ext uri="{FF2B5EF4-FFF2-40B4-BE49-F238E27FC236}">
                <a16:creationId xmlns:a16="http://schemas.microsoft.com/office/drawing/2014/main" id="{6C149411-6646-4881-AC51-37581FA3471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5956300" y="2032000"/>
            <a:ext cx="787400" cy="1066800"/>
          </a:xfrm>
          <a:prstGeom prst="rect">
            <a:avLst/>
          </a:prstGeom>
        </p:spPr>
      </p:pic>
      <p:pic>
        <p:nvPicPr>
          <p:cNvPr id="26" name="Grafik 25">
            <a:extLst>
              <a:ext uri="{FF2B5EF4-FFF2-40B4-BE49-F238E27FC236}">
                <a16:creationId xmlns:a16="http://schemas.microsoft.com/office/drawing/2014/main" id="{B7E81BED-3E73-4767-B869-CF72D9B7D00E}"/>
              </a:ext>
            </a:extLst>
          </p:cNvPr>
          <p:cNvPicPr>
            <a:picLocks noChangeAspect="1"/>
          </p:cNvPicPr>
          <p:nvPr/>
        </p:nvPicPr>
        <p:blipFill>
          <a:blip r:embed="rId10"/>
          <a:stretch>
            <a:fillRect/>
          </a:stretch>
        </p:blipFill>
        <p:spPr>
          <a:xfrm>
            <a:off x="6864350" y="2032000"/>
            <a:ext cx="800100" cy="1066800"/>
          </a:xfrm>
          <a:prstGeom prst="rect">
            <a:avLst/>
          </a:prstGeom>
        </p:spPr>
      </p:pic>
      <p:pic>
        <p:nvPicPr>
          <p:cNvPr id="27" name="Picture 2" descr="Entrepreneurial Marketing">
            <a:extLst>
              <a:ext uri="{FF2B5EF4-FFF2-40B4-BE49-F238E27FC236}">
                <a16:creationId xmlns:a16="http://schemas.microsoft.com/office/drawing/2014/main" id="{D1D91749-54D0-4728-BD44-4530B7260F0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11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7842250" y="2032000"/>
            <a:ext cx="673100" cy="1066800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pic>
        <p:nvPicPr>
          <p:cNvPr id="28" name="Grafik 27">
            <a:extLst>
              <a:ext uri="{FF2B5EF4-FFF2-40B4-BE49-F238E27FC236}">
                <a16:creationId xmlns:a16="http://schemas.microsoft.com/office/drawing/2014/main" id="{0E861A12-FBD5-4375-9D5E-B3F3E3AAED11}"/>
              </a:ext>
            </a:extLst>
          </p:cNvPr>
          <p:cNvPicPr>
            <a:picLocks noChangeAspect="1"/>
          </p:cNvPicPr>
          <p:nvPr/>
        </p:nvPicPr>
        <p:blipFill>
          <a:blip r:embed="rId12"/>
          <a:stretch>
            <a:fillRect/>
          </a:stretch>
        </p:blipFill>
        <p:spPr>
          <a:xfrm>
            <a:off x="5080000" y="1346200"/>
            <a:ext cx="711200" cy="533400"/>
          </a:xfrm>
          <a:prstGeom prst="rect">
            <a:avLst/>
          </a:prstGeom>
        </p:spPr>
      </p:pic>
      <p:pic>
        <p:nvPicPr>
          <p:cNvPr id="29" name="Grafik 28">
            <a:extLst>
              <a:ext uri="{FF2B5EF4-FFF2-40B4-BE49-F238E27FC236}">
                <a16:creationId xmlns:a16="http://schemas.microsoft.com/office/drawing/2014/main" id="{DCA1A994-C935-43CE-93F8-29BFA8C45184}"/>
              </a:ext>
            </a:extLst>
          </p:cNvPr>
          <p:cNvPicPr>
            <a:picLocks noChangeAspect="1"/>
          </p:cNvPicPr>
          <p:nvPr/>
        </p:nvPicPr>
        <p:blipFill>
          <a:blip r:embed="rId13"/>
          <a:stretch>
            <a:fillRect/>
          </a:stretch>
        </p:blipFill>
        <p:spPr>
          <a:xfrm>
            <a:off x="6864350" y="1460500"/>
            <a:ext cx="800100" cy="304800"/>
          </a:xfrm>
          <a:prstGeom prst="rect">
            <a:avLst/>
          </a:prstGeom>
        </p:spPr>
      </p:pic>
      <p:pic>
        <p:nvPicPr>
          <p:cNvPr id="30" name="Grafik 29">
            <a:extLst>
              <a:ext uri="{FF2B5EF4-FFF2-40B4-BE49-F238E27FC236}">
                <a16:creationId xmlns:a16="http://schemas.microsoft.com/office/drawing/2014/main" id="{DA807570-9906-45C3-9264-3AD85B5FD105}"/>
              </a:ext>
            </a:extLst>
          </p:cNvPr>
          <p:cNvPicPr>
            <a:picLocks noChangeAspect="1"/>
          </p:cNvPicPr>
          <p:nvPr/>
        </p:nvPicPr>
        <p:blipFill>
          <a:blip r:embed="rId14"/>
          <a:stretch>
            <a:fillRect/>
          </a:stretch>
        </p:blipFill>
        <p:spPr>
          <a:xfrm>
            <a:off x="7810500" y="1403350"/>
            <a:ext cx="736600" cy="419100"/>
          </a:xfrm>
          <a:prstGeom prst="rect">
            <a:avLst/>
          </a:prstGeom>
        </p:spPr>
      </p:pic>
      <p:pic>
        <p:nvPicPr>
          <p:cNvPr id="8" name="Grafik 7">
            <a:extLst>
              <a:ext uri="{FF2B5EF4-FFF2-40B4-BE49-F238E27FC236}">
                <a16:creationId xmlns:a16="http://schemas.microsoft.com/office/drawing/2014/main" id="{C81F732C-A406-456E-26A8-5A5ABAEE90BD}"/>
              </a:ext>
            </a:extLst>
          </p:cNvPr>
          <p:cNvPicPr>
            <a:picLocks noChangeAspect="1"/>
          </p:cNvPicPr>
          <p:nvPr/>
        </p:nvPicPr>
        <p:blipFill>
          <a:blip r:embed="rId15"/>
          <a:stretch>
            <a:fillRect/>
          </a:stretch>
        </p:blipFill>
        <p:spPr>
          <a:xfrm flipH="1">
            <a:off x="6896100" y="3251200"/>
            <a:ext cx="736600" cy="736600"/>
          </a:xfrm>
          <a:prstGeom prst="rect">
            <a:avLst/>
          </a:prstGeom>
        </p:spPr>
      </p:pic>
      <p:pic>
        <p:nvPicPr>
          <p:cNvPr id="9" name="Grafik 8">
            <a:extLst>
              <a:ext uri="{FF2B5EF4-FFF2-40B4-BE49-F238E27FC236}">
                <a16:creationId xmlns:a16="http://schemas.microsoft.com/office/drawing/2014/main" id="{49B8F467-DDA6-41DD-87EC-E17A8E3A8492}"/>
              </a:ext>
            </a:extLst>
          </p:cNvPr>
          <p:cNvPicPr>
            <a:picLocks noChangeAspect="1"/>
          </p:cNvPicPr>
          <p:nvPr/>
        </p:nvPicPr>
        <p:blipFill>
          <a:blip r:embed="rId16"/>
          <a:stretch>
            <a:fillRect/>
          </a:stretch>
        </p:blipFill>
        <p:spPr>
          <a:xfrm>
            <a:off x="7810500" y="3251200"/>
            <a:ext cx="736600" cy="736600"/>
          </a:xfrm>
          <a:prstGeom prst="rect">
            <a:avLst/>
          </a:prstGeom>
        </p:spPr>
      </p:pic>
      <p:pic>
        <p:nvPicPr>
          <p:cNvPr id="11" name="Grafik 10">
            <a:extLst>
              <a:ext uri="{FF2B5EF4-FFF2-40B4-BE49-F238E27FC236}">
                <a16:creationId xmlns:a16="http://schemas.microsoft.com/office/drawing/2014/main" id="{597428DC-BC39-C343-7D7A-1B67222543C4}"/>
              </a:ext>
            </a:extLst>
          </p:cNvPr>
          <p:cNvPicPr>
            <a:picLocks noChangeAspect="1"/>
          </p:cNvPicPr>
          <p:nvPr/>
        </p:nvPicPr>
        <p:blipFill>
          <a:blip r:embed="rId17"/>
          <a:stretch>
            <a:fillRect/>
          </a:stretch>
        </p:blipFill>
        <p:spPr>
          <a:xfrm>
            <a:off x="8077200" y="4184650"/>
            <a:ext cx="203200" cy="647700"/>
          </a:xfrm>
          <a:prstGeom prst="rect">
            <a:avLst/>
          </a:prstGeom>
        </p:spPr>
      </p:pic>
      <p:pic>
        <p:nvPicPr>
          <p:cNvPr id="6" name="Grafik 5" descr="Ein Bild, das draußen, Himmel, Person, Gras enthält.&#10;&#10;KI-generierte Inhalte können fehlerhaft sein.">
            <a:extLst>
              <a:ext uri="{FF2B5EF4-FFF2-40B4-BE49-F238E27FC236}">
                <a16:creationId xmlns:a16="http://schemas.microsoft.com/office/drawing/2014/main" id="{9506A783-5B4B-819B-A493-114BE8F25653}"/>
              </a:ext>
            </a:extLst>
          </p:cNvPr>
          <p:cNvPicPr>
            <a:picLocks noChangeAspect="1"/>
          </p:cNvPicPr>
          <p:nvPr/>
        </p:nvPicPr>
        <p:blipFill>
          <a:blip r:embed="rId1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5029200" y="4205131"/>
            <a:ext cx="812800" cy="606738"/>
          </a:xfrm>
          <a:prstGeom prst="rect">
            <a:avLst/>
          </a:prstGeom>
        </p:spPr>
      </p:pic>
      <p:sp>
        <p:nvSpPr>
          <p:cNvPr id="950" name="Fußzeilenplatzhalter"/>
          <p:cNvSpPr>
            <a:spLocks noGrp="1"/>
          </p:cNvSpPr>
          <p:nvPr>
            <p:ph type="ftr" sz="quarter" idx="11"/>
          </p:nvPr>
        </p:nvSpPr>
        <p:spPr>
          <a:xfrm>
            <a:off x="1354561" y="5412059"/>
            <a:ext cx="3217443" cy="258085"/>
          </a:xfrm>
        </p:spPr>
        <p:txBody>
          <a:bodyPr anchor="ctr">
            <a:normAutofit/>
          </a:bodyPr>
          <a:lstStyle/>
          <a:p>
            <a:pPr>
              <a:spcAft>
                <a:spcPts val="600"/>
              </a:spcAft>
            </a:pPr>
            <a:r>
              <a:rPr lang="en-GB" dirty="0"/>
              <a:t>International Marketing Analytics · WT 2026/27</a:t>
            </a:r>
          </a:p>
        </p:txBody>
      </p:sp>
    </p:spTree>
    <p:extLst>
      <p:ext uri="{BB962C8B-B14F-4D97-AF65-F5344CB8AC3E}">
        <p14:creationId xmlns:p14="http://schemas.microsoft.com/office/powerpoint/2010/main" val="3317189222"/>
      </p:ext>
    </p:extLst>
  </p:cSld>
  <p:clrMapOvr>
    <a:masterClrMapping/>
  </p:clrMapOvr>
  <p:transition>
    <p:fade/>
  </p:transition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content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ntent row 1"/>
          <p:cNvSpPr/>
          <p:nvPr/>
        </p:nvSpPr>
        <p:spPr>
          <a:xfrm>
            <a:off x="457200" y="123444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content row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58368" y="1463040"/>
            <a:ext cx="411480" cy="411480"/>
          </a:xfrm>
          <a:prstGeom prst="rect">
            <a:avLst/>
          </a:prstGeom>
        </p:spPr>
      </p:pic>
      <p:sp>
        <p:nvSpPr>
          <p:cNvPr id="12" name="Content text 1"/>
          <p:cNvSpPr txBox="1"/>
          <p:nvPr/>
        </p:nvSpPr>
        <p:spPr>
          <a:xfrm>
            <a:off x="1325880" y="123444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Marketing analytics </a:t>
            </a:r>
            <a:r>
              <a:rPr sz="1300" b="0" lang="en-GB">
                <a:solidFill>
                  <a:schemeClr val="tx1"/>
                </a:solidFill>
              </a:rPr>
              <a:t>is the measurement, management and analysis of marketing performance data to improve marketing effectiveness and return on investment. It turns data into decisions and shows where the next euro should go.</a:t>
            </a:r>
          </a:p>
        </p:txBody>
      </p:sp>
      <p:sp>
        <p:nvSpPr>
          <p:cNvPr id="13" name="Content row 2"/>
          <p:cNvSpPr/>
          <p:nvPr/>
        </p:nvSpPr>
        <p:spPr>
          <a:xfrm>
            <a:off x="457200" y="224028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content row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58368" y="2468880"/>
            <a:ext cx="411480" cy="411480"/>
          </a:xfrm>
          <a:prstGeom prst="rect">
            <a:avLst/>
          </a:prstGeom>
        </p:spPr>
      </p:pic>
      <p:sp>
        <p:nvSpPr>
          <p:cNvPr id="15" name="Content text 2"/>
          <p:cNvSpPr txBox="1"/>
          <p:nvPr/>
        </p:nvSpPr>
        <p:spPr>
          <a:xfrm>
            <a:off x="1325880" y="224028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Key questions: </a:t>
            </a:r>
            <a:r>
              <a:rPr sz="1300" b="0" lang="en-GB">
                <a:solidFill>
                  <a:schemeClr val="tx1"/>
                </a:solidFill>
              </a:rPr>
              <a:t>how do price, place, product features and promotion drive performance measures such as sales, and how should a fixed budget be split across countries and channels?</a:t>
            </a:r>
          </a:p>
        </p:txBody>
      </p:sp>
      <p:sp>
        <p:nvSpPr>
          <p:cNvPr id="16" name="Content row 3"/>
          <p:cNvSpPr/>
          <p:nvPr/>
        </p:nvSpPr>
        <p:spPr>
          <a:xfrm>
            <a:off x="457200" y="324612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content row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58368" y="3474720"/>
            <a:ext cx="411480" cy="411480"/>
          </a:xfrm>
          <a:prstGeom prst="rect">
            <a:avLst/>
          </a:prstGeom>
        </p:spPr>
      </p:pic>
      <p:sp>
        <p:nvSpPr>
          <p:cNvPr id="18" name="Content text 3"/>
          <p:cNvSpPr txBox="1"/>
          <p:nvPr/>
        </p:nvSpPr>
        <p:spPr>
          <a:xfrm>
            <a:off x="1325880" y="324612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Tools: </a:t>
            </a:r>
            <a:r>
              <a:rPr sz="1300" b="0" lang="en-GB">
                <a:solidFill>
                  <a:schemeClr val="tx1"/>
                </a:solidFill>
              </a:rPr>
              <a:t>Python in Positron, GitHub for versioning and DataCamp courses; AI assistants do most of the typing, you check the results.</a:t>
            </a:r>
          </a:p>
        </p:txBody>
      </p:sp>
      <p:sp>
        <p:nvSpPr>
          <p:cNvPr id="19" name="Content row 4"/>
          <p:cNvSpPr/>
          <p:nvPr/>
        </p:nvSpPr>
        <p:spPr>
          <a:xfrm>
            <a:off x="457200" y="4251960"/>
            <a:ext cx="8229600" cy="86868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ntent row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58368" y="4480560"/>
            <a:ext cx="411480" cy="411480"/>
          </a:xfrm>
          <a:prstGeom prst="rect">
            <a:avLst/>
          </a:prstGeom>
        </p:spPr>
      </p:pic>
      <p:sp>
        <p:nvSpPr>
          <p:cNvPr id="21" name="Content text 4"/>
          <p:cNvSpPr txBox="1"/>
          <p:nvPr/>
        </p:nvSpPr>
        <p:spPr>
          <a:xfrm>
            <a:off x="1325880" y="4251960"/>
            <a:ext cx="7178040" cy="8686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Case studies: </a:t>
            </a:r>
            <a:r>
              <a:rPr sz="1300" b="0" lang="en-GB">
                <a:solidFill>
                  <a:schemeClr val="tx1"/>
                </a:solidFill>
              </a:rPr>
              <a:t>Zalando and NEOH, plus a six-country teaching dataset with known answers for the labs.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Course roadmap: five sessions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Road"/>
          <p:cNvSpPr/>
          <p:nvPr/>
        </p:nvSpPr>
        <p:spPr>
          <a:xfrm>
            <a:off x="457200" y="1517904"/>
            <a:ext cx="8001000" cy="109728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Road end"/>
          <p:cNvSpPr/>
          <p:nvPr/>
        </p:nvSpPr>
        <p:spPr>
          <a:xfrm rot="5400000">
            <a:off x="8412480" y="1417320"/>
            <a:ext cx="274320" cy="310896"/>
          </a:xfrm>
          <a:prstGeom prst="triangle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Stop connector 1"/>
          <p:cNvSpPr/>
          <p:nvPr/>
        </p:nvSpPr>
        <p:spPr>
          <a:xfrm>
            <a:off x="1229868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top 1"/>
          <p:cNvSpPr/>
          <p:nvPr/>
        </p:nvSpPr>
        <p:spPr>
          <a:xfrm>
            <a:off x="969264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1</a:t>
            </a:r>
          </a:p>
        </p:txBody>
      </p:sp>
      <p:sp>
        <p:nvSpPr>
          <p:cNvPr id="14" name="Session card 1"/>
          <p:cNvSpPr/>
          <p:nvPr/>
        </p:nvSpPr>
        <p:spPr>
          <a:xfrm>
            <a:off x="457200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ession theme 1"/>
          <p:cNvSpPr txBox="1"/>
          <p:nvPr/>
        </p:nvSpPr>
        <p:spPr>
          <a:xfrm>
            <a:off x="521208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Introduction and linear regression</a:t>
            </a:r>
          </a:p>
        </p:txBody>
      </p:sp>
      <p:sp>
        <p:nvSpPr>
          <p:cNvPr id="16" name="Session rule 1"/>
          <p:cNvSpPr/>
          <p:nvPr/>
        </p:nvSpPr>
        <p:spPr>
          <a:xfrm>
            <a:off x="521208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ession text 1"/>
          <p:cNvSpPr txBox="1"/>
          <p:nvPr/>
        </p:nvSpPr>
        <p:spPr>
          <a:xfrm>
            <a:off x="521208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MMM basics, OLS, model fit and interpretation</a:t>
            </a:r>
          </a:p>
        </p:txBody>
      </p:sp>
      <p:sp>
        <p:nvSpPr>
          <p:cNvPr id="18" name="Stop connector 2"/>
          <p:cNvSpPr/>
          <p:nvPr/>
        </p:nvSpPr>
        <p:spPr>
          <a:xfrm>
            <a:off x="2894076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Stop 2"/>
          <p:cNvSpPr/>
          <p:nvPr/>
        </p:nvSpPr>
        <p:spPr>
          <a:xfrm>
            <a:off x="2633472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2</a:t>
            </a:r>
          </a:p>
        </p:txBody>
      </p:sp>
      <p:sp>
        <p:nvSpPr>
          <p:cNvPr id="20" name="Session card 2"/>
          <p:cNvSpPr/>
          <p:nvPr/>
        </p:nvSpPr>
        <p:spPr>
          <a:xfrm>
            <a:off x="2121408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Session theme 2"/>
          <p:cNvSpPr txBox="1"/>
          <p:nvPr/>
        </p:nvSpPr>
        <p:spPr>
          <a:xfrm>
            <a:off x="2185416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regression</a:t>
            </a:r>
          </a:p>
        </p:txBody>
      </p:sp>
      <p:sp>
        <p:nvSpPr>
          <p:cNvPr id="22" name="Session rule 2"/>
          <p:cNvSpPr/>
          <p:nvPr/>
        </p:nvSpPr>
        <p:spPr>
          <a:xfrm>
            <a:off x="2185416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Session text 2"/>
          <p:cNvSpPr txBox="1"/>
          <p:nvPr/>
        </p:nvSpPr>
        <p:spPr>
          <a:xfrm>
            <a:off x="2185416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Log-log, dummies, interactions, adstock, saturation</a:t>
            </a:r>
          </a:p>
        </p:txBody>
      </p:sp>
      <p:sp>
        <p:nvSpPr>
          <p:cNvPr id="24" name="Stop connector 3"/>
          <p:cNvSpPr/>
          <p:nvPr/>
        </p:nvSpPr>
        <p:spPr>
          <a:xfrm>
            <a:off x="4558284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Stop 3"/>
          <p:cNvSpPr/>
          <p:nvPr/>
        </p:nvSpPr>
        <p:spPr>
          <a:xfrm>
            <a:off x="4297680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3</a:t>
            </a:r>
          </a:p>
        </p:txBody>
      </p:sp>
      <p:sp>
        <p:nvSpPr>
          <p:cNvPr id="26" name="Session card 3"/>
          <p:cNvSpPr/>
          <p:nvPr/>
        </p:nvSpPr>
        <p:spPr>
          <a:xfrm>
            <a:off x="3785616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7" name="Session theme 3"/>
          <p:cNvSpPr txBox="1"/>
          <p:nvPr/>
        </p:nvSpPr>
        <p:spPr>
          <a:xfrm>
            <a:off x="3849624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Logistic regression</a:t>
            </a:r>
          </a:p>
        </p:txBody>
      </p:sp>
      <p:sp>
        <p:nvSpPr>
          <p:cNvPr id="28" name="Session rule 3"/>
          <p:cNvSpPr/>
          <p:nvPr/>
        </p:nvSpPr>
        <p:spPr>
          <a:xfrm>
            <a:off x="3849624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Session text 3"/>
          <p:cNvSpPr txBox="1"/>
          <p:nvPr/>
        </p:nvSpPr>
        <p:spPr>
          <a:xfrm>
            <a:off x="3849624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Binary outcomes such as purchase or churn, odds ratios</a:t>
            </a:r>
          </a:p>
        </p:txBody>
      </p:sp>
      <p:sp>
        <p:nvSpPr>
          <p:cNvPr id="30" name="Stop connector 4"/>
          <p:cNvSpPr/>
          <p:nvPr/>
        </p:nvSpPr>
        <p:spPr>
          <a:xfrm>
            <a:off x="6222492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Stop 4"/>
          <p:cNvSpPr/>
          <p:nvPr/>
        </p:nvSpPr>
        <p:spPr>
          <a:xfrm>
            <a:off x="5961888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4</a:t>
            </a:r>
          </a:p>
        </p:txBody>
      </p:sp>
      <p:sp>
        <p:nvSpPr>
          <p:cNvPr id="32" name="Session card 4"/>
          <p:cNvSpPr/>
          <p:nvPr/>
        </p:nvSpPr>
        <p:spPr>
          <a:xfrm>
            <a:off x="5449824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Session theme 4"/>
          <p:cNvSpPr txBox="1"/>
          <p:nvPr/>
        </p:nvSpPr>
        <p:spPr>
          <a:xfrm>
            <a:off x="5513832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ARIMA</a:t>
            </a:r>
          </a:p>
        </p:txBody>
      </p:sp>
      <p:sp>
        <p:nvSpPr>
          <p:cNvPr id="34" name="Session rule 4"/>
          <p:cNvSpPr/>
          <p:nvPr/>
        </p:nvSpPr>
        <p:spPr>
          <a:xfrm>
            <a:off x="5513832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5" name="Session text 4"/>
          <p:cNvSpPr txBox="1"/>
          <p:nvPr/>
        </p:nvSpPr>
        <p:spPr>
          <a:xfrm>
            <a:off x="5513832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Trend, seasonality, forecasting the sales baseline</a:t>
            </a:r>
          </a:p>
        </p:txBody>
      </p:sp>
      <p:sp>
        <p:nvSpPr>
          <p:cNvPr id="36" name="Stop connector 5"/>
          <p:cNvSpPr/>
          <p:nvPr/>
        </p:nvSpPr>
        <p:spPr>
          <a:xfrm>
            <a:off x="7886700" y="1572768"/>
            <a:ext cx="27432" cy="50292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7" name="Stop 5"/>
          <p:cNvSpPr/>
          <p:nvPr/>
        </p:nvSpPr>
        <p:spPr>
          <a:xfrm>
            <a:off x="7626096" y="1298448"/>
            <a:ext cx="548640" cy="548640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600" b="1" lang="en-GB">
                <a:solidFill>
                  <a:schemeClr val="bg1"/>
                </a:solidFill>
                <a:latin typeface="+mj-lt"/>
              </a:rPr>
              <a:t>5</a:t>
            </a:r>
          </a:p>
        </p:txBody>
      </p:sp>
      <p:sp>
        <p:nvSpPr>
          <p:cNvPr id="38" name="Session card 5"/>
          <p:cNvSpPr/>
          <p:nvPr/>
        </p:nvSpPr>
        <p:spPr>
          <a:xfrm>
            <a:off x="7114032" y="2075688"/>
            <a:ext cx="1572768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9" name="Session theme 5"/>
          <p:cNvSpPr txBox="1"/>
          <p:nvPr/>
        </p:nvSpPr>
        <p:spPr>
          <a:xfrm>
            <a:off x="7178040" y="2194560"/>
            <a:ext cx="1463040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Advanced MMM tools</a:t>
            </a:r>
          </a:p>
        </p:txBody>
      </p:sp>
      <p:sp>
        <p:nvSpPr>
          <p:cNvPr id="40" name="Session rule 5"/>
          <p:cNvSpPr/>
          <p:nvPr/>
        </p:nvSpPr>
        <p:spPr>
          <a:xfrm>
            <a:off x="7178040" y="3127248"/>
            <a:ext cx="457200" cy="36576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1" name="Session text 5"/>
          <p:cNvSpPr txBox="1"/>
          <p:nvPr/>
        </p:nvSpPr>
        <p:spPr>
          <a:xfrm>
            <a:off x="7178040" y="3273552"/>
            <a:ext cx="146304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Bayesian MMM, budget optimisation across channels</a:t>
            </a:r>
          </a:p>
        </p:txBody>
      </p:sp>
      <p:sp>
        <p:nvSpPr>
          <p:cNvPr id="42" name="Along the way"/>
          <p:cNvSpPr/>
          <p:nvPr/>
        </p:nvSpPr>
        <p:spPr>
          <a:xfrm>
            <a:off x="457200" y="4526280"/>
            <a:ext cx="5257800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3" name="Icon along the way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4626864"/>
            <a:ext cx="347472" cy="347472"/>
          </a:xfrm>
          <a:prstGeom prst="rect">
            <a:avLst/>
          </a:prstGeom>
        </p:spPr>
      </p:pic>
      <p:sp>
        <p:nvSpPr>
          <p:cNvPr id="44" name="Along the way text"/>
          <p:cNvSpPr txBox="1"/>
          <p:nvPr/>
        </p:nvSpPr>
        <p:spPr>
          <a:xfrm>
            <a:off x="1097280" y="4526280"/>
            <a:ext cx="452628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Along the way: </a:t>
            </a:r>
            <a:r>
              <a:rPr sz="1300" b="0" lang="en-GB">
                <a:solidFill>
                  <a:schemeClr val="tx1"/>
                </a:solidFill>
              </a:rPr>
              <a:t>DataCamp certificates, coding exercises, guest speaker</a:t>
            </a:r>
          </a:p>
        </p:txBody>
      </p:sp>
      <p:sp>
        <p:nvSpPr>
          <p:cNvPr id="45" name="Exam box"/>
          <p:cNvSpPr/>
          <p:nvPr/>
        </p:nvSpPr>
        <p:spPr>
          <a:xfrm>
            <a:off x="5852160" y="4526280"/>
            <a:ext cx="2834640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46" name="Icon exam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989320" y="4626864"/>
            <a:ext cx="347472" cy="347472"/>
          </a:xfrm>
          <a:prstGeom prst="rect">
            <a:avLst/>
          </a:prstGeom>
        </p:spPr>
      </p:pic>
      <p:sp>
        <p:nvSpPr>
          <p:cNvPr id="47" name="Exam text"/>
          <p:cNvSpPr txBox="1"/>
          <p:nvPr/>
        </p:nvSpPr>
        <p:spPr>
          <a:xfrm>
            <a:off x="6446520" y="4526280"/>
            <a:ext cx="2194560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Learning outcomes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Outcomes intro"/>
          <p:cNvSpPr txBox="1"/>
          <p:nvPr/>
        </p:nvSpPr>
        <p:spPr>
          <a:xfrm>
            <a:off x="457200" y="1188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On successful completion of this module, students will be able to:</a:t>
            </a:r>
          </a:p>
        </p:txBody>
      </p:sp>
      <p:sp>
        <p:nvSpPr>
          <p:cNvPr id="11" name="Outcomes band 1"/>
          <p:cNvSpPr/>
          <p:nvPr/>
        </p:nvSpPr>
        <p:spPr>
          <a:xfrm>
            <a:off x="457200" y="1572768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Outcomes bar 1"/>
          <p:cNvSpPr/>
          <p:nvPr/>
        </p:nvSpPr>
        <p:spPr>
          <a:xfrm>
            <a:off x="457200" y="1572768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3" name="Icon Outcomes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1920240"/>
            <a:ext cx="384048" cy="384048"/>
          </a:xfrm>
          <a:prstGeom prst="rect">
            <a:avLst/>
          </a:prstGeom>
        </p:spPr>
      </p:pic>
      <p:sp>
        <p:nvSpPr>
          <p:cNvPr id="14" name="Outcomes heading 1"/>
          <p:cNvSpPr txBox="1"/>
          <p:nvPr/>
        </p:nvSpPr>
        <p:spPr>
          <a:xfrm>
            <a:off x="1188720" y="1572768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Understand</a:t>
            </a:r>
          </a:p>
        </p:txBody>
      </p:sp>
      <p:sp>
        <p:nvSpPr>
          <p:cNvPr id="15" name="Outcomes number 1"/>
          <p:cNvSpPr/>
          <p:nvPr/>
        </p:nvSpPr>
        <p:spPr>
          <a:xfrm>
            <a:off x="2606040" y="16870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1</a:t>
            </a:r>
          </a:p>
        </p:txBody>
      </p:sp>
      <p:sp>
        <p:nvSpPr>
          <p:cNvPr id="16" name="Outcomes outcome 1"/>
          <p:cNvSpPr txBox="1"/>
          <p:nvPr/>
        </p:nvSpPr>
        <p:spPr>
          <a:xfrm>
            <a:off x="3063240" y="15727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Explain the fundamentals of MMM, </a:t>
            </a:r>
            <a:r>
              <a:rPr sz="1300" b="0" lang="en-GB">
                <a:solidFill>
                  <a:schemeClr val="tx1"/>
                </a:solidFill>
              </a:rPr>
              <a:t>its strengths and limits</a:t>
            </a:r>
          </a:p>
        </p:txBody>
      </p:sp>
      <p:sp>
        <p:nvSpPr>
          <p:cNvPr id="17" name="Outcomes number 2"/>
          <p:cNvSpPr/>
          <p:nvPr/>
        </p:nvSpPr>
        <p:spPr>
          <a:xfrm>
            <a:off x="2606040" y="2226564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2</a:t>
            </a:r>
          </a:p>
        </p:txBody>
      </p:sp>
      <p:sp>
        <p:nvSpPr>
          <p:cNvPr id="18" name="Outcomes outcome 2"/>
          <p:cNvSpPr txBox="1"/>
          <p:nvPr/>
        </p:nvSpPr>
        <p:spPr>
          <a:xfrm>
            <a:off x="3063240" y="2112264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Describe real-world applications </a:t>
            </a:r>
            <a:r>
              <a:rPr sz="1300" b="0" lang="en-GB">
                <a:solidFill>
                  <a:schemeClr val="tx1"/>
                </a:solidFill>
              </a:rPr>
              <a:t>of MMM in marketing</a:t>
            </a:r>
          </a:p>
        </p:txBody>
      </p:sp>
      <p:sp>
        <p:nvSpPr>
          <p:cNvPr id="19" name="Outcomes band 2"/>
          <p:cNvSpPr/>
          <p:nvPr/>
        </p:nvSpPr>
        <p:spPr>
          <a:xfrm>
            <a:off x="457200" y="2788920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Outcomes bar 2"/>
          <p:cNvSpPr/>
          <p:nvPr/>
        </p:nvSpPr>
        <p:spPr>
          <a:xfrm>
            <a:off x="457200" y="2788920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1" name="Icon Outcomes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85800" y="3136392"/>
            <a:ext cx="384048" cy="384048"/>
          </a:xfrm>
          <a:prstGeom prst="rect">
            <a:avLst/>
          </a:prstGeom>
        </p:spPr>
      </p:pic>
      <p:sp>
        <p:nvSpPr>
          <p:cNvPr id="22" name="Outcomes heading 2"/>
          <p:cNvSpPr txBox="1"/>
          <p:nvPr/>
        </p:nvSpPr>
        <p:spPr>
          <a:xfrm>
            <a:off x="1188720" y="2788920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Apply</a:t>
            </a:r>
          </a:p>
        </p:txBody>
      </p:sp>
      <p:sp>
        <p:nvSpPr>
          <p:cNvPr id="23" name="Outcomes number 3"/>
          <p:cNvSpPr/>
          <p:nvPr/>
        </p:nvSpPr>
        <p:spPr>
          <a:xfrm>
            <a:off x="2606040" y="2903220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3</a:t>
            </a:r>
          </a:p>
        </p:txBody>
      </p:sp>
      <p:sp>
        <p:nvSpPr>
          <p:cNvPr id="24" name="Outcomes outcome 3"/>
          <p:cNvSpPr txBox="1"/>
          <p:nvPr/>
        </p:nvSpPr>
        <p:spPr>
          <a:xfrm>
            <a:off x="3063240" y="2788920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Apply MMM in Python </a:t>
            </a:r>
            <a:r>
              <a:rPr sz="1300" b="0" lang="en-GB">
                <a:solidFill>
                  <a:schemeClr val="tx1"/>
                </a:solidFill>
              </a:rPr>
              <a:t>to cross-sectional and longitudinal data</a:t>
            </a:r>
          </a:p>
        </p:txBody>
      </p:sp>
      <p:sp>
        <p:nvSpPr>
          <p:cNvPr id="25" name="Outcomes number 4"/>
          <p:cNvSpPr/>
          <p:nvPr/>
        </p:nvSpPr>
        <p:spPr>
          <a:xfrm>
            <a:off x="2606040" y="3442716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4</a:t>
            </a:r>
          </a:p>
        </p:txBody>
      </p:sp>
      <p:sp>
        <p:nvSpPr>
          <p:cNvPr id="26" name="Outcomes outcome 4"/>
          <p:cNvSpPr txBox="1"/>
          <p:nvPr/>
        </p:nvSpPr>
        <p:spPr>
          <a:xfrm>
            <a:off x="3063240" y="3328416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Interpret results </a:t>
            </a:r>
            <a:r>
              <a:rPr sz="1300" b="0" lang="en-GB">
                <a:solidFill>
                  <a:schemeClr val="tx1"/>
                </a:solidFill>
              </a:rPr>
              <a:t>and turn them into marketing decisions</a:t>
            </a:r>
          </a:p>
        </p:txBody>
      </p:sp>
      <p:sp>
        <p:nvSpPr>
          <p:cNvPr id="27" name="Outcomes band 3"/>
          <p:cNvSpPr/>
          <p:nvPr/>
        </p:nvSpPr>
        <p:spPr>
          <a:xfrm>
            <a:off x="457200" y="4005072"/>
            <a:ext cx="8229600" cy="1078992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8" name="Outcomes bar 3"/>
          <p:cNvSpPr/>
          <p:nvPr/>
        </p:nvSpPr>
        <p:spPr>
          <a:xfrm>
            <a:off x="457200" y="4005072"/>
            <a:ext cx="64008" cy="107899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9" name="Icon Outcomes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85800" y="4352544"/>
            <a:ext cx="384048" cy="384048"/>
          </a:xfrm>
          <a:prstGeom prst="rect">
            <a:avLst/>
          </a:prstGeom>
        </p:spPr>
      </p:pic>
      <p:sp>
        <p:nvSpPr>
          <p:cNvPr id="30" name="Outcomes heading 3"/>
          <p:cNvSpPr txBox="1"/>
          <p:nvPr/>
        </p:nvSpPr>
        <p:spPr>
          <a:xfrm>
            <a:off x="1188720" y="4005072"/>
            <a:ext cx="1325880" cy="1078992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Transfer</a:t>
            </a:r>
          </a:p>
        </p:txBody>
      </p:sp>
      <p:sp>
        <p:nvSpPr>
          <p:cNvPr id="31" name="Outcomes number 5"/>
          <p:cNvSpPr/>
          <p:nvPr/>
        </p:nvSpPr>
        <p:spPr>
          <a:xfrm>
            <a:off x="2606040" y="4119372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5</a:t>
            </a:r>
          </a:p>
        </p:txBody>
      </p:sp>
      <p:sp>
        <p:nvSpPr>
          <p:cNvPr id="32" name="Outcomes outcome 5"/>
          <p:cNvSpPr txBox="1"/>
          <p:nvPr/>
        </p:nvSpPr>
        <p:spPr>
          <a:xfrm>
            <a:off x="3063240" y="4005072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Use AI tools </a:t>
            </a:r>
            <a:r>
              <a:rPr sz="1300" b="0" lang="en-GB">
                <a:solidFill>
                  <a:schemeClr val="tx1"/>
                </a:solidFill>
              </a:rPr>
              <a:t>for analysis and reporting, and check the output</a:t>
            </a:r>
          </a:p>
        </p:txBody>
      </p:sp>
      <p:sp>
        <p:nvSpPr>
          <p:cNvPr id="33" name="Outcomes number 6"/>
          <p:cNvSpPr/>
          <p:nvPr/>
        </p:nvSpPr>
        <p:spPr>
          <a:xfrm>
            <a:off x="2606040" y="4658868"/>
            <a:ext cx="310896" cy="310896"/>
          </a:xfrm>
          <a:prstGeom prst="ellipse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lIns="0" rIns="0" tIns="0" bIns="0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6</a:t>
            </a:r>
          </a:p>
        </p:txBody>
      </p:sp>
      <p:sp>
        <p:nvSpPr>
          <p:cNvPr id="34" name="Outcomes outcome 6"/>
          <p:cNvSpPr txBox="1"/>
          <p:nvPr/>
        </p:nvSpPr>
        <p:spPr>
          <a:xfrm>
            <a:off x="3063240" y="4544568"/>
            <a:ext cx="5486400" cy="539496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300" b="1" lang="en-GB">
                <a:solidFill>
                  <a:schemeClr val="tx2"/>
                </a:solidFill>
              </a:rPr>
              <a:t>Think critically </a:t>
            </a:r>
            <a:r>
              <a:rPr sz="1300" b="0" lang="en-GB">
                <a:solidFill>
                  <a:schemeClr val="tx1"/>
                </a:solidFill>
              </a:rPr>
              <a:t>and work effectively in teams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Methods of teaching and learning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ession rhythm label"/>
          <p:cNvSpPr txBox="1"/>
          <p:nvPr/>
        </p:nvSpPr>
        <p:spPr>
          <a:xfrm>
            <a:off x="457200" y="1170432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Every session</a:t>
            </a:r>
          </a:p>
        </p:txBody>
      </p:sp>
      <p:sp>
        <p:nvSpPr>
          <p:cNvPr id="11" name="Session rhythm step 1"/>
          <p:cNvSpPr/>
          <p:nvPr/>
        </p:nvSpPr>
        <p:spPr>
          <a:xfrm>
            <a:off x="457200" y="1481328"/>
            <a:ext cx="2139696" cy="658368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Concept lecture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2" name="Session rhythm step 2"/>
          <p:cNvSpPr/>
          <p:nvPr/>
        </p:nvSpPr>
        <p:spPr>
          <a:xfrm>
            <a:off x="2487168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90 min</a:t>
            </a:r>
          </a:p>
        </p:txBody>
      </p:sp>
      <p:sp>
        <p:nvSpPr>
          <p:cNvPr id="13" name="Session rhythm step 3"/>
          <p:cNvSpPr/>
          <p:nvPr/>
        </p:nvSpPr>
        <p:spPr>
          <a:xfrm>
            <a:off x="4517136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Team exercise</a:t>
            </a:r>
            <a:br/>
            <a:r>
              <a:rPr sz="1300" b="1" lang="en-GB">
                <a:solidFill>
                  <a:schemeClr val="tx2"/>
                </a:solidFill>
              </a:rPr>
              <a:t>60 min</a:t>
            </a:r>
          </a:p>
        </p:txBody>
      </p:sp>
      <p:sp>
        <p:nvSpPr>
          <p:cNvPr id="14" name="Session rhythm step 4"/>
          <p:cNvSpPr/>
          <p:nvPr/>
        </p:nvSpPr>
        <p:spPr>
          <a:xfrm>
            <a:off x="6547104" y="1481328"/>
            <a:ext cx="2139696" cy="658368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Online quiz</a:t>
            </a:r>
            <a:br/>
            <a:r>
              <a:rPr sz="1300" b="1" lang="en-GB">
                <a:solidFill>
                  <a:schemeClr val="tx2"/>
                </a:solidFill>
              </a:rPr>
              <a:t>not graded</a:t>
            </a:r>
          </a:p>
        </p:txBody>
      </p:sp>
      <p:sp>
        <p:nvSpPr>
          <p:cNvPr id="15" name="Between sessions card body"/>
          <p:cNvSpPr/>
          <p:nvPr/>
        </p:nvSpPr>
        <p:spPr>
          <a:xfrm>
            <a:off x="4572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6" name="Between sessions card header"/>
          <p:cNvSpPr/>
          <p:nvPr/>
        </p:nvSpPr>
        <p:spPr>
          <a:xfrm>
            <a:off x="4572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Between sessions card heading"/>
          <p:cNvSpPr txBox="1"/>
          <p:nvPr/>
        </p:nvSpPr>
        <p:spPr>
          <a:xfrm>
            <a:off x="5943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Between sessions</a:t>
            </a:r>
          </a:p>
        </p:txBody>
      </p:sp>
      <p:pic>
        <p:nvPicPr>
          <p:cNvPr id="18" name="Icon Between session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904488" y="2404872"/>
            <a:ext cx="310896" cy="310896"/>
          </a:xfrm>
          <a:prstGeom prst="rect">
            <a:avLst/>
          </a:prstGeom>
        </p:spPr>
      </p:pic>
      <p:sp>
        <p:nvSpPr>
          <p:cNvPr id="19" name="Between sessions card text"/>
          <p:cNvSpPr txBox="1"/>
          <p:nvPr/>
        </p:nvSpPr>
        <p:spPr>
          <a:xfrm>
            <a:off x="6217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 chapters and materials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DataCamp courses and certificates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Coding exercises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Case study report in your group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  <p:sp>
        <p:nvSpPr>
          <p:cNvPr id="20" name="Card arrow"/>
          <p:cNvSpPr/>
          <p:nvPr/>
        </p:nvSpPr>
        <p:spPr>
          <a:xfrm>
            <a:off x="4425696" y="3200400"/>
            <a:ext cx="292608" cy="365760"/>
          </a:xfrm>
          <a:prstGeom prst="chevron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In the classroom card body"/>
          <p:cNvSpPr/>
          <p:nvPr/>
        </p:nvSpPr>
        <p:spPr>
          <a:xfrm>
            <a:off x="4800600" y="2788920"/>
            <a:ext cx="3886200" cy="16459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2" name="In the classroom card header"/>
          <p:cNvSpPr/>
          <p:nvPr/>
        </p:nvSpPr>
        <p:spPr>
          <a:xfrm>
            <a:off x="4800600" y="2331720"/>
            <a:ext cx="388620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3" name="In the classroom card heading"/>
          <p:cNvSpPr txBox="1"/>
          <p:nvPr/>
        </p:nvSpPr>
        <p:spPr>
          <a:xfrm>
            <a:off x="4937760" y="2331720"/>
            <a:ext cx="320040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In the classroom</a:t>
            </a:r>
          </a:p>
        </p:txBody>
      </p:sp>
      <p:pic>
        <p:nvPicPr>
          <p:cNvPr id="24" name="Icon In the classroom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25" name="In the classroom card text"/>
          <p:cNvSpPr txBox="1"/>
          <p:nvPr/>
        </p:nvSpPr>
        <p:spPr>
          <a:xfrm>
            <a:off x="4965192" y="2926080"/>
            <a:ext cx="3584448" cy="137160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Five in-person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Laptop with Python, Positron, GitHub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AI-assisted coding, checked by you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Guest speaker from industry</a:t>
            </a:r>
          </a:p>
        </p:txBody>
      </p:sp>
      <p:sp>
        <p:nvSpPr>
          <p:cNvPr id="26" name="Exam box"/>
          <p:cNvSpPr/>
          <p:nvPr/>
        </p:nvSpPr>
        <p:spPr>
          <a:xfrm>
            <a:off x="457200" y="4572000"/>
            <a:ext cx="8229600" cy="50292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exam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40080" y="4645152"/>
            <a:ext cx="347472" cy="347472"/>
          </a:xfrm>
          <a:prstGeom prst="rect">
            <a:avLst/>
          </a:prstGeom>
        </p:spPr>
      </p:pic>
      <p:sp>
        <p:nvSpPr>
          <p:cNvPr id="28" name="Exam text"/>
          <p:cNvSpPr txBox="1"/>
          <p:nvPr/>
        </p:nvSpPr>
        <p:spPr>
          <a:xfrm>
            <a:off x="1143000" y="4572000"/>
            <a:ext cx="7406640" cy="5029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At the end: </a:t>
            </a:r>
            <a:r>
              <a:rPr sz="1300" b="0" lang="en-GB">
                <a:solidFill>
                  <a:schemeClr val="bg1"/>
                </a:solidFill>
              </a:rPr>
              <a:t>written exam, paper and pencil, multiple-choice questions.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graphicFrame>
        <p:nvGraphicFramePr>
          <p:cNvPr id="2" name="Table Placeholder 1"/>
          <p:cNvGraphicFramePr>
            <a:graphicFrameLocks noGrp="1"/>
          </p:cNvGraphicFramePr>
          <p:nvPr>
            <p:ph type="tbl" idx="1"/>
          </p:nvPr>
        </p:nvGraphicFramePr>
        <p:xfrm>
          <a:off x="462019" y="1344613"/>
          <a:ext cx="8229600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097280"/>
                <a:gridCol w="2377440"/>
                <a:gridCol w="4754880"/>
              </a:tblGrid>
              <a:tr h="370840">
                <a:tc>
                  <a:txBody>
                    <a:bodyPr/>
                    <a:lstStyle/>
                    <a:p>
                      <a:r>
                        <a:rPr sz="1500" lang="en-GB"/>
                        <a:t>Session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Topic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500" lang="en-GB"/>
                        <a:t>Methods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1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Introduction and linear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Course content and style; Python, Positron, GitHub and DataCamp; MMM fundamentals; OLS, model fit and interpretation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2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Log-log elasticities, dummy variables, non-linear effects, moderation and mediation, adstock and saturation, diagnostics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3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Logistic regression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Binary outcomes such as purchase or churn, odds ratios, model fit and classification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4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ARIMA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Trend, seasonality and autocorrelation; ARIMA and ARIMAX forecasts as the sales baseline</a:t>
                      </a:r>
                    </a:p>
                  </a:txBody>
                  <a:tcPr marT="54000" marB="54000"/>
                </a:tc>
              </a:tr>
              <a:tr h="370840">
                <a:tc>
                  <a:txBody>
                    <a:bodyPr/>
                    <a:lstStyle/>
                    <a:p>
                      <a:pPr algn="ctr"/>
                      <a:r>
                        <a:rPr sz="1300" lang="en-GB"/>
                        <a:t>5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b="1" lang="en-GB"/>
                        <a:t>Advanced MMM tools</a:t>
                      </a:r>
                    </a:p>
                  </a:txBody>
                  <a:tcPr marT="54000" marB="54000"/>
                </a:tc>
                <a:tc>
                  <a:txBody>
                    <a:bodyPr/>
                    <a:lstStyle/>
                    <a:p>
                      <a:r>
                        <a:rPr sz="1300" lang="en-GB"/>
                        <a:t>Bayesian MMM with PyMC-Marketing and Google Meridian; budget optimisation across channels and countries</a:t>
                      </a:r>
                    </a:p>
                  </a:txBody>
                  <a:tcPr marT="54000" marB="54000"/>
                </a:tc>
              </a:tr>
            </a:tbl>
          </a:graphicData>
        </a:graphic>
      </p:graphicFrame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Module roadmap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Assessment strategy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hare 1"/>
          <p:cNvSpPr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hare label 1"/>
          <p:cNvSpPr txBox="1"/>
          <p:nvPr/>
        </p:nvSpPr>
        <p:spPr>
          <a:xfrm>
            <a:off x="45720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2" name="Share 2"/>
          <p:cNvSpPr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3" name="Share label 2"/>
          <p:cNvSpPr txBox="1"/>
          <p:nvPr/>
        </p:nvSpPr>
        <p:spPr>
          <a:xfrm>
            <a:off x="2103120" y="1234440"/>
            <a:ext cx="160934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20 %</a:t>
            </a:r>
          </a:p>
        </p:txBody>
      </p:sp>
      <p:sp>
        <p:nvSpPr>
          <p:cNvPr id="14" name="Share 3"/>
          <p:cNvSpPr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Share label 3"/>
          <p:cNvSpPr txBox="1"/>
          <p:nvPr/>
        </p:nvSpPr>
        <p:spPr>
          <a:xfrm>
            <a:off x="374904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bg1"/>
                </a:solidFill>
              </a:rPr>
              <a:t>30 %</a:t>
            </a:r>
          </a:p>
        </p:txBody>
      </p:sp>
      <p:sp>
        <p:nvSpPr>
          <p:cNvPr id="16" name="Share 4"/>
          <p:cNvSpPr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hare label 4"/>
          <p:cNvSpPr txBox="1"/>
          <p:nvPr/>
        </p:nvSpPr>
        <p:spPr>
          <a:xfrm>
            <a:off x="6217920" y="1234440"/>
            <a:ext cx="2432304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ctr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30 %</a:t>
            </a:r>
          </a:p>
        </p:txBody>
      </p:sp>
      <p:sp>
        <p:nvSpPr>
          <p:cNvPr id="18" name="Component card 1"/>
          <p:cNvSpPr/>
          <p:nvPr/>
        </p:nvSpPr>
        <p:spPr>
          <a:xfrm>
            <a:off x="45720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9" name="Component strip 1"/>
          <p:cNvSpPr/>
          <p:nvPr/>
        </p:nvSpPr>
        <p:spPr>
          <a:xfrm>
            <a:off x="457200" y="1874520"/>
            <a:ext cx="1954530" cy="73152"/>
          </a:xfrm>
          <a:prstGeom prst="rect">
            <a:avLst/>
          </a:prstGeom>
          <a:solidFill>
            <a:schemeClr val="accent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omponent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2057400"/>
            <a:ext cx="365760" cy="365760"/>
          </a:xfrm>
          <a:prstGeom prst="rect">
            <a:avLst/>
          </a:prstGeom>
        </p:spPr>
      </p:pic>
      <p:sp>
        <p:nvSpPr>
          <p:cNvPr id="21" name="Component weight 1"/>
          <p:cNvSpPr txBox="1"/>
          <p:nvPr/>
        </p:nvSpPr>
        <p:spPr>
          <a:xfrm>
            <a:off x="126873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2" name="Component text 1"/>
          <p:cNvSpPr txBox="1"/>
          <p:nvPr/>
        </p:nvSpPr>
        <p:spPr>
          <a:xfrm>
            <a:off x="59436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Online certificates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DataCamp, 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3" name="Component card 2"/>
          <p:cNvSpPr/>
          <p:nvPr/>
        </p:nvSpPr>
        <p:spPr>
          <a:xfrm>
            <a:off x="254889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4" name="Component strip 2"/>
          <p:cNvSpPr/>
          <p:nvPr/>
        </p:nvSpPr>
        <p:spPr>
          <a:xfrm>
            <a:off x="2548890" y="1874520"/>
            <a:ext cx="1954530" cy="73152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5" name="Icon component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686050" y="2057400"/>
            <a:ext cx="365760" cy="365760"/>
          </a:xfrm>
          <a:prstGeom prst="rect">
            <a:avLst/>
          </a:prstGeom>
        </p:spPr>
      </p:pic>
      <p:sp>
        <p:nvSpPr>
          <p:cNvPr id="26" name="Component weight 2"/>
          <p:cNvSpPr txBox="1"/>
          <p:nvPr/>
        </p:nvSpPr>
        <p:spPr>
          <a:xfrm>
            <a:off x="336042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27" name="Component text 2"/>
          <p:cNvSpPr txBox="1"/>
          <p:nvPr/>
        </p:nvSpPr>
        <p:spPr>
          <a:xfrm>
            <a:off x="268605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Coding exercises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4 × 5 %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28" name="Component card 3"/>
          <p:cNvSpPr/>
          <p:nvPr/>
        </p:nvSpPr>
        <p:spPr>
          <a:xfrm>
            <a:off x="464058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9" name="Component strip 3"/>
          <p:cNvSpPr/>
          <p:nvPr/>
        </p:nvSpPr>
        <p:spPr>
          <a:xfrm>
            <a:off x="4640580" y="1874520"/>
            <a:ext cx="1954530" cy="73152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component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4777740" y="2057400"/>
            <a:ext cx="365760" cy="365760"/>
          </a:xfrm>
          <a:prstGeom prst="rect">
            <a:avLst/>
          </a:prstGeom>
        </p:spPr>
      </p:pic>
      <p:sp>
        <p:nvSpPr>
          <p:cNvPr id="31" name="Component weight 3"/>
          <p:cNvSpPr txBox="1"/>
          <p:nvPr/>
        </p:nvSpPr>
        <p:spPr>
          <a:xfrm>
            <a:off x="545211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2" name="Component text 3"/>
          <p:cNvSpPr txBox="1"/>
          <p:nvPr/>
        </p:nvSpPr>
        <p:spPr>
          <a:xfrm>
            <a:off x="477774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Written exam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paper and pencil, multiple choice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Individual</a:t>
            </a:r>
          </a:p>
        </p:txBody>
      </p:sp>
      <p:sp>
        <p:nvSpPr>
          <p:cNvPr id="33" name="Component card 4"/>
          <p:cNvSpPr/>
          <p:nvPr/>
        </p:nvSpPr>
        <p:spPr>
          <a:xfrm>
            <a:off x="6732270" y="1874520"/>
            <a:ext cx="1954530" cy="1691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4" name="Component strip 4"/>
          <p:cNvSpPr/>
          <p:nvPr/>
        </p:nvSpPr>
        <p:spPr>
          <a:xfrm>
            <a:off x="6732270" y="1874520"/>
            <a:ext cx="1954530" cy="73152"/>
          </a:xfrm>
          <a:prstGeom prst="rect">
            <a:avLst/>
          </a:prstGeom>
          <a:solidFill>
            <a:schemeClr val="accent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5" name="Icon component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869430" y="2057400"/>
            <a:ext cx="365760" cy="365760"/>
          </a:xfrm>
          <a:prstGeom prst="rect">
            <a:avLst/>
          </a:prstGeom>
        </p:spPr>
      </p:pic>
      <p:sp>
        <p:nvSpPr>
          <p:cNvPr id="36" name="Component weight 4"/>
          <p:cNvSpPr txBox="1"/>
          <p:nvPr/>
        </p:nvSpPr>
        <p:spPr>
          <a:xfrm>
            <a:off x="7543800" y="2057400"/>
            <a:ext cx="100584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r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</p:txBody>
      </p:sp>
      <p:sp>
        <p:nvSpPr>
          <p:cNvPr id="37" name="Component text 4"/>
          <p:cNvSpPr txBox="1"/>
          <p:nvPr/>
        </p:nvSpPr>
        <p:spPr>
          <a:xfrm>
            <a:off x="6869430" y="2560320"/>
            <a:ext cx="1680210" cy="9601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Case study report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report, groups of max. 4</a:t>
            </a:r>
          </a:p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accent1"/>
                </a:solidFill>
              </a:rPr>
              <a:t>Group</a:t>
            </a:r>
          </a:p>
        </p:txBody>
      </p:sp>
      <p:sp>
        <p:nvSpPr>
          <p:cNvPr id="38" name="Scale label"/>
          <p:cNvSpPr txBox="1"/>
          <p:nvPr/>
        </p:nvSpPr>
        <p:spPr>
          <a:xfrm>
            <a:off x="457200" y="37033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Grading scale (WU)</a:t>
            </a:r>
          </a:p>
        </p:txBody>
      </p:sp>
      <p:sp>
        <p:nvSpPr>
          <p:cNvPr id="39" name="Grade 1"/>
          <p:cNvSpPr/>
          <p:nvPr/>
        </p:nvSpPr>
        <p:spPr>
          <a:xfrm>
            <a:off x="457200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0" name="Grade text 1"/>
          <p:cNvSpPr txBox="1"/>
          <p:nvPr/>
        </p:nvSpPr>
        <p:spPr>
          <a:xfrm>
            <a:off x="548640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1  </a:t>
            </a:r>
            <a:r>
              <a:rPr sz="1300" b="1" lang="en-GB">
                <a:solidFill>
                  <a:schemeClr val="bg1"/>
                </a:solidFill>
              </a:rPr>
              <a:t>Excellent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90 % and above</a:t>
            </a:r>
          </a:p>
        </p:txBody>
      </p:sp>
      <p:sp>
        <p:nvSpPr>
          <p:cNvPr id="41" name="Grade 2"/>
          <p:cNvSpPr/>
          <p:nvPr/>
        </p:nvSpPr>
        <p:spPr>
          <a:xfrm>
            <a:off x="2121408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2" name="Grade text 2"/>
          <p:cNvSpPr txBox="1"/>
          <p:nvPr/>
        </p:nvSpPr>
        <p:spPr>
          <a:xfrm>
            <a:off x="2212848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2  </a:t>
            </a:r>
            <a:r>
              <a:rPr sz="1300" b="1" lang="en-GB">
                <a:solidFill>
                  <a:schemeClr val="bg1"/>
                </a:solidFill>
              </a:rPr>
              <a:t>Good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80 to 89 %</a:t>
            </a:r>
          </a:p>
        </p:txBody>
      </p:sp>
      <p:sp>
        <p:nvSpPr>
          <p:cNvPr id="43" name="Grade 3"/>
          <p:cNvSpPr/>
          <p:nvPr/>
        </p:nvSpPr>
        <p:spPr>
          <a:xfrm>
            <a:off x="3785616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4" name="Grade text 3"/>
          <p:cNvSpPr txBox="1"/>
          <p:nvPr/>
        </p:nvSpPr>
        <p:spPr>
          <a:xfrm>
            <a:off x="3877056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3  </a:t>
            </a:r>
            <a:r>
              <a:rPr sz="1300" b="1" lang="en-GB">
                <a:solidFill>
                  <a:schemeClr val="bg1"/>
                </a:solidFill>
              </a:rPr>
              <a:t>Satisfactory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70 to 79 %</a:t>
            </a:r>
          </a:p>
        </p:txBody>
      </p:sp>
      <p:sp>
        <p:nvSpPr>
          <p:cNvPr id="45" name="Grade 4"/>
          <p:cNvSpPr/>
          <p:nvPr/>
        </p:nvSpPr>
        <p:spPr>
          <a:xfrm>
            <a:off x="5449824" y="4023360"/>
            <a:ext cx="1572768" cy="5486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6" name="Grade text 4"/>
          <p:cNvSpPr txBox="1"/>
          <p:nvPr/>
        </p:nvSpPr>
        <p:spPr>
          <a:xfrm>
            <a:off x="5541264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4  </a:t>
            </a:r>
            <a:r>
              <a:rPr sz="1300" b="1" lang="en-GB">
                <a:solidFill>
                  <a:schemeClr val="bg1"/>
                </a:solidFill>
              </a:rPr>
              <a:t>Sufficient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bg1"/>
                </a:solidFill>
              </a:rPr>
              <a:t>60 to 69 %</a:t>
            </a:r>
          </a:p>
        </p:txBody>
      </p:sp>
      <p:sp>
        <p:nvSpPr>
          <p:cNvPr id="47" name="Grade 5"/>
          <p:cNvSpPr/>
          <p:nvPr/>
        </p:nvSpPr>
        <p:spPr>
          <a:xfrm>
            <a:off x="7114032" y="4023360"/>
            <a:ext cx="1572768" cy="5486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48" name="Grade text 5"/>
          <p:cNvSpPr txBox="1"/>
          <p:nvPr/>
        </p:nvSpPr>
        <p:spPr>
          <a:xfrm>
            <a:off x="7205472" y="4023360"/>
            <a:ext cx="1389888" cy="5486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1500" b="1" lang="en-GB">
                <a:solidFill>
                  <a:schemeClr val="tx2"/>
                </a:solidFill>
                <a:latin typeface="+mj-lt"/>
              </a:rPr>
              <a:t>5  </a:t>
            </a:r>
            <a:r>
              <a:rPr sz="1300" b="1" lang="en-GB">
                <a:solidFill>
                  <a:schemeClr val="tx2"/>
                </a:solidFill>
              </a:rPr>
              <a:t>Fail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2"/>
                </a:solidFill>
              </a:rPr>
              <a:t>below 60 %</a:t>
            </a:r>
          </a:p>
        </p:txBody>
      </p:sp>
      <p:sp>
        <p:nvSpPr>
          <p:cNvPr id="49" name="Rules line"/>
          <p:cNvSpPr txBox="1"/>
          <p:nvPr/>
        </p:nvSpPr>
        <p:spPr>
          <a:xfrm>
            <a:off x="457200" y="4681728"/>
            <a:ext cx="8229600" cy="36576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Attendance: </a:t>
            </a:r>
            <a:r>
              <a:rPr sz="1300" b="0" lang="en-GB">
                <a:solidFill>
                  <a:schemeClr val="tx1"/>
                </a:solidFill>
              </a:rPr>
              <a:t>at least 80 % of sessions.   </a:t>
            </a:r>
            <a:r>
              <a:rPr sz="1300" b="1" lang="en-GB">
                <a:solidFill>
                  <a:schemeClr val="tx2"/>
                </a:solidFill>
              </a:rPr>
              <a:t>AI tools: </a:t>
            </a:r>
            <a:r>
              <a:rPr sz="1300" b="0" lang="en-GB">
                <a:solidFill>
                  <a:schemeClr val="tx1"/>
                </a:solidFill>
              </a:rPr>
              <a:t>expected; you own every number you report.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Software and set-up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Tool card 1"/>
          <p:cNvSpPr/>
          <p:nvPr/>
        </p:nvSpPr>
        <p:spPr>
          <a:xfrm>
            <a:off x="457200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1" name="Icon tool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71600"/>
            <a:ext cx="411480" cy="411480"/>
          </a:xfrm>
          <a:prstGeom prst="rect">
            <a:avLst/>
          </a:prstGeom>
        </p:spPr>
      </p:pic>
      <p:sp>
        <p:nvSpPr>
          <p:cNvPr id="12" name="Tool text 1"/>
          <p:cNvSpPr txBox="1"/>
          <p:nvPr/>
        </p:nvSpPr>
        <p:spPr>
          <a:xfrm>
            <a:off x="594360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Python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language for all analyses</a:t>
            </a:r>
          </a:p>
        </p:txBody>
      </p:sp>
      <p:sp>
        <p:nvSpPr>
          <p:cNvPr id="13" name="Tool card 2"/>
          <p:cNvSpPr/>
          <p:nvPr/>
        </p:nvSpPr>
        <p:spPr>
          <a:xfrm>
            <a:off x="2125066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4" name="Icon tool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2262226" y="1371600"/>
            <a:ext cx="411480" cy="411480"/>
          </a:xfrm>
          <a:prstGeom prst="rect">
            <a:avLst/>
          </a:prstGeom>
        </p:spPr>
      </p:pic>
      <p:sp>
        <p:nvSpPr>
          <p:cNvPr id="15" name="Tool text 2"/>
          <p:cNvSpPr txBox="1"/>
          <p:nvPr/>
        </p:nvSpPr>
        <p:spPr>
          <a:xfrm>
            <a:off x="2262226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Positron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the editor where you write, run and see results</a:t>
            </a:r>
          </a:p>
        </p:txBody>
      </p:sp>
      <p:sp>
        <p:nvSpPr>
          <p:cNvPr id="16" name="Tool card 3"/>
          <p:cNvSpPr/>
          <p:nvPr/>
        </p:nvSpPr>
        <p:spPr>
          <a:xfrm>
            <a:off x="3792931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17" name="Icon tool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3930091" y="1371600"/>
            <a:ext cx="411480" cy="411480"/>
          </a:xfrm>
          <a:prstGeom prst="rect">
            <a:avLst/>
          </a:prstGeom>
        </p:spPr>
      </p:pic>
      <p:sp>
        <p:nvSpPr>
          <p:cNvPr id="18" name="Tool text 3"/>
          <p:cNvSpPr txBox="1"/>
          <p:nvPr/>
        </p:nvSpPr>
        <p:spPr>
          <a:xfrm>
            <a:off x="3930091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Quarto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turns code and text into reports and slides</a:t>
            </a:r>
          </a:p>
        </p:txBody>
      </p:sp>
      <p:sp>
        <p:nvSpPr>
          <p:cNvPr id="19" name="Tool card 4"/>
          <p:cNvSpPr/>
          <p:nvPr/>
        </p:nvSpPr>
        <p:spPr>
          <a:xfrm>
            <a:off x="5460797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tool 4" descr="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597957" y="1371600"/>
            <a:ext cx="411480" cy="411480"/>
          </a:xfrm>
          <a:prstGeom prst="rect">
            <a:avLst/>
          </a:prstGeom>
        </p:spPr>
      </p:pic>
      <p:sp>
        <p:nvSpPr>
          <p:cNvPr id="21" name="Tool text 4"/>
          <p:cNvSpPr txBox="1"/>
          <p:nvPr/>
        </p:nvSpPr>
        <p:spPr>
          <a:xfrm>
            <a:off x="5597957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GitHub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versions and shares your work</a:t>
            </a:r>
          </a:p>
        </p:txBody>
      </p:sp>
      <p:sp>
        <p:nvSpPr>
          <p:cNvPr id="22" name="Tool card 5"/>
          <p:cNvSpPr/>
          <p:nvPr/>
        </p:nvSpPr>
        <p:spPr>
          <a:xfrm>
            <a:off x="7128662" y="1234440"/>
            <a:ext cx="1558138" cy="173736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3" name="Icon tool 5" descr="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7265822" y="1371600"/>
            <a:ext cx="411480" cy="411480"/>
          </a:xfrm>
          <a:prstGeom prst="rect">
            <a:avLst/>
          </a:prstGeom>
        </p:spPr>
      </p:pic>
      <p:sp>
        <p:nvSpPr>
          <p:cNvPr id="24" name="Tool text 5"/>
          <p:cNvSpPr txBox="1"/>
          <p:nvPr/>
        </p:nvSpPr>
        <p:spPr>
          <a:xfrm>
            <a:off x="7265822" y="1874520"/>
            <a:ext cx="1329538" cy="105156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300"/>
              </a:spcAft>
            </a:pPr>
            <a:r>
              <a:rPr sz="1300" b="1" lang="en-GB">
                <a:solidFill>
                  <a:schemeClr val="tx2"/>
                </a:solidFill>
              </a:rPr>
              <a:t>AI assistant</a:t>
            </a:r>
          </a:p>
          <a:p>
            <a:pPr algn="l">
              <a:spcAft>
                <a:spcPts val="300"/>
              </a:spcAft>
            </a:pPr>
            <a:r>
              <a:rPr sz="1300" b="0" lang="en-GB">
                <a:solidFill>
                  <a:schemeClr val="tx1"/>
                </a:solidFill>
              </a:rPr>
              <a:t>GitHub Copilot, free with the student plan</a:t>
            </a:r>
          </a:p>
        </p:txBody>
      </p:sp>
      <p:sp>
        <p:nvSpPr>
          <p:cNvPr id="25" name="Set-up label"/>
          <p:cNvSpPr txBox="1"/>
          <p:nvPr/>
        </p:nvSpPr>
        <p:spPr>
          <a:xfrm>
            <a:off x="457200" y="310896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Set-up in five steps</a:t>
            </a:r>
          </a:p>
        </p:txBody>
      </p:sp>
      <p:sp>
        <p:nvSpPr>
          <p:cNvPr id="26" name="Set-up steps step 1"/>
          <p:cNvSpPr/>
          <p:nvPr/>
        </p:nvSpPr>
        <p:spPr>
          <a:xfrm>
            <a:off x="457200" y="3429000"/>
            <a:ext cx="1733702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Python (uv)</a:t>
            </a:r>
          </a:p>
        </p:txBody>
      </p:sp>
      <p:sp>
        <p:nvSpPr>
          <p:cNvPr id="27" name="Set-up steps step 2"/>
          <p:cNvSpPr/>
          <p:nvPr/>
        </p:nvSpPr>
        <p:spPr>
          <a:xfrm>
            <a:off x="2081174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Positron</a:t>
            </a:r>
          </a:p>
        </p:txBody>
      </p:sp>
      <p:sp>
        <p:nvSpPr>
          <p:cNvPr id="28" name="Set-up steps step 3"/>
          <p:cNvSpPr/>
          <p:nvPr/>
        </p:nvSpPr>
        <p:spPr>
          <a:xfrm>
            <a:off x="3705149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Install</a:t>
            </a:r>
            <a:br/>
            <a:r>
              <a:rPr sz="1300" b="1" lang="en-GB">
                <a:solidFill>
                  <a:schemeClr val="tx2"/>
                </a:solidFill>
              </a:rPr>
              <a:t>Quarto</a:t>
            </a:r>
          </a:p>
        </p:txBody>
      </p:sp>
      <p:sp>
        <p:nvSpPr>
          <p:cNvPr id="29" name="Set-up steps step 4"/>
          <p:cNvSpPr/>
          <p:nvPr/>
        </p:nvSpPr>
        <p:spPr>
          <a:xfrm>
            <a:off x="5329123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GitHub:</a:t>
            </a:r>
            <a:br/>
            <a:r>
              <a:rPr sz="1300" b="1" lang="en-GB">
                <a:solidFill>
                  <a:schemeClr val="tx2"/>
                </a:solidFill>
              </a:rPr>
              <a:t>clone the repo</a:t>
            </a:r>
          </a:p>
        </p:txBody>
      </p:sp>
      <p:sp>
        <p:nvSpPr>
          <p:cNvPr id="30" name="Set-up steps step 5"/>
          <p:cNvSpPr/>
          <p:nvPr/>
        </p:nvSpPr>
        <p:spPr>
          <a:xfrm>
            <a:off x="6953098" y="3429000"/>
            <a:ext cx="1733702" cy="685800"/>
          </a:xfrm>
          <a:prstGeom prst="chevron">
            <a:avLst>
              <a:gd name="adj" fmla="val 28000"/>
            </a:avLst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bg1"/>
                </a:solidFill>
              </a:rPr>
              <a:t>Run the</a:t>
            </a:r>
            <a:br/>
            <a:r>
              <a:rPr sz="1300" b="1" lang="en-GB">
                <a:solidFill>
                  <a:schemeClr val="bg1"/>
                </a:solidFill>
              </a:rPr>
              <a:t>check</a:t>
            </a:r>
          </a:p>
        </p:txBody>
      </p:sp>
      <p:sp>
        <p:nvSpPr>
          <p:cNvPr id="31" name="Set-up callout"/>
          <p:cNvSpPr/>
          <p:nvPr/>
        </p:nvSpPr>
        <p:spPr>
          <a:xfrm>
            <a:off x="457200" y="4343400"/>
            <a:ext cx="8229600" cy="7315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2" name="Icon set-up time" descr="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40080" y="4489704"/>
            <a:ext cx="438912" cy="438912"/>
          </a:xfrm>
          <a:prstGeom prst="rect">
            <a:avLst/>
          </a:prstGeom>
        </p:spPr>
      </p:pic>
      <p:sp>
        <p:nvSpPr>
          <p:cNvPr id="33" name="Set-up text"/>
          <p:cNvSpPr txBox="1"/>
          <p:nvPr/>
        </p:nvSpPr>
        <p:spPr>
          <a:xfrm>
            <a:off x="1280160" y="4343400"/>
            <a:ext cx="7223760" cy="7315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About 45 minutes. </a:t>
            </a:r>
            <a:r>
              <a:rPr sz="1300" b="0" lang="en-GB">
                <a:solidFill>
                  <a:schemeClr val="tx1"/>
                </a:solidFill>
              </a:rPr>
              <a:t>Follow the setup guide on Canvas before Session 1 and bring any installation problems to the first session.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Online certificates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Stat bar 1"/>
          <p:cNvSpPr/>
          <p:nvPr/>
        </p:nvSpPr>
        <p:spPr>
          <a:xfrm>
            <a:off x="457200" y="12801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Stat figure 1"/>
          <p:cNvSpPr txBox="1"/>
          <p:nvPr/>
        </p:nvSpPr>
        <p:spPr>
          <a:xfrm>
            <a:off x="685800" y="12801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</p:txBody>
      </p:sp>
      <p:sp>
        <p:nvSpPr>
          <p:cNvPr id="12" name="Stat text 1"/>
          <p:cNvSpPr txBox="1"/>
          <p:nvPr/>
        </p:nvSpPr>
        <p:spPr>
          <a:xfrm>
            <a:off x="2377440" y="12801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DataCamp courses. </a:t>
            </a:r>
            <a:r>
              <a:rPr sz="1300" b="0" lang="en-GB">
                <a:solidFill>
                  <a:schemeClr val="tx1"/>
                </a:solidFill>
              </a:rPr>
              <a:t>Python courses assigned on Canvas, each ending with a certificate.</a:t>
            </a:r>
          </a:p>
        </p:txBody>
      </p:sp>
      <p:sp>
        <p:nvSpPr>
          <p:cNvPr id="13" name="Stat bar 2"/>
          <p:cNvSpPr/>
          <p:nvPr/>
        </p:nvSpPr>
        <p:spPr>
          <a:xfrm>
            <a:off x="457200" y="21945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Stat figure 2"/>
          <p:cNvSpPr txBox="1"/>
          <p:nvPr/>
        </p:nvSpPr>
        <p:spPr>
          <a:xfrm>
            <a:off x="685800" y="21945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</p:txBody>
      </p:sp>
      <p:sp>
        <p:nvSpPr>
          <p:cNvPr id="15" name="Stat text 2"/>
          <p:cNvSpPr txBox="1"/>
          <p:nvPr/>
        </p:nvSpPr>
        <p:spPr>
          <a:xfrm>
            <a:off x="2377440" y="21945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Per certificate. </a:t>
            </a:r>
            <a:r>
              <a:rPr sz="1300" b="0" lang="en-GB">
                <a:solidFill>
                  <a:schemeClr val="tx1"/>
                </a:solidFill>
              </a:rPr>
              <a:t>Upload each certificate on Canvas by its deadline.</a:t>
            </a:r>
          </a:p>
        </p:txBody>
      </p:sp>
      <p:sp>
        <p:nvSpPr>
          <p:cNvPr id="16" name="Stat bar 3"/>
          <p:cNvSpPr/>
          <p:nvPr/>
        </p:nvSpPr>
        <p:spPr>
          <a:xfrm>
            <a:off x="457200" y="3108960"/>
            <a:ext cx="64008" cy="77724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Stat figure 3"/>
          <p:cNvSpPr txBox="1"/>
          <p:nvPr/>
        </p:nvSpPr>
        <p:spPr>
          <a:xfrm>
            <a:off x="685800" y="3108960"/>
            <a:ext cx="160020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</p:txBody>
      </p:sp>
      <p:sp>
        <p:nvSpPr>
          <p:cNvPr id="18" name="Stat text 3"/>
          <p:cNvSpPr txBox="1"/>
          <p:nvPr/>
        </p:nvSpPr>
        <p:spPr>
          <a:xfrm>
            <a:off x="2377440" y="3108960"/>
            <a:ext cx="6309360" cy="7772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In total. </a:t>
            </a:r>
            <a:r>
              <a:rPr sz="1300" b="0" lang="en-GB">
                <a:solidFill>
                  <a:schemeClr val="tx1"/>
                </a:solidFill>
              </a:rPr>
              <a:t>Together the four certificates count one fifth of the final grade.</a:t>
            </a:r>
          </a:p>
        </p:txBody>
      </p:sp>
      <p:sp>
        <p:nvSpPr>
          <p:cNvPr id="19" name="Deadline callout"/>
          <p:cNvSpPr/>
          <p:nvPr/>
        </p:nvSpPr>
        <p:spPr>
          <a:xfrm>
            <a:off x="457200" y="4114800"/>
            <a:ext cx="8229600" cy="96012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0" name="Icon certificates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" y="4343400"/>
            <a:ext cx="502920" cy="502920"/>
          </a:xfrm>
          <a:prstGeom prst="rect">
            <a:avLst/>
          </a:prstGeom>
        </p:spPr>
      </p:pic>
      <p:sp>
        <p:nvSpPr>
          <p:cNvPr id="21" name="Deadline text"/>
          <p:cNvSpPr txBox="1"/>
          <p:nvPr/>
        </p:nvSpPr>
        <p:spPr>
          <a:xfrm>
            <a:off x="1417320" y="4114800"/>
            <a:ext cx="7086600" cy="96012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Deadlines: </a:t>
            </a:r>
            <a:r>
              <a:rPr sz="1300" b="0" lang="en-GB">
                <a:solidFill>
                  <a:schemeClr val="tx1"/>
                </a:solidFill>
              </a:rPr>
              <a:t>the date for each certificate is on Canvas. The courses build the Python basics you need for the labs, so start early.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Coding exercises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oding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oding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oding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exercises during the course</a:t>
            </a:r>
          </a:p>
        </p:txBody>
      </p:sp>
      <p:sp>
        <p:nvSpPr>
          <p:cNvPr id="13" name="Coding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oding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oding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5 %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per exercise</a:t>
            </a:r>
          </a:p>
        </p:txBody>
      </p:sp>
      <p:sp>
        <p:nvSpPr>
          <p:cNvPr id="16" name="Coding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oding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oding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oding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How it works</a:t>
            </a:r>
          </a:p>
        </p:txBody>
      </p:sp>
      <p:sp>
        <p:nvSpPr>
          <p:cNvPr id="20" name="Coding steps step 1"/>
          <p:cNvSpPr/>
          <p:nvPr/>
        </p:nvSpPr>
        <p:spPr>
          <a:xfrm>
            <a:off x="457200" y="2651760"/>
            <a:ext cx="2139696" cy="685800"/>
          </a:xfrm>
          <a:prstGeom prst="homePlate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Guided lab</a:t>
            </a:r>
            <a:br/>
            <a:r>
              <a:rPr sz="1300" b="1" lang="en-GB">
                <a:solidFill>
                  <a:schemeClr val="tx2"/>
                </a:solidFill>
              </a:rPr>
              <a:t>in class</a:t>
            </a:r>
          </a:p>
        </p:txBody>
      </p:sp>
      <p:sp>
        <p:nvSpPr>
          <p:cNvPr id="21" name="Coding steps step 2"/>
          <p:cNvSpPr/>
          <p:nvPr/>
        </p:nvSpPr>
        <p:spPr>
          <a:xfrm>
            <a:off x="2487168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Apply the code</a:t>
            </a:r>
            <a:br/>
            <a:r>
              <a:rPr sz="1300" b="1" lang="en-GB">
                <a:solidFill>
                  <a:schemeClr val="tx2"/>
                </a:solidFill>
              </a:rPr>
              <a:t>to a similar task</a:t>
            </a:r>
          </a:p>
        </p:txBody>
      </p:sp>
      <p:sp>
        <p:nvSpPr>
          <p:cNvPr id="22" name="Coding steps step 3"/>
          <p:cNvSpPr/>
          <p:nvPr/>
        </p:nvSpPr>
        <p:spPr>
          <a:xfrm>
            <a:off x="4517136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Submit on</a:t>
            </a:r>
            <a:br/>
            <a:r>
              <a:rPr sz="1300" b="1" lang="en-GB">
                <a:solidFill>
                  <a:schemeClr val="tx2"/>
                </a:solidFill>
              </a:rPr>
              <a:t>Canvas</a:t>
            </a:r>
          </a:p>
        </p:txBody>
      </p:sp>
      <p:sp>
        <p:nvSpPr>
          <p:cNvPr id="23" name="Coding steps step 4"/>
          <p:cNvSpPr/>
          <p:nvPr/>
        </p:nvSpPr>
        <p:spPr>
          <a:xfrm>
            <a:off x="6547104" y="2651760"/>
            <a:ext cx="2139696" cy="685800"/>
          </a:xfrm>
          <a:prstGeom prst="chevron">
            <a:avLst>
              <a:gd name="adj" fmla="val 28000"/>
            </a:avLst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37744" rIns="128016" tIns="18288" bIns="18288"/>
          <a:lstStyle/>
          <a:p>
            <a:pPr algn="ctr"/>
            <a:r>
              <a:rPr sz="1300" b="1" lang="en-GB">
                <a:solidFill>
                  <a:schemeClr val="tx2"/>
                </a:solidFill>
              </a:rPr>
              <a:t>Feedback</a:t>
            </a:r>
            <a:br/>
            <a:r>
              <a:rPr sz="1300" b="1" lang="en-GB">
                <a:solidFill>
                  <a:schemeClr val="tx2"/>
                </a:solidFill>
              </a:rPr>
              <a:t>and grade</a:t>
            </a:r>
          </a:p>
        </p:txBody>
      </p:sp>
      <p:sp>
        <p:nvSpPr>
          <p:cNvPr id="24" name="Coding rules card body"/>
          <p:cNvSpPr/>
          <p:nvPr/>
        </p:nvSpPr>
        <p:spPr>
          <a:xfrm>
            <a:off x="457200" y="3931920"/>
            <a:ext cx="8229600" cy="1143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Coding rules card header"/>
          <p:cNvSpPr/>
          <p:nvPr/>
        </p:nvSpPr>
        <p:spPr>
          <a:xfrm>
            <a:off x="457200" y="3520440"/>
            <a:ext cx="8229600" cy="41148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Coding rules card heading"/>
          <p:cNvSpPr txBox="1"/>
          <p:nvPr/>
        </p:nvSpPr>
        <p:spPr>
          <a:xfrm>
            <a:off x="594360" y="3520440"/>
            <a:ext cx="7543800" cy="41148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Rules</a:t>
            </a:r>
          </a:p>
        </p:txBody>
      </p:sp>
      <p:pic>
        <p:nvPicPr>
          <p:cNvPr id="27" name="Icon Coding rules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247888" y="3570732"/>
            <a:ext cx="310896" cy="310896"/>
          </a:xfrm>
          <a:prstGeom prst="rect">
            <a:avLst/>
          </a:prstGeom>
        </p:spPr>
      </p:pic>
      <p:sp>
        <p:nvSpPr>
          <p:cNvPr id="28" name="Coding rules card text"/>
          <p:cNvSpPr txBox="1"/>
          <p:nvPr/>
        </p:nvSpPr>
        <p:spPr>
          <a:xfrm>
            <a:off x="621792" y="4069080"/>
            <a:ext cx="7927848" cy="868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Submit your Python or Quarto file; it must run from top to bottom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AI assistants are allowed; add a short prompt log at the end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 work: discuss ideas, but write and check your own code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Written exam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Exam tile 1"/>
          <p:cNvSpPr/>
          <p:nvPr/>
        </p:nvSpPr>
        <p:spPr>
          <a:xfrm>
            <a:off x="45720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Exam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Exam text 1"/>
          <p:cNvSpPr txBox="1"/>
          <p:nvPr/>
        </p:nvSpPr>
        <p:spPr>
          <a:xfrm>
            <a:off x="68580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3" name="Exam tile 2"/>
          <p:cNvSpPr/>
          <p:nvPr/>
        </p:nvSpPr>
        <p:spPr>
          <a:xfrm>
            <a:off x="324612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Exam bar 2"/>
          <p:cNvSpPr/>
          <p:nvPr/>
        </p:nvSpPr>
        <p:spPr>
          <a:xfrm>
            <a:off x="324612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Exam text 2"/>
          <p:cNvSpPr txBox="1"/>
          <p:nvPr/>
        </p:nvSpPr>
        <p:spPr>
          <a:xfrm>
            <a:off x="347472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exam at the end of the course</a:t>
            </a:r>
          </a:p>
        </p:txBody>
      </p:sp>
      <p:sp>
        <p:nvSpPr>
          <p:cNvPr id="16" name="Exam tile 3"/>
          <p:cNvSpPr/>
          <p:nvPr/>
        </p:nvSpPr>
        <p:spPr>
          <a:xfrm>
            <a:off x="6035040" y="1234440"/>
            <a:ext cx="265176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Exam bar 3"/>
          <p:cNvSpPr/>
          <p:nvPr/>
        </p:nvSpPr>
        <p:spPr>
          <a:xfrm>
            <a:off x="603504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Exam text 3"/>
          <p:cNvSpPr txBox="1"/>
          <p:nvPr/>
        </p:nvSpPr>
        <p:spPr>
          <a:xfrm>
            <a:off x="6263640" y="1234440"/>
            <a:ext cx="233172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MC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</p:txBody>
      </p:sp>
      <p:sp>
        <p:nvSpPr>
          <p:cNvPr id="19" name="Exam format card body"/>
          <p:cNvSpPr/>
          <p:nvPr/>
        </p:nvSpPr>
        <p:spPr>
          <a:xfrm>
            <a:off x="45720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Exam format card header"/>
          <p:cNvSpPr/>
          <p:nvPr/>
        </p:nvSpPr>
        <p:spPr>
          <a:xfrm>
            <a:off x="45720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Exam format card heading"/>
          <p:cNvSpPr txBox="1"/>
          <p:nvPr/>
        </p:nvSpPr>
        <p:spPr>
          <a:xfrm>
            <a:off x="59436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Format</a:t>
            </a:r>
          </a:p>
        </p:txBody>
      </p:sp>
      <p:pic>
        <p:nvPicPr>
          <p:cNvPr id="22" name="Icon Exam format card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2670048" y="2404872"/>
            <a:ext cx="310896" cy="310896"/>
          </a:xfrm>
          <a:prstGeom prst="rect">
            <a:avLst/>
          </a:prstGeom>
        </p:spPr>
      </p:pic>
      <p:sp>
        <p:nvSpPr>
          <p:cNvPr id="23" name="Exam format card text"/>
          <p:cNvSpPr txBox="1"/>
          <p:nvPr/>
        </p:nvSpPr>
        <p:spPr>
          <a:xfrm>
            <a:off x="62179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Paper and pencil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Multiple-choice questions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Individual, closed book</a:t>
            </a:r>
          </a:p>
        </p:txBody>
      </p:sp>
      <p:sp>
        <p:nvSpPr>
          <p:cNvPr id="24" name="Exam content card body"/>
          <p:cNvSpPr/>
          <p:nvPr/>
        </p:nvSpPr>
        <p:spPr>
          <a:xfrm>
            <a:off x="324612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5" name="Exam content card header"/>
          <p:cNvSpPr/>
          <p:nvPr/>
        </p:nvSpPr>
        <p:spPr>
          <a:xfrm>
            <a:off x="324612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6" name="Exam content card heading"/>
          <p:cNvSpPr txBox="1"/>
          <p:nvPr/>
        </p:nvSpPr>
        <p:spPr>
          <a:xfrm>
            <a:off x="338328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Content</a:t>
            </a:r>
          </a:p>
        </p:txBody>
      </p:sp>
      <p:pic>
        <p:nvPicPr>
          <p:cNvPr id="27" name="Icon Exam content card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58968" y="2404872"/>
            <a:ext cx="310896" cy="310896"/>
          </a:xfrm>
          <a:prstGeom prst="rect">
            <a:avLst/>
          </a:prstGeom>
        </p:spPr>
      </p:pic>
      <p:sp>
        <p:nvSpPr>
          <p:cNvPr id="28" name="Exam content card text"/>
          <p:cNvSpPr txBox="1"/>
          <p:nvPr/>
        </p:nvSpPr>
        <p:spPr>
          <a:xfrm>
            <a:off x="341071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All five sessions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Concepts and interpretation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Reading model output, not coding</a:t>
            </a:r>
          </a:p>
        </p:txBody>
      </p:sp>
      <p:sp>
        <p:nvSpPr>
          <p:cNvPr id="29" name="Exam preparation card body"/>
          <p:cNvSpPr/>
          <p:nvPr/>
        </p:nvSpPr>
        <p:spPr>
          <a:xfrm>
            <a:off x="6035040" y="2788920"/>
            <a:ext cx="2651760" cy="22860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0" name="Exam preparation card header"/>
          <p:cNvSpPr/>
          <p:nvPr/>
        </p:nvSpPr>
        <p:spPr>
          <a:xfrm>
            <a:off x="6035040" y="2331720"/>
            <a:ext cx="2651760" cy="4572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1" name="Exam preparation card heading"/>
          <p:cNvSpPr txBox="1"/>
          <p:nvPr/>
        </p:nvSpPr>
        <p:spPr>
          <a:xfrm>
            <a:off x="6172200" y="2331720"/>
            <a:ext cx="1965960" cy="4572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400"/>
              </a:spcAft>
            </a:pPr>
            <a:r>
              <a:rPr sz="1500" b="1" lang="en-GB">
                <a:solidFill>
                  <a:schemeClr val="bg1"/>
                </a:solidFill>
                <a:latin typeface="+mj-lt"/>
              </a:rPr>
              <a:t>Preparation</a:t>
            </a:r>
          </a:p>
        </p:txBody>
      </p:sp>
      <p:pic>
        <p:nvPicPr>
          <p:cNvPr id="32" name="Icon Exam preparation card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8247888" y="2404872"/>
            <a:ext cx="310896" cy="310896"/>
          </a:xfrm>
          <a:prstGeom prst="rect">
            <a:avLst/>
          </a:prstGeom>
        </p:spPr>
      </p:pic>
      <p:sp>
        <p:nvSpPr>
          <p:cNvPr id="33" name="Exam preparation card text"/>
          <p:cNvSpPr txBox="1"/>
          <p:nvPr/>
        </p:nvSpPr>
        <p:spPr>
          <a:xfrm>
            <a:off x="6199632" y="2926080"/>
            <a:ext cx="2350008" cy="201168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Online quiz after every session (not graded)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Session materials and book chapters</a:t>
            </a:r>
          </a:p>
          <a:p>
            <a:pPr algn="l" marL="182880" indent="-182880">
              <a:spcAft>
                <a:spcPts val="600"/>
              </a:spcAft>
              <a:buClr>
                <a:schemeClr val="accent1"/>
              </a:buClr>
              <a:buFont typeface="Arial"/>
              <a:buChar char="▪"/>
            </a:pPr>
            <a:r>
              <a:rPr sz="1300" b="0" lang="en-GB">
                <a:solidFill>
                  <a:schemeClr val="tx1"/>
                </a:solidFill>
              </a:rPr>
              <a:t>Q&amp;A forum on Canvas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3" name="Title 2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sz="1600" lang="en-GB"/>
              <a:t>Case study: written report</a:t>
            </a:r>
          </a:p>
        </p:txBody>
      </p:sp>
      <p:sp>
        <p:nvSpPr>
          <p:cNvPr id="8" name="Fußzeilenplatzhalt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9" name="Foliennummernplatzhalt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  <p:sp>
        <p:nvSpPr>
          <p:cNvPr id="10" name="Case tile 1"/>
          <p:cNvSpPr/>
          <p:nvPr/>
        </p:nvSpPr>
        <p:spPr>
          <a:xfrm>
            <a:off x="45720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1" name="Case bar 1"/>
          <p:cNvSpPr/>
          <p:nvPr/>
        </p:nvSpPr>
        <p:spPr>
          <a:xfrm>
            <a:off x="45720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2" name="Case text 1"/>
          <p:cNvSpPr txBox="1"/>
          <p:nvPr/>
        </p:nvSpPr>
        <p:spPr>
          <a:xfrm>
            <a:off x="68580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1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written report per group</a:t>
            </a:r>
          </a:p>
        </p:txBody>
      </p:sp>
      <p:sp>
        <p:nvSpPr>
          <p:cNvPr id="13" name="Case tile 2"/>
          <p:cNvSpPr/>
          <p:nvPr/>
        </p:nvSpPr>
        <p:spPr>
          <a:xfrm>
            <a:off x="254889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4" name="Case bar 2"/>
          <p:cNvSpPr/>
          <p:nvPr/>
        </p:nvSpPr>
        <p:spPr>
          <a:xfrm>
            <a:off x="254889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5" name="Case text 2"/>
          <p:cNvSpPr txBox="1"/>
          <p:nvPr/>
        </p:nvSpPr>
        <p:spPr>
          <a:xfrm>
            <a:off x="277749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max. 4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students per group</a:t>
            </a:r>
          </a:p>
        </p:txBody>
      </p:sp>
      <p:sp>
        <p:nvSpPr>
          <p:cNvPr id="16" name="Case tile 3"/>
          <p:cNvSpPr/>
          <p:nvPr/>
        </p:nvSpPr>
        <p:spPr>
          <a:xfrm>
            <a:off x="464058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7" name="Case bar 3"/>
          <p:cNvSpPr/>
          <p:nvPr/>
        </p:nvSpPr>
        <p:spPr>
          <a:xfrm>
            <a:off x="464058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18" name="Case text 3"/>
          <p:cNvSpPr txBox="1"/>
          <p:nvPr/>
        </p:nvSpPr>
        <p:spPr>
          <a:xfrm>
            <a:off x="486918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30 %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of the final grade</a:t>
            </a:r>
          </a:p>
        </p:txBody>
      </p:sp>
      <p:sp>
        <p:nvSpPr>
          <p:cNvPr id="19" name="Case tile 4"/>
          <p:cNvSpPr/>
          <p:nvPr/>
        </p:nvSpPr>
        <p:spPr>
          <a:xfrm>
            <a:off x="6732270" y="1234440"/>
            <a:ext cx="1954530" cy="91440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0" name="Case bar 4"/>
          <p:cNvSpPr/>
          <p:nvPr/>
        </p:nvSpPr>
        <p:spPr>
          <a:xfrm>
            <a:off x="6732270" y="1234440"/>
            <a:ext cx="64008" cy="914400"/>
          </a:xfrm>
          <a:prstGeom prst="rect">
            <a:avLst/>
          </a:prstGeom>
          <a:solidFill>
            <a:schemeClr val="accent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21" name="Case text 4"/>
          <p:cNvSpPr txBox="1"/>
          <p:nvPr/>
        </p:nvSpPr>
        <p:spPr>
          <a:xfrm>
            <a:off x="6960870" y="1234440"/>
            <a:ext cx="1634490" cy="91440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0"/>
              </a:spcAft>
            </a:pPr>
            <a:r>
              <a:rPr sz="2800" b="1" lang="en-GB">
                <a:solidFill>
                  <a:schemeClr val="tx2"/>
                </a:solidFill>
                <a:latin typeface="+mj-lt"/>
              </a:rPr>
              <a:t>2 weeks</a:t>
            </a:r>
          </a:p>
          <a:p>
            <a:pPr algn="l">
              <a:spcAft>
                <a:spcPts val="0"/>
              </a:spcAft>
            </a:pPr>
            <a:r>
              <a:rPr sz="1300" b="0" lang="en-GB">
                <a:solidFill>
                  <a:schemeClr val="tx1"/>
                </a:solidFill>
              </a:rPr>
              <a:t>after the last session: deadline</a:t>
            </a:r>
          </a:p>
        </p:txBody>
      </p:sp>
      <p:sp>
        <p:nvSpPr>
          <p:cNvPr id="22" name="Submit label"/>
          <p:cNvSpPr txBox="1"/>
          <p:nvPr/>
        </p:nvSpPr>
        <p:spPr>
          <a:xfrm>
            <a:off x="457200" y="2331720"/>
            <a:ext cx="8229600" cy="27432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What you submit</a:t>
            </a:r>
          </a:p>
        </p:txBody>
      </p:sp>
      <p:sp>
        <p:nvSpPr>
          <p:cNvPr id="23" name="Submission card 1"/>
          <p:cNvSpPr/>
          <p:nvPr/>
        </p:nvSpPr>
        <p:spPr>
          <a:xfrm>
            <a:off x="45720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4" name="Icon submission 1" descr="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21792" y="2788920"/>
            <a:ext cx="365760" cy="365760"/>
          </a:xfrm>
          <a:prstGeom prst="rect">
            <a:avLst/>
          </a:prstGeom>
        </p:spPr>
      </p:pic>
      <p:sp>
        <p:nvSpPr>
          <p:cNvPr id="25" name="Submission text 1"/>
          <p:cNvSpPr txBox="1"/>
          <p:nvPr/>
        </p:nvSpPr>
        <p:spPr>
          <a:xfrm>
            <a:off x="114300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Quarto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your analysis and text in one reproducible document</a:t>
            </a:r>
          </a:p>
        </p:txBody>
      </p:sp>
      <p:sp>
        <p:nvSpPr>
          <p:cNvPr id="26" name="Submission card 2"/>
          <p:cNvSpPr/>
          <p:nvPr/>
        </p:nvSpPr>
        <p:spPr>
          <a:xfrm>
            <a:off x="324612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27" name="Icon submission 2" descr="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10712" y="2788920"/>
            <a:ext cx="365760" cy="365760"/>
          </a:xfrm>
          <a:prstGeom prst="rect">
            <a:avLst/>
          </a:prstGeom>
        </p:spPr>
      </p:pic>
      <p:sp>
        <p:nvSpPr>
          <p:cNvPr id="28" name="Submission text 2"/>
          <p:cNvSpPr txBox="1"/>
          <p:nvPr/>
        </p:nvSpPr>
        <p:spPr>
          <a:xfrm>
            <a:off x="393192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Rendered report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output of the Quarto file; HTML recommended</a:t>
            </a:r>
          </a:p>
        </p:txBody>
      </p:sp>
      <p:sp>
        <p:nvSpPr>
          <p:cNvPr id="29" name="Submission card 3"/>
          <p:cNvSpPr/>
          <p:nvPr/>
        </p:nvSpPr>
        <p:spPr>
          <a:xfrm>
            <a:off x="6035040" y="2651760"/>
            <a:ext cx="2651760" cy="1234440"/>
          </a:xfrm>
          <a:prstGeom prst="rect">
            <a:avLst/>
          </a:prstGeom>
          <a:solidFill>
            <a:schemeClr val="bg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pic>
        <p:nvPicPr>
          <p:cNvPr id="30" name="Icon submission 3" descr="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2788920"/>
            <a:ext cx="365760" cy="365760"/>
          </a:xfrm>
          <a:prstGeom prst="rect">
            <a:avLst/>
          </a:prstGeom>
        </p:spPr>
      </p:pic>
      <p:sp>
        <p:nvSpPr>
          <p:cNvPr id="31" name="Submission text 3"/>
          <p:cNvSpPr txBox="1"/>
          <p:nvPr/>
        </p:nvSpPr>
        <p:spPr>
          <a:xfrm>
            <a:off x="6720840" y="2788920"/>
            <a:ext cx="1828800" cy="1005840"/>
          </a:xfrm>
          <a:prstGeom prst="rect">
            <a:avLst/>
          </a:prstGeom>
          <a:noFill/>
        </p:spPr>
        <p:txBody>
          <a:bodyPr wrap="square" lIns="0" rIns="0" tIns="0" bIns="0" anchor="t">
            <a:noAutofit/>
          </a:bodyPr>
          <a:lstStyle/>
          <a:p>
            <a:pPr algn="l">
              <a:spcAft>
                <a:spcPts val="400"/>
              </a:spcAft>
            </a:pPr>
            <a:r>
              <a:rPr sz="1300" b="1" lang="en-GB">
                <a:solidFill>
                  <a:schemeClr val="tx2"/>
                </a:solidFill>
              </a:rPr>
              <a:t>Data file</a:t>
            </a:r>
          </a:p>
          <a:p>
            <a:pPr algn="l">
              <a:spcAft>
                <a:spcPts val="400"/>
              </a:spcAft>
            </a:pPr>
            <a:r>
              <a:rPr sz="1300" b="0" lang="en-GB">
                <a:solidFill>
                  <a:schemeClr val="tx1"/>
                </a:solidFill>
              </a:rPr>
              <a:t>the data you analysed, so the report can be rerun</a:t>
            </a:r>
          </a:p>
        </p:txBody>
      </p:sp>
      <p:sp>
        <p:nvSpPr>
          <p:cNvPr id="32" name="Task box"/>
          <p:cNvSpPr/>
          <p:nvPr/>
        </p:nvSpPr>
        <p:spPr>
          <a:xfrm>
            <a:off x="457200" y="4069080"/>
            <a:ext cx="8229600" cy="1005840"/>
          </a:xfrm>
          <a:prstGeom prst="rect">
            <a:avLst/>
          </a:prstGeom>
          <a:solidFill>
            <a:schemeClr val="tx2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/>
        </p:txBody>
      </p:sp>
      <p:sp>
        <p:nvSpPr>
          <p:cNvPr id="33" name="Task text"/>
          <p:cNvSpPr txBox="1"/>
          <p:nvPr/>
        </p:nvSpPr>
        <p:spPr>
          <a:xfrm>
            <a:off x="685800" y="4069080"/>
            <a:ext cx="7772400" cy="1005840"/>
          </a:xfrm>
          <a:prstGeom prst="rect">
            <a:avLst/>
          </a:prstGeom>
          <a:noFill/>
        </p:spPr>
        <p:txBody>
          <a:bodyPr wrap="square" lIns="0" rIns="0" tIns="0" bIns="0" anchor="ctr">
            <a:noAutofit/>
          </a:bodyPr>
          <a:lstStyle/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The task: </a:t>
            </a:r>
            <a:r>
              <a:rPr sz="1300" b="0" lang="en-GB">
                <a:solidFill>
                  <a:schemeClr val="bg1"/>
                </a:solidFill>
              </a:rPr>
              <a:t>apply marketing mix modelling to a real marketing case, interpret the results and recommend a decision to management.</a:t>
            </a:r>
          </a:p>
          <a:p>
            <a:pPr algn="l">
              <a:spcAft>
                <a:spcPts val="600"/>
              </a:spcAft>
            </a:pPr>
            <a:r>
              <a:rPr sz="1300" b="1" lang="en-GB">
                <a:solidFill>
                  <a:schemeClr val="bg1"/>
                </a:solidFill>
              </a:rPr>
              <a:t>Support: </a:t>
            </a:r>
            <a:r>
              <a:rPr sz="1300" b="0" lang="en-GB">
                <a:solidFill>
                  <a:schemeClr val="bg1"/>
                </a:solidFill>
              </a:rPr>
              <a:t>online consulting hours (registration needed).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9" name="Fußzeilenplatzhalter 8"/>
          <p:cNvSpPr>
            <a:spLocks noGrp="1"/>
          </p:cNvSpPr>
          <p:nvPr>
            <p:ph type="ftr" sz="quarter" idx="12"/>
          </p:nvPr>
        </p:nvSpPr>
        <p:spPr/>
        <p:txBody>
          <a:bodyPr/>
          <a:lstStyle/>
          <a:p>
            <a:r>
              <a:rPr lang="en-GB"/>
              <a:t>International Marketing Analytics · WT 2026/27</a:t>
            </a:r>
          </a:p>
        </p:txBody>
      </p:sp>
      <p:sp>
        <p:nvSpPr>
          <p:cNvPr id="10" name="Foliennummernplatzhalter 9"/>
          <p:cNvSpPr>
            <a:spLocks noGrp="1"/>
          </p:cNvSpPr>
          <p:nvPr>
            <p:ph type="sldNum" sz="quarter" idx="13"/>
          </p:nvPr>
        </p:nvSpPr>
        <p:spPr/>
        <p:txBody>
          <a:bodyPr/>
          <a:lstStyle/>
          <a:p>
            <a:r>
              <a:rPr lang="en-GB" dirty="0"/>
              <a:t>Page </a:t>
            </a:r>
            <a:fld id="{BE3DC40E-DBBE-4E2D-9EEC-FBF0DA0E9179}" type="slidenum">
              <a:rPr lang="en-GB" smtClean="0"/>
              <a:t>‹Nr.›</a:t>
            </a:fld>
            <a:endParaRPr lang="en-GB" dirty="0"/>
          </a:p>
        </p:txBody>
      </p: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SELECTEDLANGUAGE" val="English UK"/>
</p:tagLst>
</file>

<file path=ppt/theme/theme1.xml><?xml version="1.0" encoding="utf-8"?>
<a:theme xmlns:a="http://schemas.openxmlformats.org/drawingml/2006/main" name="WU 16:10">
  <a:themeElements>
    <a:clrScheme name="WU">
      <a:dk1>
        <a:srgbClr val="000000"/>
      </a:dk1>
      <a:lt1>
        <a:srgbClr val="FFFFFF"/>
      </a:lt1>
      <a:dk2>
        <a:srgbClr val="002350"/>
      </a:dk2>
      <a:lt2>
        <a:srgbClr val="E5F5FA"/>
      </a:lt2>
      <a:accent1>
        <a:srgbClr val="0096D3"/>
      </a:accent1>
      <a:accent2>
        <a:srgbClr val="002350"/>
      </a:accent2>
      <a:accent3>
        <a:srgbClr val="4B2582"/>
      </a:accent3>
      <a:accent4>
        <a:srgbClr val="457AA0"/>
      </a:accent4>
      <a:accent5>
        <a:srgbClr val="A592C0"/>
      </a:accent5>
      <a:accent6>
        <a:srgbClr val="80CFE9"/>
      </a:accent6>
      <a:hlink>
        <a:srgbClr val="405A7C"/>
      </a:hlink>
      <a:folHlink>
        <a:srgbClr val="0082AA"/>
      </a:folHlink>
    </a:clrScheme>
    <a:fontScheme name="WU neu">
      <a:majorFont>
        <a:latin typeface="Georgia"/>
        <a:ea typeface=""/>
        <a:cs typeface=""/>
      </a:majorFont>
      <a:minorFont>
        <a:latin typeface="Verdana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>
    <a:extraClrScheme>
      <a:clrScheme name="WU Farbschema neu">
        <a:dk1>
          <a:srgbClr val="000000"/>
        </a:dk1>
        <a:lt1>
          <a:sysClr val="window" lastClr="FFFFFF"/>
        </a:lt1>
        <a:dk2>
          <a:srgbClr val="002E60"/>
        </a:dk2>
        <a:lt2>
          <a:srgbClr val="E5F5FA"/>
        </a:lt2>
        <a:accent1>
          <a:srgbClr val="0096D3"/>
        </a:accent1>
        <a:accent2>
          <a:srgbClr val="002E60"/>
        </a:accent2>
        <a:accent3>
          <a:srgbClr val="532481"/>
        </a:accent3>
        <a:accent4>
          <a:srgbClr val="457AA0"/>
        </a:accent4>
        <a:accent5>
          <a:srgbClr val="A991C0"/>
        </a:accent5>
        <a:accent6>
          <a:srgbClr val="7FCAE9"/>
        </a:accent6>
        <a:hlink>
          <a:srgbClr val="406288"/>
        </a:hlink>
        <a:folHlink>
          <a:srgbClr val="008FAA"/>
        </a:folHlink>
      </a:clrScheme>
      <a:clrMap bg1="lt1" tx1="dk1" bg2="lt2" tx2="dk2" accent1="accent1" accent2="accent2" accent3="accent3" accent4="accent4" accent5="accent5" accent6="accent6" hlink="hlink" folHlink="folHlink"/>
    </a:extraClrScheme>
  </a:extraClrSchemeLst>
  <a:extLst>
    <a:ext uri="{05A4C25C-085E-4340-85A3-A5531E510DB2}">
      <thm15:themeFamily xmlns:thm15="http://schemas.microsoft.com/office/thememl/2012/main" name="WU Sample Presentation 16x10 V1.1.potx" id="{74DD536C-D372-4256-BA4D-24C734E7AF81}" vid="{99E22345-25BB-45DF-85CE-FC929AE6991A}"/>
    </a:ext>
  </a:extLst>
</a:theme>
</file>

<file path=ppt/theme/theme2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Larissa">
  <a:themeElements>
    <a:clrScheme name="Larissa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Larissa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Larissa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customXml/_rels/item1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1.xml"/></Relationships>
</file>

<file path=customXml/_rels/item2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2.xml"/></Relationships>
</file>

<file path=customXml/_rels/item3.xml.rels><?xml version='1.0' encoding='UTF-8' standalone='yes'?>
<Relationships xmlns="http://schemas.openxmlformats.org/package/2006/relationships"><Relationship Id="rId1" Type="http://schemas.openxmlformats.org/officeDocument/2006/relationships/customXmlProps" Target="itemProps3.xml"/></Relationships>
</file>

<file path=customXml/item1.xml><?xml version="1.0" encoding="utf-8"?>
<p:properties xmlns:p="http://schemas.microsoft.com/office/2006/metadata/properties" xmlns:xsi="http://www.w3.org/2001/XMLSchema-instance" xmlns:pc="http://schemas.microsoft.com/office/infopath/2007/PartnerControls">
  <documentManagement>
    <Kategorie xmlns="dde413db-0745-4f3a-8dca-564dc7ff6f7d">Präsentationen</Kategorie>
    <Beschreibung xmlns="dde413db-0745-4f3a-8dca-564dc7ff6f7d">Sample presenation in format 16:10 (= WU standard)</Beschreibung>
    <TaxCatchAll xmlns="08b0a3ee-3d2a-451c-9a1a-7e5d5b0c9c77">
      <Value>266</Value>
      <Value>403</Value>
    </TaxCatchAll>
    <Dokumentenart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Vorlagen</TermName>
          <TermId xmlns="http://schemas.microsoft.com/office/infopath/2007/PartnerControls">17fc50ed-8ad1-47be-ab12-04243fd74ddb</TermId>
        </TermInfo>
      </Terms>
    </DokumentenartTaxHTField0>
    <WU_x0020_ThemaTaxHTField0 xmlns="1a8d9a65-8471-4209-a900-f8e11db75e0a">
      <Terms xmlns="http://schemas.microsoft.com/office/infopath/2007/PartnerControls">
        <TermInfo xmlns="http://schemas.microsoft.com/office/infopath/2007/PartnerControls">
          <TermName xmlns="http://schemas.microsoft.com/office/infopath/2007/PartnerControls">Corporate Design</TermName>
          <TermId xmlns="http://schemas.microsoft.com/office/infopath/2007/PartnerControls">19895bcd-b158-45ae-ab7b-f5ca217dfcec</TermId>
        </TermInfo>
      </Terms>
    </WU_x0020_ThemaTaxHTField0>
    <Format xmlns="dde413db-0745-4f3a-8dca-564dc7ff6f7d">Microsoft Office 2013/2016</Format>
  </documentManagement>
</p:properties>
</file>

<file path=customXml/item2.xml><?xml version="1.0" encoding="utf-8"?>
<ct:contentTypeSchema xmlns:ct="http://schemas.microsoft.com/office/2006/metadata/contentType" xmlns:ma="http://schemas.microsoft.com/office/2006/metadata/properties/metaAttributes" ct:_="" ma:_="" ma:contentTypeName="Dokument" ma:contentTypeID="0x010100BCF651A35DF3154DB01328AF51148DAE" ma:contentTypeVersion="1" ma:contentTypeDescription="Ein neues Dokument erstellen." ma:contentTypeScope="" ma:versionID="458c1b80f8d593bdc96b60ff34dd40b4">
  <xsd:schema xmlns:xsd="http://www.w3.org/2001/XMLSchema" xmlns:xs="http://www.w3.org/2001/XMLSchema" xmlns:p="http://schemas.microsoft.com/office/2006/metadata/properties" xmlns:ns2="1a8d9a65-8471-4209-a900-f8e11db75e0a" xmlns:ns3="08b0a3ee-3d2a-451c-9a1a-7e5d5b0c9c77" xmlns:ns4="dde413db-0745-4f3a-8dca-564dc7ff6f7d" targetNamespace="http://schemas.microsoft.com/office/2006/metadata/properties" ma:root="true" ma:fieldsID="2d31116d1a6b5af1b4a8b1ba7152d57a" ns2:_="" ns3:_="" ns4:_="">
    <xsd:import namespace="1a8d9a65-8471-4209-a900-f8e11db75e0a"/>
    <xsd:import namespace="08b0a3ee-3d2a-451c-9a1a-7e5d5b0c9c77"/>
    <xsd:import namespace="dde413db-0745-4f3a-8dca-564dc7ff6f7d"/>
    <xsd:element name="properties">
      <xsd:complexType>
        <xsd:sequence>
          <xsd:element name="documentManagement">
            <xsd:complexType>
              <xsd:all>
                <xsd:element ref="ns2:WU_x0020_ThemaTaxHTField0" minOccurs="0"/>
                <xsd:element ref="ns3:TaxCatchAll" minOccurs="0"/>
                <xsd:element ref="ns2:DokumentenartTaxHTField0" minOccurs="0"/>
                <xsd:element ref="ns4:Beschreibung" minOccurs="0"/>
                <xsd:element ref="ns4:Format" minOccurs="0"/>
                <xsd:element ref="ns4:Kategorie" minOccurs="0"/>
                <xsd:element ref="ns3:SharedWithUsers" minOccurs="0"/>
              </xsd:all>
            </xsd:complexType>
          </xsd:element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1a8d9a65-8471-4209-a900-f8e11db75e0a" elementFormDefault="qualified">
    <xsd:import namespace="http://schemas.microsoft.com/office/2006/documentManagement/types"/>
    <xsd:import namespace="http://schemas.microsoft.com/office/infopath/2007/PartnerControls"/>
    <xsd:element name="WU_x0020_ThemaTaxHTField0" ma:index="9" nillable="true" ma:taxonomy="true" ma:internalName="WU_x0020_ThemaTaxHTField0" ma:taxonomyFieldName="WU_x0020_Thema" ma:displayName="Schlagwort" ma:default="" ma:fieldId="{a2eb3201-e251-4055-97e9-466604fc777f}" ma:taxonomyMulti="true" ma:sspId="59da4ae5-1217-4de6-bd64-b7a740f353bb" ma:termSetId="c1edca97-812b-4584-b6b5-1e5cade81cae" ma:anchorId="00000000-0000-0000-0000-000000000000" ma:open="true" ma:isKeyword="false">
      <xsd:complexType>
        <xsd:sequence>
          <xsd:element ref="pc:Terms" minOccurs="0" maxOccurs="1"/>
        </xsd:sequence>
      </xsd:complexType>
    </xsd:element>
    <xsd:element name="DokumentenartTaxHTField0" ma:index="12" nillable="true" ma:taxonomy="true" ma:internalName="DokumentenartTaxHTField0" ma:taxonomyFieldName="Dokumentenart" ma:displayName="Dokumentenart" ma:default="" ma:fieldId="{0f2e647f-32b7-4850-b6be-ae358ed71e70}" ma:taxonomyMulti="true" ma:sspId="59da4ae5-1217-4de6-bd64-b7a740f353bb" ma:termSetId="325756d7-e24e-4b6f-ba71-3f779d34c1ea" ma:anchorId="00000000-0000-0000-0000-000000000000" ma:open="false" ma:isKeyword="false">
      <xsd:complexType>
        <xsd:sequence>
          <xsd:element ref="pc:Terms" minOccurs="0" maxOccurs="1"/>
        </xsd:sequence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08b0a3ee-3d2a-451c-9a1a-7e5d5b0c9c77" elementFormDefault="qualified">
    <xsd:import namespace="http://schemas.microsoft.com/office/2006/documentManagement/types"/>
    <xsd:import namespace="http://schemas.microsoft.com/office/infopath/2007/PartnerControls"/>
    <xsd:element name="TaxCatchAll" ma:index="10" nillable="true" ma:displayName="Taxonomy Catch All Column" ma:description="" ma:hidden="true" ma:list="{6a103bb8-3913-4e3b-a229-080a76572464}" ma:internalName="TaxCatchAll" ma:showField="CatchAllData" ma:web="08b0a3ee-3d2a-451c-9a1a-7e5d5b0c9c77">
      <xsd:complexType>
        <xsd:complexContent>
          <xsd:extension base="dms:MultiChoiceLookup">
            <xsd:sequence>
              <xsd:element name="Value" type="dms:Lookup" maxOccurs="unbounded" minOccurs="0" nillable="true"/>
            </xsd:sequence>
          </xsd:extension>
        </xsd:complexContent>
      </xsd:complexType>
    </xsd:element>
    <xsd:element name="SharedWithUsers" ma:index="16" nillable="true" ma:displayName="Freigegeben für" ma:description="" ma:internalName="SharedWithUsers" ma:readOnly="true">
      <xsd:complexType>
        <xsd:complexContent>
          <xsd:extension base="dms:UserMulti">
            <xsd:sequence>
              <xsd:element name="UserInfo" minOccurs="0" maxOccurs="unbounded">
                <xsd:complexType>
                  <xsd:sequence>
                    <xsd:element name="DisplayName" type="xsd:string" minOccurs="0"/>
                    <xsd:element name="AccountId" type="dms:UserId" minOccurs="0" nillable="true"/>
                    <xsd:element name="AccountType" type="xsd:string" minOccurs="0"/>
                  </xsd:sequence>
                </xsd:complexType>
              </xsd:element>
            </xsd:sequence>
          </xsd:extension>
        </xsd:complexContent>
      </xsd:complexType>
    </xsd:element>
  </xsd:schema>
  <xsd:schema xmlns:xsd="http://www.w3.org/2001/XMLSchema" xmlns:xs="http://www.w3.org/2001/XMLSchema" xmlns:dms="http://schemas.microsoft.com/office/2006/documentManagement/types" xmlns:pc="http://schemas.microsoft.com/office/infopath/2007/PartnerControls" targetNamespace="dde413db-0745-4f3a-8dca-564dc7ff6f7d" elementFormDefault="qualified">
    <xsd:import namespace="http://schemas.microsoft.com/office/2006/documentManagement/types"/>
    <xsd:import namespace="http://schemas.microsoft.com/office/infopath/2007/PartnerControls"/>
    <xsd:element name="Beschreibung" ma:index="13" nillable="true" ma:displayName="Beschreibung" ma:internalName="Beschreibung">
      <xsd:simpleType>
        <xsd:restriction base="dms:Note">
          <xsd:maxLength value="255"/>
        </xsd:restriction>
      </xsd:simpleType>
    </xsd:element>
    <xsd:element name="Format" ma:index="14" nillable="true" ma:displayName="Format" ma:format="Dropdown" ma:internalName="Format">
      <xsd:simpleType>
        <xsd:union memberTypes="dms:Text">
          <xsd:simpleType>
            <xsd:restriction base="dms:Choice">
              <xsd:enumeration value="LaTeX"/>
              <xsd:enumeration value="Microsoft Office 2003"/>
              <xsd:enumeration value="Microsoft Office 2007-2013"/>
              <xsd:enumeration value="Microsoft Office 2013/2016"/>
              <xsd:enumeration value="OpenOffice 3.0"/>
            </xsd:restriction>
          </xsd:simpleType>
        </xsd:union>
      </xsd:simpleType>
    </xsd:element>
    <xsd:element name="Kategorie" ma:index="15" nillable="true" ma:displayName="Kategorie" ma:default="Anleitungen" ma:format="Dropdown" ma:internalName="Kategorie">
      <xsd:simpleType>
        <xsd:union memberTypes="dms:Text">
          <xsd:simpleType>
            <xsd:restriction base="dms:Choice">
              <xsd:enumeration value="Anleitungen"/>
              <xsd:enumeration value="Aushänge für Lift und Tür"/>
              <xsd:enumeration value="Basisvorlagen"/>
              <xsd:enumeration value="Brief-/Faxvorlagen"/>
              <xsd:enumeration value="Einladungen"/>
              <xsd:enumeration value="Etiketten"/>
              <xsd:enumeration value="Musterdateien"/>
              <xsd:enumeration value="Namensschilder"/>
              <xsd:enumeration value="Präsentationen"/>
              <xsd:enumeration value="Skripten-Cover"/>
            </xsd:restriction>
          </xsd:simpleType>
        </xsd:union>
      </xsd:simpleType>
    </xsd:element>
  </xsd:schema>
  <xsd:schema xmlns="http://schemas.openxmlformats.org/package/2006/metadata/core-properties" xmlns:xsd="http://www.w3.org/2001/XMLSchema" xmlns:xsi="http://www.w3.org/2001/XMLSchema-instance" xmlns:dc="http://purl.org/dc/elements/1.1/" xmlns:dcterms="http://purl.org/dc/terms/" xmlns:odoc="http://schemas.microsoft.com/internal/obd" targetNamespace="http://schemas.openxmlformats.org/package/2006/metadata/core-properties" elementFormDefault="qualified" attributeFormDefault="unqualified" blockDefault="#all">
    <xsd:import namespace="http://purl.org/dc/elements/1.1/" schemaLocation="http://dublincore.org/schemas/xmls/qdc/2003/04/02/dc.xsd"/>
    <xsd:import namespace="http://purl.org/dc/terms/" schemaLocation="http://dublincore.org/schemas/xmls/qdc/2003/04/02/dcterms.xsd"/>
    <xsd:element name="coreProperties" type="CT_coreProperties"/>
    <xsd:complexType name="CT_coreProperties">
      <xsd:all>
        <xsd:element ref="dc:creator" minOccurs="0" maxOccurs="1"/>
        <xsd:element ref="dcterms:created" minOccurs="0" maxOccurs="1"/>
        <xsd:element ref="dc:identifier" minOccurs="0" maxOccurs="1"/>
        <xsd:element name="contentType" minOccurs="0" maxOccurs="1" type="xsd:string" ma:index="0" ma:displayName="Inhaltstyp"/>
        <xsd:element ref="dc:title" minOccurs="0" maxOccurs="1" ma:index="4" ma:displayName="Titel"/>
        <xsd:element ref="dc:subject" minOccurs="0" maxOccurs="1"/>
        <xsd:element ref="dc:description" minOccurs="0" maxOccurs="1"/>
        <xsd:element name="keywords" minOccurs="0" maxOccurs="1" type="xsd:string"/>
        <xsd:element ref="dc:language" minOccurs="0" maxOccurs="1"/>
        <xsd:element name="category" minOccurs="0" maxOccurs="1" type="xsd:string"/>
        <xsd:element name="version" minOccurs="0" maxOccurs="1" type="xsd:string"/>
        <xsd:element name="revision" minOccurs="0" maxOccurs="1" type="xsd:string">
          <xsd:annotation>
            <xsd:documentation>
                        This value indicates the number of saves or revisions. The application is responsible for updating this value after each revision.
                    </xsd:documentation>
          </xsd:annotation>
        </xsd:element>
        <xsd:element name="lastModifiedBy" minOccurs="0" maxOccurs="1" type="xsd:string"/>
        <xsd:element ref="dcterms:modified" minOccurs="0" maxOccurs="1"/>
        <xsd:element name="contentStatus" minOccurs="0" maxOccurs="1" type="xsd:string"/>
      </xsd:all>
    </xsd:complexType>
  </xsd:schema>
  <xs:schema xmlns:pc="http://schemas.microsoft.com/office/infopath/2007/PartnerControls" xmlns:xs="http://www.w3.org/2001/XMLSchema" targetNamespace="http://schemas.microsoft.com/office/infopath/2007/PartnerControls" elementFormDefault="qualified" attributeFormDefault="unqualified">
    <xs:element name="Person">
      <xs:complexType>
        <xs:sequence>
          <xs:element ref="pc:DisplayName" minOccurs="0"/>
          <xs:element ref="pc:AccountId" minOccurs="0"/>
          <xs:element ref="pc:AccountType" minOccurs="0"/>
        </xs:sequence>
      </xs:complexType>
    </xs:element>
    <xs:element name="DisplayName" type="xs:string"/>
    <xs:element name="AccountId" type="xs:string"/>
    <xs:element name="AccountType" type="xs:string"/>
    <xs:element name="BDCAssociatedEntity">
      <xs:complexType>
        <xs:sequence>
          <xs:element ref="pc:BDCEntity" minOccurs="0" maxOccurs="unbounded"/>
        </xs:sequence>
        <xs:attribute ref="pc:EntityNamespace"/>
        <xs:attribute ref="pc:EntityName"/>
        <xs:attribute ref="pc:SystemInstanceName"/>
        <xs:attribute ref="pc:AssociationName"/>
      </xs:complexType>
    </xs:element>
    <xs:attribute name="EntityNamespace" type="xs:string"/>
    <xs:attribute name="EntityName" type="xs:string"/>
    <xs:attribute name="SystemInstanceName" type="xs:string"/>
    <xs:attribute name="AssociationName" type="xs:string"/>
    <xs:element name="BDCEntity">
      <xs:complexType>
        <xs:sequence>
          <xs:element ref="pc:EntityDisplayName" minOccurs="0"/>
          <xs:element ref="pc:EntityInstanceReference" minOccurs="0"/>
          <xs:element ref="pc:EntityId1" minOccurs="0"/>
          <xs:element ref="pc:EntityId2" minOccurs="0"/>
          <xs:element ref="pc:EntityId3" minOccurs="0"/>
          <xs:element ref="pc:EntityId4" minOccurs="0"/>
          <xs:element ref="pc:EntityId5" minOccurs="0"/>
        </xs:sequence>
      </xs:complexType>
    </xs:element>
    <xs:element name="EntityDisplayName" type="xs:string"/>
    <xs:element name="EntityInstanceReference" type="xs:string"/>
    <xs:element name="EntityId1" type="xs:string"/>
    <xs:element name="EntityId2" type="xs:string"/>
    <xs:element name="EntityId3" type="xs:string"/>
    <xs:element name="EntityId4" type="xs:string"/>
    <xs:element name="EntityId5" type="xs:string"/>
    <xs:element name="Terms">
      <xs:complexType>
        <xs:sequence>
          <xs:element ref="pc:TermInfo" minOccurs="0" maxOccurs="unbounded"/>
        </xs:sequence>
      </xs:complexType>
    </xs:element>
    <xs:element name="TermInfo">
      <xs:complexType>
        <xs:sequence>
          <xs:element ref="pc:TermName" minOccurs="0"/>
          <xs:element ref="pc:TermId" minOccurs="0"/>
        </xs:sequence>
      </xs:complexType>
    </xs:element>
    <xs:element name="TermName" type="xs:string"/>
    <xs:element name="TermId" type="xs:string"/>
  </xs:schema>
</ct:contentTypeSchema>
</file>

<file path=customXml/item3.xml><?xml version="1.0" encoding="utf-8"?>
<?mso-contentType ?>
<FormTemplates xmlns="http://schemas.microsoft.com/sharepoint/v3/contenttype/forms">
  <Display>DocumentLibraryForm</Display>
  <Edit>DocumentLibraryForm</Edit>
  <New>DocumentLibraryForm</New>
</FormTemplates>
</file>

<file path=customXml/itemProps1.xml><?xml version="1.0" encoding="utf-8"?>
<ds:datastoreItem xmlns:ds="http://schemas.openxmlformats.org/officeDocument/2006/customXml" ds:itemID="{95929A89-D8E6-4794-A98F-6609FAAECB3B}">
  <ds:schemaRefs>
    <ds:schemaRef ds:uri="http://schemas.microsoft.com/office/2006/metadata/properties"/>
    <ds:schemaRef ds:uri="http://schemas.microsoft.com/office/infopath/2007/PartnerControls"/>
    <ds:schemaRef ds:uri="dde413db-0745-4f3a-8dca-564dc7ff6f7d"/>
    <ds:schemaRef ds:uri="08b0a3ee-3d2a-451c-9a1a-7e5d5b0c9c77"/>
    <ds:schemaRef ds:uri="1a8d9a65-8471-4209-a900-f8e11db75e0a"/>
  </ds:schemaRefs>
</ds:datastoreItem>
</file>

<file path=customXml/itemProps2.xml><?xml version="1.0" encoding="utf-8"?>
<ds:datastoreItem xmlns:ds="http://schemas.openxmlformats.org/officeDocument/2006/customXml" ds:itemID="{D81AF645-C4BF-4115-A9DE-6B0872647314}">
  <ds:schemaRefs>
    <ds:schemaRef ds:uri="http://schemas.microsoft.com/office/2006/metadata/contentType"/>
    <ds:schemaRef ds:uri="http://schemas.microsoft.com/office/2006/metadata/properties/metaAttributes"/>
    <ds:schemaRef ds:uri="http://www.w3.org/2001/XMLSchema"/>
    <ds:schemaRef ds:uri="http://schemas.microsoft.com/office/2006/metadata/properties"/>
    <ds:schemaRef ds:uri="1a8d9a65-8471-4209-a900-f8e11db75e0a"/>
    <ds:schemaRef ds:uri="08b0a3ee-3d2a-451c-9a1a-7e5d5b0c9c77"/>
    <ds:schemaRef ds:uri="dde413db-0745-4f3a-8dca-564dc7ff6f7d"/>
    <ds:schemaRef ds:uri="http://schemas.microsoft.com/office/2006/documentManagement/types"/>
    <ds:schemaRef ds:uri="http://schemas.microsoft.com/office/infopath/2007/PartnerControls"/>
    <ds:schemaRef ds:uri="http://schemas.openxmlformats.org/package/2006/metadata/core-properties"/>
    <ds:schemaRef ds:uri="http://purl.org/dc/elements/1.1/"/>
    <ds:schemaRef ds:uri="http://purl.org/dc/terms/"/>
    <ds:schemaRef ds:uri="http://schemas.microsoft.com/internal/obd"/>
  </ds:schemaRefs>
</ds:datastoreItem>
</file>

<file path=customXml/itemProps3.xml><?xml version="1.0" encoding="utf-8"?>
<ds:datastoreItem xmlns:ds="http://schemas.openxmlformats.org/officeDocument/2006/customXml" ds:itemID="{E89857B5-BC10-4782-8A0F-717F20E5E229}">
  <ds:schemaRefs>
    <ds:schemaRef ds:uri="http://schemas.microsoft.com/sharepoint/v3/contenttype/forms"/>
  </ds:schemaRefs>
</ds:datastoreItem>
</file>

<file path=docProps/app.xml><?xml version="1.0" encoding="utf-8"?>
<Properties xmlns="http://schemas.openxmlformats.org/officeDocument/2006/extended-properties" xmlns:vt="http://schemas.openxmlformats.org/officeDocument/2006/docPropsVTypes">
  <Template>WU Sample Presentation 16x10</Template>
  <TotalTime>0</TotalTime>
  <Words>1441</Words>
  <Application>Microsoft Office PowerPoint</Application>
  <PresentationFormat>Bildschirmpräsentation (16:10)</PresentationFormat>
  <Paragraphs>207</Paragraphs>
  <Slides>26</Slides>
  <Notes>26</Notes>
  <HiddenSlides>0</HiddenSlides>
  <MMClips>0</MMClips>
  <ScaleCrop>false</ScaleCrop>
  <HeadingPairs>
    <vt:vector size="6" baseType="variant">
      <vt:variant>
        <vt:lpstr>Verwendete Schriftarten</vt:lpstr>
      </vt:variant>
      <vt:variant>
        <vt:i4>4</vt:i4>
      </vt:variant>
      <vt:variant>
        <vt:lpstr>Design</vt:lpstr>
      </vt:variant>
      <vt:variant>
        <vt:i4>1</vt:i4>
      </vt:variant>
      <vt:variant>
        <vt:lpstr>Folientitel</vt:lpstr>
      </vt:variant>
      <vt:variant>
        <vt:i4>26</vt:i4>
      </vt:variant>
    </vt:vector>
  </HeadingPairs>
  <TitlesOfParts>
    <vt:vector size="31" baseType="lpstr">
      <vt:lpstr>Arial</vt:lpstr>
      <vt:lpstr>Georgia</vt:lpstr>
      <vt:lpstr>Verdana</vt:lpstr>
      <vt:lpstr>Wingdings</vt:lpstr>
      <vt:lpstr>WU 16:10</vt:lpstr>
      <vt:lpstr>WU Presentation Template incl. Samples</vt:lpstr>
      <vt:lpstr>Basics</vt:lpstr>
      <vt:lpstr>Available slide layouts – overview</vt:lpstr>
      <vt:lpstr>Make use of the slide layouts</vt:lpstr>
      <vt:lpstr>Designing text slides</vt:lpstr>
      <vt:lpstr>Insert footer information</vt:lpstr>
      <vt:lpstr>Toner- and ink-reduced printing</vt:lpstr>
      <vt:lpstr>Sample Slides</vt:lpstr>
      <vt:lpstr>Layout „Titelfolie“ –  font Georgia 32 pt</vt:lpstr>
      <vt:lpstr>Layout „Titelfolie kurz“</vt:lpstr>
      <vt:lpstr>Layout „Titelfolie ohne Bild“ – for 2 lines of text</vt:lpstr>
      <vt:lpstr>Titleslide w/o pic. short</vt:lpstr>
      <vt:lpstr>Layout „Titelfolie Bild 2“ – for 2 lines of text</vt:lpstr>
      <vt:lpstr>Layout „Titelfolie Bild 3“ – for 2 lines of text</vt:lpstr>
      <vt:lpstr>Layout „Titel und Inhalt“ for title and content – font Georgia 24 pt</vt:lpstr>
      <vt:lpstr>Layout without footer for large graphics, tables or charts</vt:lpstr>
      <vt:lpstr>Layout “Zwei Inhalte” with two placeholders for different content types</vt:lpstr>
      <vt:lpstr>Layout „Vergleich“ – e.g. for comparison</vt:lpstr>
      <vt:lpstr>Sample table</vt:lpstr>
      <vt:lpstr>Sample for simple graphics  (based on SmartArt)</vt:lpstr>
      <vt:lpstr>Sample organizational chart  (based on SmartArt)</vt:lpstr>
      <vt:lpstr>Sample for bar chart </vt:lpstr>
      <vt:lpstr>Sample for column chart </vt:lpstr>
      <vt:lpstr>Sample for line chart </vt:lpstr>
      <vt:lpstr>Sample for doughnut chart </vt:lpstr>
      <vt:lpstr> </vt:lpstr>
    </vt:vector>
  </TitlesOfParts>
  <Manager/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/>
  <cp:revision>1</cp:revision>
  <dcterms:created xsi:type="dcterms:W3CDTF">2023-08-25T07:52:25Z</dcterms:created>
  <dcterms:modified xsi:type="dcterms:W3CDTF">2023-08-25T07:53:01Z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WU Thema">
    <vt:lpwstr>403;#Corporate Design|19895bcd-b158-45ae-ab7b-f5ca217dfcec</vt:lpwstr>
  </property>
  <property fmtid="{D5CDD505-2E9C-101B-9397-08002B2CF9AE}" pid="3" name="Dokumentenart">
    <vt:lpwstr>266;#Vorlagen|17fc50ed-8ad1-47be-ab12-04243fd74ddb</vt:lpwstr>
  </property>
  <property fmtid="{D5CDD505-2E9C-101B-9397-08002B2CF9AE}" pid="4" name="ContentTypeId">
    <vt:lpwstr>0x010100BCF651A35DF3154DB01328AF51148DAE</vt:lpwstr>
  </property>
</Properties>
</file>