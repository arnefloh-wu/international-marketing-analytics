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removePersonalInfoOnSave="1" saveSubsetFonts="1">
  <p:sldMasterIdLst>
    <p:sldMasterId id="2147483660" r:id="rId4"/>
  </p:sldMasterIdLst>
  <p:notesMasterIdLst>
    <p:notesMasterId r:id="rId31"/>
  </p:notesMasterIdLst>
  <p:handoutMasterIdLst>
    <p:handoutMasterId r:id="rId32"/>
  </p:handout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  <p:sldId id="266" r:id="rId23"/>
    <p:sldId id="267" r:id="rId24"/>
    <p:sldId id="268" r:id="rId25"/>
    <p:sldId id="269" r:id="rId26"/>
    <p:sldId id="270" r:id="rId27"/>
    <p:sldId id="271" r:id="rId28"/>
  </p:sldIdLst>
  <p:sldSz cx="9144000" cy="5715000" type="screen16x10"/>
  <p:notesSz cx="6858000" cy="9144000"/>
  <p:custDataLst>
    <p:tags r:id="rId33"/>
  </p:custDataLst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00">
          <p15:clr>
            <a:srgbClr val="A4A3A4"/>
          </p15:clr>
        </p15:guide>
        <p15:guide id="3" pos="4241">
          <p15:clr>
            <a:srgbClr val="A4A3A4"/>
          </p15:clr>
        </p15:guide>
        <p15:guide id="4" pos="4695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9" name="Autor" initials="A" lastIdx="0" clrIdx="8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7EFF7"/>
    <a:srgbClr val="CBDDEF"/>
    <a:srgbClr val="0096D3"/>
    <a:srgbClr val="0C94B7"/>
    <a:srgbClr val="41B4CE"/>
    <a:srgbClr val="73BAD1"/>
    <a:srgbClr val="65B4C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D27102A9-8310-4765-A935-A1911B00CA55}" styleName="Helle Formatvorlage 1 - Akz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3B4B98B0-60AC-42C2-AFA5-B58CD77FA1E5}" styleName="Helle Formatvorlage 1 - Akz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8D230F3-CF80-4859-8CE7-A43EE81993B5}" styleName="Helle Formatvorlage 1 - Akz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Mittlere Formatvorlage 1 - Akz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9" autoAdjust="0"/>
    <p:restoredTop sz="93783" autoAdjust="0"/>
  </p:normalViewPr>
  <p:slideViewPr>
    <p:cSldViewPr snapToGrid="0" showGuides="1">
      <p:cViewPr varScale="1">
        <p:scale>
          <a:sx n="164" d="100"/>
          <a:sy n="164" d="100"/>
        </p:scale>
        <p:origin x="758" y="75"/>
      </p:cViewPr>
      <p:guideLst>
        <p:guide orient="horz" pos="1800"/>
        <p:guide pos="4241"/>
        <p:guide pos="4695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94" d="100"/>
          <a:sy n="94" d="100"/>
        </p:scale>
        <p:origin x="2748" y="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31" Type="http://schemas.openxmlformats.org/officeDocument/2006/relationships/notesMaster" Target="notesMasters/notesMaster1.xml"/><Relationship Id="rId32" Type="http://schemas.openxmlformats.org/officeDocument/2006/relationships/handoutMaster" Target="handoutMasters/handoutMaster1.xml"/><Relationship Id="rId33" Type="http://schemas.openxmlformats.org/officeDocument/2006/relationships/tags" Target="tags/tag1.xml"/><Relationship Id="rId34" Type="http://schemas.openxmlformats.org/officeDocument/2006/relationships/commentAuthors" Target="commentAuthors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 sz="1000" dirty="0"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8817FD-8155-4502-AF78-DBC2EA4B168F}" type="datetimeFigureOut">
              <a:rPr lang="en-GB" sz="1000" smtClean="0">
                <a:latin typeface="Verdana" pitchFamily="34" charset="0"/>
                <a:ea typeface="Verdana" pitchFamily="34" charset="0"/>
                <a:cs typeface="Verdana" pitchFamily="34" charset="0"/>
              </a:rPr>
              <a:t>25/08/2023</a:t>
            </a:fld>
            <a:endParaRPr lang="en-GB" sz="1000" dirty="0"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 sz="1000" dirty="0"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7F6F62-1C91-45E7-BAED-FBFBF67C82BC}" type="slidenum">
              <a:rPr lang="en-GB" sz="1000" smtClean="0">
                <a:latin typeface="Verdana" pitchFamily="34" charset="0"/>
                <a:ea typeface="Verdana" pitchFamily="34" charset="0"/>
                <a:cs typeface="Verdana" pitchFamily="34" charset="0"/>
              </a:rPr>
              <a:t>‹Nr.›</a:t>
            </a:fld>
            <a:endParaRPr lang="en-GB" sz="1000" dirty="0"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5434567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endParaRPr lang="en-GB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fld id="{C0A972FC-F5E0-4F80-B169-F0B5EFC71333}" type="datetimeFigureOut">
              <a:rPr lang="en-GB" smtClean="0"/>
              <a:pPr/>
              <a:t>25/08/2023</a:t>
            </a:fld>
            <a:endParaRPr lang="en-GB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AT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3"/>
            <a:r>
              <a:rPr lang="en-GB" dirty="0" err="1"/>
              <a:t>Vierte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4"/>
            <a:r>
              <a:rPr lang="en-GB" dirty="0" err="1"/>
              <a:t>Fünfte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endParaRPr lang="en-GB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fld id="{219CC2FD-B32F-4992-A15B-F95E2E35C81B}" type="slidenum">
              <a:rPr lang="en-GB" smtClean="0"/>
              <a:pPr/>
              <a:t>‹Nr.›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151365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Verdana" pitchFamily="34" charset="0"/>
        <a:ea typeface="Verdana" pitchFamily="34" charset="0"/>
        <a:cs typeface="Verdana" pitchFamily="34" charset="0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Welcome. This deck explains what the course is about, how it is taught and how it is assessed.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Ice-breaker: who is in the room, which countries, which prior exposure to analytics.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Contact me by e-mail first; office hours are booked through the calendar link on the closing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Twenty years of teaching across WU, Emory, Surrey and JKU; industry background; the private side.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the course as one budget decision studied from five angles. Alpenglow is fictional; the data are synthetic with a known truth revealed in Session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session starts from a manager's question and works backwards to the regression that answers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Outcomes 1 to 6 are the analytical core; 7 to 11 are the working skills.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person, five Tuesdays. Bring your own laptop with the environment installed; a setup clinic runs at the start of Session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numbers refer to the 2025 Python edition of Yildirim and Kübler. Times and rooms are on Canvas.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 components. The group project is the centrepiece; quizzes and check-ins keep everyone on track between sessions.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Both courses are free. The installation check is the command in the setup guide that prints 'ready'.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Quizzes test concepts, not code. Check-ins replicate a lab for another country and are auto-checked before grading.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brief, rubric and starter repository are in the course GitHub organisation.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peer rating form is on Canvas. Each member rates the others; self-ratings are not allowed.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Any questions? Contact details on the card.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1.png"/><Relationship Id="rId4" Type="http://schemas.openxmlformats.org/officeDocument/2006/relationships/image" Target="../media/image4.png"/><Relationship Id="rId20" Type="http://schemas.openxmlformats.org/officeDocument/2006/relationships/hyperlink" Target="mailto:arne.floh@wu.ac.at" TargetMode="External"/><Relationship Id="rId21" Type="http://schemas.openxmlformats.org/officeDocument/2006/relationships/hyperlink" Target="https://calendar.app.google/o4FuKoF1YcarRfnC8" TargetMode="Externa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20" Type="http://schemas.openxmlformats.org/officeDocument/2006/relationships/hyperlink" Target="mailto:arne.floh@wu.ac.at" TargetMode="External"/><Relationship Id="rId21" Type="http://schemas.openxmlformats.org/officeDocument/2006/relationships/hyperlink" Target="https://calendar.app.google/o4FuKoF1YcarRfnC8" TargetMode="External"/><Relationship Id="rId22" Type="http://schemas.openxmlformats.org/officeDocument/2006/relationships/hyperlink" Target="https://www.wu.ac.at/en/welthandel/arne-floh/" TargetMode="Externa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4" name="Rechteck 13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Rechteck 14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 userDrawn="1"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header</a:t>
            </a:r>
          </a:p>
        </p:txBody>
      </p:sp>
      <p:sp>
        <p:nvSpPr>
          <p:cNvPr id="3" name="Untertitel 2"/>
          <p:cNvSpPr>
            <a:spLocks noGrp="1"/>
          </p:cNvSpPr>
          <p:nvPr userDrawn="1"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 baseline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0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941638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baseline="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18" name="Grafik 17">
            <a:extLst>
              <a:ext uri="{FF2B5EF4-FFF2-40B4-BE49-F238E27FC236}">
                <a16:creationId xmlns:a16="http://schemas.microsoft.com/office/drawing/2014/main" id="{35A845CD-2D10-42BB-97DB-CDA723EE9EB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1A49BD17-4238-4565-A4B6-2E20A7C19FA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668977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kurz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uppieren 23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26" name="Rechteck 25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7" name="Rechteck 26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8" y="1294973"/>
            <a:ext cx="5466982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1 line for header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8" y="993080"/>
            <a:ext cx="5466982" cy="304511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6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642906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19" name="Grafik 18">
            <a:extLst>
              <a:ext uri="{FF2B5EF4-FFF2-40B4-BE49-F238E27FC236}">
                <a16:creationId xmlns:a16="http://schemas.microsoft.com/office/drawing/2014/main" id="{BE16B78E-14FB-4C1E-8625-0D5A429E49F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E9B62297-FBCA-40E7-A876-7818F7A81C7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1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462019" y="1344613"/>
            <a:ext cx="7759644" cy="3853905"/>
          </a:xfrm>
        </p:spPr>
        <p:txBody>
          <a:bodyPr lIns="0" rIns="0">
            <a:normAutofit/>
          </a:bodyPr>
          <a:lstStyle>
            <a:lvl1pPr>
              <a:defRPr sz="1600"/>
            </a:lvl1pPr>
            <a:lvl2pPr>
              <a:defRPr sz="15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durch</a:t>
            </a:r>
            <a:r>
              <a:rPr lang="en-GB" dirty="0"/>
              <a:t> </a:t>
            </a:r>
            <a:r>
              <a:rPr lang="en-GB" dirty="0" err="1"/>
              <a:t>Klicken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3"/>
            <a:r>
              <a:rPr lang="en-GB" dirty="0" err="1"/>
              <a:t>Vierte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4"/>
            <a:r>
              <a:rPr lang="en-GB" dirty="0" err="1"/>
              <a:t>Fünfte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0E7AAB-A700-485E-A2FB-EAC3CFB07074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 dirty="0"/>
          </a:p>
        </p:txBody>
      </p:sp>
    </p:spTree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ohne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uppieren 11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6" name="Rechteck 15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Rechteck 16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14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941638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0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tx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sp>
        <p:nvSpPr>
          <p:cNvPr id="13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header</a:t>
            </a:r>
          </a:p>
        </p:txBody>
      </p:sp>
      <p:sp>
        <p:nvSpPr>
          <p:cNvPr id="15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BA9844F5-FA66-4582-86D9-5CEB57D8151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B702B7F6-CDD2-4C6E-BBC1-61A114A8A82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7341" y="5129960"/>
            <a:ext cx="1831485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679611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ohne Bild kur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uppieren 12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15" name="Rechteck 14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Rechteck 16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7" y="1294973"/>
            <a:ext cx="5436000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1 line for header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7" y="993080"/>
            <a:ext cx="5436000" cy="304511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4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642907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tx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A463F4F5-A20D-4A70-B3F9-6AD8A3EE255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2AB68F06-4800-4D63-9DF2-372B23A8EC2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7341" y="5129960"/>
            <a:ext cx="1831485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9268004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Bild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2" name="Rechteck 11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Rechteck 12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10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941638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4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tx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sp>
        <p:nvSpPr>
          <p:cNvPr id="16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header</a:t>
            </a:r>
          </a:p>
        </p:txBody>
      </p:sp>
      <p:sp>
        <p:nvSpPr>
          <p:cNvPr id="17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pic>
        <p:nvPicPr>
          <p:cNvPr id="22" name="Grafik 21">
            <a:extLst>
              <a:ext uri="{FF2B5EF4-FFF2-40B4-BE49-F238E27FC236}">
                <a16:creationId xmlns:a16="http://schemas.microsoft.com/office/drawing/2014/main" id="{330D039B-1A60-42B3-A3E1-B44D86C63C0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25D9B1B1-5069-4351-A01A-8CD097284142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2078111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Bild 2 kurz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uppieren 18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21" name="Rechteck 20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Rechteck 21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7" y="1294973"/>
            <a:ext cx="5436000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1 line for header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7" y="993080"/>
            <a:ext cx="5436000" cy="304511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6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642907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tx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24" name="Grafik 23">
            <a:extLst>
              <a:ext uri="{FF2B5EF4-FFF2-40B4-BE49-F238E27FC236}">
                <a16:creationId xmlns:a16="http://schemas.microsoft.com/office/drawing/2014/main" id="{ABF9D4AB-1FA6-4101-9EE8-B852A65B2A1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DDF8959B-5028-481F-A01F-8628D9F2E0D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1666851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Bild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9" name="Rechteck 18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" name="Rechteck 20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10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941638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4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sp>
        <p:nvSpPr>
          <p:cNvPr id="1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header</a:t>
            </a:r>
          </a:p>
        </p:txBody>
      </p:sp>
      <p:sp>
        <p:nvSpPr>
          <p:cNvPr id="1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pic>
        <p:nvPicPr>
          <p:cNvPr id="23" name="Grafik 22">
            <a:extLst>
              <a:ext uri="{FF2B5EF4-FFF2-40B4-BE49-F238E27FC236}">
                <a16:creationId xmlns:a16="http://schemas.microsoft.com/office/drawing/2014/main" id="{904218C8-068C-46BC-ADE6-6BC8A468BF7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D487AD36-3E46-4F41-8B5C-B79909802DD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8316379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Bild 3 kurz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uppieren 17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21" name="Rechteck 20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Rechteck 21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7" y="1294973"/>
            <a:ext cx="5436000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1 line for header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7" y="993080"/>
            <a:ext cx="5436000" cy="304511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6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642907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63D0D44A-5625-4C70-A2EB-08D982355B9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D91D1A92-B997-47B5-A14A-E2A501C20D0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958111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ap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uppieren 20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22" name="Rechteck 21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3" name="Rechteck 22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14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941638"/>
            <a:ext cx="4284662" cy="620885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 defTabSz="914400">
              <a:buNone/>
              <a:defRPr lang="de-DE" sz="1200" dirty="0" smtClean="0"/>
            </a:lvl1pPr>
          </a:lstStyle>
          <a:p>
            <a:pPr marL="0" lvl="0" defTabSz="914400"/>
            <a:r>
              <a:rPr lang="en-GB" dirty="0"/>
              <a:t>Subtitle chapter</a:t>
            </a:r>
          </a:p>
        </p:txBody>
      </p:sp>
      <p:sp>
        <p:nvSpPr>
          <p:cNvPr id="13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28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chapter header</a:t>
            </a:r>
          </a:p>
        </p:txBody>
      </p:sp>
      <p:sp>
        <p:nvSpPr>
          <p:cNvPr id="2" name="Datumsplatzhalter 1"/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529FDC53-5973-45F2-8F83-ED68F7A58508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pPr/>
              <a:t>‹Nr.›</a:t>
            </a:fld>
            <a:endParaRPr lang="en-GB" dirty="0"/>
          </a:p>
        </p:txBody>
      </p:sp>
      <p:pic>
        <p:nvPicPr>
          <p:cNvPr id="18" name="Grafik 17">
            <a:extLst>
              <a:ext uri="{FF2B5EF4-FFF2-40B4-BE49-F238E27FC236}">
                <a16:creationId xmlns:a16="http://schemas.microsoft.com/office/drawing/2014/main" id="{89CCD104-DEA0-4048-8CA3-CAB740FC066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72F980AF-DDD0-4966-B1E7-E1B87083C7C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7613" y="5351511"/>
            <a:ext cx="1318058" cy="228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2976733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apitelfolie kur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uppieren 12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15" name="Rechteck 14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Rechteck 16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7" y="1302593"/>
            <a:ext cx="5436000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28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1 line for chapter header</a:t>
            </a:r>
          </a:p>
        </p:txBody>
      </p:sp>
      <p:sp>
        <p:nvSpPr>
          <p:cNvPr id="14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642907"/>
            <a:ext cx="4284662" cy="620885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 defTabSz="914400">
              <a:buNone/>
              <a:defRPr lang="de-DE" sz="1200" dirty="0" smtClean="0"/>
            </a:lvl1pPr>
          </a:lstStyle>
          <a:p>
            <a:pPr marL="0" lvl="0" defTabSz="914400"/>
            <a:r>
              <a:rPr lang="en-GB" dirty="0"/>
              <a:t>Subtitle chapter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24570F99-0B5D-40DA-A3D3-DDF1CB693FD8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pPr/>
              <a:t>‹Nr.›</a:t>
            </a:fld>
            <a:endParaRPr lang="en-GB" dirty="0"/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416AA66B-0354-461B-A799-CF3EFFC17D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D0ECE620-FB2B-4217-AA10-439373F15D4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7613" y="5351511"/>
            <a:ext cx="1318058" cy="228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4094613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Inhaltsplatzhalter 6"/>
          <p:cNvSpPr>
            <a:spLocks noGrp="1"/>
          </p:cNvSpPr>
          <p:nvPr>
            <p:ph sz="quarter" idx="10" hasCustomPrompt="1"/>
          </p:nvPr>
        </p:nvSpPr>
        <p:spPr>
          <a:xfrm>
            <a:off x="468316" y="1344613"/>
            <a:ext cx="8210547" cy="4370387"/>
          </a:xfrm>
        </p:spPr>
        <p:txBody>
          <a:bodyPr/>
          <a:lstStyle>
            <a:lvl1pPr>
              <a:buNone/>
              <a:defRPr/>
            </a:lvl1pPr>
          </a:lstStyle>
          <a:p>
            <a:pPr lvl="0"/>
            <a:r>
              <a:rPr lang="en-GB" dirty="0"/>
              <a:t>Placeholder for objects</a:t>
            </a:r>
          </a:p>
        </p:txBody>
      </p:sp>
      <p:sp>
        <p:nvSpPr>
          <p:cNvPr id="8" name="Rechteck 7"/>
          <p:cNvSpPr/>
          <p:nvPr userDrawn="1"/>
        </p:nvSpPr>
        <p:spPr bwMode="gray">
          <a:xfrm>
            <a:off x="0" y="1043522"/>
            <a:ext cx="9144000" cy="25200"/>
          </a:xfrm>
          <a:prstGeom prst="rect">
            <a:avLst/>
          </a:prstGeom>
          <a:solidFill>
            <a:srgbClr val="0C94B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      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293310F7-117D-4045-8610-3277CC5ED29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11621" y="288569"/>
            <a:ext cx="1170000" cy="617280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sz="half" idx="1" hasCustomPrompt="1"/>
          </p:nvPr>
        </p:nvSpPr>
        <p:spPr>
          <a:xfrm>
            <a:off x="462405" y="1344613"/>
            <a:ext cx="3960000" cy="3859212"/>
          </a:xfrm>
        </p:spPr>
        <p:txBody>
          <a:bodyPr>
            <a:normAutofit/>
          </a:bodyPr>
          <a:lstStyle>
            <a:lvl1pPr>
              <a:defRPr sz="1600"/>
            </a:lvl1pPr>
            <a:lvl2pPr marL="541312" indent="-285750">
              <a:buClr>
                <a:schemeClr val="accent1"/>
              </a:buClr>
              <a:buFont typeface="Wingdings" charset="2"/>
              <a:buChar char="§"/>
              <a:defRPr sz="1500"/>
            </a:lvl2pPr>
            <a:lvl3pPr>
              <a:defRPr sz="1400"/>
            </a:lvl3pPr>
            <a:lvl4pPr>
              <a:buClr>
                <a:schemeClr val="accent1"/>
              </a:buClr>
              <a:defRPr sz="1200"/>
            </a:lvl4pPr>
            <a:lvl5pPr>
              <a:defRPr sz="12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4" name="Inhaltsplatzhalter 3"/>
          <p:cNvSpPr>
            <a:spLocks noGrp="1"/>
          </p:cNvSpPr>
          <p:nvPr>
            <p:ph sz="half" idx="2" hasCustomPrompt="1"/>
          </p:nvPr>
        </p:nvSpPr>
        <p:spPr>
          <a:xfrm>
            <a:off x="4715688" y="1344613"/>
            <a:ext cx="3960000" cy="3859212"/>
          </a:xfrm>
        </p:spPr>
        <p:txBody>
          <a:bodyPr>
            <a:normAutofit/>
          </a:bodyPr>
          <a:lstStyle>
            <a:lvl1pPr>
              <a:buClr>
                <a:schemeClr val="accent1"/>
              </a:buClr>
              <a:defRPr sz="1600"/>
            </a:lvl1pPr>
            <a:lvl2pPr marL="541312" indent="-285750">
              <a:buClr>
                <a:schemeClr val="accent1"/>
              </a:buClr>
              <a:buFont typeface="Wingdings" charset="2"/>
              <a:buChar char="§"/>
              <a:defRPr sz="1500"/>
            </a:lvl2pPr>
            <a:lvl3pPr>
              <a:defRPr sz="1400"/>
            </a:lvl3pPr>
            <a:lvl4pPr>
              <a:buClr>
                <a:schemeClr val="accent1"/>
              </a:buClr>
              <a:defRPr sz="1200"/>
            </a:lvl4pPr>
            <a:lvl5pPr>
              <a:buClr>
                <a:schemeClr val="accent1"/>
              </a:buClr>
              <a:defRPr sz="12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FD44FF-326E-4934-AE8D-65DEFF191BB1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9" name="Fußzeilenplatzhalt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10" name="Foliennummernplatzhalt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 dirty="0"/>
          </a:p>
        </p:txBody>
      </p:sp>
    </p:spTree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 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sz="half" idx="1" hasCustomPrompt="1"/>
          </p:nvPr>
        </p:nvSpPr>
        <p:spPr>
          <a:xfrm>
            <a:off x="462405" y="1935991"/>
            <a:ext cx="3960000" cy="3267834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5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4" name="Inhaltsplatzhalter 3"/>
          <p:cNvSpPr>
            <a:spLocks noGrp="1"/>
          </p:cNvSpPr>
          <p:nvPr>
            <p:ph sz="half" idx="2" hasCustomPrompt="1"/>
          </p:nvPr>
        </p:nvSpPr>
        <p:spPr>
          <a:xfrm>
            <a:off x="4715688" y="1935991"/>
            <a:ext cx="3960000" cy="3267834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5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8" name="Textplatzhalter 2"/>
          <p:cNvSpPr>
            <a:spLocks noGrp="1"/>
          </p:cNvSpPr>
          <p:nvPr>
            <p:ph type="body" idx="13" hasCustomPrompt="1"/>
          </p:nvPr>
        </p:nvSpPr>
        <p:spPr bwMode="gray">
          <a:xfrm>
            <a:off x="468314" y="1344613"/>
            <a:ext cx="3960811" cy="533136"/>
          </a:xfr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none"/>
        </p:style>
        <p:txBody>
          <a:bodyPr anchor="ctr" anchorCtr="0">
            <a:noAutofit/>
          </a:bodyPr>
          <a:lstStyle>
            <a:lvl1pPr marL="92066" indent="0">
              <a:buNone/>
              <a:tabLst/>
              <a:defRPr sz="1800" b="1" baseline="0">
                <a:solidFill>
                  <a:schemeClr val="bg1"/>
                </a:solidFill>
                <a:latin typeface="+mj-lt"/>
              </a:defRPr>
            </a:lvl1pPr>
            <a:lvl2pPr marL="457153" indent="0">
              <a:buNone/>
              <a:defRPr sz="2000" b="1"/>
            </a:lvl2pPr>
            <a:lvl3pPr marL="914306" indent="0">
              <a:buNone/>
              <a:defRPr sz="1800" b="1"/>
            </a:lvl3pPr>
            <a:lvl4pPr marL="1371460" indent="0">
              <a:buNone/>
              <a:defRPr sz="1600" b="1"/>
            </a:lvl4pPr>
            <a:lvl5pPr marL="1828613" indent="0">
              <a:buNone/>
              <a:defRPr sz="1600" b="1"/>
            </a:lvl5pPr>
            <a:lvl6pPr marL="2285767" indent="0">
              <a:buNone/>
              <a:defRPr sz="1600" b="1"/>
            </a:lvl6pPr>
            <a:lvl7pPr marL="2742920" indent="0">
              <a:buNone/>
              <a:defRPr sz="1600" b="1"/>
            </a:lvl7pPr>
            <a:lvl8pPr marL="3200073" indent="0">
              <a:buNone/>
              <a:defRPr sz="1600" b="1"/>
            </a:lvl8pPr>
            <a:lvl9pPr marL="3657227" indent="0">
              <a:buNone/>
              <a:defRPr sz="1600" b="1"/>
            </a:lvl9pPr>
          </a:lstStyle>
          <a:p>
            <a:pPr lvl="0"/>
            <a:r>
              <a:rPr lang="en-GB" dirty="0"/>
              <a:t>Subtitle 1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9E16A0E8-29DE-4D75-BF66-2C047D439D41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11" name="Fußzeilenplatzhalter 10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12" name="Foliennummernplatzhalter 11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 dirty="0"/>
          </a:p>
        </p:txBody>
      </p:sp>
      <p:sp>
        <p:nvSpPr>
          <p:cNvPr id="14" name="Textplatzhalter 2"/>
          <p:cNvSpPr>
            <a:spLocks noGrp="1"/>
          </p:cNvSpPr>
          <p:nvPr>
            <p:ph type="body" idx="17" hasCustomPrompt="1"/>
          </p:nvPr>
        </p:nvSpPr>
        <p:spPr bwMode="gray">
          <a:xfrm>
            <a:off x="4727894" y="1344613"/>
            <a:ext cx="3960811" cy="533136"/>
          </a:xfr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none"/>
        </p:style>
        <p:txBody>
          <a:bodyPr anchor="ctr" anchorCtr="0">
            <a:noAutofit/>
          </a:bodyPr>
          <a:lstStyle>
            <a:lvl1pPr marL="92066" indent="0">
              <a:buNone/>
              <a:tabLst/>
              <a:defRPr sz="1800" b="1" baseline="0">
                <a:solidFill>
                  <a:schemeClr val="bg1"/>
                </a:solidFill>
                <a:latin typeface="+mj-lt"/>
              </a:defRPr>
            </a:lvl1pPr>
            <a:lvl2pPr marL="457153" indent="0">
              <a:buNone/>
              <a:defRPr sz="2000" b="1"/>
            </a:lvl2pPr>
            <a:lvl3pPr marL="914306" indent="0">
              <a:buNone/>
              <a:defRPr sz="1800" b="1"/>
            </a:lvl3pPr>
            <a:lvl4pPr marL="1371460" indent="0">
              <a:buNone/>
              <a:defRPr sz="1600" b="1"/>
            </a:lvl4pPr>
            <a:lvl5pPr marL="1828613" indent="0">
              <a:buNone/>
              <a:defRPr sz="1600" b="1"/>
            </a:lvl5pPr>
            <a:lvl6pPr marL="2285767" indent="0">
              <a:buNone/>
              <a:defRPr sz="1600" b="1"/>
            </a:lvl6pPr>
            <a:lvl7pPr marL="2742920" indent="0">
              <a:buNone/>
              <a:defRPr sz="1600" b="1"/>
            </a:lvl7pPr>
            <a:lvl8pPr marL="3200073" indent="0">
              <a:buNone/>
              <a:defRPr sz="1600" b="1"/>
            </a:lvl8pPr>
            <a:lvl9pPr marL="3657227" indent="0">
              <a:buNone/>
              <a:defRPr sz="1600" b="1"/>
            </a:lvl9pPr>
          </a:lstStyle>
          <a:p>
            <a:pPr lvl="0"/>
            <a:r>
              <a:rPr lang="en-GB" dirty="0"/>
              <a:t>Subtitle 2</a:t>
            </a:r>
          </a:p>
        </p:txBody>
      </p:sp>
    </p:spTree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luss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4"/>
          <p:cNvSpPr/>
          <p:nvPr/>
        </p:nvSpPr>
        <p:spPr>
          <a:xfrm>
            <a:off x="467544" y="1964530"/>
            <a:ext cx="4319712" cy="2716954"/>
          </a:xfrm>
          <a:prstGeom prst="rect">
            <a:avLst/>
          </a:prstGeom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91431" tIns="45715" rIns="91431" bIns="45715" rtlCol="0" anchor="ctr"/>
          <a:lstStyle/>
          <a:p>
            <a:pPr algn="ctr"/>
            <a:endParaRPr lang="en-GB" dirty="0"/>
          </a:p>
        </p:txBody>
      </p:sp>
      <p:pic>
        <p:nvPicPr>
          <p:cNvPr id="7" name="Grafik 6" descr="Logo-für-VK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611560" y="2127250"/>
            <a:ext cx="492443" cy="2252663"/>
          </a:xfrm>
          <a:prstGeom prst="rect">
            <a:avLst/>
          </a:prstGeom>
        </p:spPr>
      </p:pic>
      <p:sp>
        <p:nvSpPr>
          <p:cNvPr id="11" name="Textplatzhalter 10"/>
          <p:cNvSpPr>
            <a:spLocks noGrp="1"/>
          </p:cNvSpPr>
          <p:nvPr>
            <p:ph type="body" sz="quarter" idx="10" hasCustomPrompt="1"/>
          </p:nvPr>
        </p:nvSpPr>
        <p:spPr>
          <a:xfrm>
            <a:off x="1684020" y="2559843"/>
            <a:ext cx="2763926" cy="1811291"/>
          </a:xfrm>
        </p:spPr>
        <p:txBody>
          <a:bodyPr>
            <a:normAutofit/>
          </a:bodyPr>
          <a:lstStyle>
            <a:lvl1pPr marL="0" marR="0" indent="0" algn="l" defTabSz="91430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2582"/>
              </a:buClr>
              <a:buSzTx/>
              <a:buFont typeface="Wingdings" pitchFamily="2" charset="2"/>
              <a:buNone/>
              <a:tabLst/>
              <a:defRPr sz="1100" baseline="0"/>
            </a:lvl1pPr>
            <a:lvl2pPr marL="0" indent="0">
              <a:buNone/>
              <a:defRPr/>
            </a:lvl2pPr>
            <a:lvl3pPr marL="0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marL="0" marR="0" lvl="0" indent="0" algn="l" defTabSz="91430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2582"/>
              </a:buClr>
              <a:buSzTx/>
              <a:buFont typeface="Wingdings" pitchFamily="2" charset="2"/>
              <a:buNone/>
              <a:tabLst/>
              <a:defRPr/>
            </a:pPr>
            <a:r>
              <a:rPr kumimoji="0" lang="en-GB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Hier</a:t>
            </a:r>
            <a:r>
              <a:rPr kumimoji="0" lang="en-GB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GB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Adressdaten</a:t>
            </a:r>
            <a:r>
              <a:rPr kumimoji="0" lang="en-GB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GB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eingeben</a:t>
            </a:r>
            <a:endParaRPr kumimoji="0" lang="en-GB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8" name="Datumsplatzhalter 7"/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D1DA7DE9-F6B6-4FDA-A00F-1221D494593B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9" name="Fußzeilenplatzhalter 8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10" name="Foliennummernplatzhalter 9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</p:spTree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Kontak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4" name="Rechteck 13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Rechteck 14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 userDrawn="1"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header</a:t>
            </a:r>
          </a:p>
        </p:txBody>
      </p:sp>
      <p:sp>
        <p:nvSpPr>
          <p:cNvPr id="3" name="Untertitel 2"/>
          <p:cNvSpPr>
            <a:spLocks noGrp="1"/>
          </p:cNvSpPr>
          <p:nvPr userDrawn="1"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 baseline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0" name="Kontaktdaten"/>
          <p:cNvSpPr>
            <a:spLocks noGrp="1"/>
          </p:cNvSpPr>
          <p:nvPr userDrawn="1"/>
        </p:nvSpPr>
        <p:spPr bwMode="white">
          <a:xfrm>
            <a:off x="287338" y="2941638"/>
            <a:ext cx="4284662" cy="1400000"/>
          </a:xfrm>
          <a:prstGeom prst="rect">
            <a:avLst/>
          </a:prstGeom>
          <a:solidFill>
            <a:srgbClr val="FFFFFF">
              <a:alpha val="90000"/>
            </a:srgbClr>
          </a:solidFill>
          <a:ln>
            <a:noFill/>
          </a:ln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baseline="0" dirty="0" smtClean="0"/>
            </a:lvl1pPr>
          </a:lstStyle>
          <a:p>
            <a:pPr marL="0" indent="0">
              <a:buNone/>
            </a:pPr>
            <a:r>
              <a:rPr lang="en-GB" sz="1100" dirty="0">
                <a:solidFill>
                  <a:srgbClr val="000000"/>
                </a:solidFill>
                <a:latin typeface="+mn-lt"/>
              </a:rPr>
              <a:t>Dr Arne Floh, Senior Lecturer in Marketing</a:t>
            </a:r>
          </a:p>
          <a:p>
            <a:pPr marL="0" indent="0">
              <a:buNone/>
            </a:pPr>
            <a:r>
              <a:rPr lang="en-GB" sz="1100" dirty="0">
                <a:solidFill>
                  <a:srgbClr val="000000"/>
                </a:solidFill>
                <a:latin typeface="+mn-lt"/>
              </a:rPr>
              <a:t>WU Vienna, Institute for International Business</a:t>
            </a:r>
          </a:p>
          <a:p>
            <a:pPr marL="0" indent="0">
              <a:buNone/>
            </a:pPr>
            <a:r>
              <a:rPr lang="en-GB" sz="1100" dirty="0">
                <a:solidFill>
                  <a:srgbClr val="000000"/>
                </a:solidFill>
                <a:latin typeface="+mn-lt"/>
                <a:hlinkClick r:id="rId20"/>
              </a:rPr>
              <a:t>arne.floh@wu.ac.at</a:t>
            </a:r>
          </a:p>
          <a:p>
            <a:pPr marL="0" indent="0">
              <a:buNone/>
            </a:pPr>
            <a:r>
              <a:rPr lang="en-GB" sz="1100" dirty="0">
                <a:solidFill>
                  <a:srgbClr val="000000"/>
                </a:solidFill>
                <a:latin typeface="+mn-lt"/>
                <a:hlinkClick r:id="rId21"/>
              </a:rPr>
              <a:t>Office hours: book online (Google Calendar)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18" name="Grafik 17">
            <a:extLst>
              <a:ext uri="{FF2B5EF4-FFF2-40B4-BE49-F238E27FC236}">
                <a16:creationId xmlns:a16="http://schemas.microsoft.com/office/drawing/2014/main" id="{35A845CD-2D10-42BB-97DB-CDA723EE9EB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1A49BD17-4238-4565-A4B6-2E20A7C19FA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668977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und Bild mit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sz="half" idx="1" hasCustomPrompt="1"/>
          </p:nvPr>
        </p:nvSpPr>
        <p:spPr>
          <a:xfrm>
            <a:off x="462405" y="1344613"/>
            <a:ext cx="3960000" cy="3859212"/>
          </a:xfrm>
        </p:spPr>
        <p:txBody>
          <a:bodyPr>
            <a:normAutofit/>
          </a:bodyPr>
          <a:lstStyle>
            <a:lvl1pPr>
              <a:defRPr sz="1600"/>
            </a:lvl1pPr>
            <a:lvl2pPr marL="541312" indent="-285750">
              <a:buClr>
                <a:schemeClr val="accent1"/>
              </a:buClr>
              <a:buFont typeface="Wingdings" charset="2"/>
              <a:buChar char="§"/>
              <a:defRPr sz="1500"/>
            </a:lvl2pPr>
            <a:lvl3pPr>
              <a:defRPr sz="1400"/>
            </a:lvl3pPr>
            <a:lvl4pPr>
              <a:buClr>
                <a:schemeClr val="accent1"/>
              </a:buClr>
              <a:defRPr sz="1200"/>
            </a:lvl4pPr>
            <a:lvl5pPr>
              <a:defRPr sz="12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4" name="Bildplatzhalter 3"/>
          <p:cNvSpPr>
            <a:spLocks noGrp="1"/>
          </p:cNvSpPr>
          <p:nvPr>
            <p:ph type="pic" sz="half" idx="2" hasCustomPrompt="1"/>
          </p:nvPr>
        </p:nvSpPr>
        <p:spPr>
          <a:xfrm>
            <a:off x="4715688" y="1344613"/>
            <a:ext cx="3960000" cy="3859212"/>
          </a:xfrm>
        </p:spPr>
        <p:txBody>
          <a:bodyPr anchor="ctr"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icon to add picture</a:t>
            </a:r>
          </a:p>
        </p:txBody>
      </p:sp>
      <p:sp>
        <p:nvSpPr>
          <p:cNvPr id="20" name="Logoplatzhalter 19"/>
          <p:cNvSpPr>
            <a:spLocks noGrp="1"/>
          </p:cNvSpPr>
          <p:nvPr>
            <p:ph type="pic" sz="quarter" idx="13" hasCustomPrompt="1"/>
          </p:nvPr>
        </p:nvSpPr>
        <p:spPr>
          <a:xfrm>
            <a:off x="7715688" y="4243825"/>
            <a:ext cx="860000" cy="860000"/>
          </a:xfrm>
        </p:spPr>
        <p:txBody>
          <a:bodyPr anchor="ctr"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Logo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FD44FF-326E-4934-AE8D-65DEFF191BB1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9" name="Fußzeilenplatzhalt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10" name="Foliennummernplatzhalt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 dirty="0"/>
          </a:p>
        </p:txBody>
      </p:sp>
    </p:spTree>
  </p:cSld>
  <p:clrMapOvr>
    <a:masterClrMapping/>
  </p:clrMapOvr>
  <p:transition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Tabel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type="tbl" idx="1" hasCustomPrompt="1"/>
          </p:nvPr>
        </p:nvSpPr>
        <p:spPr>
          <a:xfrm>
            <a:off x="462019" y="1344613"/>
            <a:ext cx="7759644" cy="3853905"/>
          </a:xfrm>
        </p:spPr>
        <p:txBody>
          <a:bodyPr lIns="0" rIns="0">
            <a:normAutofit/>
          </a:bodyPr>
          <a:lstStyle>
            <a:lvl1pPr>
              <a:defRPr sz="1600"/>
            </a:lvl1pPr>
            <a:lvl2pPr>
              <a:defRPr sz="15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marL="0" indent="0">
              <a:buNone/>
            </a:pPr>
            <a:r>
              <a:rPr lang="en-GB" dirty="0"/>
              <a:t>Click icon to add table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0E7AAB-A700-485E-A2FB-EAC3CFB07074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 dirty="0"/>
          </a:p>
        </p:txBody>
      </p:sp>
    </p:spTree>
  </p:cSld>
  <p:clrMapOvr>
    <a:masterClrMapping/>
  </p:clrMapOvr>
  <p:transition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lussfolie Kontak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4"/>
          <p:cNvSpPr/>
          <p:nvPr/>
        </p:nvSpPr>
        <p:spPr>
          <a:xfrm>
            <a:off x="467544" y="1964530"/>
            <a:ext cx="4319712" cy="2716954"/>
          </a:xfrm>
          <a:prstGeom prst="rect">
            <a:avLst/>
          </a:prstGeom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91431" tIns="45715" rIns="91431" bIns="45715" rtlCol="0" anchor="ctr"/>
          <a:lstStyle/>
          <a:p>
            <a:pPr algn="ctr"/>
            <a:endParaRPr lang="en-GB" dirty="0"/>
          </a:p>
        </p:txBody>
      </p:sp>
      <p:pic>
        <p:nvPicPr>
          <p:cNvPr id="7" name="Grafik 6" descr="Logo-für-VK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611560" y="2127250"/>
            <a:ext cx="492443" cy="2252663"/>
          </a:xfrm>
          <a:prstGeom prst="rect">
            <a:avLst/>
          </a:prstGeom>
        </p:spPr>
      </p:pic>
      <p:sp>
        <p:nvSpPr>
          <p:cNvPr id="11" name="Kontaktdaten"/>
          <p:cNvSpPr>
            <a:spLocks noGrp="1"/>
          </p:cNvSpPr>
          <p:nvPr userDrawn="1"/>
        </p:nvSpPr>
        <p:spPr>
          <a:xfrm>
            <a:off x="1684020" y="2559843"/>
            <a:ext cx="2763926" cy="1811291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91430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2582"/>
              </a:buClr>
              <a:buSzTx/>
              <a:buFont typeface="Wingdings" pitchFamily="2" charset="2"/>
              <a:buNone/>
              <a:tabLst/>
              <a:defRPr sz="1100" baseline="0"/>
            </a:lvl1pPr>
            <a:lvl2pPr marL="0" indent="0">
              <a:buNone/>
              <a:defRPr/>
            </a:lvl2pPr>
            <a:lvl3pPr marL="0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marL="0" indent="0">
              <a:buNone/>
            </a:pPr>
            <a:r>
              <a:rPr lang="en-GB" sz="1000" b="1" dirty="0">
                <a:solidFill>
                  <a:srgbClr val="000000"/>
                </a:solidFill>
                <a:latin typeface="+mn-lt"/>
              </a:rPr>
              <a:t>INSTITUTE FOR INTERNATIONAL BUSINESS</a:t>
            </a:r>
          </a:p>
          <a:p>
            <a:pPr marL="0" indent="0">
              <a:buNone/>
            </a:pPr>
            <a:r>
              <a:rPr lang="en-GB" sz="1000" dirty="0">
                <a:solidFill>
                  <a:srgbClr val="000000"/>
                </a:solidFill>
                <a:latin typeface="+mn-lt"/>
              </a:rPr>
              <a:t>Welthandelsplatz 1, 1020 Vienna, Austria</a:t>
            </a:r>
          </a:p>
          <a:p>
            <a:pPr marL="0" indent="0">
              <a:buNone/>
            </a:pPr>
            <a:endParaRPr lang="en-GB" sz="1000" dirty="0"/>
          </a:p>
          <a:p>
            <a:pPr marL="0" indent="0">
              <a:buNone/>
            </a:pPr>
            <a:r>
              <a:rPr lang="en-GB" sz="1000" b="1" dirty="0">
                <a:solidFill>
                  <a:srgbClr val="000000"/>
                </a:solidFill>
                <a:latin typeface="+mn-lt"/>
              </a:rPr>
              <a:t>DR ARNE FLOH</a:t>
            </a:r>
          </a:p>
          <a:p>
            <a:pPr marL="0" indent="0">
              <a:buNone/>
            </a:pPr>
            <a:r>
              <a:rPr lang="en-GB" sz="1000" dirty="0">
                <a:solidFill>
                  <a:srgbClr val="000000"/>
                </a:solidFill>
                <a:latin typeface="+mn-lt"/>
              </a:rPr>
              <a:t>Senior Lecturer in Marketing</a:t>
            </a:r>
          </a:p>
          <a:p>
            <a:pPr marL="0" indent="0">
              <a:buNone/>
            </a:pPr>
            <a:endParaRPr lang="en-GB" sz="1000" dirty="0"/>
          </a:p>
          <a:p>
            <a:pPr marL="0" indent="0">
              <a:buNone/>
            </a:pPr>
            <a:r>
              <a:rPr lang="en-GB" sz="1000" dirty="0">
                <a:solidFill>
                  <a:srgbClr val="000000"/>
                </a:solidFill>
                <a:latin typeface="+mn-lt"/>
              </a:rPr>
              <a:t>F +43-31336-6367</a:t>
            </a:r>
          </a:p>
          <a:p>
            <a:pPr marL="0" indent="0">
              <a:buNone/>
            </a:pPr>
            <a:r>
              <a:rPr lang="en-GB" sz="1000" dirty="0">
                <a:solidFill>
                  <a:srgbClr val="000000"/>
                </a:solidFill>
                <a:latin typeface="+mn-lt"/>
                <a:hlinkClick r:id="rId20"/>
              </a:rPr>
              <a:t>arne.floh@wu.ac.at</a:t>
            </a:r>
          </a:p>
          <a:p>
            <a:pPr marL="0" indent="0">
              <a:buNone/>
            </a:pPr>
            <a:r>
              <a:rPr lang="en-GB" sz="900" dirty="0">
                <a:solidFill>
                  <a:srgbClr val="000000"/>
                </a:solidFill>
                <a:latin typeface="+mn-lt"/>
                <a:hlinkClick r:id="rId22"/>
              </a:rPr>
              <a:t>www.wu.ac.at/en/welthandel/arne-floh</a:t>
            </a:r>
          </a:p>
          <a:p>
            <a:pPr marL="0" indent="0">
              <a:buNone/>
            </a:pPr>
            <a:r>
              <a:rPr lang="en-GB" sz="1000" dirty="0">
                <a:solidFill>
                  <a:srgbClr val="000000"/>
                </a:solidFill>
                <a:latin typeface="+mn-lt"/>
                <a:hlinkClick r:id="rId21"/>
              </a:rPr>
              <a:t>Office hours: book online</a:t>
            </a:r>
          </a:p>
        </p:txBody>
      </p:sp>
      <p:sp>
        <p:nvSpPr>
          <p:cNvPr id="8" name="Datumsplatzhalter 7"/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D1DA7DE9-F6B6-4FDA-A00F-1221D494593B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9" name="Fußzeilenplatzhalter 8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10" name="Foliennummernplatzhalter 9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</p:spTree>
  </p:cSld>
  <p:clrMapOvr>
    <a:masterClrMapping/>
  </p:clrMapOvr>
  <p:transition>
    <p:fade/>
  </p:transition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Relationship Id="rId17" Type="http://schemas.openxmlformats.org/officeDocument/2006/relationships/image" Target="../media/image1.png"/><Relationship Id="rId18" Type="http://schemas.openxmlformats.org/officeDocument/2006/relationships/image" Target="../media/image2.png"/><Relationship Id="rId19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17.xml"/><Relationship Id="rId21" Type="http://schemas.openxmlformats.org/officeDocument/2006/relationships/slideLayout" Target="../slideLayouts/slideLayout18.xml"/><Relationship Id="rId22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457200" y="1344613"/>
            <a:ext cx="7764463" cy="3859212"/>
          </a:xfrm>
          <a:prstGeom prst="rect">
            <a:avLst/>
          </a:prstGeom>
        </p:spPr>
        <p:txBody>
          <a:bodyPr vert="horz" lIns="0" tIns="45715" rIns="0" bIns="45715" rtlCol="0">
            <a:normAutofit/>
          </a:bodyPr>
          <a:lstStyle/>
          <a:p>
            <a:pPr lvl="0"/>
            <a:r>
              <a:rPr lang="en-GB" dirty="0" err="1"/>
              <a:t>Textmasterformate</a:t>
            </a:r>
            <a:r>
              <a:rPr lang="en-GB" dirty="0"/>
              <a:t> </a:t>
            </a:r>
            <a:r>
              <a:rPr lang="en-GB" dirty="0" err="1"/>
              <a:t>durch</a:t>
            </a:r>
            <a:r>
              <a:rPr lang="en-GB" dirty="0"/>
              <a:t> </a:t>
            </a:r>
            <a:r>
              <a:rPr lang="en-GB" dirty="0" err="1"/>
              <a:t>Klicken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3"/>
            <a:r>
              <a:rPr lang="en-GB" dirty="0" err="1"/>
              <a:t>Vierte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4"/>
            <a:r>
              <a:rPr lang="en-GB" dirty="0" err="1"/>
              <a:t>Fünfte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5" name="Fußzeilenplatzhalter 4"/>
          <p:cNvSpPr>
            <a:spLocks noGrp="1"/>
          </p:cNvSpPr>
          <p:nvPr userDrawn="1">
            <p:ph type="ftr" sz="quarter" idx="3"/>
          </p:nvPr>
        </p:nvSpPr>
        <p:spPr>
          <a:xfrm>
            <a:off x="1354561" y="5412059"/>
            <a:ext cx="3217443" cy="258085"/>
          </a:xfrm>
          <a:prstGeom prst="rect">
            <a:avLst/>
          </a:prstGeom>
        </p:spPr>
        <p:txBody>
          <a:bodyPr vert="horz" lIns="91431" tIns="45715" rIns="91431" bIns="45715" rtlCol="0" anchor="ctr"/>
          <a:lstStyle>
            <a:lvl1pPr algn="l">
              <a:defRPr sz="80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GB" dirty="0"/>
              <a:t>Sample Footer</a:t>
            </a:r>
          </a:p>
        </p:txBody>
      </p:sp>
      <p:sp>
        <p:nvSpPr>
          <p:cNvPr id="6" name="Foliennummernplatzhalter 5"/>
          <p:cNvSpPr>
            <a:spLocks noGrp="1"/>
          </p:cNvSpPr>
          <p:nvPr userDrawn="1">
            <p:ph type="sldNum" sz="quarter" idx="4"/>
          </p:nvPr>
        </p:nvSpPr>
        <p:spPr>
          <a:xfrm>
            <a:off x="462407" y="5412059"/>
            <a:ext cx="892150" cy="258085"/>
          </a:xfrm>
          <a:prstGeom prst="rect">
            <a:avLst/>
          </a:prstGeom>
        </p:spPr>
        <p:txBody>
          <a:bodyPr vert="horz" lIns="0" tIns="45715" rIns="0" bIns="45715" rtlCol="0" anchor="ctr"/>
          <a:lstStyle>
            <a:lvl1pPr algn="l">
              <a:defRPr sz="80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GB" dirty="0"/>
              <a:t>Page </a:t>
            </a:r>
            <a:fld id="{BE3DC40E-DBBE-4E2D-9EEC-FBF0DA0E9179}" type="slidenum">
              <a:rPr lang="en-GB" smtClean="0"/>
              <a:pPr/>
              <a:t>‹Nr.›</a:t>
            </a:fld>
            <a:endParaRPr lang="en-GB" dirty="0"/>
          </a:p>
        </p:txBody>
      </p:sp>
      <p:sp>
        <p:nvSpPr>
          <p:cNvPr id="7" name="Datumsplatzhalter 6"/>
          <p:cNvSpPr>
            <a:spLocks noGrp="1"/>
          </p:cNvSpPr>
          <p:nvPr userDrawn="1">
            <p:ph type="dt" sz="half" idx="2"/>
          </p:nvPr>
        </p:nvSpPr>
        <p:spPr>
          <a:xfrm>
            <a:off x="5745181" y="5412059"/>
            <a:ext cx="987407" cy="258085"/>
          </a:xfrm>
          <a:prstGeom prst="rect">
            <a:avLst/>
          </a:prstGeom>
        </p:spPr>
        <p:txBody>
          <a:bodyPr vert="horz" lIns="0" tIns="45715" rIns="0" bIns="45715" rtlCol="0" anchor="ctr"/>
          <a:lstStyle>
            <a:lvl1pPr algn="r">
              <a:defRPr lang="de-DE" sz="800" kern="1200" cap="all" baseline="0" smtClean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fld id="{AD672231-DCCE-48E5-AF73-62895FE58BB4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18" name="Rechteck 17"/>
          <p:cNvSpPr/>
          <p:nvPr userDrawn="1"/>
        </p:nvSpPr>
        <p:spPr bwMode="gray">
          <a:xfrm>
            <a:off x="0" y="1043522"/>
            <a:ext cx="9144000" cy="25200"/>
          </a:xfrm>
          <a:prstGeom prst="rect">
            <a:avLst/>
          </a:prstGeom>
          <a:solidFill>
            <a:srgbClr val="0C94B7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      </a:t>
            </a:r>
          </a:p>
        </p:txBody>
      </p:sp>
      <p:sp>
        <p:nvSpPr>
          <p:cNvPr id="15" name="Titelplatzhalter 14"/>
          <p:cNvSpPr>
            <a:spLocks noGrp="1"/>
          </p:cNvSpPr>
          <p:nvPr userDrawn="1">
            <p:ph type="title"/>
          </p:nvPr>
        </p:nvSpPr>
        <p:spPr bwMode="auto">
          <a:xfrm>
            <a:off x="462408" y="139700"/>
            <a:ext cx="6840000" cy="903822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/>
          <a:p>
            <a:r>
              <a:rPr lang="en-GB" dirty="0" err="1"/>
              <a:t>Titelmasterformat</a:t>
            </a:r>
            <a:r>
              <a:rPr lang="en-GB" dirty="0"/>
              <a:t> </a:t>
            </a:r>
            <a:r>
              <a:rPr lang="en-GB" dirty="0" err="1"/>
              <a:t>durch</a:t>
            </a:r>
            <a:r>
              <a:rPr lang="en-GB" dirty="0"/>
              <a:t> </a:t>
            </a:r>
            <a:br>
              <a:rPr lang="en-GB" dirty="0"/>
            </a:br>
            <a:r>
              <a:rPr lang="en-GB" dirty="0" err="1"/>
              <a:t>Klicken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49925201-EC66-4A08-AB14-A541648A67DE}"/>
              </a:ext>
            </a:extLst>
          </p:cNvPr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7711621" y="288569"/>
            <a:ext cx="1170000" cy="617280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0A212EC7-C80F-4EBC-9817-97C85E0A8AEB}"/>
              </a:ext>
            </a:extLst>
          </p:cNvPr>
          <p:cNvPicPr>
            <a:picLocks noChangeAspect="1"/>
          </p:cNvPicPr>
          <p:nvPr userDrawn="1"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7613" y="5351511"/>
            <a:ext cx="1318058" cy="228552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61" r:id="rId2"/>
    <p:sldLayoutId id="2147483663" r:id="rId3"/>
    <p:sldLayoutId id="2147483675" r:id="rId4"/>
    <p:sldLayoutId id="2147483676" r:id="rId5"/>
    <p:sldLayoutId id="2147483686" r:id="rId6"/>
    <p:sldLayoutId id="2147483687" r:id="rId7"/>
    <p:sldLayoutId id="2147483681" r:id="rId8"/>
    <p:sldLayoutId id="2147483682" r:id="rId9"/>
    <p:sldLayoutId id="2147483688" r:id="rId10"/>
    <p:sldLayoutId id="2147483691" r:id="rId11"/>
    <p:sldLayoutId id="2147483664" r:id="rId12"/>
    <p:sldLayoutId id="2147483667" r:id="rId13"/>
    <p:sldLayoutId id="2147483668" r:id="rId14"/>
    <p:sldLayoutId id="2147483670" r:id="rId15"/>
    <p:sldLayoutId id="2147483692" r:id="rId19"/>
    <p:sldLayoutId id="2147483693" r:id="rId20"/>
    <p:sldLayoutId id="2147483694" r:id="rId21"/>
    <p:sldLayoutId id="2147483695" r:id="rId22"/>
  </p:sldLayoutIdLst>
  <p:transition>
    <p:fade/>
  </p:transition>
  <p:hf hdr="0" dt="0"/>
  <p:txStyles>
    <p:titleStyle>
      <a:lvl1pPr algn="l" defTabSz="914306" rtl="0" eaLnBrk="1" latinLnBrk="0" hangingPunct="1">
        <a:lnSpc>
          <a:spcPct val="100000"/>
        </a:lnSpc>
        <a:spcBef>
          <a:spcPct val="0"/>
        </a:spcBef>
        <a:buNone/>
        <a:defRPr sz="2400" b="1" kern="1200">
          <a:solidFill>
            <a:schemeClr val="tx1"/>
          </a:solidFill>
          <a:latin typeface="Georgia" charset="0"/>
          <a:ea typeface="Georgia" charset="0"/>
          <a:cs typeface="Georgia" charset="0"/>
        </a:defRPr>
      </a:lvl1pPr>
    </p:titleStyle>
    <p:bodyStyle>
      <a:lvl1pPr marL="266700" indent="-266700" algn="l" defTabSz="914306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Clr>
          <a:schemeClr val="accent1"/>
        </a:buClr>
        <a:buFont typeface="Wingdings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539750" indent="-273050" algn="l" defTabSz="914306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Clr>
          <a:schemeClr val="accent1"/>
        </a:buClr>
        <a:buSzPct val="100000"/>
        <a:buFont typeface="Wingdings" charset="2"/>
        <a:buChar char="§"/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814388" indent="-273050" algn="l" defTabSz="914306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Clr>
          <a:schemeClr val="accent1"/>
        </a:buClr>
        <a:buFont typeface="Wingdings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074738" indent="-266700" algn="l" defTabSz="914306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Clr>
          <a:schemeClr val="accent1"/>
        </a:buClr>
        <a:buFont typeface="Wingdings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341438" indent="-263525" algn="l" defTabSz="914306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Clr>
          <a:schemeClr val="accent1"/>
        </a:buClr>
        <a:buFont typeface="Wingdings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343" indent="-228577" algn="l" defTabSz="914306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496" indent="-228577" algn="l" defTabSz="914306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650" indent="-228577" algn="l" defTabSz="914306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803" indent="-228577" algn="l" defTabSz="914306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53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06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460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613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767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920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073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227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2880" userDrawn="1">
          <p15:clr>
            <a:srgbClr val="F26B43"/>
          </p15:clr>
        </p15:guide>
        <p15:guide id="3" pos="288" userDrawn="1">
          <p15:clr>
            <a:srgbClr val="F26B43"/>
          </p15:clr>
        </p15:guide>
        <p15:guide id="4" pos="5179" userDrawn="1">
          <p15:clr>
            <a:srgbClr val="F26B43"/>
          </p15:clr>
        </p15:guide>
        <p15:guide id="5" pos="5467" userDrawn="1">
          <p15:clr>
            <a:srgbClr val="F26B43"/>
          </p15:clr>
        </p15:guide>
        <p15:guide id="7" orient="horz" pos="3278" userDrawn="1">
          <p15:clr>
            <a:srgbClr val="F26B43"/>
          </p15:clr>
        </p15:guide>
        <p15:guide id="9" orient="horz" pos="182" userDrawn="1">
          <p15:clr>
            <a:srgbClr val="F26B43"/>
          </p15:clr>
        </p15:guide>
        <p15:guide id="10" orient="horz" pos="847" userDrawn="1">
          <p15:clr>
            <a:srgbClr val="F26B43"/>
          </p15:clr>
        </p15:guide>
        <p15:guide id="11" orient="horz" pos="3515" userDrawn="1">
          <p15:clr>
            <a:srgbClr val="F26B43"/>
          </p15:clr>
        </p15:guide>
        <p15:guide id="12" orient="horz" pos="1097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9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0.tif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1.png"/><Relationship Id="rId4" Type="http://schemas.openxmlformats.org/officeDocument/2006/relationships/image" Target="../media/image12.jpg"/><Relationship Id="rId5" Type="http://schemas.openxmlformats.org/officeDocument/2006/relationships/image" Target="../media/image13.jpg"/><Relationship Id="rId6" Type="http://schemas.openxmlformats.org/officeDocument/2006/relationships/image" Target="../media/image14.jpg"/><Relationship Id="rId7" Type="http://schemas.openxmlformats.org/officeDocument/2006/relationships/image" Target="../media/image15.jpg"/><Relationship Id="rId8" Type="http://schemas.openxmlformats.org/officeDocument/2006/relationships/image" Target="../media/image16.png"/><Relationship Id="rId9" Type="http://schemas.openxmlformats.org/officeDocument/2006/relationships/image" Target="../media/image17.png"/><Relationship Id="rId10" Type="http://schemas.openxmlformats.org/officeDocument/2006/relationships/image" Target="../media/image18.png"/><Relationship Id="rId11" Type="http://schemas.openxmlformats.org/officeDocument/2006/relationships/image" Target="../media/image19.png"/><Relationship Id="rId12" Type="http://schemas.openxmlformats.org/officeDocument/2006/relationships/image" Target="../media/image20.jpg"/><Relationship Id="rId13" Type="http://schemas.openxmlformats.org/officeDocument/2006/relationships/image" Target="../media/image21.png"/><Relationship Id="rId14" Type="http://schemas.openxmlformats.org/officeDocument/2006/relationships/image" Target="../media/image22.png"/><Relationship Id="rId15" Type="http://schemas.openxmlformats.org/officeDocument/2006/relationships/image" Target="../media/image2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/>
              <a:t>International Marketing Analytics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/>
              <a:t>Course content and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rPr lang="en-GB"/>
              <a:t>Winter term 2026/27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The journey begins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05500F1D-363A-4E04-BE29-68808B4A23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0330" y="1455357"/>
            <a:ext cx="6623339" cy="368069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/>
            <a:r>
              <a:rPr b="1" sz="1400" lang="en-GB"/>
              <a:t>Position: </a:t>
            </a:r>
            <a:r>
              <a:rPr sz="1400" lang="en-GB"/>
              <a:t>Senior Lecturer in International Marketing, Institute for International Business, WU Vienna</a:t>
            </a:r>
          </a:p>
          <a:p>
            <a:pPr/>
            <a:r>
              <a:rPr b="1" sz="1400" lang="en-GB"/>
              <a:t>Also: </a:t>
            </a:r>
            <a:r>
              <a:rPr sz="1400" lang="en-GB"/>
              <a:t>Deputy Programme Director, Export and Internationalisation Management</a:t>
            </a:r>
          </a:p>
          <a:p>
            <a:pPr/>
            <a:r>
              <a:rPr b="1" sz="1400" lang="en-GB"/>
              <a:t>Teaching: </a:t>
            </a:r>
            <a:r>
              <a:rPr sz="1400" lang="en-GB"/>
              <a:t>International Marketing, Marketing Analytics, Digital Marketing and Social Media, Entrepreneurial Marketing</a:t>
            </a:r>
          </a:p>
          <a:p>
            <a:pPr/>
            <a:r>
              <a:rPr b="1" sz="1400" lang="en-GB"/>
              <a:t>Research: </a:t>
            </a:r>
            <a:r>
              <a:rPr sz="1400" lang="en-GB"/>
              <a:t>Consumer behaviour, relationship marketing, electronic marketing and social media</a:t>
            </a:r>
          </a:p>
          <a:p>
            <a:pPr/>
            <a:r>
              <a:rPr b="1" sz="1400" lang="en-GB"/>
              <a:t>Contact: </a:t>
            </a:r>
            <a:r>
              <a:rPr sz="1400" lang="en-GB"/>
              <a:t>arne.floh@wu.ac.at, office hours by appointment (see closing slide)</a:t>
            </a:r>
          </a:p>
        </p:txBody>
      </p:sp>
      <p:pic>
        <p:nvPicPr>
          <p:cNvPr id="3" name="Picture Placeholder 2" descr="image.tiff"/>
          <p:cNvPicPr>
            <a:picLocks noGrp="1" noChangeAspect="1"/>
          </p:cNvPicPr>
          <p:nvPr>
            <p:ph type="pic" idx="2" sz="half"/>
          </p:nvPr>
        </p:nvPicPr>
        <p:blipFill>
          <a:blip r:embed="rId3"/>
          <a:srcRect l="24188" r="24188"/>
          <a:stretch>
            <a:fillRect/>
          </a:stretch>
        </p:blipFill>
        <p:spPr/>
      </p:pic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Instructor: Dr Arne Floh</a:t>
            </a:r>
          </a:p>
        </p:txBody>
      </p:sp>
      <p:sp>
        <p:nvSpPr>
          <p:cNvPr id="9" name="Fußzeilenplatzhalt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10" name="Foliennummernplatzhalt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/>
            <a:r>
              <a:rPr b="1" sz="1600" lang="en-GB"/>
              <a:t>Experience: </a:t>
            </a:r>
            <a:r>
              <a:rPr sz="1600" lang="en-GB"/>
              <a:t>international and industry background, more than 20 years of teaching</a:t>
            </a:r>
          </a:p>
          <a:p>
            <a:pPr/>
            <a:r>
              <a:rPr b="1" sz="1600" lang="en-GB"/>
              <a:t>Supervision: </a:t>
            </a:r>
            <a:r>
              <a:rPr sz="1600" lang="en-GB"/>
              <a:t>BSc, MSc and PhD theses</a:t>
            </a:r>
          </a:p>
          <a:p>
            <a:pPr/>
            <a:r>
              <a:rPr b="1" sz="1600" lang="en-GB"/>
              <a:t>Private: </a:t>
            </a:r>
            <a:r>
              <a:rPr sz="1600" lang="en-GB"/>
              <a:t>football, electronic gadgets, Austrian wine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Instructor: background</a:t>
            </a:r>
          </a:p>
        </p:txBody>
      </p:sp>
      <p:sp>
        <p:nvSpPr>
          <p:cNvPr id="9" name="Fußzeilenplatzhalt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10" name="Foliennummernplatzhalt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9AD777D6-022F-4E02-9047-529909299B70}"/>
              </a:ext>
            </a:extLst>
          </p:cNvPr>
          <p:cNvGrpSpPr/>
          <p:nvPr/>
        </p:nvGrpSpPr>
        <p:grpSpPr>
          <a:xfrm>
            <a:off x="4899664" y="1595494"/>
            <a:ext cx="3339791" cy="2979295"/>
            <a:chOff x="4860032" y="887872"/>
            <a:chExt cx="4007749" cy="3575154"/>
          </a:xfrm>
        </p:grpSpPr>
        <p:pic>
          <p:nvPicPr>
            <p:cNvPr id="8" name="Picture 5">
              <a:extLst>
                <a:ext uri="{FF2B5EF4-FFF2-40B4-BE49-F238E27FC236}">
                  <a16:creationId xmlns:a16="http://schemas.microsoft.com/office/drawing/2014/main" id="{B20435F2-0841-4617-84F5-0C069C5B7A1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43523" b="18973"/>
            <a:stretch>
              <a:fillRect/>
            </a:stretch>
          </p:blipFill>
          <p:spPr bwMode="auto">
            <a:xfrm>
              <a:off x="5787371" y="1099352"/>
              <a:ext cx="1216417" cy="19880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xmlns="" w="9525" algn="ctr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9" name="Picture 7" descr="C:\Users\FLOH01\Documents\Diverses\Social Media Marketing.jpg">
              <a:extLst>
                <a:ext uri="{FF2B5EF4-FFF2-40B4-BE49-F238E27FC236}">
                  <a16:creationId xmlns:a16="http://schemas.microsoft.com/office/drawing/2014/main" id="{748A9F97-126D-4B75-8FE0-16A3FBA3C9A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963544" y="2787773"/>
              <a:ext cx="1065511" cy="77381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" name="Picture 8" descr="C:\Users\FLOH01\Documents\Diverses\CustLoy.jpg">
              <a:extLst>
                <a:ext uri="{FF2B5EF4-FFF2-40B4-BE49-F238E27FC236}">
                  <a16:creationId xmlns:a16="http://schemas.microsoft.com/office/drawing/2014/main" id="{9F9E079F-0FD9-4D44-A202-E4A6EDDA71D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541539" y="2787773"/>
              <a:ext cx="773630" cy="77363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" name="Picture 9" descr="C:\Users\FLOH01\Documents\Diverses\Maradona.jpg">
              <a:extLst>
                <a:ext uri="{FF2B5EF4-FFF2-40B4-BE49-F238E27FC236}">
                  <a16:creationId xmlns:a16="http://schemas.microsoft.com/office/drawing/2014/main" id="{4D115C44-4118-40BB-A76E-053C6D127F5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966273" y="3803687"/>
              <a:ext cx="973879" cy="6480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" name="Picture 10" descr="C:\Users\FLOH01\Documents\Diverses\iPhone.jpg">
              <a:extLst>
                <a:ext uri="{FF2B5EF4-FFF2-40B4-BE49-F238E27FC236}">
                  <a16:creationId xmlns:a16="http://schemas.microsoft.com/office/drawing/2014/main" id="{2AF1D26F-471E-485B-92E1-5F56E09F5F1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449960" y="3814954"/>
              <a:ext cx="865209" cy="6480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1">
              <a:extLst>
                <a:ext uri="{FF2B5EF4-FFF2-40B4-BE49-F238E27FC236}">
                  <a16:creationId xmlns:a16="http://schemas.microsoft.com/office/drawing/2014/main" id="{2811658E-DCEA-43DC-A67D-1128A0E89A3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7760113" y="3792420"/>
              <a:ext cx="1000978" cy="670606"/>
            </a:xfrm>
            <a:prstGeom prst="rect">
              <a:avLst/>
            </a:prstGeom>
          </p:spPr>
        </p:pic>
        <p:pic>
          <p:nvPicPr>
            <p:cNvPr id="14" name="Grafik 13">
              <a:extLst>
                <a:ext uri="{FF2B5EF4-FFF2-40B4-BE49-F238E27FC236}">
                  <a16:creationId xmlns:a16="http://schemas.microsoft.com/office/drawing/2014/main" id="{B408EE01-B542-4660-B0D3-FBD43BA77E22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5014331" y="1533006"/>
              <a:ext cx="773040" cy="1081777"/>
            </a:xfrm>
            <a:prstGeom prst="rect">
              <a:avLst/>
            </a:prstGeom>
          </p:spPr>
        </p:pic>
        <p:pic>
          <p:nvPicPr>
            <p:cNvPr id="15" name="Grafik 14">
              <a:extLst>
                <a:ext uri="{FF2B5EF4-FFF2-40B4-BE49-F238E27FC236}">
                  <a16:creationId xmlns:a16="http://schemas.microsoft.com/office/drawing/2014/main" id="{6C149411-6646-4881-AC51-37581FA3471F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6055491" y="1516809"/>
              <a:ext cx="788937" cy="1070809"/>
            </a:xfrm>
            <a:prstGeom prst="rect">
              <a:avLst/>
            </a:prstGeom>
          </p:spPr>
        </p:pic>
        <p:pic>
          <p:nvPicPr>
            <p:cNvPr id="16" name="Grafik 15">
              <a:extLst>
                <a:ext uri="{FF2B5EF4-FFF2-40B4-BE49-F238E27FC236}">
                  <a16:creationId xmlns:a16="http://schemas.microsoft.com/office/drawing/2014/main" id="{B7E81BED-3E73-4767-B869-CF72D9B7D00E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7117000" y="1533006"/>
              <a:ext cx="804099" cy="1070809"/>
            </a:xfrm>
            <a:prstGeom prst="rect">
              <a:avLst/>
            </a:prstGeom>
          </p:spPr>
        </p:pic>
        <p:pic>
          <p:nvPicPr>
            <p:cNvPr id="17" name="Picture 2" descr="Entrepreneurial Marketing">
              <a:extLst>
                <a:ext uri="{FF2B5EF4-FFF2-40B4-BE49-F238E27FC236}">
                  <a16:creationId xmlns:a16="http://schemas.microsoft.com/office/drawing/2014/main" id="{D1D91749-54D0-4728-BD44-4530B7260F0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190054" y="1536593"/>
              <a:ext cx="677727" cy="107080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8" name="Grafik 17">
              <a:extLst>
                <a:ext uri="{FF2B5EF4-FFF2-40B4-BE49-F238E27FC236}">
                  <a16:creationId xmlns:a16="http://schemas.microsoft.com/office/drawing/2014/main" id="{0E861A12-FBD5-4375-9D5E-B3F3E3AAED11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4860032" y="887872"/>
              <a:ext cx="760584" cy="570439"/>
            </a:xfrm>
            <a:prstGeom prst="rect">
              <a:avLst/>
            </a:prstGeom>
          </p:spPr>
        </p:pic>
        <p:pic>
          <p:nvPicPr>
            <p:cNvPr id="19" name="Grafik 18">
              <a:extLst>
                <a:ext uri="{FF2B5EF4-FFF2-40B4-BE49-F238E27FC236}">
                  <a16:creationId xmlns:a16="http://schemas.microsoft.com/office/drawing/2014/main" id="{DCA1A994-C935-43CE-93F8-29BFA8C45184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7169217" y="1019689"/>
              <a:ext cx="804099" cy="307801"/>
            </a:xfrm>
            <a:prstGeom prst="rect">
              <a:avLst/>
            </a:prstGeom>
          </p:spPr>
        </p:pic>
        <p:pic>
          <p:nvPicPr>
            <p:cNvPr id="20" name="Grafik 19">
              <a:extLst>
                <a:ext uri="{FF2B5EF4-FFF2-40B4-BE49-F238E27FC236}">
                  <a16:creationId xmlns:a16="http://schemas.microsoft.com/office/drawing/2014/main" id="{DA807570-9906-45C3-9264-3AD85B5FD105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8137160" y="991802"/>
              <a:ext cx="730419" cy="413904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b="1" sz="1400" lang="en-GB"/>
              <a:t>Marketing analytics </a:t>
            </a:r>
            <a:r>
              <a:rPr sz="1400" lang="en-GB"/>
              <a:t>turns marketing data into decisions: which markets to invest in, how to price, how much to spend on which channel, and whether it worked.</a:t>
            </a:r>
          </a:p>
          <a:p>
            <a:pPr/>
            <a:r>
              <a:rPr b="1" sz="1400" lang="en-GB"/>
              <a:t>One question dominates </a:t>
            </a:r>
            <a:r>
              <a:rPr sz="1400" lang="en-GB"/>
              <a:t>international marketing budgets today: how should a fixed media budget be split across countries and channels?</a:t>
            </a:r>
          </a:p>
          <a:p>
            <a:pPr/>
            <a:r>
              <a:rPr b="1" sz="1400" lang="en-GB"/>
              <a:t>Marketing mix modelling (MMM) </a:t>
            </a:r>
            <a:r>
              <a:rPr sz="1400" lang="en-GB"/>
              <a:t>is back at the centre of this debate since privacy changes made user-level tracking unreliable. Managers who can read, challenge and commission these models hold the budget conversation.</a:t>
            </a:r>
          </a:p>
          <a:p>
            <a:pPr/>
            <a:r>
              <a:rPr b="1" sz="1400" lang="en-GB"/>
              <a:t>One running case: </a:t>
            </a:r>
            <a:r>
              <a:rPr sz="1400" lang="en-GB"/>
              <a:t>Alpenglow, a Vienna-based premium chocolate brand active in six European markets (AT, DE, FR, IT, NL, PL).</a:t>
            </a:r>
          </a:p>
          <a:p>
            <a:pPr/>
            <a:r>
              <a:rPr b="1" sz="1400" lang="en-GB"/>
              <a:t>Python with AI assistants: </a:t>
            </a:r>
            <a:r>
              <a:rPr sz="1400" lang="en-GB"/>
              <a:t>the assistant does most of the typing; you learn to specify, run, check and communicate analyses.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Module content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400" lang="en-GB"/>
              <a:t>Each session starts from a decision an international marketing manager has to take and works backwards to the model that answers it.</a:t>
            </a:r>
          </a:p>
          <a:p>
            <a:pPr>
              <a:buNone/>
            </a:pPr>
            <a:r>
              <a:rPr sz="1400" lang="en-GB"/>
              <a:t/>
            </a:r>
          </a:p>
          <a:p>
            <a:pPr/>
            <a:r>
              <a:rPr b="1" sz="1400" lang="en-GB"/>
              <a:t>Session 1: </a:t>
            </a:r>
            <a:r>
              <a:rPr sz="1400" lang="en-GB"/>
              <a:t>Is our price too high in Poland? Price and promotion elasticities across countries</a:t>
            </a:r>
          </a:p>
          <a:p>
            <a:pPr/>
            <a:r>
              <a:rPr b="1" sz="1400" lang="en-GB"/>
              <a:t>Session 2: </a:t>
            </a:r>
            <a:r>
              <a:rPr sz="1400" lang="en-GB"/>
              <a:t>What did TV do for us in Germany? Carryover, saturation and return on ad spend</a:t>
            </a:r>
          </a:p>
          <a:p>
            <a:pPr/>
            <a:r>
              <a:rPr b="1" sz="1400" lang="en-GB"/>
              <a:t>Session 3: </a:t>
            </a:r>
            <a:r>
              <a:rPr sz="1400" lang="en-GB"/>
              <a:t>Where should the next euro go? Budget allocation across six countries and five channels</a:t>
            </a:r>
          </a:p>
          <a:p>
            <a:pPr/>
            <a:r>
              <a:rPr b="1" sz="1400" lang="en-GB"/>
              <a:t>Session 4: </a:t>
            </a:r>
            <a:r>
              <a:rPr sz="1400" lang="en-GB"/>
              <a:t>Can we trust the model? Sales forecasts, geo-lift experiments and multi-market attribution</a:t>
            </a:r>
          </a:p>
          <a:p>
            <a:pPr/>
            <a:r>
              <a:rPr b="1" sz="1400" lang="en-GB"/>
              <a:t>Session 5: </a:t>
            </a:r>
            <a:r>
              <a:rPr sz="1400" lang="en-GB"/>
              <a:t>Board meeting: the groups pitch and defend their 2027 budget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Five sessions, five decisions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sz="1300" lang="en-GB"/>
              <a:t>On successful completion of this module, students will be able to:</a:t>
            </a:r>
          </a:p>
          <a:p>
            <a:pPr>
              <a:buNone/>
              <a:buNone/>
            </a:pPr>
            <a:r>
              <a:rPr sz="1300" lang="en-GB"/>
              <a:t/>
            </a:r>
          </a:p>
          <a:p>
            <a:pPr marL="342900" indent="-342900">
              <a:buFont typeface="+mj-lt"/>
              <a:buAutoNum type="arabicPeriod"/>
            </a:pPr>
            <a:r>
              <a:rPr b="1" sz="1300" lang="en-GB"/>
              <a:t>Explain marketing mix modelling: </a:t>
            </a:r>
            <a:r>
              <a:rPr sz="1300" lang="en-GB"/>
              <a:t>carryover (adstock), saturation, baseline versus incremental sales, ROAS versus marginal ROAS.</a:t>
            </a:r>
          </a:p>
          <a:p>
            <a:pPr marL="342900" indent="-342900">
              <a:buFont typeface="+mj-lt"/>
              <a:buAutoNum type="arabicPeriod"/>
            </a:pPr>
            <a:r>
              <a:rPr b="1" sz="1300" lang="en-GB"/>
              <a:t>Estimate market response models: </a:t>
            </a:r>
            <a:r>
              <a:rPr sz="1300" lang="en-GB"/>
              <a:t>specify, estimate and diagnose regression models in Python, from OLS and log-log elasticities to panel fixed effects and hierarchical Bayesian MMM.</a:t>
            </a:r>
          </a:p>
          <a:p>
            <a:pPr marL="342900" indent="-342900">
              <a:buFont typeface="+mj-lt"/>
              <a:buAutoNum type="arabicPeriod"/>
            </a:pPr>
            <a:r>
              <a:rPr b="1" sz="1300" lang="en-GB"/>
              <a:t>Allocate budgets across markets: </a:t>
            </a:r>
            <a:r>
              <a:rPr sz="1300" lang="en-GB"/>
              <a:t>translate model output into a cross-country, cross-channel allocation and defend it under uncertainty.</a:t>
            </a:r>
          </a:p>
          <a:p>
            <a:pPr marL="342900" indent="-342900">
              <a:buFont typeface="+mj-lt"/>
              <a:buAutoNum type="arabicPeriod"/>
            </a:pPr>
            <a:r>
              <a:rPr b="1" sz="1300" lang="en-GB"/>
              <a:t>Forecast sales: </a:t>
            </a:r>
            <a:r>
              <a:rPr sz="1300" lang="en-GB"/>
              <a:t>produce and evaluate short-term forecasts as the baseline for planning.</a:t>
            </a:r>
          </a:p>
          <a:p>
            <a:pPr marL="342900" indent="-342900">
              <a:buFont typeface="+mj-lt"/>
              <a:buAutoNum type="arabicPeriod"/>
            </a:pPr>
            <a:r>
              <a:rPr b="1" sz="1300" lang="en-GB"/>
              <a:t>Design experiments: </a:t>
            </a:r>
            <a:r>
              <a:rPr sz="1300" lang="en-GB"/>
              <a:t>design and analyse a geo-lift test and use it to validate and calibrate an MMM.</a:t>
            </a:r>
          </a:p>
          <a:p>
            <a:pPr marL="342900" indent="-342900">
              <a:buFont typeface="+mj-lt"/>
              <a:buAutoNum type="arabicPeriod"/>
            </a:pPr>
            <a:r>
              <a:rPr b="1" sz="1300" lang="en-GB"/>
              <a:t>Compare attribution approaches: </a:t>
            </a:r>
            <a:r>
              <a:rPr sz="1300" lang="en-GB"/>
              <a:t>explain why last-touch, regression-based and Shapley attribution disagree across markets.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outcomes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+mj-lt"/>
              <a:buAutoNum type="arabicPeriod" startAt="7"/>
            </a:pPr>
            <a:r>
              <a:rPr b="1" sz="1400" lang="en-GB"/>
              <a:t>Work reproducibly: </a:t>
            </a:r>
            <a:r>
              <a:rPr sz="1400" lang="en-GB"/>
              <a:t>use Python, Positron, Quarto and GitHub to build analyses that colleagues can rerun and audit.</a:t>
            </a:r>
          </a:p>
          <a:p>
            <a:pPr marL="342900" indent="-342900">
              <a:buFont typeface="+mj-lt"/>
              <a:buAutoNum type="arabicPeriod" startAt="7"/>
            </a:pPr>
            <a:r>
              <a:rPr b="1" sz="1400" lang="en-GB"/>
              <a:t>Use AI assistants responsibly: </a:t>
            </a:r>
            <a:r>
              <a:rPr sz="1400" lang="en-GB"/>
              <a:t>direct an AI coding assistant, verify its output and document the prompts behind an analysis.</a:t>
            </a:r>
          </a:p>
          <a:p>
            <a:pPr marL="342900" indent="-342900">
              <a:buFont typeface="+mj-lt"/>
              <a:buAutoNum type="arabicPeriod" startAt="7"/>
            </a:pPr>
            <a:r>
              <a:rPr b="1" sz="1400" lang="en-GB"/>
              <a:t>Communicate: </a:t>
            </a:r>
            <a:r>
              <a:rPr sz="1400" lang="en-GB"/>
              <a:t>present analytical findings to a board audience in a written report and a pitch.</a:t>
            </a:r>
          </a:p>
          <a:p>
            <a:pPr marL="342900" indent="-342900">
              <a:buFont typeface="+mj-lt"/>
              <a:buAutoNum type="arabicPeriod" startAt="7"/>
            </a:pPr>
            <a:r>
              <a:rPr b="1" sz="1400" lang="en-GB"/>
              <a:t>Work in teams: </a:t>
            </a:r>
            <a:r>
              <a:rPr sz="1400" lang="en-GB"/>
              <a:t>collaborate in version-controlled analytical work and take collective data-driven decisions.</a:t>
            </a:r>
          </a:p>
          <a:p>
            <a:pPr marL="342900" indent="-342900">
              <a:buFont typeface="+mj-lt"/>
              <a:buAutoNum type="arabicPeriod" startAt="7"/>
            </a:pPr>
            <a:r>
              <a:rPr b="1" sz="1400" lang="en-GB"/>
              <a:t>Think critically: </a:t>
            </a:r>
            <a:r>
              <a:rPr sz="1400" lang="en-GB"/>
              <a:t>evaluate data sources, model assumptions and findings in the context of international marketing.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Learning outcomes (continued)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/>
            <a:r>
              <a:rPr sz="1400" lang="en-GB"/>
              <a:t>Five in-person sessions on Tuesdays, 6 October to 3 November 2026</a:t>
            </a:r>
          </a:p>
          <a:p>
            <a:pPr/>
            <a:r>
              <a:rPr sz="1400" lang="en-GB"/>
              <a:t>Concept lecture (60 min), guided lab in Positron (90 min), team exercise on the project data (60 min), debrief</a:t>
            </a:r>
          </a:p>
          <a:p>
            <a:pPr/>
            <a:r>
              <a:rPr sz="1400" lang="en-GB"/>
              <a:t>Coding is AI-assisted: your laptop, your assistant, your checks</a:t>
            </a:r>
          </a:p>
          <a:p>
            <a:pPr/>
            <a:r>
              <a:rPr sz="1400" lang="en-GB"/>
              <a:t>Everything lives in GitHub: pull, commit and push from Session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/>
            <a:r>
              <a:rPr sz="1400" lang="en-GB"/>
              <a:t>Read the book chapters and session materials in advance</a:t>
            </a:r>
          </a:p>
          <a:p>
            <a:pPr/>
            <a:r>
              <a:rPr sz="1400" lang="en-GB"/>
              <a:t>Online quiz after each of Sessions 1 to 4</a:t>
            </a:r>
          </a:p>
          <a:p>
            <a:pPr/>
            <a:r>
              <a:rPr sz="1400" lang="en-GB"/>
              <a:t>Lab check-ins after Sessions 2 and 4</a:t>
            </a:r>
          </a:p>
          <a:p>
            <a:pPr/>
            <a:r>
              <a:rPr sz="1400" lang="en-GB"/>
              <a:t>Group project work in your team repository; consulting hours on request</a:t>
            </a:r>
          </a:p>
          <a:p>
            <a:pPr/>
            <a:r>
              <a:rPr sz="1400" lang="en-GB"/>
              <a:t>Q&amp;A forum on Canvas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rPr lang="en-GB"/>
              <a:t>In the classroom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Methods of teaching and learning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/>
          </p:nvPr>
        </p:nvSpPr>
        <p:spPr/>
        <p:txBody>
          <a:bodyPr/>
          <a:lstStyle/>
          <a:p>
            <a:r>
              <a:rPr lang="en-GB"/>
              <a:t>Between sessions</a:t>
            </a:r>
          </a:p>
        </p:txBody>
      </p:sp>
      <p:sp>
        <p:nvSpPr>
          <p:cNvPr id="11" name="Fußzeilenplatzhalter 10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12" name="Foliennummernplatzhalter 11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Placeholder 1"/>
          <p:cNvGraphicFramePr>
            <a:graphicFrameLocks noGrp="1"/>
          </p:cNvGraphicFramePr>
          <p:nvPr>
            <p:ph type="tbl" idx="1"/>
          </p:nvPr>
        </p:nvGraphicFramePr>
        <p:xfrm>
          <a:off x="462019" y="1344613"/>
          <a:ext cx="772668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960120"/>
                <a:gridCol w="2240280"/>
                <a:gridCol w="2514600"/>
                <a:gridCol w="1005840"/>
              </a:tblGrid>
              <a:tr h="370840">
                <a:tc>
                  <a:txBody>
                    <a:bodyPr/>
                    <a:lstStyle/>
                    <a:p>
                      <a:r>
                        <a:rPr sz="1200" lang="en-GB"/>
                        <a:t>Session</a:t>
                      </a:r>
                    </a:p>
                  </a:txBody>
                  <a:tcPr marT="36000" marB="36000"/>
                </a:tc>
                <a:tc>
                  <a:txBody>
                    <a:bodyPr/>
                    <a:lstStyle/>
                    <a:p>
                      <a:r>
                        <a:rPr sz="1200" lang="en-GB"/>
                        <a:t>Date</a:t>
                      </a:r>
                    </a:p>
                  </a:txBody>
                  <a:tcPr marT="36000" marB="36000"/>
                </a:tc>
                <a:tc>
                  <a:txBody>
                    <a:bodyPr/>
                    <a:lstStyle/>
                    <a:p>
                      <a:r>
                        <a:rPr sz="1200" lang="en-GB"/>
                        <a:t>Topic</a:t>
                      </a:r>
                    </a:p>
                  </a:txBody>
                  <a:tcPr marT="36000" marB="36000"/>
                </a:tc>
                <a:tc>
                  <a:txBody>
                    <a:bodyPr/>
                    <a:lstStyle/>
                    <a:p>
                      <a:r>
                        <a:rPr sz="1200" lang="en-GB"/>
                        <a:t>Methods</a:t>
                      </a:r>
                    </a:p>
                  </a:txBody>
                  <a:tcPr marT="36000" marB="36000"/>
                </a:tc>
                <a:tc>
                  <a:txBody>
                    <a:bodyPr/>
                    <a:lstStyle/>
                    <a:p>
                      <a:r>
                        <a:rPr sz="1200" lang="en-GB"/>
                        <a:t>Chapter</a:t>
                      </a:r>
                    </a:p>
                  </a:txBody>
                  <a:tcPr marT="36000" marB="36000"/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200" lang="en-GB"/>
                        <a:t>1</a:t>
                      </a:r>
                    </a:p>
                  </a:txBody>
                  <a:tcPr marT="36000" marB="36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lang="en-GB"/>
                        <a:t>Tue 6 Oct</a:t>
                      </a:r>
                    </a:p>
                  </a:txBody>
                  <a:tcPr marT="36000" marB="36000"/>
                </a:tc>
                <a:tc>
                  <a:txBody>
                    <a:bodyPr/>
                    <a:lstStyle/>
                    <a:p>
                      <a:r>
                        <a:rPr sz="1200" lang="en-GB"/>
                        <a:t>Course content and style, toolkit, regression foundations</a:t>
                      </a:r>
                    </a:p>
                  </a:txBody>
                  <a:tcPr marT="36000" marB="36000"/>
                </a:tc>
                <a:tc>
                  <a:txBody>
                    <a:bodyPr/>
                    <a:lstStyle/>
                    <a:p>
                      <a:r>
                        <a:rPr sz="1200" lang="en-GB"/>
                        <a:t>Descriptive statistics, OLS, log-log elasticities, dummies and interactions</a:t>
                      </a:r>
                    </a:p>
                  </a:txBody>
                  <a:tcPr marT="36000" marB="36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lang="en-GB"/>
                        <a:t>1, 11</a:t>
                      </a:r>
                    </a:p>
                  </a:txBody>
                  <a:tcPr marT="36000" marB="36000"/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200" lang="en-GB"/>
                        <a:t>2</a:t>
                      </a:r>
                    </a:p>
                  </a:txBody>
                  <a:tcPr marT="36000" marB="36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lang="en-GB"/>
                        <a:t>Tue 13 Oct</a:t>
                      </a:r>
                    </a:p>
                  </a:txBody>
                  <a:tcPr marT="36000" marB="36000"/>
                </a:tc>
                <a:tc>
                  <a:txBody>
                    <a:bodyPr/>
                    <a:lstStyle/>
                    <a:p>
                      <a:r>
                        <a:rPr sz="1200" lang="en-GB"/>
                        <a:t>Marketing mix modelling I: one country</a:t>
                      </a:r>
                    </a:p>
                  </a:txBody>
                  <a:tcPr marT="36000" marB="36000"/>
                </a:tc>
                <a:tc>
                  <a:txBody>
                    <a:bodyPr/>
                    <a:lstStyle/>
                    <a:p>
                      <a:r>
                        <a:rPr sz="1200" lang="en-GB"/>
                        <a:t>Adstock, saturation, decomposition, ROAS, diagnostics</a:t>
                      </a:r>
                    </a:p>
                  </a:txBody>
                  <a:tcPr marT="36000" marB="36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lang="en-GB"/>
                        <a:t>3</a:t>
                      </a:r>
                    </a:p>
                  </a:txBody>
                  <a:tcPr marT="36000" marB="36000"/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200" lang="en-GB"/>
                        <a:t>3</a:t>
                      </a:r>
                    </a:p>
                  </a:txBody>
                  <a:tcPr marT="36000" marB="36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lang="en-GB"/>
                        <a:t>Tue 20 Oct</a:t>
                      </a:r>
                    </a:p>
                  </a:txBody>
                  <a:tcPr marT="36000" marB="36000"/>
                </a:tc>
                <a:tc>
                  <a:txBody>
                    <a:bodyPr/>
                    <a:lstStyle/>
                    <a:p>
                      <a:r>
                        <a:rPr sz="1200" lang="en-GB"/>
                        <a:t>Marketing mix modelling II: many countries, one budget</a:t>
                      </a:r>
                    </a:p>
                  </a:txBody>
                  <a:tcPr marT="36000" marB="36000"/>
                </a:tc>
                <a:tc>
                  <a:txBody>
                    <a:bodyPr/>
                    <a:lstStyle/>
                    <a:p>
                      <a:r>
                        <a:rPr sz="1200" lang="en-GB"/>
                        <a:t>Panel fixed effects, hierarchical Bayesian MMM, budget optimisation</a:t>
                      </a:r>
                    </a:p>
                  </a:txBody>
                  <a:tcPr marT="36000" marB="36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lang="en-GB"/>
                        <a:t>3</a:t>
                      </a:r>
                    </a:p>
                  </a:txBody>
                  <a:tcPr marT="36000" marB="36000"/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200" lang="en-GB"/>
                        <a:t>4</a:t>
                      </a:r>
                    </a:p>
                  </a:txBody>
                  <a:tcPr marT="36000" marB="36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lang="en-GB"/>
                        <a:t>Tue 27 Oct</a:t>
                      </a:r>
                    </a:p>
                  </a:txBody>
                  <a:tcPr marT="36000" marB="36000"/>
                </a:tc>
                <a:tc>
                  <a:txBody>
                    <a:bodyPr/>
                    <a:lstStyle/>
                    <a:p>
                      <a:r>
                        <a:rPr sz="1200" lang="en-GB"/>
                        <a:t>Forecasting, experiments and attribution</a:t>
                      </a:r>
                    </a:p>
                  </a:txBody>
                  <a:tcPr marT="36000" marB="36000"/>
                </a:tc>
                <a:tc>
                  <a:txBody>
                    <a:bodyPr/>
                    <a:lstStyle/>
                    <a:p>
                      <a:r>
                        <a:rPr sz="1200" lang="en-GB"/>
                        <a:t>Time series regression, difference-in-differences, logistic regression, Shapley values</a:t>
                      </a:r>
                    </a:p>
                  </a:txBody>
                  <a:tcPr marT="36000" marB="36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lang="en-GB"/>
                        <a:t>9, 4</a:t>
                      </a:r>
                    </a:p>
                  </a:txBody>
                  <a:tcPr marT="36000" marB="36000"/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200" lang="en-GB"/>
                        <a:t>5</a:t>
                      </a:r>
                    </a:p>
                  </a:txBody>
                  <a:tcPr marT="36000" marB="36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lang="en-GB"/>
                        <a:t>Tue 3 Nov</a:t>
                      </a:r>
                    </a:p>
                  </a:txBody>
                  <a:tcPr marT="36000" marB="36000"/>
                </a:tc>
                <a:tc>
                  <a:txBody>
                    <a:bodyPr/>
                    <a:lstStyle/>
                    <a:p>
                      <a:r>
                        <a:rPr sz="1200" lang="en-GB"/>
                        <a:t>Group project pitches and wrap-up</a:t>
                      </a:r>
                    </a:p>
                  </a:txBody>
                  <a:tcPr marT="36000" marB="36000"/>
                </a:tc>
                <a:tc>
                  <a:txBody>
                    <a:bodyPr/>
                    <a:lstStyle/>
                    <a:p>
                      <a:r>
                        <a:rPr sz="1200" lang="en-GB"/>
                        <a:t>Board presentation, ground-truth reveal</a:t>
                      </a:r>
                    </a:p>
                  </a:txBody>
                  <a:tcPr marT="36000" marB="36000"/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lang="en-GB"/>
                        <a:t>11</a:t>
                      </a:r>
                    </a:p>
                  </a:txBody>
                  <a:tcPr marT="36000" marB="36000"/>
                </a:tc>
              </a:tr>
            </a:tbl>
          </a:graphicData>
        </a:graphic>
      </p:graphicFrame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Module roadmap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Chapters: Yildirim and Kübler (2025), SAGE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/>
            <a:r>
              <a:rPr b="1" sz="1400" lang="en-GB"/>
              <a:t>5 % </a:t>
            </a:r>
            <a:r>
              <a:rPr sz="1400" lang="en-GB"/>
              <a:t>Online certificates Python and GitHub (individual)</a:t>
            </a:r>
          </a:p>
          <a:p>
            <a:pPr/>
            <a:r>
              <a:rPr b="1" sz="1400" lang="en-GB"/>
              <a:t>5 % </a:t>
            </a:r>
            <a:r>
              <a:rPr sz="1400" lang="en-GB"/>
              <a:t>Self-reflection (individual)</a:t>
            </a:r>
          </a:p>
          <a:p>
            <a:pPr/>
            <a:r>
              <a:rPr b="1" sz="1400" lang="en-GB"/>
              <a:t>20 % </a:t>
            </a:r>
            <a:r>
              <a:rPr sz="1400" lang="en-GB"/>
              <a:t>Online quizzes, 4 × 5 % (individual)</a:t>
            </a:r>
          </a:p>
          <a:p>
            <a:pPr/>
            <a:r>
              <a:rPr b="1" sz="1400" lang="en-GB"/>
              <a:t>20 % </a:t>
            </a:r>
            <a:r>
              <a:rPr sz="1400" lang="en-GB"/>
              <a:t>Lab check-ins, 2 × 10 % (individual)</a:t>
            </a:r>
          </a:p>
          <a:p>
            <a:pPr/>
            <a:r>
              <a:rPr b="1" sz="1400" lang="en-GB"/>
              <a:t>40 % </a:t>
            </a:r>
            <a:r>
              <a:rPr sz="1400" lang="en-GB"/>
              <a:t>Group project: report, repository and pitch</a:t>
            </a:r>
          </a:p>
          <a:p>
            <a:pPr/>
            <a:r>
              <a:rPr b="1" sz="1400" lang="en-GB"/>
              <a:t>10 % </a:t>
            </a:r>
            <a:r>
              <a:rPr sz="1400" lang="en-GB"/>
              <a:t>Peer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/>
            <a:r>
              <a:rPr b="1" sz="1400" lang="en-GB"/>
              <a:t>Groups: </a:t>
            </a:r>
            <a:r>
              <a:rPr sz="1400" lang="en-GB"/>
              <a:t>5 students, enrol on Canvas by the end of Session 1</a:t>
            </a:r>
          </a:p>
          <a:p>
            <a:pPr/>
            <a:r>
              <a:rPr b="1" sz="1400" lang="en-GB"/>
              <a:t>Grades: </a:t>
            </a:r>
            <a:r>
              <a:rPr sz="1400" lang="en-GB"/>
              <a:t>WU scale, 1 from 90 %, 2 from 80 %, 3 from 70 %, 4 from 60 %</a:t>
            </a:r>
          </a:p>
          <a:p>
            <a:pPr/>
            <a:r>
              <a:rPr b="1" sz="1400" lang="en-GB"/>
              <a:t>Attendance: </a:t>
            </a:r>
            <a:r>
              <a:rPr sz="1400" lang="en-GB"/>
              <a:t>at least 80 % of sessions</a:t>
            </a:r>
          </a:p>
          <a:p>
            <a:pPr/>
            <a:r>
              <a:rPr b="1" sz="1400" lang="en-GB"/>
              <a:t>Late submissions: </a:t>
            </a:r>
            <a:r>
              <a:rPr sz="1400" lang="en-GB"/>
              <a:t>minus 10 percentage points per day unless agreed in advance</a:t>
            </a:r>
          </a:p>
          <a:p>
            <a:pPr/>
            <a:r>
              <a:rPr b="1" sz="1400" lang="en-GB"/>
              <a:t>AI tools: </a:t>
            </a:r>
            <a:r>
              <a:rPr sz="1400" lang="en-GB"/>
              <a:t>expected for coding; you remain responsible for every number you report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rPr lang="en-GB"/>
              <a:t>Components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Assessment strategy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/>
          </p:nvPr>
        </p:nvSpPr>
        <p:spPr/>
        <p:txBody>
          <a:bodyPr/>
          <a:lstStyle/>
          <a:p>
            <a:r>
              <a:rPr lang="en-GB"/>
              <a:t>Rules</a:t>
            </a:r>
          </a:p>
        </p:txBody>
      </p:sp>
      <p:sp>
        <p:nvSpPr>
          <p:cNvPr id="11" name="Fußzeilenplatzhalter 10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12" name="Foliennummernplatzhalter 11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600" lang="en-GB"/>
              <a:t>Complete two free online courses before the second session:</a:t>
            </a:r>
          </a:p>
          <a:p>
            <a:pPr lvl="1"/>
            <a:r>
              <a:rPr b="1" sz="1600" lang="en-GB"/>
              <a:t>Kaggle Learn: Python </a:t>
            </a:r>
            <a:r>
              <a:rPr sz="1600" lang="en-GB"/>
              <a:t>(about 5 hours, certificate on completion)</a:t>
            </a:r>
          </a:p>
          <a:p>
            <a:pPr lvl="1"/>
            <a:r>
              <a:rPr b="1" sz="1600" lang="en-GB"/>
              <a:t>GitHub Skills: Introduction to GitHub </a:t>
            </a:r>
            <a:r>
              <a:rPr sz="1600" lang="en-GB"/>
              <a:t>(about 1 hour)</a:t>
            </a:r>
          </a:p>
          <a:p>
            <a:pPr/>
            <a:r>
              <a:rPr sz="1600" lang="en-GB"/>
              <a:t>Install the course environment with the setup guide: Python via uv, Positron, Quarto, GitHub Desktop, and run the installation check</a:t>
            </a:r>
          </a:p>
          <a:p>
            <a:pPr/>
            <a:r>
              <a:rPr b="1" sz="1600" lang="en-GB"/>
              <a:t>Upload </a:t>
            </a:r>
            <a:r>
              <a:rPr sz="1600" lang="en-GB"/>
              <a:t>both certificates and a screenshot of the passing installation check on Canvas by Mon 12 Oct, 11:59 pm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Online certificates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/>
            <a:r>
              <a:rPr sz="1600" lang="en-GB"/>
              <a:t>After each of Sessions 1 to 4</a:t>
            </a:r>
          </a:p>
          <a:p>
            <a:pPr/>
            <a:r>
              <a:rPr sz="1600" lang="en-GB"/>
              <a:t>Open Wednesday 9 am, close Monday 11:59 pm</a:t>
            </a:r>
          </a:p>
          <a:p>
            <a:pPr/>
            <a:r>
              <a:rPr sz="1600" lang="en-GB"/>
              <a:t>10 multiple-choice questions in 10 minutes</a:t>
            </a:r>
          </a:p>
          <a:p>
            <a:pPr/>
            <a:r>
              <a:rPr sz="1600" lang="en-GB"/>
              <a:t>Closed book: concepts, not code</a:t>
            </a:r>
          </a:p>
          <a:p>
            <a:pPr/>
            <a:r>
              <a:rPr sz="1600" lang="en-GB"/>
              <a:t>5 % each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/>
            <a:r>
              <a:rPr sz="1600" lang="en-GB"/>
              <a:t>After Sessions 2 and 4</a:t>
            </a:r>
          </a:p>
          <a:p>
            <a:pPr/>
            <a:r>
              <a:rPr sz="1600" lang="en-GB"/>
              <a:t>Replicate the lab for another country or dataset with your AI assistant</a:t>
            </a:r>
          </a:p>
          <a:p>
            <a:pPr/>
            <a:r>
              <a:rPr sz="1600" lang="en-GB"/>
              <a:t>Submit the Quarto notebook, rendered HTML, result files and a short prompt log on Canvas</a:t>
            </a:r>
          </a:p>
          <a:p>
            <a:pPr/>
            <a:r>
              <a:rPr sz="1600" lang="en-GB"/>
              <a:t>Auto-checked for plausibility, reviewed for interpretation</a:t>
            </a:r>
          </a:p>
          <a:p>
            <a:pPr/>
            <a:r>
              <a:rPr sz="1600" lang="en-GB"/>
              <a:t>10 % each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rPr lang="en-GB"/>
              <a:t>Online quizzes (individual)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Quizzes and lab check-ins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/>
          </p:nvPr>
        </p:nvSpPr>
        <p:spPr/>
        <p:txBody>
          <a:bodyPr/>
          <a:lstStyle/>
          <a:p>
            <a:r>
              <a:rPr lang="en-GB"/>
              <a:t>Lab check-ins (individual)</a:t>
            </a:r>
          </a:p>
        </p:txBody>
      </p:sp>
      <p:sp>
        <p:nvSpPr>
          <p:cNvPr id="11" name="Fußzeilenplatzhalter 10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12" name="Foliennummernplatzhalter 11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b="1" sz="1600" lang="en-GB"/>
              <a:t>The task: </a:t>
            </a:r>
            <a:r>
              <a:rPr sz="1600" lang="en-GB"/>
              <a:t>as Alpenglow's analytics team, recommend to the board how the 2027 media budget should be split across six countries and five channels.</a:t>
            </a:r>
          </a:p>
          <a:p>
            <a:pPr/>
            <a:r>
              <a:rPr b="1" sz="1600" lang="en-GB"/>
              <a:t>Deliverables: </a:t>
            </a:r>
            <a:r>
              <a:rPr sz="1600" lang="en-GB"/>
              <a:t>GitHub repository with a Quarto report (max 12 pages), allocation_2027.csv, a pitch deck (max 8 slides) and a prompt log.</a:t>
            </a:r>
          </a:p>
          <a:p>
            <a:pPr/>
            <a:r>
              <a:rPr b="1" sz="1600" lang="en-GB"/>
              <a:t>Milestones: </a:t>
            </a:r>
            <a:r>
              <a:rPr sz="1600" lang="en-GB"/>
              <a:t>repository and data exploration before Session 2; first model table before Session 4.</a:t>
            </a:r>
          </a:p>
          <a:p>
            <a:pPr/>
            <a:r>
              <a:rPr b="1" sz="1600" lang="en-GB"/>
              <a:t>Support: </a:t>
            </a:r>
            <a:r>
              <a:rPr sz="1600" lang="en-GB"/>
              <a:t>online consulting hours (registration needed).</a:t>
            </a:r>
          </a:p>
          <a:p>
            <a:pPr/>
            <a:r>
              <a:rPr b="1" sz="1600" lang="en-GB"/>
              <a:t>Deadline: </a:t>
            </a:r>
            <a:r>
              <a:rPr sz="1600" lang="en-GB"/>
              <a:t>Mon 2 Nov 2026, 6 pm. Pitches in Session 5 on Tue 3 Nov 2026.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Group project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/>
            <a:r>
              <a:rPr sz="1400" lang="en-GB"/>
              <a:t>Every group member rates the other members on a 0 to 10 scale</a:t>
            </a:r>
          </a:p>
          <a:p>
            <a:pPr/>
            <a:r>
              <a:rPr sz="1400" lang="en-GB"/>
              <a:t>Six criteria: tasks carried out, deadlines met, quality of work, communication and respect, attendance, pre-agreed rules</a:t>
            </a:r>
          </a:p>
          <a:p>
            <a:pPr/>
            <a:r>
              <a:rPr sz="1400" lang="en-GB"/>
              <a:t>Kept in strict confidence; feeds the peer review component (10 %)</a:t>
            </a:r>
          </a:p>
          <a:p>
            <a:pPr/>
            <a:r>
              <a:rPr sz="1400" lang="en-GB"/>
              <a:t>Submit on Canvas with the final project</a:t>
            </a:r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Peer rating</a:t>
            </a:r>
          </a:p>
        </p:txBody>
      </p:sp>
      <p:sp>
        <p:nvSpPr>
          <p:cNvPr id="9" name="Fußzeilenplatzhalt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10" name="Foliennummernplatzhalt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9904" y="1344613"/>
            <a:ext cx="3691568" cy="3859212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" name="Fußzeilenplatzhalter 8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10" name="Foliennummernplatzhalter 9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ELECTEDLANGUAGE" val="English UK"/>
</p:tagLst>
</file>

<file path=ppt/theme/theme1.xml><?xml version="1.0" encoding="utf-8"?>
<a:theme xmlns:a="http://schemas.openxmlformats.org/drawingml/2006/main" name="WU 16:10">
  <a:themeElements>
    <a:clrScheme name="WU">
      <a:dk1>
        <a:srgbClr val="000000"/>
      </a:dk1>
      <a:lt1>
        <a:srgbClr val="FFFFFF"/>
      </a:lt1>
      <a:dk2>
        <a:srgbClr val="002350"/>
      </a:dk2>
      <a:lt2>
        <a:srgbClr val="E5F5FA"/>
      </a:lt2>
      <a:accent1>
        <a:srgbClr val="0096D3"/>
      </a:accent1>
      <a:accent2>
        <a:srgbClr val="002350"/>
      </a:accent2>
      <a:accent3>
        <a:srgbClr val="4B2582"/>
      </a:accent3>
      <a:accent4>
        <a:srgbClr val="457AA0"/>
      </a:accent4>
      <a:accent5>
        <a:srgbClr val="A592C0"/>
      </a:accent5>
      <a:accent6>
        <a:srgbClr val="80CFE9"/>
      </a:accent6>
      <a:hlink>
        <a:srgbClr val="405A7C"/>
      </a:hlink>
      <a:folHlink>
        <a:srgbClr val="0082AA"/>
      </a:folHlink>
    </a:clrScheme>
    <a:fontScheme name="WU neu">
      <a:majorFont>
        <a:latin typeface="Georgia"/>
        <a:ea typeface=""/>
        <a:cs typeface=""/>
      </a:majorFont>
      <a:minorFont>
        <a:latin typeface="Verdan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WU Farbschema neu">
        <a:dk1>
          <a:srgbClr val="000000"/>
        </a:dk1>
        <a:lt1>
          <a:sysClr val="window" lastClr="FFFFFF"/>
        </a:lt1>
        <a:dk2>
          <a:srgbClr val="002E60"/>
        </a:dk2>
        <a:lt2>
          <a:srgbClr val="E5F5FA"/>
        </a:lt2>
        <a:accent1>
          <a:srgbClr val="0096D3"/>
        </a:accent1>
        <a:accent2>
          <a:srgbClr val="002E60"/>
        </a:accent2>
        <a:accent3>
          <a:srgbClr val="532481"/>
        </a:accent3>
        <a:accent4>
          <a:srgbClr val="457AA0"/>
        </a:accent4>
        <a:accent5>
          <a:srgbClr val="A991C0"/>
        </a:accent5>
        <a:accent6>
          <a:srgbClr val="7FCAE9"/>
        </a:accent6>
        <a:hlink>
          <a:srgbClr val="406288"/>
        </a:hlink>
        <a:folHlink>
          <a:srgbClr val="008FAA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WU Sample Presentation 16x10 V1.1.potx" id="{74DD536C-D372-4256-BA4D-24C734E7AF81}" vid="{99E22345-25BB-45DF-85CE-FC929AE6991A}"/>
    </a:ext>
  </a:extLst>
</a:theme>
</file>

<file path=ppt/theme/theme2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Kategorie xmlns="dde413db-0745-4f3a-8dca-564dc7ff6f7d">Präsentationen</Kategorie>
    <Beschreibung xmlns="dde413db-0745-4f3a-8dca-564dc7ff6f7d">Sample presenation in format 16:10 (= WU standard)</Beschreibung>
    <TaxCatchAll xmlns="08b0a3ee-3d2a-451c-9a1a-7e5d5b0c9c77">
      <Value>266</Value>
      <Value>403</Value>
    </TaxCatchAll>
    <DokumentenartTaxHTField0 xmlns="1a8d9a65-8471-4209-a900-f8e11db75e0a">
      <Terms xmlns="http://schemas.microsoft.com/office/infopath/2007/PartnerControls">
        <TermInfo xmlns="http://schemas.microsoft.com/office/infopath/2007/PartnerControls">
          <TermName xmlns="http://schemas.microsoft.com/office/infopath/2007/PartnerControls">Vorlagen</TermName>
          <TermId xmlns="http://schemas.microsoft.com/office/infopath/2007/PartnerControls">17fc50ed-8ad1-47be-ab12-04243fd74ddb</TermId>
        </TermInfo>
      </Terms>
    </DokumentenartTaxHTField0>
    <WU_x0020_ThemaTaxHTField0 xmlns="1a8d9a65-8471-4209-a900-f8e11db75e0a">
      <Terms xmlns="http://schemas.microsoft.com/office/infopath/2007/PartnerControls">
        <TermInfo xmlns="http://schemas.microsoft.com/office/infopath/2007/PartnerControls">
          <TermName xmlns="http://schemas.microsoft.com/office/infopath/2007/PartnerControls">Corporate Design</TermName>
          <TermId xmlns="http://schemas.microsoft.com/office/infopath/2007/PartnerControls">19895bcd-b158-45ae-ab7b-f5ca217dfcec</TermId>
        </TermInfo>
      </Terms>
    </WU_x0020_ThemaTaxHTField0>
    <Format xmlns="dde413db-0745-4f3a-8dca-564dc7ff6f7d">Microsoft Office 2013/2016</Format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BCF651A35DF3154DB01328AF51148DAE" ma:contentTypeVersion="1" ma:contentTypeDescription="Ein neues Dokument erstellen." ma:contentTypeScope="" ma:versionID="458c1b80f8d593bdc96b60ff34dd40b4">
  <xsd:schema xmlns:xsd="http://www.w3.org/2001/XMLSchema" xmlns:xs="http://www.w3.org/2001/XMLSchema" xmlns:p="http://schemas.microsoft.com/office/2006/metadata/properties" xmlns:ns2="1a8d9a65-8471-4209-a900-f8e11db75e0a" xmlns:ns3="08b0a3ee-3d2a-451c-9a1a-7e5d5b0c9c77" xmlns:ns4="dde413db-0745-4f3a-8dca-564dc7ff6f7d" targetNamespace="http://schemas.microsoft.com/office/2006/metadata/properties" ma:root="true" ma:fieldsID="2d31116d1a6b5af1b4a8b1ba7152d57a" ns2:_="" ns3:_="" ns4:_="">
    <xsd:import namespace="1a8d9a65-8471-4209-a900-f8e11db75e0a"/>
    <xsd:import namespace="08b0a3ee-3d2a-451c-9a1a-7e5d5b0c9c77"/>
    <xsd:import namespace="dde413db-0745-4f3a-8dca-564dc7ff6f7d"/>
    <xsd:element name="properties">
      <xsd:complexType>
        <xsd:sequence>
          <xsd:element name="documentManagement">
            <xsd:complexType>
              <xsd:all>
                <xsd:element ref="ns2:WU_x0020_ThemaTaxHTField0" minOccurs="0"/>
                <xsd:element ref="ns3:TaxCatchAll" minOccurs="0"/>
                <xsd:element ref="ns2:DokumentenartTaxHTField0" minOccurs="0"/>
                <xsd:element ref="ns4:Beschreibung" minOccurs="0"/>
                <xsd:element ref="ns4:Format" minOccurs="0"/>
                <xsd:element ref="ns4:Kategorie" minOccurs="0"/>
                <xsd:element ref="ns3:SharedWithUser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a8d9a65-8471-4209-a900-f8e11db75e0a" elementFormDefault="qualified">
    <xsd:import namespace="http://schemas.microsoft.com/office/2006/documentManagement/types"/>
    <xsd:import namespace="http://schemas.microsoft.com/office/infopath/2007/PartnerControls"/>
    <xsd:element name="WU_x0020_ThemaTaxHTField0" ma:index="9" nillable="true" ma:taxonomy="true" ma:internalName="WU_x0020_ThemaTaxHTField0" ma:taxonomyFieldName="WU_x0020_Thema" ma:displayName="Schlagwort" ma:default="" ma:fieldId="{a2eb3201-e251-4055-97e9-466604fc777f}" ma:taxonomyMulti="true" ma:sspId="59da4ae5-1217-4de6-bd64-b7a740f353bb" ma:termSetId="c1edca97-812b-4584-b6b5-1e5cade81cae" ma:anchorId="00000000-0000-0000-0000-000000000000" ma:open="true" ma:isKeyword="false">
      <xsd:complexType>
        <xsd:sequence>
          <xsd:element ref="pc:Terms" minOccurs="0" maxOccurs="1"/>
        </xsd:sequence>
      </xsd:complexType>
    </xsd:element>
    <xsd:element name="DokumentenartTaxHTField0" ma:index="12" nillable="true" ma:taxonomy="true" ma:internalName="DokumentenartTaxHTField0" ma:taxonomyFieldName="Dokumentenart" ma:displayName="Dokumentenart" ma:default="" ma:fieldId="{0f2e647f-32b7-4850-b6be-ae358ed71e70}" ma:taxonomyMulti="true" ma:sspId="59da4ae5-1217-4de6-bd64-b7a740f353bb" ma:termSetId="325756d7-e24e-4b6f-ba71-3f779d34c1ea" ma:anchorId="00000000-0000-0000-0000-000000000000" ma:open="fals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8b0a3ee-3d2a-451c-9a1a-7e5d5b0c9c77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description="" ma:hidden="true" ma:list="{6a103bb8-3913-4e3b-a229-080a76572464}" ma:internalName="TaxCatchAll" ma:showField="CatchAllData" ma:web="08b0a3ee-3d2a-451c-9a1a-7e5d5b0c9c7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6" nillable="true" ma:displayName="Freigegeben für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de413db-0745-4f3a-8dca-564dc7ff6f7d" elementFormDefault="qualified">
    <xsd:import namespace="http://schemas.microsoft.com/office/2006/documentManagement/types"/>
    <xsd:import namespace="http://schemas.microsoft.com/office/infopath/2007/PartnerControls"/>
    <xsd:element name="Beschreibung" ma:index="13" nillable="true" ma:displayName="Beschreibung" ma:internalName="Beschreibung">
      <xsd:simpleType>
        <xsd:restriction base="dms:Note">
          <xsd:maxLength value="255"/>
        </xsd:restriction>
      </xsd:simpleType>
    </xsd:element>
    <xsd:element name="Format" ma:index="14" nillable="true" ma:displayName="Format" ma:format="Dropdown" ma:internalName="Format">
      <xsd:simpleType>
        <xsd:union memberTypes="dms:Text">
          <xsd:simpleType>
            <xsd:restriction base="dms:Choice">
              <xsd:enumeration value="LaTeX"/>
              <xsd:enumeration value="Microsoft Office 2003"/>
              <xsd:enumeration value="Microsoft Office 2007-2013"/>
              <xsd:enumeration value="Microsoft Office 2013/2016"/>
              <xsd:enumeration value="OpenOffice 3.0"/>
            </xsd:restriction>
          </xsd:simpleType>
        </xsd:union>
      </xsd:simpleType>
    </xsd:element>
    <xsd:element name="Kategorie" ma:index="15" nillable="true" ma:displayName="Kategorie" ma:default="Anleitungen" ma:format="Dropdown" ma:internalName="Kategorie">
      <xsd:simpleType>
        <xsd:union memberTypes="dms:Text">
          <xsd:simpleType>
            <xsd:restriction base="dms:Choice">
              <xsd:enumeration value="Anleitungen"/>
              <xsd:enumeration value="Aushänge für Lift und Tür"/>
              <xsd:enumeration value="Basisvorlagen"/>
              <xsd:enumeration value="Brief-/Faxvorlagen"/>
              <xsd:enumeration value="Einladungen"/>
              <xsd:enumeration value="Etiketten"/>
              <xsd:enumeration value="Musterdateien"/>
              <xsd:enumeration value="Namensschilder"/>
              <xsd:enumeration value="Präsentationen"/>
              <xsd:enumeration value="Skripten-Cover"/>
            </xsd:restriction>
          </xsd:simpleType>
        </xsd:un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5929A89-D8E6-4794-A98F-6609FAAECB3B}">
  <ds:schemaRefs>
    <ds:schemaRef ds:uri="http://schemas.microsoft.com/office/2006/metadata/properties"/>
    <ds:schemaRef ds:uri="http://schemas.microsoft.com/office/infopath/2007/PartnerControls"/>
    <ds:schemaRef ds:uri="dde413db-0745-4f3a-8dca-564dc7ff6f7d"/>
    <ds:schemaRef ds:uri="08b0a3ee-3d2a-451c-9a1a-7e5d5b0c9c77"/>
    <ds:schemaRef ds:uri="1a8d9a65-8471-4209-a900-f8e11db75e0a"/>
  </ds:schemaRefs>
</ds:datastoreItem>
</file>

<file path=customXml/itemProps2.xml><?xml version="1.0" encoding="utf-8"?>
<ds:datastoreItem xmlns:ds="http://schemas.openxmlformats.org/officeDocument/2006/customXml" ds:itemID="{D81AF645-C4BF-4115-A9DE-6B087264731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a8d9a65-8471-4209-a900-f8e11db75e0a"/>
    <ds:schemaRef ds:uri="08b0a3ee-3d2a-451c-9a1a-7e5d5b0c9c77"/>
    <ds:schemaRef ds:uri="dde413db-0745-4f3a-8dca-564dc7ff6f7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89857B5-BC10-4782-8A0F-717F20E5E229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WU Sample Presentation 16x10</Template>
  <TotalTime>0</TotalTime>
  <Words>1441</Words>
  <Application>Microsoft Office PowerPoint</Application>
  <PresentationFormat>Bildschirmpräsentation (16:10)</PresentationFormat>
  <Paragraphs>207</Paragraphs>
  <Slides>26</Slides>
  <Notes>26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26</vt:i4>
      </vt:variant>
    </vt:vector>
  </HeadingPairs>
  <TitlesOfParts>
    <vt:vector size="31" baseType="lpstr">
      <vt:lpstr>Arial</vt:lpstr>
      <vt:lpstr>Georgia</vt:lpstr>
      <vt:lpstr>Verdana</vt:lpstr>
      <vt:lpstr>Wingdings</vt:lpstr>
      <vt:lpstr>WU 16:10</vt:lpstr>
      <vt:lpstr>WU Presentation Template incl. Samples</vt:lpstr>
      <vt:lpstr>Basics</vt:lpstr>
      <vt:lpstr>Available slide layouts – overview</vt:lpstr>
      <vt:lpstr>Make use of the slide layouts</vt:lpstr>
      <vt:lpstr>Designing text slides</vt:lpstr>
      <vt:lpstr>Insert footer information</vt:lpstr>
      <vt:lpstr>Toner- and ink-reduced printing</vt:lpstr>
      <vt:lpstr>Sample Slides</vt:lpstr>
      <vt:lpstr>Layout „Titelfolie“ –  font Georgia 32 pt</vt:lpstr>
      <vt:lpstr>Layout „Titelfolie kurz“</vt:lpstr>
      <vt:lpstr>Layout „Titelfolie ohne Bild“ – for 2 lines of text</vt:lpstr>
      <vt:lpstr>Titleslide w/o pic. short</vt:lpstr>
      <vt:lpstr>Layout „Titelfolie Bild 2“ – for 2 lines of text</vt:lpstr>
      <vt:lpstr>Layout „Titelfolie Bild 3“ – for 2 lines of text</vt:lpstr>
      <vt:lpstr>Layout „Titel und Inhalt“ for title and content – font Georgia 24 pt</vt:lpstr>
      <vt:lpstr>Layout without footer for large graphics, tables or charts</vt:lpstr>
      <vt:lpstr>Layout “Zwei Inhalte” with two placeholders for different content types</vt:lpstr>
      <vt:lpstr>Layout „Vergleich“ – e.g. for comparison</vt:lpstr>
      <vt:lpstr>Sample table</vt:lpstr>
      <vt:lpstr>Sample for simple graphics  (based on SmartArt)</vt:lpstr>
      <vt:lpstr>Sample organizational chart  (based on SmartArt)</vt:lpstr>
      <vt:lpstr>Sample for bar chart </vt:lpstr>
      <vt:lpstr>Sample for column chart </vt:lpstr>
      <vt:lpstr>Sample for line chart </vt:lpstr>
      <vt:lpstr>Sample for doughnut chart </vt:lpstr>
      <vt:lpstr> </vt:lpstr>
    </vt:vector>
  </TitlesOfParts>
  <Manager/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2023-08-25T07:52:25Z</dcterms:created>
  <dcterms:modified xsi:type="dcterms:W3CDTF">2023-08-25T07:53:01Z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WU Thema">
    <vt:lpwstr>403;#Corporate Design|19895bcd-b158-45ae-ab7b-f5ca217dfcec</vt:lpwstr>
  </property>
  <property fmtid="{D5CDD505-2E9C-101B-9397-08002B2CF9AE}" pid="3" name="Dokumentenart">
    <vt:lpwstr>266;#Vorlagen|17fc50ed-8ad1-47be-ab12-04243fd74ddb</vt:lpwstr>
  </property>
  <property fmtid="{D5CDD505-2E9C-101B-9397-08002B2CF9AE}" pid="4" name="ContentTypeId">
    <vt:lpwstr>0x010100BCF651A35DF3154DB01328AF51148DAE</vt:lpwstr>
  </property>
</Properties>
</file>