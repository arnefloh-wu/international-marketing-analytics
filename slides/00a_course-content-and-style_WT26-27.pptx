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70" r:id="rId39"/>
    <p:sldId id="271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individual components (70 %) and one group component (30 %). The bar shows the shares at a glance; the cards say what each part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for students. No preparation before the course: we register the accounts and install the software together in Session 1, following the set-up deck (01a). The check script prints 'ready' and test_stack.qmd renders a short report when everything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Each certificate counts 5 % once it is uploaded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exercise takes the code from the guided lab and applies it to a similar task. AI assistants are allowed; the prompt log shows how you used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 checks understanding, not coding. The non-graded online quiz at the end of each session uses the same question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Brief, data and report template are in the course repository (case-study/ and data/case/). Each part of the case uses the methods of one session, so groups can work on it week by week. Questions go to the Q&amp;A forum on Canvas so every group gets the same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hyperlink" Target="https://github.com/arnefloh-wu/international-marketing-analytics-teachin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MSc ExInt</a:t>
            </a:r>
            <a:br>
              <a:rPr lang="en-GB" altLang="de-DE" sz="1300" dirty="0"/>
            </a:br>
            <a:r>
              <a:rPr lang="en-GB" altLang="de-DE" sz="1300" dirty="0"/>
              <a:t>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wu.ac.at/en/welthandel/arne-floh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63040"/>
            <a:ext cx="411480" cy="411480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325880" y="123444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is the measurement, management and analysis of marketing performance data to improve marketing effectiveness and return on investment. It turns data into decisions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68880"/>
            <a:ext cx="411480" cy="411480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325880" y="224028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324612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74720"/>
            <a:ext cx="411480" cy="411480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325880" y="324612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425196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80560"/>
            <a:ext cx="411480" cy="411480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325880" y="425196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model fit and interpretation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Log-log, dummies,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60 minutes,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registration and set-up (Python, Positron, GitHub, DataCamp); MMM fundamentals; OLS, model fit and interpretation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Log-log elasticities, dummy variables, non-linear effects, moderation and mediation, adstock and saturation,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hare 1"/>
          <p:cNvSpPr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hare label 1"/>
          <p:cNvSpPr txBox="1"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2" name="Share 2"/>
          <p:cNvSpPr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hare label 2"/>
          <p:cNvSpPr txBox="1"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4" name="Share 3"/>
          <p:cNvSpPr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re label 3"/>
          <p:cNvSpPr txBox="1"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30 %</a:t>
            </a:r>
          </a:p>
        </p:txBody>
      </p:sp>
      <p:sp>
        <p:nvSpPr>
          <p:cNvPr id="16" name="Share 4"/>
          <p:cNvSpPr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hare label 4"/>
          <p:cNvSpPr txBox="1"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30 %</a:t>
            </a:r>
          </a:p>
        </p:txBody>
      </p:sp>
      <p:sp>
        <p:nvSpPr>
          <p:cNvPr id="18" name="Component card 1"/>
          <p:cNvSpPr/>
          <p:nvPr/>
        </p:nvSpPr>
        <p:spPr>
          <a:xfrm>
            <a:off x="45720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mponent strip 1"/>
          <p:cNvSpPr/>
          <p:nvPr/>
        </p:nvSpPr>
        <p:spPr>
          <a:xfrm>
            <a:off x="457200" y="1874520"/>
            <a:ext cx="1954530" cy="7315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mpone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21" name="Component weight 1"/>
          <p:cNvSpPr txBox="1"/>
          <p:nvPr/>
        </p:nvSpPr>
        <p:spPr>
          <a:xfrm>
            <a:off x="126873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2" name="Component text 1"/>
          <p:cNvSpPr txBox="1"/>
          <p:nvPr/>
        </p:nvSpPr>
        <p:spPr>
          <a:xfrm>
            <a:off x="59436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Online certificates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DataCamp, 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3" name="Component card 2"/>
          <p:cNvSpPr/>
          <p:nvPr/>
        </p:nvSpPr>
        <p:spPr>
          <a:xfrm>
            <a:off x="254889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omponent strip 2"/>
          <p:cNvSpPr/>
          <p:nvPr/>
        </p:nvSpPr>
        <p:spPr>
          <a:xfrm>
            <a:off x="2548890" y="1874520"/>
            <a:ext cx="195453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component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050" y="2057400"/>
            <a:ext cx="365760" cy="365760"/>
          </a:xfrm>
          <a:prstGeom prst="rect">
            <a:avLst/>
          </a:prstGeom>
        </p:spPr>
      </p:pic>
      <p:sp>
        <p:nvSpPr>
          <p:cNvPr id="26" name="Component weight 2"/>
          <p:cNvSpPr txBox="1"/>
          <p:nvPr/>
        </p:nvSpPr>
        <p:spPr>
          <a:xfrm>
            <a:off x="336042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7" name="Component text 2"/>
          <p:cNvSpPr txBox="1"/>
          <p:nvPr/>
        </p:nvSpPr>
        <p:spPr>
          <a:xfrm>
            <a:off x="268605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Coding exercises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8" name="Component card 3"/>
          <p:cNvSpPr/>
          <p:nvPr/>
        </p:nvSpPr>
        <p:spPr>
          <a:xfrm>
            <a:off x="464058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mponent strip 3"/>
          <p:cNvSpPr/>
          <p:nvPr/>
        </p:nvSpPr>
        <p:spPr>
          <a:xfrm>
            <a:off x="4640580" y="1874520"/>
            <a:ext cx="1954530" cy="7315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component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2057400"/>
            <a:ext cx="365760" cy="365760"/>
          </a:xfrm>
          <a:prstGeom prst="rect">
            <a:avLst/>
          </a:prstGeom>
        </p:spPr>
      </p:pic>
      <p:sp>
        <p:nvSpPr>
          <p:cNvPr id="31" name="Component weight 3"/>
          <p:cNvSpPr txBox="1"/>
          <p:nvPr/>
        </p:nvSpPr>
        <p:spPr>
          <a:xfrm>
            <a:off x="545211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2" name="Component text 3"/>
          <p:cNvSpPr txBox="1"/>
          <p:nvPr/>
        </p:nvSpPr>
        <p:spPr>
          <a:xfrm>
            <a:off x="477774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Written exam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60 minutes, multiple choice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33" name="Component card 4"/>
          <p:cNvSpPr/>
          <p:nvPr/>
        </p:nvSpPr>
        <p:spPr>
          <a:xfrm>
            <a:off x="673227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omponent strip 4"/>
          <p:cNvSpPr/>
          <p:nvPr/>
        </p:nvSpPr>
        <p:spPr>
          <a:xfrm>
            <a:off x="6732270" y="1874520"/>
            <a:ext cx="1954530" cy="73152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component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430" y="2057400"/>
            <a:ext cx="365760" cy="365760"/>
          </a:xfrm>
          <a:prstGeom prst="rect">
            <a:avLst/>
          </a:prstGeom>
        </p:spPr>
      </p:pic>
      <p:sp>
        <p:nvSpPr>
          <p:cNvPr id="36" name="Component weight 4"/>
          <p:cNvSpPr txBox="1"/>
          <p:nvPr/>
        </p:nvSpPr>
        <p:spPr>
          <a:xfrm>
            <a:off x="754380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7" name="Component text 4"/>
          <p:cNvSpPr txBox="1"/>
          <p:nvPr/>
        </p:nvSpPr>
        <p:spPr>
          <a:xfrm>
            <a:off x="686943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Case study report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report, groups of max. 4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38" name="Scale label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Grading scale (WU)</a:t>
            </a:r>
          </a:p>
        </p:txBody>
      </p:sp>
      <p:sp>
        <p:nvSpPr>
          <p:cNvPr id="39" name="Grade 1"/>
          <p:cNvSpPr/>
          <p:nvPr/>
        </p:nvSpPr>
        <p:spPr>
          <a:xfrm>
            <a:off x="457200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Grade text 1"/>
          <p:cNvSpPr txBox="1"/>
          <p:nvPr/>
        </p:nvSpPr>
        <p:spPr>
          <a:xfrm>
            <a:off x="548640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</a:t>
            </a:r>
            <a:r>
              <a:rPr sz="1300" b="1" lang="en-GB">
                <a:solidFill>
                  <a:schemeClr val="bg1"/>
                </a:solidFill>
              </a:rPr>
              <a:t>Excellent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90 % and above</a:t>
            </a:r>
          </a:p>
        </p:txBody>
      </p:sp>
      <p:sp>
        <p:nvSpPr>
          <p:cNvPr id="41" name="Grade 2"/>
          <p:cNvSpPr/>
          <p:nvPr/>
        </p:nvSpPr>
        <p:spPr>
          <a:xfrm>
            <a:off x="2121408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Grade text 2"/>
          <p:cNvSpPr txBox="1"/>
          <p:nvPr/>
        </p:nvSpPr>
        <p:spPr>
          <a:xfrm>
            <a:off x="2212848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</a:t>
            </a:r>
            <a:r>
              <a:rPr sz="1300" b="1" lang="en-GB">
                <a:solidFill>
                  <a:schemeClr val="bg1"/>
                </a:solidFill>
              </a:rPr>
              <a:t>Good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80 to 89 %</a:t>
            </a:r>
          </a:p>
        </p:txBody>
      </p:sp>
      <p:sp>
        <p:nvSpPr>
          <p:cNvPr id="43" name="Grade 3"/>
          <p:cNvSpPr/>
          <p:nvPr/>
        </p:nvSpPr>
        <p:spPr>
          <a:xfrm>
            <a:off x="3785616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Grade text 3"/>
          <p:cNvSpPr txBox="1"/>
          <p:nvPr/>
        </p:nvSpPr>
        <p:spPr>
          <a:xfrm>
            <a:off x="3877056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</a:t>
            </a:r>
            <a:r>
              <a:rPr sz="1300" b="1" lang="en-GB">
                <a:solidFill>
                  <a:schemeClr val="bg1"/>
                </a:solidFill>
              </a:rPr>
              <a:t>Satisfactory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70 to 79 %</a:t>
            </a:r>
          </a:p>
        </p:txBody>
      </p:sp>
      <p:sp>
        <p:nvSpPr>
          <p:cNvPr id="45" name="Grade 4"/>
          <p:cNvSpPr/>
          <p:nvPr/>
        </p:nvSpPr>
        <p:spPr>
          <a:xfrm>
            <a:off x="5449824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Grade text 4"/>
          <p:cNvSpPr txBox="1"/>
          <p:nvPr/>
        </p:nvSpPr>
        <p:spPr>
          <a:xfrm>
            <a:off x="5541264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</a:t>
            </a:r>
            <a:r>
              <a:rPr sz="1300" b="1" lang="en-GB">
                <a:solidFill>
                  <a:schemeClr val="bg1"/>
                </a:solidFill>
              </a:rPr>
              <a:t>Sufficient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60 to 69 %</a:t>
            </a:r>
          </a:p>
        </p:txBody>
      </p:sp>
      <p:sp>
        <p:nvSpPr>
          <p:cNvPr id="47" name="Grade 5"/>
          <p:cNvSpPr/>
          <p:nvPr/>
        </p:nvSpPr>
        <p:spPr>
          <a:xfrm>
            <a:off x="7114032" y="4023360"/>
            <a:ext cx="1572768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Grade text 5"/>
          <p:cNvSpPr txBox="1"/>
          <p:nvPr/>
        </p:nvSpPr>
        <p:spPr>
          <a:xfrm>
            <a:off x="7205472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5  </a:t>
            </a:r>
            <a:r>
              <a:rPr sz="1300" b="1" lang="en-GB">
                <a:solidFill>
                  <a:schemeClr val="tx2"/>
                </a:solidFill>
              </a:rPr>
              <a:t>Fail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2"/>
                </a:solidFill>
              </a:rPr>
              <a:t>below 60 %</a:t>
            </a:r>
          </a:p>
        </p:txBody>
      </p:sp>
      <p:sp>
        <p:nvSpPr>
          <p:cNvPr id="49" name="Rules line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sessions.   </a:t>
            </a: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Software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Tool card 1"/>
          <p:cNvSpPr/>
          <p:nvPr/>
        </p:nvSpPr>
        <p:spPr>
          <a:xfrm>
            <a:off x="457200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tool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11480" cy="411480"/>
          </a:xfrm>
          <a:prstGeom prst="rect">
            <a:avLst/>
          </a:prstGeom>
        </p:spPr>
      </p:pic>
      <p:sp>
        <p:nvSpPr>
          <p:cNvPr id="12" name="Tool text 1"/>
          <p:cNvSpPr txBox="1"/>
          <p:nvPr/>
        </p:nvSpPr>
        <p:spPr>
          <a:xfrm>
            <a:off x="594360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Python 3.14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language for all analyses</a:t>
            </a:r>
          </a:p>
        </p:txBody>
      </p:sp>
      <p:sp>
        <p:nvSpPr>
          <p:cNvPr id="13" name="Tool card 2"/>
          <p:cNvSpPr/>
          <p:nvPr/>
        </p:nvSpPr>
        <p:spPr>
          <a:xfrm>
            <a:off x="2125066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tool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26" y="1371600"/>
            <a:ext cx="411480" cy="411480"/>
          </a:xfrm>
          <a:prstGeom prst="rect">
            <a:avLst/>
          </a:prstGeom>
        </p:spPr>
      </p:pic>
      <p:sp>
        <p:nvSpPr>
          <p:cNvPr id="15" name="Tool text 2"/>
          <p:cNvSpPr txBox="1"/>
          <p:nvPr/>
        </p:nvSpPr>
        <p:spPr>
          <a:xfrm>
            <a:off x="2262226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editor where you write, run and see results</a:t>
            </a:r>
          </a:p>
        </p:txBody>
      </p:sp>
      <p:sp>
        <p:nvSpPr>
          <p:cNvPr id="16" name="Tool card 3"/>
          <p:cNvSpPr/>
          <p:nvPr/>
        </p:nvSpPr>
        <p:spPr>
          <a:xfrm>
            <a:off x="3792931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tool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0091" y="1371600"/>
            <a:ext cx="411480" cy="411480"/>
          </a:xfrm>
          <a:prstGeom prst="rect">
            <a:avLst/>
          </a:prstGeom>
        </p:spPr>
      </p:pic>
      <p:sp>
        <p:nvSpPr>
          <p:cNvPr id="18" name="Tool text 3"/>
          <p:cNvSpPr txBox="1"/>
          <p:nvPr/>
        </p:nvSpPr>
        <p:spPr>
          <a:xfrm>
            <a:off x="3930091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turns code and text into reports and slides</a:t>
            </a:r>
          </a:p>
        </p:txBody>
      </p:sp>
      <p:sp>
        <p:nvSpPr>
          <p:cNvPr id="19" name="Tool card 4"/>
          <p:cNvSpPr/>
          <p:nvPr/>
        </p:nvSpPr>
        <p:spPr>
          <a:xfrm>
            <a:off x="5460797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tool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957" y="1371600"/>
            <a:ext cx="411480" cy="411480"/>
          </a:xfrm>
          <a:prstGeom prst="rect">
            <a:avLst/>
          </a:prstGeom>
        </p:spPr>
      </p:pic>
      <p:sp>
        <p:nvSpPr>
          <p:cNvPr id="21" name="Tool text 4"/>
          <p:cNvSpPr txBox="1"/>
          <p:nvPr/>
        </p:nvSpPr>
        <p:spPr>
          <a:xfrm>
            <a:off x="5597957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 Desktop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versions and shares your work</a:t>
            </a:r>
          </a:p>
        </p:txBody>
      </p:sp>
      <p:sp>
        <p:nvSpPr>
          <p:cNvPr id="22" name="Tool card 5"/>
          <p:cNvSpPr/>
          <p:nvPr/>
        </p:nvSpPr>
        <p:spPr>
          <a:xfrm>
            <a:off x="7128662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tool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5822" y="1371600"/>
            <a:ext cx="411480" cy="411480"/>
          </a:xfrm>
          <a:prstGeom prst="rect">
            <a:avLst/>
          </a:prstGeom>
        </p:spPr>
      </p:pic>
      <p:sp>
        <p:nvSpPr>
          <p:cNvPr id="24" name="Tool text 5"/>
          <p:cNvSpPr txBox="1"/>
          <p:nvPr/>
        </p:nvSpPr>
        <p:spPr>
          <a:xfrm>
            <a:off x="7265822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 Assistant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AI inside Positron, with GitHub Copilot</a:t>
            </a:r>
          </a:p>
        </p:txBody>
      </p:sp>
      <p:sp>
        <p:nvSpPr>
          <p:cNvPr id="25" name="Set-up label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Set-up in Session 1: five steps</a:t>
            </a:r>
          </a:p>
        </p:txBody>
      </p:sp>
      <p:sp>
        <p:nvSpPr>
          <p:cNvPr id="26" name="Set-up steps step 1"/>
          <p:cNvSpPr/>
          <p:nvPr/>
        </p:nvSpPr>
        <p:spPr>
          <a:xfrm>
            <a:off x="457200" y="3429000"/>
            <a:ext cx="1733702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Register</a:t>
            </a:r>
            <a:br/>
            <a:r>
              <a:rPr sz="13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27" name="Set-up steps step 2"/>
          <p:cNvSpPr/>
          <p:nvPr/>
        </p:nvSpPr>
        <p:spPr>
          <a:xfrm>
            <a:off x="2081174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the tools</a:t>
            </a:r>
          </a:p>
        </p:txBody>
      </p:sp>
      <p:sp>
        <p:nvSpPr>
          <p:cNvPr id="28" name="Set-up steps step 3"/>
          <p:cNvSpPr/>
          <p:nvPr/>
        </p:nvSpPr>
        <p:spPr>
          <a:xfrm>
            <a:off x="3705149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Clone the</a:t>
            </a:r>
            <a:br/>
            <a:r>
              <a:rPr sz="13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29" name="Set-up steps step 4"/>
          <p:cNvSpPr/>
          <p:nvPr/>
        </p:nvSpPr>
        <p:spPr>
          <a:xfrm>
            <a:off x="5329123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Set up the</a:t>
            </a:r>
            <a:br/>
            <a:r>
              <a:rPr sz="1300" b="1" lang="en-GB">
                <a:solidFill>
                  <a:schemeClr val="tx2"/>
                </a:solidFill>
              </a:rPr>
              <a:t>project</a:t>
            </a:r>
          </a:p>
        </p:txBody>
      </p:sp>
      <p:sp>
        <p:nvSpPr>
          <p:cNvPr id="30" name="Set-up steps step 5"/>
          <p:cNvSpPr/>
          <p:nvPr/>
        </p:nvSpPr>
        <p:spPr>
          <a:xfrm>
            <a:off x="6953098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Run the</a:t>
            </a:r>
            <a:br/>
            <a:r>
              <a:rPr sz="13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31" name="Set-up callout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et-up in class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489704"/>
            <a:ext cx="438912" cy="438912"/>
          </a:xfrm>
          <a:prstGeom prst="rect">
            <a:avLst/>
          </a:prstGeom>
        </p:spPr>
      </p:pic>
      <p:sp>
        <p:nvSpPr>
          <p:cNvPr id="33" name="Set-up text"/>
          <p:cNvSpPr txBox="1"/>
          <p:nvPr/>
        </p:nvSpPr>
        <p:spPr>
          <a:xfrm>
            <a:off x="1280160" y="43434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Together in Session 1: </a:t>
            </a:r>
            <a:r>
              <a:rPr sz="1300" b="0" lang="en-GB">
                <a:solidFill>
                  <a:schemeClr val="tx1"/>
                </a:solidFill>
              </a:rPr>
              <a:t>bring your laptop and charger, no preparation needed.</a:t>
            </a:r>
          </a:p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Course repository: </a:t>
            </a:r>
            <a:r>
              <a:rPr sz="1200" b="0" lang="en-GB">
                <a:solidFill>
                  <a:schemeClr val="accent1"/>
                </a:solidFill>
                <a:hlinkClick r:id="rId9"/>
              </a:rPr>
              <a:t>arnefloh-wu/international-marketing-analytics-teaching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total. </a:t>
            </a:r>
            <a:r>
              <a:rPr sz="1300" b="0" lang="en-GB">
                <a:solidFill>
                  <a:schemeClr val="tx1"/>
                </a:solidFill>
              </a:rPr>
              <a:t>Together the four certificates count one fifth of the final grade.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ertificate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The courses build the Python basics you need for the labs, so start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exercises during the course</a:t>
            </a:r>
          </a:p>
        </p:txBody>
      </p:sp>
      <p:sp>
        <p:nvSpPr>
          <p:cNvPr id="13" name="Coding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ding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ding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per exercise</a:t>
            </a:r>
          </a:p>
        </p:txBody>
      </p:sp>
      <p:sp>
        <p:nvSpPr>
          <p:cNvPr id="16" name="Coding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ding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ding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oding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How it works</a:t>
            </a:r>
          </a:p>
        </p:txBody>
      </p:sp>
      <p:sp>
        <p:nvSpPr>
          <p:cNvPr id="20" name="Coding steps step 1"/>
          <p:cNvSpPr/>
          <p:nvPr/>
        </p:nvSpPr>
        <p:spPr>
          <a:xfrm>
            <a:off x="457200" y="265176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in class</a:t>
            </a:r>
          </a:p>
        </p:txBody>
      </p:sp>
      <p:sp>
        <p:nvSpPr>
          <p:cNvPr id="21" name="Coding steps step 2"/>
          <p:cNvSpPr/>
          <p:nvPr/>
        </p:nvSpPr>
        <p:spPr>
          <a:xfrm>
            <a:off x="2487168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Apply the code</a:t>
            </a:r>
            <a:br/>
            <a:r>
              <a:rPr sz="1300" b="1" lang="en-GB">
                <a:solidFill>
                  <a:schemeClr val="tx2"/>
                </a:solidFill>
              </a:rPr>
              <a:t>to a similar task</a:t>
            </a:r>
          </a:p>
        </p:txBody>
      </p:sp>
      <p:sp>
        <p:nvSpPr>
          <p:cNvPr id="22" name="Coding steps step 3"/>
          <p:cNvSpPr/>
          <p:nvPr/>
        </p:nvSpPr>
        <p:spPr>
          <a:xfrm>
            <a:off x="4517136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Submit on</a:t>
            </a:r>
            <a:br/>
            <a:r>
              <a:rPr sz="13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23" name="Coding steps step 4"/>
          <p:cNvSpPr/>
          <p:nvPr/>
        </p:nvSpPr>
        <p:spPr>
          <a:xfrm>
            <a:off x="6547104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Feedback</a:t>
            </a:r>
            <a:br/>
            <a:r>
              <a:rPr sz="1300" b="1" lang="en-GB">
                <a:solidFill>
                  <a:schemeClr val="tx2"/>
                </a:solidFill>
              </a:rPr>
              <a:t>and grade</a:t>
            </a:r>
          </a:p>
        </p:txBody>
      </p:sp>
      <p:sp>
        <p:nvSpPr>
          <p:cNvPr id="24" name="Coding rules card body"/>
          <p:cNvSpPr/>
          <p:nvPr/>
        </p:nvSpPr>
        <p:spPr>
          <a:xfrm>
            <a:off x="457200" y="3931920"/>
            <a:ext cx="8229600" cy="1143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oding rules card header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ding rules card heading"/>
          <p:cNvSpPr txBox="1"/>
          <p:nvPr/>
        </p:nvSpPr>
        <p:spPr>
          <a:xfrm>
            <a:off x="594360" y="352044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27" name="Icon Coding rule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570732"/>
            <a:ext cx="310896" cy="310896"/>
          </a:xfrm>
          <a:prstGeom prst="rect">
            <a:avLst/>
          </a:prstGeom>
        </p:spPr>
      </p:pic>
      <p:sp>
        <p:nvSpPr>
          <p:cNvPr id="28" name="Coding rules card text"/>
          <p:cNvSpPr txBox="1"/>
          <p:nvPr/>
        </p:nvSpPr>
        <p:spPr>
          <a:xfrm>
            <a:off x="621792" y="4069080"/>
            <a:ext cx="792784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file; it must run from top to bottom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are allowed; add a short prompt log at the end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 work: discuss ideas, but write and check your own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Exam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xam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Exam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3" name="Exam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xam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Exam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60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minutes exam time</a:t>
            </a:r>
          </a:p>
        </p:txBody>
      </p:sp>
      <p:sp>
        <p:nvSpPr>
          <p:cNvPr id="16" name="Exam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exam at the end of the course</a:t>
            </a:r>
          </a:p>
        </p:txBody>
      </p:sp>
      <p:sp>
        <p:nvSpPr>
          <p:cNvPr id="19" name="Exam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xam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xam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MC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</p:txBody>
      </p:sp>
      <p:sp>
        <p:nvSpPr>
          <p:cNvPr id="22" name="Exam format card body"/>
          <p:cNvSpPr/>
          <p:nvPr/>
        </p:nvSpPr>
        <p:spPr>
          <a:xfrm>
            <a:off x="45720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Exam format card header"/>
          <p:cNvSpPr/>
          <p:nvPr/>
        </p:nvSpPr>
        <p:spPr>
          <a:xfrm>
            <a:off x="45720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Exam format card heading"/>
          <p:cNvSpPr txBox="1"/>
          <p:nvPr/>
        </p:nvSpPr>
        <p:spPr>
          <a:xfrm>
            <a:off x="59436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Format</a:t>
            </a:r>
          </a:p>
        </p:txBody>
      </p:sp>
      <p:pic>
        <p:nvPicPr>
          <p:cNvPr id="25" name="Icon Exam forma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404872"/>
            <a:ext cx="310896" cy="310896"/>
          </a:xfrm>
          <a:prstGeom prst="rect">
            <a:avLst/>
          </a:prstGeom>
        </p:spPr>
      </p:pic>
      <p:sp>
        <p:nvSpPr>
          <p:cNvPr id="26" name="Exam format card text"/>
          <p:cNvSpPr txBox="1"/>
          <p:nvPr/>
        </p:nvSpPr>
        <p:spPr>
          <a:xfrm>
            <a:off x="62179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pencil, 60 minutes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Individual, closed book</a:t>
            </a:r>
          </a:p>
        </p:txBody>
      </p:sp>
      <p:sp>
        <p:nvSpPr>
          <p:cNvPr id="27" name="Exam content card body"/>
          <p:cNvSpPr/>
          <p:nvPr/>
        </p:nvSpPr>
        <p:spPr>
          <a:xfrm>
            <a:off x="324612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Exam content card header"/>
          <p:cNvSpPr/>
          <p:nvPr/>
        </p:nvSpPr>
        <p:spPr>
          <a:xfrm>
            <a:off x="324612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Exam content card heading"/>
          <p:cNvSpPr txBox="1"/>
          <p:nvPr/>
        </p:nvSpPr>
        <p:spPr>
          <a:xfrm>
            <a:off x="338328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Content</a:t>
            </a:r>
          </a:p>
        </p:txBody>
      </p:sp>
      <p:pic>
        <p:nvPicPr>
          <p:cNvPr id="30" name="Icon Exam conte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404872"/>
            <a:ext cx="310896" cy="310896"/>
          </a:xfrm>
          <a:prstGeom prst="rect">
            <a:avLst/>
          </a:prstGeom>
        </p:spPr>
      </p:pic>
      <p:sp>
        <p:nvSpPr>
          <p:cNvPr id="31" name="Exam content card text"/>
          <p:cNvSpPr txBox="1"/>
          <p:nvPr/>
        </p:nvSpPr>
        <p:spPr>
          <a:xfrm>
            <a:off x="341071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All five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Reading model output, not coding</a:t>
            </a:r>
          </a:p>
        </p:txBody>
      </p:sp>
      <p:sp>
        <p:nvSpPr>
          <p:cNvPr id="32" name="Exam preparation card body"/>
          <p:cNvSpPr/>
          <p:nvPr/>
        </p:nvSpPr>
        <p:spPr>
          <a:xfrm>
            <a:off x="603504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Exam preparation card header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xam preparation card heading"/>
          <p:cNvSpPr txBox="1"/>
          <p:nvPr/>
        </p:nvSpPr>
        <p:spPr>
          <a:xfrm>
            <a:off x="617220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Preparation</a:t>
            </a:r>
          </a:p>
        </p:txBody>
      </p:sp>
      <p:pic>
        <p:nvPicPr>
          <p:cNvPr id="35" name="Icon Exam preparation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36" name="Exam preparation card text"/>
          <p:cNvSpPr txBox="1"/>
          <p:nvPr/>
        </p:nvSpPr>
        <p:spPr>
          <a:xfrm>
            <a:off x="619963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Online quiz after every session (not graded)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Session materials and book chapters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se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se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 per group</a:t>
            </a:r>
          </a:p>
        </p:txBody>
      </p:sp>
      <p:sp>
        <p:nvSpPr>
          <p:cNvPr id="13" name="Case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ase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ase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max. 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students per group</a:t>
            </a:r>
          </a:p>
        </p:txBody>
      </p:sp>
      <p:sp>
        <p:nvSpPr>
          <p:cNvPr id="16" name="Case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se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ase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ase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se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ase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Nov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2026, 23:59: deadline</a:t>
            </a:r>
          </a:p>
        </p:txBody>
      </p:sp>
      <p:sp>
        <p:nvSpPr>
          <p:cNvPr id="22" name="Submit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 on Canvas</a:t>
            </a:r>
          </a:p>
        </p:txBody>
      </p:sp>
      <p:sp>
        <p:nvSpPr>
          <p:cNvPr id="23" name="Submission card 1"/>
          <p:cNvSpPr/>
          <p:nvPr/>
        </p:nvSpPr>
        <p:spPr>
          <a:xfrm>
            <a:off x="45720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88920"/>
            <a:ext cx="365760" cy="365760"/>
          </a:xfrm>
          <a:prstGeom prst="rect">
            <a:avLst/>
          </a:prstGeom>
        </p:spPr>
      </p:pic>
      <p:sp>
        <p:nvSpPr>
          <p:cNvPr id="25" name="Submission text 1"/>
          <p:cNvSpPr txBox="1"/>
          <p:nvPr/>
        </p:nvSpPr>
        <p:spPr>
          <a:xfrm>
            <a:off x="114300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report.qmd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Quarto file that renders without errors</a:t>
            </a:r>
          </a:p>
        </p:txBody>
      </p:sp>
      <p:sp>
        <p:nvSpPr>
          <p:cNvPr id="26" name="Submission card 2"/>
          <p:cNvSpPr/>
          <p:nvPr/>
        </p:nvSpPr>
        <p:spPr>
          <a:xfrm>
            <a:off x="324612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788920"/>
            <a:ext cx="365760" cy="365760"/>
          </a:xfrm>
          <a:prstGeom prst="rect">
            <a:avLst/>
          </a:prstGeom>
        </p:spPr>
      </p:pic>
      <p:sp>
        <p:nvSpPr>
          <p:cNvPr id="28" name="Submission text 2"/>
          <p:cNvSpPr txBox="1"/>
          <p:nvPr/>
        </p:nvSpPr>
        <p:spPr>
          <a:xfrm>
            <a:off x="393192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report.html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rendered, self-contained report</a:t>
            </a:r>
          </a:p>
        </p:txBody>
      </p:sp>
      <p:sp>
        <p:nvSpPr>
          <p:cNvPr id="29" name="Submission card 3"/>
          <p:cNvSpPr/>
          <p:nvPr/>
        </p:nvSpPr>
        <p:spPr>
          <a:xfrm>
            <a:off x="603504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788920"/>
            <a:ext cx="365760" cy="365760"/>
          </a:xfrm>
          <a:prstGeom prst="rect">
            <a:avLst/>
          </a:prstGeom>
        </p:spPr>
      </p:pic>
      <p:sp>
        <p:nvSpPr>
          <p:cNvPr id="31" name="Submission text 3"/>
          <p:cNvSpPr txBox="1"/>
          <p:nvPr/>
        </p:nvSpPr>
        <p:spPr>
          <a:xfrm>
            <a:off x="672084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Appendix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AI prompt log and contribution statement, inside the report</a:t>
            </a:r>
          </a:p>
        </p:txBody>
      </p:sp>
      <p:sp>
        <p:nvSpPr>
          <p:cNvPr id="32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answer four questions about Alpenglow's web shop with the methods of Sessions 1 to 4: what drives orders, price and advertising effects, subscriber churn, and the Q1 2026 baseline.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Tools: </a:t>
            </a:r>
            <a:r>
              <a:rPr sz="1300" b="0" lang="en-GB">
                <a:solidFill>
                  <a:schemeClr val="bg1"/>
                </a:solidFill>
              </a:rPr>
              <a:t>polars, plotnine, great_tables and statsmodels.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