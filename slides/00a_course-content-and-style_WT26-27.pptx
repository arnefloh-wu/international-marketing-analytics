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56" r:id="rId13"/>
    <p:sldId id="257" r:id="rId14"/>
    <p:sldId id="267" r:id="rId39"/>
    <p:sldId id="268" r:id="rId40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.xml"/><Relationship Id="rId4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4"/>
            </a:solidFill>
          </c:spPr>
          <c:cat>
            <c:strRef>
              <c:f>Sheet1!$A$2:$A$5</c:f>
              <c:strCache>
                <c:ptCount val="4"/>
                <c:pt idx="0">
                  <c:v>Coding exercises (4 × 5 %)</c:v>
                </c:pt>
                <c:pt idx="1">
                  <c:v>Online certificates, DataCamp (4 × 5 %)</c:v>
                </c:pt>
                <c:pt idx="2">
                  <c:v>Written exam</c:v>
                </c:pt>
                <c:pt idx="3">
                  <c:v>Case study: written report (group)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20</c:v>
                </c:pt>
                <c:pt idx="2">
                  <c:v>30</c:v>
                </c:pt>
                <c:pt idx="3">
                  <c:v>30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sz="1300" b="1">
                  <a:solidFill>
                    <a:schemeClr val="tx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+mn-lt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explains what the course is about, how it is taught and how it is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Ice-breaker: who is in the room, which countries, which prior exposure to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Marketing mix modelling in one breath: take the sales history, separate what would have sold anyway from what each marketing activity added, and use that to decide where the next euro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1 combines the introduction with linear regression. Each session adds one method; the last brings them together in dedicated MMM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outcomes each for understanding, applying and transferring. Cross-sectional means many units at one point in time (countries, stores); longitudinal means the same units over time (weekly sales).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session ends with a short online quiz that is not graded; it shows you what to revise. The written exam at the end is paper and pencil with multiple-choice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Topics follow the course roadmap; methods in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components. Certificates, coding exercises and the exam are individual; the case study report is written in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DataCamp courses are assigned on Canvas. The installation check is the command in the setup guide that prints 'ready'.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Coding exercises apply the lab code to a similar task. The exam tests concepts and interpretation, not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questions? Contact details on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endParaRPr lang="en-GB" sz="1200"/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20" name="Logoplatzhalter 19"/>
          <p:cNvSpPr>
            <a:spLocks noGrp="1"/>
          </p:cNvSpPr>
          <p:nvPr>
            <p:ph type="pic" sz="quarter" idx="13" hasCustomPrompt="1"/>
          </p:nvPr>
        </p:nvSpPr>
        <p:spPr>
          <a:xfrm>
            <a:off x="7715688" y="4243825"/>
            <a:ext cx="860000" cy="860000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Logo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type="tbl"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0" indent="0">
              <a:buNone/>
            </a:pPr>
            <a:r>
              <a:rPr lang="en-GB" dirty="0"/>
              <a:t>Click icon to add table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3" r:id="rId20"/>
    <p:sldLayoutId id="2147483694" r:id="rId21"/>
    <p:sldLayoutId id="2147483695" r:id="rId22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nstr_image9.tiff"/><Relationship Id="rId5" Type="http://schemas.openxmlformats.org/officeDocument/2006/relationships/hyperlink" Target="mailto:arne.floh@wu.ac.at" TargetMode="External"/><Relationship Id="rId6" Type="http://schemas.openxmlformats.org/officeDocument/2006/relationships/hyperlink" Target="https://calendar.app.google/o4FuKoF1YcarRfnC8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nstr_image9.tiff"/><Relationship Id="rId3" Type="http://schemas.openxmlformats.org/officeDocument/2006/relationships/image" Target="../media/instr_image10.png"/><Relationship Id="rId4" Type="http://schemas.openxmlformats.org/officeDocument/2006/relationships/image" Target="../media/instr_image11.jpeg"/><Relationship Id="rId5" Type="http://schemas.openxmlformats.org/officeDocument/2006/relationships/image" Target="../media/instr_image12.jpeg"/><Relationship Id="rId6" Type="http://schemas.openxmlformats.org/officeDocument/2006/relationships/image" Target="../media/instr_image13.jpeg"/><Relationship Id="rId7" Type="http://schemas.openxmlformats.org/officeDocument/2006/relationships/image" Target="../media/instr_image14.jpeg"/><Relationship Id="rId8" Type="http://schemas.openxmlformats.org/officeDocument/2006/relationships/image" Target="../media/instr_image15.png"/><Relationship Id="rId9" Type="http://schemas.openxmlformats.org/officeDocument/2006/relationships/image" Target="../media/instr_image16.png"/><Relationship Id="rId10" Type="http://schemas.openxmlformats.org/officeDocument/2006/relationships/image" Target="../media/instr_image17.png"/><Relationship Id="rId11" Type="http://schemas.openxmlformats.org/officeDocument/2006/relationships/image" Target="../media/instr_image18.jpeg"/><Relationship Id="rId12" Type="http://schemas.openxmlformats.org/officeDocument/2006/relationships/image" Target="../media/instr_image19.png"/><Relationship Id="rId13" Type="http://schemas.openxmlformats.org/officeDocument/2006/relationships/image" Target="../media/instr_image20.png"/><Relationship Id="rId14" Type="http://schemas.openxmlformats.org/officeDocument/2006/relationships/image" Target="../media/instr_image21.png"/><Relationship Id="rId15" Type="http://schemas.openxmlformats.org/officeDocument/2006/relationships/image" Target="../media/instr_image22.png"/><Relationship Id="rId16" Type="http://schemas.openxmlformats.org/officeDocument/2006/relationships/image" Target="../media/instr_image23.png"/><Relationship Id="rId17" Type="http://schemas.openxmlformats.org/officeDocument/2006/relationships/image" Target="../media/instr_image24.png"/><Relationship Id="rId18" Type="http://schemas.openxmlformats.org/officeDocument/2006/relationships/image" Target="../media/instr_image2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International Marketing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Course content and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en-GB"/>
              <a:t>Winter term 2026/27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The journey begins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5500F1D-363A-4E04-BE29-68808B4A2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30" y="1455357"/>
            <a:ext cx="6623339" cy="3680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Convenor"/>
          <p:cNvSpPr/>
          <p:nvPr/>
        </p:nvSpPr>
        <p:spPr>
          <a:xfrm>
            <a:off x="457200" y="1320800"/>
            <a:ext cx="82296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951" name="Card divider"/>
          <p:cNvSpPr/>
          <p:nvPr/>
        </p:nvSpPr>
        <p:spPr>
          <a:xfrm>
            <a:off x="5120640" y="2006600"/>
            <a:ext cx="18288" cy="2865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Card header Convenor"/>
          <p:cNvSpPr/>
          <p:nvPr/>
        </p:nvSpPr>
        <p:spPr>
          <a:xfrm>
            <a:off x="457200" y="1320800"/>
            <a:ext cx="82296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500" b="1" dirty="0">
                <a:solidFill>
                  <a:schemeClr val="bg1"/>
                </a:solidFill>
                <a:latin typeface="+mj-lt"/>
              </a:rPr>
              <a:t>Personal and 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https://www.wu.ac.at/en/welthandel/arne-floh/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Office hours: </a:t>
            </a:r>
            <a:r>
              <a:rPr lang="en-GB" altLang="de-DE" sz="1300" dirty="0">
                <a:hlinkClick r:id="rId6"/>
              </a:rPr>
              <a:t>book online (Google Calendar)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content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ntent row 1"/>
          <p:cNvSpPr/>
          <p:nvPr/>
        </p:nvSpPr>
        <p:spPr>
          <a:xfrm>
            <a:off x="457200" y="1234440"/>
            <a:ext cx="82296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content row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76172"/>
            <a:ext cx="384048" cy="384048"/>
          </a:xfrm>
          <a:prstGeom prst="rect">
            <a:avLst/>
          </a:prstGeom>
        </p:spPr>
      </p:pic>
      <p:sp>
        <p:nvSpPr>
          <p:cNvPr id="12" name="Content text 1"/>
          <p:cNvSpPr txBox="1"/>
          <p:nvPr/>
        </p:nvSpPr>
        <p:spPr>
          <a:xfrm>
            <a:off x="1280160" y="1234440"/>
            <a:ext cx="722376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Marketing analytics </a:t>
            </a:r>
            <a:r>
              <a:rPr sz="1300" b="0" lang="en-GB">
                <a:solidFill>
                  <a:schemeClr val="tx1"/>
                </a:solidFill>
              </a:rPr>
              <a:t>turns marketing data into decisions. It measures what marketing achieved and shows where the next euro should go.</a:t>
            </a:r>
          </a:p>
        </p:txBody>
      </p:sp>
      <p:sp>
        <p:nvSpPr>
          <p:cNvPr id="13" name="Content row 2"/>
          <p:cNvSpPr/>
          <p:nvPr/>
        </p:nvSpPr>
        <p:spPr>
          <a:xfrm>
            <a:off x="457200" y="2039112"/>
            <a:ext cx="82296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content row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180844"/>
            <a:ext cx="384048" cy="384048"/>
          </a:xfrm>
          <a:prstGeom prst="rect">
            <a:avLst/>
          </a:prstGeom>
        </p:spPr>
      </p:pic>
      <p:sp>
        <p:nvSpPr>
          <p:cNvPr id="15" name="Content text 2"/>
          <p:cNvSpPr txBox="1"/>
          <p:nvPr/>
        </p:nvSpPr>
        <p:spPr>
          <a:xfrm>
            <a:off x="1280160" y="2039112"/>
            <a:ext cx="722376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Key questions: </a:t>
            </a:r>
            <a:r>
              <a:rPr sz="1300" b="0" lang="en-GB">
                <a:solidFill>
                  <a:schemeClr val="tx1"/>
                </a:solidFill>
              </a:rPr>
              <a:t>how do price, place, product features and promotion drive performance measures such as sales, and how should a fixed budget be split across countries and channels?</a:t>
            </a:r>
          </a:p>
        </p:txBody>
      </p:sp>
      <p:sp>
        <p:nvSpPr>
          <p:cNvPr id="16" name="Content row 3"/>
          <p:cNvSpPr/>
          <p:nvPr/>
        </p:nvSpPr>
        <p:spPr>
          <a:xfrm>
            <a:off x="457200" y="2843784"/>
            <a:ext cx="82296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content row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2985516"/>
            <a:ext cx="384048" cy="384048"/>
          </a:xfrm>
          <a:prstGeom prst="rect">
            <a:avLst/>
          </a:prstGeom>
        </p:spPr>
      </p:pic>
      <p:sp>
        <p:nvSpPr>
          <p:cNvPr id="18" name="Content text 3"/>
          <p:cNvSpPr txBox="1"/>
          <p:nvPr/>
        </p:nvSpPr>
        <p:spPr>
          <a:xfrm>
            <a:off x="1280160" y="2843784"/>
            <a:ext cx="722376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Marketing mix modelling in plain words: </a:t>
            </a:r>
            <a:r>
              <a:rPr sz="1300" b="0" lang="en-GB">
                <a:solidFill>
                  <a:schemeClr val="tx1"/>
                </a:solidFill>
              </a:rPr>
              <a:t>a model that splits sales into what would have sold anyway and the extra sales each marketing activity brought in.</a:t>
            </a:r>
          </a:p>
        </p:txBody>
      </p:sp>
      <p:sp>
        <p:nvSpPr>
          <p:cNvPr id="19" name="Content row 4"/>
          <p:cNvSpPr/>
          <p:nvPr/>
        </p:nvSpPr>
        <p:spPr>
          <a:xfrm>
            <a:off x="457200" y="3648456"/>
            <a:ext cx="82296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ntent row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3790188"/>
            <a:ext cx="384048" cy="384048"/>
          </a:xfrm>
          <a:prstGeom prst="rect">
            <a:avLst/>
          </a:prstGeom>
        </p:spPr>
      </p:pic>
      <p:sp>
        <p:nvSpPr>
          <p:cNvPr id="21" name="Content text 4"/>
          <p:cNvSpPr txBox="1"/>
          <p:nvPr/>
        </p:nvSpPr>
        <p:spPr>
          <a:xfrm>
            <a:off x="1280160" y="3648456"/>
            <a:ext cx="722376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Tools: </a:t>
            </a:r>
            <a:r>
              <a:rPr sz="1300" b="0" lang="en-GB">
                <a:solidFill>
                  <a:schemeClr val="tx1"/>
                </a:solidFill>
              </a:rPr>
              <a:t>Python in Positron, GitHub for versioning and DataCamp courses; AI assistants do most of the typing, you check the results.</a:t>
            </a:r>
          </a:p>
        </p:txBody>
      </p:sp>
      <p:sp>
        <p:nvSpPr>
          <p:cNvPr id="22" name="Content row 5"/>
          <p:cNvSpPr/>
          <p:nvPr/>
        </p:nvSpPr>
        <p:spPr>
          <a:xfrm>
            <a:off x="457200" y="4453128"/>
            <a:ext cx="82296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Icon content row 5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594860"/>
            <a:ext cx="384048" cy="384048"/>
          </a:xfrm>
          <a:prstGeom prst="rect">
            <a:avLst/>
          </a:prstGeom>
        </p:spPr>
      </p:pic>
      <p:sp>
        <p:nvSpPr>
          <p:cNvPr id="24" name="Content text 5"/>
          <p:cNvSpPr txBox="1"/>
          <p:nvPr/>
        </p:nvSpPr>
        <p:spPr>
          <a:xfrm>
            <a:off x="1280160" y="4453128"/>
            <a:ext cx="722376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Case studies: </a:t>
            </a:r>
            <a:r>
              <a:rPr sz="1300" b="0" lang="en-GB">
                <a:solidFill>
                  <a:schemeClr val="tx1"/>
                </a:solidFill>
              </a:rPr>
              <a:t>Zalando and NEOH, plus a six-country teaching dataset with known answers for the labs.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Course roadmap: five sessions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Road"/>
          <p:cNvSpPr/>
          <p:nvPr/>
        </p:nvSpPr>
        <p:spPr>
          <a:xfrm>
            <a:off x="457200" y="2139696"/>
            <a:ext cx="8092440" cy="1097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ad end"/>
          <p:cNvSpPr/>
          <p:nvPr/>
        </p:nvSpPr>
        <p:spPr>
          <a:xfrm rot="5400000">
            <a:off x="8458200" y="2039112"/>
            <a:ext cx="228600" cy="310896"/>
          </a:xfrm>
          <a:prstGeom prst="triangl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Stop label 1"/>
          <p:cNvSpPr txBox="1"/>
          <p:nvPr/>
        </p:nvSpPr>
        <p:spPr>
          <a:xfrm>
            <a:off x="502920" y="1298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accent1"/>
                </a:solidFill>
              </a:rPr>
              <a:t>Session 1</a:t>
            </a:r>
          </a:p>
        </p:txBody>
      </p:sp>
      <p:sp>
        <p:nvSpPr>
          <p:cNvPr id="13" name="Stop 1"/>
          <p:cNvSpPr/>
          <p:nvPr/>
        </p:nvSpPr>
        <p:spPr>
          <a:xfrm>
            <a:off x="978408" y="1892808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14" name="Stop theme 1"/>
          <p:cNvSpPr txBox="1"/>
          <p:nvPr/>
        </p:nvSpPr>
        <p:spPr>
          <a:xfrm>
            <a:off x="521208" y="2651760"/>
            <a:ext cx="1517904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Introduction and linear regression</a:t>
            </a:r>
          </a:p>
        </p:txBody>
      </p:sp>
      <p:sp>
        <p:nvSpPr>
          <p:cNvPr id="15" name="Stop text 1"/>
          <p:cNvSpPr txBox="1"/>
          <p:nvPr/>
        </p:nvSpPr>
        <p:spPr>
          <a:xfrm>
            <a:off x="521208" y="3520440"/>
            <a:ext cx="1517904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MMM basics, OLS, elasticities, dummy variables</a:t>
            </a:r>
          </a:p>
        </p:txBody>
      </p:sp>
      <p:sp>
        <p:nvSpPr>
          <p:cNvPr id="16" name="Stop label 2"/>
          <p:cNvSpPr txBox="1"/>
          <p:nvPr/>
        </p:nvSpPr>
        <p:spPr>
          <a:xfrm>
            <a:off x="2148840" y="1298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accent1"/>
                </a:solidFill>
              </a:rPr>
              <a:t>Session 2</a:t>
            </a:r>
          </a:p>
        </p:txBody>
      </p:sp>
      <p:sp>
        <p:nvSpPr>
          <p:cNvPr id="17" name="Stop 2"/>
          <p:cNvSpPr/>
          <p:nvPr/>
        </p:nvSpPr>
        <p:spPr>
          <a:xfrm>
            <a:off x="2624328" y="1892808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18" name="Stop theme 2"/>
          <p:cNvSpPr txBox="1"/>
          <p:nvPr/>
        </p:nvSpPr>
        <p:spPr>
          <a:xfrm>
            <a:off x="2167128" y="2651760"/>
            <a:ext cx="1517904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regression</a:t>
            </a:r>
          </a:p>
        </p:txBody>
      </p:sp>
      <p:sp>
        <p:nvSpPr>
          <p:cNvPr id="19" name="Stop text 2"/>
          <p:cNvSpPr txBox="1"/>
          <p:nvPr/>
        </p:nvSpPr>
        <p:spPr>
          <a:xfrm>
            <a:off x="2167128" y="3520440"/>
            <a:ext cx="1517904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Non-linear effects, interactions, adstock, saturation</a:t>
            </a:r>
          </a:p>
        </p:txBody>
      </p:sp>
      <p:sp>
        <p:nvSpPr>
          <p:cNvPr id="20" name="Stop label 3"/>
          <p:cNvSpPr txBox="1"/>
          <p:nvPr/>
        </p:nvSpPr>
        <p:spPr>
          <a:xfrm>
            <a:off x="3794760" y="1298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accent1"/>
                </a:solidFill>
              </a:rPr>
              <a:t>Session 3</a:t>
            </a:r>
          </a:p>
        </p:txBody>
      </p:sp>
      <p:sp>
        <p:nvSpPr>
          <p:cNvPr id="21" name="Stop 3"/>
          <p:cNvSpPr/>
          <p:nvPr/>
        </p:nvSpPr>
        <p:spPr>
          <a:xfrm>
            <a:off x="4270248" y="1892808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22" name="Stop theme 3"/>
          <p:cNvSpPr txBox="1"/>
          <p:nvPr/>
        </p:nvSpPr>
        <p:spPr>
          <a:xfrm>
            <a:off x="3813048" y="2651760"/>
            <a:ext cx="1517904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Logistic regression</a:t>
            </a:r>
          </a:p>
        </p:txBody>
      </p:sp>
      <p:sp>
        <p:nvSpPr>
          <p:cNvPr id="23" name="Stop text 3"/>
          <p:cNvSpPr txBox="1"/>
          <p:nvPr/>
        </p:nvSpPr>
        <p:spPr>
          <a:xfrm>
            <a:off x="3813048" y="3520440"/>
            <a:ext cx="1517904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Binary outcomes, odds ratios</a:t>
            </a:r>
          </a:p>
        </p:txBody>
      </p:sp>
      <p:sp>
        <p:nvSpPr>
          <p:cNvPr id="24" name="Stop label 4"/>
          <p:cNvSpPr txBox="1"/>
          <p:nvPr/>
        </p:nvSpPr>
        <p:spPr>
          <a:xfrm>
            <a:off x="5440680" y="1298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accent1"/>
                </a:solidFill>
              </a:rPr>
              <a:t>Session 4</a:t>
            </a:r>
          </a:p>
        </p:txBody>
      </p:sp>
      <p:sp>
        <p:nvSpPr>
          <p:cNvPr id="25" name="Stop 4"/>
          <p:cNvSpPr/>
          <p:nvPr/>
        </p:nvSpPr>
        <p:spPr>
          <a:xfrm>
            <a:off x="5916168" y="1892808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26" name="Stop theme 4"/>
          <p:cNvSpPr txBox="1"/>
          <p:nvPr/>
        </p:nvSpPr>
        <p:spPr>
          <a:xfrm>
            <a:off x="5458968" y="2651760"/>
            <a:ext cx="1517904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ARIMA</a:t>
            </a:r>
          </a:p>
        </p:txBody>
      </p:sp>
      <p:sp>
        <p:nvSpPr>
          <p:cNvPr id="27" name="Stop text 4"/>
          <p:cNvSpPr txBox="1"/>
          <p:nvPr/>
        </p:nvSpPr>
        <p:spPr>
          <a:xfrm>
            <a:off x="5458968" y="3520440"/>
            <a:ext cx="1517904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Trend, seasonality, forecasting the baseline</a:t>
            </a:r>
          </a:p>
        </p:txBody>
      </p:sp>
      <p:sp>
        <p:nvSpPr>
          <p:cNvPr id="28" name="Stop label 5"/>
          <p:cNvSpPr txBox="1"/>
          <p:nvPr/>
        </p:nvSpPr>
        <p:spPr>
          <a:xfrm>
            <a:off x="7086600" y="1298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accent1"/>
                </a:solidFill>
              </a:rPr>
              <a:t>Session 5</a:t>
            </a:r>
          </a:p>
        </p:txBody>
      </p:sp>
      <p:sp>
        <p:nvSpPr>
          <p:cNvPr id="29" name="Stop 5"/>
          <p:cNvSpPr/>
          <p:nvPr/>
        </p:nvSpPr>
        <p:spPr>
          <a:xfrm>
            <a:off x="7562088" y="1892808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30" name="Stop theme 5"/>
          <p:cNvSpPr txBox="1"/>
          <p:nvPr/>
        </p:nvSpPr>
        <p:spPr>
          <a:xfrm>
            <a:off x="7104888" y="2651760"/>
            <a:ext cx="1517904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MMM tools</a:t>
            </a:r>
          </a:p>
        </p:txBody>
      </p:sp>
      <p:sp>
        <p:nvSpPr>
          <p:cNvPr id="31" name="Stop text 5"/>
          <p:cNvSpPr txBox="1"/>
          <p:nvPr/>
        </p:nvSpPr>
        <p:spPr>
          <a:xfrm>
            <a:off x="7104888" y="3520440"/>
            <a:ext cx="1517904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Bayesian MMM, budget optimisation</a:t>
            </a:r>
          </a:p>
        </p:txBody>
      </p:sp>
      <p:sp>
        <p:nvSpPr>
          <p:cNvPr id="32" name="Along the way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Icon along the way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45152"/>
            <a:ext cx="347472" cy="347472"/>
          </a:xfrm>
          <a:prstGeom prst="rect">
            <a:avLst/>
          </a:prstGeom>
        </p:spPr>
      </p:pic>
      <p:sp>
        <p:nvSpPr>
          <p:cNvPr id="34" name="Along the way text"/>
          <p:cNvSpPr txBox="1"/>
          <p:nvPr/>
        </p:nvSpPr>
        <p:spPr>
          <a:xfrm>
            <a:off x="1143000" y="4572000"/>
            <a:ext cx="7406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Along the way: </a:t>
            </a:r>
            <a:r>
              <a:rPr sz="1300" b="0" lang="en-GB">
                <a:solidFill>
                  <a:schemeClr val="tx1"/>
                </a:solidFill>
              </a:rPr>
              <a:t>DataCamp certificates, coding exercises and a guest speaker. At the end: written exam.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Learning outcomes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Outcomes intro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On successful completion of this module, students will be able to:</a:t>
            </a:r>
          </a:p>
        </p:txBody>
      </p:sp>
      <p:sp>
        <p:nvSpPr>
          <p:cNvPr id="11" name="Outcomes band 1"/>
          <p:cNvSpPr/>
          <p:nvPr/>
        </p:nvSpPr>
        <p:spPr>
          <a:xfrm>
            <a:off x="457200" y="1572768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utcomes bar 1"/>
          <p:cNvSpPr/>
          <p:nvPr/>
        </p:nvSpPr>
        <p:spPr>
          <a:xfrm>
            <a:off x="457200" y="1572768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Icon Outcomes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384048" cy="384048"/>
          </a:xfrm>
          <a:prstGeom prst="rect">
            <a:avLst/>
          </a:prstGeom>
        </p:spPr>
      </p:pic>
      <p:sp>
        <p:nvSpPr>
          <p:cNvPr id="14" name="Outcomes heading 1"/>
          <p:cNvSpPr txBox="1"/>
          <p:nvPr/>
        </p:nvSpPr>
        <p:spPr>
          <a:xfrm>
            <a:off x="1188720" y="1572768"/>
            <a:ext cx="128016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Understand</a:t>
            </a:r>
          </a:p>
        </p:txBody>
      </p:sp>
      <p:sp>
        <p:nvSpPr>
          <p:cNvPr id="15" name="Outcomes outcomes 1"/>
          <p:cNvSpPr txBox="1"/>
          <p:nvPr/>
        </p:nvSpPr>
        <p:spPr>
          <a:xfrm>
            <a:off x="2606040" y="1664208"/>
            <a:ext cx="5897880" cy="8961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accent1"/>
                </a:solidFill>
              </a:rPr>
              <a:t>1  </a:t>
            </a:r>
            <a:r>
              <a:rPr sz="1300" b="1" lang="en-GB">
                <a:solidFill>
                  <a:schemeClr val="tx2"/>
                </a:solidFill>
              </a:rPr>
              <a:t>Explain the fundamentals of MMM, </a:t>
            </a:r>
            <a:r>
              <a:rPr sz="1300" b="0" lang="en-GB">
                <a:solidFill>
                  <a:schemeClr val="tx1"/>
                </a:solidFill>
              </a:rPr>
              <a:t>including its strengths and limitations.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accent1"/>
                </a:solidFill>
              </a:rPr>
              <a:t>2  </a:t>
            </a:r>
            <a:r>
              <a:rPr sz="1300" b="1" lang="en-GB">
                <a:solidFill>
                  <a:schemeClr val="tx2"/>
                </a:solidFill>
              </a:rPr>
              <a:t>Describe real-world applications </a:t>
            </a:r>
            <a:r>
              <a:rPr sz="1300" b="0" lang="en-GB">
                <a:solidFill>
                  <a:schemeClr val="tx1"/>
                </a:solidFill>
              </a:rPr>
              <a:t>of MMM in marketing and budget planning.</a:t>
            </a:r>
          </a:p>
        </p:txBody>
      </p:sp>
      <p:sp>
        <p:nvSpPr>
          <p:cNvPr id="16" name="Outcomes band 2"/>
          <p:cNvSpPr/>
          <p:nvPr/>
        </p:nvSpPr>
        <p:spPr>
          <a:xfrm>
            <a:off x="457200" y="2788920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utcomes bar 2"/>
          <p:cNvSpPr/>
          <p:nvPr/>
        </p:nvSpPr>
        <p:spPr>
          <a:xfrm>
            <a:off x="457200" y="2788920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Icon Outcomes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6392"/>
            <a:ext cx="384048" cy="384048"/>
          </a:xfrm>
          <a:prstGeom prst="rect">
            <a:avLst/>
          </a:prstGeom>
        </p:spPr>
      </p:pic>
      <p:sp>
        <p:nvSpPr>
          <p:cNvPr id="19" name="Outcomes heading 2"/>
          <p:cNvSpPr txBox="1"/>
          <p:nvPr/>
        </p:nvSpPr>
        <p:spPr>
          <a:xfrm>
            <a:off x="1188720" y="2788920"/>
            <a:ext cx="128016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Apply</a:t>
            </a:r>
          </a:p>
        </p:txBody>
      </p:sp>
      <p:sp>
        <p:nvSpPr>
          <p:cNvPr id="20" name="Outcomes outcomes 2"/>
          <p:cNvSpPr txBox="1"/>
          <p:nvPr/>
        </p:nvSpPr>
        <p:spPr>
          <a:xfrm>
            <a:off x="2606040" y="2880360"/>
            <a:ext cx="5897880" cy="8961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accent1"/>
                </a:solidFill>
              </a:rPr>
              <a:t>3  </a:t>
            </a:r>
            <a:r>
              <a:rPr sz="1300" b="1" lang="en-GB">
                <a:solidFill>
                  <a:schemeClr val="tx2"/>
                </a:solidFill>
              </a:rPr>
              <a:t>Apply MMM in Python </a:t>
            </a:r>
            <a:r>
              <a:rPr sz="1300" b="0" lang="en-GB">
                <a:solidFill>
                  <a:schemeClr val="tx1"/>
                </a:solidFill>
              </a:rPr>
              <a:t>to cross-sectional and longitudinal data.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accent1"/>
                </a:solidFill>
              </a:rPr>
              <a:t>4  </a:t>
            </a:r>
            <a:r>
              <a:rPr sz="1300" b="1" lang="en-GB">
                <a:solidFill>
                  <a:schemeClr val="tx2"/>
                </a:solidFill>
              </a:rPr>
              <a:t>Practise decision-making: </a:t>
            </a:r>
            <a:r>
              <a:rPr sz="1300" b="0" lang="en-GB">
                <a:solidFill>
                  <a:schemeClr val="tx1"/>
                </a:solidFill>
              </a:rPr>
              <a:t>interpret results and turn them into marketing decisions.</a:t>
            </a:r>
          </a:p>
        </p:txBody>
      </p:sp>
      <p:sp>
        <p:nvSpPr>
          <p:cNvPr id="21" name="Outcomes band 3"/>
          <p:cNvSpPr/>
          <p:nvPr/>
        </p:nvSpPr>
        <p:spPr>
          <a:xfrm>
            <a:off x="457200" y="4005072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utcomes bar 3"/>
          <p:cNvSpPr/>
          <p:nvPr/>
        </p:nvSpPr>
        <p:spPr>
          <a:xfrm>
            <a:off x="457200" y="4005072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Icon Outcomes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384048" cy="384048"/>
          </a:xfrm>
          <a:prstGeom prst="rect">
            <a:avLst/>
          </a:prstGeom>
        </p:spPr>
      </p:pic>
      <p:sp>
        <p:nvSpPr>
          <p:cNvPr id="24" name="Outcomes heading 3"/>
          <p:cNvSpPr txBox="1"/>
          <p:nvPr/>
        </p:nvSpPr>
        <p:spPr>
          <a:xfrm>
            <a:off x="1188720" y="4005072"/>
            <a:ext cx="128016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Transfer</a:t>
            </a:r>
          </a:p>
        </p:txBody>
      </p:sp>
      <p:sp>
        <p:nvSpPr>
          <p:cNvPr id="25" name="Outcomes outcomes 3"/>
          <p:cNvSpPr txBox="1"/>
          <p:nvPr/>
        </p:nvSpPr>
        <p:spPr>
          <a:xfrm>
            <a:off x="2606040" y="4096512"/>
            <a:ext cx="5897880" cy="8961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accent1"/>
                </a:solidFill>
              </a:rPr>
              <a:t>5  </a:t>
            </a:r>
            <a:r>
              <a:rPr sz="1300" b="1" lang="en-GB">
                <a:solidFill>
                  <a:schemeClr val="tx2"/>
                </a:solidFill>
              </a:rPr>
              <a:t>Use AI tools </a:t>
            </a:r>
            <a:r>
              <a:rPr sz="1300" b="0" lang="en-GB">
                <a:solidFill>
                  <a:schemeClr val="tx1"/>
                </a:solidFill>
              </a:rPr>
              <a:t>for analysis and reporting, and check their output.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accent1"/>
                </a:solidFill>
              </a:rPr>
              <a:t>6  </a:t>
            </a:r>
            <a:r>
              <a:rPr sz="1300" b="1" lang="en-GB">
                <a:solidFill>
                  <a:schemeClr val="tx2"/>
                </a:solidFill>
              </a:rPr>
              <a:t>Apply transferable skills: </a:t>
            </a:r>
            <a:r>
              <a:rPr sz="1300" b="0" lang="en-GB">
                <a:solidFill>
                  <a:schemeClr val="tx1"/>
                </a:solidFill>
              </a:rPr>
              <a:t>think critically and work effectively in teams.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Methods of teaching and learning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ession rhythm label"/>
          <p:cNvSpPr txBox="1"/>
          <p:nvPr/>
        </p:nvSpPr>
        <p:spPr>
          <a:xfrm>
            <a:off x="457200" y="11704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Every session</a:t>
            </a:r>
          </a:p>
        </p:txBody>
      </p:sp>
      <p:sp>
        <p:nvSpPr>
          <p:cNvPr id="11" name="Session rhythm step 1"/>
          <p:cNvSpPr/>
          <p:nvPr/>
        </p:nvSpPr>
        <p:spPr>
          <a:xfrm>
            <a:off x="457200" y="1481328"/>
            <a:ext cx="2139696" cy="65836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Concept lecture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2" name="Session rhythm step 2"/>
          <p:cNvSpPr/>
          <p:nvPr/>
        </p:nvSpPr>
        <p:spPr>
          <a:xfrm>
            <a:off x="2487168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90 min</a:t>
            </a:r>
          </a:p>
        </p:txBody>
      </p:sp>
      <p:sp>
        <p:nvSpPr>
          <p:cNvPr id="13" name="Session rhythm step 3"/>
          <p:cNvSpPr/>
          <p:nvPr/>
        </p:nvSpPr>
        <p:spPr>
          <a:xfrm>
            <a:off x="4517136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Team exercise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4" name="Session rhythm step 4"/>
          <p:cNvSpPr/>
          <p:nvPr/>
        </p:nvSpPr>
        <p:spPr>
          <a:xfrm>
            <a:off x="6547104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Online quiz</a:t>
            </a:r>
            <a:br/>
            <a:r>
              <a:rPr sz="1300" b="1" lang="en-GB">
                <a:solidFill>
                  <a:schemeClr val="tx2"/>
                </a:solidFill>
              </a:rPr>
              <a:t>not graded</a:t>
            </a:r>
          </a:p>
        </p:txBody>
      </p:sp>
      <p:sp>
        <p:nvSpPr>
          <p:cNvPr id="15" name="Between sessions card body"/>
          <p:cNvSpPr/>
          <p:nvPr/>
        </p:nvSpPr>
        <p:spPr>
          <a:xfrm>
            <a:off x="4572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etween sessions card header"/>
          <p:cNvSpPr/>
          <p:nvPr/>
        </p:nvSpPr>
        <p:spPr>
          <a:xfrm>
            <a:off x="4572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Between sessions card heading"/>
          <p:cNvSpPr txBox="1"/>
          <p:nvPr/>
        </p:nvSpPr>
        <p:spPr>
          <a:xfrm>
            <a:off x="5943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Between sessions</a:t>
            </a:r>
          </a:p>
        </p:txBody>
      </p:sp>
      <p:pic>
        <p:nvPicPr>
          <p:cNvPr id="18" name="Icon Between session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2404872"/>
            <a:ext cx="310896" cy="310896"/>
          </a:xfrm>
          <a:prstGeom prst="rect">
            <a:avLst/>
          </a:prstGeom>
        </p:spPr>
      </p:pic>
      <p:sp>
        <p:nvSpPr>
          <p:cNvPr id="19" name="Between sessions card text"/>
          <p:cNvSpPr txBox="1"/>
          <p:nvPr/>
        </p:nvSpPr>
        <p:spPr>
          <a:xfrm>
            <a:off x="6217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 chapters and materials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DataCamp courses and certificates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Coding exercises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Case study report in your group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  <p:sp>
        <p:nvSpPr>
          <p:cNvPr id="20" name="Card arrow"/>
          <p:cNvSpPr/>
          <p:nvPr/>
        </p:nvSpPr>
        <p:spPr>
          <a:xfrm>
            <a:off x="4425696" y="3200400"/>
            <a:ext cx="292608" cy="36576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n the classroom card body"/>
          <p:cNvSpPr/>
          <p:nvPr/>
        </p:nvSpPr>
        <p:spPr>
          <a:xfrm>
            <a:off x="48006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n the classroom card header"/>
          <p:cNvSpPr/>
          <p:nvPr/>
        </p:nvSpPr>
        <p:spPr>
          <a:xfrm>
            <a:off x="48006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n the classroom card heading"/>
          <p:cNvSpPr txBox="1"/>
          <p:nvPr/>
        </p:nvSpPr>
        <p:spPr>
          <a:xfrm>
            <a:off x="49377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In the classroom</a:t>
            </a:r>
          </a:p>
        </p:txBody>
      </p:sp>
      <p:pic>
        <p:nvPicPr>
          <p:cNvPr id="24" name="Icon In the classroom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25" name="In the classroom card text"/>
          <p:cNvSpPr txBox="1"/>
          <p:nvPr/>
        </p:nvSpPr>
        <p:spPr>
          <a:xfrm>
            <a:off x="49651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Five in-person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Laptop with Python, Positron, GitHub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AI-assisted coding, checked by you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Guest speaker from industry</a:t>
            </a:r>
          </a:p>
        </p:txBody>
      </p:sp>
      <p:sp>
        <p:nvSpPr>
          <p:cNvPr id="26" name="Exam box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exam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645152"/>
            <a:ext cx="347472" cy="347472"/>
          </a:xfrm>
          <a:prstGeom prst="rect">
            <a:avLst/>
          </a:prstGeom>
        </p:spPr>
      </p:pic>
      <p:sp>
        <p:nvSpPr>
          <p:cNvPr id="28" name="Exam text"/>
          <p:cNvSpPr txBox="1"/>
          <p:nvPr/>
        </p:nvSpPr>
        <p:spPr>
          <a:xfrm>
            <a:off x="1143000" y="4572000"/>
            <a:ext cx="7406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exam, paper and pencil, multiple-choice questions.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Placeholder 1"/>
          <p:cNvGraphicFramePr>
            <a:graphicFrameLocks noGrp="1"/>
          </p:cNvGraphicFramePr>
          <p:nvPr>
            <p:ph type="tbl" idx="1"/>
          </p:nvPr>
        </p:nvGraphicFramePr>
        <p:xfrm>
          <a:off x="462019" y="1344613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377440"/>
                <a:gridCol w="4754880"/>
              </a:tblGrid>
              <a:tr h="370840">
                <a:tc>
                  <a:txBody>
                    <a:bodyPr/>
                    <a:lstStyle/>
                    <a:p>
                      <a:r>
                        <a:rPr sz="1500" lang="en-GB"/>
                        <a:t>Session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Topic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Methods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1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Introduction and linear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Course content and style; Python, Positron, GitHub and DataCamp; MMM fundamentals; OLS, log-log elasticities, dummy variables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2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Non-linear effects, moderation and mediation, adstock and saturation, regression diagnostics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3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Logistic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Binary outcomes such as purchase or churn, odds ratios, model fit and classification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4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ARIMA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Trend, seasonality and autocorrelation; ARIMA and ARIMAX forecasts as the sales baseline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5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MMM tools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Bayesian MMM with PyMC-Marketing and Google Meridian; budget optimisation across channels and countries</a:t>
                      </a:r>
                    </a:p>
                  </a:txBody>
                  <a:tcPr marT="54000" marB="54000"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roadmap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Assessment strategy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Weights heading"/>
          <p:cNvSpPr txBox="1"/>
          <p:nvPr/>
        </p:nvSpPr>
        <p:spPr>
          <a:xfrm>
            <a:off x="457200" y="117043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Weight in the final grade</a:t>
            </a:r>
          </a:p>
        </p:txBody>
      </p:sp>
      <p:graphicFrame>
        <p:nvGraphicFramePr>
          <p:cNvPr id="11" name="Grade weights chart"/>
          <p:cNvGraphicFramePr>
            <a:graphicFrameLocks noGrp="1"/>
          </p:cNvGraphicFramePr>
          <p:nvPr/>
        </p:nvGraphicFramePr>
        <p:xfrm>
          <a:off x="457200" y="1554480"/>
          <a:ext cx="4572000" cy="3520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ules card body"/>
          <p:cNvSpPr/>
          <p:nvPr/>
        </p:nvSpPr>
        <p:spPr>
          <a:xfrm>
            <a:off x="5257800" y="1691640"/>
            <a:ext cx="3429000" cy="3383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ules card header"/>
          <p:cNvSpPr/>
          <p:nvPr/>
        </p:nvSpPr>
        <p:spPr>
          <a:xfrm>
            <a:off x="5257800" y="1234440"/>
            <a:ext cx="34290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ules card heading"/>
          <p:cNvSpPr txBox="1"/>
          <p:nvPr/>
        </p:nvSpPr>
        <p:spPr>
          <a:xfrm>
            <a:off x="5394960" y="12344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Rules</a:t>
            </a:r>
          </a:p>
        </p:txBody>
      </p:sp>
      <p:pic>
        <p:nvPicPr>
          <p:cNvPr id="15" name="Icon Rules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307592"/>
            <a:ext cx="310896" cy="310896"/>
          </a:xfrm>
          <a:prstGeom prst="rect">
            <a:avLst/>
          </a:prstGeom>
        </p:spPr>
      </p:pic>
      <p:sp>
        <p:nvSpPr>
          <p:cNvPr id="16" name="Rules card text"/>
          <p:cNvSpPr txBox="1"/>
          <p:nvPr/>
        </p:nvSpPr>
        <p:spPr>
          <a:xfrm>
            <a:off x="5422392" y="1828800"/>
            <a:ext cx="3127248" cy="310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1" lang="en-GB">
                <a:solidFill>
                  <a:schemeClr val="tx2"/>
                </a:solidFill>
              </a:rPr>
              <a:t>Individual: </a:t>
            </a:r>
            <a:r>
              <a:rPr sz="1300" b="0" lang="en-GB">
                <a:solidFill>
                  <a:schemeClr val="tx1"/>
                </a:solidFill>
              </a:rPr>
              <a:t>certificates, coding exercises and the written exam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1" lang="en-GB">
                <a:solidFill>
                  <a:schemeClr val="tx2"/>
                </a:solidFill>
              </a:rPr>
              <a:t>Group: </a:t>
            </a:r>
            <a:r>
              <a:rPr sz="1300" b="0" lang="en-GB">
                <a:solidFill>
                  <a:schemeClr val="tx1"/>
                </a:solidFill>
              </a:rPr>
              <a:t>case study report, groups of 4 to 5; enrol on Canvas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1" lang="en-GB">
                <a:solidFill>
                  <a:schemeClr val="tx2"/>
                </a:solidFill>
              </a:rPr>
              <a:t>Grades: </a:t>
            </a:r>
            <a:r>
              <a:rPr sz="1300" b="0" lang="en-GB">
                <a:solidFill>
                  <a:schemeClr val="tx1"/>
                </a:solidFill>
              </a:rPr>
              <a:t>WU scale, 1 from 90 %, 2 from 80 %, 3 from 70 %, 4 from 60 %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1" lang="en-GB">
                <a:solidFill>
                  <a:schemeClr val="tx2"/>
                </a:solidFill>
              </a:rPr>
              <a:t>Attendance: </a:t>
            </a:r>
            <a:r>
              <a:rPr sz="1300" b="0" lang="en-GB">
                <a:solidFill>
                  <a:schemeClr val="tx1"/>
                </a:solidFill>
              </a:rPr>
              <a:t>at least 80 % of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1" lang="en-GB">
                <a:solidFill>
                  <a:schemeClr val="tx2"/>
                </a:solidFill>
              </a:rPr>
              <a:t>AI tools: </a:t>
            </a:r>
            <a:r>
              <a:rPr sz="1300" b="0" lang="en-GB">
                <a:solidFill>
                  <a:schemeClr val="tx1"/>
                </a:solidFill>
              </a:rPr>
              <a:t>expected; you own every number you report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Online certificates and set-up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tat bar 1"/>
          <p:cNvSpPr/>
          <p:nvPr/>
        </p:nvSpPr>
        <p:spPr>
          <a:xfrm>
            <a:off x="457200" y="12801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tat figure 1"/>
          <p:cNvSpPr txBox="1"/>
          <p:nvPr/>
        </p:nvSpPr>
        <p:spPr>
          <a:xfrm>
            <a:off x="685800" y="12801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</p:txBody>
      </p:sp>
      <p:sp>
        <p:nvSpPr>
          <p:cNvPr id="12" name="Stat text 1"/>
          <p:cNvSpPr txBox="1"/>
          <p:nvPr/>
        </p:nvSpPr>
        <p:spPr>
          <a:xfrm>
            <a:off x="2377440" y="12801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DataCamp courses. </a:t>
            </a:r>
            <a:r>
              <a:rPr sz="1300" b="0" lang="en-GB">
                <a:solidFill>
                  <a:schemeClr val="tx1"/>
                </a:solidFill>
              </a:rPr>
              <a:t>Python courses assigned on Canvas, each ending with a certificate.</a:t>
            </a:r>
          </a:p>
        </p:txBody>
      </p:sp>
      <p:sp>
        <p:nvSpPr>
          <p:cNvPr id="13" name="Stat bar 2"/>
          <p:cNvSpPr/>
          <p:nvPr/>
        </p:nvSpPr>
        <p:spPr>
          <a:xfrm>
            <a:off x="457200" y="21945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tat figure 2"/>
          <p:cNvSpPr txBox="1"/>
          <p:nvPr/>
        </p:nvSpPr>
        <p:spPr>
          <a:xfrm>
            <a:off x="685800" y="21945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</p:txBody>
      </p:sp>
      <p:sp>
        <p:nvSpPr>
          <p:cNvPr id="15" name="Stat text 2"/>
          <p:cNvSpPr txBox="1"/>
          <p:nvPr/>
        </p:nvSpPr>
        <p:spPr>
          <a:xfrm>
            <a:off x="2377440" y="21945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Per certificate. </a:t>
            </a:r>
            <a:r>
              <a:rPr sz="1300" b="0" lang="en-GB">
                <a:solidFill>
                  <a:schemeClr val="tx1"/>
                </a:solidFill>
              </a:rPr>
              <a:t>Upload each certificate on Canvas by its deadline; 20 % of the grade in total.</a:t>
            </a:r>
          </a:p>
        </p:txBody>
      </p:sp>
      <p:sp>
        <p:nvSpPr>
          <p:cNvPr id="16" name="Stat bar 3"/>
          <p:cNvSpPr/>
          <p:nvPr/>
        </p:nvSpPr>
        <p:spPr>
          <a:xfrm>
            <a:off x="457200" y="31089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tat figure 3"/>
          <p:cNvSpPr txBox="1"/>
          <p:nvPr/>
        </p:nvSpPr>
        <p:spPr>
          <a:xfrm>
            <a:off x="685800" y="31089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45 min</a:t>
            </a:r>
          </a:p>
        </p:txBody>
      </p:sp>
      <p:sp>
        <p:nvSpPr>
          <p:cNvPr id="18" name="Stat text 3"/>
          <p:cNvSpPr txBox="1"/>
          <p:nvPr/>
        </p:nvSpPr>
        <p:spPr>
          <a:xfrm>
            <a:off x="2377440" y="31089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Course environment. </a:t>
            </a:r>
            <a:r>
              <a:rPr sz="1300" b="0" lang="en-GB">
                <a:solidFill>
                  <a:schemeClr val="tx1"/>
                </a:solidFill>
              </a:rPr>
              <a:t>Install Python (via uv), Positron, Quarto and GitHub Desktop with the setup guide, then run the installation check.</a:t>
            </a:r>
          </a:p>
        </p:txBody>
      </p:sp>
      <p:sp>
        <p:nvSpPr>
          <p:cNvPr id="19" name="Deadline callout"/>
          <p:cNvSpPr/>
          <p:nvPr/>
        </p:nvSpPr>
        <p:spPr>
          <a:xfrm>
            <a:off x="457200" y="4114800"/>
            <a:ext cx="8229600" cy="960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deadline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43400"/>
            <a:ext cx="502920" cy="502920"/>
          </a:xfrm>
          <a:prstGeom prst="rect">
            <a:avLst/>
          </a:prstGeom>
        </p:spPr>
      </p:pic>
      <p:sp>
        <p:nvSpPr>
          <p:cNvPr id="21" name="Deadline text"/>
          <p:cNvSpPr txBox="1"/>
          <p:nvPr/>
        </p:nvSpPr>
        <p:spPr>
          <a:xfrm>
            <a:off x="1417320" y="4114800"/>
            <a:ext cx="7086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Deadlines: </a:t>
            </a:r>
            <a:r>
              <a:rPr sz="1300" b="0" lang="en-GB">
                <a:solidFill>
                  <a:schemeClr val="tx1"/>
                </a:solidFill>
              </a:rPr>
              <a:t>the date for each certificate is on Canvas. Bring installation problems to Session 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Coding exercises and written exam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ding card body"/>
          <p:cNvSpPr/>
          <p:nvPr/>
        </p:nvSpPr>
        <p:spPr>
          <a:xfrm>
            <a:off x="457200" y="1691640"/>
            <a:ext cx="4023360" cy="2514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ding card header"/>
          <p:cNvSpPr/>
          <p:nvPr/>
        </p:nvSpPr>
        <p:spPr>
          <a:xfrm>
            <a:off x="457200" y="1234440"/>
            <a:ext cx="40233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ding card heading"/>
          <p:cNvSpPr txBox="1"/>
          <p:nvPr/>
        </p:nvSpPr>
        <p:spPr>
          <a:xfrm>
            <a:off x="594360" y="12344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Coding exercises</a:t>
            </a:r>
          </a:p>
        </p:txBody>
      </p:sp>
      <p:pic>
        <p:nvPicPr>
          <p:cNvPr id="13" name="Icon Coding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48" y="1307592"/>
            <a:ext cx="310896" cy="310896"/>
          </a:xfrm>
          <a:prstGeom prst="rect">
            <a:avLst/>
          </a:prstGeom>
        </p:spPr>
      </p:pic>
      <p:sp>
        <p:nvSpPr>
          <p:cNvPr id="14" name="Coding card text"/>
          <p:cNvSpPr txBox="1"/>
          <p:nvPr/>
        </p:nvSpPr>
        <p:spPr>
          <a:xfrm>
            <a:off x="621792" y="1828800"/>
            <a:ext cx="3721608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Four exercises during the course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Apply the lab code to a similar task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Submit your Python or Quarto file on Canvas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 assistants allowed; add a short prompt log</a:t>
            </a:r>
          </a:p>
        </p:txBody>
      </p:sp>
      <p:sp>
        <p:nvSpPr>
          <p:cNvPr id="15" name="Coding card stat"/>
          <p:cNvSpPr txBox="1"/>
          <p:nvPr/>
        </p:nvSpPr>
        <p:spPr>
          <a:xfrm>
            <a:off x="621792" y="3474720"/>
            <a:ext cx="3721608" cy="5943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  <a:r>
              <a:rPr sz="1300" b="0" lang="en-GB">
                <a:solidFill>
                  <a:schemeClr val="tx1"/>
                </a:solidFill>
              </a:rPr>
              <a:t>  per exercise, 20 % in total</a:t>
            </a:r>
          </a:p>
        </p:txBody>
      </p:sp>
      <p:sp>
        <p:nvSpPr>
          <p:cNvPr id="16" name="Exam card body"/>
          <p:cNvSpPr/>
          <p:nvPr/>
        </p:nvSpPr>
        <p:spPr>
          <a:xfrm>
            <a:off x="4663440" y="1691640"/>
            <a:ext cx="4023360" cy="2514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Exam card header"/>
          <p:cNvSpPr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Exam card heading"/>
          <p:cNvSpPr txBox="1"/>
          <p:nvPr/>
        </p:nvSpPr>
        <p:spPr>
          <a:xfrm>
            <a:off x="4800600" y="12344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Written exam</a:t>
            </a:r>
          </a:p>
        </p:txBody>
      </p:sp>
      <p:pic>
        <p:nvPicPr>
          <p:cNvPr id="19" name="Icon Exam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307592"/>
            <a:ext cx="310896" cy="310896"/>
          </a:xfrm>
          <a:prstGeom prst="rect">
            <a:avLst/>
          </a:prstGeom>
        </p:spPr>
      </p:pic>
      <p:sp>
        <p:nvSpPr>
          <p:cNvPr id="20" name="Exam card text"/>
          <p:cNvSpPr txBox="1"/>
          <p:nvPr/>
        </p:nvSpPr>
        <p:spPr>
          <a:xfrm>
            <a:off x="4828032" y="1828800"/>
            <a:ext cx="3721608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At the end of the course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Paper and pencil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Concepts and interpretation, not code</a:t>
            </a:r>
          </a:p>
        </p:txBody>
      </p:sp>
      <p:sp>
        <p:nvSpPr>
          <p:cNvPr id="21" name="Exam card stat"/>
          <p:cNvSpPr txBox="1"/>
          <p:nvPr/>
        </p:nvSpPr>
        <p:spPr>
          <a:xfrm>
            <a:off x="4828032" y="3474720"/>
            <a:ext cx="3721608" cy="5943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  <a:r>
              <a:rPr sz="1300" b="0" lang="en-GB">
                <a:solidFill>
                  <a:schemeClr val="tx1"/>
                </a:solidFill>
              </a:rPr>
              <a:t>  of the final grade</a:t>
            </a:r>
          </a:p>
        </p:txBody>
      </p:sp>
      <p:sp>
        <p:nvSpPr>
          <p:cNvPr id="22" name="Takeaway box"/>
          <p:cNvSpPr/>
          <p:nvPr/>
        </p:nvSpPr>
        <p:spPr>
          <a:xfrm>
            <a:off x="457200" y="4389120"/>
            <a:ext cx="8229600" cy="6858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akeaway text"/>
          <p:cNvSpPr txBox="1"/>
          <p:nvPr/>
        </p:nvSpPr>
        <p:spPr>
          <a:xfrm>
            <a:off x="685800" y="4389120"/>
            <a:ext cx="77724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Both are individual. </a:t>
            </a:r>
            <a:r>
              <a:rPr sz="1300" b="0" lang="en-GB">
                <a:solidFill>
                  <a:schemeClr val="bg1"/>
                </a:solidFill>
              </a:rPr>
              <a:t>The case study report (30 %) is the group component.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