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refresher before regression: the eight ideas every later session uses. One small running example (a chocolate kiosk) so that everything can be followed with a calculator, then the same calculations by hand in Python, in Positron.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blocks of theory, each on the kiosk numbers, then Python: we calculate mean, standard deviation, z-scores, covariance and correlation by hand in code and check them against the built-in functions.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kiosk at the university sells one chocolate bar. Over five weeks the owner tried five prices. Small numbers on purpose: every result today can be checked with a calculator. The daily sales of one week (right) serve for mean and median.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decides which statistics and which charts make sense.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Nominal: categories without order (brand, country, payment method): count them, report the mode. Ordinal: ordered categories with unequal or unknown distances (star rating, size S/M/L): median and percentiles. Interval: equal distances but no true zero (temperature in °C): differences and means are fine, ratios are not. Ratio: true zero (price, bars sold, revenue): everything, including 'twice as much'. Interval and ratio together are called metric; nominal and ordinal categorical.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°C is not twice as warm as 10 °C (in Kelvin it is 293 versus 283). An average of star ratings treats an ordinal scale as metric: common in practice, but a decision you should state. An 'average brand' means nothing. Quiz answers: country nominal; satisfaction 1 to 7 ordinal (often treated as metric); age in years ratio; store ID nominal (a number, but only a label); discount yes/no nominal (binary, a dummy); temperature interval.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are the data, how far do they scatter, and how precise is our average?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adds all values and divides by n. The median is the middle value of the sorted data (with an even n, the average of the two middle values). One event day with 54 bars pulls the mean to 20, but the median stays at 12, which describes a normal day much better. Use the median for skewed data (income, basket values, sales with promotions) and for ordinal scales; the mean for symmetric metric data, and whenever totals matter (20 x 5 = 100 bars sold).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by step for weekly bars sold: subtract the mean (80), square the deviations so that plus and minus do not cancel, add them up (3,000), divide by n - 1 = 4: the variance is 750 (bars squared). The square root brings us back to bars: the standard deviation is 27.4 bars, the typical distance of a week from the mean. Why n - 1: the deviations are measured from the sample mean, which sits closer to the data than the true mean; dividing by n - 1 corrects this. polars, pandas and statsmodels use n - 1 for samples.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kiosks sell 80 bars a week on average. Kiosk A varies between 75 and 85 (sd 3.8), kiosk B between 40 and 120 (sd 31.6). The mean alone hides this. For planning: kiosk B needs far more safety stock, and a forecast for kiosk B is much less certain.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deviation describes the customers; the standard error describes the precision of the average we calculate from a sample. SE = s / square root of n. Spending per customer has sd EUR 4: with 16 customers the SE of the mean is EUR 1, with 64 customers EUR 0.50. Four times the sample halves the standard error. A 95 % confidence interval is roughly mean plus or minus 2 SE (1.96 exactly): EUR 12 plus or minus 1.96 gives 10.04 to 13.96. Every 'std err' in a regression table is a standard error.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z-scores make different scales comparable; the normal distribution tells us how unusual a value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z-score says how many standard deviations a value lies above or below the mean. It removes the units, so values on different scales become comparable. Vienna sold 140 bars in a week (mean 120, sd 10): z = 2.0. Graz sold 75 (mean 60, sd 15): z = 1.0. Vienna's week was the more unusual one, although Graz's increase looks large. In our kiosk, week 5 with 40 bars has z = (40 - 80) / 27.4 = -1.46. A standardised variable always has mean 0 and standard deviation 1; standardised regression coefficients use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machine fills 100 g bars; the weights are normally distributed with mean 100 g and sd 2 g. The bell curve is fully described by mean and standard deviation. The 68-95-99.7 rule: 68 % of bars lie within one sd (98 to 102 g), 95 % within two (96 to 104 g; exactly 1.96 sd), 99.7 % within three (94 to 106 g). Many sums and averages are approximately normal even when single values are not (central limit theorem): this is why means and regression coefficients can be tested with the normal curve.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Standardising any normal variable gives the standard normal distribution: mean 0, sd 1. One table (or one line of Python) then answers every question. Share of bars below 97 g: z = (97 - 100) / 2 = -1.5, P(Z &lt; -1.5) = 6.7 %. The value 1.96 cuts off 2.5 % in each tail: it is the 1.96 in confidence intervals and the critical value of a two-sided test at 5 %.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one variable to two: price and bars sold at the kiosk.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the deviation of price by the deviation of bars sold for every week. When one is above its mean while the other is below, the product is negative (weeks 1, 2, 4 and 5); week 3 sits exactly on both means. The sum is -85; divided by n - 1 = 4 the covariance is -21.25. The sign gives the direction: negative, higher prices go with fewer bars. The size depends on the units (EUR x bars), so -21.25 alone says little about strength.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Dividing the covariance by both standard deviations removes the units: r = -21.25 / (0.79 x 27.39) = -0.98. r always lies between -1 and +1; -0.98 is an extremely strong negative relationship (rule of thumb in Bojinov et al.: above 0.8 extremely strong). The gallery shows strong positive, none, strong negative, and a U-shape where r is zero although x and y are clearly related: r only measures linear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Ice-cream sales and sunburn correlate because sunshine drives both: correlation is not causation. The regression slope through the five weeks is cov / var(price) = -21.25 / 0.625 = -34: each euro more, 34 bars fewer. The same building blocks (means, deviations, covariance, variance) produce the least-squares line of the next deck.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sessions/01-foundations/stats_refresher.qmd and run it cell by cell with Ctrl/Cmd + Enter. Each step first calculates by hand, then checks with the built-in function.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polars data frame from three lists. The mean by hand is the sum divided by the number of rows; polars' mean() gives the same 80.0.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steps as on the slide by hand: deviations, squares, sum, divide by n - 1, square root. polars' std() uses n - 1 by default (ddof=1), so it matches. The standard error of the mean is sd / sqrt(n).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with_columns adds a new column; the expression subtracts the mean and divides by the standard deviation. The z-scores have mean 0 and standard deviation 1. Week 5 lies 1.46 standard deviations below the mean.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Deviations of both variables, multiplied week by week, summed and divided by n - 1: the covariance. Divided by both standard deviations: the correlation. pl.cov and pl.corr check both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plotnine takes the polars data frame directly. Always plot two variables before you trust a correlation: the U-shape on the correlation slide had r = 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day nominal-ordinal (weekday order), temperature interval, bars sold ratio. 2 mean 48, median 50. 3 deviations 12, 7, 2, -8, -13; squares sum 430; variance 107.5; sd 10.37. 4 z of the hottest day: (35 - 48) / 10.37 = -1.25. 5 temperature deviations -10, -5, 0, 5, 10; products -120, -35, 0, -40, -130, sum -325; covariance -81.25; sd temperature 7.91; r = -0.99. Warmer days, fewer chocolate bars.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alone, then compare with your neighbour; reveal the answers one by one. Answers: 1 B (ordinal: ordered, but the distances between stars are unknown). 2 B (the median, 12; the event day pulls the mean to 20). 3 A (SE = sd / square root of n: four times the sample halves it). 4 B (z counts standard deviations; about 2.3 % of weeks lie that low in a normal distribution, so C is wrong). 5 B (r measures the strength of a straight-line relationship; it says nothing about cause, and the slope per euro is the regression coefficient, -34 bars here).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vocabulary for the rest of the course: every regression table reports means, standard errors, z- or t-values and builds on covariances.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is the friendliest textbook for students without a statistics background; Seeing Theory and StatQuest visualise every concept of today.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Statistics refresher</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Scale types</a:t>
            </a:r>
          </a:p>
        </p:txBody>
      </p:sp>
      <p:sp>
        <p:nvSpPr>
          <p:cNvPr id="11" name="Plan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Centre and</a:t>
            </a:r>
            <a:br/>
            <a:r>
              <a:rPr sz="1200" b="1" lang="en-GB">
                <a:solidFill>
                  <a:schemeClr val="tx2"/>
                </a:solidFill>
              </a:rPr>
              <a:t>spread</a:t>
            </a:r>
          </a:p>
        </p:txBody>
      </p:sp>
      <p:sp>
        <p:nvSpPr>
          <p:cNvPr id="12" name="Plan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Normal</a:t>
            </a:r>
            <a:br/>
            <a:r>
              <a:rPr sz="1200" b="1" lang="en-GB">
                <a:solidFill>
                  <a:schemeClr val="tx2"/>
                </a:solidFill>
              </a:rPr>
              <a:t>distribution</a:t>
            </a:r>
          </a:p>
        </p:txBody>
      </p:sp>
      <p:sp>
        <p:nvSpPr>
          <p:cNvPr id="13" name="Plan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Covariance and</a:t>
            </a:r>
            <a:br/>
            <a:r>
              <a:rPr sz="1200" b="1" lang="en-GB">
                <a:solidFill>
                  <a:schemeClr val="tx2"/>
                </a:solidFill>
              </a:rPr>
              <a:t>correlation</a:t>
            </a:r>
          </a:p>
        </p:txBody>
      </p:sp>
      <p:sp>
        <p:nvSpPr>
          <p:cNvPr id="14" name="Plan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 in</a:t>
            </a:r>
            <a:br/>
            <a:r>
              <a:rPr sz="1200" b="1" lang="en-GB">
                <a:solidFill>
                  <a:schemeClr val="tx2"/>
                </a:solidFill>
              </a:rPr>
              <a:t>Positron</a:t>
            </a:r>
          </a:p>
        </p:txBody>
      </p:sp>
      <p:sp>
        <p:nvSpPr>
          <p:cNvPr id="15" name="Concepts card body"/>
          <p:cNvSpPr/>
          <p:nvPr/>
        </p:nvSpPr>
        <p:spPr>
          <a:xfrm>
            <a:off x="45720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ncepts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ncepts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 concepts</a:t>
            </a:r>
          </a:p>
        </p:txBody>
      </p:sp>
      <p:pic>
        <p:nvPicPr>
          <p:cNvPr id="18" name="Icon Concepts card" descr=""/>
          <p:cNvPicPr>
            <a:picLocks noChangeAspect="1"/>
          </p:cNvPicPr>
          <p:nvPr/>
        </p:nvPicPr>
        <p:blipFill>
          <a:blip r:embed="rId3"/>
          <a:stretch>
            <a:fillRect/>
          </a:stretch>
        </p:blipFill>
        <p:spPr>
          <a:xfrm>
            <a:off x="4064508" y="1970532"/>
            <a:ext cx="310896" cy="310896"/>
          </a:xfrm>
          <a:prstGeom prst="rect">
            <a:avLst/>
          </a:prstGeom>
        </p:spPr>
      </p:pic>
      <p:sp>
        <p:nvSpPr>
          <p:cNvPr id="19" name="Concepts card text"/>
          <p:cNvSpPr txBox="1"/>
          <p:nvPr/>
        </p:nvSpPr>
        <p:spPr>
          <a:xfrm>
            <a:off x="62179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Scale types: what you may calculate</a:t>
            </a:r>
          </a:p>
          <a:p>
            <a:pPr algn="l" marL="182880" indent="-182880">
              <a:spcAft>
                <a:spcPts val="600"/>
              </a:spcAft>
              <a:buClr>
                <a:schemeClr val="accent1"/>
              </a:buClr>
              <a:buFont typeface="Arial"/>
              <a:buChar char="▪"/>
            </a:pPr>
            <a:r>
              <a:rPr sz="1300" b="0" lang="en-GB">
                <a:solidFill>
                  <a:schemeClr val="tx1"/>
                </a:solidFill>
              </a:rPr>
              <a:t>Mean, median, variance, standard deviation</a:t>
            </a:r>
          </a:p>
          <a:p>
            <a:pPr algn="l" marL="182880" indent="-182880">
              <a:spcAft>
                <a:spcPts val="600"/>
              </a:spcAft>
              <a:buClr>
                <a:schemeClr val="accent1"/>
              </a:buClr>
              <a:buFont typeface="Arial"/>
              <a:buChar char="▪"/>
            </a:pPr>
            <a:r>
              <a:rPr sz="1300" b="0" lang="en-GB">
                <a:solidFill>
                  <a:schemeClr val="tx1"/>
                </a:solidFill>
              </a:rPr>
              <a:t>Standard error and standardisation (z)</a:t>
            </a:r>
          </a:p>
          <a:p>
            <a:pPr algn="l" marL="182880" indent="-182880">
              <a:spcAft>
                <a:spcPts val="600"/>
              </a:spcAft>
              <a:buClr>
                <a:schemeClr val="accent1"/>
              </a:buClr>
              <a:buFont typeface="Arial"/>
              <a:buChar char="▪"/>
            </a:pPr>
            <a:r>
              <a:rPr sz="1300" b="0" lang="en-GB">
                <a:solidFill>
                  <a:schemeClr val="tx1"/>
                </a:solidFill>
              </a:rPr>
              <a:t>Normal and standard normal distribution</a:t>
            </a:r>
          </a:p>
          <a:p>
            <a:pPr algn="l" marL="182880" indent="-182880">
              <a:spcAft>
                <a:spcPts val="600"/>
              </a:spcAft>
              <a:buClr>
                <a:schemeClr val="accent1"/>
              </a:buClr>
              <a:buFont typeface="Arial"/>
              <a:buChar char="▪"/>
            </a:pPr>
            <a:r>
              <a:rPr sz="1300" b="0" lang="en-GB">
                <a:solidFill>
                  <a:schemeClr val="tx1"/>
                </a:solidFill>
              </a:rPr>
              <a:t>Covariance and correlation</a:t>
            </a:r>
          </a:p>
        </p:txBody>
      </p:sp>
      <p:sp>
        <p:nvSpPr>
          <p:cNvPr id="20" name="Practice card body"/>
          <p:cNvSpPr/>
          <p:nvPr/>
        </p:nvSpPr>
        <p:spPr>
          <a:xfrm>
            <a:off x="464058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actice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actice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 practice</a:t>
            </a:r>
          </a:p>
        </p:txBody>
      </p:sp>
      <p:pic>
        <p:nvPicPr>
          <p:cNvPr id="23" name="Icon Practice card" descr=""/>
          <p:cNvPicPr>
            <a:picLocks noChangeAspect="1"/>
          </p:cNvPicPr>
          <p:nvPr/>
        </p:nvPicPr>
        <p:blipFill>
          <a:blip r:embed="rId4"/>
          <a:stretch>
            <a:fillRect/>
          </a:stretch>
        </p:blipFill>
        <p:spPr>
          <a:xfrm>
            <a:off x="8247888" y="1970532"/>
            <a:ext cx="310896" cy="310896"/>
          </a:xfrm>
          <a:prstGeom prst="rect">
            <a:avLst/>
          </a:prstGeom>
        </p:spPr>
      </p:pic>
      <p:sp>
        <p:nvSpPr>
          <p:cNvPr id="24" name="Practice card text"/>
          <p:cNvSpPr txBox="1"/>
          <p:nvPr/>
        </p:nvSpPr>
        <p:spPr>
          <a:xfrm>
            <a:off x="480517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small example you can follow with a calculator</a:t>
            </a:r>
          </a:p>
          <a:p>
            <a:pPr algn="l" marL="182880" indent="-182880">
              <a:spcAft>
                <a:spcPts val="600"/>
              </a:spcAft>
              <a:buClr>
                <a:schemeClr val="accent1"/>
              </a:buClr>
              <a:buFont typeface="Arial"/>
              <a:buChar char="▪"/>
            </a:pPr>
            <a:r>
              <a:rPr sz="1300" b="0" lang="en-GB">
                <a:solidFill>
                  <a:schemeClr val="tx1"/>
                </a:solidFill>
              </a:rPr>
              <a:t>Every formula by hand on the slide</a:t>
            </a:r>
          </a:p>
          <a:p>
            <a:pPr algn="l" marL="182880" indent="-182880">
              <a:spcAft>
                <a:spcPts val="600"/>
              </a:spcAft>
              <a:buClr>
                <a:schemeClr val="accent1"/>
              </a:buClr>
              <a:buFont typeface="Arial"/>
              <a:buChar char="▪"/>
            </a:pPr>
            <a:r>
              <a:rPr sz="1300" b="0" lang="en-GB">
                <a:solidFill>
                  <a:schemeClr val="tx1"/>
                </a:solidFill>
              </a:rPr>
              <a:t>The same steps by hand in Python</a:t>
            </a:r>
          </a:p>
          <a:p>
            <a:pPr algn="l" marL="182880" indent="-182880">
              <a:spcAft>
                <a:spcPts val="600"/>
              </a:spcAft>
              <a:buClr>
                <a:schemeClr val="accent1"/>
              </a:buClr>
              <a:buFont typeface="Arial"/>
              <a:buChar char="▪"/>
            </a:pPr>
            <a:r>
              <a:rPr sz="1300" b="0" lang="en-GB">
                <a:solidFill>
                  <a:schemeClr val="tx1"/>
                </a:solidFill>
              </a:rPr>
              <a:t>Check against polars' built-in functions</a:t>
            </a:r>
          </a:p>
        </p:txBody>
      </p:sp>
      <p:sp>
        <p:nvSpPr>
          <p:cNvPr id="25" name="Why now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Why now" descr=""/>
          <p:cNvPicPr>
            <a:picLocks noChangeAspect="1"/>
          </p:cNvPicPr>
          <p:nvPr/>
        </p:nvPicPr>
        <p:blipFill>
          <a:blip r:embed="rId5"/>
          <a:stretch>
            <a:fillRect/>
          </a:stretch>
        </p:blipFill>
        <p:spPr>
          <a:xfrm>
            <a:off x="658368" y="4480560"/>
            <a:ext cx="365760" cy="365760"/>
          </a:xfrm>
          <a:prstGeom prst="rect">
            <a:avLst/>
          </a:prstGeom>
        </p:spPr>
      </p:pic>
      <p:sp>
        <p:nvSpPr>
          <p:cNvPr id="27" name="Why now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Why now: </a:t>
            </a:r>
            <a:r>
              <a:rPr sz="1200" b="0" lang="en-GB">
                <a:solidFill>
                  <a:schemeClr val="bg1"/>
                </a:solidFill>
              </a:rPr>
              <a:t>regression output is made of these pieces: means, standard errors, z-values and correlations.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a chocolate kiosk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eeks label"/>
          <p:cNvSpPr txBox="1"/>
          <p:nvPr/>
        </p:nvSpPr>
        <p:spPr>
          <a:xfrm>
            <a:off x="457200" y="1234440"/>
            <a:ext cx="4023360" cy="347472"/>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Five weeks, five prices</a:t>
            </a:r>
          </a:p>
        </p:txBody>
      </p:sp>
      <p:sp>
        <p:nvSpPr>
          <p:cNvPr id="11" name="Weeks 1-1"/>
          <p:cNvSpPr/>
          <p:nvPr/>
        </p:nvSpPr>
        <p:spPr>
          <a:xfrm>
            <a:off x="457200" y="1645920"/>
            <a:ext cx="10698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eeks text 1-1"/>
          <p:cNvSpPr txBox="1"/>
          <p:nvPr/>
        </p:nvSpPr>
        <p:spPr>
          <a:xfrm>
            <a:off x="548640" y="1645920"/>
            <a:ext cx="88696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Week</a:t>
            </a:r>
          </a:p>
        </p:txBody>
      </p:sp>
      <p:sp>
        <p:nvSpPr>
          <p:cNvPr id="13" name="Weeks 1-2"/>
          <p:cNvSpPr/>
          <p:nvPr/>
        </p:nvSpPr>
        <p:spPr>
          <a:xfrm>
            <a:off x="1554480" y="164592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Weeks text 1-2"/>
          <p:cNvSpPr txBox="1"/>
          <p:nvPr/>
        </p:nvSpPr>
        <p:spPr>
          <a:xfrm>
            <a:off x="1645920" y="1645920"/>
            <a:ext cx="12527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Price (EUR)</a:t>
            </a:r>
          </a:p>
        </p:txBody>
      </p:sp>
      <p:sp>
        <p:nvSpPr>
          <p:cNvPr id="15" name="Weeks 1-3"/>
          <p:cNvSpPr/>
          <p:nvPr/>
        </p:nvSpPr>
        <p:spPr>
          <a:xfrm>
            <a:off x="3017520" y="164592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eeks text 1-3"/>
          <p:cNvSpPr txBox="1"/>
          <p:nvPr/>
        </p:nvSpPr>
        <p:spPr>
          <a:xfrm>
            <a:off x="3108960" y="1645920"/>
            <a:ext cx="12527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Bars sold</a:t>
            </a:r>
          </a:p>
        </p:txBody>
      </p:sp>
      <p:sp>
        <p:nvSpPr>
          <p:cNvPr id="17" name="Weeks 2-1"/>
          <p:cNvSpPr/>
          <p:nvPr/>
        </p:nvSpPr>
        <p:spPr>
          <a:xfrm>
            <a:off x="457200" y="2039112"/>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Weeks text 2-1"/>
          <p:cNvSpPr txBox="1"/>
          <p:nvPr/>
        </p:nvSpPr>
        <p:spPr>
          <a:xfrm>
            <a:off x="548640" y="2039112"/>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a:t>
            </a:r>
          </a:p>
        </p:txBody>
      </p:sp>
      <p:sp>
        <p:nvSpPr>
          <p:cNvPr id="19" name="Weeks 2-2"/>
          <p:cNvSpPr/>
          <p:nvPr/>
        </p:nvSpPr>
        <p:spPr>
          <a:xfrm>
            <a:off x="1554480" y="203911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Weeks text 2-2"/>
          <p:cNvSpPr txBox="1"/>
          <p:nvPr/>
        </p:nvSpPr>
        <p:spPr>
          <a:xfrm>
            <a:off x="1645920" y="2039112"/>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2.00</a:t>
            </a:r>
          </a:p>
        </p:txBody>
      </p:sp>
      <p:sp>
        <p:nvSpPr>
          <p:cNvPr id="21" name="Weeks 2-3"/>
          <p:cNvSpPr/>
          <p:nvPr/>
        </p:nvSpPr>
        <p:spPr>
          <a:xfrm>
            <a:off x="3017520" y="203911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eeks text 2-3"/>
          <p:cNvSpPr txBox="1"/>
          <p:nvPr/>
        </p:nvSpPr>
        <p:spPr>
          <a:xfrm>
            <a:off x="3108960" y="2039112"/>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110</a:t>
            </a:r>
          </a:p>
        </p:txBody>
      </p:sp>
      <p:sp>
        <p:nvSpPr>
          <p:cNvPr id="23" name="Weeks 3-1"/>
          <p:cNvSpPr/>
          <p:nvPr/>
        </p:nvSpPr>
        <p:spPr>
          <a:xfrm>
            <a:off x="457200" y="2432304"/>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Weeks text 3-1"/>
          <p:cNvSpPr txBox="1"/>
          <p:nvPr/>
        </p:nvSpPr>
        <p:spPr>
          <a:xfrm>
            <a:off x="548640" y="2432304"/>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2</a:t>
            </a:r>
          </a:p>
        </p:txBody>
      </p:sp>
      <p:sp>
        <p:nvSpPr>
          <p:cNvPr id="25" name="Weeks 3-2"/>
          <p:cNvSpPr/>
          <p:nvPr/>
        </p:nvSpPr>
        <p:spPr>
          <a:xfrm>
            <a:off x="1554480" y="243230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Weeks text 3-2"/>
          <p:cNvSpPr txBox="1"/>
          <p:nvPr/>
        </p:nvSpPr>
        <p:spPr>
          <a:xfrm>
            <a:off x="1645920" y="2432304"/>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2.50</a:t>
            </a:r>
          </a:p>
        </p:txBody>
      </p:sp>
      <p:sp>
        <p:nvSpPr>
          <p:cNvPr id="27" name="Weeks 3-3"/>
          <p:cNvSpPr/>
          <p:nvPr/>
        </p:nvSpPr>
        <p:spPr>
          <a:xfrm>
            <a:off x="3017520" y="243230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Weeks text 3-3"/>
          <p:cNvSpPr txBox="1"/>
          <p:nvPr/>
        </p:nvSpPr>
        <p:spPr>
          <a:xfrm>
            <a:off x="3108960" y="2432304"/>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29" name="Weeks 4-1"/>
          <p:cNvSpPr/>
          <p:nvPr/>
        </p:nvSpPr>
        <p:spPr>
          <a:xfrm>
            <a:off x="457200" y="2825496"/>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Weeks text 4-1"/>
          <p:cNvSpPr txBox="1"/>
          <p:nvPr/>
        </p:nvSpPr>
        <p:spPr>
          <a:xfrm>
            <a:off x="548640" y="2825496"/>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3</a:t>
            </a:r>
          </a:p>
        </p:txBody>
      </p:sp>
      <p:sp>
        <p:nvSpPr>
          <p:cNvPr id="31" name="Weeks 4-2"/>
          <p:cNvSpPr/>
          <p:nvPr/>
        </p:nvSpPr>
        <p:spPr>
          <a:xfrm>
            <a:off x="1554480" y="282549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Weeks text 4-2"/>
          <p:cNvSpPr txBox="1"/>
          <p:nvPr/>
        </p:nvSpPr>
        <p:spPr>
          <a:xfrm>
            <a:off x="1645920" y="2825496"/>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3.00</a:t>
            </a:r>
          </a:p>
        </p:txBody>
      </p:sp>
      <p:sp>
        <p:nvSpPr>
          <p:cNvPr id="33" name="Weeks 4-3"/>
          <p:cNvSpPr/>
          <p:nvPr/>
        </p:nvSpPr>
        <p:spPr>
          <a:xfrm>
            <a:off x="3017520" y="282549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Weeks text 4-3"/>
          <p:cNvSpPr txBox="1"/>
          <p:nvPr/>
        </p:nvSpPr>
        <p:spPr>
          <a:xfrm>
            <a:off x="3108960" y="2825496"/>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80</a:t>
            </a:r>
          </a:p>
        </p:txBody>
      </p:sp>
      <p:sp>
        <p:nvSpPr>
          <p:cNvPr id="35" name="Weeks 5-1"/>
          <p:cNvSpPr/>
          <p:nvPr/>
        </p:nvSpPr>
        <p:spPr>
          <a:xfrm>
            <a:off x="457200" y="3218688"/>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Weeks text 5-1"/>
          <p:cNvSpPr txBox="1"/>
          <p:nvPr/>
        </p:nvSpPr>
        <p:spPr>
          <a:xfrm>
            <a:off x="548640" y="3218688"/>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4</a:t>
            </a:r>
          </a:p>
        </p:txBody>
      </p:sp>
      <p:sp>
        <p:nvSpPr>
          <p:cNvPr id="37" name="Weeks 5-2"/>
          <p:cNvSpPr/>
          <p:nvPr/>
        </p:nvSpPr>
        <p:spPr>
          <a:xfrm>
            <a:off x="1554480" y="321868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Weeks text 5-2"/>
          <p:cNvSpPr txBox="1"/>
          <p:nvPr/>
        </p:nvSpPr>
        <p:spPr>
          <a:xfrm>
            <a:off x="1645920" y="3218688"/>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3.50</a:t>
            </a:r>
          </a:p>
        </p:txBody>
      </p:sp>
      <p:sp>
        <p:nvSpPr>
          <p:cNvPr id="39" name="Weeks 5-3"/>
          <p:cNvSpPr/>
          <p:nvPr/>
        </p:nvSpPr>
        <p:spPr>
          <a:xfrm>
            <a:off x="3017520" y="321868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Weeks text 5-3"/>
          <p:cNvSpPr txBox="1"/>
          <p:nvPr/>
        </p:nvSpPr>
        <p:spPr>
          <a:xfrm>
            <a:off x="3108960" y="3218688"/>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70</a:t>
            </a:r>
          </a:p>
        </p:txBody>
      </p:sp>
      <p:sp>
        <p:nvSpPr>
          <p:cNvPr id="41" name="Weeks 6-1"/>
          <p:cNvSpPr/>
          <p:nvPr/>
        </p:nvSpPr>
        <p:spPr>
          <a:xfrm>
            <a:off x="457200" y="3611880"/>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Weeks text 6-1"/>
          <p:cNvSpPr txBox="1"/>
          <p:nvPr/>
        </p:nvSpPr>
        <p:spPr>
          <a:xfrm>
            <a:off x="548640" y="3611880"/>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5</a:t>
            </a:r>
          </a:p>
        </p:txBody>
      </p:sp>
      <p:sp>
        <p:nvSpPr>
          <p:cNvPr id="43" name="Weeks 6-2"/>
          <p:cNvSpPr/>
          <p:nvPr/>
        </p:nvSpPr>
        <p:spPr>
          <a:xfrm>
            <a:off x="1554480" y="3611880"/>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Weeks text 6-2"/>
          <p:cNvSpPr txBox="1"/>
          <p:nvPr/>
        </p:nvSpPr>
        <p:spPr>
          <a:xfrm>
            <a:off x="1645920" y="3611880"/>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4.00</a:t>
            </a:r>
          </a:p>
        </p:txBody>
      </p:sp>
      <p:sp>
        <p:nvSpPr>
          <p:cNvPr id="45" name="Weeks 6-3"/>
          <p:cNvSpPr/>
          <p:nvPr/>
        </p:nvSpPr>
        <p:spPr>
          <a:xfrm>
            <a:off x="3017520" y="3611880"/>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Weeks text 6-3"/>
          <p:cNvSpPr txBox="1"/>
          <p:nvPr/>
        </p:nvSpPr>
        <p:spPr>
          <a:xfrm>
            <a:off x="3108960" y="3611880"/>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40</a:t>
            </a:r>
          </a:p>
        </p:txBody>
      </p:sp>
      <p:sp>
        <p:nvSpPr>
          <p:cNvPr id="47" name="Days label"/>
          <p:cNvSpPr txBox="1"/>
          <p:nvPr/>
        </p:nvSpPr>
        <p:spPr>
          <a:xfrm>
            <a:off x="4663440" y="1234440"/>
            <a:ext cx="4023360" cy="347472"/>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One week, day by day</a:t>
            </a:r>
          </a:p>
        </p:txBody>
      </p:sp>
      <p:sp>
        <p:nvSpPr>
          <p:cNvPr id="48" name="Days 1-1"/>
          <p:cNvSpPr/>
          <p:nvPr/>
        </p:nvSpPr>
        <p:spPr>
          <a:xfrm>
            <a:off x="4663440" y="164592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Days text 1-1"/>
          <p:cNvSpPr txBox="1"/>
          <p:nvPr/>
        </p:nvSpPr>
        <p:spPr>
          <a:xfrm>
            <a:off x="4754880" y="1645920"/>
            <a:ext cx="180136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Day</a:t>
            </a:r>
          </a:p>
        </p:txBody>
      </p:sp>
      <p:sp>
        <p:nvSpPr>
          <p:cNvPr id="50" name="Days 1-2"/>
          <p:cNvSpPr/>
          <p:nvPr/>
        </p:nvSpPr>
        <p:spPr>
          <a:xfrm>
            <a:off x="6675120" y="164592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Days text 1-2"/>
          <p:cNvSpPr txBox="1"/>
          <p:nvPr/>
        </p:nvSpPr>
        <p:spPr>
          <a:xfrm>
            <a:off x="6766560" y="1645920"/>
            <a:ext cx="180136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Bars sold</a:t>
            </a:r>
          </a:p>
        </p:txBody>
      </p:sp>
      <p:sp>
        <p:nvSpPr>
          <p:cNvPr id="52" name="Days 2-1"/>
          <p:cNvSpPr/>
          <p:nvPr/>
        </p:nvSpPr>
        <p:spPr>
          <a:xfrm>
            <a:off x="4663440" y="203911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Days text 2-1"/>
          <p:cNvSpPr txBox="1"/>
          <p:nvPr/>
        </p:nvSpPr>
        <p:spPr>
          <a:xfrm>
            <a:off x="4754880" y="2039112"/>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Mon</a:t>
            </a:r>
          </a:p>
        </p:txBody>
      </p:sp>
      <p:sp>
        <p:nvSpPr>
          <p:cNvPr id="54" name="Days 2-2"/>
          <p:cNvSpPr/>
          <p:nvPr/>
        </p:nvSpPr>
        <p:spPr>
          <a:xfrm>
            <a:off x="6675120" y="203911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Days text 2-2"/>
          <p:cNvSpPr txBox="1"/>
          <p:nvPr/>
        </p:nvSpPr>
        <p:spPr>
          <a:xfrm>
            <a:off x="6766560" y="2039112"/>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56" name="Days 3-1"/>
          <p:cNvSpPr/>
          <p:nvPr/>
        </p:nvSpPr>
        <p:spPr>
          <a:xfrm>
            <a:off x="4663440" y="243230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Days text 3-1"/>
          <p:cNvSpPr txBox="1"/>
          <p:nvPr/>
        </p:nvSpPr>
        <p:spPr>
          <a:xfrm>
            <a:off x="4754880" y="2432304"/>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Tue</a:t>
            </a:r>
          </a:p>
        </p:txBody>
      </p:sp>
      <p:sp>
        <p:nvSpPr>
          <p:cNvPr id="58" name="Days 3-2"/>
          <p:cNvSpPr/>
          <p:nvPr/>
        </p:nvSpPr>
        <p:spPr>
          <a:xfrm>
            <a:off x="6675120" y="243230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Days text 3-2"/>
          <p:cNvSpPr txBox="1"/>
          <p:nvPr/>
        </p:nvSpPr>
        <p:spPr>
          <a:xfrm>
            <a:off x="6766560" y="2432304"/>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12</a:t>
            </a:r>
          </a:p>
        </p:txBody>
      </p:sp>
      <p:sp>
        <p:nvSpPr>
          <p:cNvPr id="60" name="Days 4-1"/>
          <p:cNvSpPr/>
          <p:nvPr/>
        </p:nvSpPr>
        <p:spPr>
          <a:xfrm>
            <a:off x="4663440" y="282549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Days text 4-1"/>
          <p:cNvSpPr txBox="1"/>
          <p:nvPr/>
        </p:nvSpPr>
        <p:spPr>
          <a:xfrm>
            <a:off x="4754880" y="2825496"/>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Wed</a:t>
            </a:r>
          </a:p>
        </p:txBody>
      </p:sp>
      <p:sp>
        <p:nvSpPr>
          <p:cNvPr id="62" name="Days 4-2"/>
          <p:cNvSpPr/>
          <p:nvPr/>
        </p:nvSpPr>
        <p:spPr>
          <a:xfrm>
            <a:off x="6675120" y="282549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Days text 4-2"/>
          <p:cNvSpPr txBox="1"/>
          <p:nvPr/>
        </p:nvSpPr>
        <p:spPr>
          <a:xfrm>
            <a:off x="6766560" y="2825496"/>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11</a:t>
            </a:r>
          </a:p>
        </p:txBody>
      </p:sp>
      <p:sp>
        <p:nvSpPr>
          <p:cNvPr id="64" name="Days 5-1"/>
          <p:cNvSpPr/>
          <p:nvPr/>
        </p:nvSpPr>
        <p:spPr>
          <a:xfrm>
            <a:off x="4663440" y="321868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Days text 5-1"/>
          <p:cNvSpPr txBox="1"/>
          <p:nvPr/>
        </p:nvSpPr>
        <p:spPr>
          <a:xfrm>
            <a:off x="4754880" y="3218688"/>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Thu</a:t>
            </a:r>
          </a:p>
        </p:txBody>
      </p:sp>
      <p:sp>
        <p:nvSpPr>
          <p:cNvPr id="66" name="Days 5-2"/>
          <p:cNvSpPr/>
          <p:nvPr/>
        </p:nvSpPr>
        <p:spPr>
          <a:xfrm>
            <a:off x="6675120" y="321868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Days text 5-2"/>
          <p:cNvSpPr txBox="1"/>
          <p:nvPr/>
        </p:nvSpPr>
        <p:spPr>
          <a:xfrm>
            <a:off x="6766560" y="3218688"/>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13</a:t>
            </a:r>
          </a:p>
        </p:txBody>
      </p:sp>
      <p:sp>
        <p:nvSpPr>
          <p:cNvPr id="68" name="Days 6-1"/>
          <p:cNvSpPr/>
          <p:nvPr/>
        </p:nvSpPr>
        <p:spPr>
          <a:xfrm>
            <a:off x="4663440" y="361188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Days text 6-1"/>
          <p:cNvSpPr txBox="1"/>
          <p:nvPr/>
        </p:nvSpPr>
        <p:spPr>
          <a:xfrm>
            <a:off x="4754880" y="3611880"/>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Fri (event)</a:t>
            </a:r>
          </a:p>
        </p:txBody>
      </p:sp>
      <p:sp>
        <p:nvSpPr>
          <p:cNvPr id="70" name="Days 6-2"/>
          <p:cNvSpPr/>
          <p:nvPr/>
        </p:nvSpPr>
        <p:spPr>
          <a:xfrm>
            <a:off x="6675120" y="361188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Days text 6-2"/>
          <p:cNvSpPr txBox="1"/>
          <p:nvPr/>
        </p:nvSpPr>
        <p:spPr>
          <a:xfrm>
            <a:off x="6766560" y="3611880"/>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54</a:t>
            </a:r>
          </a:p>
        </p:txBody>
      </p:sp>
      <p:sp>
        <p:nvSpPr>
          <p:cNvPr id="72" name="Kiosk calc box"/>
          <p:cNvSpPr/>
          <p:nvPr/>
        </p:nvSpPr>
        <p:spPr>
          <a:xfrm>
            <a:off x="457200" y="40690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Icon Kiosk calc" descr=""/>
          <p:cNvPicPr>
            <a:picLocks noChangeAspect="1"/>
          </p:cNvPicPr>
          <p:nvPr/>
        </p:nvPicPr>
        <p:blipFill>
          <a:blip r:embed="rId3"/>
          <a:stretch>
            <a:fillRect/>
          </a:stretch>
        </p:blipFill>
        <p:spPr>
          <a:xfrm>
            <a:off x="658368" y="4229100"/>
            <a:ext cx="365760" cy="365760"/>
          </a:xfrm>
          <a:prstGeom prst="rect">
            <a:avLst/>
          </a:prstGeom>
        </p:spPr>
      </p:pic>
      <p:sp>
        <p:nvSpPr>
          <p:cNvPr id="74" name="Kiosk calc text"/>
          <p:cNvSpPr txBox="1"/>
          <p:nvPr/>
        </p:nvSpPr>
        <p:spPr>
          <a:xfrm>
            <a:off x="1207008" y="406908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Small on purpose: </a:t>
            </a:r>
            <a:r>
              <a:rPr sz="1300" b="0" lang="en-GB">
                <a:solidFill>
                  <a:schemeClr val="bg1"/>
                </a:solidFill>
              </a:rPr>
              <a:t>every number today can be checked with a calculator, then in Python.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5 · nominal, ordinal, interval, ratio</a:t>
            </a:r>
          </a:p>
        </p:txBody>
      </p:sp>
      <p:sp>
        <p:nvSpPr>
          <p:cNvPr id="3" name="Title 2"/>
          <p:cNvSpPr>
            <a:spLocks noGrp="1"/>
          </p:cNvSpPr>
          <p:nvPr>
            <p:ph type="ctrTitle"/>
          </p:nvPr>
        </p:nvSpPr>
        <p:spPr/>
        <p:txBody>
          <a:bodyPr/>
          <a:lstStyle/>
          <a:p>
            <a:r>
              <a:rPr sz="1600" lang="en-GB"/>
              <a:t>Scale types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Scale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371600"/>
                <a:gridCol w="2377440"/>
                <a:gridCol w="2560320"/>
                <a:gridCol w="1920240"/>
              </a:tblGrid>
              <a:tr h="370840">
                <a:tc>
                  <a:txBody>
                    <a:bodyPr/>
                    <a:lstStyle/>
                    <a:p>
                      <a:r>
                        <a:rPr sz="1500" lang="en-GB"/>
                        <a:t>Scale</a:t>
                      </a:r>
                    </a:p>
                  </a:txBody>
                  <a:tcPr marT="60000" marB="60000"/>
                </a:tc>
                <a:tc>
                  <a:txBody>
                    <a:bodyPr/>
                    <a:lstStyle/>
                    <a:p>
                      <a:r>
                        <a:rPr sz="1500" lang="en-GB"/>
                        <a:t>What you can say</a:t>
                      </a:r>
                    </a:p>
                  </a:txBody>
                  <a:tcPr marT="60000" marB="60000"/>
                </a:tc>
                <a:tc>
                  <a:txBody>
                    <a:bodyPr/>
                    <a:lstStyle/>
                    <a:p>
                      <a:r>
                        <a:rPr sz="1500" lang="en-GB"/>
                        <a:t>Kiosk example</a:t>
                      </a:r>
                    </a:p>
                  </a:txBody>
                  <a:tcPr marT="60000" marB="60000"/>
                </a:tc>
                <a:tc>
                  <a:txBody>
                    <a:bodyPr/>
                    <a:lstStyle/>
                    <a:p>
                      <a:r>
                        <a:rPr sz="1500" lang="en-GB"/>
                        <a:t>Typical statistics</a:t>
                      </a:r>
                    </a:p>
                  </a:txBody>
                  <a:tcPr marT="60000" marB="60000"/>
                </a:tc>
              </a:tr>
              <a:tr h="370840">
                <a:tc>
                  <a:txBody>
                    <a:bodyPr/>
                    <a:lstStyle/>
                    <a:p>
                      <a:r>
                        <a:rPr sz="1250" b="1" lang="en-GB"/>
                        <a:t>Nominal</a:t>
                      </a:r>
                    </a:p>
                  </a:txBody>
                  <a:tcPr marT="60000" marB="60000"/>
                </a:tc>
                <a:tc>
                  <a:txBody>
                    <a:bodyPr/>
                    <a:lstStyle/>
                    <a:p>
                      <a:r>
                        <a:rPr sz="1250" lang="en-GB"/>
                        <a:t>same or different</a:t>
                      </a:r>
                    </a:p>
                  </a:txBody>
                  <a:tcPr marT="60000" marB="60000"/>
                </a:tc>
                <a:tc>
                  <a:txBody>
                    <a:bodyPr/>
                    <a:lstStyle/>
                    <a:p>
                      <a:r>
                        <a:rPr sz="1250" lang="en-GB"/>
                        <a:t>brand, payment method</a:t>
                      </a:r>
                    </a:p>
                  </a:txBody>
                  <a:tcPr marT="60000" marB="60000"/>
                </a:tc>
                <a:tc>
                  <a:txBody>
                    <a:bodyPr/>
                    <a:lstStyle/>
                    <a:p>
                      <a:r>
                        <a:rPr sz="1250" lang="en-GB"/>
                        <a:t>counts, mode</a:t>
                      </a:r>
                    </a:p>
                  </a:txBody>
                  <a:tcPr marT="60000" marB="60000"/>
                </a:tc>
              </a:tr>
              <a:tr h="370840">
                <a:tc>
                  <a:txBody>
                    <a:bodyPr/>
                    <a:lstStyle/>
                    <a:p>
                      <a:r>
                        <a:rPr sz="1250" b="1" lang="en-GB"/>
                        <a:t>Ordinal</a:t>
                      </a:r>
                    </a:p>
                  </a:txBody>
                  <a:tcPr marT="60000" marB="60000"/>
                </a:tc>
                <a:tc>
                  <a:txBody>
                    <a:bodyPr/>
                    <a:lstStyle/>
                    <a:p>
                      <a:r>
                        <a:rPr sz="1250" lang="en-GB"/>
                        <a:t>more or less</a:t>
                      </a:r>
                    </a:p>
                  </a:txBody>
                  <a:tcPr marT="60000" marB="60000"/>
                </a:tc>
                <a:tc>
                  <a:txBody>
                    <a:bodyPr/>
                    <a:lstStyle/>
                    <a:p>
                      <a:r>
                        <a:rPr sz="1250" lang="en-GB"/>
                        <a:t>rating 1 to 5 stars, size S/M/L</a:t>
                      </a:r>
                    </a:p>
                  </a:txBody>
                  <a:tcPr marT="60000" marB="60000"/>
                </a:tc>
                <a:tc>
                  <a:txBody>
                    <a:bodyPr/>
                    <a:lstStyle/>
                    <a:p>
                      <a:r>
                        <a:rPr sz="1250" lang="en-GB"/>
                        <a:t>median, percentiles</a:t>
                      </a:r>
                    </a:p>
                  </a:txBody>
                  <a:tcPr marT="60000" marB="60000"/>
                </a:tc>
              </a:tr>
              <a:tr h="370840">
                <a:tc>
                  <a:txBody>
                    <a:bodyPr/>
                    <a:lstStyle/>
                    <a:p>
                      <a:r>
                        <a:rPr sz="1250" b="1" lang="en-GB"/>
                        <a:t>Interval</a:t>
                      </a:r>
                    </a:p>
                  </a:txBody>
                  <a:tcPr marT="60000" marB="60000"/>
                </a:tc>
                <a:tc>
                  <a:txBody>
                    <a:bodyPr/>
                    <a:lstStyle/>
                    <a:p>
                      <a:r>
                        <a:rPr sz="1250" lang="en-GB"/>
                        <a:t>how much more (no true zero)</a:t>
                      </a:r>
                    </a:p>
                  </a:txBody>
                  <a:tcPr marT="60000" marB="60000"/>
                </a:tc>
                <a:tc>
                  <a:txBody>
                    <a:bodyPr/>
                    <a:lstStyle/>
                    <a:p>
                      <a:r>
                        <a:rPr sz="1250" lang="en-GB"/>
                        <a:t>temperature in °C</a:t>
                      </a:r>
                    </a:p>
                  </a:txBody>
                  <a:tcPr marT="60000" marB="60000"/>
                </a:tc>
                <a:tc>
                  <a:txBody>
                    <a:bodyPr/>
                    <a:lstStyle/>
                    <a:p>
                      <a:r>
                        <a:rPr sz="1250" lang="en-GB"/>
                        <a:t>mean, standard deviation</a:t>
                      </a:r>
                    </a:p>
                  </a:txBody>
                  <a:tcPr marT="60000" marB="60000"/>
                </a:tc>
              </a:tr>
              <a:tr h="370840">
                <a:tc>
                  <a:txBody>
                    <a:bodyPr/>
                    <a:lstStyle/>
                    <a:p>
                      <a:r>
                        <a:rPr sz="1250" b="1" lang="en-GB"/>
                        <a:t>Ratio</a:t>
                      </a:r>
                    </a:p>
                  </a:txBody>
                  <a:tcPr marT="60000" marB="60000"/>
                </a:tc>
                <a:tc>
                  <a:txBody>
                    <a:bodyPr/>
                    <a:lstStyle/>
                    <a:p>
                      <a:r>
                        <a:rPr sz="1250" lang="en-GB"/>
                        <a:t>how many times (true zero)</a:t>
                      </a:r>
                    </a:p>
                  </a:txBody>
                  <a:tcPr marT="60000" marB="60000"/>
                </a:tc>
                <a:tc>
                  <a:txBody>
                    <a:bodyPr/>
                    <a:lstStyle/>
                    <a:p>
                      <a:r>
                        <a:rPr sz="1250" lang="en-GB"/>
                        <a:t>price, bars sold, revenue</a:t>
                      </a:r>
                    </a:p>
                  </a:txBody>
                  <a:tcPr marT="60000" marB="60000"/>
                </a:tc>
                <a:tc>
                  <a:txBody>
                    <a:bodyPr/>
                    <a:lstStyle/>
                    <a:p>
                      <a:r>
                        <a:rPr sz="1250" lang="en-GB"/>
                        <a:t>all, incl. ratios</a:t>
                      </a:r>
                    </a:p>
                  </a:txBody>
                  <a:tcPr marT="60000" marB="60000"/>
                </a:tc>
              </a:tr>
            </a:tbl>
          </a:graphicData>
        </a:graphic>
      </p:graphicFrame>
      <p:sp>
        <p:nvSpPr>
          <p:cNvPr id="3" name="Title 2"/>
          <p:cNvSpPr>
            <a:spLocks noGrp="1"/>
          </p:cNvSpPr>
          <p:nvPr>
            <p:ph type="title"/>
          </p:nvPr>
        </p:nvSpPr>
        <p:spPr/>
        <p:txBody>
          <a:bodyPr/>
          <a:lstStyle/>
          <a:p>
            <a:r>
              <a:rPr sz="1600" lang="en-GB"/>
              <a:t>Four scale types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cale groups box"/>
          <p:cNvSpPr/>
          <p:nvPr/>
        </p:nvSpPr>
        <p:spPr>
          <a:xfrm>
            <a:off x="457200" y="36576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cale groups" descr=""/>
          <p:cNvPicPr>
            <a:picLocks noChangeAspect="1"/>
          </p:cNvPicPr>
          <p:nvPr/>
        </p:nvPicPr>
        <p:blipFill>
          <a:blip r:embed="rId3"/>
          <a:stretch>
            <a:fillRect/>
          </a:stretch>
        </p:blipFill>
        <p:spPr>
          <a:xfrm>
            <a:off x="658368" y="3794760"/>
            <a:ext cx="365760" cy="365760"/>
          </a:xfrm>
          <a:prstGeom prst="rect">
            <a:avLst/>
          </a:prstGeom>
        </p:spPr>
      </p:pic>
      <p:sp>
        <p:nvSpPr>
          <p:cNvPr id="12" name="Scale groups text"/>
          <p:cNvSpPr txBox="1"/>
          <p:nvPr/>
        </p:nvSpPr>
        <p:spPr>
          <a:xfrm>
            <a:off x="1207008" y="365760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Two groups: </a:t>
            </a:r>
            <a:r>
              <a:rPr sz="1300" b="0" lang="en-GB">
                <a:solidFill>
                  <a:schemeClr val="bg1"/>
                </a:solidFill>
              </a:rPr>
              <a:t>nominal and ordinal are categorical; interval and ratio are metric (numbers you can average).</a:t>
            </a:r>
          </a:p>
        </p:txBody>
      </p:sp>
      <p:sp>
        <p:nvSpPr>
          <p:cNvPr id="13" name="Scale reg"/>
          <p:cNvSpPr txBox="1"/>
          <p:nvPr/>
        </p:nvSpPr>
        <p:spPr>
          <a:xfrm>
            <a:off x="457200" y="443484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In regression: </a:t>
            </a:r>
            <a:r>
              <a:rPr sz="1200" b="0" lang="en-GB">
                <a:solidFill>
                  <a:schemeClr val="tx1"/>
                </a:solidFill>
              </a:rPr>
              <a:t>categorical variables enter as dummies (0/1), metric variables as they 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the scale matters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atter row 1"/>
          <p:cNvSpPr/>
          <p:nvPr/>
        </p:nvSpPr>
        <p:spPr>
          <a:xfrm>
            <a:off x="457200" y="1234440"/>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atter bar 1"/>
          <p:cNvSpPr/>
          <p:nvPr/>
        </p:nvSpPr>
        <p:spPr>
          <a:xfrm>
            <a:off x="4572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atter text 1"/>
          <p:cNvSpPr txBox="1"/>
          <p:nvPr/>
        </p:nvSpPr>
        <p:spPr>
          <a:xfrm>
            <a:off x="658368" y="1234440"/>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20 °C </a:t>
            </a:r>
            <a:r>
              <a:rPr sz="1200" b="0" lang="en-GB">
                <a:solidFill>
                  <a:schemeClr val="tx1"/>
                </a:solidFill>
              </a:rPr>
              <a:t>is not twice as warm as 10 °C: no true zero</a:t>
            </a:r>
          </a:p>
        </p:txBody>
      </p:sp>
      <p:sp>
        <p:nvSpPr>
          <p:cNvPr id="13" name="Matter row 2"/>
          <p:cNvSpPr/>
          <p:nvPr/>
        </p:nvSpPr>
        <p:spPr>
          <a:xfrm>
            <a:off x="457200" y="2020824"/>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atter bar 2"/>
          <p:cNvSpPr/>
          <p:nvPr/>
        </p:nvSpPr>
        <p:spPr>
          <a:xfrm>
            <a:off x="457200" y="2020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atter text 2"/>
          <p:cNvSpPr txBox="1"/>
          <p:nvPr/>
        </p:nvSpPr>
        <p:spPr>
          <a:xfrm>
            <a:off x="658368" y="2020824"/>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Mean of star ratings: </a:t>
            </a:r>
            <a:r>
              <a:rPr sz="1200" b="0" lang="en-GB">
                <a:solidFill>
                  <a:schemeClr val="tx1"/>
                </a:solidFill>
              </a:rPr>
              <a:t>treats ordinal as metric; say so</a:t>
            </a:r>
          </a:p>
        </p:txBody>
      </p:sp>
      <p:sp>
        <p:nvSpPr>
          <p:cNvPr id="16" name="Matter row 3"/>
          <p:cNvSpPr/>
          <p:nvPr/>
        </p:nvSpPr>
        <p:spPr>
          <a:xfrm>
            <a:off x="457200" y="2807208"/>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tter bar 3"/>
          <p:cNvSpPr/>
          <p:nvPr/>
        </p:nvSpPr>
        <p:spPr>
          <a:xfrm>
            <a:off x="457200" y="2807208"/>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atter text 3"/>
          <p:cNvSpPr txBox="1"/>
          <p:nvPr/>
        </p:nvSpPr>
        <p:spPr>
          <a:xfrm>
            <a:off x="658368" y="2807208"/>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Store ID 17: </a:t>
            </a:r>
            <a:r>
              <a:rPr sz="1200" b="0" lang="en-GB">
                <a:solidFill>
                  <a:schemeClr val="tx1"/>
                </a:solidFill>
              </a:rPr>
              <a:t>a number, but only a label: nominal</a:t>
            </a:r>
          </a:p>
        </p:txBody>
      </p:sp>
      <p:sp>
        <p:nvSpPr>
          <p:cNvPr id="19" name="Quiz head"/>
          <p:cNvSpPr/>
          <p:nvPr/>
        </p:nvSpPr>
        <p:spPr>
          <a:xfrm>
            <a:off x="4617720" y="1234440"/>
            <a:ext cx="40690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head text"/>
          <p:cNvSpPr txBox="1"/>
          <p:nvPr/>
        </p:nvSpPr>
        <p:spPr>
          <a:xfrm>
            <a:off x="4754880" y="1234440"/>
            <a:ext cx="37947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Quick quiz: which scale?</a:t>
            </a:r>
          </a:p>
        </p:txBody>
      </p:sp>
      <p:sp>
        <p:nvSpPr>
          <p:cNvPr id="21" name="Quiz body"/>
          <p:cNvSpPr/>
          <p:nvPr/>
        </p:nvSpPr>
        <p:spPr>
          <a:xfrm>
            <a:off x="4617720" y="1645920"/>
            <a:ext cx="4069080" cy="18836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iz items"/>
          <p:cNvSpPr txBox="1"/>
          <p:nvPr/>
        </p:nvSpPr>
        <p:spPr>
          <a:xfrm>
            <a:off x="4800600" y="1737360"/>
            <a:ext cx="3749040" cy="1737360"/>
          </a:xfrm>
          <a:prstGeom prst="rect">
            <a:avLst/>
          </a:prstGeom>
          <a:noFill/>
        </p:spPr>
        <p:txBody>
          <a:bodyPr wrap="square" lIns="0" rIns="0" tIns="0" bIns="0" anchor="t">
            <a:noAutofit/>
          </a:bodyPr>
          <a:lstStyle/>
          <a:p>
            <a:pPr algn="l" marL="182880" indent="-182880">
              <a:spcAft>
                <a:spcPts val="500"/>
              </a:spcAft>
              <a:buClr>
                <a:schemeClr val="accent1"/>
              </a:buClr>
              <a:buFont typeface="Arial"/>
              <a:buChar char="▪"/>
            </a:pPr>
            <a:r>
              <a:rPr sz="1200" b="0" lang="en-GB">
                <a:solidFill>
                  <a:schemeClr val="tx1"/>
                </a:solidFill>
              </a:rPr>
              <a:t>Country of the customer</a:t>
            </a:r>
          </a:p>
          <a:p>
            <a:pPr algn="l" marL="182880" indent="-182880">
              <a:spcAft>
                <a:spcPts val="500"/>
              </a:spcAft>
              <a:buClr>
                <a:schemeClr val="accent1"/>
              </a:buClr>
              <a:buFont typeface="Arial"/>
              <a:buChar char="▪"/>
            </a:pPr>
            <a:r>
              <a:rPr sz="1200" b="0" lang="en-GB">
                <a:solidFill>
                  <a:schemeClr val="tx1"/>
                </a:solidFill>
              </a:rPr>
              <a:t>Satisfaction from 1 to 7</a:t>
            </a:r>
          </a:p>
          <a:p>
            <a:pPr algn="l" marL="182880" indent="-182880">
              <a:spcAft>
                <a:spcPts val="500"/>
              </a:spcAft>
              <a:buClr>
                <a:schemeClr val="accent1"/>
              </a:buClr>
              <a:buFont typeface="Arial"/>
              <a:buChar char="▪"/>
            </a:pPr>
            <a:r>
              <a:rPr sz="1200" b="0" lang="en-GB">
                <a:solidFill>
                  <a:schemeClr val="tx1"/>
                </a:solidFill>
              </a:rPr>
              <a:t>Age in years</a:t>
            </a:r>
          </a:p>
          <a:p>
            <a:pPr algn="l" marL="182880" indent="-182880">
              <a:spcAft>
                <a:spcPts val="500"/>
              </a:spcAft>
              <a:buClr>
                <a:schemeClr val="accent1"/>
              </a:buClr>
              <a:buFont typeface="Arial"/>
              <a:buChar char="▪"/>
            </a:pPr>
            <a:r>
              <a:rPr sz="1200" b="0" lang="en-GB">
                <a:solidFill>
                  <a:schemeClr val="tx1"/>
                </a:solidFill>
              </a:rPr>
              <a:t>Discount: yes or no</a:t>
            </a:r>
          </a:p>
          <a:p>
            <a:pPr algn="l" marL="182880" indent="-182880">
              <a:spcAft>
                <a:spcPts val="500"/>
              </a:spcAft>
              <a:buClr>
                <a:schemeClr val="accent1"/>
              </a:buClr>
              <a:buFont typeface="Arial"/>
              <a:buChar char="▪"/>
            </a:pPr>
            <a:r>
              <a:rPr sz="1200" b="0" lang="en-GB">
                <a:solidFill>
                  <a:schemeClr val="tx1"/>
                </a:solidFill>
              </a:rPr>
              <a:t>Temperature on the day</a:t>
            </a:r>
          </a:p>
        </p:txBody>
      </p:sp>
      <p:sp>
        <p:nvSpPr>
          <p:cNvPr id="23" name="Matter rule box"/>
          <p:cNvSpPr/>
          <p:nvPr/>
        </p:nvSpPr>
        <p:spPr>
          <a:xfrm>
            <a:off x="457200" y="37033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Matter rule" descr=""/>
          <p:cNvPicPr>
            <a:picLocks noChangeAspect="1"/>
          </p:cNvPicPr>
          <p:nvPr/>
        </p:nvPicPr>
        <p:blipFill>
          <a:blip r:embed="rId3"/>
          <a:stretch>
            <a:fillRect/>
          </a:stretch>
        </p:blipFill>
        <p:spPr>
          <a:xfrm>
            <a:off x="658368" y="3840480"/>
            <a:ext cx="365760" cy="365760"/>
          </a:xfrm>
          <a:prstGeom prst="rect">
            <a:avLst/>
          </a:prstGeom>
        </p:spPr>
      </p:pic>
      <p:sp>
        <p:nvSpPr>
          <p:cNvPr id="25" name="Matter rule text"/>
          <p:cNvSpPr txBox="1"/>
          <p:nvPr/>
        </p:nvSpPr>
        <p:spPr>
          <a:xfrm>
            <a:off x="1207008" y="370332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Rule: </a:t>
            </a:r>
            <a:r>
              <a:rPr sz="1300" b="0" lang="en-GB">
                <a:solidFill>
                  <a:schemeClr val="bg1"/>
                </a:solidFill>
              </a:rPr>
              <a:t>check the scale before you average, chart or put a variable into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5 · mean, median, variance, standard deviation, standard error</a:t>
            </a:r>
          </a:p>
        </p:txBody>
      </p:sp>
      <p:sp>
        <p:nvSpPr>
          <p:cNvPr id="3" name="Title 2"/>
          <p:cNvSpPr>
            <a:spLocks noGrp="1"/>
          </p:cNvSpPr>
          <p:nvPr>
            <p:ph type="ctrTitle"/>
          </p:nvPr>
        </p:nvSpPr>
        <p:spPr/>
        <p:txBody>
          <a:bodyPr/>
          <a:lstStyle/>
          <a:p>
            <a:r>
              <a:rPr sz="1600" lang="en-GB"/>
              <a:t>Centre and spread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Mean and median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ean formula box"/>
          <p:cNvSpPr/>
          <p:nvPr/>
        </p:nvSpPr>
        <p:spPr>
          <a:xfrm>
            <a:off x="457200" y="1234440"/>
            <a:ext cx="420624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an formula code"/>
          <p:cNvSpPr txBox="1"/>
          <p:nvPr/>
        </p:nvSpPr>
        <p:spPr>
          <a:xfrm>
            <a:off x="594360" y="1325880"/>
            <a:ext cx="393192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mean    x̄ = Σ x / n = 100 / 5 = 20</a:t>
            </a:r>
          </a:p>
          <a:p>
            <a:pPr algn="l">
              <a:spcAft>
                <a:spcPts val="0"/>
              </a:spcAft>
            </a:pPr>
            <a:r>
              <a:rPr sz="1200" b="0" lang="en-GB">
                <a:solidFill>
                  <a:schemeClr val="bg1"/>
                </a:solidFill>
                <a:latin typeface="Consolas"/>
              </a:rPr>
              <a:t>median  middle of 10 11 12 13 54 = 12</a:t>
            </a:r>
          </a:p>
        </p:txBody>
      </p:sp>
      <p:sp>
        <p:nvSpPr>
          <p:cNvPr id="12" name="MM rows row 1"/>
          <p:cNvSpPr/>
          <p:nvPr/>
        </p:nvSpPr>
        <p:spPr>
          <a:xfrm>
            <a:off x="457200" y="224028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M rows bar 1"/>
          <p:cNvSpPr/>
          <p:nvPr/>
        </p:nvSpPr>
        <p:spPr>
          <a:xfrm>
            <a:off x="457200" y="224028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M rows text 1"/>
          <p:cNvSpPr txBox="1"/>
          <p:nvPr/>
        </p:nvSpPr>
        <p:spPr>
          <a:xfrm>
            <a:off x="658368" y="224028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Mean </a:t>
            </a:r>
            <a:r>
              <a:rPr sz="1200" b="0" lang="en-GB">
                <a:solidFill>
                  <a:schemeClr val="tx1"/>
                </a:solidFill>
              </a:rPr>
              <a:t>uses every value; one event day pulls it up</a:t>
            </a:r>
          </a:p>
        </p:txBody>
      </p:sp>
      <p:sp>
        <p:nvSpPr>
          <p:cNvPr id="15" name="MM rows row 2"/>
          <p:cNvSpPr/>
          <p:nvPr/>
        </p:nvSpPr>
        <p:spPr>
          <a:xfrm>
            <a:off x="457200" y="288036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M rows bar 2"/>
          <p:cNvSpPr/>
          <p:nvPr/>
        </p:nvSpPr>
        <p:spPr>
          <a:xfrm>
            <a:off x="457200" y="288036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M rows text 2"/>
          <p:cNvSpPr txBox="1"/>
          <p:nvPr/>
        </p:nvSpPr>
        <p:spPr>
          <a:xfrm>
            <a:off x="658368" y="288036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Median </a:t>
            </a:r>
            <a:r>
              <a:rPr sz="1200" b="0" lang="en-GB">
                <a:solidFill>
                  <a:schemeClr val="tx1"/>
                </a:solidFill>
              </a:rPr>
              <a:t>is robust: half the days below, half above</a:t>
            </a:r>
          </a:p>
        </p:txBody>
      </p:sp>
      <p:sp>
        <p:nvSpPr>
          <p:cNvPr id="18" name="MM rows row 3"/>
          <p:cNvSpPr/>
          <p:nvPr/>
        </p:nvSpPr>
        <p:spPr>
          <a:xfrm>
            <a:off x="457200" y="352044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M rows bar 3"/>
          <p:cNvSpPr/>
          <p:nvPr/>
        </p:nvSpPr>
        <p:spPr>
          <a:xfrm>
            <a:off x="457200" y="3520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MM rows text 3"/>
          <p:cNvSpPr txBox="1"/>
          <p:nvPr/>
        </p:nvSpPr>
        <p:spPr>
          <a:xfrm>
            <a:off x="658368" y="352044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Use the median </a:t>
            </a:r>
            <a:r>
              <a:rPr sz="1200" b="0" lang="en-GB">
                <a:solidFill>
                  <a:schemeClr val="tx1"/>
                </a:solidFill>
              </a:rPr>
              <a:t>for skewed data and ordinal scales</a:t>
            </a:r>
          </a:p>
        </p:txBody>
      </p:sp>
      <p:pic>
        <p:nvPicPr>
          <p:cNvPr id="21" name="Chart ref_mean_median.png" descr="Dot chart of five days: four between 10 and 13 bars, Friday at 54; a solid line at the mean of 20 and a dashed line at the median of 12"/>
          <p:cNvPicPr>
            <a:picLocks noChangeAspect="1"/>
          </p:cNvPicPr>
          <p:nvPr/>
        </p:nvPicPr>
        <p:blipFill>
          <a:blip r:embed="rId3"/>
          <a:stretch>
            <a:fillRect/>
          </a:stretch>
        </p:blipFill>
        <p:spPr>
          <a:xfrm>
            <a:off x="4800600" y="1234440"/>
            <a:ext cx="3886200" cy="2651760"/>
          </a:xfrm>
          <a:prstGeom prst="rect">
            <a:avLst/>
          </a:prstGeom>
        </p:spPr>
      </p:pic>
      <p:sp>
        <p:nvSpPr>
          <p:cNvPr id="22" name="MM totals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MM totals" descr=""/>
          <p:cNvPicPr>
            <a:picLocks noChangeAspect="1"/>
          </p:cNvPicPr>
          <p:nvPr/>
        </p:nvPicPr>
        <p:blipFill>
          <a:blip r:embed="rId4"/>
          <a:stretch>
            <a:fillRect/>
          </a:stretch>
        </p:blipFill>
        <p:spPr>
          <a:xfrm>
            <a:off x="658368" y="4411980"/>
            <a:ext cx="365760" cy="365760"/>
          </a:xfrm>
          <a:prstGeom prst="rect">
            <a:avLst/>
          </a:prstGeom>
        </p:spPr>
      </p:pic>
      <p:sp>
        <p:nvSpPr>
          <p:cNvPr id="24" name="MM totals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Totals need the mean: </a:t>
            </a:r>
            <a:r>
              <a:rPr sz="1200" b="0" lang="en-GB">
                <a:solidFill>
                  <a:schemeClr val="tx1"/>
                </a:solidFill>
              </a:rPr>
              <a:t>20 bars a day × 5 days = 100 bars in the week.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Variance and standard deviation, by hand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ar table 1-1"/>
          <p:cNvSpPr/>
          <p:nvPr/>
        </p:nvSpPr>
        <p:spPr>
          <a:xfrm>
            <a:off x="457200" y="1234440"/>
            <a:ext cx="8869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ar table text 1-1"/>
          <p:cNvSpPr txBox="1"/>
          <p:nvPr/>
        </p:nvSpPr>
        <p:spPr>
          <a:xfrm>
            <a:off x="548640" y="1234440"/>
            <a:ext cx="7040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2" name="Var table 1-2"/>
          <p:cNvSpPr/>
          <p:nvPr/>
        </p:nvSpPr>
        <p:spPr>
          <a:xfrm>
            <a:off x="1371600" y="1234440"/>
            <a:ext cx="1024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Var table text 1-2"/>
          <p:cNvSpPr txBox="1"/>
          <p:nvPr/>
        </p:nvSpPr>
        <p:spPr>
          <a:xfrm>
            <a:off x="1463040" y="1234440"/>
            <a:ext cx="8412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Bars x</a:t>
            </a:r>
          </a:p>
        </p:txBody>
      </p:sp>
      <p:sp>
        <p:nvSpPr>
          <p:cNvPr id="14" name="Var table 1-3"/>
          <p:cNvSpPr/>
          <p:nvPr/>
        </p:nvSpPr>
        <p:spPr>
          <a:xfrm>
            <a:off x="2423160" y="1234440"/>
            <a:ext cx="1024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Var table text 1-3"/>
          <p:cNvSpPr txBox="1"/>
          <p:nvPr/>
        </p:nvSpPr>
        <p:spPr>
          <a:xfrm>
            <a:off x="2514600" y="1234440"/>
            <a:ext cx="8412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x − x̄</a:t>
            </a:r>
          </a:p>
        </p:txBody>
      </p:sp>
      <p:sp>
        <p:nvSpPr>
          <p:cNvPr id="16" name="Var table 1-4"/>
          <p:cNvSpPr/>
          <p:nvPr/>
        </p:nvSpPr>
        <p:spPr>
          <a:xfrm>
            <a:off x="3474720" y="1234440"/>
            <a:ext cx="120700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ar table text 1-4"/>
          <p:cNvSpPr txBox="1"/>
          <p:nvPr/>
        </p:nvSpPr>
        <p:spPr>
          <a:xfrm>
            <a:off x="3566160" y="1234440"/>
            <a:ext cx="102412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(x − x̄)²</a:t>
            </a:r>
          </a:p>
        </p:txBody>
      </p:sp>
      <p:sp>
        <p:nvSpPr>
          <p:cNvPr id="18" name="Var table 2-1"/>
          <p:cNvSpPr/>
          <p:nvPr/>
        </p:nvSpPr>
        <p:spPr>
          <a:xfrm>
            <a:off x="457200" y="160934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Var table text 2-1"/>
          <p:cNvSpPr txBox="1"/>
          <p:nvPr/>
        </p:nvSpPr>
        <p:spPr>
          <a:xfrm>
            <a:off x="548640" y="160934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0" name="Var table 2-2"/>
          <p:cNvSpPr/>
          <p:nvPr/>
        </p:nvSpPr>
        <p:spPr>
          <a:xfrm>
            <a:off x="1371600" y="160934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ar table text 2-2"/>
          <p:cNvSpPr txBox="1"/>
          <p:nvPr/>
        </p:nvSpPr>
        <p:spPr>
          <a:xfrm>
            <a:off x="1463040" y="1609344"/>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2" name="Var table 2-3"/>
          <p:cNvSpPr/>
          <p:nvPr/>
        </p:nvSpPr>
        <p:spPr>
          <a:xfrm>
            <a:off x="2423160" y="160934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Var table text 2-3"/>
          <p:cNvSpPr txBox="1"/>
          <p:nvPr/>
        </p:nvSpPr>
        <p:spPr>
          <a:xfrm>
            <a:off x="2514600" y="1609344"/>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4" name="Var table 2-4"/>
          <p:cNvSpPr/>
          <p:nvPr/>
        </p:nvSpPr>
        <p:spPr>
          <a:xfrm>
            <a:off x="3474720" y="1609344"/>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Var table text 2-4"/>
          <p:cNvSpPr txBox="1"/>
          <p:nvPr/>
        </p:nvSpPr>
        <p:spPr>
          <a:xfrm>
            <a:off x="3566160" y="1609344"/>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900</a:t>
            </a:r>
          </a:p>
        </p:txBody>
      </p:sp>
      <p:sp>
        <p:nvSpPr>
          <p:cNvPr id="26" name="Var table 3-1"/>
          <p:cNvSpPr/>
          <p:nvPr/>
        </p:nvSpPr>
        <p:spPr>
          <a:xfrm>
            <a:off x="457200" y="1984248"/>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Var table text 3-1"/>
          <p:cNvSpPr txBox="1"/>
          <p:nvPr/>
        </p:nvSpPr>
        <p:spPr>
          <a:xfrm>
            <a:off x="548640" y="1984248"/>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8" name="Var table 3-2"/>
          <p:cNvSpPr/>
          <p:nvPr/>
        </p:nvSpPr>
        <p:spPr>
          <a:xfrm>
            <a:off x="1371600" y="1984248"/>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Var table text 3-2"/>
          <p:cNvSpPr txBox="1"/>
          <p:nvPr/>
        </p:nvSpPr>
        <p:spPr>
          <a:xfrm>
            <a:off x="1463040" y="1984248"/>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30" name="Var table 3-3"/>
          <p:cNvSpPr/>
          <p:nvPr/>
        </p:nvSpPr>
        <p:spPr>
          <a:xfrm>
            <a:off x="2423160" y="1984248"/>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Var table text 3-3"/>
          <p:cNvSpPr txBox="1"/>
          <p:nvPr/>
        </p:nvSpPr>
        <p:spPr>
          <a:xfrm>
            <a:off x="2514600" y="1984248"/>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2" name="Var table 3-4"/>
          <p:cNvSpPr/>
          <p:nvPr/>
        </p:nvSpPr>
        <p:spPr>
          <a:xfrm>
            <a:off x="3474720" y="1984248"/>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Var table text 3-4"/>
          <p:cNvSpPr txBox="1"/>
          <p:nvPr/>
        </p:nvSpPr>
        <p:spPr>
          <a:xfrm>
            <a:off x="3566160" y="1984248"/>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400</a:t>
            </a:r>
          </a:p>
        </p:txBody>
      </p:sp>
      <p:sp>
        <p:nvSpPr>
          <p:cNvPr id="34" name="Var table 4-1"/>
          <p:cNvSpPr/>
          <p:nvPr/>
        </p:nvSpPr>
        <p:spPr>
          <a:xfrm>
            <a:off x="457200" y="2359152"/>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Var table text 4-1"/>
          <p:cNvSpPr txBox="1"/>
          <p:nvPr/>
        </p:nvSpPr>
        <p:spPr>
          <a:xfrm>
            <a:off x="548640" y="2359152"/>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6" name="Var table 4-2"/>
          <p:cNvSpPr/>
          <p:nvPr/>
        </p:nvSpPr>
        <p:spPr>
          <a:xfrm>
            <a:off x="1371600" y="2359152"/>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Var table text 4-2"/>
          <p:cNvSpPr txBox="1"/>
          <p:nvPr/>
        </p:nvSpPr>
        <p:spPr>
          <a:xfrm>
            <a:off x="1463040" y="2359152"/>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80</a:t>
            </a:r>
          </a:p>
        </p:txBody>
      </p:sp>
      <p:sp>
        <p:nvSpPr>
          <p:cNvPr id="38" name="Var table 4-3"/>
          <p:cNvSpPr/>
          <p:nvPr/>
        </p:nvSpPr>
        <p:spPr>
          <a:xfrm>
            <a:off x="2423160" y="2359152"/>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Var table text 4-3"/>
          <p:cNvSpPr txBox="1"/>
          <p:nvPr/>
        </p:nvSpPr>
        <p:spPr>
          <a:xfrm>
            <a:off x="2514600" y="2359152"/>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0" name="Var table 4-4"/>
          <p:cNvSpPr/>
          <p:nvPr/>
        </p:nvSpPr>
        <p:spPr>
          <a:xfrm>
            <a:off x="3474720" y="2359152"/>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Var table text 4-4"/>
          <p:cNvSpPr txBox="1"/>
          <p:nvPr/>
        </p:nvSpPr>
        <p:spPr>
          <a:xfrm>
            <a:off x="3566160" y="2359152"/>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2" name="Var table 5-1"/>
          <p:cNvSpPr/>
          <p:nvPr/>
        </p:nvSpPr>
        <p:spPr>
          <a:xfrm>
            <a:off x="457200" y="2734056"/>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Var table text 5-1"/>
          <p:cNvSpPr txBox="1"/>
          <p:nvPr/>
        </p:nvSpPr>
        <p:spPr>
          <a:xfrm>
            <a:off x="548640" y="2734056"/>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4" name="Var table 5-2"/>
          <p:cNvSpPr/>
          <p:nvPr/>
        </p:nvSpPr>
        <p:spPr>
          <a:xfrm>
            <a:off x="1371600" y="2734056"/>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Var table text 5-2"/>
          <p:cNvSpPr txBox="1"/>
          <p:nvPr/>
        </p:nvSpPr>
        <p:spPr>
          <a:xfrm>
            <a:off x="1463040" y="2734056"/>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6" name="Var table 5-3"/>
          <p:cNvSpPr/>
          <p:nvPr/>
        </p:nvSpPr>
        <p:spPr>
          <a:xfrm>
            <a:off x="2423160" y="2734056"/>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Var table text 5-3"/>
          <p:cNvSpPr txBox="1"/>
          <p:nvPr/>
        </p:nvSpPr>
        <p:spPr>
          <a:xfrm>
            <a:off x="2514600" y="2734056"/>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48" name="Var table 5-4"/>
          <p:cNvSpPr/>
          <p:nvPr/>
        </p:nvSpPr>
        <p:spPr>
          <a:xfrm>
            <a:off x="3474720" y="2734056"/>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Var table text 5-4"/>
          <p:cNvSpPr txBox="1"/>
          <p:nvPr/>
        </p:nvSpPr>
        <p:spPr>
          <a:xfrm>
            <a:off x="3566160" y="2734056"/>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50" name="Var table 6-1"/>
          <p:cNvSpPr/>
          <p:nvPr/>
        </p:nvSpPr>
        <p:spPr>
          <a:xfrm>
            <a:off x="457200" y="3108960"/>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Var table text 6-1"/>
          <p:cNvSpPr txBox="1"/>
          <p:nvPr/>
        </p:nvSpPr>
        <p:spPr>
          <a:xfrm>
            <a:off x="548640" y="3108960"/>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52" name="Var table 6-2"/>
          <p:cNvSpPr/>
          <p:nvPr/>
        </p:nvSpPr>
        <p:spPr>
          <a:xfrm>
            <a:off x="1371600" y="3108960"/>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Var table text 6-2"/>
          <p:cNvSpPr txBox="1"/>
          <p:nvPr/>
        </p:nvSpPr>
        <p:spPr>
          <a:xfrm>
            <a:off x="1463040" y="3108960"/>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4" name="Var table 6-3"/>
          <p:cNvSpPr/>
          <p:nvPr/>
        </p:nvSpPr>
        <p:spPr>
          <a:xfrm>
            <a:off x="2423160" y="3108960"/>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Var table text 6-3"/>
          <p:cNvSpPr txBox="1"/>
          <p:nvPr/>
        </p:nvSpPr>
        <p:spPr>
          <a:xfrm>
            <a:off x="2514600" y="3108960"/>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6" name="Var table 6-4"/>
          <p:cNvSpPr/>
          <p:nvPr/>
        </p:nvSpPr>
        <p:spPr>
          <a:xfrm>
            <a:off x="3474720" y="3108960"/>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Var table text 6-4"/>
          <p:cNvSpPr txBox="1"/>
          <p:nvPr/>
        </p:nvSpPr>
        <p:spPr>
          <a:xfrm>
            <a:off x="3566160" y="3108960"/>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1,600</a:t>
            </a:r>
          </a:p>
        </p:txBody>
      </p:sp>
      <p:sp>
        <p:nvSpPr>
          <p:cNvPr id="58" name="Var table 7-1"/>
          <p:cNvSpPr/>
          <p:nvPr/>
        </p:nvSpPr>
        <p:spPr>
          <a:xfrm>
            <a:off x="457200" y="348386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Var table text 7-1"/>
          <p:cNvSpPr txBox="1"/>
          <p:nvPr/>
        </p:nvSpPr>
        <p:spPr>
          <a:xfrm>
            <a:off x="548640" y="348386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Sum</a:t>
            </a:r>
          </a:p>
        </p:txBody>
      </p:sp>
      <p:sp>
        <p:nvSpPr>
          <p:cNvPr id="60" name="Var table 7-2"/>
          <p:cNvSpPr/>
          <p:nvPr/>
        </p:nvSpPr>
        <p:spPr>
          <a:xfrm>
            <a:off x="1371600" y="348386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Var table text 7-2"/>
          <p:cNvSpPr txBox="1"/>
          <p:nvPr/>
        </p:nvSpPr>
        <p:spPr>
          <a:xfrm>
            <a:off x="1463040" y="3483864"/>
            <a:ext cx="84124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400</a:t>
            </a:r>
          </a:p>
        </p:txBody>
      </p:sp>
      <p:sp>
        <p:nvSpPr>
          <p:cNvPr id="62" name="Var table 7-3"/>
          <p:cNvSpPr/>
          <p:nvPr/>
        </p:nvSpPr>
        <p:spPr>
          <a:xfrm>
            <a:off x="2423160" y="348386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Var table text 7-3"/>
          <p:cNvSpPr txBox="1"/>
          <p:nvPr/>
        </p:nvSpPr>
        <p:spPr>
          <a:xfrm>
            <a:off x="2514600" y="3483864"/>
            <a:ext cx="84124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0</a:t>
            </a:r>
          </a:p>
        </p:txBody>
      </p:sp>
      <p:sp>
        <p:nvSpPr>
          <p:cNvPr id="64" name="Var table 7-4"/>
          <p:cNvSpPr/>
          <p:nvPr/>
        </p:nvSpPr>
        <p:spPr>
          <a:xfrm>
            <a:off x="3474720" y="3483864"/>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Var table text 7-4"/>
          <p:cNvSpPr txBox="1"/>
          <p:nvPr/>
        </p:nvSpPr>
        <p:spPr>
          <a:xfrm>
            <a:off x="3566160" y="3483864"/>
            <a:ext cx="102412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3,000</a:t>
            </a:r>
          </a:p>
        </p:txBody>
      </p:sp>
      <p:sp>
        <p:nvSpPr>
          <p:cNvPr id="66" name="Var formula caption bar"/>
          <p:cNvSpPr/>
          <p:nvPr/>
        </p:nvSpPr>
        <p:spPr>
          <a:xfrm>
            <a:off x="4937760" y="1234440"/>
            <a:ext cx="3749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Var formula caption"/>
          <p:cNvSpPr txBox="1"/>
          <p:nvPr/>
        </p:nvSpPr>
        <p:spPr>
          <a:xfrm>
            <a:off x="5047488" y="1234440"/>
            <a:ext cx="3529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Variance and standard deviation</a:t>
            </a:r>
          </a:p>
        </p:txBody>
      </p:sp>
      <p:sp>
        <p:nvSpPr>
          <p:cNvPr id="68" name="Var formula box"/>
          <p:cNvSpPr/>
          <p:nvPr/>
        </p:nvSpPr>
        <p:spPr>
          <a:xfrm>
            <a:off x="4937760" y="1508760"/>
            <a:ext cx="3749040" cy="960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Var formula code"/>
          <p:cNvSpPr txBox="1"/>
          <p:nvPr/>
        </p:nvSpPr>
        <p:spPr>
          <a:xfrm>
            <a:off x="5074920" y="1600200"/>
            <a:ext cx="3474720" cy="7772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x̄  = 400 / 5 = 80</a:t>
            </a:r>
          </a:p>
          <a:p>
            <a:pPr algn="l">
              <a:spcAft>
                <a:spcPts val="0"/>
              </a:spcAft>
            </a:pPr>
            <a:r>
              <a:rPr sz="1200" b="0" lang="en-GB">
                <a:solidFill>
                  <a:schemeClr val="bg1"/>
                </a:solidFill>
                <a:latin typeface="Consolas"/>
              </a:rPr>
              <a:t>s² = 3,000 / (5 − 1) = 750</a:t>
            </a:r>
          </a:p>
          <a:p>
            <a:pPr algn="l">
              <a:spcAft>
                <a:spcPts val="0"/>
              </a:spcAft>
            </a:pPr>
            <a:r>
              <a:rPr sz="1200" b="0" lang="en-GB">
                <a:solidFill>
                  <a:schemeClr val="bg1"/>
                </a:solidFill>
                <a:latin typeface="Consolas"/>
              </a:rPr>
              <a:t>s  = √750 = 27.4 bars</a:t>
            </a:r>
          </a:p>
        </p:txBody>
      </p:sp>
      <p:sp>
        <p:nvSpPr>
          <p:cNvPr id="70" name="Var rows row 1"/>
          <p:cNvSpPr/>
          <p:nvPr/>
        </p:nvSpPr>
        <p:spPr>
          <a:xfrm>
            <a:off x="4937760" y="2606040"/>
            <a:ext cx="374904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Var rows bar 1"/>
          <p:cNvSpPr/>
          <p:nvPr/>
        </p:nvSpPr>
        <p:spPr>
          <a:xfrm>
            <a:off x="4937760" y="2606040"/>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Var rows text 1"/>
          <p:cNvSpPr txBox="1"/>
          <p:nvPr/>
        </p:nvSpPr>
        <p:spPr>
          <a:xfrm>
            <a:off x="5138928" y="2606040"/>
            <a:ext cx="345643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Variance </a:t>
            </a:r>
            <a:r>
              <a:rPr sz="1200" b="0" lang="en-GB">
                <a:solidFill>
                  <a:schemeClr val="tx1"/>
                </a:solidFill>
              </a:rPr>
              <a:t>is in squared units (bars²)</a:t>
            </a:r>
          </a:p>
        </p:txBody>
      </p:sp>
      <p:sp>
        <p:nvSpPr>
          <p:cNvPr id="73" name="Var rows row 2"/>
          <p:cNvSpPr/>
          <p:nvPr/>
        </p:nvSpPr>
        <p:spPr>
          <a:xfrm>
            <a:off x="4937760" y="3209544"/>
            <a:ext cx="374904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Var rows bar 2"/>
          <p:cNvSpPr/>
          <p:nvPr/>
        </p:nvSpPr>
        <p:spPr>
          <a:xfrm>
            <a:off x="4937760" y="3209544"/>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Var rows text 2"/>
          <p:cNvSpPr txBox="1"/>
          <p:nvPr/>
        </p:nvSpPr>
        <p:spPr>
          <a:xfrm>
            <a:off x="5138928" y="3209544"/>
            <a:ext cx="345643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Standard deviation </a:t>
            </a:r>
            <a:r>
              <a:rPr sz="1200" b="0" lang="en-GB">
                <a:solidFill>
                  <a:schemeClr val="tx1"/>
                </a:solidFill>
              </a:rPr>
              <a:t>is in bars: the typical distance from the mean</a:t>
            </a:r>
          </a:p>
        </p:txBody>
      </p:sp>
      <p:sp>
        <p:nvSpPr>
          <p:cNvPr id="76" name="Var n1 box"/>
          <p:cNvSpPr/>
          <p:nvPr/>
        </p:nvSpPr>
        <p:spPr>
          <a:xfrm>
            <a:off x="457200" y="39776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7" name="Icon Var n1" descr=""/>
          <p:cNvPicPr>
            <a:picLocks noChangeAspect="1"/>
          </p:cNvPicPr>
          <p:nvPr/>
        </p:nvPicPr>
        <p:blipFill>
          <a:blip r:embed="rId3"/>
          <a:stretch>
            <a:fillRect/>
          </a:stretch>
        </p:blipFill>
        <p:spPr>
          <a:xfrm>
            <a:off x="658368" y="4183380"/>
            <a:ext cx="365760" cy="365760"/>
          </a:xfrm>
          <a:prstGeom prst="rect">
            <a:avLst/>
          </a:prstGeom>
        </p:spPr>
      </p:pic>
      <p:sp>
        <p:nvSpPr>
          <p:cNvPr id="78" name="Var n1 text"/>
          <p:cNvSpPr txBox="1"/>
          <p:nvPr/>
        </p:nvSpPr>
        <p:spPr>
          <a:xfrm>
            <a:off x="1207008" y="39776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Why n − 1? </a:t>
            </a:r>
            <a:r>
              <a:rPr sz="1200" b="0" lang="en-GB">
                <a:solidFill>
                  <a:schemeClr val="bg1"/>
                </a:solidFill>
              </a:rPr>
              <a:t>deviations from the sample mean are a little too small; dividing by n − 1 corrects this. polars and pandas do it by default.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Same mean, different spread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spread.png" descr="Two rows of five dots: kiosk A between 75 and 85, kiosk B between 40 and 120, a dashed line at the common mean of 80"/>
          <p:cNvPicPr>
            <a:picLocks noChangeAspect="1"/>
          </p:cNvPicPr>
          <p:nvPr/>
        </p:nvPicPr>
        <p:blipFill>
          <a:blip r:embed="rId3"/>
          <a:stretch>
            <a:fillRect/>
          </a:stretch>
        </p:blipFill>
        <p:spPr>
          <a:xfrm>
            <a:off x="457200" y="1234440"/>
            <a:ext cx="4572000" cy="2496312"/>
          </a:xfrm>
          <a:prstGeom prst="rect">
            <a:avLst/>
          </a:prstGeom>
        </p:spPr>
      </p:pic>
      <p:sp>
        <p:nvSpPr>
          <p:cNvPr id="11" name="SD stat box 1"/>
          <p:cNvSpPr/>
          <p:nvPr/>
        </p:nvSpPr>
        <p:spPr>
          <a:xfrm>
            <a:off x="5166360" y="1234440"/>
            <a:ext cx="352044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D stat 1 bar"/>
          <p:cNvSpPr/>
          <p:nvPr/>
        </p:nvSpPr>
        <p:spPr>
          <a:xfrm>
            <a:off x="516636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D stat 1 figure"/>
          <p:cNvSpPr txBox="1"/>
          <p:nvPr/>
        </p:nvSpPr>
        <p:spPr>
          <a:xfrm>
            <a:off x="5349240" y="123444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3.8</a:t>
            </a:r>
          </a:p>
        </p:txBody>
      </p:sp>
      <p:sp>
        <p:nvSpPr>
          <p:cNvPr id="14" name="SD stat 1 label"/>
          <p:cNvSpPr txBox="1"/>
          <p:nvPr/>
        </p:nvSpPr>
        <p:spPr>
          <a:xfrm>
            <a:off x="6537960" y="1234440"/>
            <a:ext cx="210312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bars: sd of kiosk A</a:t>
            </a:r>
          </a:p>
        </p:txBody>
      </p:sp>
      <p:sp>
        <p:nvSpPr>
          <p:cNvPr id="15" name="SD stat box 2"/>
          <p:cNvSpPr/>
          <p:nvPr/>
        </p:nvSpPr>
        <p:spPr>
          <a:xfrm>
            <a:off x="5166360" y="2240280"/>
            <a:ext cx="352044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D stat 2 bar"/>
          <p:cNvSpPr/>
          <p:nvPr/>
        </p:nvSpPr>
        <p:spPr>
          <a:xfrm>
            <a:off x="5166360" y="22402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D stat 2 figure"/>
          <p:cNvSpPr txBox="1"/>
          <p:nvPr/>
        </p:nvSpPr>
        <p:spPr>
          <a:xfrm>
            <a:off x="5349240" y="224028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31.6</a:t>
            </a:r>
          </a:p>
        </p:txBody>
      </p:sp>
      <p:sp>
        <p:nvSpPr>
          <p:cNvPr id="18" name="SD stat 2 label"/>
          <p:cNvSpPr txBox="1"/>
          <p:nvPr/>
        </p:nvSpPr>
        <p:spPr>
          <a:xfrm>
            <a:off x="6537960" y="2240280"/>
            <a:ext cx="210312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bars: sd of kiosk B</a:t>
            </a:r>
          </a:p>
        </p:txBody>
      </p:sp>
      <p:sp>
        <p:nvSpPr>
          <p:cNvPr id="19" name="SD manager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SD manager" descr=""/>
          <p:cNvPicPr>
            <a:picLocks noChangeAspect="1"/>
          </p:cNvPicPr>
          <p:nvPr/>
        </p:nvPicPr>
        <p:blipFill>
          <a:blip r:embed="rId4"/>
          <a:stretch>
            <a:fillRect/>
          </a:stretch>
        </p:blipFill>
        <p:spPr>
          <a:xfrm>
            <a:off x="658368" y="4114800"/>
            <a:ext cx="365760" cy="365760"/>
          </a:xfrm>
          <a:prstGeom prst="rect">
            <a:avLst/>
          </a:prstGeom>
        </p:spPr>
      </p:pic>
      <p:sp>
        <p:nvSpPr>
          <p:cNvPr id="21" name="SD manager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For the manager: </a:t>
            </a:r>
            <a:r>
              <a:rPr sz="1200" b="0" lang="en-GB">
                <a:solidFill>
                  <a:schemeClr val="bg1"/>
                </a:solidFill>
              </a:rPr>
              <a:t>both sell 80 a week, but kiosk B needs much more safety stock and its forecasts are less certain.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Standard error: how precise is the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SE = s / √n          95% confidence interval ≈ x̄ ± 1.96 · SE</a:t>
            </a:r>
          </a:p>
        </p:txBody>
      </p:sp>
      <p:sp>
        <p:nvSpPr>
          <p:cNvPr id="12" name="SE box 1"/>
          <p:cNvSpPr/>
          <p:nvPr/>
        </p:nvSpPr>
        <p:spPr>
          <a:xfrm>
            <a:off x="45720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 bar 1"/>
          <p:cNvSpPr/>
          <p:nvPr/>
        </p:nvSpPr>
        <p:spPr>
          <a:xfrm>
            <a:off x="45720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E fig 1"/>
          <p:cNvSpPr txBox="1"/>
          <p:nvPr/>
        </p:nvSpPr>
        <p:spPr>
          <a:xfrm>
            <a:off x="64008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EUR 1.00</a:t>
            </a:r>
          </a:p>
        </p:txBody>
      </p:sp>
      <p:sp>
        <p:nvSpPr>
          <p:cNvPr id="15" name="SE lab 1"/>
          <p:cNvSpPr txBox="1"/>
          <p:nvPr/>
        </p:nvSpPr>
        <p:spPr>
          <a:xfrm>
            <a:off x="64008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SE with 16 customers: 4 / √16</a:t>
            </a:r>
          </a:p>
        </p:txBody>
      </p:sp>
      <p:sp>
        <p:nvSpPr>
          <p:cNvPr id="16" name="SE box 2"/>
          <p:cNvSpPr/>
          <p:nvPr/>
        </p:nvSpPr>
        <p:spPr>
          <a:xfrm>
            <a:off x="324612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 bar 2"/>
          <p:cNvSpPr/>
          <p:nvPr/>
        </p:nvSpPr>
        <p:spPr>
          <a:xfrm>
            <a:off x="324612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E fig 2"/>
          <p:cNvSpPr txBox="1"/>
          <p:nvPr/>
        </p:nvSpPr>
        <p:spPr>
          <a:xfrm>
            <a:off x="342900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EUR 0.50</a:t>
            </a:r>
          </a:p>
        </p:txBody>
      </p:sp>
      <p:sp>
        <p:nvSpPr>
          <p:cNvPr id="19" name="SE lab 2"/>
          <p:cNvSpPr txBox="1"/>
          <p:nvPr/>
        </p:nvSpPr>
        <p:spPr>
          <a:xfrm>
            <a:off x="342900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SE with 64 customers: 4 / √64</a:t>
            </a:r>
          </a:p>
        </p:txBody>
      </p:sp>
      <p:sp>
        <p:nvSpPr>
          <p:cNvPr id="20" name="SE box 3"/>
          <p:cNvSpPr/>
          <p:nvPr/>
        </p:nvSpPr>
        <p:spPr>
          <a:xfrm>
            <a:off x="603504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 bar 3"/>
          <p:cNvSpPr/>
          <p:nvPr/>
        </p:nvSpPr>
        <p:spPr>
          <a:xfrm>
            <a:off x="603504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 fig 3"/>
          <p:cNvSpPr txBox="1"/>
          <p:nvPr/>
        </p:nvSpPr>
        <p:spPr>
          <a:xfrm>
            <a:off x="621792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10.04–13.96</a:t>
            </a:r>
          </a:p>
        </p:txBody>
      </p:sp>
      <p:sp>
        <p:nvSpPr>
          <p:cNvPr id="23" name="SE lab 3"/>
          <p:cNvSpPr txBox="1"/>
          <p:nvPr/>
        </p:nvSpPr>
        <p:spPr>
          <a:xfrm>
            <a:off x="621792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95 % interval for a mean spend of EUR 12 (n = 16)</a:t>
            </a:r>
          </a:p>
        </p:txBody>
      </p:sp>
      <p:sp>
        <p:nvSpPr>
          <p:cNvPr id="24" name="SE rows row 1"/>
          <p:cNvSpPr/>
          <p:nvPr/>
        </p:nvSpPr>
        <p:spPr>
          <a:xfrm>
            <a:off x="457200" y="32004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E rows bar 1"/>
          <p:cNvSpPr/>
          <p:nvPr/>
        </p:nvSpPr>
        <p:spPr>
          <a:xfrm>
            <a:off x="457200" y="32004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E rows text 1"/>
          <p:cNvSpPr txBox="1"/>
          <p:nvPr/>
        </p:nvSpPr>
        <p:spPr>
          <a:xfrm>
            <a:off x="658368" y="320040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sd </a:t>
            </a:r>
            <a:r>
              <a:rPr sz="1200" b="0" lang="en-GB">
                <a:solidFill>
                  <a:schemeClr val="tx1"/>
                </a:solidFill>
              </a:rPr>
              <a:t>describes how much customers differ: spending varies by about EUR 4</a:t>
            </a:r>
          </a:p>
        </p:txBody>
      </p:sp>
      <p:sp>
        <p:nvSpPr>
          <p:cNvPr id="27" name="SE rows row 2"/>
          <p:cNvSpPr/>
          <p:nvPr/>
        </p:nvSpPr>
        <p:spPr>
          <a:xfrm>
            <a:off x="457200" y="372160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E rows bar 2"/>
          <p:cNvSpPr/>
          <p:nvPr/>
        </p:nvSpPr>
        <p:spPr>
          <a:xfrm>
            <a:off x="457200" y="372160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 rows text 2"/>
          <p:cNvSpPr txBox="1"/>
          <p:nvPr/>
        </p:nvSpPr>
        <p:spPr>
          <a:xfrm>
            <a:off x="658368" y="372160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SE </a:t>
            </a:r>
            <a:r>
              <a:rPr sz="1200" b="0" lang="en-GB">
                <a:solidFill>
                  <a:schemeClr val="tx1"/>
                </a:solidFill>
              </a:rPr>
              <a:t>describes how precise the average is: it shrinks with √n; four times the sample, half the SE</a:t>
            </a:r>
          </a:p>
        </p:txBody>
      </p:sp>
      <p:sp>
        <p:nvSpPr>
          <p:cNvPr id="30" name="SE reg box"/>
          <p:cNvSpPr/>
          <p:nvPr/>
        </p:nvSpPr>
        <p:spPr>
          <a:xfrm>
            <a:off x="457200" y="42976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SE reg" descr=""/>
          <p:cNvPicPr>
            <a:picLocks noChangeAspect="1"/>
          </p:cNvPicPr>
          <p:nvPr/>
        </p:nvPicPr>
        <p:blipFill>
          <a:blip r:embed="rId3"/>
          <a:stretch>
            <a:fillRect/>
          </a:stretch>
        </p:blipFill>
        <p:spPr>
          <a:xfrm>
            <a:off x="658368" y="4366260"/>
            <a:ext cx="365760" cy="365760"/>
          </a:xfrm>
          <a:prstGeom prst="rect">
            <a:avLst/>
          </a:prstGeom>
        </p:spPr>
      </p:pic>
      <p:sp>
        <p:nvSpPr>
          <p:cNvPr id="32" name="SE reg text"/>
          <p:cNvSpPr txBox="1"/>
          <p:nvPr/>
        </p:nvSpPr>
        <p:spPr>
          <a:xfrm>
            <a:off x="1207008" y="429768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In every regression table: </a:t>
            </a:r>
            <a:r>
              <a:rPr sz="1200" b="0" lang="en-GB">
                <a:solidFill>
                  <a:schemeClr val="tx1"/>
                </a:solidFill>
              </a:rPr>
              <a:t>the column 'std err' is the standard error of a coefficient.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5 · z-scores, normal and standard normal distribution</a:t>
            </a:r>
          </a:p>
        </p:txBody>
      </p:sp>
      <p:sp>
        <p:nvSpPr>
          <p:cNvPr id="3" name="Title 2"/>
          <p:cNvSpPr>
            <a:spLocks noGrp="1"/>
          </p:cNvSpPr>
          <p:nvPr>
            <p:ph type="ctrTitle"/>
          </p:nvPr>
        </p:nvSpPr>
        <p:spPr/>
        <p:txBody>
          <a:bodyPr/>
          <a:lstStyle/>
          <a:p>
            <a:r>
              <a:rPr sz="1600" lang="en-GB"/>
              <a:t>Standardisation and the normal distribution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Standardisation: z-scores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Z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Z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z = (x − x̄) / s        a standardised variable has mean 0 and standard deviation 1</a:t>
            </a:r>
          </a:p>
        </p:txBody>
      </p:sp>
      <p:sp>
        <p:nvSpPr>
          <p:cNvPr id="12" name="Z table 1-1"/>
          <p:cNvSpPr/>
          <p:nvPr/>
        </p:nvSpPr>
        <p:spPr>
          <a:xfrm>
            <a:off x="457200" y="1920240"/>
            <a:ext cx="2350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Z table text 1-1"/>
          <p:cNvSpPr txBox="1"/>
          <p:nvPr/>
        </p:nvSpPr>
        <p:spPr>
          <a:xfrm>
            <a:off x="548640" y="1920240"/>
            <a:ext cx="2167128" cy="411480"/>
          </a:xfrm>
          <a:prstGeom prst="rect">
            <a:avLst/>
          </a:prstGeom>
          <a:noFill/>
        </p:spPr>
        <p:txBody>
          <a:bodyPr wrap="square" lIns="0" rIns="0" tIns="0" bIns="0" anchor="ctr">
            <a:noAutofit/>
          </a:bodyPr>
          <a:lstStyle/>
          <a:p>
            <a:pPr algn="l">
              <a:spcAft>
                <a:spcPts val="400"/>
              </a:spcAft>
            </a:pPr>
            <a:r>
              <a:rPr sz="1250" b="1" lang="en-GB">
                <a:solidFill>
                  <a:schemeClr val="bg1"/>
                </a:solidFill>
              </a:rPr>
              <a:t>Kiosk</a:t>
            </a:r>
          </a:p>
        </p:txBody>
      </p:sp>
      <p:sp>
        <p:nvSpPr>
          <p:cNvPr id="14" name="Z table 1-2"/>
          <p:cNvSpPr/>
          <p:nvPr/>
        </p:nvSpPr>
        <p:spPr>
          <a:xfrm>
            <a:off x="2834640" y="1920240"/>
            <a:ext cx="152704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Z table text 1-2"/>
          <p:cNvSpPr txBox="1"/>
          <p:nvPr/>
        </p:nvSpPr>
        <p:spPr>
          <a:xfrm>
            <a:off x="2926080" y="1920240"/>
            <a:ext cx="134416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Bars this week</a:t>
            </a:r>
          </a:p>
        </p:txBody>
      </p:sp>
      <p:sp>
        <p:nvSpPr>
          <p:cNvPr id="16" name="Z table 1-3"/>
          <p:cNvSpPr/>
          <p:nvPr/>
        </p:nvSpPr>
        <p:spPr>
          <a:xfrm>
            <a:off x="4389120" y="1920240"/>
            <a:ext cx="12527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Z table text 1-3"/>
          <p:cNvSpPr txBox="1"/>
          <p:nvPr/>
        </p:nvSpPr>
        <p:spPr>
          <a:xfrm>
            <a:off x="4480560" y="1920240"/>
            <a:ext cx="10698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Mean</a:t>
            </a:r>
          </a:p>
        </p:txBody>
      </p:sp>
      <p:sp>
        <p:nvSpPr>
          <p:cNvPr id="18" name="Z table 1-4"/>
          <p:cNvSpPr/>
          <p:nvPr/>
        </p:nvSpPr>
        <p:spPr>
          <a:xfrm>
            <a:off x="5669280" y="1920240"/>
            <a:ext cx="12527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Z table text 1-4"/>
          <p:cNvSpPr txBox="1"/>
          <p:nvPr/>
        </p:nvSpPr>
        <p:spPr>
          <a:xfrm>
            <a:off x="5760720" y="1920240"/>
            <a:ext cx="10698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sd</a:t>
            </a:r>
          </a:p>
        </p:txBody>
      </p:sp>
      <p:sp>
        <p:nvSpPr>
          <p:cNvPr id="20" name="Z table 1-5"/>
          <p:cNvSpPr/>
          <p:nvPr/>
        </p:nvSpPr>
        <p:spPr>
          <a:xfrm>
            <a:off x="6949440" y="1920240"/>
            <a:ext cx="17099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Z table text 1-5"/>
          <p:cNvSpPr txBox="1"/>
          <p:nvPr/>
        </p:nvSpPr>
        <p:spPr>
          <a:xfrm>
            <a:off x="7040880" y="1920240"/>
            <a:ext cx="15270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z</a:t>
            </a:r>
          </a:p>
        </p:txBody>
      </p:sp>
      <p:sp>
        <p:nvSpPr>
          <p:cNvPr id="22" name="Z table 2-1"/>
          <p:cNvSpPr/>
          <p:nvPr/>
        </p:nvSpPr>
        <p:spPr>
          <a:xfrm>
            <a:off x="457200" y="2359152"/>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Z table text 2-1"/>
          <p:cNvSpPr txBox="1"/>
          <p:nvPr/>
        </p:nvSpPr>
        <p:spPr>
          <a:xfrm>
            <a:off x="548640" y="2359152"/>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Vienna</a:t>
            </a:r>
          </a:p>
        </p:txBody>
      </p:sp>
      <p:sp>
        <p:nvSpPr>
          <p:cNvPr id="24" name="Z table 2-2"/>
          <p:cNvSpPr/>
          <p:nvPr/>
        </p:nvSpPr>
        <p:spPr>
          <a:xfrm>
            <a:off x="2834640" y="2359152"/>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Z table text 2-2"/>
          <p:cNvSpPr txBox="1"/>
          <p:nvPr/>
        </p:nvSpPr>
        <p:spPr>
          <a:xfrm>
            <a:off x="2926080" y="2359152"/>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140</a:t>
            </a:r>
          </a:p>
        </p:txBody>
      </p:sp>
      <p:sp>
        <p:nvSpPr>
          <p:cNvPr id="26" name="Z table 2-3"/>
          <p:cNvSpPr/>
          <p:nvPr/>
        </p:nvSpPr>
        <p:spPr>
          <a:xfrm>
            <a:off x="4389120" y="2359152"/>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 table text 2-3"/>
          <p:cNvSpPr txBox="1"/>
          <p:nvPr/>
        </p:nvSpPr>
        <p:spPr>
          <a:xfrm>
            <a:off x="4480560" y="2359152"/>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120</a:t>
            </a:r>
          </a:p>
        </p:txBody>
      </p:sp>
      <p:sp>
        <p:nvSpPr>
          <p:cNvPr id="28" name="Z table 2-4"/>
          <p:cNvSpPr/>
          <p:nvPr/>
        </p:nvSpPr>
        <p:spPr>
          <a:xfrm>
            <a:off x="5669280" y="2359152"/>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Z table text 2-4"/>
          <p:cNvSpPr txBox="1"/>
          <p:nvPr/>
        </p:nvSpPr>
        <p:spPr>
          <a:xfrm>
            <a:off x="5760720" y="2359152"/>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30" name="Z table 2-5"/>
          <p:cNvSpPr/>
          <p:nvPr/>
        </p:nvSpPr>
        <p:spPr>
          <a:xfrm>
            <a:off x="6949440" y="2359152"/>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Z table text 2-5"/>
          <p:cNvSpPr txBox="1"/>
          <p:nvPr/>
        </p:nvSpPr>
        <p:spPr>
          <a:xfrm>
            <a:off x="7040880" y="2359152"/>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+2.0</a:t>
            </a:r>
          </a:p>
        </p:txBody>
      </p:sp>
      <p:sp>
        <p:nvSpPr>
          <p:cNvPr id="32" name="Z table 3-1"/>
          <p:cNvSpPr/>
          <p:nvPr/>
        </p:nvSpPr>
        <p:spPr>
          <a:xfrm>
            <a:off x="457200" y="2798064"/>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table text 3-1"/>
          <p:cNvSpPr txBox="1"/>
          <p:nvPr/>
        </p:nvSpPr>
        <p:spPr>
          <a:xfrm>
            <a:off x="548640" y="2798064"/>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Graz</a:t>
            </a:r>
          </a:p>
        </p:txBody>
      </p:sp>
      <p:sp>
        <p:nvSpPr>
          <p:cNvPr id="34" name="Z table 3-2"/>
          <p:cNvSpPr/>
          <p:nvPr/>
        </p:nvSpPr>
        <p:spPr>
          <a:xfrm>
            <a:off x="2834640" y="2798064"/>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Z table text 3-2"/>
          <p:cNvSpPr txBox="1"/>
          <p:nvPr/>
        </p:nvSpPr>
        <p:spPr>
          <a:xfrm>
            <a:off x="2926080" y="2798064"/>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75</a:t>
            </a:r>
          </a:p>
        </p:txBody>
      </p:sp>
      <p:sp>
        <p:nvSpPr>
          <p:cNvPr id="36" name="Z table 3-3"/>
          <p:cNvSpPr/>
          <p:nvPr/>
        </p:nvSpPr>
        <p:spPr>
          <a:xfrm>
            <a:off x="4389120" y="2798064"/>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Z table text 3-3"/>
          <p:cNvSpPr txBox="1"/>
          <p:nvPr/>
        </p:nvSpPr>
        <p:spPr>
          <a:xfrm>
            <a:off x="4480560" y="2798064"/>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60</a:t>
            </a:r>
          </a:p>
        </p:txBody>
      </p:sp>
      <p:sp>
        <p:nvSpPr>
          <p:cNvPr id="38" name="Z table 3-4"/>
          <p:cNvSpPr/>
          <p:nvPr/>
        </p:nvSpPr>
        <p:spPr>
          <a:xfrm>
            <a:off x="5669280" y="2798064"/>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Z table text 3-4"/>
          <p:cNvSpPr txBox="1"/>
          <p:nvPr/>
        </p:nvSpPr>
        <p:spPr>
          <a:xfrm>
            <a:off x="5760720" y="2798064"/>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15</a:t>
            </a:r>
          </a:p>
        </p:txBody>
      </p:sp>
      <p:sp>
        <p:nvSpPr>
          <p:cNvPr id="40" name="Z table 3-5"/>
          <p:cNvSpPr/>
          <p:nvPr/>
        </p:nvSpPr>
        <p:spPr>
          <a:xfrm>
            <a:off x="6949440" y="2798064"/>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Z table text 3-5"/>
          <p:cNvSpPr txBox="1"/>
          <p:nvPr/>
        </p:nvSpPr>
        <p:spPr>
          <a:xfrm>
            <a:off x="7040880" y="2798064"/>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42" name="Z table 4-1"/>
          <p:cNvSpPr/>
          <p:nvPr/>
        </p:nvSpPr>
        <p:spPr>
          <a:xfrm>
            <a:off x="457200" y="3236976"/>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Z table text 4-1"/>
          <p:cNvSpPr txBox="1"/>
          <p:nvPr/>
        </p:nvSpPr>
        <p:spPr>
          <a:xfrm>
            <a:off x="548640" y="3236976"/>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Our kiosk, week 5</a:t>
            </a:r>
          </a:p>
        </p:txBody>
      </p:sp>
      <p:sp>
        <p:nvSpPr>
          <p:cNvPr id="44" name="Z table 4-2"/>
          <p:cNvSpPr/>
          <p:nvPr/>
        </p:nvSpPr>
        <p:spPr>
          <a:xfrm>
            <a:off x="2834640" y="3236976"/>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Z table text 4-2"/>
          <p:cNvSpPr txBox="1"/>
          <p:nvPr/>
        </p:nvSpPr>
        <p:spPr>
          <a:xfrm>
            <a:off x="2926080" y="3236976"/>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40</a:t>
            </a:r>
          </a:p>
        </p:txBody>
      </p:sp>
      <p:sp>
        <p:nvSpPr>
          <p:cNvPr id="46" name="Z table 4-3"/>
          <p:cNvSpPr/>
          <p:nvPr/>
        </p:nvSpPr>
        <p:spPr>
          <a:xfrm>
            <a:off x="4389120" y="3236976"/>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Z table text 4-3"/>
          <p:cNvSpPr txBox="1"/>
          <p:nvPr/>
        </p:nvSpPr>
        <p:spPr>
          <a:xfrm>
            <a:off x="4480560" y="3236976"/>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80</a:t>
            </a:r>
          </a:p>
        </p:txBody>
      </p:sp>
      <p:sp>
        <p:nvSpPr>
          <p:cNvPr id="48" name="Z table 4-4"/>
          <p:cNvSpPr/>
          <p:nvPr/>
        </p:nvSpPr>
        <p:spPr>
          <a:xfrm>
            <a:off x="5669280" y="3236976"/>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Z table text 4-4"/>
          <p:cNvSpPr txBox="1"/>
          <p:nvPr/>
        </p:nvSpPr>
        <p:spPr>
          <a:xfrm>
            <a:off x="5760720" y="3236976"/>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27.4</a:t>
            </a:r>
          </a:p>
        </p:txBody>
      </p:sp>
      <p:sp>
        <p:nvSpPr>
          <p:cNvPr id="50" name="Z table 4-5"/>
          <p:cNvSpPr/>
          <p:nvPr/>
        </p:nvSpPr>
        <p:spPr>
          <a:xfrm>
            <a:off x="6949440" y="3236976"/>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Z table text 4-5"/>
          <p:cNvSpPr txBox="1"/>
          <p:nvPr/>
        </p:nvSpPr>
        <p:spPr>
          <a:xfrm>
            <a:off x="7040880" y="3236976"/>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−1.46</a:t>
            </a:r>
          </a:p>
        </p:txBody>
      </p:sp>
      <p:sp>
        <p:nvSpPr>
          <p:cNvPr id="52" name="Z read box"/>
          <p:cNvSpPr/>
          <p:nvPr/>
        </p:nvSpPr>
        <p:spPr>
          <a:xfrm>
            <a:off x="457200" y="37490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Icon Z read" descr=""/>
          <p:cNvPicPr>
            <a:picLocks noChangeAspect="1"/>
          </p:cNvPicPr>
          <p:nvPr/>
        </p:nvPicPr>
        <p:blipFill>
          <a:blip r:embed="rId3"/>
          <a:stretch>
            <a:fillRect/>
          </a:stretch>
        </p:blipFill>
        <p:spPr>
          <a:xfrm>
            <a:off x="658368" y="3909060"/>
            <a:ext cx="365760" cy="365760"/>
          </a:xfrm>
          <a:prstGeom prst="rect">
            <a:avLst/>
          </a:prstGeom>
        </p:spPr>
      </p:pic>
      <p:sp>
        <p:nvSpPr>
          <p:cNvPr id="54" name="Z read text"/>
          <p:cNvSpPr txBox="1"/>
          <p:nvPr/>
        </p:nvSpPr>
        <p:spPr>
          <a:xfrm>
            <a:off x="1207008" y="374904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Read it: </a:t>
            </a:r>
            <a:r>
              <a:rPr sz="1300" b="0" lang="en-GB">
                <a:solidFill>
                  <a:schemeClr val="bg1"/>
                </a:solidFill>
              </a:rPr>
              <a:t>Vienna's week lies 2 standard deviations above normal, Graz's only 1: Vienna's week was the more unusual one.</a:t>
            </a:r>
          </a:p>
        </p:txBody>
      </p:sp>
      <p:sp>
        <p:nvSpPr>
          <p:cNvPr id="55" name="Z use"/>
          <p:cNvSpPr txBox="1"/>
          <p:nvPr/>
        </p:nvSpPr>
        <p:spPr>
          <a:xfrm>
            <a:off x="457200" y="452628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Use: </a:t>
            </a:r>
            <a:r>
              <a:rPr sz="1200" b="0" lang="en-GB">
                <a:solidFill>
                  <a:schemeClr val="tx1"/>
                </a:solidFill>
              </a:rPr>
              <a:t>compare across stores, countries or units; spot outliers (|z| &gt; 3); standardised coefficients.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normal distribution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normal.png" descr="Bell curve of bar weights centred at 100 g; the band from 98 to 102 g shaded dark (68 %), from 96 to 104 g light (95 %)"/>
          <p:cNvPicPr>
            <a:picLocks noChangeAspect="1"/>
          </p:cNvPicPr>
          <p:nvPr/>
        </p:nvPicPr>
        <p:blipFill>
          <a:blip r:embed="rId3"/>
          <a:stretch>
            <a:fillRect/>
          </a:stretch>
        </p:blipFill>
        <p:spPr>
          <a:xfrm>
            <a:off x="457200" y="1234440"/>
            <a:ext cx="4206240" cy="2743200"/>
          </a:xfrm>
          <a:prstGeom prst="rect">
            <a:avLst/>
          </a:prstGeom>
        </p:spPr>
      </p:pic>
      <p:sp>
        <p:nvSpPr>
          <p:cNvPr id="11" name="Rule box 1"/>
          <p:cNvSpPr/>
          <p:nvPr/>
        </p:nvSpPr>
        <p:spPr>
          <a:xfrm>
            <a:off x="4800600" y="1234440"/>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ule stat 1 bar"/>
          <p:cNvSpPr/>
          <p:nvPr/>
        </p:nvSpPr>
        <p:spPr>
          <a:xfrm>
            <a:off x="48006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ule stat 1 figure"/>
          <p:cNvSpPr txBox="1"/>
          <p:nvPr/>
        </p:nvSpPr>
        <p:spPr>
          <a:xfrm>
            <a:off x="4983480" y="1234440"/>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68 %</a:t>
            </a:r>
          </a:p>
        </p:txBody>
      </p:sp>
      <p:sp>
        <p:nvSpPr>
          <p:cNvPr id="14" name="Rule stat 1 label"/>
          <p:cNvSpPr txBox="1"/>
          <p:nvPr/>
        </p:nvSpPr>
        <p:spPr>
          <a:xfrm>
            <a:off x="6629400" y="1234440"/>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±1 sd: 98 to 102 g</a:t>
            </a:r>
          </a:p>
        </p:txBody>
      </p:sp>
      <p:sp>
        <p:nvSpPr>
          <p:cNvPr id="15" name="Rule box 2"/>
          <p:cNvSpPr/>
          <p:nvPr/>
        </p:nvSpPr>
        <p:spPr>
          <a:xfrm>
            <a:off x="4800600" y="2039112"/>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 stat 2 bar"/>
          <p:cNvSpPr/>
          <p:nvPr/>
        </p:nvSpPr>
        <p:spPr>
          <a:xfrm>
            <a:off x="4800600" y="203911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 stat 2 figure"/>
          <p:cNvSpPr txBox="1"/>
          <p:nvPr/>
        </p:nvSpPr>
        <p:spPr>
          <a:xfrm>
            <a:off x="4983480" y="2039112"/>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95 %</a:t>
            </a:r>
          </a:p>
        </p:txBody>
      </p:sp>
      <p:sp>
        <p:nvSpPr>
          <p:cNvPr id="18" name="Rule stat 2 label"/>
          <p:cNvSpPr txBox="1"/>
          <p:nvPr/>
        </p:nvSpPr>
        <p:spPr>
          <a:xfrm>
            <a:off x="6629400" y="2039112"/>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±2 sd: 96 to 104 g</a:t>
            </a:r>
          </a:p>
        </p:txBody>
      </p:sp>
      <p:sp>
        <p:nvSpPr>
          <p:cNvPr id="19" name="Rule box 3"/>
          <p:cNvSpPr/>
          <p:nvPr/>
        </p:nvSpPr>
        <p:spPr>
          <a:xfrm>
            <a:off x="4800600" y="2843784"/>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ule stat 3 bar"/>
          <p:cNvSpPr/>
          <p:nvPr/>
        </p:nvSpPr>
        <p:spPr>
          <a:xfrm>
            <a:off x="4800600" y="284378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ule stat 3 figure"/>
          <p:cNvSpPr txBox="1"/>
          <p:nvPr/>
        </p:nvSpPr>
        <p:spPr>
          <a:xfrm>
            <a:off x="4983480" y="2843784"/>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99.7 %</a:t>
            </a:r>
          </a:p>
        </p:txBody>
      </p:sp>
      <p:sp>
        <p:nvSpPr>
          <p:cNvPr id="22" name="Rule stat 3 label"/>
          <p:cNvSpPr txBox="1"/>
          <p:nvPr/>
        </p:nvSpPr>
        <p:spPr>
          <a:xfrm>
            <a:off x="6629400" y="2843784"/>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±3 sd: 94 to 106 g</a:t>
            </a:r>
          </a:p>
        </p:txBody>
      </p:sp>
      <p:sp>
        <p:nvSpPr>
          <p:cNvPr id="23" name="Normal why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Normal why" descr=""/>
          <p:cNvPicPr>
            <a:picLocks noChangeAspect="1"/>
          </p:cNvPicPr>
          <p:nvPr/>
        </p:nvPicPr>
        <p:blipFill>
          <a:blip r:embed="rId4"/>
          <a:stretch>
            <a:fillRect/>
          </a:stretch>
        </p:blipFill>
        <p:spPr>
          <a:xfrm>
            <a:off x="658368" y="4274820"/>
            <a:ext cx="365760" cy="365760"/>
          </a:xfrm>
          <a:prstGeom prst="rect">
            <a:avLst/>
          </a:prstGeom>
        </p:spPr>
      </p:pic>
      <p:sp>
        <p:nvSpPr>
          <p:cNvPr id="25" name="Normal why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Why it matters: </a:t>
            </a:r>
            <a:r>
              <a:rPr sz="1200" b="0" lang="en-GB">
                <a:solidFill>
                  <a:schemeClr val="bg1"/>
                </a:solidFill>
              </a:rPr>
              <a:t>averages and regression coefficients are approximately normal (central limit theorem), so we can test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standard normal distribution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std_normal.png" descr="Standard normal curve from -3.5 to 3.5 with both tails beyond 1.96 shaded, each labelled 2.5 %, the centre 95 %"/>
          <p:cNvPicPr>
            <a:picLocks noChangeAspect="1"/>
          </p:cNvPicPr>
          <p:nvPr/>
        </p:nvPicPr>
        <p:blipFill>
          <a:blip r:embed="rId3"/>
          <a:stretch>
            <a:fillRect/>
          </a:stretch>
        </p:blipFill>
        <p:spPr>
          <a:xfrm>
            <a:off x="457200" y="1234440"/>
            <a:ext cx="4206240" cy="2743200"/>
          </a:xfrm>
          <a:prstGeom prst="rect">
            <a:avLst/>
          </a:prstGeom>
        </p:spPr>
      </p:pic>
      <p:sp>
        <p:nvSpPr>
          <p:cNvPr id="11" name="Z share 1-1"/>
          <p:cNvSpPr/>
          <p:nvPr/>
        </p:nvSpPr>
        <p:spPr>
          <a:xfrm>
            <a:off x="4800600" y="123444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Z share text 1-1"/>
          <p:cNvSpPr txBox="1"/>
          <p:nvPr/>
        </p:nvSpPr>
        <p:spPr>
          <a:xfrm>
            <a:off x="4892040" y="1234440"/>
            <a:ext cx="125272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z</a:t>
            </a:r>
          </a:p>
        </p:txBody>
      </p:sp>
      <p:sp>
        <p:nvSpPr>
          <p:cNvPr id="13" name="Z share 1-2"/>
          <p:cNvSpPr/>
          <p:nvPr/>
        </p:nvSpPr>
        <p:spPr>
          <a:xfrm>
            <a:off x="6263640" y="1234440"/>
            <a:ext cx="23500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Z share text 1-2"/>
          <p:cNvSpPr txBox="1"/>
          <p:nvPr/>
        </p:nvSpPr>
        <p:spPr>
          <a:xfrm>
            <a:off x="6355080" y="1234440"/>
            <a:ext cx="21671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share below z</a:t>
            </a:r>
          </a:p>
        </p:txBody>
      </p:sp>
      <p:sp>
        <p:nvSpPr>
          <p:cNvPr id="15" name="Z share 2-1"/>
          <p:cNvSpPr/>
          <p:nvPr/>
        </p:nvSpPr>
        <p:spPr>
          <a:xfrm>
            <a:off x="4800600" y="162763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Z share text 2-1"/>
          <p:cNvSpPr txBox="1"/>
          <p:nvPr/>
        </p:nvSpPr>
        <p:spPr>
          <a:xfrm>
            <a:off x="4892040" y="1627632"/>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1.00</a:t>
            </a:r>
          </a:p>
        </p:txBody>
      </p:sp>
      <p:sp>
        <p:nvSpPr>
          <p:cNvPr id="17" name="Z share 2-2"/>
          <p:cNvSpPr/>
          <p:nvPr/>
        </p:nvSpPr>
        <p:spPr>
          <a:xfrm>
            <a:off x="6263640" y="1627632"/>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Z share text 2-2"/>
          <p:cNvSpPr txBox="1"/>
          <p:nvPr/>
        </p:nvSpPr>
        <p:spPr>
          <a:xfrm>
            <a:off x="6355080" y="1627632"/>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84.1 %</a:t>
            </a:r>
          </a:p>
        </p:txBody>
      </p:sp>
      <p:sp>
        <p:nvSpPr>
          <p:cNvPr id="19" name="Z share 3-1"/>
          <p:cNvSpPr/>
          <p:nvPr/>
        </p:nvSpPr>
        <p:spPr>
          <a:xfrm>
            <a:off x="4800600" y="202082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Z share text 3-1"/>
          <p:cNvSpPr txBox="1"/>
          <p:nvPr/>
        </p:nvSpPr>
        <p:spPr>
          <a:xfrm>
            <a:off x="4892040" y="2020824"/>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1.645</a:t>
            </a:r>
          </a:p>
        </p:txBody>
      </p:sp>
      <p:sp>
        <p:nvSpPr>
          <p:cNvPr id="21" name="Z share 3-2"/>
          <p:cNvSpPr/>
          <p:nvPr/>
        </p:nvSpPr>
        <p:spPr>
          <a:xfrm>
            <a:off x="6263640" y="2020824"/>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Z share text 3-2"/>
          <p:cNvSpPr txBox="1"/>
          <p:nvPr/>
        </p:nvSpPr>
        <p:spPr>
          <a:xfrm>
            <a:off x="6355080" y="2020824"/>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95.0 %</a:t>
            </a:r>
          </a:p>
        </p:txBody>
      </p:sp>
      <p:sp>
        <p:nvSpPr>
          <p:cNvPr id="23" name="Z share 4-1"/>
          <p:cNvSpPr/>
          <p:nvPr/>
        </p:nvSpPr>
        <p:spPr>
          <a:xfrm>
            <a:off x="4800600" y="241401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Z share text 4-1"/>
          <p:cNvSpPr txBox="1"/>
          <p:nvPr/>
        </p:nvSpPr>
        <p:spPr>
          <a:xfrm>
            <a:off x="4892040" y="2414016"/>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1.96</a:t>
            </a:r>
          </a:p>
        </p:txBody>
      </p:sp>
      <p:sp>
        <p:nvSpPr>
          <p:cNvPr id="25" name="Z share 4-2"/>
          <p:cNvSpPr/>
          <p:nvPr/>
        </p:nvSpPr>
        <p:spPr>
          <a:xfrm>
            <a:off x="6263640" y="2414016"/>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Z share text 4-2"/>
          <p:cNvSpPr txBox="1"/>
          <p:nvPr/>
        </p:nvSpPr>
        <p:spPr>
          <a:xfrm>
            <a:off x="6355080" y="2414016"/>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97.5 %</a:t>
            </a:r>
          </a:p>
        </p:txBody>
      </p:sp>
      <p:sp>
        <p:nvSpPr>
          <p:cNvPr id="27" name="Z share 5-1"/>
          <p:cNvSpPr/>
          <p:nvPr/>
        </p:nvSpPr>
        <p:spPr>
          <a:xfrm>
            <a:off x="4800600" y="280720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Z share text 5-1"/>
          <p:cNvSpPr txBox="1"/>
          <p:nvPr/>
        </p:nvSpPr>
        <p:spPr>
          <a:xfrm>
            <a:off x="4892040" y="2807208"/>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2.576</a:t>
            </a:r>
          </a:p>
        </p:txBody>
      </p:sp>
      <p:sp>
        <p:nvSpPr>
          <p:cNvPr id="29" name="Z share 5-2"/>
          <p:cNvSpPr/>
          <p:nvPr/>
        </p:nvSpPr>
        <p:spPr>
          <a:xfrm>
            <a:off x="6263640" y="2807208"/>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Z share text 5-2"/>
          <p:cNvSpPr txBox="1"/>
          <p:nvPr/>
        </p:nvSpPr>
        <p:spPr>
          <a:xfrm>
            <a:off x="6355080" y="2807208"/>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99.5 %</a:t>
            </a:r>
          </a:p>
        </p:txBody>
      </p:sp>
      <p:sp>
        <p:nvSpPr>
          <p:cNvPr id="31" name="Z worked box"/>
          <p:cNvSpPr/>
          <p:nvPr/>
        </p:nvSpPr>
        <p:spPr>
          <a:xfrm>
            <a:off x="4800600" y="3200400"/>
            <a:ext cx="38862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Z worked bar"/>
          <p:cNvSpPr/>
          <p:nvPr/>
        </p:nvSpPr>
        <p:spPr>
          <a:xfrm>
            <a:off x="4800600" y="320040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worked"/>
          <p:cNvSpPr txBox="1"/>
          <p:nvPr/>
        </p:nvSpPr>
        <p:spPr>
          <a:xfrm>
            <a:off x="4983480" y="3200400"/>
            <a:ext cx="3657600" cy="777240"/>
          </a:xfrm>
          <a:prstGeom prst="rect">
            <a:avLst/>
          </a:prstGeom>
          <a:noFill/>
        </p:spPr>
        <p:txBody>
          <a:bodyPr wrap="square" lIns="0" rIns="0" tIns="0" bIns="0" anchor="ctr">
            <a:noAutofit/>
          </a:bodyPr>
          <a:lstStyle/>
          <a:p>
            <a:pPr algn="l">
              <a:spcAft>
                <a:spcPts val="400"/>
              </a:spcAft>
            </a:pPr>
            <a:r>
              <a:rPr sz="1200" b="1" lang="en-GB">
                <a:solidFill>
                  <a:schemeClr val="tx2"/>
                </a:solidFill>
              </a:rPr>
              <a:t>Bars under 97 g? </a:t>
            </a:r>
            <a:r>
              <a:rPr sz="1200" b="0" lang="en-GB">
                <a:solidFill>
                  <a:schemeClr val="tx1"/>
                </a:solidFill>
              </a:rPr>
              <a:t>z = (97 − 100) / 2 = −1.5, so 6.7 % of all bars</a:t>
            </a:r>
          </a:p>
        </p:txBody>
      </p:sp>
      <p:sp>
        <p:nvSpPr>
          <p:cNvPr id="34" name="Z196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Z196" descr=""/>
          <p:cNvPicPr>
            <a:picLocks noChangeAspect="1"/>
          </p:cNvPicPr>
          <p:nvPr/>
        </p:nvPicPr>
        <p:blipFill>
          <a:blip r:embed="rId4"/>
          <a:stretch>
            <a:fillRect/>
          </a:stretch>
        </p:blipFill>
        <p:spPr>
          <a:xfrm>
            <a:off x="658368" y="4297680"/>
            <a:ext cx="365760" cy="365760"/>
          </a:xfrm>
          <a:prstGeom prst="rect">
            <a:avLst/>
          </a:prstGeom>
        </p:spPr>
      </p:pic>
      <p:sp>
        <p:nvSpPr>
          <p:cNvPr id="36" name="Z196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1.96: </a:t>
            </a:r>
            <a:r>
              <a:rPr sz="1200" b="0" lang="en-GB">
                <a:solidFill>
                  <a:schemeClr val="bg1"/>
                </a:solidFill>
              </a:rPr>
              <a:t>the number behind 95 % confidence intervals and two-sided tests at 5 %.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5 · do two variables move together, and how strongly?</a:t>
            </a:r>
          </a:p>
        </p:txBody>
      </p:sp>
      <p:sp>
        <p:nvSpPr>
          <p:cNvPr id="3" name="Title 2"/>
          <p:cNvSpPr>
            <a:spLocks noGrp="1"/>
          </p:cNvSpPr>
          <p:nvPr>
            <p:ph type="ctrTitle"/>
          </p:nvPr>
        </p:nvSpPr>
        <p:spPr/>
        <p:txBody>
          <a:bodyPr/>
          <a:lstStyle/>
          <a:p>
            <a:r>
              <a:rPr sz="1600" lang="en-GB"/>
              <a:t>Covariance and correlation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Covariance: do price and sales move together?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quadrants.png" descr="Scatter plot of the five weeks, price against bars sold, split by dashed lines at the means (3.00 EUR and 80 bars); the points lie in the top-left and bottom-right quadrants, where the product of deviations is negative"/>
          <p:cNvPicPr>
            <a:picLocks noChangeAspect="1"/>
          </p:cNvPicPr>
          <p:nvPr/>
        </p:nvPicPr>
        <p:blipFill>
          <a:blip r:embed="rId3"/>
          <a:stretch>
            <a:fillRect/>
          </a:stretch>
        </p:blipFill>
        <p:spPr>
          <a:xfrm>
            <a:off x="457200" y="1234440"/>
            <a:ext cx="4023360" cy="2798064"/>
          </a:xfrm>
          <a:prstGeom prst="rect">
            <a:avLst/>
          </a:prstGeom>
        </p:spPr>
      </p:pic>
      <p:sp>
        <p:nvSpPr>
          <p:cNvPr id="11" name="Cov table 1-1"/>
          <p:cNvSpPr/>
          <p:nvPr/>
        </p:nvSpPr>
        <p:spPr>
          <a:xfrm>
            <a:off x="4617720" y="1234440"/>
            <a:ext cx="84124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v table text 1-1"/>
          <p:cNvSpPr txBox="1"/>
          <p:nvPr/>
        </p:nvSpPr>
        <p:spPr>
          <a:xfrm>
            <a:off x="4709160" y="1234440"/>
            <a:ext cx="65836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3" name="Cov table 1-2"/>
          <p:cNvSpPr/>
          <p:nvPr/>
        </p:nvSpPr>
        <p:spPr>
          <a:xfrm>
            <a:off x="5486400" y="1234440"/>
            <a:ext cx="978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v table text 1-2"/>
          <p:cNvSpPr txBox="1"/>
          <p:nvPr/>
        </p:nvSpPr>
        <p:spPr>
          <a:xfrm>
            <a:off x="5577840" y="1234440"/>
            <a:ext cx="79552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p − p̄</a:t>
            </a:r>
          </a:p>
        </p:txBody>
      </p:sp>
      <p:sp>
        <p:nvSpPr>
          <p:cNvPr id="15" name="Cov table 1-3"/>
          <p:cNvSpPr/>
          <p:nvPr/>
        </p:nvSpPr>
        <p:spPr>
          <a:xfrm>
            <a:off x="6492240" y="1234440"/>
            <a:ext cx="978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v table text 1-3"/>
          <p:cNvSpPr txBox="1"/>
          <p:nvPr/>
        </p:nvSpPr>
        <p:spPr>
          <a:xfrm>
            <a:off x="6583680" y="1234440"/>
            <a:ext cx="79552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x − x̄</a:t>
            </a:r>
          </a:p>
        </p:txBody>
      </p:sp>
      <p:sp>
        <p:nvSpPr>
          <p:cNvPr id="17" name="Cov table 1-4"/>
          <p:cNvSpPr/>
          <p:nvPr/>
        </p:nvSpPr>
        <p:spPr>
          <a:xfrm>
            <a:off x="7498080" y="1234440"/>
            <a:ext cx="11612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v table text 1-4"/>
          <p:cNvSpPr txBox="1"/>
          <p:nvPr/>
        </p:nvSpPr>
        <p:spPr>
          <a:xfrm>
            <a:off x="7589520" y="1234440"/>
            <a:ext cx="97840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product</a:t>
            </a:r>
          </a:p>
        </p:txBody>
      </p:sp>
      <p:sp>
        <p:nvSpPr>
          <p:cNvPr id="19" name="Cov table 2-1"/>
          <p:cNvSpPr/>
          <p:nvPr/>
        </p:nvSpPr>
        <p:spPr>
          <a:xfrm>
            <a:off x="4617720" y="1591056"/>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v table text 2-1"/>
          <p:cNvSpPr txBox="1"/>
          <p:nvPr/>
        </p:nvSpPr>
        <p:spPr>
          <a:xfrm>
            <a:off x="4709160" y="1591056"/>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1" name="Cov table 2-2"/>
          <p:cNvSpPr/>
          <p:nvPr/>
        </p:nvSpPr>
        <p:spPr>
          <a:xfrm>
            <a:off x="5486400" y="159105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v table text 2-2"/>
          <p:cNvSpPr txBox="1"/>
          <p:nvPr/>
        </p:nvSpPr>
        <p:spPr>
          <a:xfrm>
            <a:off x="5577840" y="1591056"/>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3" name="Cov table 2-3"/>
          <p:cNvSpPr/>
          <p:nvPr/>
        </p:nvSpPr>
        <p:spPr>
          <a:xfrm>
            <a:off x="6492240" y="159105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v table text 2-3"/>
          <p:cNvSpPr txBox="1"/>
          <p:nvPr/>
        </p:nvSpPr>
        <p:spPr>
          <a:xfrm>
            <a:off x="6583680" y="1591056"/>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5" name="Cov table 2-4"/>
          <p:cNvSpPr/>
          <p:nvPr/>
        </p:nvSpPr>
        <p:spPr>
          <a:xfrm>
            <a:off x="7498080" y="159105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ov table text 2-4"/>
          <p:cNvSpPr txBox="1"/>
          <p:nvPr/>
        </p:nvSpPr>
        <p:spPr>
          <a:xfrm>
            <a:off x="7589520" y="1591056"/>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7" name="Cov table 3-1"/>
          <p:cNvSpPr/>
          <p:nvPr/>
        </p:nvSpPr>
        <p:spPr>
          <a:xfrm>
            <a:off x="4617720" y="1947672"/>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v table text 3-1"/>
          <p:cNvSpPr txBox="1"/>
          <p:nvPr/>
        </p:nvSpPr>
        <p:spPr>
          <a:xfrm>
            <a:off x="4709160" y="1947672"/>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9" name="Cov table 3-2"/>
          <p:cNvSpPr/>
          <p:nvPr/>
        </p:nvSpPr>
        <p:spPr>
          <a:xfrm>
            <a:off x="5486400" y="1947672"/>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ov table text 3-2"/>
          <p:cNvSpPr txBox="1"/>
          <p:nvPr/>
        </p:nvSpPr>
        <p:spPr>
          <a:xfrm>
            <a:off x="5577840" y="1947672"/>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−0.5</a:t>
            </a:r>
          </a:p>
        </p:txBody>
      </p:sp>
      <p:sp>
        <p:nvSpPr>
          <p:cNvPr id="31" name="Cov table 3-3"/>
          <p:cNvSpPr/>
          <p:nvPr/>
        </p:nvSpPr>
        <p:spPr>
          <a:xfrm>
            <a:off x="6492240" y="1947672"/>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ov table text 3-3"/>
          <p:cNvSpPr txBox="1"/>
          <p:nvPr/>
        </p:nvSpPr>
        <p:spPr>
          <a:xfrm>
            <a:off x="6583680" y="1947672"/>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3" name="Cov table 3-4"/>
          <p:cNvSpPr/>
          <p:nvPr/>
        </p:nvSpPr>
        <p:spPr>
          <a:xfrm>
            <a:off x="7498080" y="1947672"/>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Cov table text 3-4"/>
          <p:cNvSpPr txBox="1"/>
          <p:nvPr/>
        </p:nvSpPr>
        <p:spPr>
          <a:xfrm>
            <a:off x="7589520" y="1947672"/>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35" name="Cov table 4-1"/>
          <p:cNvSpPr/>
          <p:nvPr/>
        </p:nvSpPr>
        <p:spPr>
          <a:xfrm>
            <a:off x="4617720" y="2304288"/>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Cov table text 4-1"/>
          <p:cNvSpPr txBox="1"/>
          <p:nvPr/>
        </p:nvSpPr>
        <p:spPr>
          <a:xfrm>
            <a:off x="4709160" y="2304288"/>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7" name="Cov table 4-2"/>
          <p:cNvSpPr/>
          <p:nvPr/>
        </p:nvSpPr>
        <p:spPr>
          <a:xfrm>
            <a:off x="5486400" y="2304288"/>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ov table text 4-2"/>
          <p:cNvSpPr txBox="1"/>
          <p:nvPr/>
        </p:nvSpPr>
        <p:spPr>
          <a:xfrm>
            <a:off x="5577840" y="2304288"/>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39" name="Cov table 4-3"/>
          <p:cNvSpPr/>
          <p:nvPr/>
        </p:nvSpPr>
        <p:spPr>
          <a:xfrm>
            <a:off x="6492240" y="2304288"/>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ov table text 4-3"/>
          <p:cNvSpPr txBox="1"/>
          <p:nvPr/>
        </p:nvSpPr>
        <p:spPr>
          <a:xfrm>
            <a:off x="6583680" y="2304288"/>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1" name="Cov table 4-4"/>
          <p:cNvSpPr/>
          <p:nvPr/>
        </p:nvSpPr>
        <p:spPr>
          <a:xfrm>
            <a:off x="7498080" y="2304288"/>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ov table text 4-4"/>
          <p:cNvSpPr txBox="1"/>
          <p:nvPr/>
        </p:nvSpPr>
        <p:spPr>
          <a:xfrm>
            <a:off x="7589520" y="2304288"/>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3" name="Cov table 5-1"/>
          <p:cNvSpPr/>
          <p:nvPr/>
        </p:nvSpPr>
        <p:spPr>
          <a:xfrm>
            <a:off x="4617720" y="2660904"/>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Cov table text 5-1"/>
          <p:cNvSpPr txBox="1"/>
          <p:nvPr/>
        </p:nvSpPr>
        <p:spPr>
          <a:xfrm>
            <a:off x="4709160" y="2660904"/>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5" name="Cov table 5-2"/>
          <p:cNvSpPr/>
          <p:nvPr/>
        </p:nvSpPr>
        <p:spPr>
          <a:xfrm>
            <a:off x="5486400" y="2660904"/>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ov table text 5-2"/>
          <p:cNvSpPr txBox="1"/>
          <p:nvPr/>
        </p:nvSpPr>
        <p:spPr>
          <a:xfrm>
            <a:off x="5577840" y="2660904"/>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0.5</a:t>
            </a:r>
          </a:p>
        </p:txBody>
      </p:sp>
      <p:sp>
        <p:nvSpPr>
          <p:cNvPr id="47" name="Cov table 5-3"/>
          <p:cNvSpPr/>
          <p:nvPr/>
        </p:nvSpPr>
        <p:spPr>
          <a:xfrm>
            <a:off x="6492240" y="2660904"/>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Cov table text 5-3"/>
          <p:cNvSpPr txBox="1"/>
          <p:nvPr/>
        </p:nvSpPr>
        <p:spPr>
          <a:xfrm>
            <a:off x="6583680" y="2660904"/>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49" name="Cov table 5-4"/>
          <p:cNvSpPr/>
          <p:nvPr/>
        </p:nvSpPr>
        <p:spPr>
          <a:xfrm>
            <a:off x="7498080" y="2660904"/>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ov table text 5-4"/>
          <p:cNvSpPr txBox="1"/>
          <p:nvPr/>
        </p:nvSpPr>
        <p:spPr>
          <a:xfrm>
            <a:off x="7589520" y="2660904"/>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−5</a:t>
            </a:r>
          </a:p>
        </p:txBody>
      </p:sp>
      <p:sp>
        <p:nvSpPr>
          <p:cNvPr id="51" name="Cov table 6-1"/>
          <p:cNvSpPr/>
          <p:nvPr/>
        </p:nvSpPr>
        <p:spPr>
          <a:xfrm>
            <a:off x="4617720" y="3017520"/>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Cov table text 6-1"/>
          <p:cNvSpPr txBox="1"/>
          <p:nvPr/>
        </p:nvSpPr>
        <p:spPr>
          <a:xfrm>
            <a:off x="4709160" y="3017520"/>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53" name="Cov table 6-2"/>
          <p:cNvSpPr/>
          <p:nvPr/>
        </p:nvSpPr>
        <p:spPr>
          <a:xfrm>
            <a:off x="5486400" y="3017520"/>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ov table text 6-2"/>
          <p:cNvSpPr txBox="1"/>
          <p:nvPr/>
        </p:nvSpPr>
        <p:spPr>
          <a:xfrm>
            <a:off x="5577840" y="3017520"/>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55" name="Cov table 6-3"/>
          <p:cNvSpPr/>
          <p:nvPr/>
        </p:nvSpPr>
        <p:spPr>
          <a:xfrm>
            <a:off x="6492240" y="3017520"/>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Cov table text 6-3"/>
          <p:cNvSpPr txBox="1"/>
          <p:nvPr/>
        </p:nvSpPr>
        <p:spPr>
          <a:xfrm>
            <a:off x="6583680" y="3017520"/>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7" name="Cov table 6-4"/>
          <p:cNvSpPr/>
          <p:nvPr/>
        </p:nvSpPr>
        <p:spPr>
          <a:xfrm>
            <a:off x="7498080" y="3017520"/>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Cov table text 6-4"/>
          <p:cNvSpPr txBox="1"/>
          <p:nvPr/>
        </p:nvSpPr>
        <p:spPr>
          <a:xfrm>
            <a:off x="7589520" y="3017520"/>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9" name="Cov table 7-1"/>
          <p:cNvSpPr/>
          <p:nvPr/>
        </p:nvSpPr>
        <p:spPr>
          <a:xfrm>
            <a:off x="4617720" y="3374136"/>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Cov table text 7-1"/>
          <p:cNvSpPr txBox="1"/>
          <p:nvPr/>
        </p:nvSpPr>
        <p:spPr>
          <a:xfrm>
            <a:off x="4709160" y="3374136"/>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Sum</a:t>
            </a:r>
          </a:p>
        </p:txBody>
      </p:sp>
      <p:sp>
        <p:nvSpPr>
          <p:cNvPr id="61" name="Cov table 7-2"/>
          <p:cNvSpPr/>
          <p:nvPr/>
        </p:nvSpPr>
        <p:spPr>
          <a:xfrm>
            <a:off x="5486400" y="337413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ov table text 7-2"/>
          <p:cNvSpPr txBox="1"/>
          <p:nvPr/>
        </p:nvSpPr>
        <p:spPr>
          <a:xfrm>
            <a:off x="5577840" y="3374136"/>
            <a:ext cx="79552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63" name="Cov table 7-3"/>
          <p:cNvSpPr/>
          <p:nvPr/>
        </p:nvSpPr>
        <p:spPr>
          <a:xfrm>
            <a:off x="6492240" y="337413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Cov table text 7-3"/>
          <p:cNvSpPr txBox="1"/>
          <p:nvPr/>
        </p:nvSpPr>
        <p:spPr>
          <a:xfrm>
            <a:off x="6583680" y="3374136"/>
            <a:ext cx="79552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65" name="Cov table 7-4"/>
          <p:cNvSpPr/>
          <p:nvPr/>
        </p:nvSpPr>
        <p:spPr>
          <a:xfrm>
            <a:off x="7498080" y="337413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ov table text 7-4"/>
          <p:cNvSpPr txBox="1"/>
          <p:nvPr/>
        </p:nvSpPr>
        <p:spPr>
          <a:xfrm>
            <a:off x="7589520" y="3374136"/>
            <a:ext cx="97840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−85</a:t>
            </a:r>
          </a:p>
        </p:txBody>
      </p:sp>
      <p:sp>
        <p:nvSpPr>
          <p:cNvPr id="67" name="Cov formula box"/>
          <p:cNvSpPr/>
          <p:nvPr/>
        </p:nvSpPr>
        <p:spPr>
          <a:xfrm>
            <a:off x="4617720" y="3703320"/>
            <a:ext cx="406908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Cov formula code"/>
          <p:cNvSpPr txBox="1"/>
          <p:nvPr/>
        </p:nvSpPr>
        <p:spPr>
          <a:xfrm>
            <a:off x="4754880" y="3794760"/>
            <a:ext cx="379476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cov = −85 / (5 − 1) = −21.25</a:t>
            </a:r>
          </a:p>
        </p:txBody>
      </p:sp>
      <p:sp>
        <p:nvSpPr>
          <p:cNvPr id="69" name="Cov sign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0" name="Icon Cov sign" descr=""/>
          <p:cNvPicPr>
            <a:picLocks noChangeAspect="1"/>
          </p:cNvPicPr>
          <p:nvPr/>
        </p:nvPicPr>
        <p:blipFill>
          <a:blip r:embed="rId4"/>
          <a:stretch>
            <a:fillRect/>
          </a:stretch>
        </p:blipFill>
        <p:spPr>
          <a:xfrm>
            <a:off x="658368" y="4411980"/>
            <a:ext cx="365760" cy="365760"/>
          </a:xfrm>
          <a:prstGeom prst="rect">
            <a:avLst/>
          </a:prstGeom>
        </p:spPr>
      </p:pic>
      <p:sp>
        <p:nvSpPr>
          <p:cNvPr id="71" name="Cov sign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Sign = direction; </a:t>
            </a:r>
            <a:r>
              <a:rPr sz="1200" b="0" lang="en-GB">
                <a:solidFill>
                  <a:schemeClr val="tx1"/>
                </a:solidFill>
              </a:rPr>
              <a:t>the size depends on the units (EUR × bars).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covariance without units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r = cov / (s_p · s_x) = −21.25 / (0.79 · 27.39) = −0.98          −1 ≤ r ≤ +1</a:t>
            </a:r>
          </a:p>
        </p:txBody>
      </p:sp>
      <p:pic>
        <p:nvPicPr>
          <p:cNvPr id="12" name="Chart ref_corr_gallery.png" descr="Four scatter plots: a rising cloud with r about 0.9, a shapeless cloud with r about 0, a falling cloud with r about -0.9, and a U-shaped curve with r about 0"/>
          <p:cNvPicPr>
            <a:picLocks noChangeAspect="1"/>
          </p:cNvPicPr>
          <p:nvPr/>
        </p:nvPicPr>
        <p:blipFill>
          <a:blip r:embed="rId3"/>
          <a:stretch>
            <a:fillRect/>
          </a:stretch>
        </p:blipFill>
        <p:spPr>
          <a:xfrm>
            <a:off x="457200" y="1874520"/>
            <a:ext cx="8229600" cy="2103120"/>
          </a:xfrm>
          <a:prstGeom prst="rect">
            <a:avLst/>
          </a:prstGeom>
        </p:spPr>
      </p:pic>
      <p:sp>
        <p:nvSpPr>
          <p:cNvPr id="13" name="R warn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R warn" descr=""/>
          <p:cNvPicPr>
            <a:picLocks noChangeAspect="1"/>
          </p:cNvPicPr>
          <p:nvPr/>
        </p:nvPicPr>
        <p:blipFill>
          <a:blip r:embed="rId4"/>
          <a:stretch>
            <a:fillRect/>
          </a:stretch>
        </p:blipFill>
        <p:spPr>
          <a:xfrm>
            <a:off x="658368" y="4251960"/>
            <a:ext cx="365760" cy="365760"/>
          </a:xfrm>
          <a:prstGeom prst="rect">
            <a:avLst/>
          </a:prstGeom>
        </p:spPr>
      </p:pic>
      <p:sp>
        <p:nvSpPr>
          <p:cNvPr id="15" name="R warn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Two warnings: </a:t>
            </a:r>
            <a:r>
              <a:rPr sz="1200" b="0" lang="en-GB">
                <a:solidFill>
                  <a:schemeClr val="bg1"/>
                </a:solidFill>
              </a:rPr>
              <a:t>r only measures straight-line relationships (the U has r ≈ 0), and correlation is not causation.</a:t>
            </a:r>
          </a:p>
        </p:txBody>
      </p:sp>
      <p:sp>
        <p:nvSpPr>
          <p:cNvPr id="1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(HBS note 9-622-100)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correlation to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ridge rows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ridge rows bar 1"/>
          <p:cNvSpPr/>
          <p:nvPr/>
        </p:nvSpPr>
        <p:spPr>
          <a:xfrm>
            <a:off x="4572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ridge rows text 1"/>
          <p:cNvSpPr txBox="1"/>
          <p:nvPr/>
        </p:nvSpPr>
        <p:spPr>
          <a:xfrm>
            <a:off x="658368" y="1234440"/>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 causation: </a:t>
            </a:r>
            <a:r>
              <a:rPr sz="1200" b="0" lang="en-GB">
                <a:solidFill>
                  <a:schemeClr val="tx1"/>
                </a:solidFill>
              </a:rPr>
              <a:t>ice-cream sales and sunburn rise together; sunshine drives both</a:t>
            </a:r>
          </a:p>
        </p:txBody>
      </p:sp>
      <p:sp>
        <p:nvSpPr>
          <p:cNvPr id="13" name="Bridge rows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ridge rows bar 2"/>
          <p:cNvSpPr/>
          <p:nvPr/>
        </p:nvSpPr>
        <p:spPr>
          <a:xfrm>
            <a:off x="4572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ridge rows text 2"/>
          <p:cNvSpPr txBox="1"/>
          <p:nvPr/>
        </p:nvSpPr>
        <p:spPr>
          <a:xfrm>
            <a:off x="658368" y="1856232"/>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Correlation </a:t>
            </a:r>
            <a:r>
              <a:rPr sz="1200" b="0" lang="en-GB">
                <a:solidFill>
                  <a:schemeClr val="tx1"/>
                </a:solidFill>
              </a:rPr>
              <a:t>says how strongly two variables move together, from −1 to +1</a:t>
            </a:r>
          </a:p>
        </p:txBody>
      </p:sp>
      <p:sp>
        <p:nvSpPr>
          <p:cNvPr id="16" name="Bridge rows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ridge rows bar 3"/>
          <p:cNvSpPr/>
          <p:nvPr/>
        </p:nvSpPr>
        <p:spPr>
          <a:xfrm>
            <a:off x="4572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ridge rows text 3"/>
          <p:cNvSpPr txBox="1"/>
          <p:nvPr/>
        </p:nvSpPr>
        <p:spPr>
          <a:xfrm>
            <a:off x="658368" y="2478024"/>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Regression </a:t>
            </a:r>
            <a:r>
              <a:rPr sz="1200" b="0" lang="en-GB">
                <a:solidFill>
                  <a:schemeClr val="tx1"/>
                </a:solidFill>
              </a:rPr>
              <a:t>says by how much y changes when x changes by one unit</a:t>
            </a:r>
          </a:p>
        </p:txBody>
      </p:sp>
      <p:sp>
        <p:nvSpPr>
          <p:cNvPr id="19" name="Slope formula box"/>
          <p:cNvSpPr/>
          <p:nvPr/>
        </p:nvSpPr>
        <p:spPr>
          <a:xfrm>
            <a:off x="457200" y="32461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lope formula code"/>
          <p:cNvSpPr txBox="1"/>
          <p:nvPr/>
        </p:nvSpPr>
        <p:spPr>
          <a:xfrm>
            <a:off x="594360" y="333756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slope b = cov(p, x) / var(p) = −21.25 / 0.625 = −34 bars per EUR</a:t>
            </a:r>
          </a:p>
          <a:p>
            <a:pPr algn="l">
              <a:spcAft>
                <a:spcPts val="0"/>
              </a:spcAft>
            </a:pPr>
            <a:r>
              <a:rPr sz="1200" b="0" lang="en-GB">
                <a:solidFill>
                  <a:schemeClr val="bg1"/>
                </a:solidFill>
                <a:latin typeface="Consolas"/>
              </a:rPr>
              <a:t>line through the means: x = 80 − 34 · (p − 3)</a:t>
            </a:r>
          </a:p>
        </p:txBody>
      </p:sp>
      <p:sp>
        <p:nvSpPr>
          <p:cNvPr id="21" name="Bridge next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Bridge next" descr=""/>
          <p:cNvPicPr>
            <a:picLocks noChangeAspect="1"/>
          </p:cNvPicPr>
          <p:nvPr/>
        </p:nvPicPr>
        <p:blipFill>
          <a:blip r:embed="rId3"/>
          <a:stretch>
            <a:fillRect/>
          </a:stretch>
        </p:blipFill>
        <p:spPr>
          <a:xfrm>
            <a:off x="658368" y="4251960"/>
            <a:ext cx="365760" cy="365760"/>
          </a:xfrm>
          <a:prstGeom prst="rect">
            <a:avLst/>
          </a:prstGeom>
        </p:spPr>
      </p:pic>
      <p:sp>
        <p:nvSpPr>
          <p:cNvPr id="23" name="Bridge next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Next: </a:t>
            </a:r>
            <a:r>
              <a:rPr sz="1300" b="0" lang="en-GB">
                <a:solidFill>
                  <a:schemeClr val="bg1"/>
                </a:solidFill>
              </a:rPr>
              <a:t>the least-squares line, built from exactly these pieces.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5 · mean, standard deviation, z-scores, covariance and correlation by hand, then checked</a:t>
            </a:r>
          </a:p>
        </p:txBody>
      </p:sp>
      <p:sp>
        <p:nvSpPr>
          <p:cNvPr id="3" name="Title 2"/>
          <p:cNvSpPr>
            <a:spLocks noGrp="1"/>
          </p:cNvSpPr>
          <p:nvPr>
            <p:ph type="ctrTitle"/>
          </p:nvPr>
        </p:nvSpPr>
        <p:spPr/>
        <p:txBody>
          <a:bodyPr/>
          <a:lstStyle/>
          <a:p>
            <a:r>
              <a:rPr sz="1600" lang="en-GB"/>
              <a:t>Python in Positron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the data and the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ean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an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a:t>
            </a:r>
          </a:p>
        </p:txBody>
      </p:sp>
      <p:sp>
        <p:nvSpPr>
          <p:cNvPr id="12" name="Mean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ean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import polars as pl</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 = pl.DataFrame({</a:t>
            </a:r>
          </a:p>
          <a:p>
            <a:pPr algn="l">
              <a:spcAft>
                <a:spcPts val="0"/>
              </a:spcAft>
            </a:pPr>
            <a:r>
              <a:rPr sz="1100" b="0" lang="en-GB">
                <a:solidFill>
                  <a:schemeClr val="bg1"/>
                </a:solidFill>
                <a:latin typeface="Consolas"/>
              </a:rPr>
              <a:t>    "week":  [1, 2, 3, 4, 5],</a:t>
            </a:r>
          </a:p>
          <a:p>
            <a:pPr algn="l">
              <a:spcAft>
                <a:spcPts val="0"/>
              </a:spcAft>
            </a:pPr>
            <a:r>
              <a:rPr sz="1100" b="0" lang="en-GB">
                <a:solidFill>
                  <a:schemeClr val="bg1"/>
                </a:solidFill>
                <a:latin typeface="Consolas"/>
              </a:rPr>
              <a:t>    "price": [2.0, 2.5, 3.0, 3.5, 4.0],</a:t>
            </a:r>
          </a:p>
          <a:p>
            <a:pPr algn="l">
              <a:spcAft>
                <a:spcPts val="0"/>
              </a:spcAft>
            </a:pPr>
            <a:r>
              <a:rPr sz="1100" b="0" lang="en-GB">
                <a:solidFill>
                  <a:schemeClr val="bg1"/>
                </a:solidFill>
                <a:latin typeface="Consolas"/>
              </a:rPr>
              <a:t>    "units": [110, 100, 80, 70, 40],</a:t>
            </a:r>
          </a:p>
          <a:p>
            <a:pPr algn="l">
              <a:spcAft>
                <a:spcPts val="0"/>
              </a:spcAft>
            </a:pPr>
            <a:r>
              <a:rPr sz="1100" b="0" lang="en-GB">
                <a:solidFill>
                  <a:schemeClr val="bg1"/>
                </a:solidFill>
                <a:latin typeface="Consolas"/>
              </a:rPr>
              <a:t>})</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n = kiosk.height                         # 5</a:t>
            </a:r>
          </a:p>
          <a:p>
            <a:pPr algn="l">
              <a:spcAft>
                <a:spcPts val="0"/>
              </a:spcAft>
            </a:pPr>
            <a:r>
              <a:rPr sz="1100" b="0" lang="en-GB">
                <a:solidFill>
                  <a:schemeClr val="bg1"/>
                </a:solidFill>
                <a:latin typeface="Consolas"/>
              </a:rPr>
              <a:t>mean_units = kiosk["units"].sum() / n    # by hand</a:t>
            </a:r>
          </a:p>
          <a:p>
            <a:pPr algn="l">
              <a:spcAft>
                <a:spcPts val="0"/>
              </a:spcAft>
            </a:pPr>
            <a:r>
              <a:rPr sz="1100" b="0" lang="en-GB">
                <a:solidFill>
                  <a:schemeClr val="bg1"/>
                </a:solidFill>
                <a:latin typeface="Consolas"/>
              </a:rPr>
              <a:t>kiosk["units"].mean()                    # check</a:t>
            </a:r>
          </a:p>
          <a:p>
            <a:pPr algn="l">
              <a:spcAft>
                <a:spcPts val="0"/>
              </a:spcAft>
            </a:pPr>
            <a:r>
              <a:rPr sz="1100" b="0" lang="en-GB">
                <a:solidFill>
                  <a:schemeClr val="bg1"/>
                </a:solidFill>
                <a:latin typeface="Consolas"/>
              </a:rPr>
              <a:t>kiosk["units"].median()</a:t>
            </a:r>
          </a:p>
        </p:txBody>
      </p:sp>
      <p:sp>
        <p:nvSpPr>
          <p:cNvPr id="14" name="Mean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ean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Mean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ean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Mean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ean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n</a:t>
            </a:r>
          </a:p>
        </p:txBody>
      </p:sp>
      <p:sp>
        <p:nvSpPr>
          <p:cNvPr id="20" name="Mean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ean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a:t>
            </a:r>
          </a:p>
        </p:txBody>
      </p:sp>
      <p:sp>
        <p:nvSpPr>
          <p:cNvPr id="22" name="Mean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ean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mean, by hand</a:t>
            </a:r>
          </a:p>
        </p:txBody>
      </p:sp>
      <p:sp>
        <p:nvSpPr>
          <p:cNvPr id="24" name="Mean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ean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26" name="Mean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ean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mean(), check</a:t>
            </a:r>
          </a:p>
        </p:txBody>
      </p:sp>
      <p:sp>
        <p:nvSpPr>
          <p:cNvPr id="28" name="Mean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ean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30" name="Mean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ean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median()</a:t>
            </a:r>
          </a:p>
        </p:txBody>
      </p:sp>
      <p:sp>
        <p:nvSpPr>
          <p:cNvPr id="32" name="Mean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ean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34" name="Run it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Run it" descr=""/>
          <p:cNvPicPr>
            <a:picLocks noChangeAspect="1"/>
          </p:cNvPicPr>
          <p:nvPr/>
        </p:nvPicPr>
        <p:blipFill>
          <a:blip r:embed="rId3"/>
          <a:stretch>
            <a:fillRect/>
          </a:stretch>
        </p:blipFill>
        <p:spPr>
          <a:xfrm>
            <a:off x="658368" y="4251960"/>
            <a:ext cx="365760" cy="365760"/>
          </a:xfrm>
          <a:prstGeom prst="rect">
            <a:avLst/>
          </a:prstGeom>
        </p:spPr>
      </p:pic>
      <p:sp>
        <p:nvSpPr>
          <p:cNvPr id="36" name="Run it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Run it: </a:t>
            </a:r>
            <a:r>
              <a:rPr sz="1200" b="0" lang="en-GB">
                <a:solidFill>
                  <a:schemeClr val="tx1"/>
                </a:solidFill>
              </a:rPr>
              <a:t>click into a cell and press Ctrl/Cmd + Enter; the result appears in the Console.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variance, standard deviation, standard error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D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D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by hand, then checked</a:t>
            </a:r>
          </a:p>
        </p:txBody>
      </p:sp>
      <p:sp>
        <p:nvSpPr>
          <p:cNvPr id="12" name="SD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D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dev = kiosk["units"] - mean_units</a:t>
            </a:r>
          </a:p>
          <a:p>
            <a:pPr algn="l">
              <a:spcAft>
                <a:spcPts val="0"/>
              </a:spcAft>
            </a:pPr>
            <a:r>
              <a:rPr sz="1100" b="0" lang="en-GB">
                <a:solidFill>
                  <a:schemeClr val="bg1"/>
                </a:solidFill>
                <a:latin typeface="Consolas"/>
              </a:rPr>
              <a:t>dev        # 30, 20, 0, -10, -40</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var_units = (dev ** 2).sum() / (n - 1)   # 750.0</a:t>
            </a:r>
          </a:p>
          <a:p>
            <a:pPr algn="l">
              <a:spcAft>
                <a:spcPts val="0"/>
              </a:spcAft>
            </a:pPr>
            <a:r>
              <a:rPr sz="1100" b="0" lang="en-GB">
                <a:solidFill>
                  <a:schemeClr val="bg1"/>
                </a:solidFill>
                <a:latin typeface="Consolas"/>
              </a:rPr>
              <a:t>sd_units = var_units ** 0.5              # 27.39</a:t>
            </a:r>
          </a:p>
          <a:p>
            <a:pPr algn="l">
              <a:spcAft>
                <a:spcPts val="0"/>
              </a:spcAft>
            </a:pPr>
            <a:r>
              <a:rPr sz="1100" b="0" lang="en-GB">
                <a:solidFill>
                  <a:schemeClr val="bg1"/>
                </a:solidFill>
                <a:latin typeface="Consolas"/>
              </a:rPr>
              <a:t>kiosk["units"].std()                     # check: n - 1</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se_units = sd_units / n ** 0.5           # 12.25</a:t>
            </a:r>
          </a:p>
        </p:txBody>
      </p:sp>
      <p:sp>
        <p:nvSpPr>
          <p:cNvPr id="14" name="SD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D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SD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D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SD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D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variance</a:t>
            </a:r>
          </a:p>
        </p:txBody>
      </p:sp>
      <p:sp>
        <p:nvSpPr>
          <p:cNvPr id="20" name="SD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D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750.0</a:t>
            </a:r>
          </a:p>
        </p:txBody>
      </p:sp>
      <p:sp>
        <p:nvSpPr>
          <p:cNvPr id="22" name="SD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D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sd, by hand</a:t>
            </a:r>
          </a:p>
        </p:txBody>
      </p:sp>
      <p:sp>
        <p:nvSpPr>
          <p:cNvPr id="24" name="SD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D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27.39</a:t>
            </a:r>
          </a:p>
        </p:txBody>
      </p:sp>
      <p:sp>
        <p:nvSpPr>
          <p:cNvPr id="26" name="SD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D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std(), check</a:t>
            </a:r>
          </a:p>
        </p:txBody>
      </p:sp>
      <p:sp>
        <p:nvSpPr>
          <p:cNvPr id="28" name="SD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D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27.39</a:t>
            </a:r>
          </a:p>
        </p:txBody>
      </p:sp>
      <p:sp>
        <p:nvSpPr>
          <p:cNvPr id="30" name="SD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D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standard error</a:t>
            </a:r>
          </a:p>
        </p:txBody>
      </p:sp>
      <p:sp>
        <p:nvSpPr>
          <p:cNvPr id="32" name="SD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D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12.25</a:t>
            </a:r>
          </a:p>
        </p:txBody>
      </p:sp>
      <p:sp>
        <p:nvSpPr>
          <p:cNvPr id="34" name="SD note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SD note" descr=""/>
          <p:cNvPicPr>
            <a:picLocks noChangeAspect="1"/>
          </p:cNvPicPr>
          <p:nvPr/>
        </p:nvPicPr>
        <p:blipFill>
          <a:blip r:embed="rId3"/>
          <a:stretch>
            <a:fillRect/>
          </a:stretch>
        </p:blipFill>
        <p:spPr>
          <a:xfrm>
            <a:off x="658368" y="4251960"/>
            <a:ext cx="365760" cy="365760"/>
          </a:xfrm>
          <a:prstGeom prst="rect">
            <a:avLst/>
          </a:prstGeom>
        </p:spPr>
      </p:pic>
      <p:sp>
        <p:nvSpPr>
          <p:cNvPr id="36" name="SD note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Note: </a:t>
            </a:r>
            <a:r>
              <a:rPr sz="1200" b="0" lang="en-GB">
                <a:solidFill>
                  <a:schemeClr val="tx1"/>
                </a:solidFill>
              </a:rPr>
              <a:t>std() divides by n − 1 (ddof=1), like the formula on the slide.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standardise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Z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Z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z-scores</a:t>
            </a:r>
          </a:p>
        </p:txBody>
      </p:sp>
      <p:sp>
        <p:nvSpPr>
          <p:cNvPr id="12" name="Z code box"/>
          <p:cNvSpPr/>
          <p:nvPr/>
        </p:nvSpPr>
        <p:spPr>
          <a:xfrm>
            <a:off x="457200" y="1508760"/>
            <a:ext cx="4937760" cy="2194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Z code code"/>
          <p:cNvSpPr txBox="1"/>
          <p:nvPr/>
        </p:nvSpPr>
        <p:spPr>
          <a:xfrm>
            <a:off x="594360" y="1600200"/>
            <a:ext cx="4663440" cy="2011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kiosk = kiosk.with_columns(</a:t>
            </a:r>
          </a:p>
          <a:p>
            <a:pPr algn="l">
              <a:spcAft>
                <a:spcPts val="0"/>
              </a:spcAft>
            </a:pPr>
            <a:r>
              <a:rPr sz="1100" b="0" lang="en-GB">
                <a:solidFill>
                  <a:schemeClr val="bg1"/>
                </a:solidFill>
                <a:latin typeface="Consolas"/>
              </a:rPr>
              <a:t>    z_units=(pl.col("units") - pl.col("units").mean())</a:t>
            </a:r>
          </a:p>
          <a:p>
            <a:pPr algn="l">
              <a:spcAft>
                <a:spcPts val="0"/>
              </a:spcAft>
            </a:pPr>
            <a:r>
              <a:rPr sz="1100" b="0" lang="en-GB">
                <a:solidFill>
                  <a:schemeClr val="bg1"/>
                </a:solidFill>
                <a:latin typeface="Consolas"/>
              </a:rPr>
              <a:t>            / pl.col("units").std()</a:t>
            </a:r>
          </a:p>
          <a:p>
            <a:pPr algn="l">
              <a:spcAft>
                <a:spcPts val="0"/>
              </a:spcAft>
            </a:pPr>
            <a:r>
              <a:rPr sz="1100" b="0" lang="en-GB">
                <a:solidFill>
                  <a:schemeClr val="bg1"/>
                </a:solidFill>
                <a:latin typeface="Consolas"/>
              </a:rPr>
              <a:t>)</a:t>
            </a:r>
          </a:p>
          <a:p>
            <a:pPr algn="l">
              <a:spcAft>
                <a:spcPts val="0"/>
              </a:spcAft>
            </a:pPr>
            <a:r>
              <a:rPr sz="1100" b="0" lang="en-GB">
                <a:solidFill>
                  <a:schemeClr val="bg1"/>
                </a:solidFill>
                <a:latin typeface="Consolas"/>
              </a:rPr>
              <a:t>kiosk</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kiosk["z_units"].mean()    # 0</a:t>
            </a:r>
          </a:p>
          <a:p>
            <a:pPr algn="l">
              <a:spcAft>
                <a:spcPts val="0"/>
              </a:spcAft>
            </a:pPr>
            <a:r>
              <a:rPr sz="1100" b="0" lang="en-GB">
                <a:solidFill>
                  <a:schemeClr val="bg1"/>
                </a:solidFill>
                <a:latin typeface="Consolas"/>
              </a:rPr>
              <a:t>kiosk["z_units"].std()     # 1</a:t>
            </a:r>
          </a:p>
        </p:txBody>
      </p:sp>
      <p:sp>
        <p:nvSpPr>
          <p:cNvPr id="14" name="Z out 1-1"/>
          <p:cNvSpPr/>
          <p:nvPr/>
        </p:nvSpPr>
        <p:spPr>
          <a:xfrm>
            <a:off x="5532120" y="123444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Z out text 1-1"/>
          <p:cNvSpPr txBox="1"/>
          <p:nvPr/>
        </p:nvSpPr>
        <p:spPr>
          <a:xfrm>
            <a:off x="5623560" y="1234440"/>
            <a:ext cx="7040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6" name="Z out 1-2"/>
          <p:cNvSpPr/>
          <p:nvPr/>
        </p:nvSpPr>
        <p:spPr>
          <a:xfrm>
            <a:off x="6446520" y="1234440"/>
            <a:ext cx="102412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Z out text 1-2"/>
          <p:cNvSpPr txBox="1"/>
          <p:nvPr/>
        </p:nvSpPr>
        <p:spPr>
          <a:xfrm>
            <a:off x="6537960" y="1234440"/>
            <a:ext cx="84124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Bars</a:t>
            </a:r>
          </a:p>
        </p:txBody>
      </p:sp>
      <p:sp>
        <p:nvSpPr>
          <p:cNvPr id="18" name="Z out 1-3"/>
          <p:cNvSpPr/>
          <p:nvPr/>
        </p:nvSpPr>
        <p:spPr>
          <a:xfrm>
            <a:off x="7498080" y="1234440"/>
            <a:ext cx="11612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Z out text 1-3"/>
          <p:cNvSpPr txBox="1"/>
          <p:nvPr/>
        </p:nvSpPr>
        <p:spPr>
          <a:xfrm>
            <a:off x="7589520" y="1234440"/>
            <a:ext cx="97840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z</a:t>
            </a:r>
          </a:p>
        </p:txBody>
      </p:sp>
      <p:sp>
        <p:nvSpPr>
          <p:cNvPr id="20" name="Z out 2-1"/>
          <p:cNvSpPr/>
          <p:nvPr/>
        </p:nvSpPr>
        <p:spPr>
          <a:xfrm>
            <a:off x="5532120" y="162763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Z out text 2-1"/>
          <p:cNvSpPr txBox="1"/>
          <p:nvPr/>
        </p:nvSpPr>
        <p:spPr>
          <a:xfrm>
            <a:off x="5623560" y="1627632"/>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2" name="Z out 2-2"/>
          <p:cNvSpPr/>
          <p:nvPr/>
        </p:nvSpPr>
        <p:spPr>
          <a:xfrm>
            <a:off x="6446520" y="1627632"/>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Z out text 2-2"/>
          <p:cNvSpPr txBox="1"/>
          <p:nvPr/>
        </p:nvSpPr>
        <p:spPr>
          <a:xfrm>
            <a:off x="6537960" y="1627632"/>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4" name="Z out 2-3"/>
          <p:cNvSpPr/>
          <p:nvPr/>
        </p:nvSpPr>
        <p:spPr>
          <a:xfrm>
            <a:off x="7498080" y="1627632"/>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Z out text 2-3"/>
          <p:cNvSpPr txBox="1"/>
          <p:nvPr/>
        </p:nvSpPr>
        <p:spPr>
          <a:xfrm>
            <a:off x="7589520" y="1627632"/>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6" name="Z out 3-1"/>
          <p:cNvSpPr/>
          <p:nvPr/>
        </p:nvSpPr>
        <p:spPr>
          <a:xfrm>
            <a:off x="5532120" y="202082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 out text 3-1"/>
          <p:cNvSpPr txBox="1"/>
          <p:nvPr/>
        </p:nvSpPr>
        <p:spPr>
          <a:xfrm>
            <a:off x="5623560" y="2020824"/>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8" name="Z out 3-2"/>
          <p:cNvSpPr/>
          <p:nvPr/>
        </p:nvSpPr>
        <p:spPr>
          <a:xfrm>
            <a:off x="6446520" y="2020824"/>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Z out text 3-2"/>
          <p:cNvSpPr txBox="1"/>
          <p:nvPr/>
        </p:nvSpPr>
        <p:spPr>
          <a:xfrm>
            <a:off x="6537960" y="2020824"/>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30" name="Z out 3-3"/>
          <p:cNvSpPr/>
          <p:nvPr/>
        </p:nvSpPr>
        <p:spPr>
          <a:xfrm>
            <a:off x="7498080" y="2020824"/>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Z out text 3-3"/>
          <p:cNvSpPr txBox="1"/>
          <p:nvPr/>
        </p:nvSpPr>
        <p:spPr>
          <a:xfrm>
            <a:off x="7589520" y="2020824"/>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0.73</a:t>
            </a:r>
          </a:p>
        </p:txBody>
      </p:sp>
      <p:sp>
        <p:nvSpPr>
          <p:cNvPr id="32" name="Z out 4-1"/>
          <p:cNvSpPr/>
          <p:nvPr/>
        </p:nvSpPr>
        <p:spPr>
          <a:xfrm>
            <a:off x="5532120" y="241401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out text 4-1"/>
          <p:cNvSpPr txBox="1"/>
          <p:nvPr/>
        </p:nvSpPr>
        <p:spPr>
          <a:xfrm>
            <a:off x="5623560" y="2414016"/>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4" name="Z out 4-2"/>
          <p:cNvSpPr/>
          <p:nvPr/>
        </p:nvSpPr>
        <p:spPr>
          <a:xfrm>
            <a:off x="6446520" y="2414016"/>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Z out text 4-2"/>
          <p:cNvSpPr txBox="1"/>
          <p:nvPr/>
        </p:nvSpPr>
        <p:spPr>
          <a:xfrm>
            <a:off x="6537960" y="2414016"/>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a:t>
            </a:r>
          </a:p>
        </p:txBody>
      </p:sp>
      <p:sp>
        <p:nvSpPr>
          <p:cNvPr id="36" name="Z out 4-3"/>
          <p:cNvSpPr/>
          <p:nvPr/>
        </p:nvSpPr>
        <p:spPr>
          <a:xfrm>
            <a:off x="7498080" y="2414016"/>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Z out text 4-3"/>
          <p:cNvSpPr txBox="1"/>
          <p:nvPr/>
        </p:nvSpPr>
        <p:spPr>
          <a:xfrm>
            <a:off x="7589520" y="2414016"/>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0.00</a:t>
            </a:r>
          </a:p>
        </p:txBody>
      </p:sp>
      <p:sp>
        <p:nvSpPr>
          <p:cNvPr id="38" name="Z out 5-1"/>
          <p:cNvSpPr/>
          <p:nvPr/>
        </p:nvSpPr>
        <p:spPr>
          <a:xfrm>
            <a:off x="5532120" y="280720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Z out text 5-1"/>
          <p:cNvSpPr txBox="1"/>
          <p:nvPr/>
        </p:nvSpPr>
        <p:spPr>
          <a:xfrm>
            <a:off x="5623560" y="2807208"/>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0" name="Z out 5-2"/>
          <p:cNvSpPr/>
          <p:nvPr/>
        </p:nvSpPr>
        <p:spPr>
          <a:xfrm>
            <a:off x="6446520" y="2807208"/>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Z out text 5-2"/>
          <p:cNvSpPr txBox="1"/>
          <p:nvPr/>
        </p:nvSpPr>
        <p:spPr>
          <a:xfrm>
            <a:off x="6537960" y="2807208"/>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2" name="Z out 5-3"/>
          <p:cNvSpPr/>
          <p:nvPr/>
        </p:nvSpPr>
        <p:spPr>
          <a:xfrm>
            <a:off x="7498080" y="2807208"/>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Z out text 5-3"/>
          <p:cNvSpPr txBox="1"/>
          <p:nvPr/>
        </p:nvSpPr>
        <p:spPr>
          <a:xfrm>
            <a:off x="7589520" y="2807208"/>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−0.37</a:t>
            </a:r>
          </a:p>
        </p:txBody>
      </p:sp>
      <p:sp>
        <p:nvSpPr>
          <p:cNvPr id="44" name="Z out 6-1"/>
          <p:cNvSpPr/>
          <p:nvPr/>
        </p:nvSpPr>
        <p:spPr>
          <a:xfrm>
            <a:off x="5532120" y="320040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Z out text 6-1"/>
          <p:cNvSpPr txBox="1"/>
          <p:nvPr/>
        </p:nvSpPr>
        <p:spPr>
          <a:xfrm>
            <a:off x="5623560" y="3200400"/>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46" name="Z out 6-2"/>
          <p:cNvSpPr/>
          <p:nvPr/>
        </p:nvSpPr>
        <p:spPr>
          <a:xfrm>
            <a:off x="6446520" y="3200400"/>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Z out text 6-2"/>
          <p:cNvSpPr txBox="1"/>
          <p:nvPr/>
        </p:nvSpPr>
        <p:spPr>
          <a:xfrm>
            <a:off x="6537960" y="3200400"/>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48" name="Z out 6-3"/>
          <p:cNvSpPr/>
          <p:nvPr/>
        </p:nvSpPr>
        <p:spPr>
          <a:xfrm>
            <a:off x="7498080" y="3200400"/>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Z out text 6-3"/>
          <p:cNvSpPr txBox="1"/>
          <p:nvPr/>
        </p:nvSpPr>
        <p:spPr>
          <a:xfrm>
            <a:off x="7589520" y="3200400"/>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−1.46</a:t>
            </a:r>
          </a:p>
        </p:txBody>
      </p:sp>
      <p:sp>
        <p:nvSpPr>
          <p:cNvPr id="50" name="Z out read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Z out read" descr=""/>
          <p:cNvPicPr>
            <a:picLocks noChangeAspect="1"/>
          </p:cNvPicPr>
          <p:nvPr/>
        </p:nvPicPr>
        <p:blipFill>
          <a:blip r:embed="rId3"/>
          <a:stretch>
            <a:fillRect/>
          </a:stretch>
        </p:blipFill>
        <p:spPr>
          <a:xfrm>
            <a:off x="658368" y="4251960"/>
            <a:ext cx="365760" cy="365760"/>
          </a:xfrm>
          <a:prstGeom prst="rect">
            <a:avLst/>
          </a:prstGeom>
        </p:spPr>
      </p:pic>
      <p:sp>
        <p:nvSpPr>
          <p:cNvPr id="52" name="Z out read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t>
            </a:r>
            <a:r>
              <a:rPr sz="1200" b="0" lang="en-GB">
                <a:solidFill>
                  <a:schemeClr val="tx1"/>
                </a:solidFill>
              </a:rPr>
              <a:t>week 5 lies 1.46 standard deviations below an average week.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covariance and correlation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v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v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by hand, then checked</a:t>
            </a:r>
          </a:p>
        </p:txBody>
      </p:sp>
      <p:sp>
        <p:nvSpPr>
          <p:cNvPr id="12" name="Cov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v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dev_p = kiosk["price"] - kiosk["price"].mean()</a:t>
            </a:r>
          </a:p>
          <a:p>
            <a:pPr algn="l">
              <a:spcAft>
                <a:spcPts val="0"/>
              </a:spcAft>
            </a:pPr>
            <a:r>
              <a:rPr sz="1100" b="0" lang="en-GB">
                <a:solidFill>
                  <a:schemeClr val="bg1"/>
                </a:solidFill>
                <a:latin typeface="Consolas"/>
              </a:rPr>
              <a:t>dev_u = kiosk["units"] - kiosk["units"].mean()</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cov = (dev_p * dev_u).sum() / (n - 1)          # -21.25</a:t>
            </a:r>
          </a:p>
          <a:p>
            <a:pPr algn="l">
              <a:spcAft>
                <a:spcPts val="0"/>
              </a:spcAft>
            </a:pPr>
            <a:r>
              <a:rPr sz="1100" b="0" lang="en-GB">
                <a:solidFill>
                  <a:schemeClr val="bg1"/>
                </a:solidFill>
                <a:latin typeface="Consolas"/>
              </a:rPr>
              <a:t>r = cov / (kiosk["price"].std()</a:t>
            </a:r>
          </a:p>
          <a:p>
            <a:pPr algn="l">
              <a:spcAft>
                <a:spcPts val="0"/>
              </a:spcAft>
            </a:pPr>
            <a:r>
              <a:rPr sz="1100" b="0" lang="en-GB">
                <a:solidFill>
                  <a:schemeClr val="bg1"/>
                </a:solidFill>
                <a:latin typeface="Consolas"/>
              </a:rPr>
              <a:t>           * kiosk["units"].std())             # -0.981</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kiosk.select(</a:t>
            </a:r>
          </a:p>
          <a:p>
            <a:pPr algn="l">
              <a:spcAft>
                <a:spcPts val="0"/>
              </a:spcAft>
            </a:pPr>
            <a:r>
              <a:rPr sz="1100" b="0" lang="en-GB">
                <a:solidFill>
                  <a:schemeClr val="bg1"/>
                </a:solidFill>
                <a:latin typeface="Consolas"/>
              </a:rPr>
              <a:t>    pl.cov("price", "units").alias("cov"),</a:t>
            </a:r>
          </a:p>
          <a:p>
            <a:pPr algn="l">
              <a:spcAft>
                <a:spcPts val="0"/>
              </a:spcAft>
            </a:pPr>
            <a:r>
              <a:rPr sz="1100" b="0" lang="en-GB">
                <a:solidFill>
                  <a:schemeClr val="bg1"/>
                </a:solidFill>
                <a:latin typeface="Consolas"/>
              </a:rPr>
              <a:t>    pl.corr("price", "units").alias("r"))      # check</a:t>
            </a:r>
          </a:p>
        </p:txBody>
      </p:sp>
      <p:sp>
        <p:nvSpPr>
          <p:cNvPr id="14" name="Cov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v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Cov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v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Cov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v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covariance</a:t>
            </a:r>
          </a:p>
        </p:txBody>
      </p:sp>
      <p:sp>
        <p:nvSpPr>
          <p:cNvPr id="20" name="Cov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v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−21.25</a:t>
            </a:r>
          </a:p>
        </p:txBody>
      </p:sp>
      <p:sp>
        <p:nvSpPr>
          <p:cNvPr id="22" name="Cov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v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correlation</a:t>
            </a:r>
          </a:p>
        </p:txBody>
      </p:sp>
      <p:sp>
        <p:nvSpPr>
          <p:cNvPr id="24" name="Cov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v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−0.981</a:t>
            </a:r>
          </a:p>
        </p:txBody>
      </p:sp>
      <p:sp>
        <p:nvSpPr>
          <p:cNvPr id="26" name="Cov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v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pl.cov, check</a:t>
            </a:r>
          </a:p>
        </p:txBody>
      </p:sp>
      <p:sp>
        <p:nvSpPr>
          <p:cNvPr id="28" name="Cov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v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−21.25</a:t>
            </a:r>
          </a:p>
        </p:txBody>
      </p:sp>
      <p:sp>
        <p:nvSpPr>
          <p:cNvPr id="30" name="Cov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ov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pl.corr, check</a:t>
            </a:r>
          </a:p>
        </p:txBody>
      </p:sp>
      <p:sp>
        <p:nvSpPr>
          <p:cNvPr id="32" name="Cov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ov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−0.981</a:t>
            </a:r>
          </a:p>
        </p:txBody>
      </p:sp>
      <p:sp>
        <p:nvSpPr>
          <p:cNvPr id="34" name="Cov same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Cov same" descr=""/>
          <p:cNvPicPr>
            <a:picLocks noChangeAspect="1"/>
          </p:cNvPicPr>
          <p:nvPr/>
        </p:nvPicPr>
        <p:blipFill>
          <a:blip r:embed="rId3"/>
          <a:stretch>
            <a:fillRect/>
          </a:stretch>
        </p:blipFill>
        <p:spPr>
          <a:xfrm>
            <a:off x="658368" y="4251960"/>
            <a:ext cx="365760" cy="365760"/>
          </a:xfrm>
          <a:prstGeom prst="rect">
            <a:avLst/>
          </a:prstGeom>
        </p:spPr>
      </p:pic>
      <p:sp>
        <p:nvSpPr>
          <p:cNvPr id="36" name="Cov same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Same numbers </a:t>
            </a:r>
            <a:r>
              <a:rPr sz="1200" b="0" lang="en-GB">
                <a:solidFill>
                  <a:schemeClr val="tx1"/>
                </a:solidFill>
              </a:rPr>
              <a:t>as by hand: the computer only saves the typing.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look at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ot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lot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plotnine</a:t>
            </a:r>
          </a:p>
        </p:txBody>
      </p:sp>
      <p:sp>
        <p:nvSpPr>
          <p:cNvPr id="12" name="Plot code box"/>
          <p:cNvSpPr/>
          <p:nvPr/>
        </p:nvSpPr>
        <p:spPr>
          <a:xfrm>
            <a:off x="457200" y="1508760"/>
            <a:ext cx="4206240" cy="1737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lot code code"/>
          <p:cNvSpPr txBox="1"/>
          <p:nvPr/>
        </p:nvSpPr>
        <p:spPr>
          <a:xfrm>
            <a:off x="594360" y="1600200"/>
            <a:ext cx="3931920" cy="1554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from plotnine import (ggplot, aes,</a:t>
            </a:r>
          </a:p>
          <a:p>
            <a:pPr algn="l">
              <a:spcAft>
                <a:spcPts val="0"/>
              </a:spcAft>
            </a:pPr>
            <a:r>
              <a:rPr sz="1100" b="0" lang="en-GB">
                <a:solidFill>
                  <a:schemeClr val="bg1"/>
                </a:solidFill>
                <a:latin typeface="Consolas"/>
              </a:rPr>
              <a:t>                      geom_point, labs)</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(ggplot(kiosk, aes("price", "units"))</a:t>
            </a:r>
          </a:p>
          <a:p>
            <a:pPr algn="l">
              <a:spcAft>
                <a:spcPts val="0"/>
              </a:spcAft>
            </a:pPr>
            <a:r>
              <a:rPr sz="1100" b="0" lang="en-GB">
                <a:solidFill>
                  <a:schemeClr val="bg1"/>
                </a:solidFill>
                <a:latin typeface="Consolas"/>
              </a:rPr>
              <a:t> + geom_point(size=3)</a:t>
            </a:r>
          </a:p>
          <a:p>
            <a:pPr algn="l">
              <a:spcAft>
                <a:spcPts val="0"/>
              </a:spcAft>
            </a:pPr>
            <a:r>
              <a:rPr sz="1100" b="0" lang="en-GB">
                <a:solidFill>
                  <a:schemeClr val="bg1"/>
                </a:solidFill>
                <a:latin typeface="Consolas"/>
              </a:rPr>
              <a:t> + labs(x="Price (EUR)",</a:t>
            </a:r>
          </a:p>
          <a:p>
            <a:pPr algn="l">
              <a:spcAft>
                <a:spcPts val="0"/>
              </a:spcAft>
            </a:pPr>
            <a:r>
              <a:rPr sz="1100" b="0" lang="en-GB">
                <a:solidFill>
                  <a:schemeClr val="bg1"/>
                </a:solidFill>
                <a:latin typeface="Consolas"/>
              </a:rPr>
              <a:t>        y="Bars sold per week"))</a:t>
            </a:r>
          </a:p>
        </p:txBody>
      </p:sp>
      <p:pic>
        <p:nvPicPr>
          <p:cNvPr id="14" name="Chart ref_quadrants.png" descr="The scatter plot of price against bars sold for the five weeks"/>
          <p:cNvPicPr>
            <a:picLocks noChangeAspect="1"/>
          </p:cNvPicPr>
          <p:nvPr/>
        </p:nvPicPr>
        <p:blipFill>
          <a:blip r:embed="rId3"/>
          <a:stretch>
            <a:fillRect/>
          </a:stretch>
        </p:blipFill>
        <p:spPr>
          <a:xfrm>
            <a:off x="4800600" y="1234440"/>
            <a:ext cx="3886200" cy="2706624"/>
          </a:xfrm>
          <a:prstGeom prst="rect">
            <a:avLst/>
          </a:prstGeom>
        </p:spPr>
      </p:pic>
      <p:sp>
        <p:nvSpPr>
          <p:cNvPr id="15" name="Plot first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Plot first" descr=""/>
          <p:cNvPicPr>
            <a:picLocks noChangeAspect="1"/>
          </p:cNvPicPr>
          <p:nvPr/>
        </p:nvPicPr>
        <p:blipFill>
          <a:blip r:embed="rId4"/>
          <a:stretch>
            <a:fillRect/>
          </a:stretch>
        </p:blipFill>
        <p:spPr>
          <a:xfrm>
            <a:off x="658368" y="4274820"/>
            <a:ext cx="365760" cy="365760"/>
          </a:xfrm>
          <a:prstGeom prst="rect">
            <a:avLst/>
          </a:prstGeom>
        </p:spPr>
      </p:pic>
      <p:sp>
        <p:nvSpPr>
          <p:cNvPr id="17" name="Plot first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Plot first: </a:t>
            </a:r>
            <a:r>
              <a:rPr sz="1300" b="0" lang="en-GB">
                <a:solidFill>
                  <a:schemeClr val="bg1"/>
                </a:solidFill>
              </a:rPr>
              <a:t>a correlation can hide a curve, an outlier or two groups.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by hand, then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paper:</a:t>
            </a:r>
            <a:br/>
            <a:r>
              <a:rPr sz="1200" b="1" lang="en-GB">
                <a:solidFill>
                  <a:schemeClr val="tx2"/>
                </a:solidFill>
              </a:rPr>
              <a:t>10 minutes</a:t>
            </a:r>
          </a:p>
        </p:txBody>
      </p:sp>
      <p:sp>
        <p:nvSpPr>
          <p:cNvPr id="11" name="Turn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 check:</a:t>
            </a:r>
            <a:br/>
            <a:r>
              <a:rPr sz="1200" b="1" lang="en-GB">
                <a:solidFill>
                  <a:schemeClr val="tx2"/>
                </a:solidFill>
              </a:rPr>
              <a:t>10 minutes</a:t>
            </a:r>
          </a:p>
        </p:txBody>
      </p:sp>
      <p:sp>
        <p:nvSpPr>
          <p:cNvPr id="12" name="Turn data 1-1"/>
          <p:cNvSpPr/>
          <p:nvPr/>
        </p:nvSpPr>
        <p:spPr>
          <a:xfrm>
            <a:off x="457200" y="1828800"/>
            <a:ext cx="841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urn data text 1-1"/>
          <p:cNvSpPr txBox="1"/>
          <p:nvPr/>
        </p:nvSpPr>
        <p:spPr>
          <a:xfrm>
            <a:off x="548640" y="1828800"/>
            <a:ext cx="65836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Day</a:t>
            </a:r>
          </a:p>
        </p:txBody>
      </p:sp>
      <p:sp>
        <p:nvSpPr>
          <p:cNvPr id="14" name="Turn data 1-2"/>
          <p:cNvSpPr/>
          <p:nvPr/>
        </p:nvSpPr>
        <p:spPr>
          <a:xfrm>
            <a:off x="1325880" y="1828800"/>
            <a:ext cx="10698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urn data text 1-2"/>
          <p:cNvSpPr txBox="1"/>
          <p:nvPr/>
        </p:nvSpPr>
        <p:spPr>
          <a:xfrm>
            <a:off x="1417320" y="1828800"/>
            <a:ext cx="8869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Temp. °C</a:t>
            </a:r>
          </a:p>
        </p:txBody>
      </p:sp>
      <p:sp>
        <p:nvSpPr>
          <p:cNvPr id="16" name="Turn data 1-3"/>
          <p:cNvSpPr/>
          <p:nvPr/>
        </p:nvSpPr>
        <p:spPr>
          <a:xfrm>
            <a:off x="2423160" y="182880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data text 1-3"/>
          <p:cNvSpPr txBox="1"/>
          <p:nvPr/>
        </p:nvSpPr>
        <p:spPr>
          <a:xfrm>
            <a:off x="2514600" y="1828800"/>
            <a:ext cx="70408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Bars</a:t>
            </a:r>
          </a:p>
        </p:txBody>
      </p:sp>
      <p:sp>
        <p:nvSpPr>
          <p:cNvPr id="18" name="Turn data 2-1"/>
          <p:cNvSpPr/>
          <p:nvPr/>
        </p:nvSpPr>
        <p:spPr>
          <a:xfrm>
            <a:off x="457200" y="2221992"/>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urn data text 2-1"/>
          <p:cNvSpPr txBox="1"/>
          <p:nvPr/>
        </p:nvSpPr>
        <p:spPr>
          <a:xfrm>
            <a:off x="548640" y="2221992"/>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Mon</a:t>
            </a:r>
          </a:p>
        </p:txBody>
      </p:sp>
      <p:sp>
        <p:nvSpPr>
          <p:cNvPr id="20" name="Turn data 2-2"/>
          <p:cNvSpPr/>
          <p:nvPr/>
        </p:nvSpPr>
        <p:spPr>
          <a:xfrm>
            <a:off x="1325880" y="2221992"/>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urn data text 2-2"/>
          <p:cNvSpPr txBox="1"/>
          <p:nvPr/>
        </p:nvSpPr>
        <p:spPr>
          <a:xfrm>
            <a:off x="1417320" y="2221992"/>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2" name="Turn data 2-3"/>
          <p:cNvSpPr/>
          <p:nvPr/>
        </p:nvSpPr>
        <p:spPr>
          <a:xfrm>
            <a:off x="2423160" y="222199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data text 2-3"/>
          <p:cNvSpPr txBox="1"/>
          <p:nvPr/>
        </p:nvSpPr>
        <p:spPr>
          <a:xfrm>
            <a:off x="2514600" y="2221992"/>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60</a:t>
            </a:r>
          </a:p>
        </p:txBody>
      </p:sp>
      <p:sp>
        <p:nvSpPr>
          <p:cNvPr id="24" name="Turn data 3-1"/>
          <p:cNvSpPr/>
          <p:nvPr/>
        </p:nvSpPr>
        <p:spPr>
          <a:xfrm>
            <a:off x="457200" y="2615184"/>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urn data text 3-1"/>
          <p:cNvSpPr txBox="1"/>
          <p:nvPr/>
        </p:nvSpPr>
        <p:spPr>
          <a:xfrm>
            <a:off x="548640" y="2615184"/>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Tue</a:t>
            </a:r>
          </a:p>
        </p:txBody>
      </p:sp>
      <p:sp>
        <p:nvSpPr>
          <p:cNvPr id="26" name="Turn data 3-2"/>
          <p:cNvSpPr/>
          <p:nvPr/>
        </p:nvSpPr>
        <p:spPr>
          <a:xfrm>
            <a:off x="1325880" y="2615184"/>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urn data text 3-2"/>
          <p:cNvSpPr txBox="1"/>
          <p:nvPr/>
        </p:nvSpPr>
        <p:spPr>
          <a:xfrm>
            <a:off x="1417320" y="2615184"/>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15</a:t>
            </a:r>
          </a:p>
        </p:txBody>
      </p:sp>
      <p:sp>
        <p:nvSpPr>
          <p:cNvPr id="28" name="Turn data 3-3"/>
          <p:cNvSpPr/>
          <p:nvPr/>
        </p:nvSpPr>
        <p:spPr>
          <a:xfrm>
            <a:off x="2423160" y="261518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urn data text 3-3"/>
          <p:cNvSpPr txBox="1"/>
          <p:nvPr/>
        </p:nvSpPr>
        <p:spPr>
          <a:xfrm>
            <a:off x="2514600" y="2615184"/>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55</a:t>
            </a:r>
          </a:p>
        </p:txBody>
      </p:sp>
      <p:sp>
        <p:nvSpPr>
          <p:cNvPr id="30" name="Turn data 4-1"/>
          <p:cNvSpPr/>
          <p:nvPr/>
        </p:nvSpPr>
        <p:spPr>
          <a:xfrm>
            <a:off x="457200" y="3008376"/>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urn data text 4-1"/>
          <p:cNvSpPr txBox="1"/>
          <p:nvPr/>
        </p:nvSpPr>
        <p:spPr>
          <a:xfrm>
            <a:off x="548640" y="3008376"/>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Wed</a:t>
            </a:r>
          </a:p>
        </p:txBody>
      </p:sp>
      <p:sp>
        <p:nvSpPr>
          <p:cNvPr id="32" name="Turn data 4-2"/>
          <p:cNvSpPr/>
          <p:nvPr/>
        </p:nvSpPr>
        <p:spPr>
          <a:xfrm>
            <a:off x="1325880" y="3008376"/>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urn data text 4-2"/>
          <p:cNvSpPr txBox="1"/>
          <p:nvPr/>
        </p:nvSpPr>
        <p:spPr>
          <a:xfrm>
            <a:off x="1417320" y="3008376"/>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4" name="Turn data 4-3"/>
          <p:cNvSpPr/>
          <p:nvPr/>
        </p:nvSpPr>
        <p:spPr>
          <a:xfrm>
            <a:off x="2423160" y="300837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urn data text 4-3"/>
          <p:cNvSpPr txBox="1"/>
          <p:nvPr/>
        </p:nvSpPr>
        <p:spPr>
          <a:xfrm>
            <a:off x="2514600" y="3008376"/>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36" name="Turn data 5-1"/>
          <p:cNvSpPr/>
          <p:nvPr/>
        </p:nvSpPr>
        <p:spPr>
          <a:xfrm>
            <a:off x="457200" y="3401568"/>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urn data text 5-1"/>
          <p:cNvSpPr txBox="1"/>
          <p:nvPr/>
        </p:nvSpPr>
        <p:spPr>
          <a:xfrm>
            <a:off x="548640" y="3401568"/>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Thu</a:t>
            </a:r>
          </a:p>
        </p:txBody>
      </p:sp>
      <p:sp>
        <p:nvSpPr>
          <p:cNvPr id="38" name="Turn data 5-2"/>
          <p:cNvSpPr/>
          <p:nvPr/>
        </p:nvSpPr>
        <p:spPr>
          <a:xfrm>
            <a:off x="1325880" y="3401568"/>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urn data text 5-2"/>
          <p:cNvSpPr txBox="1"/>
          <p:nvPr/>
        </p:nvSpPr>
        <p:spPr>
          <a:xfrm>
            <a:off x="1417320" y="3401568"/>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25</a:t>
            </a:r>
          </a:p>
        </p:txBody>
      </p:sp>
      <p:sp>
        <p:nvSpPr>
          <p:cNvPr id="40" name="Turn data 5-3"/>
          <p:cNvSpPr/>
          <p:nvPr/>
        </p:nvSpPr>
        <p:spPr>
          <a:xfrm>
            <a:off x="2423160" y="340156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urn data text 5-3"/>
          <p:cNvSpPr txBox="1"/>
          <p:nvPr/>
        </p:nvSpPr>
        <p:spPr>
          <a:xfrm>
            <a:off x="2514600" y="3401568"/>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42" name="Turn data 6-1"/>
          <p:cNvSpPr/>
          <p:nvPr/>
        </p:nvSpPr>
        <p:spPr>
          <a:xfrm>
            <a:off x="457200" y="3794760"/>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urn data text 6-1"/>
          <p:cNvSpPr txBox="1"/>
          <p:nvPr/>
        </p:nvSpPr>
        <p:spPr>
          <a:xfrm>
            <a:off x="548640" y="3794760"/>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Fri</a:t>
            </a:r>
          </a:p>
        </p:txBody>
      </p:sp>
      <p:sp>
        <p:nvSpPr>
          <p:cNvPr id="44" name="Turn data 6-2"/>
          <p:cNvSpPr/>
          <p:nvPr/>
        </p:nvSpPr>
        <p:spPr>
          <a:xfrm>
            <a:off x="1325880" y="3794760"/>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urn data text 6-2"/>
          <p:cNvSpPr txBox="1"/>
          <p:nvPr/>
        </p:nvSpPr>
        <p:spPr>
          <a:xfrm>
            <a:off x="1417320" y="3794760"/>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46" name="Turn data 6-3"/>
          <p:cNvSpPr/>
          <p:nvPr/>
        </p:nvSpPr>
        <p:spPr>
          <a:xfrm>
            <a:off x="2423160" y="379476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urn data text 6-3"/>
          <p:cNvSpPr txBox="1"/>
          <p:nvPr/>
        </p:nvSpPr>
        <p:spPr>
          <a:xfrm>
            <a:off x="2514600" y="3794760"/>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35</a:t>
            </a:r>
          </a:p>
        </p:txBody>
      </p:sp>
      <p:sp>
        <p:nvSpPr>
          <p:cNvPr id="48" name="Turn q row 1"/>
          <p:cNvSpPr/>
          <p:nvPr/>
        </p:nvSpPr>
        <p:spPr>
          <a:xfrm>
            <a:off x="3520440" y="1828800"/>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urn q number 1"/>
          <p:cNvSpPr/>
          <p:nvPr/>
        </p:nvSpPr>
        <p:spPr>
          <a:xfrm>
            <a:off x="365760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50" name="Turn q text 1"/>
          <p:cNvSpPr txBox="1"/>
          <p:nvPr/>
        </p:nvSpPr>
        <p:spPr>
          <a:xfrm>
            <a:off x="4114800" y="1828800"/>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Scales: </a:t>
            </a:r>
            <a:r>
              <a:rPr sz="1200" b="0" lang="en-GB">
                <a:solidFill>
                  <a:schemeClr val="tx1"/>
                </a:solidFill>
              </a:rPr>
              <a:t>which scale is each column?</a:t>
            </a:r>
          </a:p>
        </p:txBody>
      </p:sp>
      <p:sp>
        <p:nvSpPr>
          <p:cNvPr id="51" name="Turn q row 2"/>
          <p:cNvSpPr/>
          <p:nvPr/>
        </p:nvSpPr>
        <p:spPr>
          <a:xfrm>
            <a:off x="3520440" y="2350008"/>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urn q number 2"/>
          <p:cNvSpPr/>
          <p:nvPr/>
        </p:nvSpPr>
        <p:spPr>
          <a:xfrm>
            <a:off x="3657600" y="24231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53" name="Turn q text 2"/>
          <p:cNvSpPr txBox="1"/>
          <p:nvPr/>
        </p:nvSpPr>
        <p:spPr>
          <a:xfrm>
            <a:off x="4114800" y="2350008"/>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Centre: </a:t>
            </a:r>
            <a:r>
              <a:rPr sz="1200" b="0" lang="en-GB">
                <a:solidFill>
                  <a:schemeClr val="tx1"/>
                </a:solidFill>
              </a:rPr>
              <a:t>mean and median of bars sold</a:t>
            </a:r>
          </a:p>
        </p:txBody>
      </p:sp>
      <p:sp>
        <p:nvSpPr>
          <p:cNvPr id="54" name="Turn q row 3"/>
          <p:cNvSpPr/>
          <p:nvPr/>
        </p:nvSpPr>
        <p:spPr>
          <a:xfrm>
            <a:off x="3520440" y="2871216"/>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urn q number 3"/>
          <p:cNvSpPr/>
          <p:nvPr/>
        </p:nvSpPr>
        <p:spPr>
          <a:xfrm>
            <a:off x="3657600" y="29443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56" name="Turn q text 3"/>
          <p:cNvSpPr txBox="1"/>
          <p:nvPr/>
        </p:nvSpPr>
        <p:spPr>
          <a:xfrm>
            <a:off x="4114800" y="2871216"/>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Spread: </a:t>
            </a:r>
            <a:r>
              <a:rPr sz="1200" b="0" lang="en-GB">
                <a:solidFill>
                  <a:schemeClr val="tx1"/>
                </a:solidFill>
              </a:rPr>
              <a:t>variance and sd of bars, by hand</a:t>
            </a:r>
          </a:p>
        </p:txBody>
      </p:sp>
      <p:sp>
        <p:nvSpPr>
          <p:cNvPr id="57" name="Turn q row 4"/>
          <p:cNvSpPr/>
          <p:nvPr/>
        </p:nvSpPr>
        <p:spPr>
          <a:xfrm>
            <a:off x="3520440" y="3392424"/>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urn q number 4"/>
          <p:cNvSpPr/>
          <p:nvPr/>
        </p:nvSpPr>
        <p:spPr>
          <a:xfrm>
            <a:off x="3657600" y="34655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59" name="Turn q text 4"/>
          <p:cNvSpPr txBox="1"/>
          <p:nvPr/>
        </p:nvSpPr>
        <p:spPr>
          <a:xfrm>
            <a:off x="4114800" y="3392424"/>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z: </a:t>
            </a:r>
            <a:r>
              <a:rPr sz="1200" b="0" lang="en-GB">
                <a:solidFill>
                  <a:schemeClr val="tx1"/>
                </a:solidFill>
              </a:rPr>
              <a:t>z-score of the hottest day's sales</a:t>
            </a:r>
          </a:p>
        </p:txBody>
      </p:sp>
      <p:sp>
        <p:nvSpPr>
          <p:cNvPr id="60" name="Turn q row 5"/>
          <p:cNvSpPr/>
          <p:nvPr/>
        </p:nvSpPr>
        <p:spPr>
          <a:xfrm>
            <a:off x="3520440" y="3913632"/>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urn q number 5"/>
          <p:cNvSpPr/>
          <p:nvPr/>
        </p:nvSpPr>
        <p:spPr>
          <a:xfrm>
            <a:off x="3657600" y="39867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62" name="Turn q text 5"/>
          <p:cNvSpPr txBox="1"/>
          <p:nvPr/>
        </p:nvSpPr>
        <p:spPr>
          <a:xfrm>
            <a:off x="4114800" y="3913632"/>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Together: </a:t>
            </a:r>
            <a:r>
              <a:rPr sz="1200" b="0" lang="en-GB">
                <a:solidFill>
                  <a:schemeClr val="tx1"/>
                </a:solidFill>
              </a:rPr>
              <a:t>covariance and r of temperature and bars; then check all in Python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quiz: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Satisfaction from 1 to 5 stars is measured on which scale?</a:t>
            </a:r>
          </a:p>
          <a:p>
            <a:pPr algn="l">
              <a:spcAft>
                <a:spcPts val="100"/>
              </a:spcAft>
            </a:pPr>
            <a:r>
              <a:rPr sz="1200" b="0" lang="en-GB">
                <a:solidFill>
                  <a:schemeClr val="tx1"/>
                </a:solidFill>
              </a:rPr>
              <a:t>A nominal     B ordinal     C ratio</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Daily sales 10, 12, 11, 13, 54: what describes a typical day best?</a:t>
            </a:r>
          </a:p>
          <a:p>
            <a:pPr algn="l">
              <a:spcAft>
                <a:spcPts val="100"/>
              </a:spcAft>
            </a:pPr>
            <a:r>
              <a:rPr sz="1200" b="0" lang="en-GB">
                <a:solidFill>
                  <a:schemeClr val="tx1"/>
                </a:solidFill>
              </a:rPr>
              <a:t>A the mean (20)     B the median (12)     C the standard deviation</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You survey four times as many customers. The standard error of the mean …</a:t>
            </a:r>
          </a:p>
          <a:p>
            <a:pPr algn="l">
              <a:spcAft>
                <a:spcPts val="100"/>
              </a:spcAft>
            </a:pPr>
            <a:r>
              <a:rPr sz="1200" b="0" lang="en-GB">
                <a:solidFill>
                  <a:schemeClr val="tx1"/>
                </a:solidFill>
              </a:rPr>
              <a:t>A halves     B falls to a quarter     C stays the same</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A week's sales have z = −2. That week was …</a:t>
            </a:r>
          </a:p>
          <a:p>
            <a:pPr algn="l">
              <a:spcAft>
                <a:spcPts val="100"/>
              </a:spcAft>
            </a:pPr>
            <a:r>
              <a:rPr sz="1200" b="0" lang="en-GB">
                <a:solidFill>
                  <a:schemeClr val="tx1"/>
                </a:solidFill>
              </a:rPr>
              <a:t>A 2 bars below the mean     B 2 standard deviations below the mean     C 2 % below the mean</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Price and bars sold have r = −0.98. What does this mean?</a:t>
            </a:r>
          </a:p>
          <a:p>
            <a:pPr algn="l">
              <a:spcAft>
                <a:spcPts val="100"/>
              </a:spcAft>
            </a:pPr>
            <a:r>
              <a:rPr sz="1200" b="0" lang="en-GB">
                <a:solidFill>
                  <a:schemeClr val="tx1"/>
                </a:solidFill>
              </a:rPr>
              <a:t>A higher prices cause lower sales     B opposite directions, nearly linear     C 0.98 bars fewer per EUR</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3 minutes alone, </a:t>
            </a:r>
            <a:r>
              <a:rPr sz="1200" b="0" lang="en-GB">
                <a:solidFill>
                  <a:schemeClr val="bg1"/>
                </a:solidFill>
              </a:rPr>
              <a:t>then compare with your neighbour. Same format as the online quiz and the exam.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Scale </a:t>
            </a:r>
            <a:r>
              <a:rPr sz="1200" b="0" lang="en-GB">
                <a:solidFill>
                  <a:schemeClr val="tx1"/>
                </a:solidFill>
              </a:rPr>
              <a:t>first: it decides which statistics make sense</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Mean and median: </a:t>
            </a:r>
            <a:r>
              <a:rPr sz="1200" b="0" lang="en-GB">
                <a:solidFill>
                  <a:schemeClr val="tx1"/>
                </a:solidFill>
              </a:rPr>
              <a:t>the median resists outliers; totals need the mean</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sd </a:t>
            </a:r>
            <a:r>
              <a:rPr sz="1200" b="0" lang="en-GB">
                <a:solidFill>
                  <a:schemeClr val="tx1"/>
                </a:solidFill>
              </a:rPr>
              <a:t>describes the data; SE = sd / √n describes the precision of the mean</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z = (x − x̄) / s </a:t>
            </a:r>
            <a:r>
              <a:rPr sz="1200" b="0" lang="en-GB">
                <a:solidFill>
                  <a:schemeClr val="tx1"/>
                </a:solidFill>
              </a:rPr>
              <a:t>makes values comparable; 95 % of a normal lies within ±1.96 sd</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Covariance </a:t>
            </a:r>
            <a:r>
              <a:rPr sz="1200" b="0" lang="en-GB">
                <a:solidFill>
                  <a:schemeClr val="tx1"/>
                </a:solidFill>
              </a:rPr>
              <a:t>gives the direction, correlation the strength (−1 to +1), regression the size</a:t>
            </a:r>
          </a:p>
        </p:txBody>
      </p:sp>
      <p:sp>
        <p:nvSpPr>
          <p:cNvPr id="25" name="Take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Next: </a:t>
            </a:r>
            <a:r>
              <a:rPr sz="1200" b="0" lang="en-GB">
                <a:solidFill>
                  <a:schemeClr val="bg1"/>
                </a:solidFill>
              </a:rPr>
              <a:t>linear regression on real chocolate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Books and readings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600"/>
              </a:spcAft>
            </a:pPr>
            <a:r>
              <a:rPr sz="1150" b="1" lang="en-GB">
                <a:solidFill>
                  <a:schemeClr val="tx2"/>
                </a:solidFill>
              </a:rPr>
              <a:t>Field, A. (2024). </a:t>
            </a:r>
            <a:r>
              <a:rPr sz="1150" b="0" lang="en-GB">
                <a:solidFill>
                  <a:schemeClr val="tx1"/>
                </a:solidFill>
              </a:rPr>
              <a:t>Discovering Statistics Using IBM SPSS Statistics, 6th ed. SAGE. Chapters 1 to 2 and 8.</a:t>
            </a:r>
          </a:p>
          <a:p>
            <a:pPr algn="l">
              <a:spcAft>
                <a:spcPts val="600"/>
              </a:spcAft>
            </a:pPr>
            <a:r>
              <a:rPr sz="1150" b="1" lang="en-GB">
                <a:solidFill>
                  <a:schemeClr val="tx2"/>
                </a:solidFill>
              </a:rPr>
              <a:t>Bojinov, I. I., Parzen, M. &amp; Hamilton, P. J. (2025). </a:t>
            </a:r>
            <a:r>
              <a:rPr sz="1150" b="0" lang="en-GB">
                <a:solidFill>
                  <a:schemeClr val="tx1"/>
                </a:solidFill>
              </a:rPr>
              <a:t>Linear Regression. HBS note 9-622-100: correlation.</a:t>
            </a:r>
          </a:p>
          <a:p>
            <a:pPr algn="l">
              <a:spcAft>
                <a:spcPts val="600"/>
              </a:spcAft>
            </a:pPr>
            <a:r>
              <a:rPr sz="1150" b="1" lang="en-GB">
                <a:solidFill>
                  <a:schemeClr val="tx2"/>
                </a:solidFill>
              </a:rPr>
              <a:t>Hair, J. F. et al. (2019). </a:t>
            </a:r>
            <a:r>
              <a:rPr sz="1150" b="0" lang="en-GB">
                <a:solidFill>
                  <a:schemeClr val="tx1"/>
                </a:solidFill>
              </a:rPr>
              <a:t>Multivariate Data Analysis, 8th ed. Cengage. Chapter 2.</a:t>
            </a:r>
          </a:p>
          <a:p>
            <a:pPr algn="l">
              <a:spcAft>
                <a:spcPts val="600"/>
              </a:spcAft>
            </a:pPr>
            <a:r>
              <a:rPr sz="1150" b="1" lang="en-GB">
                <a:solidFill>
                  <a:schemeClr val="tx2"/>
                </a:solidFill>
              </a:rPr>
              <a:t>Stock, J. H. &amp; Watson, M. W. (2019). </a:t>
            </a:r>
            <a:r>
              <a:rPr sz="1150" b="0" lang="en-GB">
                <a:solidFill>
                  <a:schemeClr val="tx1"/>
                </a:solidFill>
              </a:rPr>
              <a:t>Introduction to Econometrics, 4th ed. Pearson. Chapters 2 to 3.</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Online</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600"/>
              </a:spcAft>
            </a:pPr>
            <a:r>
              <a:rPr sz="1150" b="1" lang="en-GB">
                <a:solidFill>
                  <a:schemeClr val="tx2"/>
                </a:solidFill>
              </a:rPr>
              <a:t>Seeing Theory. </a:t>
            </a:r>
            <a:r>
              <a:rPr sz="1150" b="0" lang="en-GB">
                <a:solidFill>
                  <a:schemeClr val="tx1"/>
                </a:solidFill>
              </a:rPr>
              <a:t>Brown University: interactive visual introduction to probability and statistics (free).</a:t>
            </a:r>
          </a:p>
          <a:p>
            <a:pPr algn="l">
              <a:spcAft>
                <a:spcPts val="600"/>
              </a:spcAft>
            </a:pPr>
            <a:r>
              <a:rPr sz="1150" b="1" lang="en-GB">
                <a:solidFill>
                  <a:schemeClr val="tx2"/>
                </a:solidFill>
              </a:rPr>
              <a:t>StatQuest. </a:t>
            </a:r>
            <a:r>
              <a:rPr sz="1150" b="0" lang="en-GB">
                <a:solidFill>
                  <a:schemeClr val="tx1"/>
                </a:solidFill>
              </a:rPr>
              <a:t>Videos on the normal distribution, standard deviation vs standard error, covariance and correlation (free).</a:t>
            </a:r>
          </a:p>
          <a:p>
            <a:pPr algn="l">
              <a:spcAft>
                <a:spcPts val="600"/>
              </a:spcAft>
            </a:pPr>
            <a:r>
              <a:rPr sz="1150" b="1" lang="en-GB">
                <a:solidFill>
                  <a:schemeClr val="tx2"/>
                </a:solidFill>
              </a:rPr>
              <a:t>polars documentation. </a:t>
            </a:r>
            <a:r>
              <a:rPr sz="1150" b="0" lang="en-GB">
                <a:solidFill>
                  <a:schemeClr val="tx1"/>
                </a:solidFill>
              </a:rPr>
              <a:t>mean, median, std, cov, corr.</a:t>
            </a:r>
          </a:p>
          <a:p>
            <a:pPr algn="l">
              <a:spcAft>
                <a:spcPts val="600"/>
              </a:spcAft>
            </a:pPr>
            <a:r>
              <a:rPr sz="1150" b="1" lang="en-GB">
                <a:solidFill>
                  <a:schemeClr val="tx2"/>
                </a:solidFill>
              </a:rPr>
              <a:t>Gelman, Hill &amp; Vehtari (2020). </a:t>
            </a:r>
            <a:r>
              <a:rPr sz="1150" b="0" lang="en-GB">
                <a:solidFill>
                  <a:schemeClr val="tx1"/>
                </a:solidFill>
              </a:rPr>
              <a:t>Regression and Other Stories, ch. 3 to 4 (free PDF).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