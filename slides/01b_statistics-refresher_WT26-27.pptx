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refresher before regression: the eight ideas every later session uses. One small running example (a chocolate kiosk) so that everything can be followed with a calculator, then the same calculations by hand in Python, in Positron.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blocks of theory, each on the kiosk numbers, then Python: we calculate mean, standard deviation, z-scores, covariance and correlation by hand in code and check them against the built-in functions.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Over five weeks the owner tried five prices. Small numbers on purpose: every result today can be checked with a calculator. The daily sales of one week (right) serve for mean and median.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 Quiz answers: country nominal; satisfaction 1 to 7 ordinal (often treated as metric); age in years ratio; store ID nominal (a number, but only a label); discount yes/no nominal (binary, a dummy); temperature interval.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kiosks sell 80 bars a week on average. Kiosk A varies between 75 and 85 (sd 3.8), kiosk B between 40 and 120 (sd 31.6). The mean alone hides this.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deviation describes the customers; the standard error describes the precision of the average we calculate from a sample. SE = s / square root of n. Spending per customer has sd EUR 4: with 16 customers the SE of the mean is EUR 1, with 64 customers EUR 0.50. Four times the sample halves the standard error. A 95 % confidence interval is roughly mean plus or minus 2 SE (1.96 exactly): EUR 12 plus or minus 1.96 gives 10.04 to 13.96. Every 'std err' in a regression table is a standard error.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on different scales become comparable. Vienna sold 140 bars in a week (mean 120, sd 10): z = 2.0. Graz sold 75 (mean 60, sd 15): z = 1.0. Vienna's week was the more unusual one, although Graz's increase looks large.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machine fills 100 g bars; the weights are normally distributed with mean 100 g and sd 2 g. The bell curve is fully described by mean and standard deviation. The 68-95-99.7 rule: 68 % of bars lie within one sd (98 to 102 g), 95 % within two (96 to 104 g; exactly 1.96 sd), 99.7 % within three (94 to 106 g).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Share of bars below 97 g: z = (97 - 100) / 2 = -1.5, P(Z &lt; -1.5) = 6.7 %.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the next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1 day nominal-ordinal (weekday order), temperature interval, bars sold ratio. 2 mean 48, median 50. 3 deviations 12, 7, 2, -8, -13; squares sum 430; variance 107.5; sd 10.37. 4 z of the hottest day: (35 - 48) / 10.37 = -1.25. 5 temperature deviations -10, -5, 0, 5, 10; products -120, -35, 0, -40, -130, sum -325; covariance -81.25; sd temperature 7.91; r = -0.99. Warmer days, fewer chocolate bars.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2.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3.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733702"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Scale types</a:t>
            </a:r>
          </a:p>
        </p:txBody>
      </p:sp>
      <p:sp>
        <p:nvSpPr>
          <p:cNvPr id="11" name="Plan steps step 2"/>
          <p:cNvSpPr/>
          <p:nvPr/>
        </p:nvSpPr>
        <p:spPr>
          <a:xfrm>
            <a:off x="2081174"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Centre and</a:t>
            </a:r>
            <a:br/>
            <a:r>
              <a:rPr sz="1200" b="1" lang="en-GB">
                <a:solidFill>
                  <a:schemeClr val="tx2"/>
                </a:solidFill>
              </a:rPr>
              <a:t>spread</a:t>
            </a:r>
          </a:p>
        </p:txBody>
      </p:sp>
      <p:sp>
        <p:nvSpPr>
          <p:cNvPr id="12" name="Plan steps step 3"/>
          <p:cNvSpPr/>
          <p:nvPr/>
        </p:nvSpPr>
        <p:spPr>
          <a:xfrm>
            <a:off x="3705149"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Normal</a:t>
            </a:r>
            <a:br/>
            <a:r>
              <a:rPr sz="1200" b="1" lang="en-GB">
                <a:solidFill>
                  <a:schemeClr val="tx2"/>
                </a:solidFill>
              </a:rPr>
              <a:t>distribution</a:t>
            </a:r>
          </a:p>
        </p:txBody>
      </p:sp>
      <p:sp>
        <p:nvSpPr>
          <p:cNvPr id="13" name="Plan steps step 4"/>
          <p:cNvSpPr/>
          <p:nvPr/>
        </p:nvSpPr>
        <p:spPr>
          <a:xfrm>
            <a:off x="5329123"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Covariance and</a:t>
            </a:r>
            <a:br/>
            <a:r>
              <a:rPr sz="1200" b="1" lang="en-GB">
                <a:solidFill>
                  <a:schemeClr val="tx2"/>
                </a:solidFill>
              </a:rPr>
              <a:t>correlation</a:t>
            </a:r>
          </a:p>
        </p:txBody>
      </p:sp>
      <p:sp>
        <p:nvSpPr>
          <p:cNvPr id="14" name="Plan steps step 5"/>
          <p:cNvSpPr/>
          <p:nvPr/>
        </p:nvSpPr>
        <p:spPr>
          <a:xfrm>
            <a:off x="6953098" y="1234440"/>
            <a:ext cx="1733702"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in</a:t>
            </a:r>
            <a:br/>
            <a:r>
              <a:rPr sz="1200" b="1" lang="en-GB">
                <a:solidFill>
                  <a:schemeClr val="tx2"/>
                </a:solidFill>
              </a:rPr>
              <a:t>Positron</a:t>
            </a:r>
          </a:p>
        </p:txBody>
      </p:sp>
      <p:sp>
        <p:nvSpPr>
          <p:cNvPr id="15" name="Concepts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ncepts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ncepts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concepts</a:t>
            </a:r>
          </a:p>
        </p:txBody>
      </p:sp>
      <p:pic>
        <p:nvPicPr>
          <p:cNvPr id="18" name="Icon Concepts card" descr=""/>
          <p:cNvPicPr>
            <a:picLocks noChangeAspect="1"/>
          </p:cNvPicPr>
          <p:nvPr/>
        </p:nvPicPr>
        <p:blipFill>
          <a:blip r:embed="rId3"/>
          <a:stretch>
            <a:fillRect/>
          </a:stretch>
        </p:blipFill>
        <p:spPr>
          <a:xfrm>
            <a:off x="4064508" y="1970532"/>
            <a:ext cx="310896" cy="310896"/>
          </a:xfrm>
          <a:prstGeom prst="rect">
            <a:avLst/>
          </a:prstGeom>
        </p:spPr>
      </p:pic>
      <p:sp>
        <p:nvSpPr>
          <p:cNvPr id="19" name="Concepts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variance, standard deviation</a:t>
            </a:r>
          </a:p>
          <a:p>
            <a:pPr algn="l" marL="182880" indent="-182880">
              <a:spcAft>
                <a:spcPts val="600"/>
              </a:spcAft>
              <a:buClr>
                <a:schemeClr val="accent1"/>
              </a:buClr>
              <a:buFont typeface="Arial"/>
              <a:buChar char="▪"/>
            </a:pPr>
            <a:r>
              <a:rPr sz="1300" b="0" lang="en-GB">
                <a:solidFill>
                  <a:schemeClr val="tx1"/>
                </a:solidFill>
              </a:rPr>
              <a:t>Standard error and standardisation (z)</a:t>
            </a:r>
          </a:p>
          <a:p>
            <a:pPr algn="l" marL="182880" indent="-182880">
              <a:spcAft>
                <a:spcPts val="600"/>
              </a:spcAft>
              <a:buClr>
                <a:schemeClr val="accent1"/>
              </a:buClr>
              <a:buFont typeface="Arial"/>
              <a:buChar char="▪"/>
            </a:pPr>
            <a:r>
              <a:rPr sz="1300" b="0" lang="en-GB">
                <a:solidFill>
                  <a:schemeClr val="tx1"/>
                </a:solidFill>
              </a:rPr>
              <a:t>Normal and standard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p:txBody>
      </p:sp>
      <p:sp>
        <p:nvSpPr>
          <p:cNvPr id="20" name="Practice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actice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actice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The practice</a:t>
            </a:r>
          </a:p>
        </p:txBody>
      </p:sp>
      <p:pic>
        <p:nvPicPr>
          <p:cNvPr id="23" name="Icon Practice card" descr=""/>
          <p:cNvPicPr>
            <a:picLocks noChangeAspect="1"/>
          </p:cNvPicPr>
          <p:nvPr/>
        </p:nvPicPr>
        <p:blipFill>
          <a:blip r:embed="rId4"/>
          <a:stretch>
            <a:fillRect/>
          </a:stretch>
        </p:blipFill>
        <p:spPr>
          <a:xfrm>
            <a:off x="8247888" y="1970532"/>
            <a:ext cx="310896" cy="310896"/>
          </a:xfrm>
          <a:prstGeom prst="rect">
            <a:avLst/>
          </a:prstGeom>
        </p:spPr>
      </p:pic>
      <p:sp>
        <p:nvSpPr>
          <p:cNvPr id="24" name="Practice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One small example you can follow with a calculator</a:t>
            </a:r>
          </a:p>
          <a:p>
            <a:pPr algn="l" marL="182880" indent="-182880">
              <a:spcAft>
                <a:spcPts val="600"/>
              </a:spcAft>
              <a:buClr>
                <a:schemeClr val="accent1"/>
              </a:buClr>
              <a:buFont typeface="Arial"/>
              <a:buChar char="▪"/>
            </a:pPr>
            <a:r>
              <a:rPr sz="1300" b="0" lang="en-GB">
                <a:solidFill>
                  <a:schemeClr val="tx1"/>
                </a:solidFill>
              </a:rPr>
              <a:t>Every formula by hand on the slide</a:t>
            </a:r>
          </a:p>
          <a:p>
            <a:pPr algn="l" marL="182880" indent="-182880">
              <a:spcAft>
                <a:spcPts val="600"/>
              </a:spcAft>
              <a:buClr>
                <a:schemeClr val="accent1"/>
              </a:buClr>
              <a:buFont typeface="Arial"/>
              <a:buChar char="▪"/>
            </a:pPr>
            <a:r>
              <a:rPr sz="1300" b="0" lang="en-GB">
                <a:solidFill>
                  <a:schemeClr val="tx1"/>
                </a:solidFill>
              </a:rPr>
              <a:t>The same steps by hand in Python</a:t>
            </a:r>
          </a:p>
          <a:p>
            <a:pPr algn="l" marL="182880" indent="-182880">
              <a:spcAft>
                <a:spcPts val="600"/>
              </a:spcAft>
              <a:buClr>
                <a:schemeClr val="accent1"/>
              </a:buClr>
              <a:buFont typeface="Arial"/>
              <a:buChar char="▪"/>
            </a:pPr>
            <a:r>
              <a:rPr sz="1300" b="0" lang="en-GB">
                <a:solidFill>
                  <a:schemeClr val="tx1"/>
                </a:solidFill>
              </a:rPr>
              <a:t>Check against polars' built-in functions</a:t>
            </a:r>
          </a:p>
        </p:txBody>
      </p:sp>
      <p:sp>
        <p:nvSpPr>
          <p:cNvPr id="25" name="Why now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hy now" descr=""/>
          <p:cNvPicPr>
            <a:picLocks noChangeAspect="1"/>
          </p:cNvPicPr>
          <p:nvPr/>
        </p:nvPicPr>
        <p:blipFill>
          <a:blip r:embed="rId5"/>
          <a:stretch>
            <a:fillRect/>
          </a:stretch>
        </p:blipFill>
        <p:spPr>
          <a:xfrm>
            <a:off x="658368" y="4480560"/>
            <a:ext cx="365760" cy="365760"/>
          </a:xfrm>
          <a:prstGeom prst="rect">
            <a:avLst/>
          </a:prstGeom>
        </p:spPr>
      </p:pic>
      <p:sp>
        <p:nvSpPr>
          <p:cNvPr id="27" name="Why now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Why now: </a:t>
            </a:r>
            <a:r>
              <a:rPr sz="1200" b="0" lang="en-GB">
                <a:solidFill>
                  <a:schemeClr val="bg1"/>
                </a:solidFill>
              </a:rPr>
              <a:t>regression output is made of these pieces: means, standard errors, z-values and correlations.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today can be checked with a calculator, then in Python.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5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5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wo rows of five dots: kiosk A between 75 and 85, kiosk B between 40 and 120, a dashed line at the common mean of 80"/>
          <p:cNvPicPr>
            <a:picLocks noChangeAspect="1"/>
          </p:cNvPicPr>
          <p:nvPr/>
        </p:nvPicPr>
        <p:blipFill>
          <a:blip r:embed="rId3"/>
          <a:stretch>
            <a:fillRect/>
          </a:stretch>
        </p:blipFill>
        <p:spPr>
          <a:xfrm>
            <a:off x="457200" y="1234440"/>
            <a:ext cx="4572000" cy="2496312"/>
          </a:xfrm>
          <a:prstGeom prst="rect">
            <a:avLst/>
          </a:prstGeom>
        </p:spPr>
      </p:pic>
      <p:sp>
        <p:nvSpPr>
          <p:cNvPr id="11" name="SD stat box 1"/>
          <p:cNvSpPr/>
          <p:nvPr/>
        </p:nvSpPr>
        <p:spPr>
          <a:xfrm>
            <a:off x="5166360" y="1234440"/>
            <a:ext cx="352044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516636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349240" y="123444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537960" y="1234440"/>
            <a:ext cx="210312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bars: sd of kiosk A</a:t>
            </a:r>
          </a:p>
        </p:txBody>
      </p:sp>
      <p:sp>
        <p:nvSpPr>
          <p:cNvPr id="15" name="SD stat box 2"/>
          <p:cNvSpPr/>
          <p:nvPr/>
        </p:nvSpPr>
        <p:spPr>
          <a:xfrm>
            <a:off x="5166360" y="2240280"/>
            <a:ext cx="352044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516636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349240" y="224028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18" name="SD stat 2 label"/>
          <p:cNvSpPr txBox="1"/>
          <p:nvPr/>
        </p:nvSpPr>
        <p:spPr>
          <a:xfrm>
            <a:off x="6537960" y="2240280"/>
            <a:ext cx="210312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bars: sd of kiosk B</a:t>
            </a:r>
          </a:p>
        </p:txBody>
      </p:sp>
      <p:sp>
        <p:nvSpPr>
          <p:cNvPr id="19"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1"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both sell 80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95% confidence interval ≈ x̄ ± 1.96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EUR 1.00</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16 customers: 4 / √16</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EUR 0.50</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64 customers: 4 / √64</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10.04–13.96</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95 % interval for a mean spend of EUR 12 (n = 16)</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how much customers differ: spending varies by about EUR 4</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a:t>
            </a:r>
            <a:r>
              <a:rPr sz="1200" b="0" lang="en-GB">
                <a:solidFill>
                  <a:schemeClr val="tx1"/>
                </a:solidFill>
              </a:rPr>
              <a:t>describes how precise the average is: it shrinks with √n; four times the sample,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5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Vienna</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140</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120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Graz</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75</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60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15</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Vienna's week lies 2 standard deviations above normal, Graz's only 1: Vienna's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stores,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Bell curve of bar weights centred at 100 g; the band from 98 to 102 g shaded dark (68 %), from 96 to 104 g light (95 %)"/>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±1 sd: 98 to 102 g</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±2 sd: 96 to 104 g</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±3 sd: 94 to 106 g</a:t>
            </a:r>
          </a:p>
        </p:txBody>
      </p:sp>
      <p:sp>
        <p:nvSpPr>
          <p:cNvPr id="23"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5"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Bars under 97 g? </a:t>
            </a:r>
            <a:r>
              <a:rPr sz="1200" b="0" lang="en-GB">
                <a:solidFill>
                  <a:schemeClr val="tx1"/>
                </a:solidFill>
              </a:rPr>
              <a:t>z = (97 − 100) / 2 = −1.5, so 6.7 % of all bars</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5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5 · mean, standard deviation, z-scores, covariance and correlation by hand, then checked</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by hand, then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paper:</a:t>
            </a:r>
            <a:br/>
            <a:r>
              <a:rPr sz="1200" b="1" lang="en-GB">
                <a:solidFill>
                  <a:schemeClr val="tx2"/>
                </a:solidFill>
              </a:rPr>
              <a:t>10 minutes</a:t>
            </a:r>
          </a:p>
        </p:txBody>
      </p:sp>
      <p:sp>
        <p:nvSpPr>
          <p:cNvPr id="11" name="Tur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check:</a:t>
            </a:r>
            <a:br/>
            <a:r>
              <a:rPr sz="1200" b="1" lang="en-GB">
                <a:solidFill>
                  <a:schemeClr val="tx2"/>
                </a:solidFill>
              </a:rPr>
              <a:t>10 minutes</a:t>
            </a:r>
          </a:p>
        </p:txBody>
      </p:sp>
      <p:sp>
        <p:nvSpPr>
          <p:cNvPr id="12" name="Turn data 1-1"/>
          <p:cNvSpPr/>
          <p:nvPr/>
        </p:nvSpPr>
        <p:spPr>
          <a:xfrm>
            <a:off x="457200" y="1828800"/>
            <a:ext cx="841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urn data text 1-1"/>
          <p:cNvSpPr txBox="1"/>
          <p:nvPr/>
        </p:nvSpPr>
        <p:spPr>
          <a:xfrm>
            <a:off x="548640" y="1828800"/>
            <a:ext cx="65836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Day</a:t>
            </a:r>
          </a:p>
        </p:txBody>
      </p:sp>
      <p:sp>
        <p:nvSpPr>
          <p:cNvPr id="14" name="Turn data 1-2"/>
          <p:cNvSpPr/>
          <p:nvPr/>
        </p:nvSpPr>
        <p:spPr>
          <a:xfrm>
            <a:off x="1325880" y="182880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urn data text 1-2"/>
          <p:cNvSpPr txBox="1"/>
          <p:nvPr/>
        </p:nvSpPr>
        <p:spPr>
          <a:xfrm>
            <a:off x="1417320" y="1828800"/>
            <a:ext cx="8869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Temp. °C</a:t>
            </a:r>
          </a:p>
        </p:txBody>
      </p:sp>
      <p:sp>
        <p:nvSpPr>
          <p:cNvPr id="16" name="Turn data 1-3"/>
          <p:cNvSpPr/>
          <p:nvPr/>
        </p:nvSpPr>
        <p:spPr>
          <a:xfrm>
            <a:off x="2423160" y="182880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data text 1-3"/>
          <p:cNvSpPr txBox="1"/>
          <p:nvPr/>
        </p:nvSpPr>
        <p:spPr>
          <a:xfrm>
            <a:off x="2514600" y="182880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Turn data 2-1"/>
          <p:cNvSpPr/>
          <p:nvPr/>
        </p:nvSpPr>
        <p:spPr>
          <a:xfrm>
            <a:off x="457200" y="2221992"/>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urn data text 2-1"/>
          <p:cNvSpPr txBox="1"/>
          <p:nvPr/>
        </p:nvSpPr>
        <p:spPr>
          <a:xfrm>
            <a:off x="548640" y="2221992"/>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Mon</a:t>
            </a:r>
          </a:p>
        </p:txBody>
      </p:sp>
      <p:sp>
        <p:nvSpPr>
          <p:cNvPr id="20" name="Turn data 2-2"/>
          <p:cNvSpPr/>
          <p:nvPr/>
        </p:nvSpPr>
        <p:spPr>
          <a:xfrm>
            <a:off x="1325880" y="222199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urn data text 2-2"/>
          <p:cNvSpPr txBox="1"/>
          <p:nvPr/>
        </p:nvSpPr>
        <p:spPr>
          <a:xfrm>
            <a:off x="1417320" y="2221992"/>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2" name="Turn data 2-3"/>
          <p:cNvSpPr/>
          <p:nvPr/>
        </p:nvSpPr>
        <p:spPr>
          <a:xfrm>
            <a:off x="2423160" y="222199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data text 2-3"/>
          <p:cNvSpPr txBox="1"/>
          <p:nvPr/>
        </p:nvSpPr>
        <p:spPr>
          <a:xfrm>
            <a:off x="2514600" y="222199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60</a:t>
            </a:r>
          </a:p>
        </p:txBody>
      </p:sp>
      <p:sp>
        <p:nvSpPr>
          <p:cNvPr id="24" name="Turn data 3-1"/>
          <p:cNvSpPr/>
          <p:nvPr/>
        </p:nvSpPr>
        <p:spPr>
          <a:xfrm>
            <a:off x="457200" y="2615184"/>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urn data text 3-1"/>
          <p:cNvSpPr txBox="1"/>
          <p:nvPr/>
        </p:nvSpPr>
        <p:spPr>
          <a:xfrm>
            <a:off x="548640" y="2615184"/>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Tue</a:t>
            </a:r>
          </a:p>
        </p:txBody>
      </p:sp>
      <p:sp>
        <p:nvSpPr>
          <p:cNvPr id="26" name="Turn data 3-2"/>
          <p:cNvSpPr/>
          <p:nvPr/>
        </p:nvSpPr>
        <p:spPr>
          <a:xfrm>
            <a:off x="1325880" y="261518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urn data text 3-2"/>
          <p:cNvSpPr txBox="1"/>
          <p:nvPr/>
        </p:nvSpPr>
        <p:spPr>
          <a:xfrm>
            <a:off x="1417320" y="2615184"/>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28" name="Turn data 3-3"/>
          <p:cNvSpPr/>
          <p:nvPr/>
        </p:nvSpPr>
        <p:spPr>
          <a:xfrm>
            <a:off x="2423160" y="261518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urn data text 3-3"/>
          <p:cNvSpPr txBox="1"/>
          <p:nvPr/>
        </p:nvSpPr>
        <p:spPr>
          <a:xfrm>
            <a:off x="2514600" y="261518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55</a:t>
            </a:r>
          </a:p>
        </p:txBody>
      </p:sp>
      <p:sp>
        <p:nvSpPr>
          <p:cNvPr id="30" name="Turn data 4-1"/>
          <p:cNvSpPr/>
          <p:nvPr/>
        </p:nvSpPr>
        <p:spPr>
          <a:xfrm>
            <a:off x="457200" y="3008376"/>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urn data text 4-1"/>
          <p:cNvSpPr txBox="1"/>
          <p:nvPr/>
        </p:nvSpPr>
        <p:spPr>
          <a:xfrm>
            <a:off x="548640" y="3008376"/>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Wed</a:t>
            </a:r>
          </a:p>
        </p:txBody>
      </p:sp>
      <p:sp>
        <p:nvSpPr>
          <p:cNvPr id="32" name="Turn data 4-2"/>
          <p:cNvSpPr/>
          <p:nvPr/>
        </p:nvSpPr>
        <p:spPr>
          <a:xfrm>
            <a:off x="1325880" y="300837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urn data text 4-2"/>
          <p:cNvSpPr txBox="1"/>
          <p:nvPr/>
        </p:nvSpPr>
        <p:spPr>
          <a:xfrm>
            <a:off x="1417320" y="3008376"/>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4" name="Turn data 4-3"/>
          <p:cNvSpPr/>
          <p:nvPr/>
        </p:nvSpPr>
        <p:spPr>
          <a:xfrm>
            <a:off x="2423160" y="300837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urn data text 4-3"/>
          <p:cNvSpPr txBox="1"/>
          <p:nvPr/>
        </p:nvSpPr>
        <p:spPr>
          <a:xfrm>
            <a:off x="2514600" y="300837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6" name="Turn data 5-1"/>
          <p:cNvSpPr/>
          <p:nvPr/>
        </p:nvSpPr>
        <p:spPr>
          <a:xfrm>
            <a:off x="457200" y="3401568"/>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urn data text 5-1"/>
          <p:cNvSpPr txBox="1"/>
          <p:nvPr/>
        </p:nvSpPr>
        <p:spPr>
          <a:xfrm>
            <a:off x="548640" y="3401568"/>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Thu</a:t>
            </a:r>
          </a:p>
        </p:txBody>
      </p:sp>
      <p:sp>
        <p:nvSpPr>
          <p:cNvPr id="38" name="Turn data 5-2"/>
          <p:cNvSpPr/>
          <p:nvPr/>
        </p:nvSpPr>
        <p:spPr>
          <a:xfrm>
            <a:off x="1325880" y="340156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urn data text 5-2"/>
          <p:cNvSpPr txBox="1"/>
          <p:nvPr/>
        </p:nvSpPr>
        <p:spPr>
          <a:xfrm>
            <a:off x="1417320" y="3401568"/>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25</a:t>
            </a:r>
          </a:p>
        </p:txBody>
      </p:sp>
      <p:sp>
        <p:nvSpPr>
          <p:cNvPr id="40" name="Turn data 5-3"/>
          <p:cNvSpPr/>
          <p:nvPr/>
        </p:nvSpPr>
        <p:spPr>
          <a:xfrm>
            <a:off x="2423160" y="340156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urn data text 5-3"/>
          <p:cNvSpPr txBox="1"/>
          <p:nvPr/>
        </p:nvSpPr>
        <p:spPr>
          <a:xfrm>
            <a:off x="2514600" y="340156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2" name="Turn data 6-1"/>
          <p:cNvSpPr/>
          <p:nvPr/>
        </p:nvSpPr>
        <p:spPr>
          <a:xfrm>
            <a:off x="457200" y="3794760"/>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urn data text 6-1"/>
          <p:cNvSpPr txBox="1"/>
          <p:nvPr/>
        </p:nvSpPr>
        <p:spPr>
          <a:xfrm>
            <a:off x="548640" y="3794760"/>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Fri</a:t>
            </a:r>
          </a:p>
        </p:txBody>
      </p:sp>
      <p:sp>
        <p:nvSpPr>
          <p:cNvPr id="44" name="Turn data 6-2"/>
          <p:cNvSpPr/>
          <p:nvPr/>
        </p:nvSpPr>
        <p:spPr>
          <a:xfrm>
            <a:off x="1325880" y="379476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urn data text 6-2"/>
          <p:cNvSpPr txBox="1"/>
          <p:nvPr/>
        </p:nvSpPr>
        <p:spPr>
          <a:xfrm>
            <a:off x="1417320" y="3794760"/>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46" name="Turn data 6-3"/>
          <p:cNvSpPr/>
          <p:nvPr/>
        </p:nvSpPr>
        <p:spPr>
          <a:xfrm>
            <a:off x="2423160" y="379476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urn data text 6-3"/>
          <p:cNvSpPr txBox="1"/>
          <p:nvPr/>
        </p:nvSpPr>
        <p:spPr>
          <a:xfrm>
            <a:off x="2514600" y="3794760"/>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48" name="Turn q row 1"/>
          <p:cNvSpPr/>
          <p:nvPr/>
        </p:nvSpPr>
        <p:spPr>
          <a:xfrm>
            <a:off x="3520440" y="1828800"/>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urn q number 1"/>
          <p:cNvSpPr/>
          <p:nvPr/>
        </p:nvSpPr>
        <p:spPr>
          <a:xfrm>
            <a:off x="365760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50" name="Turn q text 1"/>
          <p:cNvSpPr txBox="1"/>
          <p:nvPr/>
        </p:nvSpPr>
        <p:spPr>
          <a:xfrm>
            <a:off x="4114800" y="1828800"/>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column?</a:t>
            </a:r>
          </a:p>
        </p:txBody>
      </p:sp>
      <p:sp>
        <p:nvSpPr>
          <p:cNvPr id="51" name="Turn q row 2"/>
          <p:cNvSpPr/>
          <p:nvPr/>
        </p:nvSpPr>
        <p:spPr>
          <a:xfrm>
            <a:off x="3520440" y="2350008"/>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urn q number 2"/>
          <p:cNvSpPr/>
          <p:nvPr/>
        </p:nvSpPr>
        <p:spPr>
          <a:xfrm>
            <a:off x="365760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53" name="Turn q text 2"/>
          <p:cNvSpPr txBox="1"/>
          <p:nvPr/>
        </p:nvSpPr>
        <p:spPr>
          <a:xfrm>
            <a:off x="4114800" y="2350008"/>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bars sold</a:t>
            </a:r>
          </a:p>
        </p:txBody>
      </p:sp>
      <p:sp>
        <p:nvSpPr>
          <p:cNvPr id="54" name="Turn q row 3"/>
          <p:cNvSpPr/>
          <p:nvPr/>
        </p:nvSpPr>
        <p:spPr>
          <a:xfrm>
            <a:off x="3520440" y="2871216"/>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urn q number 3"/>
          <p:cNvSpPr/>
          <p:nvPr/>
        </p:nvSpPr>
        <p:spPr>
          <a:xfrm>
            <a:off x="365760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6" name="Turn q text 3"/>
          <p:cNvSpPr txBox="1"/>
          <p:nvPr/>
        </p:nvSpPr>
        <p:spPr>
          <a:xfrm>
            <a:off x="4114800" y="2871216"/>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variance and sd of bars, by hand</a:t>
            </a:r>
          </a:p>
        </p:txBody>
      </p:sp>
      <p:sp>
        <p:nvSpPr>
          <p:cNvPr id="57" name="Turn q row 4"/>
          <p:cNvSpPr/>
          <p:nvPr/>
        </p:nvSpPr>
        <p:spPr>
          <a:xfrm>
            <a:off x="3520440" y="3392424"/>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urn q number 4"/>
          <p:cNvSpPr/>
          <p:nvPr/>
        </p:nvSpPr>
        <p:spPr>
          <a:xfrm>
            <a:off x="365760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9" name="Turn q text 4"/>
          <p:cNvSpPr txBox="1"/>
          <p:nvPr/>
        </p:nvSpPr>
        <p:spPr>
          <a:xfrm>
            <a:off x="4114800" y="3392424"/>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z: </a:t>
            </a:r>
            <a:r>
              <a:rPr sz="1200" b="0" lang="en-GB">
                <a:solidFill>
                  <a:schemeClr val="tx1"/>
                </a:solidFill>
              </a:rPr>
              <a:t>z-score of the hottest day's sales</a:t>
            </a:r>
          </a:p>
        </p:txBody>
      </p:sp>
      <p:sp>
        <p:nvSpPr>
          <p:cNvPr id="60" name="Turn q row 5"/>
          <p:cNvSpPr/>
          <p:nvPr/>
        </p:nvSpPr>
        <p:spPr>
          <a:xfrm>
            <a:off x="3520440" y="3913632"/>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urn q number 5"/>
          <p:cNvSpPr/>
          <p:nvPr/>
        </p:nvSpPr>
        <p:spPr>
          <a:xfrm>
            <a:off x="365760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62" name="Turn q text 5"/>
          <p:cNvSpPr txBox="1"/>
          <p:nvPr/>
        </p:nvSpPr>
        <p:spPr>
          <a:xfrm>
            <a:off x="4114800" y="3913632"/>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covariance and r of temperature and bars; then check all in Python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data.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Bojinov, I. I., Parzen, M. &amp; Hamilton, P. J. (2025). </a:t>
            </a:r>
            <a:r>
              <a:rPr sz="1150" b="0" lang="en-GB">
                <a:solidFill>
                  <a:schemeClr val="tx1"/>
                </a:solidFill>
              </a:rPr>
              <a:t>Linear Regression. HBS note 9-622-100: correlation.</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