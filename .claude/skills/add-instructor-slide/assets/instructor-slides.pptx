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390" r:id="rId6"/>
    <p:sldId id="391" r:id="rId7"/>
  </p:sldIdLst>
  <p:sldSz cx="9144000" cy="5715000" type="screen16x10"/>
  <p:notesSz cx="6858000" cy="9144000"/>
  <p:custDataLst>
    <p:tags r:id="rId2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3" pos="4241">
          <p15:clr>
            <a:srgbClr val="A4A3A4"/>
          </p15:clr>
        </p15:guide>
        <p15:guide id="4" pos="4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0" name="Author" initials="A" lastIdx="0" clrIdx="9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FF7"/>
    <a:srgbClr val="CBDDEF"/>
    <a:srgbClr val="0096D3"/>
    <a:srgbClr val="0C94B7"/>
    <a:srgbClr val="41B4CE"/>
    <a:srgbClr val="73BAD1"/>
    <a:srgbClr val="65B4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3783" autoAdjust="0"/>
  </p:normalViewPr>
  <p:slideViewPr>
    <p:cSldViewPr snapToGrid="0" showGuides="1">
      <p:cViewPr varScale="1">
        <p:scale>
          <a:sx n="185" d="100"/>
          <a:sy n="185" d="100"/>
        </p:scale>
        <p:origin x="100" y="240"/>
      </p:cViewPr>
      <p:guideLst>
        <p:guide orient="horz" pos="1800"/>
        <p:guide pos="4241"/>
        <p:guide pos="4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4" d="100"/>
          <a:sy n="94" d="100"/>
        </p:scale>
        <p:origin x="2748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32" Type="http://schemas.openxmlformats.org/officeDocument/2006/relationships/viewProps" Target="viewProps.xml"/><Relationship Id="rId28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17FD-8155-4502-AF78-DBC2EA4B168F}" type="datetimeFigureOut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01/10/2026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6F62-1C91-45E7-BAED-FBFBF67C82BC}" type="slidenum">
              <a:rPr lang="en-GB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t>‹#›</a:t>
            </a:fld>
            <a:endParaRPr lang="en-GB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456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C0A972FC-F5E0-4F80-B169-F0B5EFC71333}" type="datetimeFigureOut">
              <a:rPr lang="en-GB" smtClean="0"/>
              <a:pPr/>
              <a:t>01/10/2026</a:t>
            </a:fld>
            <a:endParaRPr lang="en-GB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219CC2FD-B32F-4992-A15B-F95E2E35C8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5136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erdana" pitchFamily="34" charset="0"/>
        <a:ea typeface="Verdana" pitchFamily="34" charset="0"/>
        <a:cs typeface="Verdana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4" name="Rechteck 13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Rechteck 14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 userDrawn="1"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baseline="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5A845CD-2D10-42BB-97DB-CDA723EE9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1A49BD17-4238-4565-A4B6-2E20A7C19FA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897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6" name="Rechteck 2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Rechteck 2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8" y="1294973"/>
            <a:ext cx="5466982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8" y="993080"/>
            <a:ext cx="5466982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6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16B78E-14FB-4C1E-8625-0D5A429E49F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9B62297-FBCA-40E7-A876-7818F7A81C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7AAB-A700-485E-A2FB-EAC3CFB07074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6" name="Rechteck 15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BA9844F5-FA66-4582-86D9-5CEB57D815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B702B7F6-CDD2-4C6E-BBC1-61A114A8A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7961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hne Bild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A463F4F5-A20D-4A70-B3F9-6AD8A3EE25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AB68F06-4800-4D63-9DF2-372B23A8EC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341" y="5129960"/>
            <a:ext cx="1831485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68004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2" name="Rechteck 1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Rechteck 1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6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7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330D039B-1A60-42B3-A3E1-B44D86C63C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5D9B1B1-5069-4351-A01A-8CD0972841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07811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2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tx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ABF9D4AB-1FA6-4101-9EE8-B852A65B2A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DF8959B-5028-481F-A01F-8628D9F2E0D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6685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ieren 1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19" name="Rechteck 18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Rechteck 20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0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4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sp>
        <p:nvSpPr>
          <p:cNvPr id="1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header</a:t>
            </a:r>
          </a:p>
        </p:txBody>
      </p:sp>
      <p:sp>
        <p:nvSpPr>
          <p:cNvPr id="1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6" y="993080"/>
            <a:ext cx="5436000" cy="351533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04218C8-068C-46BC-ADE6-6BC8A468BF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487AD36-3E46-4F41-8B5C-B79909802D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637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Bild 3 kur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21" name="Rechteck 20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Rechteck 21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>
                <a:alpha val="89804"/>
              </a:srgbClr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29497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32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1 line for header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05407" y="993080"/>
            <a:ext cx="5436000" cy="304511"/>
          </a:xfrm>
        </p:spPr>
        <p:txBody>
          <a:bodyPr t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1" i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457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Add subtitle here if required</a:t>
            </a:r>
          </a:p>
        </p:txBody>
      </p:sp>
      <p:sp>
        <p:nvSpPr>
          <p:cNvPr id="16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805551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>
              <a:buNone/>
              <a:defRPr lang="de-DE" sz="1200" dirty="0" smtClean="0"/>
            </a:lvl1pPr>
          </a:lstStyle>
          <a:p>
            <a:r>
              <a:rPr lang="en-GB" dirty="0"/>
              <a:t>Information about presentation (author, version No. etc.)</a:t>
            </a:r>
          </a:p>
        </p:txBody>
      </p:sp>
      <p:sp>
        <p:nvSpPr>
          <p:cNvPr id="12" name="Textplatzhalt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426926"/>
            <a:ext cx="1638300" cy="243623"/>
          </a:xfrm>
        </p:spPr>
        <p:txBody>
          <a:bodyPr>
            <a:noAutofit/>
          </a:bodyPr>
          <a:lstStyle>
            <a:lvl1pPr marL="0" indent="0">
              <a:buNone/>
              <a:defRPr sz="900" cap="all" baseline="0">
                <a:solidFill>
                  <a:schemeClr val="bg1"/>
                </a:solidFill>
              </a:defRPr>
            </a:lvl1pPr>
            <a:lvl2pPr marL="266700" indent="0">
              <a:buNone/>
              <a:defRPr sz="1050"/>
            </a:lvl2pPr>
            <a:lvl3pPr marL="541338" indent="0">
              <a:buNone/>
              <a:defRPr sz="1050"/>
            </a:lvl3pPr>
            <a:lvl4pPr marL="808038" indent="0">
              <a:buNone/>
              <a:defRPr sz="1000"/>
            </a:lvl4pPr>
            <a:lvl5pPr marL="1077913" indent="0">
              <a:buNone/>
              <a:defRPr sz="1000"/>
            </a:lvl5pPr>
          </a:lstStyle>
          <a:p>
            <a:pPr lvl="0"/>
            <a:r>
              <a:rPr lang="en-GB" dirty="0"/>
              <a:t>State: </a:t>
            </a:r>
            <a:r>
              <a:rPr lang="en-GB" dirty="0" err="1"/>
              <a:t>xx.xx.xxxx</a:t>
            </a:r>
            <a:endParaRPr lang="en-GB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63D0D44A-5625-4C70-A2EB-08D982355B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91D1A92-B997-47B5-A14A-E2A501C20D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113" y="5129960"/>
            <a:ext cx="1835942" cy="3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11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/>
          <p:cNvGrpSpPr/>
          <p:nvPr userDrawn="1"/>
        </p:nvGrpSpPr>
        <p:grpSpPr>
          <a:xfrm>
            <a:off x="287338" y="603319"/>
            <a:ext cx="8552850" cy="2037600"/>
            <a:chOff x="287338" y="603319"/>
            <a:chExt cx="8552850" cy="2037600"/>
          </a:xfrm>
        </p:grpSpPr>
        <p:sp>
          <p:nvSpPr>
            <p:cNvPr id="22" name="Rechteck 21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Rechteck 22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941638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13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6" y="1301365"/>
            <a:ext cx="5436000" cy="1026000"/>
          </a:xfrm>
          <a:prstGeom prst="rect">
            <a:avLst/>
          </a:prstGeom>
        </p:spPr>
        <p:txBody>
          <a:bodyPr tIns="0" anchor="ctr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Max. 2 lines of text for chapter header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29FDC53-5973-45F2-8F83-ED68F7A58508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89CCD104-DEA0-4048-8CA3-CAB740FC06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2F980AF-DDD0-4966-B1E7-E1B87083C7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7673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kur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/>
          <p:cNvGrpSpPr/>
          <p:nvPr userDrawn="1"/>
        </p:nvGrpSpPr>
        <p:grpSpPr>
          <a:xfrm>
            <a:off x="287338" y="603319"/>
            <a:ext cx="8552850" cy="1731679"/>
            <a:chOff x="287338" y="603319"/>
            <a:chExt cx="8552850" cy="2037600"/>
          </a:xfrm>
        </p:grpSpPr>
        <p:sp>
          <p:nvSpPr>
            <p:cNvPr id="15" name="Rechteck 14"/>
            <p:cNvSpPr/>
            <p:nvPr userDrawn="1"/>
          </p:nvSpPr>
          <p:spPr>
            <a:xfrm>
              <a:off x="6192000" y="603319"/>
              <a:ext cx="2648188" cy="2037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Rechteck 16"/>
            <p:cNvSpPr/>
            <p:nvPr userDrawn="1"/>
          </p:nvSpPr>
          <p:spPr bwMode="blackWhite">
            <a:xfrm>
              <a:off x="287338" y="603319"/>
              <a:ext cx="5904662" cy="2037600"/>
            </a:xfrm>
            <a:prstGeom prst="rect">
              <a:avLst/>
            </a:prstGeom>
            <a:solidFill>
              <a:srgbClr val="0096D3"/>
            </a:solidFill>
            <a:ln>
              <a:solidFill>
                <a:schemeClr val="accent1"/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05407" y="1302593"/>
            <a:ext cx="5436000" cy="516714"/>
          </a:xfrm>
          <a:prstGeom prst="rect">
            <a:avLst/>
          </a:prstGeom>
        </p:spPr>
        <p:txBody>
          <a:bodyPr tIns="0" anchor="b" anchorCtr="0">
            <a:noAutofit/>
          </a:bodyPr>
          <a:lstStyle>
            <a:lvl1pPr algn="l">
              <a:lnSpc>
                <a:spcPct val="100000"/>
              </a:lnSpc>
              <a:defRPr sz="2800" b="1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GB" dirty="0"/>
              <a:t>1 line for chapter header</a:t>
            </a:r>
          </a:p>
        </p:txBody>
      </p:sp>
      <p:sp>
        <p:nvSpPr>
          <p:cNvPr id="14" name="Textplatzhalter 9"/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287338" y="2642907"/>
            <a:ext cx="4284662" cy="620885"/>
          </a:xfrm>
          <a:solidFill>
            <a:schemeClr val="bg1">
              <a:alpha val="90000"/>
            </a:schemeClr>
          </a:solidFill>
        </p:spPr>
        <p:txBody>
          <a:bodyPr wrap="square" lIns="324000" tIns="216000" rIns="324000" bIns="216000" rtlCol="0" anchor="t" anchorCtr="0">
            <a:spAutoFit/>
          </a:bodyPr>
          <a:lstStyle>
            <a:lvl1pPr marL="0" indent="0" defTabSz="914400">
              <a:buNone/>
              <a:defRPr lang="de-DE" sz="1200" dirty="0" smtClean="0"/>
            </a:lvl1pPr>
          </a:lstStyle>
          <a:p>
            <a:pPr marL="0" lvl="0" defTabSz="914400"/>
            <a:r>
              <a:rPr lang="en-GB" dirty="0"/>
              <a:t>Subtitle chapter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4570F99-0B5D-40DA-A3D3-DDF1CB693FD8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416AA66B-0354-461B-A799-CF3EFFC17D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9375" y="1065910"/>
            <a:ext cx="1849165" cy="9756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0ECE620-FB2B-4217-AA10-439373F15D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94613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0" hasCustomPrompt="1"/>
          </p:nvPr>
        </p:nvSpPr>
        <p:spPr>
          <a:xfrm>
            <a:off x="468316" y="1344613"/>
            <a:ext cx="8210547" cy="4370387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Placeholder for objects</a:t>
            </a:r>
          </a:p>
        </p:txBody>
      </p:sp>
      <p:sp>
        <p:nvSpPr>
          <p:cNvPr id="8" name="Rechteck 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93310F7-117D-4045-8610-3277CC5ED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344613"/>
            <a:ext cx="3960000" cy="3859212"/>
          </a:xfrm>
        </p:spPr>
        <p:txBody>
          <a:bodyPr>
            <a:normAutofit/>
          </a:bodyPr>
          <a:lstStyle>
            <a:lvl1pP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344613"/>
            <a:ext cx="3960000" cy="3859212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1600"/>
            </a:lvl1pPr>
            <a:lvl2pPr marL="541312" indent="-285750">
              <a:buClr>
                <a:schemeClr val="accent1"/>
              </a:buClr>
              <a:buFont typeface="Wingdings" charset="2"/>
              <a:buChar char="§"/>
              <a:defRPr sz="1500"/>
            </a:lvl2pPr>
            <a:lvl3pPr>
              <a:defRPr sz="1400"/>
            </a:lvl3pPr>
            <a:lvl4pPr>
              <a:buClr>
                <a:schemeClr val="accent1"/>
              </a:buClr>
              <a:defRPr sz="1200"/>
            </a:lvl4pPr>
            <a:lvl5pPr>
              <a:buClr>
                <a:schemeClr val="accent1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44FF-326E-4934-AE8D-65DEFF191BB1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62405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715688" y="1935991"/>
            <a:ext cx="3960000" cy="3267834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8" name="Textplatzhalter 2"/>
          <p:cNvSpPr>
            <a:spLocks noGrp="1"/>
          </p:cNvSpPr>
          <p:nvPr>
            <p:ph type="body" idx="13" hasCustomPrompt="1"/>
          </p:nvPr>
        </p:nvSpPr>
        <p:spPr bwMode="gray">
          <a:xfrm>
            <a:off x="46831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1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16A0E8-29DE-4D75-BF66-2C047D439D41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4" name="Textplatzhalter 2"/>
          <p:cNvSpPr>
            <a:spLocks noGrp="1"/>
          </p:cNvSpPr>
          <p:nvPr>
            <p:ph type="body" idx="17" hasCustomPrompt="1"/>
          </p:nvPr>
        </p:nvSpPr>
        <p:spPr bwMode="gray">
          <a:xfrm>
            <a:off x="4727894" y="1344613"/>
            <a:ext cx="3960811" cy="533136"/>
          </a:xfr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none"/>
        </p:style>
        <p:txBody>
          <a:bodyPr anchor="ctr" anchorCtr="0">
            <a:noAutofit/>
          </a:bodyPr>
          <a:lstStyle>
            <a:lvl1pPr marL="92066" indent="0">
              <a:buNone/>
              <a:tabLst/>
              <a:defRPr sz="1800" b="1" baseline="0">
                <a:solidFill>
                  <a:schemeClr val="bg1"/>
                </a:solidFill>
                <a:latin typeface="+mj-lt"/>
              </a:defRPr>
            </a:lvl1pPr>
            <a:lvl2pPr marL="457153" indent="0">
              <a:buNone/>
              <a:defRPr sz="2000" b="1"/>
            </a:lvl2pPr>
            <a:lvl3pPr marL="914306" indent="0">
              <a:buNone/>
              <a:defRPr sz="1800" b="1"/>
            </a:lvl3pPr>
            <a:lvl4pPr marL="1371460" indent="0">
              <a:buNone/>
              <a:defRPr sz="1600" b="1"/>
            </a:lvl4pPr>
            <a:lvl5pPr marL="1828613" indent="0">
              <a:buNone/>
              <a:defRPr sz="1600" b="1"/>
            </a:lvl5pPr>
            <a:lvl6pPr marL="2285767" indent="0">
              <a:buNone/>
              <a:defRPr sz="1600" b="1"/>
            </a:lvl6pPr>
            <a:lvl7pPr marL="2742920" indent="0">
              <a:buNone/>
              <a:defRPr sz="1600" b="1"/>
            </a:lvl7pPr>
            <a:lvl8pPr marL="3200073" indent="0">
              <a:buNone/>
              <a:defRPr sz="1600" b="1"/>
            </a:lvl8pPr>
            <a:lvl9pPr marL="3657227" indent="0">
              <a:buNone/>
              <a:defRPr sz="1600" b="1"/>
            </a:lvl9pPr>
          </a:lstStyle>
          <a:p>
            <a:pPr lvl="0"/>
            <a:r>
              <a:rPr lang="en-GB" dirty="0"/>
              <a:t>Subtitle 2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467544" y="1964530"/>
            <a:ext cx="4319712" cy="2716954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31" tIns="45715" rIns="91431" bIns="45715" rtlCol="0" anchor="ctr"/>
          <a:lstStyle/>
          <a:p>
            <a:pPr algn="ctr"/>
            <a:endParaRPr lang="en-GB" dirty="0"/>
          </a:p>
        </p:txBody>
      </p:sp>
      <p:pic>
        <p:nvPicPr>
          <p:cNvPr id="7" name="Grafik 6" descr="Logo-für-VK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1560" y="2127250"/>
            <a:ext cx="492443" cy="2252663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684020" y="2559843"/>
            <a:ext cx="2763926" cy="1811291"/>
          </a:xfrm>
        </p:spPr>
        <p:txBody>
          <a:bodyPr>
            <a:normAutofit/>
          </a:bodyPr>
          <a:lstStyle>
            <a:lvl1pPr marL="0" marR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 sz="1100" baseline="0"/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marL="0" marR="0" lvl="0" indent="0" algn="l" defTabSz="9143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58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Hier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Adressdaten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GB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eingeben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1DA7DE9-F6B6-4FDA-A00F-1221D494593B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dirty="0"/>
              <a:t>Sample Footer</a:t>
            </a:r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2019" y="1344613"/>
            <a:ext cx="7759644" cy="3853905"/>
          </a:xfrm>
        </p:spPr>
        <p:txBody>
          <a:bodyPr lIns="0" rIns="0">
            <a:normAutofit/>
          </a:bodyPr>
          <a:lstStyle>
            <a:lvl1pPr>
              <a:defRPr sz="16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 err="1"/>
              <a:t>Textmasterformat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E7AAB-A700-485E-A2FB-EAC3CFB07074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GLOBAL BRANDING FOR SMES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Page </a:t>
            </a:r>
            <a:fld id="{BE3DC40E-DBBE-4E2D-9EEC-FBF0DA0E917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669274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344613"/>
            <a:ext cx="7764463" cy="3859212"/>
          </a:xfrm>
          <a:prstGeom prst="rect">
            <a:avLst/>
          </a:prstGeom>
        </p:spPr>
        <p:txBody>
          <a:bodyPr vert="horz" lIns="0" tIns="45715" rIns="0" bIns="45715" rtlCol="0">
            <a:normAutofit/>
          </a:bodyPr>
          <a:lstStyle/>
          <a:p>
            <a:pPr lvl="0"/>
            <a:r>
              <a:rPr lang="en-GB" dirty="0" err="1"/>
              <a:t>Textmasterformate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  <a:p>
            <a:pPr lvl="1"/>
            <a:r>
              <a:rPr lang="en-GB" dirty="0" err="1"/>
              <a:t>Zweite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2"/>
            <a:r>
              <a:rPr lang="en-GB" dirty="0" err="1"/>
              <a:t>Dritte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3"/>
            <a:r>
              <a:rPr lang="en-GB" dirty="0" err="1"/>
              <a:t>Vierte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  <a:p>
            <a:pPr lvl="4"/>
            <a:r>
              <a:rPr lang="en-GB" dirty="0" err="1"/>
              <a:t>Fünfte</a:t>
            </a:r>
            <a:r>
              <a:rPr lang="en-GB" dirty="0"/>
              <a:t> </a:t>
            </a:r>
            <a:r>
              <a:rPr lang="en-GB" dirty="0" err="1"/>
              <a:t>Ebene</a:t>
            </a:r>
            <a:endParaRPr lang="en-GB" dirty="0"/>
          </a:p>
        </p:txBody>
      </p:sp>
      <p:sp>
        <p:nvSpPr>
          <p:cNvPr id="5" name="Fußzeilenplatzhalter 4"/>
          <p:cNvSpPr>
            <a:spLocks noGrp="1"/>
          </p:cNvSpPr>
          <p:nvPr userDrawn="1">
            <p:ph type="ftr" sz="quarter" idx="3"/>
          </p:nvPr>
        </p:nvSpPr>
        <p:spPr>
          <a:xfrm>
            <a:off x="1354561" y="5412059"/>
            <a:ext cx="3217443" cy="258085"/>
          </a:xfrm>
          <a:prstGeom prst="rect">
            <a:avLst/>
          </a:prstGeom>
        </p:spPr>
        <p:txBody>
          <a:bodyPr vert="horz" lIns="91431" tIns="45715" rIns="91431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Sample Footer</a:t>
            </a:r>
          </a:p>
        </p:txBody>
      </p:sp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462407" y="5412059"/>
            <a:ext cx="892150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l">
              <a:defRPr sz="8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Page </a:t>
            </a:r>
            <a:fld id="{BE3DC40E-DBBE-4E2D-9EEC-FBF0DA0E917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Datumsplatzhalter 6"/>
          <p:cNvSpPr>
            <a:spLocks noGrp="1"/>
          </p:cNvSpPr>
          <p:nvPr userDrawn="1">
            <p:ph type="dt" sz="half" idx="2"/>
          </p:nvPr>
        </p:nvSpPr>
        <p:spPr>
          <a:xfrm>
            <a:off x="5745181" y="5412059"/>
            <a:ext cx="987407" cy="258085"/>
          </a:xfrm>
          <a:prstGeom prst="rect">
            <a:avLst/>
          </a:prstGeom>
        </p:spPr>
        <p:txBody>
          <a:bodyPr vert="horz" lIns="0" tIns="45715" rIns="0" bIns="45715" rtlCol="0" anchor="ctr"/>
          <a:lstStyle>
            <a:lvl1pPr algn="r">
              <a:defRPr lang="de-DE" sz="800" kern="1200" cap="all" baseline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D672231-DCCE-48E5-AF73-62895FE58BB4}" type="datetime1">
              <a:rPr lang="en-GB" smtClean="0"/>
              <a:t>01/10/2026</a:t>
            </a:fld>
            <a:endParaRPr lang="en-GB" dirty="0"/>
          </a:p>
        </p:txBody>
      </p:sp>
      <p:sp>
        <p:nvSpPr>
          <p:cNvPr id="18" name="Rechteck 17"/>
          <p:cNvSpPr/>
          <p:nvPr userDrawn="1"/>
        </p:nvSpPr>
        <p:spPr bwMode="gray">
          <a:xfrm>
            <a:off x="0" y="1043522"/>
            <a:ext cx="9144000" cy="25200"/>
          </a:xfrm>
          <a:prstGeom prst="rect">
            <a:avLst/>
          </a:prstGeom>
          <a:solidFill>
            <a:srgbClr val="0C94B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      </a:t>
            </a:r>
          </a:p>
        </p:txBody>
      </p:sp>
      <p:sp>
        <p:nvSpPr>
          <p:cNvPr id="15" name="Titelplatzhalter 14"/>
          <p:cNvSpPr>
            <a:spLocks noGrp="1"/>
          </p:cNvSpPr>
          <p:nvPr userDrawn="1">
            <p:ph type="title"/>
          </p:nvPr>
        </p:nvSpPr>
        <p:spPr bwMode="auto">
          <a:xfrm>
            <a:off x="462408" y="139700"/>
            <a:ext cx="6840000" cy="90382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 err="1"/>
              <a:t>Titelmasterformat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br>
              <a:rPr lang="en-GB" dirty="0"/>
            </a:br>
            <a:r>
              <a:rPr lang="en-GB" dirty="0" err="1"/>
              <a:t>Klicken</a:t>
            </a:r>
            <a:r>
              <a:rPr lang="en-GB" dirty="0"/>
              <a:t> </a:t>
            </a:r>
            <a:r>
              <a:rPr lang="en-GB" dirty="0" err="1"/>
              <a:t>bearbeiten</a:t>
            </a:r>
            <a:endParaRPr lang="en-GB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9925201-EC66-4A08-AB14-A541648A67D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711621" y="288569"/>
            <a:ext cx="1170000" cy="61728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A212EC7-C80F-4EBC-9817-97C85E0A8AEB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13" y="5351511"/>
            <a:ext cx="1318058" cy="2285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3" r:id="rId3"/>
    <p:sldLayoutId id="2147483675" r:id="rId4"/>
    <p:sldLayoutId id="2147483676" r:id="rId5"/>
    <p:sldLayoutId id="2147483686" r:id="rId6"/>
    <p:sldLayoutId id="2147483687" r:id="rId7"/>
    <p:sldLayoutId id="2147483681" r:id="rId8"/>
    <p:sldLayoutId id="2147483682" r:id="rId9"/>
    <p:sldLayoutId id="2147483688" r:id="rId10"/>
    <p:sldLayoutId id="2147483691" r:id="rId11"/>
    <p:sldLayoutId id="2147483664" r:id="rId12"/>
    <p:sldLayoutId id="2147483667" r:id="rId13"/>
    <p:sldLayoutId id="2147483668" r:id="rId14"/>
    <p:sldLayoutId id="2147483670" r:id="rId15"/>
    <p:sldLayoutId id="2147483692" r:id="rId16"/>
  </p:sldLayoutIdLst>
  <p:transition>
    <p:fade/>
  </p:transition>
  <p:hf hdr="0" dt="0"/>
  <p:txStyles>
    <p:titleStyle>
      <a:lvl1pPr algn="l" defTabSz="914306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Georgia" charset="0"/>
          <a:ea typeface="Georgia" charset="0"/>
          <a:cs typeface="Georgia" charset="0"/>
        </a:defRPr>
      </a:lvl1pPr>
    </p:titleStyle>
    <p:bodyStyle>
      <a:lvl1pPr marL="266700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SzPct val="100000"/>
        <a:buFont typeface="Wingdings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27305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4738" indent="-266700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41438" indent="-263525" algn="l" defTabSz="914306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1"/>
        </a:buClr>
        <a:buFont typeface="Wingdings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96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0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03" indent="-228577" algn="l" defTabSz="9143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6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6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0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73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27" algn="l" defTabSz="9143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5179" userDrawn="1">
          <p15:clr>
            <a:srgbClr val="F26B43"/>
          </p15:clr>
        </p15:guide>
        <p15:guide id="5" pos="5467" userDrawn="1">
          <p15:clr>
            <a:srgbClr val="F26B43"/>
          </p15:clr>
        </p15:guide>
        <p15:guide id="7" orient="horz" pos="3278" userDrawn="1">
          <p15:clr>
            <a:srgbClr val="F26B43"/>
          </p15:clr>
        </p15:guide>
        <p15:guide id="9" orient="horz" pos="182" userDrawn="1">
          <p15:clr>
            <a:srgbClr val="F26B43"/>
          </p15:clr>
        </p15:guide>
        <p15:guide id="10" orient="horz" pos="847" userDrawn="1">
          <p15:clr>
            <a:srgbClr val="F26B43"/>
          </p15:clr>
        </p15:guide>
        <p15:guide id="11" orient="horz" pos="3515" userDrawn="1">
          <p15:clr>
            <a:srgbClr val="F26B43"/>
          </p15:clr>
        </p15:guide>
        <p15:guide id="12" orient="horz" pos="1097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arnefloh" TargetMode="External"/><Relationship Id="rId2" Type="http://schemas.openxmlformats.org/officeDocument/2006/relationships/hyperlink" Target="https://www.wu.ac.at/en/welthandel/arne-floh/" TargetMode="External"/><Relationship Id="rId1" Type="http://schemas.openxmlformats.org/officeDocument/2006/relationships/slideLayout" Target="../slideLayouts/slideLayout16.xml"/><Relationship Id="rId5" Type="http://schemas.openxmlformats.org/officeDocument/2006/relationships/hyperlink" Target="mailto:arne.floh@wu.ac.at" TargetMode="External"/><Relationship Id="rId4" Type="http://schemas.openxmlformats.org/officeDocument/2006/relationships/image" Target="../media/image9.tif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tiff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Card body Personal Information"/>
          <p:cNvSpPr/>
          <p:nvPr/>
        </p:nvSpPr>
        <p:spPr>
          <a:xfrm>
            <a:off x="457200" y="1320800"/>
            <a:ext cx="45720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2" name="Card header Personal Information"/>
          <p:cNvSpPr/>
          <p:nvPr/>
        </p:nvSpPr>
        <p:spPr>
          <a:xfrm>
            <a:off x="457200" y="1320800"/>
            <a:ext cx="45720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  <a:latin typeface="+mj-lt"/>
              </a:rPr>
              <a:t>Personal Information</a:t>
            </a:r>
          </a:p>
        </p:txBody>
      </p:sp>
      <p:sp>
        <p:nvSpPr>
          <p:cNvPr id="803" name="Card body Contact Information"/>
          <p:cNvSpPr/>
          <p:nvPr/>
        </p:nvSpPr>
        <p:spPr>
          <a:xfrm>
            <a:off x="5232400" y="1320800"/>
            <a:ext cx="3454400" cy="3733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804" name="Card header Contact Information"/>
          <p:cNvSpPr/>
          <p:nvPr/>
        </p:nvSpPr>
        <p:spPr>
          <a:xfrm>
            <a:off x="5232400" y="1320800"/>
            <a:ext cx="3454400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algn="l"/>
            <a:r>
              <a:rPr lang="en-GB" sz="1600" b="1" dirty="0">
                <a:solidFill>
                  <a:schemeClr val="bg1"/>
                </a:solidFill>
                <a:latin typeface="+mj-lt"/>
              </a:rPr>
              <a:t>Contact Information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558800" y="2006600"/>
            <a:ext cx="4368800" cy="2921000"/>
          </a:xfrm>
        </p:spPr>
        <p:txBody>
          <a:bodyPr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b="1" dirty="0"/>
              <a:t>Senior Lecturer in International Marketing – WU Vienna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Deputy Program Director Export- und Internationalisierungsmanagement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WWW: </a:t>
            </a:r>
            <a:r>
              <a:rPr lang="en-GB" altLang="de-DE" sz="1300" dirty="0">
                <a:hlinkClick r:id="rId2"/>
              </a:rPr>
              <a:t>https://www.wu.ac.at/en/welthandel/arne-floh/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LinkedIn: </a:t>
            </a:r>
            <a:r>
              <a:rPr lang="en-GB" altLang="de-DE" sz="1300" dirty="0">
                <a:hlinkClick r:id="rId3"/>
              </a:rPr>
              <a:t>http://www.linkedin.com/arnefloh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2</a:t>
            </a:fld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idx="4294967295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/>
              <a:t>Module </a:t>
            </a:r>
            <a:r>
              <a:rPr lang="de-AT" dirty="0" err="1"/>
              <a:t>Convenor</a:t>
            </a:r>
            <a:r>
              <a:rPr lang="de-AT" dirty="0"/>
              <a:t> – Dr Arne Floh</a:t>
            </a:r>
            <a:endParaRPr lang="en-GB" dirty="0"/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 rotWithShape="1">
          <a:blip r:embed="rId4"/>
          <a:srcRect l="22854" t="-354" r="47068" b="46641"/>
          <a:stretch/>
        </p:blipFill>
        <p:spPr>
          <a:xfrm>
            <a:off x="5996142" y="200165"/>
            <a:ext cx="871429" cy="782891"/>
          </a:xfrm>
          <a:prstGeom prst="rect">
            <a:avLst/>
          </a:prstGeom>
        </p:spPr>
      </p:pic>
      <p:sp>
        <p:nvSpPr>
          <p:cNvPr id="900" name="Contact text"/>
          <p:cNvSpPr txBox="1"/>
          <p:nvPr/>
        </p:nvSpPr>
        <p:spPr>
          <a:xfrm>
            <a:off x="5334000" y="2006600"/>
            <a:ext cx="3251200" cy="2921000"/>
          </a:xfrm>
        </p:spPr>
        <p:txBody>
          <a:bodyPr lIns="76200" tIns="0" rIns="76200" bIns="0" anchor="t">
            <a:noAutofit/>
          </a:bodyPr>
          <a:lstStyle/>
          <a:p>
            <a:pPr marL="228600" indent="-228600">
              <a:spcBef>
                <a:spcPts val="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T: 01 31336 6367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en-GB" altLang="de-DE" sz="1300" dirty="0"/>
              <a:t>E: </a:t>
            </a:r>
            <a:r>
              <a:rPr lang="en-GB" altLang="de-DE" sz="1300" dirty="0">
                <a:hlinkClick r:id="rId5"/>
              </a:rPr>
              <a:t>arne.floh@wu.ac.at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de-AT" altLang="de-DE" sz="1300" dirty="0"/>
              <a:t>R</a:t>
            </a:r>
            <a:r>
              <a:rPr lang="en-GB" altLang="de-DE" sz="1300" dirty="0"/>
              <a:t>oom D1.5.068</a:t>
            </a:r>
          </a:p>
          <a:p>
            <a:pPr marL="228600" indent="-228600">
              <a:spcBef>
                <a:spcPts val="1000"/>
              </a:spcBef>
              <a:buClr>
                <a:schemeClr val="accent1"/>
              </a:buClr>
              <a:buFont typeface="Arial"/>
              <a:buChar char="▪"/>
            </a:pPr>
            <a:r>
              <a:rPr lang="de-AT" altLang="de-DE" sz="1300" dirty="0"/>
              <a:t>O</a:t>
            </a:r>
            <a:r>
              <a:rPr lang="en-GB" altLang="de-DE" sz="1300" dirty="0"/>
              <a:t>ffice Hours: by appointment</a:t>
            </a:r>
          </a:p>
        </p:txBody>
      </p:sp>
      <p:sp>
        <p:nvSpPr>
          <p:cNvPr id="950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Business Projects WT 2026/27 | Julius Meinl</a:t>
            </a:r>
          </a:p>
        </p:txBody>
      </p:sp>
    </p:spTree>
    <p:extLst>
      <p:ext uri="{BB962C8B-B14F-4D97-AF65-F5344CB8AC3E}">
        <p14:creationId xmlns:p14="http://schemas.microsoft.com/office/powerpoint/2010/main" val="286275474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GB" altLang="de-DE" sz="1300" dirty="0"/>
              <a:t>Work Experience</a:t>
            </a:r>
          </a:p>
          <a:p>
            <a:pPr lvl="2"/>
            <a:r>
              <a:rPr lang="en-GB" altLang="de-DE" sz="1300" dirty="0"/>
              <a:t>International &amp; Industry Background</a:t>
            </a:r>
          </a:p>
          <a:p>
            <a:pPr lvl="2"/>
            <a:r>
              <a:rPr lang="en-GB" altLang="de-DE" sz="1300" dirty="0"/>
              <a:t>Teaching Experience &gt; 25 Years</a:t>
            </a:r>
          </a:p>
          <a:p>
            <a:pPr lvl="1"/>
            <a:r>
              <a:rPr lang="en-GB" altLang="de-DE" sz="1300" dirty="0"/>
              <a:t>Teaching</a:t>
            </a:r>
          </a:p>
          <a:p>
            <a:pPr lvl="2"/>
            <a:r>
              <a:rPr lang="en-GB" altLang="de-DE" sz="1300" dirty="0"/>
              <a:t>International Marketing</a:t>
            </a:r>
          </a:p>
          <a:p>
            <a:pPr lvl="2"/>
            <a:r>
              <a:rPr lang="en-GB" altLang="de-DE" sz="1300" dirty="0"/>
              <a:t>International Business Projects</a:t>
            </a:r>
          </a:p>
          <a:p>
            <a:pPr lvl="2"/>
            <a:r>
              <a:rPr lang="en-GB" altLang="de-DE" sz="1300" dirty="0"/>
              <a:t>Marketing Research and Marketing Analytics</a:t>
            </a:r>
          </a:p>
          <a:p>
            <a:pPr lvl="2"/>
            <a:r>
              <a:rPr lang="en-GB" altLang="de-DE" sz="1300" dirty="0"/>
              <a:t>Global Branding</a:t>
            </a:r>
          </a:p>
          <a:p>
            <a:pPr lvl="2"/>
            <a:r>
              <a:rPr lang="en-GB" altLang="de-DE" sz="1300" dirty="0"/>
              <a:t>Supervision (BSc, MSc, PhD)</a:t>
            </a:r>
          </a:p>
          <a:p>
            <a:pPr lvl="1"/>
            <a:r>
              <a:rPr lang="en-GB" altLang="de-DE" sz="1300" dirty="0"/>
              <a:t>Research</a:t>
            </a:r>
          </a:p>
          <a:p>
            <a:pPr lvl="2"/>
            <a:r>
              <a:rPr lang="en-GB" altLang="de-DE" sz="1300" dirty="0"/>
              <a:t>Dynamic </a:t>
            </a:r>
            <a:r>
              <a:rPr lang="en-GB" altLang="de-DE" sz="1300" dirty="0" err="1"/>
              <a:t>Capabilties</a:t>
            </a:r>
            <a:r>
              <a:rPr lang="en-GB" altLang="de-DE" sz="1300" dirty="0"/>
              <a:t> and Firm Performance</a:t>
            </a:r>
          </a:p>
          <a:p>
            <a:pPr lvl="2"/>
            <a:r>
              <a:rPr lang="en-GB" altLang="de-DE" sz="1300" dirty="0"/>
              <a:t>GenAI and Marketing</a:t>
            </a:r>
          </a:p>
          <a:p>
            <a:pPr lvl="2"/>
            <a:r>
              <a:rPr lang="en-GB" altLang="de-DE" sz="1300" dirty="0"/>
              <a:t>SMEs and Internationalization</a:t>
            </a:r>
          </a:p>
          <a:p>
            <a:pPr lvl="1"/>
            <a:r>
              <a:rPr lang="en-GB" altLang="de-DE" sz="1300" dirty="0"/>
              <a:t>Private</a:t>
            </a:r>
          </a:p>
          <a:p>
            <a:pPr lvl="2"/>
            <a:r>
              <a:rPr lang="en-GB" altLang="de-DE" sz="1300" dirty="0"/>
              <a:t>Football</a:t>
            </a:r>
          </a:p>
          <a:p>
            <a:pPr lvl="2"/>
            <a:r>
              <a:rPr lang="en-GB" altLang="de-DE" sz="1300" dirty="0"/>
              <a:t>Electronic Gadgets</a:t>
            </a:r>
          </a:p>
          <a:p>
            <a:pPr lvl="2"/>
            <a:r>
              <a:rPr lang="en-GB" altLang="de-DE" sz="1300" dirty="0"/>
              <a:t>Austrian Wine</a:t>
            </a:r>
          </a:p>
          <a:p>
            <a:pPr lvl="1"/>
            <a:endParaRPr lang="en-GB" altLang="de-DE" sz="1300" dirty="0"/>
          </a:p>
          <a:p>
            <a:pPr lvl="1"/>
            <a:endParaRPr lang="en-GB" altLang="de-DE" sz="1300" dirty="0"/>
          </a:p>
          <a:p>
            <a:endParaRPr lang="en-GB" altLang="de-DE" sz="1300" dirty="0"/>
          </a:p>
          <a:p>
            <a:endParaRPr lang="en-GB" sz="13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/>
              <a:t>Page </a:t>
            </a:r>
            <a:fld id="{BE3DC40E-DBBE-4E2D-9EEC-FBF0DA0E9179}" type="slidenum">
              <a:rPr lang="en-GB" smtClean="0"/>
              <a:t>3</a:t>
            </a:fld>
            <a:endParaRPr lang="en-GB" dirty="0"/>
          </a:p>
        </p:txBody>
      </p:sp>
      <p:sp>
        <p:nvSpPr>
          <p:cNvPr id="5" name="Titel 4"/>
          <p:cNvSpPr>
            <a:spLocks noGrp="1"/>
          </p:cNvSpPr>
          <p:nvPr>
            <p:ph type="title" idx="4294967295"/>
          </p:nvPr>
        </p:nvSpPr>
        <p:spPr>
          <a:xfrm>
            <a:off x="462408" y="139700"/>
            <a:ext cx="6840000" cy="903822"/>
          </a:xfrm>
        </p:spPr>
        <p:txBody>
          <a:bodyPr/>
          <a:lstStyle/>
          <a:p>
            <a:r>
              <a:rPr lang="de-AT" dirty="0"/>
              <a:t>Module </a:t>
            </a:r>
            <a:r>
              <a:rPr lang="de-AT" dirty="0" err="1"/>
              <a:t>Convenor</a:t>
            </a:r>
            <a:r>
              <a:rPr lang="de-AT" dirty="0"/>
              <a:t> – Dr Arne Floh</a:t>
            </a:r>
            <a:endParaRPr lang="en-GB" dirty="0"/>
          </a:p>
        </p:txBody>
      </p:sp>
      <p:pic>
        <p:nvPicPr>
          <p:cNvPr id="31" name="Picture 2"/>
          <p:cNvPicPr>
            <a:picLocks noChangeAspect="1"/>
          </p:cNvPicPr>
          <p:nvPr/>
        </p:nvPicPr>
        <p:blipFill rotWithShape="1">
          <a:blip r:embed="rId2"/>
          <a:srcRect l="22854" t="-354" r="47068" b="46641"/>
          <a:stretch/>
        </p:blipFill>
        <p:spPr>
          <a:xfrm>
            <a:off x="5976996" y="183329"/>
            <a:ext cx="871429" cy="782891"/>
          </a:xfrm>
          <a:prstGeom prst="rect">
            <a:avLst/>
          </a:prstGeom>
        </p:spPr>
      </p:pic>
      <p:pic>
        <p:nvPicPr>
          <p:cNvPr id="18" name="Picture 5">
            <a:extLst>
              <a:ext uri="{FF2B5EF4-FFF2-40B4-BE49-F238E27FC236}">
                <a16:creationId xmlns:a16="http://schemas.microsoft.com/office/drawing/2014/main" id="{B20435F2-0841-4617-84F5-0C069C5B7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523" b="18973"/>
          <a:stretch>
            <a:fillRect/>
          </a:stretch>
        </p:blipFill>
        <p:spPr bwMode="auto">
          <a:xfrm>
            <a:off x="5943600" y="1545167"/>
            <a:ext cx="812800" cy="135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7" descr="C:\Users\FLOH01\Documents\Diverses\Social Media Marketing.jpg">
            <a:extLst>
              <a:ext uri="{FF2B5EF4-FFF2-40B4-BE49-F238E27FC236}">
                <a16:creationId xmlns:a16="http://schemas.microsoft.com/office/drawing/2014/main" id="{748A9F97-126D-4B75-8FE0-16A3FBA3C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324376"/>
            <a:ext cx="812800" cy="59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C:\Users\FLOH01\Documents\Diverses\CustLoy.jpg">
            <a:extLst>
              <a:ext uri="{FF2B5EF4-FFF2-40B4-BE49-F238E27FC236}">
                <a16:creationId xmlns:a16="http://schemas.microsoft.com/office/drawing/2014/main" id="{9F9E079F-0FD9-4D44-A202-E4A6EDDA7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3251200"/>
            <a:ext cx="736600" cy="73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9" descr="C:\Users\FLOH01\Documents\Diverses\Maradona.jpg">
            <a:extLst>
              <a:ext uri="{FF2B5EF4-FFF2-40B4-BE49-F238E27FC236}">
                <a16:creationId xmlns:a16="http://schemas.microsoft.com/office/drawing/2014/main" id="{4D115C44-4118-40BB-A76E-053C6D127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239326"/>
            <a:ext cx="812800" cy="53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C:\Users\FLOH01\Documents\Diverses\iPhone.jpg">
            <a:extLst>
              <a:ext uri="{FF2B5EF4-FFF2-40B4-BE49-F238E27FC236}">
                <a16:creationId xmlns:a16="http://schemas.microsoft.com/office/drawing/2014/main" id="{2AF1D26F-471E-485B-92E1-5F56E09F5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203700"/>
            <a:ext cx="812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B408EE01-B542-4660-B0D3-FBD43BA77E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2807" y="2032000"/>
            <a:ext cx="765586" cy="10668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149411-6646-4881-AC51-37581FA347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300" y="2032000"/>
            <a:ext cx="787400" cy="1066800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B7E81BED-3E73-4767-B869-CF72D9B7D0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64350" y="2032000"/>
            <a:ext cx="800100" cy="1066800"/>
          </a:xfrm>
          <a:prstGeom prst="rect">
            <a:avLst/>
          </a:prstGeom>
        </p:spPr>
      </p:pic>
      <p:pic>
        <p:nvPicPr>
          <p:cNvPr id="27" name="Picture 2" descr="Entrepreneurial Marketing">
            <a:extLst>
              <a:ext uri="{FF2B5EF4-FFF2-40B4-BE49-F238E27FC236}">
                <a16:creationId xmlns:a16="http://schemas.microsoft.com/office/drawing/2014/main" id="{D1D91749-54D0-4728-BD44-4530B7260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0" y="2032000"/>
            <a:ext cx="6731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E861A12-FBD5-4375-9D5E-B3F3E3AAED1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00" y="1346200"/>
            <a:ext cx="711200" cy="5334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DCA1A994-C935-43CE-93F8-29BFA8C4518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64350" y="1460500"/>
            <a:ext cx="800100" cy="3048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DA807570-9906-45C3-9264-3AD85B5FD10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0" y="1403350"/>
            <a:ext cx="736600" cy="4191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81F732C-A406-456E-26A8-5A5ABAEE90B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flipH="1">
            <a:off x="6896100" y="3251200"/>
            <a:ext cx="736600" cy="7366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9B8F467-DDA6-41DD-87EC-E17A8E3A849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0" y="3251200"/>
            <a:ext cx="736600" cy="7366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7428DC-BC39-C343-7D7A-1B67222543C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7200" y="4184650"/>
            <a:ext cx="203200" cy="647700"/>
          </a:xfrm>
          <a:prstGeom prst="rect">
            <a:avLst/>
          </a:prstGeom>
        </p:spPr>
      </p:pic>
      <p:pic>
        <p:nvPicPr>
          <p:cNvPr id="6" name="Grafik 5" descr="Ein Bild, das draußen, Himmel, Person, Gras enthält.&#10;&#10;KI-generierte Inhalte können fehlerhaft sein.">
            <a:extLst>
              <a:ext uri="{FF2B5EF4-FFF2-40B4-BE49-F238E27FC236}">
                <a16:creationId xmlns:a16="http://schemas.microsoft.com/office/drawing/2014/main" id="{9506A783-5B4B-819B-A493-114BE8F2565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205131"/>
            <a:ext cx="812800" cy="606738"/>
          </a:xfrm>
          <a:prstGeom prst="rect">
            <a:avLst/>
          </a:prstGeom>
        </p:spPr>
      </p:pic>
      <p:sp>
        <p:nvSpPr>
          <p:cNvPr id="950" name="Fußzeilenplatzhalter"/>
          <p:cNvSpPr>
            <a:spLocks noGrp="1"/>
          </p:cNvSpPr>
          <p:nvPr>
            <p:ph type="ftr" sz="quarter" idx="11"/>
          </p:nvPr>
        </p:nvSpPr>
        <p:spPr>
          <a:xfrm>
            <a:off x="1354561" y="5412059"/>
            <a:ext cx="3217443" cy="25808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Business Projects WT 2026/27 | Julius Meinl</a:t>
            </a:r>
          </a:p>
        </p:txBody>
      </p:sp>
    </p:spTree>
    <p:extLst>
      <p:ext uri="{BB962C8B-B14F-4D97-AF65-F5344CB8AC3E}">
        <p14:creationId xmlns:p14="http://schemas.microsoft.com/office/powerpoint/2010/main" val="331718922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ELECTEDLANGUAGE" val="English UK"/>
</p:tagLst>
</file>

<file path=ppt/theme/theme1.xml><?xml version="1.0" encoding="utf-8"?>
<a:theme xmlns:a="http://schemas.openxmlformats.org/drawingml/2006/main" name="WU 16:10">
  <a:themeElements>
    <a:clrScheme name="WU">
      <a:dk1>
        <a:srgbClr val="000000"/>
      </a:dk1>
      <a:lt1>
        <a:srgbClr val="FFFFFF"/>
      </a:lt1>
      <a:dk2>
        <a:srgbClr val="002350"/>
      </a:dk2>
      <a:lt2>
        <a:srgbClr val="E5F5FA"/>
      </a:lt2>
      <a:accent1>
        <a:srgbClr val="0096D3"/>
      </a:accent1>
      <a:accent2>
        <a:srgbClr val="002350"/>
      </a:accent2>
      <a:accent3>
        <a:srgbClr val="4B2582"/>
      </a:accent3>
      <a:accent4>
        <a:srgbClr val="457AA0"/>
      </a:accent4>
      <a:accent5>
        <a:srgbClr val="A592C0"/>
      </a:accent5>
      <a:accent6>
        <a:srgbClr val="80CFE9"/>
      </a:accent6>
      <a:hlink>
        <a:srgbClr val="405A7C"/>
      </a:hlink>
      <a:folHlink>
        <a:srgbClr val="0082AA"/>
      </a:folHlink>
    </a:clrScheme>
    <a:fontScheme name="WU neu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WU Farbschema neu">
        <a:dk1>
          <a:srgbClr val="000000"/>
        </a:dk1>
        <a:lt1>
          <a:sysClr val="window" lastClr="FFFFFF"/>
        </a:lt1>
        <a:dk2>
          <a:srgbClr val="002E60"/>
        </a:dk2>
        <a:lt2>
          <a:srgbClr val="E5F5FA"/>
        </a:lt2>
        <a:accent1>
          <a:srgbClr val="0096D3"/>
        </a:accent1>
        <a:accent2>
          <a:srgbClr val="002E60"/>
        </a:accent2>
        <a:accent3>
          <a:srgbClr val="532481"/>
        </a:accent3>
        <a:accent4>
          <a:srgbClr val="457AA0"/>
        </a:accent4>
        <a:accent5>
          <a:srgbClr val="A991C0"/>
        </a:accent5>
        <a:accent6>
          <a:srgbClr val="7FCAE9"/>
        </a:accent6>
        <a:hlink>
          <a:srgbClr val="406288"/>
        </a:hlink>
        <a:folHlink>
          <a:srgbClr val="008F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WU Sample Presentation 16x10 V1.1.potx" id="{74DD536C-D372-4256-BA4D-24C734E7AF81}" vid="{99E22345-25BB-45DF-85CE-FC929AE6991A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7FC1DC6-FBB7-470C-B85D-EC3A9843C63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B42E63B-73F0-4F1E-B025-4B1A11258F77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69a066e4-3ad9-49d8-8619-3a71f242750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CF651A35DF3154DB01328AF51148DAE" ma:contentTypeVersion="1" ma:contentTypeDescription="Ein neues Dokument erstellen." ma:contentTypeScope="" ma:versionID="458c1b80f8d593bdc96b60ff34dd40b4">
  <xsd:schema xmlns:xsd="http://www.w3.org/2001/XMLSchema" xmlns:xs="http://www.w3.org/2001/XMLSchema" xmlns:p="http://schemas.microsoft.com/office/2006/metadata/properties" xmlns:ns2="1a8d9a65-8471-4209-a900-f8e11db75e0a" xmlns:ns3="08b0a3ee-3d2a-451c-9a1a-7e5d5b0c9c77" xmlns:ns4="dde413db-0745-4f3a-8dca-564dc7ff6f7d" targetNamespace="http://schemas.microsoft.com/office/2006/metadata/properties" ma:root="true" ma:fieldsID="2d31116d1a6b5af1b4a8b1ba7152d57a" ns2:_="" ns3:_="" ns4:_="">
    <xsd:import namespace="1a8d9a65-8471-4209-a900-f8e11db75e0a"/>
    <xsd:import namespace="08b0a3ee-3d2a-451c-9a1a-7e5d5b0c9c77"/>
    <xsd:import namespace="dde413db-0745-4f3a-8dca-564dc7ff6f7d"/>
    <xsd:element name="properties">
      <xsd:complexType>
        <xsd:sequence>
          <xsd:element name="documentManagement">
            <xsd:complexType>
              <xsd:all>
                <xsd:element ref="ns2:WU_x0020_ThemaTaxHTField0" minOccurs="0"/>
                <xsd:element ref="ns3:TaxCatchAll" minOccurs="0"/>
                <xsd:element ref="ns2:DokumentenartTaxHTField0" minOccurs="0"/>
                <xsd:element ref="ns4:Beschreibung" minOccurs="0"/>
                <xsd:element ref="ns4:Format" minOccurs="0"/>
                <xsd:element ref="ns4:Kategorie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8d9a65-8471-4209-a900-f8e11db75e0a" elementFormDefault="qualified">
    <xsd:import namespace="http://schemas.microsoft.com/office/2006/documentManagement/types"/>
    <xsd:import namespace="http://schemas.microsoft.com/office/infopath/2007/PartnerControls"/>
    <xsd:element name="WU_x0020_ThemaTaxHTField0" ma:index="9" nillable="true" ma:taxonomy="true" ma:internalName="WU_x0020_ThemaTaxHTField0" ma:taxonomyFieldName="WU_x0020_Thema" ma:displayName="Schlagwort" ma:default="" ma:fieldId="{a2eb3201-e251-4055-97e9-466604fc777f}" ma:taxonomyMulti="true" ma:sspId="59da4ae5-1217-4de6-bd64-b7a740f353bb" ma:termSetId="c1edca97-812b-4584-b6b5-1e5cade81cae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DokumentenartTaxHTField0" ma:index="12" nillable="true" ma:taxonomy="true" ma:internalName="DokumentenartTaxHTField0" ma:taxonomyFieldName="Dokumentenart" ma:displayName="Dokumentenart" ma:default="" ma:fieldId="{0f2e647f-32b7-4850-b6be-ae358ed71e70}" ma:taxonomyMulti="true" ma:sspId="59da4ae5-1217-4de6-bd64-b7a740f353bb" ma:termSetId="325756d7-e24e-4b6f-ba71-3f779d34c1e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b0a3ee-3d2a-451c-9a1a-7e5d5b0c9c7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description="" ma:hidden="true" ma:list="{6a103bb8-3913-4e3b-a229-080a76572464}" ma:internalName="TaxCatchAll" ma:showField="CatchAllData" ma:web="08b0a3ee-3d2a-451c-9a1a-7e5d5b0c9c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413db-0745-4f3a-8dca-564dc7ff6f7d" elementFormDefault="qualified">
    <xsd:import namespace="http://schemas.microsoft.com/office/2006/documentManagement/types"/>
    <xsd:import namespace="http://schemas.microsoft.com/office/infopath/2007/PartnerControls"/>
    <xsd:element name="Beschreibung" ma:index="13" nillable="true" ma:displayName="Beschreibung" ma:internalName="Beschreibung">
      <xsd:simpleType>
        <xsd:restriction base="dms:Note">
          <xsd:maxLength value="255"/>
        </xsd:restriction>
      </xsd:simpleType>
    </xsd:element>
    <xsd:element name="Format" ma:index="14" nillable="true" ma:displayName="Format" ma:format="Dropdown" ma:internalName="Format">
      <xsd:simpleType>
        <xsd:union memberTypes="dms:Text">
          <xsd:simpleType>
            <xsd:restriction base="dms:Choice">
              <xsd:enumeration value="LaTeX"/>
              <xsd:enumeration value="Microsoft Office 2003"/>
              <xsd:enumeration value="Microsoft Office 2007-2013"/>
              <xsd:enumeration value="Microsoft Office 2013/2016"/>
              <xsd:enumeration value="OpenOffice 3.0"/>
            </xsd:restriction>
          </xsd:simpleType>
        </xsd:union>
      </xsd:simpleType>
    </xsd:element>
    <xsd:element name="Kategorie" ma:index="15" nillable="true" ma:displayName="Kategorie" ma:default="Anleitungen" ma:format="Dropdown" ma:internalName="Kategorie">
      <xsd:simpleType>
        <xsd:union memberTypes="dms:Text">
          <xsd:simpleType>
            <xsd:restriction base="dms:Choice">
              <xsd:enumeration value="Anleitungen"/>
              <xsd:enumeration value="Aushänge für Lift und Tür"/>
              <xsd:enumeration value="Basisvorlagen"/>
              <xsd:enumeration value="Brief-/Faxvorlagen"/>
              <xsd:enumeration value="Einladungen"/>
              <xsd:enumeration value="Etiketten"/>
              <xsd:enumeration value="Musterdateien"/>
              <xsd:enumeration value="Namensschilder"/>
              <xsd:enumeration value="Präsentationen"/>
              <xsd:enumeration value="Skripten-Cover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dde413db-0745-4f3a-8dca-564dc7ff6f7d">Präsentationen</Kategorie>
    <Beschreibung xmlns="dde413db-0745-4f3a-8dca-564dc7ff6f7d">Sample presenation in format 16:10 (= WU standard)</Beschreibung>
    <TaxCatchAll xmlns="08b0a3ee-3d2a-451c-9a1a-7e5d5b0c9c77">
      <Value>266</Value>
      <Value>403</Value>
    </TaxCatchAll>
    <Dokumentenart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Vorlagen</TermName>
          <TermId xmlns="http://schemas.microsoft.com/office/infopath/2007/PartnerControls">17fc50ed-8ad1-47be-ab12-04243fd74ddb</TermId>
        </TermInfo>
      </Terms>
    </DokumentenartTaxHTField0>
    <WU_x0020_ThemaTaxHTField0 xmlns="1a8d9a65-8471-4209-a900-f8e11db75e0a">
      <Terms xmlns="http://schemas.microsoft.com/office/infopath/2007/PartnerControls">
        <TermInfo xmlns="http://schemas.microsoft.com/office/infopath/2007/PartnerControls">
          <TermName xmlns="http://schemas.microsoft.com/office/infopath/2007/PartnerControls">Corporate Design</TermName>
          <TermId xmlns="http://schemas.microsoft.com/office/infopath/2007/PartnerControls">19895bcd-b158-45ae-ab7b-f5ca217dfcec</TermId>
        </TermInfo>
      </Terms>
    </WU_x0020_ThemaTaxHTField0>
    <Format xmlns="dde413db-0745-4f3a-8dca-564dc7ff6f7d">Microsoft Office 2013/2016</Format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81AF645-C4BF-4115-A9DE-6B08726473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8d9a65-8471-4209-a900-f8e11db75e0a"/>
    <ds:schemaRef ds:uri="08b0a3ee-3d2a-451c-9a1a-7e5d5b0c9c77"/>
    <ds:schemaRef ds:uri="dde413db-0745-4f3a-8dca-564dc7ff6f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929A89-D8E6-4794-A98F-6609FAAECB3B}">
  <ds:schemaRefs>
    <ds:schemaRef ds:uri="http://schemas.microsoft.com/office/2006/metadata/properties"/>
    <ds:schemaRef ds:uri="http://schemas.microsoft.com/office/infopath/2007/PartnerControls"/>
    <ds:schemaRef ds:uri="dde413db-0745-4f3a-8dca-564dc7ff6f7d"/>
    <ds:schemaRef ds:uri="08b0a3ee-3d2a-451c-9a1a-7e5d5b0c9c77"/>
    <ds:schemaRef ds:uri="1a8d9a65-8471-4209-a900-f8e11db75e0a"/>
  </ds:schemaRefs>
</ds:datastoreItem>
</file>

<file path=customXml/itemProps3.xml><?xml version="1.0" encoding="utf-8"?>
<ds:datastoreItem xmlns:ds="http://schemas.openxmlformats.org/officeDocument/2006/customXml" ds:itemID="{E89857B5-BC10-4782-8A0F-717F20E5E2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WU Sample Presentation 16x10</Template>
  <TotalTime>0</TotalTime>
  <Words>1662</Words>
  <Application>Microsoft Office PowerPoint</Application>
  <PresentationFormat>On-screen Show (16:10)</PresentationFormat>
  <Paragraphs>292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Georgia</vt:lpstr>
      <vt:lpstr>Verdana</vt:lpstr>
      <vt:lpstr>Wingdings</vt:lpstr>
      <vt:lpstr>WU 16:10</vt:lpstr>
      <vt:lpstr>International Business Projects</vt:lpstr>
      <vt:lpstr>Module Convenor – Dr Arne Floh</vt:lpstr>
      <vt:lpstr>Module Convenor – Dr Arne Floh</vt:lpstr>
      <vt:lpstr>Course synopsis</vt:lpstr>
      <vt:lpstr>Learning objectives</vt:lpstr>
      <vt:lpstr>Teaching and learning: flipped classroom</vt:lpstr>
      <vt:lpstr>The Julius Meinl case</vt:lpstr>
      <vt:lpstr>Our partner: Julius Meinl</vt:lpstr>
      <vt:lpstr>How Julius Meinl sells: two segments, two partners</vt:lpstr>
      <vt:lpstr>Who Julius Meinl sells to</vt:lpstr>
      <vt:lpstr>The question: growth in Latin America</vt:lpstr>
      <vt:lpstr>Six markets, one set of criteria</vt:lpstr>
      <vt:lpstr>Assessment strategy</vt:lpstr>
      <vt:lpstr>Overview of the presentations</vt:lpstr>
      <vt:lpstr>Presentation 1: market selection tools</vt:lpstr>
      <vt:lpstr>Presentation 2: midterm</vt:lpstr>
      <vt:lpstr>Presentation 3: marketing implementation plan</vt:lpstr>
      <vt:lpstr>Grading</vt:lpstr>
      <vt:lpstr>Teaching schedule</vt:lpstr>
      <vt:lpstr>Data sources and framework conditions</vt:lpstr>
      <vt:lpstr>AI, self-reflection and peer review</vt:lpstr>
      <vt:lpstr>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2023-08-25T07:52:25Z</dcterms:created>
  <dcterms:modified xsi:type="dcterms:W3CDTF">2026-10-01T13:26:55Z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U Thema">
    <vt:lpwstr>403;#Corporate Design|19895bcd-b158-45ae-ab7b-f5ca217dfcec</vt:lpwstr>
  </property>
  <property fmtid="{D5CDD505-2E9C-101B-9397-08002B2CF9AE}" pid="3" name="Dokumentenart">
    <vt:lpwstr>266;#Vorlagen|17fc50ed-8ad1-47be-ab12-04243fd74ddb</vt:lpwstr>
  </property>
  <property fmtid="{D5CDD505-2E9C-101B-9397-08002B2CF9AE}" pid="4" name="ContentTypeId">
    <vt:lpwstr>0x010100BCF651A35DF3154DB01328AF51148DAE</vt:lpwstr>
  </property>
</Properties>
</file>